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[30초] "PoC 1주 동안 사용자 의견 17건을 받았습니다. 기능 요청보다 중요한 것은 두 가지입니다. 화면이 달력처럼 보여 매일 써야 하고 추적된다는 오해가 있었고, 예시 문구 지우기·날짜·표 재작성 같은 입력 부담이 반복됐습니다. 둘 다 화면을 바꿔 배포했지만 원래 의견을 준 분들이 다시 확인한 기록은 아직 없습니다. 또 다빈치팀은 서버만 지원하고 운영 인력은 지원하지 않기로 해 개발·운영은 두 명이 맡습니다."</a:t>
            </a:r>
          </a:p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[분류 기준] 출처: 직접 = Teams 원문에 발신자·시각 있음 / 우정주 경유 = 공동 개발자가 전달, 원 발언자 미기록 / 설명회 정리 = 10-19 13:00 기능 설명회에서 나온 의견을 이재후가 10-19 14:45 정리. 개발자(이재후·우정주) 발견·아이디어는 VoE에서 제외. 유형: 결함 / 사용성 / 이미 있는데 못 찾음 / 기능 요청 / 범위·인식 / 리더 의견. 상태: 사용자 확인 = 원 제기자가 해결을 말함, 구현·재확인 전 = 저장소·공지로 구현 확인했으나 제기자 확인 없음.</a:t>
            </a:r>
          </a:p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[우선순위 근거 — 영향 × 반복] 신호1: 영향 = 기록 습관 자체(채택), 반복 = "이야기가 많이 들어온다"(복수, PoC 외 포함) → 최우선. 신호2: 직접 의견 9건 중 4건이 입력 화면(D3·D6·D8·D9), 2명이 제기 → 반복. 신호3: 경유 1건 + 설명회 2건(R1·R2) + 위원 의견 → 목적과 직결. 기능 요청(검색·마일스톤 수정 등)은 막힘이 아닌 불편.</a:t>
            </a:r>
          </a:p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[직접 인용 출처] 최상준 책임 10-19 14:25·14:38·16:49·17:09, 10-20 08:44·09:01 / 정지훈 사원 10-19 15:30·15:36 / 박지수 선임 10-22 09:48·11:46·11:52 / 우정주 전달 10-19 16:42·16:43·16:44(1:1 채팅). 시각은 KST.</a:t>
            </a:r>
          </a:p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[결정 원장·코드 대조] D2→I60, D3→I46·I66, D4→I64, D5→frontend ReportsPage '◀이전 주/이번 주/다음 주▶', D8→I71·I72(10-22 11:28 배포 공지), D9→I74(원장 근거란에 VoE로 기록), R1→I56·Analysis/Sheet 템플릿, R2→docs/11 §2 '아무 확장자 첨부', R5→I45·I42, R6→ProjectFeed '본문·메모에서 찾기', R7→I45·I60. D6·R4는 조치 기록 미확인/미반영. 저장소 기준: 첨부 압축본 main 85294b3 (운영 서버 8000 배포 버전과 같은지는 미확인).</a:t>
            </a:r>
          </a:p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[운영] 중단·재시작 공지(KST): 10-20 08:55(5분), 10-20 13:38(2분), 10-21 15:25(5분), 10-22 08:30, 10-22 11:28(2분), 10-26 08:35. 운영 8000·개발 8100 두 서버 운용.</a:t>
            </a:r>
          </a:p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[예상 질문] Q 사용자 반응이 좋은가? → 만족도 자료 없음. 위원 의견은 "전반적으로 호의적"(우정주 경유, 10-12)뿐이며 대표성 판단 불가. Q 고친 게 해결됐나? → 배포는 했으나 제기자 재확인 전 — 이번 주 재확인 요청 예정. Q 왜 의견이 적나? → 17명 중 3명만 직접 작성, 게시판 0건. 1:1 확인과 사용 로그로 보완 예정.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등록부 원본: Teams PoC 채팅(10-15~10-26, 46건)과 이재후–우정주 1:1 채팅(10-04~10-23) 조회 결과. 개인 연락처·API 정보 등은 제외. 사용자 의견·조치 내용은 그룹장 보고용으로 쉬운 말로 정리했으며 따옴표 안은 Teams 원문.</a:t>
            </a:r>
          </a:p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조치 근거(저장소 · main 85294b3 첨부 압축본 기준, 운영 서버 배포 버전 동일 여부 미확인): D1 App.tsx 이름 선택 안내·EntryComposer 경고(결정 번호 없음) / D2 I60 / D3 I46·I66 / D4 기존 기능, I64 / D5 ReportsPage 주 이동 버튼(구현 시점 미확인) / D6 기록 없음 / D7 docs/11 §2 예전 '내 이름' 자동 정리 / D8 I71→I72, 10-22 11:28 배포 공지 / D9 I74(원장 근거란 'VoE'), 10-22 14:29 수정 완료 / R1 I56·Analysis·Sheet 템플릿 / R2 docs/11 §2 첨부 확장자 무관, Lesson Learned(docs/26) / R3 To-Do 기록 마감일·목록 '마감' 열, 정렬 미확인 / R4 미반영 / R5 I45·이관 0004·I42 / R6 ProjectFeed '본문·메모에서 찾기' / R7 I45·I60 / R8 PoC 방 구성 10-15 / X1 I59 / X2 I68 / X3 I67 / X4 TrackerPage '담당' 열 / X5 I58 / X6 10-19 방 이름 변경.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등록부 원본: Teams PoC 채팅(10-15~10-26, 46건)과 이재후–우정주 1:1 채팅(10-04~10-23) 조회 결과. 개인 연락처·API 정보 등은 제외. 사용자 의견·조치 내용은 그룹장 보고용으로 쉬운 말로 정리했으며 따옴표 안은 Teams 원문.</a:t>
            </a:r>
          </a:p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조치 근거(저장소 · main 85294b3 첨부 압축본 기준, 운영 서버 배포 버전 동일 여부 미확인): D1 App.tsx 이름 선택 안내·EntryComposer 경고(결정 번호 없음) / D2 I60 / D3 I46·I66 / D4 기존 기능, I64 / D5 ReportsPage 주 이동 버튼(구현 시점 미확인) / D6 기록 없음 / D7 docs/11 §2 예전 '내 이름' 자동 정리 / D8 I71→I72, 10-22 11:28 배포 공지 / D9 I74(원장 근거란 'VoE'), 10-22 14:29 수정 완료 / R1 I56·Analysis·Sheet 템플릿 / R2 docs/11 §2 첨부 확장자 무관, Lesson Learned(docs/26) / R3 To-Do 기록 마감일·목록 '마감' 열, 정렬 미확인 / R4 미반영 / R5 I45·이관 0004·I42 / R6 ProjectFeed '본문·메모에서 찾기' / R7 I45·I60 / R8 PoC 방 구성 10-15 / X1 I59 / X2 I68 / X3 I67 / X4 TrackerPage '담당' 열 / X5 I58 / X6 10-19 방 이름 변경.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등록부 원본: Teams PoC 채팅(10-15~10-26, 46건)과 이재후–우정주 1:1 채팅(10-04~10-23) 조회 결과. 개인 연락처·API 정보 등은 제외. 사용자 의견·조치 내용은 그룹장 보고용으로 쉬운 말로 정리했으며 따옴표 안은 Teams 원문.</a:t>
            </a:r>
          </a:p>
          <a:p>
            <a:r>
              <a:rPr sz="11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조치 근거(저장소 · main 85294b3 첨부 압축본 기준, 운영 서버 배포 버전 동일 여부 미확인): D1 App.tsx 이름 선택 안내·EntryComposer 경고(결정 번호 없음) / D2 I60 / D3 I46·I66 / D4 기존 기능, I64 / D5 ReportsPage 주 이동 버튼(구현 시점 미확인) / D6 기록 없음 / D7 docs/11 §2 예전 '내 이름' 자동 정리 / D8 I71→I72, 10-22 11:28 배포 공지 / D9 I74(원장 근거란 'VoE'), 10-22 14:29 수정 완료 / R1 I56·Analysis·Sheet 템플릿 / R2 docs/11 §2 첨부 확장자 무관, Lesson Learned(docs/26) / R3 To-Do 기록 마감일·목록 '마감' 열, 정렬 미확인 / R4 미반영 / R5 I45·이관 0004·I42 / R6 ProjectFeed '본문·메모에서 찾기' / R7 I45·I60 / R8 PoC 방 구성 10-15 / X1 I59 / X2 I68 / X3 I67 / X4 TrackerPage '담당' 열 / X5 I58 / X6 10-19 방 이름 변경.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/>
          <p:nvPr/>
        </p:nvSpPr>
        <p:spPr>
          <a:xfrm>
            <a:off x="365760" y="256032"/>
            <a:ext cx="11457432" cy="56692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16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PoC 1주 사용자 의견 17건 — 병목은 기능 부족보다 '매일 써야 한다'는 오해와 입력 부담, 대응은 배포했으나 사용자 재확인 전</a:t>
            </a:r>
          </a:p>
        </p:txBody>
      </p:sp>
      <p:sp>
        <p:nvSpPr>
          <p:cNvPr id="3" name="부제"/>
          <p:cNvSpPr/>
          <p:nvPr/>
        </p:nvSpPr>
        <p:spPr>
          <a:xfrm>
            <a:off x="365760" y="841248"/>
            <a:ext cx="11457432" cy="384048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기간 2026-10-12~10-26 · 출처: Teams【AI 활용 보고서 작성 PoC】 원문(발신자·시각 확인), 우정주 님 경유 전달, 10-19 설명회 정리 · 조치는 저장소 결정 원장(docs/08)·코드 대조 · 사용 로그·시간 측정 미확보</a:t>
            </a:r>
          </a:p>
        </p:txBody>
      </p:sp>
      <p:sp>
        <p:nvSpPr>
          <p:cNvPr id="4" name="섹션_신호"/>
          <p:cNvSpPr/>
          <p:nvPr/>
        </p:nvSpPr>
        <p:spPr>
          <a:xfrm>
            <a:off x="365760" y="1298448"/>
            <a:ext cx="7452360" cy="27432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18288" rIns="18288" bIns="18288">
            <a:noAutofit/>
          </a:bodyPr>
          <a:lstStyle/>
          <a:p>
            <a:pPr algn="l"/>
            <a:r>
              <a:rPr sz="12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판단을 바꾸는 신호 3가지</a:t>
            </a:r>
          </a:p>
        </p:txBody>
      </p:sp>
      <p:sp>
        <p:nvSpPr>
          <p:cNvPr id="5" name="열머리"/>
          <p:cNvSpPr/>
          <p:nvPr/>
        </p:nvSpPr>
        <p:spPr>
          <a:xfrm>
            <a:off x="365760" y="1609344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1000" b="1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사용자가 막힌 지점</a:t>
            </a:r>
          </a:p>
        </p:txBody>
      </p:sp>
      <p:sp>
        <p:nvSpPr>
          <p:cNvPr id="6" name="열머리"/>
          <p:cNvSpPr/>
          <p:nvPr/>
        </p:nvSpPr>
        <p:spPr>
          <a:xfrm>
            <a:off x="2971800" y="1609344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1000" b="1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실제 영향</a:t>
            </a:r>
          </a:p>
        </p:txBody>
      </p:sp>
      <p:sp>
        <p:nvSpPr>
          <p:cNvPr id="7" name="열머리"/>
          <p:cNvSpPr/>
          <p:nvPr/>
        </p:nvSpPr>
        <p:spPr>
          <a:xfrm>
            <a:off x="4663440" y="160934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1000" b="1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대응 (저장소 확인)</a:t>
            </a:r>
          </a:p>
        </p:txBody>
      </p:sp>
      <p:sp>
        <p:nvSpPr>
          <p:cNvPr id="8" name="열머리"/>
          <p:cNvSpPr/>
          <p:nvPr/>
        </p:nvSpPr>
        <p:spPr>
          <a:xfrm>
            <a:off x="6766559" y="160934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l"/>
            <a:r>
              <a:rPr sz="1000" b="1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재확인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56232"/>
            <a:ext cx="7452360" cy="109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38528"/>
            <a:ext cx="7452360" cy="27432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1"/>
          <p:cNvSpPr/>
          <p:nvPr/>
        </p:nvSpPr>
        <p:spPr>
          <a:xfrm>
            <a:off x="420624" y="1970532"/>
            <a:ext cx="210312" cy="210312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LG스마트체 Regular"/>
                <a:ea typeface="LG스마트체 Regular"/>
              </a:rPr>
              <a:t>1</a:t>
            </a:r>
          </a:p>
        </p:txBody>
      </p:sp>
      <p:sp>
        <p:nvSpPr>
          <p:cNvPr id="12" name="신호1"/>
          <p:cNvSpPr/>
          <p:nvPr/>
        </p:nvSpPr>
        <p:spPr>
          <a:xfrm>
            <a:off x="694944" y="1938528"/>
            <a:ext cx="70866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l"/>
            <a:r>
              <a:rPr sz="11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채택 위험 — 매일 써야 하고 추적된다는 오해</a:t>
            </a:r>
          </a:p>
        </p:txBody>
      </p:sp>
      <p:sp>
        <p:nvSpPr>
          <p:cNvPr id="13" name="막힘1"/>
          <p:cNvSpPr/>
          <p:nvPr/>
        </p:nvSpPr>
        <p:spPr>
          <a:xfrm>
            <a:off x="365760" y="2249424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달력 기반 화면 → </a:t>
            </a:r>
            <a:r>
              <a:rPr sz="1000" b="1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“일단위 작성이 필수라 오해”, “PoC 아닌 분도 식겁”</a:t>
            </a:r>
          </a:p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(우정주 경유, 인원 미상)</a:t>
            </a:r>
          </a:p>
        </p:txBody>
      </p:sp>
      <p:sp>
        <p:nvSpPr>
          <p:cNvPr id="14" name="영향1"/>
          <p:cNvSpPr/>
          <p:nvPr/>
        </p:nvSpPr>
        <p:spPr>
          <a:xfrm>
            <a:off x="2971800" y="2249424"/>
            <a:ext cx="1691640" cy="58521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기록 습관 형성 위축 우려</a:t>
            </a:r>
          </a:p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실제 이탈 여부는 사용 로그 미확보</a:t>
            </a:r>
          </a:p>
        </p:txBody>
      </p:sp>
      <p:sp>
        <p:nvSpPr>
          <p:cNvPr id="15" name="대응1"/>
          <p:cNvSpPr/>
          <p:nvPr/>
        </p:nvSpPr>
        <p:spPr>
          <a:xfrm>
            <a:off x="4700016" y="2249424"/>
            <a:ext cx="2029967" cy="585216"/>
          </a:xfrm>
          <a:prstGeom prst="rect">
            <a:avLst/>
          </a:prstGeom>
          <a:solidFill>
            <a:srgbClr val="EEF2F8"/>
          </a:solidFill>
          <a:ln w="9525">
            <a:solidFill>
              <a:srgbClr val="1F3864"/>
            </a:solidFill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프로젝트 단위 피드 화면으로 교체</a:t>
            </a:r>
          </a:p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2.0, 10-20 배포</a:t>
            </a:r>
          </a:p>
        </p:txBody>
      </p:sp>
      <p:sp>
        <p:nvSpPr>
          <p:cNvPr id="16" name="재확인1"/>
          <p:cNvSpPr/>
          <p:nvPr/>
        </p:nvSpPr>
        <p:spPr>
          <a:xfrm>
            <a:off x="6803136" y="2249424"/>
            <a:ext cx="1014983" cy="585216"/>
          </a:xfrm>
          <a:prstGeom prst="rect">
            <a:avLst/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</p:spPr>
        <p:txBody>
          <a:bodyPr rtlCol="0" anchor="ctr" wrap="square" lIns="36576" rIns="36576">
            <a:noAutofit/>
          </a:bodyPr>
          <a:lstStyle/>
          <a:p>
            <a:pPr algn="ctr"/>
            <a:r>
              <a:rPr sz="1000" b="1" lang="ko-KR" altLang="en-US">
                <a:solidFill>
                  <a:srgbClr val="C55A11"/>
                </a:solidFill>
                <a:latin typeface="LG스마트체 Regular"/>
                <a:ea typeface="LG스마트체 Regular"/>
              </a:rPr>
              <a:t>재확인 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99232"/>
            <a:ext cx="7452360" cy="27432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2"/>
          <p:cNvSpPr/>
          <p:nvPr/>
        </p:nvSpPr>
        <p:spPr>
          <a:xfrm>
            <a:off x="420624" y="3031236"/>
            <a:ext cx="210312" cy="210312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LG스마트체 Regular"/>
                <a:ea typeface="LG스마트체 Regular"/>
              </a:rPr>
              <a:t>2</a:t>
            </a:r>
          </a:p>
        </p:txBody>
      </p:sp>
      <p:sp>
        <p:nvSpPr>
          <p:cNvPr id="19" name="신호2"/>
          <p:cNvSpPr/>
          <p:nvPr/>
        </p:nvSpPr>
        <p:spPr>
          <a:xfrm>
            <a:off x="694944" y="2999232"/>
            <a:ext cx="70866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l"/>
            <a:r>
              <a:rPr sz="11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입력 부담 — 같은 일을 반복</a:t>
            </a:r>
          </a:p>
        </p:txBody>
      </p:sp>
      <p:sp>
        <p:nvSpPr>
          <p:cNvPr id="20" name="막힘2"/>
          <p:cNvSpPr/>
          <p:nvPr/>
        </p:nvSpPr>
        <p:spPr>
          <a:xfrm>
            <a:off x="365760" y="3310128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예시 문구를 일일이 지움 (박지수)</a:t>
            </a:r>
          </a:p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날짜가 지난 값으로 고정 (박지수)</a:t>
            </a:r>
          </a:p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표를 매주 다시 그림 (정지훈)</a:t>
            </a:r>
          </a:p>
        </p:txBody>
      </p:sp>
      <p:sp>
        <p:nvSpPr>
          <p:cNvPr id="21" name="영향2"/>
          <p:cNvSpPr/>
          <p:nvPr/>
        </p:nvSpPr>
        <p:spPr>
          <a:xfrm>
            <a:off x="2971800" y="3310128"/>
            <a:ext cx="1691640" cy="58521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반복 입력·오기록 위험</a:t>
            </a:r>
          </a:p>
        </p:txBody>
      </p:sp>
      <p:sp>
        <p:nvSpPr>
          <p:cNvPr id="22" name="대응2"/>
          <p:cNvSpPr/>
          <p:nvPr/>
        </p:nvSpPr>
        <p:spPr>
          <a:xfrm>
            <a:off x="4700016" y="3310128"/>
            <a:ext cx="2029967" cy="585216"/>
          </a:xfrm>
          <a:prstGeom prst="rect">
            <a:avLst/>
          </a:prstGeom>
          <a:solidFill>
            <a:srgbClr val="EEF2F8"/>
          </a:solidFill>
          <a:ln w="9525">
            <a:solidFill>
              <a:srgbClr val="1F3864"/>
            </a:solidFill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작성 틀 전환·오늘 날짜 기본·Sheet(표 버전)</a:t>
            </a:r>
          </a:p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10-20~10-22 배포</a:t>
            </a:r>
          </a:p>
        </p:txBody>
      </p:sp>
      <p:sp>
        <p:nvSpPr>
          <p:cNvPr id="23" name="재확인2"/>
          <p:cNvSpPr/>
          <p:nvPr/>
        </p:nvSpPr>
        <p:spPr>
          <a:xfrm>
            <a:off x="6803136" y="3310128"/>
            <a:ext cx="1014983" cy="585216"/>
          </a:xfrm>
          <a:prstGeom prst="rect">
            <a:avLst/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</p:spPr>
        <p:txBody>
          <a:bodyPr rtlCol="0" anchor="ctr" wrap="square" lIns="36576" rIns="36576">
            <a:noAutofit/>
          </a:bodyPr>
          <a:lstStyle/>
          <a:p>
            <a:pPr algn="ctr"/>
            <a:r>
              <a:rPr sz="1000" b="1" lang="ko-KR" altLang="en-US">
                <a:solidFill>
                  <a:srgbClr val="C55A11"/>
                </a:solidFill>
                <a:latin typeface="LG스마트체 Regular"/>
                <a:ea typeface="LG스마트체 Regular"/>
              </a:rPr>
              <a:t>재확인 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59936"/>
            <a:ext cx="7452360" cy="27432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3"/>
          <p:cNvSpPr/>
          <p:nvPr/>
        </p:nvSpPr>
        <p:spPr>
          <a:xfrm>
            <a:off x="420624" y="4091940"/>
            <a:ext cx="210312" cy="210312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1000" b="1" lang="ko-KR" altLang="en-US">
                <a:solidFill>
                  <a:srgbClr val="FFFFFF"/>
                </a:solidFill>
                <a:latin typeface="LG스마트체 Regular"/>
                <a:ea typeface="LG스마트체 Regular"/>
              </a:rPr>
              <a:t>3</a:t>
            </a:r>
          </a:p>
        </p:txBody>
      </p:sp>
      <p:sp>
        <p:nvSpPr>
          <p:cNvPr id="26" name="신호3"/>
          <p:cNvSpPr/>
          <p:nvPr/>
        </p:nvSpPr>
        <p:spPr>
          <a:xfrm>
            <a:off x="694944" y="4059936"/>
            <a:ext cx="70866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l"/>
            <a:r>
              <a:rPr sz="11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범위 인식 — 주간보고 도구로만 인식</a:t>
            </a:r>
          </a:p>
        </p:txBody>
      </p:sp>
      <p:sp>
        <p:nvSpPr>
          <p:cNvPr id="27" name="막힘3"/>
          <p:cNvSpPr/>
          <p:nvPr/>
        </p:nvSpPr>
        <p:spPr>
          <a:xfrm>
            <a:off x="365760" y="4370832"/>
            <a:ext cx="2606040" cy="58521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“입력이 주간보고용 같다”</a:t>
            </a:r>
          </a:p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템플릿 다양화 (참여자 경유)</a:t>
            </a:r>
          </a:p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위원 의견: 임원·완료·출장 보고 템플릿</a:t>
            </a:r>
          </a:p>
        </p:txBody>
      </p:sp>
      <p:sp>
        <p:nvSpPr>
          <p:cNvPr id="28" name="영향3"/>
          <p:cNvSpPr/>
          <p:nvPr/>
        </p:nvSpPr>
        <p:spPr>
          <a:xfrm>
            <a:off x="2971800" y="4370832"/>
            <a:ext cx="1691640" cy="58521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다른 보고서 재활용이라는 목적과 어긋남</a:t>
            </a:r>
          </a:p>
        </p:txBody>
      </p:sp>
      <p:sp>
        <p:nvSpPr>
          <p:cNvPr id="29" name="대응3"/>
          <p:cNvSpPr/>
          <p:nvPr/>
        </p:nvSpPr>
        <p:spPr>
          <a:xfrm>
            <a:off x="4700016" y="4370832"/>
            <a:ext cx="2029967" cy="585216"/>
          </a:xfrm>
          <a:prstGeom prst="rect">
            <a:avLst/>
          </a:prstGeom>
          <a:solidFill>
            <a:srgbClr val="EEF2F8"/>
          </a:solidFill>
          <a:ln w="9525">
            <a:solidFill>
              <a:srgbClr val="1F3864"/>
            </a:solidFill>
          </a:ln>
        </p:spPr>
        <p:txBody>
          <a:bodyPr rtlCol="0" anchor="t" wrap="square" lIns="73152" rIns="54864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분석·표 템플릿, 담당별 보고서 탭(완료 보고 등)</a:t>
            </a:r>
          </a:p>
        </p:txBody>
      </p:sp>
      <p:sp>
        <p:nvSpPr>
          <p:cNvPr id="30" name="재확인3"/>
          <p:cNvSpPr/>
          <p:nvPr/>
        </p:nvSpPr>
        <p:spPr>
          <a:xfrm>
            <a:off x="6803136" y="4370832"/>
            <a:ext cx="1014983" cy="585216"/>
          </a:xfrm>
          <a:prstGeom prst="rect">
            <a:avLst/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</p:spPr>
        <p:txBody>
          <a:bodyPr rtlCol="0" anchor="ctr" wrap="square" lIns="36576" rIns="36576">
            <a:noAutofit/>
          </a:bodyPr>
          <a:lstStyle/>
          <a:p>
            <a:pPr algn="ctr"/>
            <a:r>
              <a:rPr sz="1000" b="1" lang="ko-KR" altLang="en-US">
                <a:solidFill>
                  <a:srgbClr val="C55A11"/>
                </a:solidFill>
                <a:latin typeface="LG스마트체 Regular"/>
                <a:ea typeface="LG스마트체 Regular"/>
              </a:rPr>
              <a:t>재확인 전</a:t>
            </a:r>
          </a:p>
          <a:p>
            <a:pPr algn="ctr"/>
            <a:r>
              <a:rPr sz="1000" b="0" lang="ko-KR" altLang="en-US">
                <a:solidFill>
                  <a:srgbClr val="C55A11"/>
                </a:solidFill>
                <a:latin typeface="LG스마트체 Regular"/>
                <a:ea typeface="LG스마트체 Regular"/>
              </a:rPr>
              <a:t>실데이터 생성 미확인</a:t>
            </a:r>
          </a:p>
        </p:txBody>
      </p:sp>
      <p:sp>
        <p:nvSpPr>
          <p:cNvPr id="31" name="상자_구성"/>
          <p:cNvSpPr/>
          <p:nvPr/>
        </p:nvSpPr>
        <p:spPr>
          <a:xfrm>
            <a:off x="8028431" y="1298448"/>
            <a:ext cx="3794760" cy="1828799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59" y="1389888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24000" h="24000" stroke="0">
                <a:moveTo>
                  <a:pt x="12000" y="12750"/>
                </a:moveTo>
                <a:cubicBezTo>
                  <a:pt x="13630" y="12750"/>
                  <a:pt x="15070" y="13140"/>
                  <a:pt x="16240" y="13650"/>
                </a:cubicBezTo>
                <a:cubicBezTo>
                  <a:pt x="17320" y="14130"/>
                  <a:pt x="18000" y="15210"/>
                  <a:pt x="18000" y="16380"/>
                </a:cubicBezTo>
                <a:lnTo>
                  <a:pt x="18000" y="18000"/>
                </a:lnTo>
                <a:lnTo>
                  <a:pt x="6000" y="18000"/>
                </a:lnTo>
                <a:lnTo>
                  <a:pt x="6000" y="16390"/>
                </a:lnTo>
                <a:cubicBezTo>
                  <a:pt x="6000" y="15210"/>
                  <a:pt x="6680" y="14130"/>
                  <a:pt x="7760" y="13660"/>
                </a:cubicBezTo>
                <a:cubicBezTo>
                  <a:pt x="8930" y="13140"/>
                  <a:pt x="10370" y="12750"/>
                  <a:pt x="12000" y="12750"/>
                </a:cubicBezTo>
                <a:close/>
                <a:moveTo>
                  <a:pt x="4000" y="13000"/>
                </a:moveTo>
                <a:cubicBezTo>
                  <a:pt x="5100" y="13000"/>
                  <a:pt x="6000" y="12100"/>
                  <a:pt x="6000" y="11000"/>
                </a:cubicBezTo>
                <a:cubicBezTo>
                  <a:pt x="6000" y="9900"/>
                  <a:pt x="5100" y="9000"/>
                  <a:pt x="4000" y="9000"/>
                </a:cubicBezTo>
                <a:cubicBezTo>
                  <a:pt x="2900" y="9000"/>
                  <a:pt x="2000" y="9900"/>
                  <a:pt x="2000" y="11000"/>
                </a:cubicBezTo>
                <a:cubicBezTo>
                  <a:pt x="2000" y="12100"/>
                  <a:pt x="2900" y="13000"/>
                  <a:pt x="4000" y="13000"/>
                </a:cubicBezTo>
                <a:close/>
                <a:moveTo>
                  <a:pt x="5130" y="14100"/>
                </a:moveTo>
                <a:cubicBezTo>
                  <a:pt x="4760" y="14040"/>
                  <a:pt x="4390" y="14000"/>
                  <a:pt x="4000" y="14000"/>
                </a:cubicBezTo>
                <a:cubicBezTo>
                  <a:pt x="3010" y="14000"/>
                  <a:pt x="2070" y="14210"/>
                  <a:pt x="1220" y="14580"/>
                </a:cubicBezTo>
                <a:cubicBezTo>
                  <a:pt x="479" y="14897"/>
                  <a:pt x="-1" y="15625"/>
                  <a:pt x="0" y="16430"/>
                </a:cubicBezTo>
                <a:lnTo>
                  <a:pt x="0" y="18000"/>
                </a:lnTo>
                <a:lnTo>
                  <a:pt x="4500" y="18000"/>
                </a:lnTo>
                <a:lnTo>
                  <a:pt x="4500" y="16390"/>
                </a:lnTo>
                <a:cubicBezTo>
                  <a:pt x="4500" y="15560"/>
                  <a:pt x="4730" y="14780"/>
                  <a:pt x="5130" y="14100"/>
                </a:cubicBezTo>
                <a:close/>
                <a:moveTo>
                  <a:pt x="20000" y="13000"/>
                </a:moveTo>
                <a:cubicBezTo>
                  <a:pt x="21100" y="13000"/>
                  <a:pt x="22000" y="12100"/>
                  <a:pt x="22000" y="11000"/>
                </a:cubicBezTo>
                <a:cubicBezTo>
                  <a:pt x="22000" y="9900"/>
                  <a:pt x="21100" y="9000"/>
                  <a:pt x="20000" y="9000"/>
                </a:cubicBezTo>
                <a:cubicBezTo>
                  <a:pt x="18900" y="9000"/>
                  <a:pt x="18000" y="9900"/>
                  <a:pt x="18000" y="11000"/>
                </a:cubicBezTo>
                <a:cubicBezTo>
                  <a:pt x="18000" y="12100"/>
                  <a:pt x="18900" y="13000"/>
                  <a:pt x="20000" y="13000"/>
                </a:cubicBezTo>
                <a:close/>
                <a:moveTo>
                  <a:pt x="24000" y="16430"/>
                </a:moveTo>
                <a:cubicBezTo>
                  <a:pt x="24000" y="15620"/>
                  <a:pt x="23520" y="14900"/>
                  <a:pt x="22780" y="14580"/>
                </a:cubicBezTo>
                <a:cubicBezTo>
                  <a:pt x="21903" y="14197"/>
                  <a:pt x="20957" y="14000"/>
                  <a:pt x="20000" y="14000"/>
                </a:cubicBezTo>
                <a:cubicBezTo>
                  <a:pt x="19610" y="14000"/>
                  <a:pt x="19240" y="14040"/>
                  <a:pt x="18870" y="14100"/>
                </a:cubicBezTo>
                <a:cubicBezTo>
                  <a:pt x="19270" y="14780"/>
                  <a:pt x="19500" y="15560"/>
                  <a:pt x="19500" y="16390"/>
                </a:cubicBezTo>
                <a:lnTo>
                  <a:pt x="19500" y="18000"/>
                </a:lnTo>
                <a:lnTo>
                  <a:pt x="24000" y="18000"/>
                </a:lnTo>
                <a:lnTo>
                  <a:pt x="24000" y="16430"/>
                </a:lnTo>
                <a:close/>
                <a:moveTo>
                  <a:pt x="12000" y="6000"/>
                </a:moveTo>
                <a:cubicBezTo>
                  <a:pt x="13660" y="6000"/>
                  <a:pt x="15000" y="7340"/>
                  <a:pt x="15000" y="9000"/>
                </a:cubicBezTo>
                <a:cubicBezTo>
                  <a:pt x="15000" y="10660"/>
                  <a:pt x="13660" y="12000"/>
                  <a:pt x="12000" y="12000"/>
                </a:cubicBezTo>
                <a:cubicBezTo>
                  <a:pt x="10340" y="12000"/>
                  <a:pt x="9000" y="10660"/>
                  <a:pt x="9000" y="9000"/>
                </a:cubicBezTo>
                <a:cubicBezTo>
                  <a:pt x="9000" y="7340"/>
                  <a:pt x="10340" y="6000"/>
                  <a:pt x="12000" y="6000"/>
                </a:cubicBezTo>
                <a:close/>
              </a:path>
            </a:pathLst>
          </a:custGeom>
          <a:solidFill>
            <a:srgbClr val="1F386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섹션_의견 17건 구성"/>
          <p:cNvSpPr/>
          <p:nvPr/>
        </p:nvSpPr>
        <p:spPr>
          <a:xfrm>
            <a:off x="8385047" y="1353312"/>
            <a:ext cx="334670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18288" rIns="0" bIns="18288">
            <a:noAutofit/>
          </a:bodyPr>
          <a:lstStyle/>
          <a:p>
            <a:pPr algn="l"/>
            <a:r>
              <a:rPr sz="12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의견 17건 구성</a:t>
            </a:r>
          </a:p>
        </p:txBody>
      </p:sp>
      <p:graphicFrame>
        <p:nvGraphicFramePr>
          <p:cNvPr id="34" name="표_의견구성"/>
          <p:cNvGraphicFramePr>
            <a:graphicFrameLocks noGrp="1"/>
          </p:cNvGraphicFramePr>
          <p:nvPr/>
        </p:nvGraphicFramePr>
        <p:xfrm>
          <a:off x="8138159" y="1664207"/>
          <a:ext cx="3575304" cy="1143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84048"/>
                <a:gridCol w="1307592"/>
                <a:gridCol w="941832"/>
                <a:gridCol w="941832"/>
              </a:tblGrid>
              <a:tr h="22860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출처</a:t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직접 Teams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9</a:t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우정주 경유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3</a:t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설명회 정리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5</a:t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유형</a:t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결함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3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사용성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5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기능 요청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5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 vMerge="1"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/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이미 있는데 못 찾음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1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범위·인식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리더 의견 </a:t>
                      </a:r>
                      <a:r>
                        <a:rPr sz="1000" b="1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1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상태</a:t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구현·재확인 전 </a:t>
                      </a:r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12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2E7D32"/>
                          </a:solidFill>
                          <a:latin typeface="LG스마트체 Regular"/>
                          <a:ea typeface="LG스마트체 Regular"/>
                        </a:rPr>
                        <a:t>사용자 확인 </a:t>
                      </a:r>
                      <a:r>
                        <a:rPr sz="1000" b="1" lang="ko-KR" altLang="en-US">
                          <a:solidFill>
                            <a:srgbClr val="2E7D32"/>
                          </a:solidFill>
                          <a:latin typeface="LG스마트체 Regular"/>
                          <a:ea typeface="LG스마트체 Regular"/>
                        </a:rPr>
                        <a:t>2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A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검토 전 </a:t>
                      </a:r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1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228600">
                <a:tc vMerge="1"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/>
                      </a:r>
                    </a:p>
                  </a:txBody>
                  <a:tcPr marL="27432" marT="27432" marR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조치 기록 미확인 </a:t>
                      </a:r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1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해당 없음 </a:t>
                      </a:r>
                      <a:r>
                        <a:rPr sz="1000" b="1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계 17</a:t>
                      </a:r>
                    </a:p>
                  </a:txBody>
                  <a:tcPr marL="27432" marT="27432" marR="27432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주_개발자"/>
          <p:cNvSpPr/>
          <p:nvPr/>
        </p:nvSpPr>
        <p:spPr>
          <a:xfrm>
            <a:off x="8138159" y="2852927"/>
            <a:ext cx="3575304" cy="2286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18288" rIns="0" bIns="18288">
            <a:no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개발자 발견 6건은 별도(부록)</a:t>
            </a:r>
          </a:p>
        </p:txBody>
      </p:sp>
      <p:sp>
        <p:nvSpPr>
          <p:cNvPr id="36" name="상자_운영"/>
          <p:cNvSpPr/>
          <p:nvPr/>
        </p:nvSpPr>
        <p:spPr>
          <a:xfrm>
            <a:off x="8028431" y="3273551"/>
            <a:ext cx="3794760" cy="989076"/>
          </a:xfrm>
          <a:prstGeom prst="rect">
            <a:avLst/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59" y="3364991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6000" y="9000"/>
                </a:moveTo>
                <a:cubicBezTo>
                  <a:pt x="6000" y="12314"/>
                  <a:pt x="8686" y="15000"/>
                  <a:pt x="12000" y="15000"/>
                </a:cubicBezTo>
                <a:cubicBezTo>
                  <a:pt x="15314" y="15000"/>
                  <a:pt x="18000" y="12314"/>
                  <a:pt x="18000" y="9000"/>
                </a:cubicBezTo>
                <a:cubicBezTo>
                  <a:pt x="18000" y="5686"/>
                  <a:pt x="15314" y="3000"/>
                  <a:pt x="12000" y="3000"/>
                </a:cubicBezTo>
                <a:cubicBezTo>
                  <a:pt x="8686" y="3000"/>
                  <a:pt x="6000" y="5686"/>
                  <a:pt x="6000" y="9000"/>
                </a:cubicBezTo>
              </a:path>
              <a:path w="24000" h="24000" fill="none">
                <a:moveTo>
                  <a:pt x="12000" y="3000"/>
                </a:moveTo>
                <a:cubicBezTo>
                  <a:pt x="13333" y="3333"/>
                  <a:pt x="14000" y="5333"/>
                  <a:pt x="14000" y="9000"/>
                </a:cubicBezTo>
                <a:cubicBezTo>
                  <a:pt x="14000" y="12667"/>
                  <a:pt x="13333" y="14667"/>
                  <a:pt x="12000" y="15000"/>
                </a:cubicBezTo>
              </a:path>
              <a:path w="24000" h="24000" fill="none">
                <a:moveTo>
                  <a:pt x="12000" y="3000"/>
                </a:moveTo>
                <a:cubicBezTo>
                  <a:pt x="10667" y="3333"/>
                  <a:pt x="10000" y="5333"/>
                  <a:pt x="10000" y="9000"/>
                </a:cubicBezTo>
                <a:cubicBezTo>
                  <a:pt x="10000" y="12667"/>
                  <a:pt x="10667" y="14667"/>
                  <a:pt x="12000" y="15000"/>
                </a:cubicBezTo>
              </a:path>
              <a:path w="24000" h="24000" fill="none">
                <a:moveTo>
                  <a:pt x="6000" y="9000"/>
                </a:moveTo>
                <a:lnTo>
                  <a:pt x="18000" y="9000"/>
                </a:lnTo>
              </a:path>
              <a:path w="24000" h="24000" fill="none">
                <a:moveTo>
                  <a:pt x="3000" y="20000"/>
                </a:moveTo>
                <a:lnTo>
                  <a:pt x="10000" y="20000"/>
                </a:lnTo>
              </a:path>
              <a:path w="24000" h="24000" fill="none">
                <a:moveTo>
                  <a:pt x="14000" y="20000"/>
                </a:moveTo>
                <a:lnTo>
                  <a:pt x="21000" y="20000"/>
                </a:lnTo>
              </a:path>
              <a:path w="24000" h="24000" fill="none">
                <a:moveTo>
                  <a:pt x="10000" y="20000"/>
                </a:moveTo>
                <a:cubicBezTo>
                  <a:pt x="10000" y="21105"/>
                  <a:pt x="10895" y="22000"/>
                  <a:pt x="12000" y="22000"/>
                </a:cubicBezTo>
                <a:cubicBezTo>
                  <a:pt x="13105" y="22000"/>
                  <a:pt x="14000" y="21105"/>
                  <a:pt x="14000" y="20000"/>
                </a:cubicBezTo>
                <a:cubicBezTo>
                  <a:pt x="14000" y="18895"/>
                  <a:pt x="13105" y="18000"/>
                  <a:pt x="12000" y="18000"/>
                </a:cubicBezTo>
                <a:cubicBezTo>
                  <a:pt x="10895" y="18000"/>
                  <a:pt x="10000" y="18895"/>
                  <a:pt x="10000" y="20000"/>
                </a:cubicBezTo>
              </a:path>
              <a:path w="24000" h="24000" fill="none">
                <a:moveTo>
                  <a:pt x="12000" y="15000"/>
                </a:moveTo>
                <a:lnTo>
                  <a:pt x="12000" y="18000"/>
                </a:lnTo>
              </a:path>
            </a:pathLst>
          </a:custGeom>
          <a:solidFill>
            <a:srgbClr val="C55A11"/>
          </a:solidFill>
          <a:ln w="15875">
            <a:solidFill>
              <a:srgbClr val="C55A1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8" name="섹션_운영 체계 변화"/>
          <p:cNvSpPr/>
          <p:nvPr/>
        </p:nvSpPr>
        <p:spPr>
          <a:xfrm>
            <a:off x="8385047" y="3328415"/>
            <a:ext cx="334670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18288" rIns="0" bIns="18288">
            <a:noAutofit/>
          </a:bodyPr>
          <a:lstStyle/>
          <a:p>
            <a:pPr algn="l"/>
            <a:r>
              <a:rPr sz="1200" b="1" lang="ko-KR" altLang="en-US">
                <a:solidFill>
                  <a:srgbClr val="C55A11"/>
                </a:solidFill>
                <a:latin typeface="LG스마트체 Regular"/>
                <a:ea typeface="LG스마트체 Regular"/>
              </a:rPr>
              <a:t>운영 체계 변화</a:t>
            </a:r>
          </a:p>
        </p:txBody>
      </p:sp>
      <p:sp>
        <p:nvSpPr>
          <p:cNvPr id="39" name="운영본문"/>
          <p:cNvSpPr/>
          <p:nvPr/>
        </p:nvSpPr>
        <p:spPr>
          <a:xfrm>
            <a:off x="8138159" y="3621023"/>
            <a:ext cx="3575304" cy="53187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18288" rIns="0" bIns="18288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DAVINCI: 서버 자원만 지원, 운영·유지보수 인력 불가</a:t>
            </a:r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(이정원 팀장, 10-20 구두)</a:t>
            </a:r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 → </a:t>
            </a:r>
            <a:r>
              <a:rPr sz="1000" b="1" lang="ko-KR" altLang="en-US">
                <a:solidFill>
                  <a:srgbClr val="C55A11"/>
                </a:solidFill>
                <a:latin typeface="LG스마트체 Regular"/>
                <a:ea typeface="LG스마트체 Regular"/>
              </a:rPr>
              <a:t>개발·운영 2인</a:t>
            </a:r>
          </a:p>
          <a:p>
            <a:pPr algn="l">
              <a:spcBef>
                <a:spcPts val="300"/>
              </a:spcBef>
            </a:pPr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· 운영 서버 중단·재시작 공지 </a:t>
            </a:r>
            <a:r>
              <a:rPr sz="1000" b="1" lang="ko-KR" altLang="en-US">
                <a:solidFill>
                  <a:srgbClr val="C55A11"/>
                </a:solidFill>
                <a:latin typeface="LG스마트체 Regular"/>
                <a:ea typeface="LG스마트체 Regular"/>
              </a:rPr>
              <a:t>6회</a:t>
            </a:r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(10-20~10-26, 기능 배포)</a:t>
            </a:r>
          </a:p>
        </p:txBody>
      </p:sp>
      <p:sp>
        <p:nvSpPr>
          <p:cNvPr id="40" name="상자_한계"/>
          <p:cNvSpPr/>
          <p:nvPr/>
        </p:nvSpPr>
        <p:spPr>
          <a:xfrm>
            <a:off x="8028431" y="4408932"/>
            <a:ext cx="3794760" cy="976376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59" y="4500371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24000" h="24000" fill="none">
                <a:moveTo>
                  <a:pt x="12000" y="9000"/>
                </a:moveTo>
                <a:lnTo>
                  <a:pt x="12000" y="13000"/>
                </a:lnTo>
              </a:path>
              <a:path w="24000" h="24000" fill="none">
                <a:moveTo>
                  <a:pt x="10363" y="3591"/>
                </a:moveTo>
                <a:lnTo>
                  <a:pt x="2257" y="17125"/>
                </a:lnTo>
                <a:cubicBezTo>
                  <a:pt x="1917" y="17714"/>
                  <a:pt x="1915" y="18439"/>
                  <a:pt x="2252" y="19030"/>
                </a:cubicBezTo>
                <a:cubicBezTo>
                  <a:pt x="2588" y="19621"/>
                  <a:pt x="3213" y="19988"/>
                  <a:pt x="3893" y="19996"/>
                </a:cubicBezTo>
                <a:lnTo>
                  <a:pt x="20107" y="19996"/>
                </a:lnTo>
                <a:cubicBezTo>
                  <a:pt x="20787" y="19988"/>
                  <a:pt x="21411" y="19620"/>
                  <a:pt x="21748" y="19030"/>
                </a:cubicBezTo>
                <a:cubicBezTo>
                  <a:pt x="22084" y="18440"/>
                  <a:pt x="22083" y="17715"/>
                  <a:pt x="21743" y="17126"/>
                </a:cubicBezTo>
                <a:lnTo>
                  <a:pt x="13637" y="3590"/>
                </a:lnTo>
                <a:cubicBezTo>
                  <a:pt x="13290" y="3017"/>
                  <a:pt x="12669" y="2668"/>
                  <a:pt x="12000" y="2668"/>
                </a:cubicBezTo>
                <a:cubicBezTo>
                  <a:pt x="11331" y="2668"/>
                  <a:pt x="10710" y="3017"/>
                  <a:pt x="10363" y="3590"/>
                </a:cubicBezTo>
                <a:close/>
              </a:path>
              <a:path w="24000" h="24000" fill="none">
                <a:moveTo>
                  <a:pt x="12000" y="16000"/>
                </a:moveTo>
                <a:lnTo>
                  <a:pt x="12010" y="16000"/>
                </a:lnTo>
              </a:path>
            </a:pathLst>
          </a:custGeom>
          <a:solidFill>
            <a:srgbClr val="595959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2" name="섹션_의견 수집의 한계"/>
          <p:cNvSpPr/>
          <p:nvPr/>
        </p:nvSpPr>
        <p:spPr>
          <a:xfrm>
            <a:off x="8385047" y="4463795"/>
            <a:ext cx="334670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tIns="18288" rIns="0" bIns="18288">
            <a:noAutofit/>
          </a:bodyPr>
          <a:lstStyle/>
          <a:p>
            <a:pPr algn="l"/>
            <a:r>
              <a:rPr sz="1200" b="1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의견 수집의 한계</a:t>
            </a:r>
          </a:p>
        </p:txBody>
      </p:sp>
      <p:sp>
        <p:nvSpPr>
          <p:cNvPr id="43" name="한계본문"/>
          <p:cNvSpPr/>
          <p:nvPr/>
        </p:nvSpPr>
        <p:spPr>
          <a:xfrm>
            <a:off x="8138159" y="4756404"/>
            <a:ext cx="3575304" cy="519176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tIns="18288" rIns="0" bIns="18288">
            <a:noAutofit/>
          </a:bodyPr>
          <a:lstStyle/>
          <a:p>
            <a:pPr algn="l"/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참여자 17명 중 Teams 직접 의견 </a:t>
            </a:r>
            <a:r>
              <a:rPr sz="1000" b="1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3명</a:t>
            </a:r>
            <a:r>
              <a:rPr sz="100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(최상준·정지훈·박지수) · VoE 게시판 </a:t>
            </a:r>
            <a:r>
              <a:rPr sz="1000" b="1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0건</a:t>
            </a:r>
          </a:p>
          <a:p>
            <a:pPr algn="l">
              <a:spcBef>
                <a:spcPts val="200"/>
              </a:spcBef>
            </a:pPr>
            <a:r>
              <a:rPr sz="1000" b="1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→ 대표성·만족도 판단 불가</a:t>
            </a:r>
          </a:p>
        </p:txBody>
      </p:sp>
      <p:sp>
        <p:nvSpPr>
          <p:cNvPr id="44" name="다음확인_테두리"/>
          <p:cNvSpPr/>
          <p:nvPr/>
        </p:nvSpPr>
        <p:spPr>
          <a:xfrm>
            <a:off x="365760" y="5715000"/>
            <a:ext cx="1145743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다음확인_라벨"/>
          <p:cNvSpPr/>
          <p:nvPr/>
        </p:nvSpPr>
        <p:spPr>
          <a:xfrm>
            <a:off x="365760" y="5715000"/>
            <a:ext cx="105156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 wrap="square" lIns="54864" tIns="36576" rIns="54864" bIns="36576">
            <a:noAutofit/>
          </a:bodyPr>
          <a:lstStyle/>
          <a:p>
            <a:pPr algn="ctr"/>
            <a:r>
              <a:rPr sz="1100" b="1" lang="ko-KR" altLang="en-US">
                <a:solidFill>
                  <a:srgbClr val="FFFFFF"/>
                </a:solidFill>
                <a:latin typeface="LG스마트체 Regular"/>
                <a:ea typeface="LG스마트체 Regular"/>
              </a:rPr>
              <a:t>다음 확인</a:t>
            </a:r>
          </a:p>
        </p:txBody>
      </p:sp>
      <p:sp>
        <p:nvSpPr>
          <p:cNvPr id="46" name="다음확인_본문"/>
          <p:cNvSpPr/>
          <p:nvPr/>
        </p:nvSpPr>
        <p:spPr>
          <a:xfrm>
            <a:off x="1508760" y="571500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tIns="27432" rIns="45720" bIns="27432">
            <a:noAutofit/>
          </a:bodyPr>
          <a:lstStyle/>
          <a:p>
            <a:pPr algn="l"/>
            <a:r>
              <a:rPr sz="105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① </a:t>
            </a:r>
            <a:r>
              <a:rPr sz="105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수정 12건 원 제기자 재확인</a:t>
            </a:r>
            <a:r>
              <a:rPr sz="105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    ② </a:t>
            </a:r>
            <a:r>
              <a:rPr sz="105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사용 로그로 주별 작성 인원·이탈 확인</a:t>
            </a:r>
            <a:r>
              <a:rPr sz="105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    ③ </a:t>
            </a:r>
            <a:r>
              <a:rPr sz="1050" b="0" lang="ko-KR" altLang="en-US">
                <a:solidFill>
                  <a:srgbClr val="262626"/>
                </a:solidFill>
                <a:latin typeface="LG스마트체 Regular"/>
                <a:ea typeface="LG스마트체 Regular"/>
              </a:rPr>
              <a:t>실제 주간보고 1사이클에서 입력 부담 측정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6190488"/>
            <a:ext cx="256032" cy="164592"/>
          </a:xfrm>
          <a:prstGeom prst="rect">
            <a:avLst/>
          </a:prstGeom>
          <a:solidFill>
            <a:srgbClr val="EAF4EA"/>
          </a:solidFill>
          <a:ln w="12700">
            <a:solidFill>
              <a:srgbClr val="2E7D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범례"/>
          <p:cNvSpPr/>
          <p:nvPr/>
        </p:nvSpPr>
        <p:spPr>
          <a:xfrm>
            <a:off x="667512" y="6144768"/>
            <a:ext cx="1192756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초록 = 사용자 확인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34588" y="6190488"/>
            <a:ext cx="256032" cy="164592"/>
          </a:xfrm>
          <a:prstGeom prst="rect">
            <a:avLst/>
          </a:prstGeom>
          <a:solidFill>
            <a:srgbClr val="FFF5EB"/>
          </a:solidFill>
          <a:ln w="15875">
            <a:solidFill>
              <a:srgbClr val="C55A1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범례"/>
          <p:cNvSpPr/>
          <p:nvPr/>
        </p:nvSpPr>
        <p:spPr>
          <a:xfrm>
            <a:off x="2436340" y="6144768"/>
            <a:ext cx="2045494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주황 점선 = 구현·재확인 전/미확인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6155" y="6190488"/>
            <a:ext cx="256032" cy="164592"/>
          </a:xfrm>
          <a:prstGeom prst="rect">
            <a:avLst/>
          </a:prstGeom>
          <a:solidFill>
            <a:srgbClr val="EEF2F8"/>
          </a:solidFill>
          <a:ln w="12700">
            <a:solidFill>
              <a:srgbClr val="1F38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범례"/>
          <p:cNvSpPr/>
          <p:nvPr/>
        </p:nvSpPr>
        <p:spPr>
          <a:xfrm>
            <a:off x="5057907" y="6144768"/>
            <a:ext cx="1192756" cy="25603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18288" tIns="18288" rIns="18288" bIns="18288">
            <a:no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남색 = 저장소 확인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/>
          <p:nvPr/>
        </p:nvSpPr>
        <p:spPr>
          <a:xfrm>
            <a:off x="365760" y="256032"/>
            <a:ext cx="11457432" cy="3657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16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부록 A. VoE 등록부 ① 참여자 직접 의견 9건 (Teams 원문)</a:t>
            </a:r>
          </a:p>
        </p:txBody>
      </p:sp>
      <p:graphicFrame>
        <p:nvGraphicFramePr>
          <p:cNvPr id="3" name="표_직접의견"/>
          <p:cNvGraphicFramePr>
            <a:graphicFrameLocks noGrp="1"/>
          </p:cNvGraphicFramePr>
          <p:nvPr/>
        </p:nvGraphicFramePr>
        <p:xfrm>
          <a:off x="365760" y="777240"/>
          <a:ext cx="11457432" cy="4389119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"/>
                <a:gridCol w="2834640"/>
                <a:gridCol w="1325880"/>
                <a:gridCol w="914400"/>
                <a:gridCol w="1188720"/>
                <a:gridCol w="2697480"/>
                <a:gridCol w="1234440"/>
                <a:gridCol w="896112"/>
              </a:tblGrid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#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사용자 의견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발신자·시각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유형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하려던 업무·막힘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조치 내용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배포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재확인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682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D1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프로젝트 등록이 안 된다는 문의 — 원인은 첫 화면에서 ‘내 이름’을 고르지 않은 것(본인이 8분 뒤 해결). 이름을 안 고르면 등록 버튼을 막아 달라는 제안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최상준 책임(품질DX)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14:25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사용성(혼동)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프로젝트 등록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막힘→자체 해결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이름을 고르지 않으면 화면 위와 입력창에 “내 이름을 먼저 고르세요” 안내 표시. 등록 버튼 자체를 막는 것은 일부 화면만 적용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배포 시점 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D2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첫 화면에 모든 사람의 기록이 보여 불편 — “기본 값을 … 내업무일지로”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최상준 책임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14:38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사용성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내 기록 조회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첫 화면 기본값을 ‘내가 쓴 기록’으로 변경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2.0 배포(10-20)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D3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주간보고 표는 매주 숫자만 바뀌는데 매번 새로 그려야 함 — “값만 수정하면서 연속성 있게”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정지훈 사원(공정DX)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15:30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기능 요청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주간 표 갱신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우회 가능(매주 재작성)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같은 표를 주마다 새 버전으로 이어 쓰는 ‘표(Sheet) 기록’ 추가. 지난주 대비 바뀐 칸 자동 표시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2.0 배포(10-20)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D4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추진일정과 기록·할 일이 자동으로 연결되면 좋겠다는 요청 → 1분 뒤 “여기서 연결 찾았습니다”(이미 있던 기능)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최상준 책임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16:48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이미 있는데 못 찾음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일정 연계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불편→자체 해결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기존 기능으로 해결. 이후 기록에서 할 일을 바로 등록하는 연결 추가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2.0 배포(10-20)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2E7D32"/>
                          </a:solidFill>
                          <a:latin typeface="LG스마트체 Regular"/>
                          <a:ea typeface="LG스마트체 Regular"/>
                        </a:rPr>
                        <a:t>사용자 자체 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AF4EA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D5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주간 단위로 보니 기간 선택에 “이전주/이번주/다음주 버튼”이 있으면 좋겠음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최상준 책임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17:09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사용성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주간 기간 선택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보고자료 화면에 ‘이전 주 · 이번 주 · 다음 주’ 버튼 있음 (반영 시점은 확인 못 함)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D6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화면의 체크박스 줄이 어긋나 보임 — “체크 박스가 얼라인이 안맞습니다”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최상준 책임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10-20 08:44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결함(화면)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—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수정 기록을 찾지 못함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D7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2.0 업데이트 직후 예전 기록이 안 보인다는 문의 → 새로고침 후 팀·이름을 다시 고르니 해결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최상준 책임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10-20 09:01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결함(업데이트 직후 혼선)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기존 기록 확인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막힘→1분 내 해결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현장에서 새로고침 안내로 해결. 예전에 고른 이름이 남아 생기던 문제는 자동 정리되도록 변경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—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2E7D32"/>
                          </a:solidFill>
                          <a:latin typeface="LG스마트체 Regular"/>
                          <a:ea typeface="LG스마트체 Regular"/>
                        </a:rPr>
                        <a:t>사용자 확인 “되네요”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AF4EA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D8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기록 작성 날짜가 “2026-10-20으로 고정”되어 오늘 날짜로 바뀌지 않음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박지수 선임(설비DX)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10-22 09:48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결함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기록 작성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오기록 위험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입력창을 새로 열 때마다 오늘 날짜로 시작하도록 수정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10-22 11:28 배포 공지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D9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예시 문구가 계속 다시 나타나 “일일이 지워야” 함. 다만 “예시 구조는 좋아서 활용하고 싶은데”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박지수 선임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10-22 11:46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사용성(입력 부담)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기록 작성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반복 작업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본문을 누르면 예시 문장은 지워지고 제목·항목 틀만 남도록 변경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10-22 14:29 '수정 완료'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</a:tbl>
          </a:graphicData>
        </a:graphic>
      </p:graphicFrame>
      <p:sp>
        <p:nvSpPr>
          <p:cNvPr id="4" name="부록주"/>
          <p:cNvSpPr/>
          <p:nvPr/>
        </p:nvSpPr>
        <p:spPr>
          <a:xfrm>
            <a:off x="365760" y="5239512"/>
            <a:ext cx="11457432" cy="237744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9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※ 직접 인용은 Teams 원문만. 전달 의견은 요지이며 원 발언자 미기록. </a:t>
            </a:r>
            <a:r>
              <a:rPr sz="9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색: 초록 = 사용자 확인 · 주황 = 재확인 전/미확인 · 남색 칸 = 저장소에서 확인한 조치 (세부 근거는 발표자 노트)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/>
          <p:nvPr/>
        </p:nvSpPr>
        <p:spPr>
          <a:xfrm>
            <a:off x="365760" y="256032"/>
            <a:ext cx="11457432" cy="3657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16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부록 B. VoE 등록부 ② 전달 의견 8건 (우정주 경유·설명회 정리)</a:t>
            </a:r>
          </a:p>
        </p:txBody>
      </p:sp>
      <p:graphicFrame>
        <p:nvGraphicFramePr>
          <p:cNvPr id="3" name="표_전달의견"/>
          <p:cNvGraphicFramePr>
            <a:graphicFrameLocks noGrp="1"/>
          </p:cNvGraphicFramePr>
          <p:nvPr/>
        </p:nvGraphicFramePr>
        <p:xfrm>
          <a:off x="365760" y="777240"/>
          <a:ext cx="11457432" cy="3858767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"/>
                <a:gridCol w="2834640"/>
                <a:gridCol w="1325880"/>
                <a:gridCol w="914400"/>
                <a:gridCol w="1188720"/>
                <a:gridCol w="2697480"/>
                <a:gridCol w="1234440"/>
                <a:gridCol w="896112"/>
              </a:tblGrid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#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사용자 의견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출처·시각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유형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하려던 업무·막힘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조치 내용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배포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재확인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R1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입력 화면이 주간보고용 같아, 과제마다 다른 양식을 쓰고 싶다는 의견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우정주 경유 (PoC 참여자)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09:26 전달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범위·양식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다른 보고서 작성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주간보고 외 미지원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분석·표 입력 양식 추가, 완료 보고 등 담당별 보고서 양식을 별도 메뉴로 추가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2.0 배포(10-20)·담당 탭 배포 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R2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기록에 쓸 수 있는 항목이 적고, HTML·XML 등 다양한 파일을 첨부하고 싶음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설명회 정리 (이재후)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14:45 정리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기능 요청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자료 첨부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파일 형식 제한 없이 첨부 가능. 기록 종류에 ‘교훈(Lesson Learned)’ 추가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R3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할 일 창이 작성일 기준이라 불편 — 마감일 기준으로 보고 싶음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설명회 정리 (이재후)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14:45 정리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사용성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할 일 관리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할 일에 마감일 입력·목록에 마감일 표시. 마감일 순 정렬 여부는 확인 못 함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R4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추진일정 변경을 기록 화면에서 바로 하면 좋겠다는 검토 요청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설명회 정리 (이재후)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14:45 정리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기능 요청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일정 변경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아직 반영 안 함 (추진일정은 프로젝트 정보 화면에서 수정)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—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검토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R5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과거에 쓴 기록과 이어서 보고 싶음(추진일정의 흐름이 이어지게)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설명회 정리 (이재후)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14:45 정리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기능 요청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이력 이어 보기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프로젝트별로 기록이 날짜순으로 이어지는 화면으로 변경, 1.0 기록도 옮김. 보고서는 단계별로 지난 이력을 이어서 요약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2.0 배포(10-20)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R6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지난 기록을 찾는 검색 기능이 필요함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설명회 정리 (이재후)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14:45 정리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기능 요청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과거 기록 찾기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불편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작성자·기록 종류·기간·글자로 찾는 기능 제공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미확인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R7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“일단위 작성이 필수”라는 오해가 많고 “PoC 아닌 분도 식겁” — 달력 화면 때문에 매일 써야 하고 감시받는다고 느낌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우정주 경유 (복수, 인원 미상)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16:42 전달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인식(채택 위험)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기록 습관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참여 위축 우려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달력 중심 화면을 프로젝트 단위로 이어 쓰는 화면으로 교체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2.0 배포(10-20)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재확인 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R8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위원 보고: 전반적으로 호의적. 임원·완료·출장 보고 양식 요청, PoC는 팀별로 팀장 포함 4명씩 참여 권고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위원(이름 미기재), 우정주 경유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10-12 15:28 전달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리더 의견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—</a:t>
                      </a:r>
                    </a:p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—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4개 팀이 참여하도록 PoC 구성(10-15). 완료 보고 등 양식 추가. 출장 보고 양식은 미반영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—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—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부록주"/>
          <p:cNvSpPr/>
          <p:nvPr/>
        </p:nvSpPr>
        <p:spPr>
          <a:xfrm>
            <a:off x="365760" y="4709160"/>
            <a:ext cx="11457432" cy="237744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9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※ 직접 인용은 Teams 원문만. 전달 의견은 요지이며 원 발언자 미기록. </a:t>
            </a:r>
            <a:r>
              <a:rPr sz="9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색: 초록 = 사용자 확인 · 주황 = 재확인 전/미확인 · 남색 칸 = 저장소에서 확인한 조치 (세부 근거는 발표자 노트)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/>
          <p:nvPr/>
        </p:nvSpPr>
        <p:spPr>
          <a:xfrm>
            <a:off x="365760" y="256032"/>
            <a:ext cx="11457432" cy="3657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16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부록 C. VoE 등록부 ③ 개발자 발견 6건 · 운영 3건 (VoE 집계 제외)</a:t>
            </a:r>
          </a:p>
        </p:txBody>
      </p:sp>
      <p:sp>
        <p:nvSpPr>
          <p:cNvPr id="3" name="표제"/>
          <p:cNvSpPr/>
          <p:nvPr/>
        </p:nvSpPr>
        <p:spPr>
          <a:xfrm>
            <a:off x="365760" y="777240"/>
            <a:ext cx="11457432" cy="237744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10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개발자 발견·아이디어 6건 — 사용자 의견(VoE) 17건에는 포함하지 않음</a:t>
            </a:r>
          </a:p>
        </p:txBody>
      </p:sp>
      <p:graphicFrame>
        <p:nvGraphicFramePr>
          <p:cNvPr id="4" name="표_개발자발견"/>
          <p:cNvGraphicFramePr>
            <a:graphicFrameLocks noGrp="1"/>
          </p:cNvGraphicFramePr>
          <p:nvPr/>
        </p:nvGraphicFramePr>
        <p:xfrm>
          <a:off x="365760" y="1042415"/>
          <a:ext cx="11457432" cy="1883659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"/>
                <a:gridCol w="4206240"/>
                <a:gridCol w="1325880"/>
                <a:gridCol w="1188720"/>
                <a:gridCol w="1097280"/>
                <a:gridCol w="3273552"/>
              </a:tblGrid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#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발견한 문제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발견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시각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구분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조치 내용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X1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기록의 표·이미지가 주간보고에 빠짐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우정주 발견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10-20 13:30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결함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주간·기간 보고에 기록의 표·이미지를 기본으로 넣도록 수정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X2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사내 AI 호출 오류 (생각 과정이 끝나지 않는 문제 등)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개발자 발견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10-06·10-15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결함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생각 길이에 한도를 두어 끝까지 생성되도록 수정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X3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할 일·이슈에 연결된 업무가 보고서의 엉뚱한 칸에 들어감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우정주 발견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10-20 09:41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보고 품질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할 일·이슈가 끝나면 관련 업무를 모아 ‘완료’로 정리하도록 수정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X4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‘담당’이라는 표현이 담당 조직장을 떠올리게 함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이재후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10-20 09:08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표현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C55A11"/>
                          </a:solidFill>
                          <a:latin typeface="LG스마트체 Regular"/>
                          <a:ea typeface="LG스마트체 Regular"/>
                        </a:rPr>
                        <a:t>검토 중 (일부 화면에 남아 있음)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5EB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X5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생성 PPT가 너무 길거나 빈 장이 많음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이재후·우정주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10-22 13:50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보고 품질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최대 5쪽으로 줄이고 빈 장은 합치도록 수정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X6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PoC 조언이 주간보고에만 집중 (채팅방 이름 영향 추정)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우정주 관찰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10-19 17:20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범위 인식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채팅방 이름을 ‘AI 활용 보고서 작성 PoC’로 변경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표제"/>
          <p:cNvSpPr/>
          <p:nvPr/>
        </p:nvSpPr>
        <p:spPr>
          <a:xfrm>
            <a:off x="365760" y="3154680"/>
            <a:ext cx="11457432" cy="237744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1000" b="1" lang="ko-KR" altLang="en-US">
                <a:solidFill>
                  <a:srgbClr val="1F3864"/>
                </a:solidFill>
                <a:latin typeface="LG스마트체 Regular"/>
                <a:ea typeface="LG스마트체 Regular"/>
              </a:rPr>
              <a:t>운영 체계</a:t>
            </a:r>
          </a:p>
        </p:txBody>
      </p:sp>
      <p:graphicFrame>
        <p:nvGraphicFramePr>
          <p:cNvPr id="6" name="표_운영"/>
          <p:cNvGraphicFramePr>
            <a:graphicFrameLocks noGrp="1"/>
          </p:cNvGraphicFramePr>
          <p:nvPr/>
        </p:nvGraphicFramePr>
        <p:xfrm>
          <a:off x="365760" y="3419856"/>
          <a:ext cx="11457432" cy="9022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"/>
                <a:gridCol w="7680960"/>
                <a:gridCol w="2011680"/>
                <a:gridCol w="1399032"/>
              </a:tblGrid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#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내용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근거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FFFFFF"/>
                          </a:solidFill>
                          <a:latin typeface="LG스마트체 Regular"/>
                          <a:ea typeface="LG스마트체 Regular"/>
                        </a:rPr>
                        <a:t>시각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O1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DAVINCI 이정원 팀장: 서버 자원은 제공, 운영·유지보수 인력은 지원 불가 → 개발·운영 2인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이재후 통화(구두)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10-20 08:59 공유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O2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운영 서버 중단·재시작 공지 6회(10-20~10-26, 2~5분, 기능 배포)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Teams 공지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10-20~10-26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5551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1F3864"/>
                          </a:solidFill>
                          <a:latin typeface="LG스마트체 Regular"/>
                          <a:ea typeface="LG스마트체 Regular"/>
                        </a:rPr>
                        <a:t>O3</a:t>
                      </a:r>
                    </a:p>
                  </a:txBody>
                  <a:tcPr marL="45720" marT="27432" marR="45720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PoC 채팅방 19명(개발 2명 제외 17명) 중 직접 의견 작성 3명, VoE 게시판 0건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262626"/>
                          </a:solidFill>
                          <a:latin typeface="LG스마트체 Regular"/>
                          <a:ea typeface="LG스마트체 Regular"/>
                        </a:rPr>
                        <a:t>Teams 멤버·사용자 확인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595959"/>
                          </a:solidFill>
                          <a:latin typeface="LG스마트체 Regular"/>
                          <a:ea typeface="LG스마트체 Regular"/>
                        </a:rPr>
                        <a:t>10-26 조회</a:t>
                      </a:r>
                    </a:p>
                  </a:txBody>
                  <a:tcPr marL="45720" marT="27432" marR="45720" marB="27432" anchor="t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부록주"/>
          <p:cNvSpPr/>
          <p:nvPr/>
        </p:nvSpPr>
        <p:spPr>
          <a:xfrm>
            <a:off x="365760" y="4395216"/>
            <a:ext cx="11457432" cy="237744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18288" tIns="18288" rIns="18288" bIns="18288">
            <a:noAutofit/>
          </a:bodyPr>
          <a:lstStyle/>
          <a:p>
            <a:pPr algn="l"/>
            <a:r>
              <a:rPr sz="9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※ 직접 인용은 Teams 원문만. 전달 의견은 요지이며 원 발언자 미기록. </a:t>
            </a:r>
            <a:r>
              <a:rPr sz="900" b="0" lang="ko-KR" altLang="en-US">
                <a:solidFill>
                  <a:srgbClr val="595959"/>
                </a:solidFill>
                <a:latin typeface="LG스마트체 Regular"/>
                <a:ea typeface="LG스마트체 Regular"/>
              </a:rPr>
              <a:t>색: 초록 = 사용자 확인 · 주황 = 재확인 전/미확인 · 남색 칸 = 저장소에서 확인한 조치 (세부 근거는 발표자 노트)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365 Copilot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