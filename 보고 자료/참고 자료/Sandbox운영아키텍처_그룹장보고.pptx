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1" i="0" lang="ko-KR" altLang="en-US">
                <a:solidFill>
                  <a:srgbClr val="262626"/>
                </a:solidFill>
                <a:latin typeface="LG스마트체 Regular"/>
                <a:ea typeface="LG스마트체 Regular"/>
                <a:cs typeface="LG스마트체 Regular"/>
              </a:rPr>
              <a:t>[30초]</a:t>
            </a:r>
          </a:p>
          <a:p>
            <a:r>
              <a:rPr sz="1100" b="0" i="0" lang="ko-KR" altLang="en-US">
                <a:solidFill>
                  <a:srgbClr val="262626"/>
                </a:solidFill>
                <a:latin typeface="LG스마트체 Regular"/>
                <a:ea typeface="LG스마트체 Regular"/>
                <a:cs typeface="LG스마트체 Regular"/>
              </a:rPr>
              <a:t>"DAVINCI Sandbox OC 분석과제로 단일 VM에서 운영하는 안입니다. 앱과 DB는 VM 로컬 SSD에 두고, NAS는 백업 저장 용도로만 쓰는 것이 저장소 운영 조건과 맞습니다. 메일에서 가정한 동시 100명, 도커 실행, NAS 1년 보관은 현재 코드와 맞지 않는 부분이 있어 착수 전에 DAVINCI와 정리하겠습니다."</a:t>
            </a:r>
          </a:p>
          <a:p>
            <a:r>
              <a:rPr sz="1100" b="1" i="0" lang="ko-KR" altLang="en-US">
                <a:solidFill>
                  <a:srgbClr val="262626"/>
                </a:solidFill>
                <a:latin typeface="LG스마트체 Regular"/>
                <a:ea typeface="LG스마트체 Regular"/>
                <a:cs typeface="LG스마트체 Regular"/>
              </a:rPr>
              <a:t>[추적표: 상자·화살표 → 근거]</a:t>
            </a:r>
          </a:p>
          <a:p>
            <a:r>
              <a:rPr sz="1100" b="0" i="0" lang="ko-KR" altLang="en-US">
                <a:solidFill>
                  <a:srgbClr val="262626"/>
                </a:solidFill>
                <a:latin typeface="LG스마트체 Regular"/>
                <a:ea typeface="LG스마트체 Regular"/>
                <a:cs typeface="LG스마트체 Regular"/>
              </a:rPr>
              <a:t>- 사용자(사내망) — 메일 10-19 "웹 기반 Worklog"; README "같은 사내망의 브라우저로 접속"</a:t>
            </a:r>
          </a:p>
          <a:p>
            <a:r>
              <a:rPr sz="1100" b="0" i="0" lang="ko-KR" altLang="en-US">
                <a:solidFill>
                  <a:srgbClr val="262626"/>
                </a:solidFill>
                <a:latin typeface="LG스마트체 Regular"/>
                <a:ea typeface="LG스마트체 Regular"/>
                <a:cs typeface="LG스마트체 Regular"/>
              </a:rPr>
              <a:t>- Sandbox OC 분석과제 — 메일 10-20 박정환 Q2 / 이재후 회신 "OC로 진행", 10-21 "분석 과제는 신청 주시고"</a:t>
            </a:r>
          </a:p>
          <a:p>
            <a:r>
              <a:rPr sz="1100" b="0" i="0" lang="ko-KR" altLang="en-US">
                <a:solidFill>
                  <a:srgbClr val="262626"/>
                </a:solidFill>
                <a:latin typeface="LG스마트체 Regular"/>
                <a:ea typeface="LG스마트체 Regular"/>
                <a:cs typeface="LG스마트체 Regular"/>
              </a:rPr>
              <a:t>- VM 8C·32GB — 메일 10-20 이재후 "VM 자원 CPU 8 Core, RAM 32GB"; 할당 회신 없음</a:t>
            </a:r>
          </a:p>
          <a:p>
            <a:r>
              <a:rPr sz="1100" b="0" i="0" lang="ko-KR" altLang="en-US">
                <a:solidFill>
                  <a:srgbClr val="262626"/>
                </a:solidFill>
                <a:latin typeface="LG스마트체 Regular"/>
                <a:ea typeface="LG스마트체 Regular"/>
                <a:cs typeface="LG스마트체 Regular"/>
              </a:rPr>
              <a:t>- SSD 1TB→4TB — 메일 10-21 박정환 "이후 SSD 4TB까지 할당 가능할 것 같으므로"</a:t>
            </a:r>
          </a:p>
          <a:p>
            <a:r>
              <a:rPr sz="1100" b="0" i="0" lang="ko-KR" altLang="en-US">
                <a:solidFill>
                  <a:srgbClr val="262626"/>
                </a:solidFill>
                <a:latin typeface="LG스마트체 Regular"/>
                <a:ea typeface="LG스마트체 Regular"/>
                <a:cs typeface="LG스마트체 Regular"/>
              </a:rPr>
              <a:t>- Docker 컨테이너 — 메일 10-20 이재후 회신 "도커 컨테이너로"; 저장소에 Dockerfile 없음</a:t>
            </a:r>
          </a:p>
          <a:p>
            <a:r>
              <a:rPr sz="1100" b="0" i="0" lang="ko-KR" altLang="en-US">
                <a:solidFill>
                  <a:srgbClr val="262626"/>
                </a:solidFill>
                <a:latin typeface="LG스마트체 Regular"/>
                <a:ea typeface="LG스마트체 Regular"/>
                <a:cs typeface="LG스마트체 Regular"/>
              </a:rPr>
              <a:t>- Worklog 앱(FastAPI·Uvicorn worker 1) — backend/run.py (uvicorn.run(..., workers=1)), docs/03 "Python 프로세스 하나", requirements.txt</a:t>
            </a:r>
          </a:p>
          <a:p>
            <a:r>
              <a:rPr sz="1100" b="0" i="0" lang="ko-KR" altLang="en-US">
                <a:solidFill>
                  <a:srgbClr val="262626"/>
                </a:solidFill>
                <a:latin typeface="LG스마트체 Regular"/>
                <a:ea typeface="LG스마트체 Regular"/>
                <a:cs typeface="LG스마트체 Regular"/>
              </a:rPr>
              <a:t>- React·Vite 화면 — frontend/package.json (react 19.3, vite 8.3), frontend/dist 커밋</a:t>
            </a:r>
          </a:p>
          <a:p>
            <a:r>
              <a:rPr sz="1100" b="0" i="0" lang="ko-KR" altLang="en-US">
                <a:solidFill>
                  <a:srgbClr val="262626"/>
                </a:solidFill>
                <a:latin typeface="LG스마트체 Regular"/>
                <a:ea typeface="LG스마트체 Regular"/>
                <a:cs typeface="LG스마트체 Regular"/>
              </a:rPr>
              <a:t>- DATA_DIR(SQLite WAL·첨부·reports·voe) — backend/app/config.py (data_dir, db_path, attachments, reports), backend/app/db.py (PRAGMA journal_mode=WAL), docs/09 §3</a:t>
            </a:r>
          </a:p>
          <a:p>
            <a:r>
              <a:rPr sz="1100" b="0" i="0" lang="ko-KR" altLang="en-US">
                <a:solidFill>
                  <a:srgbClr val="262626"/>
                </a:solidFill>
                <a:latin typeface="LG스마트체 Regular"/>
                <a:ea typeface="LG스마트체 Regular"/>
                <a:cs typeface="LG스마트체 Regular"/>
              </a:rPr>
              <a:t>- ① 접속 — docs/09 운영 접속(다른 PC http://&lt;서버 IP&gt;:8000), 방화벽 미확인(docs/11 §3)</a:t>
            </a:r>
          </a:p>
          <a:p>
            <a:r>
              <a:rPr sz="1100" b="0" i="0" lang="ko-KR" altLang="en-US">
                <a:solidFill>
                  <a:srgbClr val="262626"/>
                </a:solidFill>
                <a:latin typeface="LG스마트체 Regular"/>
                <a:ea typeface="LG스마트체 Regular"/>
                <a:cs typeface="LG스마트체 Regular"/>
              </a:rPr>
              <a:t>- ② 기록 저장 — db.py, docs/09 §3 "로컬 디스크에 둠(네트워크 공유·동기화 폴더 금지)"</a:t>
            </a:r>
          </a:p>
          <a:p>
            <a:r>
              <a:rPr sz="1100" b="0" i="0" lang="ko-KR" altLang="en-US">
                <a:solidFill>
                  <a:srgbClr val="262626"/>
                </a:solidFill>
                <a:latin typeface="LG스마트체 Regular"/>
                <a:ea typeface="LG스마트체 Regular"/>
                <a:cs typeface="LG스마트체 Regular"/>
              </a:rPr>
              <a:t>- ③ AI 정리 — config AI_API_URL·AI_API_KEY, docs/06; 메일 10-20 박정환 "엑사원과 통신이 필요할 것 같고"; 개인 서버 연결 정상은 사용자 제공 사실</a:t>
            </a:r>
          </a:p>
          <a:p>
            <a:r>
              <a:rPr sz="1100" b="0" i="0" lang="ko-KR" altLang="en-US">
                <a:solidFill>
                  <a:srgbClr val="262626"/>
                </a:solidFill>
                <a:latin typeface="LG스마트체 Regular"/>
                <a:ea typeface="LG스마트체 Regular"/>
                <a:cs typeface="LG스마트체 Regular"/>
              </a:rPr>
              <a:t>- ④ PPT 생성·내려받기 — docs/06 §3 (PPT·검사 보고서 내려받기)</a:t>
            </a:r>
          </a:p>
          <a:p>
            <a:r>
              <a:rPr sz="1100" b="0" i="0" lang="ko-KR" altLang="en-US">
                <a:solidFill>
                  <a:srgbClr val="262626"/>
                </a:solidFill>
                <a:latin typeface="LG스마트체 Regular"/>
                <a:ea typeface="LG스마트체 Regular"/>
                <a:cs typeface="LG스마트체 Regular"/>
              </a:rPr>
              <a:t>- ⑤ 백업 → NAS — backups.py (SQLite backup API 사본 + 첨부 전체 복사, BACKUP_HARDLINK 기본 false), config.py backup_retention_count=14, docs/09 §5 "BACKUP_DIR 다른 드라이브 권장"; NAS 경로 사용은 미검증</a:t>
            </a:r>
          </a:p>
          <a:p>
            <a:r>
              <a:rPr sz="1100" b="0" i="0" lang="ko-KR" altLang="en-US">
                <a:solidFill>
                  <a:srgbClr val="262626"/>
                </a:solidFill>
                <a:latin typeface="LG스마트체 Regular"/>
                <a:ea typeface="LG스마트체 Regular"/>
                <a:cs typeface="LG스마트체 Regular"/>
              </a:rPr>
              <a:t>- NAS 2TB·1년 — 메일 10-20 이재후 요청; DAVINCI 회신에 NAS 언급 없음</a:t>
            </a:r>
          </a:p>
          <a:p>
            <a:r>
              <a:rPr sz="1100" b="1" i="0" lang="ko-KR" altLang="en-US">
                <a:solidFill>
                  <a:srgbClr val="262626"/>
                </a:solidFill>
                <a:latin typeface="LG스마트체 Regular"/>
                <a:ea typeface="LG스마트체 Regular"/>
                <a:cs typeface="LG스마트체 Regular"/>
              </a:rPr>
              <a:t>[용량 계산]</a:t>
            </a:r>
          </a:p>
          <a:p>
            <a:r>
              <a:rPr sz="1100" b="0" i="0" lang="ko-KR" altLang="en-US">
                <a:solidFill>
                  <a:srgbClr val="262626"/>
                </a:solidFill>
                <a:latin typeface="LG스마트체 Regular"/>
                <a:ea typeface="LG스마트체 Regular"/>
                <a:cs typeface="LG스마트체 Regular"/>
              </a:rPr>
              <a:t>동시 100명 = 50% → 200명(메일 가정). 200 × 5GB = 1,000GB/년. SSD 1TB ≈ 12개월, 4TB ≈ 4년(데이터만, 로그·임시·이미지 제외). 백업은 매회 DB+첨부 전체 복사이고 14개 보관 → NAS 필요 용량 ≈ 데이터 × 14. NAS 2TB ÷ 14 ≈ 143GB 데이터까지 → 가정 증가율로 약 1.7개월. 1년 말 14개 전체본 ≈ 14TB. 모두 가정이며 실측 전.</a:t>
            </a:r>
          </a:p>
          <a:p>
            <a:r>
              <a:rPr sz="1100" b="1" i="0" lang="ko-KR" altLang="en-US">
                <a:solidFill>
                  <a:srgbClr val="262626"/>
                </a:solidFill>
                <a:latin typeface="LG스마트체 Regular"/>
                <a:ea typeface="LG스마트체 Regular"/>
                <a:cs typeface="LG스마트체 Regular"/>
              </a:rPr>
              <a:t>[실측 방법]</a:t>
            </a:r>
          </a:p>
          <a:p>
            <a:r>
              <a:rPr sz="1100" b="0" i="0" lang="ko-KR" altLang="en-US">
                <a:solidFill>
                  <a:srgbClr val="262626"/>
                </a:solidFill>
                <a:latin typeface="LG스마트체 Regular"/>
                <a:ea typeface="LG스마트체 Regular"/>
                <a:cs typeface="LG스마트체 Regular"/>
              </a:rPr>
              <a:t>DATA_DIR 크기: 개인 서버에서 data 폴더 크기를 주 1회 기록(1인당 증가량 = 증가분 ÷ 작성자 수). 백업 1회 크기: data/backups/&lt;백업ID&gt; 폴더 크기, manifest의 첨부 수·크기. 생성 1건 소요 시간: 보고자료 완료 화면·검사 보고서의 단계별 시간·AI 호출 수. 동시 사용: scripts/loadtest.py를 2.0 화면 기준으로 재측정(현재 1.0 기준 기록만 있음).</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1" i="0" lang="ko-KR" altLang="en-US">
                <a:solidFill>
                  <a:srgbClr val="262626"/>
                </a:solidFill>
                <a:latin typeface="LG스마트체 Regular"/>
                <a:ea typeface="LG스마트체 Regular"/>
                <a:cs typeface="LG스마트체 Regular"/>
              </a:rPr>
              <a:t>[분류 기준]</a:t>
            </a:r>
          </a:p>
          <a:p>
            <a:r>
              <a:rPr sz="1100" b="0" i="0" lang="ko-KR" altLang="en-US">
                <a:solidFill>
                  <a:srgbClr val="262626"/>
                </a:solidFill>
                <a:latin typeface="LG스마트체 Regular"/>
                <a:ea typeface="LG스마트체 Regular"/>
                <a:cs typeface="LG스마트체 Regular"/>
              </a:rPr>
              <a:t>확정 = 양측이 메일로 합의한 것. 제안 = 한쪽이 제시하고 상대가 확인하지 않은 것(제안 주체 표기). 미정 = 언급이 없거나 조사 예정. Docker와 NAS 마운트는 10-20 18:10 메일에서 이재후가 답한 내용이므로 DAVINCI 제안이 아니라 우리 측 제안임. SSD 4TB는 DAVINCI 회신이지만 '가능할 것 같으므로'라는 전망 표현이라 확정으로 쓰지 않음. 박정환 책임의 '총 4TB(SSD 2TB, NAS 2TB)' 질문에 대해 10-21 회신은 SSD만 언급 → NAS 할당은 미회신.</a:t>
            </a:r>
          </a:p>
          <a:p>
            <a:r>
              <a:rPr sz="1100" b="1" i="0" lang="ko-KR" altLang="en-US">
                <a:solidFill>
                  <a:srgbClr val="262626"/>
                </a:solidFill>
                <a:latin typeface="LG스마트체 Regular"/>
                <a:ea typeface="LG스마트체 Regular"/>
                <a:cs typeface="LG스마트체 Regular"/>
              </a:rPr>
              <a:t>[DAVINCI 확인 질문]</a:t>
            </a:r>
          </a:p>
          <a:p>
            <a:r>
              <a:rPr sz="1100" b="0" i="0" lang="ko-KR" altLang="en-US">
                <a:solidFill>
                  <a:srgbClr val="262626"/>
                </a:solidFill>
                <a:latin typeface="LG스마트체 Regular"/>
                <a:ea typeface="LG스마트체 Regular"/>
                <a:cs typeface="LG스마트체 Regular"/>
              </a:rPr>
              <a:t>1) Sandbox OS와 버전, Docker(엔진·compose) 사용 허용 여부와 베이스 이미지 제약</a:t>
            </a:r>
          </a:p>
          <a:p>
            <a:r>
              <a:rPr sz="1100" b="0" i="0" lang="ko-KR" altLang="en-US">
                <a:solidFill>
                  <a:srgbClr val="262626"/>
                </a:solidFill>
                <a:latin typeface="LG스마트체 Regular"/>
                <a:ea typeface="LG스마트체 Regular"/>
                <a:cs typeface="LG스마트체 Regular"/>
              </a:rPr>
              <a:t>2) NAS 할당 여부·용량·보관 정책, 마운트 방식(NFS/SMB)·권한, 용도를 백업 저장으로 한정해도 되는지</a:t>
            </a:r>
          </a:p>
          <a:p>
            <a:r>
              <a:rPr sz="1100" b="0" i="0" lang="ko-KR" altLang="en-US">
                <a:solidFill>
                  <a:srgbClr val="262626"/>
                </a:solidFill>
                <a:latin typeface="LG스마트체 Regular"/>
                <a:ea typeface="LG스마트체 Regular"/>
                <a:cs typeface="LG스마트체 Regular"/>
              </a:rPr>
              <a:t>3) SSD 1TB가 VM 로컬 디스크인지, 4TB 확장 시 절차(IP·계정 정보)</a:t>
            </a:r>
          </a:p>
          <a:p>
            <a:r>
              <a:rPr sz="1100" b="0" i="0" lang="ko-KR" altLang="en-US">
                <a:solidFill>
                  <a:srgbClr val="262626"/>
                </a:solidFill>
                <a:latin typeface="LG스마트체 Regular"/>
                <a:ea typeface="LG스마트체 Regular"/>
                <a:cs typeface="LG스마트체 Regular"/>
              </a:rPr>
              <a:t>4) Sandbox에서 EXAONE API까지 망 경로·방화벽·인증 방식</a:t>
            </a:r>
          </a:p>
          <a:p>
            <a:r>
              <a:rPr sz="1100" b="0" i="0" lang="ko-KR" altLang="en-US">
                <a:solidFill>
                  <a:srgbClr val="262626"/>
                </a:solidFill>
                <a:latin typeface="LG스마트체 Regular"/>
                <a:ea typeface="LG스마트체 Regular"/>
                <a:cs typeface="LG스마트체 Regular"/>
              </a:rPr>
              <a:t>5) 사내망 사용자 접속 포트·방화벽 인바운드 규칙</a:t>
            </a:r>
          </a:p>
          <a:p>
            <a:r>
              <a:rPr sz="1100" b="0" i="0" lang="ko-KR" altLang="en-US">
                <a:solidFill>
                  <a:srgbClr val="262626"/>
                </a:solidFill>
                <a:latin typeface="LG스마트체 Regular"/>
                <a:ea typeface="LG스마트체 Regular"/>
                <a:cs typeface="LG스마트체 Regular"/>
              </a:rPr>
              <a:t>6) 로그인 없는 사내 웹서비스 운영 허용 여부와 필요한 접근 통제(SSO·IP 제한 등)</a:t>
            </a:r>
          </a:p>
          <a:p>
            <a:r>
              <a:rPr sz="1100" b="0" i="0" lang="ko-KR" altLang="en-US">
                <a:solidFill>
                  <a:srgbClr val="262626"/>
                </a:solidFill>
                <a:latin typeface="LG스마트체 Regular"/>
                <a:ea typeface="LG스마트체 Regular"/>
                <a:cs typeface="LG스마트체 Regular"/>
              </a:rPr>
              <a:t>7) VM 재시작·스냅샷·모니터링 지원 범위</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lang="ko-KR" altLang="en-US">
                <a:solidFill>
                  <a:srgbClr val="262626"/>
                </a:solidFill>
                <a:latin typeface="LG스마트체 Regular"/>
                <a:ea typeface="LG스마트체 Regular"/>
                <a:cs typeface="LG스마트체 Regular"/>
              </a:rPr>
              <a:t>"초안입니다. 컨테이너 구성은 저장소에 Dockerfile이 없어 아직 만들지 않았고, DAVINCI 확인 후 작성·검증합니다. DATA_DIR은 로컬 볼륨으로만, NAS는 BACKUP_DIR로만 연결합니다. 백업에 reports/와 voe/가 포함되지 않으므로 필요하면 별도 복사 규칙을 정해야 합니다. 포트 8000은 config 기본값 예시입니다."</a:t>
            </a:r>
          </a:p>
          <a:p>
            <a:r>
              <a:rPr sz="1100" b="0" i="0" lang="ko-KR" altLang="en-US">
                <a:solidFill>
                  <a:srgbClr val="262626"/>
                </a:solidFill>
                <a:latin typeface="LG스마트체 Regular"/>
                <a:ea typeface="LG스마트체 Regular"/>
                <a:cs typeface="LG스마트체 Regular"/>
              </a:rPr>
              <a:t>근거: backend/run.py, backend/app/config.py, backend/app/db.py, backend/app/services/backups.py, docs/03_ARCHITECTURE.md, docs/09_OPERATIONS.md §3·§5, README(실행.bat·초기설정.bat).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11480" y="256032"/>
            <a:ext cx="11365992" cy="530352"/>
          </a:xfrm>
          <a:prstGeom prst="rect">
            <a:avLst/>
          </a:prstGeom>
          <a:noFill/>
        </p:spPr>
        <p:txBody>
          <a:bodyPr wrap="square" lIns="0" rIns="0" tIns="18288" bIns="18288" anchor="t">
            <a:noAutofit/>
          </a:bodyPr>
          <a:lstStyle/>
          <a:p>
            <a:pPr algn="l"/>
            <a:r>
              <a:rPr sz="1600" b="1" i="0" lang="ko-KR" altLang="en-US">
                <a:solidFill>
                  <a:srgbClr val="1F3864"/>
                </a:solidFill>
                <a:latin typeface="LG스마트체 Regular"/>
                <a:ea typeface="LG스마트체 Regular"/>
                <a:cs typeface="LG스마트체 Regular"/>
              </a:rPr>
              <a:t>DAVINCI Sandbox(OC) 단일 VM 운영안 — DB는 VM 로컬 SSD, NAS는 백업 전용으로 한정하고 용량·동시접속·컨테이너화는 착수 전 확인</a:t>
            </a:r>
          </a:p>
        </p:txBody>
      </p:sp>
      <p:sp>
        <p:nvSpPr>
          <p:cNvPr id="3" name="subtitle"/>
          <p:cNvSpPr txBox="1"/>
          <p:nvPr/>
        </p:nvSpPr>
        <p:spPr>
          <a:xfrm>
            <a:off x="411480" y="822960"/>
            <a:ext cx="11365992" cy="219456"/>
          </a:xfrm>
          <a:prstGeom prst="rect">
            <a:avLst/>
          </a:prstGeom>
          <a:noFill/>
        </p:spPr>
        <p:txBody>
          <a:bodyPr wrap="square" lIns="0" rIns="0" tIns="18288" bIns="18288" anchor="t">
            <a:noAutofit/>
          </a:bodyPr>
          <a:lstStyle/>
          <a:p>
            <a:pPr algn="l"/>
            <a:r>
              <a:rPr sz="1000" b="0" i="0" lang="ko-KR" altLang="en-US">
                <a:solidFill>
                  <a:srgbClr val="595959"/>
                </a:solidFill>
                <a:latin typeface="LG스마트체 Regular"/>
                <a:ea typeface="LG스마트체 Regular"/>
                <a:cs typeface="LG스마트체 Regular"/>
              </a:rPr>
              <a:t>근거: DAVINCI팀 메일(2026-10-19~21) · TFT_WORKLOG main 85294b3 (run.py·db.py·config.py·backups.py·docs/03·docs/09) · 운영 서버 배포 버전 = 저장소 HEAD 여부 미확인</a:t>
            </a:r>
          </a:p>
        </p:txBody>
      </p:sp>
      <p:sp>
        <p:nvSpPr>
          <p:cNvPr id="4" name="zoneA"/>
          <p:cNvSpPr/>
          <p:nvPr/>
        </p:nvSpPr>
        <p:spPr>
          <a:xfrm>
            <a:off x="411480" y="1234440"/>
            <a:ext cx="1143000" cy="4206240"/>
          </a:xfrm>
          <a:prstGeom prst="roundRect">
            <a:avLst>
              <a:gd name="adj" fmla="val 9600"/>
            </a:avLst>
          </a:prstGeom>
          <a:noFill/>
          <a:ln w="15875">
            <a:solidFill>
              <a:srgbClr val="595959"/>
            </a:solidFill>
          </a:ln>
          <a:effectLst/>
        </p:spPr>
        <p:txBody>
          <a:bodyPr rtlCol="0" anchor="ctr"/>
          <a:lstStyle/>
          <a:p/>
        </p:txBody>
      </p:sp>
      <p:sp>
        <p:nvSpPr>
          <p:cNvPr id="5" name="icon-users"/>
          <p:cNvSpPr/>
          <p:nvPr/>
        </p:nvSpPr>
        <p:spPr>
          <a:xfrm>
            <a:off x="502920" y="1325880"/>
            <a:ext cx="237744" cy="237744"/>
          </a:xfrm>
          <a:custGeom>
            <a:avLst/>
            <a:gdLst/>
            <a:ahLst/>
            <a:cxnLst/>
            <a:rect l="0" t="0" r="r" b="b"/>
            <a:pathLst>
              <a:path w="24000" h="24000" stroke="0">
                <a:moveTo>
                  <a:pt x="12000" y="12750"/>
                </a:moveTo>
                <a:cubicBezTo>
                  <a:pt x="13630" y="12750"/>
                  <a:pt x="15070" y="13140"/>
                  <a:pt x="16240" y="13650"/>
                </a:cubicBezTo>
                <a:cubicBezTo>
                  <a:pt x="17320" y="14130"/>
                  <a:pt x="18000" y="15210"/>
                  <a:pt x="18000" y="16380"/>
                </a:cubicBezTo>
                <a:lnTo>
                  <a:pt x="18000" y="18000"/>
                </a:lnTo>
                <a:lnTo>
                  <a:pt x="6000" y="18000"/>
                </a:lnTo>
                <a:lnTo>
                  <a:pt x="6000" y="16390"/>
                </a:lnTo>
                <a:cubicBezTo>
                  <a:pt x="6000" y="15210"/>
                  <a:pt x="6680" y="14130"/>
                  <a:pt x="7760" y="13660"/>
                </a:cubicBezTo>
                <a:cubicBezTo>
                  <a:pt x="8930" y="13140"/>
                  <a:pt x="10370" y="12750"/>
                  <a:pt x="12000" y="12750"/>
                </a:cubicBezTo>
                <a:close/>
                <a:moveTo>
                  <a:pt x="4000" y="13000"/>
                </a:moveTo>
                <a:cubicBezTo>
                  <a:pt x="5100" y="13000"/>
                  <a:pt x="6000" y="12100"/>
                  <a:pt x="6000" y="11000"/>
                </a:cubicBezTo>
                <a:cubicBezTo>
                  <a:pt x="6000" y="9900"/>
                  <a:pt x="5100" y="9000"/>
                  <a:pt x="4000" y="9000"/>
                </a:cubicBezTo>
                <a:cubicBezTo>
                  <a:pt x="2900" y="9000"/>
                  <a:pt x="2000" y="9900"/>
                  <a:pt x="2000" y="11000"/>
                </a:cubicBezTo>
                <a:cubicBezTo>
                  <a:pt x="2000" y="12100"/>
                  <a:pt x="2900" y="13000"/>
                  <a:pt x="4000" y="13000"/>
                </a:cubicBezTo>
                <a:close/>
                <a:moveTo>
                  <a:pt x="5130" y="14100"/>
                </a:moveTo>
                <a:cubicBezTo>
                  <a:pt x="4760" y="14040"/>
                  <a:pt x="4390" y="14000"/>
                  <a:pt x="4000" y="14000"/>
                </a:cubicBezTo>
                <a:cubicBezTo>
                  <a:pt x="3010" y="14000"/>
                  <a:pt x="2070" y="14210"/>
                  <a:pt x="1220" y="14580"/>
                </a:cubicBezTo>
                <a:cubicBezTo>
                  <a:pt x="479" y="14897"/>
                  <a:pt x="-1" y="15625"/>
                  <a:pt x="0" y="16430"/>
                </a:cubicBezTo>
                <a:lnTo>
                  <a:pt x="0" y="18000"/>
                </a:lnTo>
                <a:lnTo>
                  <a:pt x="4500" y="18000"/>
                </a:lnTo>
                <a:lnTo>
                  <a:pt x="4500" y="16390"/>
                </a:lnTo>
                <a:cubicBezTo>
                  <a:pt x="4500" y="15560"/>
                  <a:pt x="4730" y="14780"/>
                  <a:pt x="5130" y="14100"/>
                </a:cubicBezTo>
                <a:close/>
                <a:moveTo>
                  <a:pt x="20000" y="13000"/>
                </a:moveTo>
                <a:cubicBezTo>
                  <a:pt x="21100" y="13000"/>
                  <a:pt x="22000" y="12100"/>
                  <a:pt x="22000" y="11000"/>
                </a:cubicBezTo>
                <a:cubicBezTo>
                  <a:pt x="22000" y="9900"/>
                  <a:pt x="21100" y="9000"/>
                  <a:pt x="20000" y="9000"/>
                </a:cubicBezTo>
                <a:cubicBezTo>
                  <a:pt x="18900" y="9000"/>
                  <a:pt x="18000" y="9900"/>
                  <a:pt x="18000" y="11000"/>
                </a:cubicBezTo>
                <a:cubicBezTo>
                  <a:pt x="18000" y="12100"/>
                  <a:pt x="18900" y="13000"/>
                  <a:pt x="20000" y="13000"/>
                </a:cubicBezTo>
                <a:close/>
                <a:moveTo>
                  <a:pt x="24000" y="16430"/>
                </a:moveTo>
                <a:cubicBezTo>
                  <a:pt x="24000" y="15620"/>
                  <a:pt x="23520" y="14900"/>
                  <a:pt x="22780" y="14580"/>
                </a:cubicBezTo>
                <a:cubicBezTo>
                  <a:pt x="21903" y="14197"/>
                  <a:pt x="20957" y="14000"/>
                  <a:pt x="20000" y="14000"/>
                </a:cubicBezTo>
                <a:cubicBezTo>
                  <a:pt x="19610" y="14000"/>
                  <a:pt x="19240" y="14040"/>
                  <a:pt x="18870" y="14100"/>
                </a:cubicBezTo>
                <a:cubicBezTo>
                  <a:pt x="19270" y="14780"/>
                  <a:pt x="19500" y="15560"/>
                  <a:pt x="19500" y="16390"/>
                </a:cubicBezTo>
                <a:lnTo>
                  <a:pt x="19500" y="18000"/>
                </a:lnTo>
                <a:lnTo>
                  <a:pt x="24000" y="18000"/>
                </a:lnTo>
                <a:lnTo>
                  <a:pt x="24000" y="16430"/>
                </a:lnTo>
                <a:close/>
                <a:moveTo>
                  <a:pt x="12000" y="6000"/>
                </a:moveTo>
                <a:cubicBezTo>
                  <a:pt x="13660" y="6000"/>
                  <a:pt x="15000" y="7340"/>
                  <a:pt x="15000" y="9000"/>
                </a:cubicBezTo>
                <a:cubicBezTo>
                  <a:pt x="15000" y="10660"/>
                  <a:pt x="13660" y="12000"/>
                  <a:pt x="12000" y="12000"/>
                </a:cubicBezTo>
                <a:cubicBezTo>
                  <a:pt x="10340" y="12000"/>
                  <a:pt x="9000" y="10660"/>
                  <a:pt x="9000" y="9000"/>
                </a:cubicBezTo>
                <a:cubicBezTo>
                  <a:pt x="9000" y="7340"/>
                  <a:pt x="10340" y="6000"/>
                  <a:pt x="12000" y="6000"/>
                </a:cubicBezTo>
                <a:close/>
              </a:path>
            </a:pathLst>
          </a:custGeom>
          <a:solidFill>
            <a:srgbClr val="595959"/>
          </a:solidFill>
          <a:ln>
            <a:noFill/>
          </a:ln>
          <a:effectLst/>
        </p:spPr>
        <p:txBody>
          <a:bodyPr rtlCol="0" anchor="ctr"/>
          <a:lstStyle/>
          <a:p/>
        </p:txBody>
      </p:sp>
      <p:sp>
        <p:nvSpPr>
          <p:cNvPr id="6" name="TextBox 5"/>
          <p:cNvSpPr txBox="1"/>
          <p:nvPr/>
        </p:nvSpPr>
        <p:spPr>
          <a:xfrm>
            <a:off x="777240" y="1289304"/>
            <a:ext cx="749808" cy="384048"/>
          </a:xfrm>
          <a:prstGeom prst="rect">
            <a:avLst/>
          </a:prstGeom>
          <a:noFill/>
        </p:spPr>
        <p:txBody>
          <a:bodyPr wrap="square" lIns="0" rIns="0" tIns="18288" bIns="18288" anchor="t">
            <a:noAutofit/>
          </a:bodyPr>
          <a:lstStyle/>
          <a:p>
            <a:pPr algn="l"/>
            <a:r>
              <a:rPr sz="1100" b="1" i="0" lang="ko-KR" altLang="en-US">
                <a:solidFill>
                  <a:srgbClr val="595959"/>
                </a:solidFill>
                <a:latin typeface="LG스마트체 Regular"/>
                <a:ea typeface="LG스마트체 Regular"/>
                <a:cs typeface="LG스마트체 Regular"/>
              </a:rPr>
              <a:t>사내망</a:t>
            </a:r>
          </a:p>
          <a:p>
            <a:pPr algn="l"/>
            <a:r>
              <a:rPr sz="1100" b="1" i="0" lang="ko-KR" altLang="en-US">
                <a:solidFill>
                  <a:srgbClr val="595959"/>
                </a:solidFill>
                <a:latin typeface="LG스마트체 Regular"/>
                <a:ea typeface="LG스마트체 Regular"/>
                <a:cs typeface="LG스마트체 Regular"/>
              </a:rPr>
              <a:t>(사용자)</a:t>
            </a:r>
          </a:p>
        </p:txBody>
      </p:sp>
      <p:sp>
        <p:nvSpPr>
          <p:cNvPr id="7" name="user-box"/>
          <p:cNvSpPr/>
          <p:nvPr/>
        </p:nvSpPr>
        <p:spPr>
          <a:xfrm>
            <a:off x="521208" y="2395728"/>
            <a:ext cx="923544" cy="1188720"/>
          </a:xfrm>
          <a:prstGeom prst="roundRect">
            <a:avLst>
              <a:gd name="adj" fmla="val 5940"/>
            </a:avLst>
          </a:prstGeom>
          <a:solidFill>
            <a:srgbClr val="F7F7F7"/>
          </a:solidFill>
          <a:ln w="12700">
            <a:solidFill>
              <a:srgbClr val="595959"/>
            </a:solidFill>
          </a:ln>
          <a:effectLst/>
        </p:spPr>
        <p:txBody>
          <a:bodyPr rtlCol="0" anchor="ctr"/>
          <a:lstStyle/>
          <a:p/>
        </p:txBody>
      </p:sp>
      <p:sp>
        <p:nvSpPr>
          <p:cNvPr id="8" name="icon-pc"/>
          <p:cNvSpPr/>
          <p:nvPr/>
        </p:nvSpPr>
        <p:spPr>
          <a:xfrm>
            <a:off x="795528" y="2468880"/>
            <a:ext cx="365760" cy="365760"/>
          </a:xfrm>
          <a:custGeom>
            <a:avLst/>
            <a:gdLst/>
            <a:ahLst/>
            <a:cxnLst/>
            <a:rect l="0" t="0" r="r" b="b"/>
            <a:pathLst>
              <a:path w="24000" h="24000" fill="none">
                <a:moveTo>
                  <a:pt x="3000" y="5000"/>
                </a:moveTo>
                <a:cubicBezTo>
                  <a:pt x="3000" y="4448"/>
                  <a:pt x="3448" y="4000"/>
                  <a:pt x="4000" y="4000"/>
                </a:cubicBezTo>
                <a:lnTo>
                  <a:pt x="20000" y="4000"/>
                </a:lnTo>
                <a:cubicBezTo>
                  <a:pt x="20552" y="4000"/>
                  <a:pt x="21000" y="4448"/>
                  <a:pt x="21000" y="5000"/>
                </a:cubicBezTo>
                <a:lnTo>
                  <a:pt x="21000" y="15000"/>
                </a:lnTo>
                <a:cubicBezTo>
                  <a:pt x="21000" y="15552"/>
                  <a:pt x="20552" y="16000"/>
                  <a:pt x="20000" y="16000"/>
                </a:cubicBezTo>
                <a:lnTo>
                  <a:pt x="4000" y="16000"/>
                </a:lnTo>
                <a:cubicBezTo>
                  <a:pt x="3448" y="16000"/>
                  <a:pt x="3000" y="15552"/>
                  <a:pt x="3000" y="15000"/>
                </a:cubicBezTo>
                <a:lnTo>
                  <a:pt x="3000" y="5000"/>
                </a:lnTo>
                <a:close/>
              </a:path>
              <a:path w="24000" h="24000" fill="none">
                <a:moveTo>
                  <a:pt x="7000" y="20000"/>
                </a:moveTo>
                <a:lnTo>
                  <a:pt x="17000" y="20000"/>
                </a:lnTo>
              </a:path>
              <a:path w="24000" h="24000" fill="none">
                <a:moveTo>
                  <a:pt x="9000" y="16000"/>
                </a:moveTo>
                <a:lnTo>
                  <a:pt x="9000" y="20000"/>
                </a:lnTo>
              </a:path>
              <a:path w="24000" h="24000" fill="none">
                <a:moveTo>
                  <a:pt x="15000" y="16000"/>
                </a:moveTo>
                <a:lnTo>
                  <a:pt x="15000" y="20000"/>
                </a:lnTo>
              </a:path>
            </a:pathLst>
          </a:custGeom>
          <a:solidFill>
            <a:srgbClr val="595959"/>
          </a:solidFill>
          <a:ln w="12700">
            <a:solidFill>
              <a:srgbClr val="595959"/>
            </a:solidFill>
          </a:ln>
          <a:effectLst/>
        </p:spPr>
        <p:txBody>
          <a:bodyPr rtlCol="0" anchor="ctr"/>
          <a:lstStyle/>
          <a:p/>
        </p:txBody>
      </p:sp>
      <p:sp>
        <p:nvSpPr>
          <p:cNvPr id="9" name="TextBox 8"/>
          <p:cNvSpPr txBox="1"/>
          <p:nvPr/>
        </p:nvSpPr>
        <p:spPr>
          <a:xfrm>
            <a:off x="548640" y="2871216"/>
            <a:ext cx="868680" cy="658368"/>
          </a:xfrm>
          <a:prstGeom prst="rect">
            <a:avLst/>
          </a:prstGeom>
          <a:noFill/>
        </p:spPr>
        <p:txBody>
          <a:bodyPr wrap="square" lIns="0" rIns="0" tIns="18288" bIns="18288" anchor="t">
            <a:noAutofit/>
          </a:bodyPr>
          <a:lstStyle/>
          <a:p>
            <a:pPr algn="ctr"/>
            <a:r>
              <a:rPr sz="900" b="0" i="0" lang="ko-KR" altLang="en-US">
                <a:solidFill>
                  <a:srgbClr val="262626"/>
                </a:solidFill>
                <a:latin typeface="LG스마트체 Regular"/>
                <a:ea typeface="LG스마트체 Regular"/>
                <a:cs typeface="LG스마트체 Regular"/>
              </a:rPr>
              <a:t>그룹 구성원</a:t>
            </a:r>
          </a:p>
          <a:p>
            <a:pPr algn="ctr"/>
            <a:r>
              <a:rPr sz="900" b="0" i="0" lang="ko-KR" altLang="en-US">
                <a:solidFill>
                  <a:srgbClr val="262626"/>
                </a:solidFill>
                <a:latin typeface="LG스마트체 Regular"/>
                <a:ea typeface="LG스마트체 Regular"/>
                <a:cs typeface="LG스마트체 Regular"/>
              </a:rPr>
              <a:t>·</a:t>
            </a:r>
          </a:p>
          <a:p>
            <a:pPr algn="ctr"/>
            <a:r>
              <a:rPr sz="900" b="0" i="0" lang="ko-KR" altLang="en-US">
                <a:solidFill>
                  <a:srgbClr val="262626"/>
                </a:solidFill>
                <a:latin typeface="LG스마트체 Regular"/>
                <a:ea typeface="LG스마트체 Regular"/>
                <a:cs typeface="LG스마트체 Regular"/>
              </a:rPr>
              <a:t>브라우저</a:t>
            </a:r>
          </a:p>
        </p:txBody>
      </p:sp>
      <p:sp>
        <p:nvSpPr>
          <p:cNvPr id="10" name="Rounded Rectangle 9"/>
          <p:cNvSpPr/>
          <p:nvPr/>
        </p:nvSpPr>
        <p:spPr>
          <a:xfrm>
            <a:off x="521208" y="3950208"/>
            <a:ext cx="402336" cy="182880"/>
          </a:xfrm>
          <a:prstGeom prst="roundRect">
            <a:avLst>
              <a:gd name="adj" fmla="val 25000"/>
            </a:avLst>
          </a:prstGeom>
          <a:solidFill>
            <a:srgbClr val="FFF5EB"/>
          </a:solidFill>
          <a:ln w="9525">
            <a:solidFill>
              <a:srgbClr val="C55A11"/>
            </a:solidFill>
          </a:ln>
          <a:effectLst/>
        </p:spPr>
        <p:txBody>
          <a:bodyPr rtlCol="0" anchor="ctr" wrap="square" lIns="0" rIns="0" tIns="18288" bIns="18288">
            <a:noAutofit/>
          </a:bodyPr>
          <a:lstStyle/>
          <a:p>
            <a:pPr algn="ctr"/>
            <a:r>
              <a:rPr sz="900" b="1" i="0" lang="ko-KR" altLang="en-US">
                <a:solidFill>
                  <a:srgbClr val="C55A11"/>
                </a:solidFill>
                <a:latin typeface="LG스마트체 Regular"/>
                <a:ea typeface="LG스마트체 Regular"/>
                <a:cs typeface="LG스마트체 Regular"/>
              </a:rPr>
              <a:t>가정</a:t>
            </a:r>
          </a:p>
        </p:txBody>
      </p:sp>
      <p:sp>
        <p:nvSpPr>
          <p:cNvPr id="11" name="TextBox 10"/>
          <p:cNvSpPr txBox="1"/>
          <p:nvPr/>
        </p:nvSpPr>
        <p:spPr>
          <a:xfrm>
            <a:off x="502920" y="4187952"/>
            <a:ext cx="1005840" cy="1188720"/>
          </a:xfrm>
          <a:prstGeom prst="rect">
            <a:avLst/>
          </a:prstGeom>
          <a:noFill/>
        </p:spPr>
        <p:txBody>
          <a:bodyPr wrap="square" lIns="18288" rIns="18288" tIns="18288" bIns="18288" anchor="t">
            <a:noAutofit/>
          </a:bodyPr>
          <a:lstStyle/>
          <a:p>
            <a:pPr algn="l"/>
            <a:r>
              <a:rPr sz="900" b="0" i="0" lang="ko-KR" altLang="en-US">
                <a:solidFill>
                  <a:srgbClr val="595959"/>
                </a:solidFill>
                <a:latin typeface="LG스마트체 Regular"/>
                <a:ea typeface="LG스마트체 Regular"/>
                <a:cs typeface="LG스마트체 Regular"/>
              </a:rPr>
              <a:t>그룹 약 200명</a:t>
            </a:r>
          </a:p>
          <a:p>
            <a:pPr algn="l"/>
            <a:r>
              <a:rPr sz="900" b="0" i="0" lang="ko-KR" altLang="en-US">
                <a:solidFill>
                  <a:srgbClr val="595959"/>
                </a:solidFill>
                <a:latin typeface="LG스마트체 Regular"/>
                <a:ea typeface="LG스마트체 Regular"/>
                <a:cs typeface="LG스마트체 Regular"/>
              </a:rPr>
              <a:t>동시 100명</a:t>
            </a:r>
          </a:p>
          <a:p>
            <a:pPr algn="l"/>
            <a:r>
              <a:rPr sz="900" b="0" i="0" lang="ko-KR" altLang="en-US">
                <a:solidFill>
                  <a:srgbClr val="595959"/>
                </a:solidFill>
                <a:latin typeface="LG스마트체 Regular"/>
                <a:ea typeface="LG스마트체 Regular"/>
                <a:cs typeface="LG스마트체 Regular"/>
              </a:rPr>
              <a:t>= 50%</a:t>
            </a:r>
          </a:p>
          <a:p>
            <a:pPr algn="l"/>
            <a:r>
              <a:rPr sz="900" b="0" i="0" lang="ko-KR" altLang="en-US">
                <a:solidFill>
                  <a:srgbClr val="595959"/>
                </a:solidFill>
                <a:latin typeface="LG스마트체 Regular"/>
                <a:ea typeface="LG스마트체 Regular"/>
                <a:cs typeface="LG스마트체 Regular"/>
              </a:rPr>
              <a:t>(메일 가정)</a:t>
            </a:r>
          </a:p>
        </p:txBody>
      </p:sp>
      <p:sp>
        <p:nvSpPr>
          <p:cNvPr id="12" name="zoneB"/>
          <p:cNvSpPr/>
          <p:nvPr/>
        </p:nvSpPr>
        <p:spPr>
          <a:xfrm>
            <a:off x="2423160" y="1234440"/>
            <a:ext cx="3611880" cy="4206240"/>
          </a:xfrm>
          <a:prstGeom prst="roundRect">
            <a:avLst>
              <a:gd name="adj" fmla="val 3037"/>
            </a:avLst>
          </a:prstGeom>
          <a:noFill/>
          <a:ln w="19050">
            <a:solidFill>
              <a:srgbClr val="1F3864"/>
            </a:solidFill>
          </a:ln>
          <a:effectLst/>
        </p:spPr>
        <p:txBody>
          <a:bodyPr rtlCol="0" anchor="ctr"/>
          <a:lstStyle/>
          <a:p/>
        </p:txBody>
      </p:sp>
      <p:sp>
        <p:nvSpPr>
          <p:cNvPr id="13" name="icon-cloud"/>
          <p:cNvSpPr/>
          <p:nvPr/>
        </p:nvSpPr>
        <p:spPr>
          <a:xfrm>
            <a:off x="2514600" y="1316736"/>
            <a:ext cx="237744" cy="237744"/>
          </a:xfrm>
          <a:custGeom>
            <a:avLst/>
            <a:gdLst/>
            <a:ahLst/>
            <a:cxnLst/>
            <a:rect l="0" t="0" r="r" b="b"/>
            <a:pathLst>
              <a:path w="24000" h="24000" stroke="0">
                <a:moveTo>
                  <a:pt x="19350" y="10040"/>
                </a:moveTo>
                <a:cubicBezTo>
                  <a:pt x="18657" y="6529"/>
                  <a:pt x="15578" y="3999"/>
                  <a:pt x="12000" y="4000"/>
                </a:cubicBezTo>
                <a:cubicBezTo>
                  <a:pt x="9110" y="4000"/>
                  <a:pt x="6600" y="5640"/>
                  <a:pt x="5350" y="8040"/>
                </a:cubicBezTo>
                <a:cubicBezTo>
                  <a:pt x="2306" y="8369"/>
                  <a:pt x="0" y="10939"/>
                  <a:pt x="0" y="14000"/>
                </a:cubicBezTo>
                <a:cubicBezTo>
                  <a:pt x="0" y="17310"/>
                  <a:pt x="2690" y="20000"/>
                  <a:pt x="6000" y="20000"/>
                </a:cubicBezTo>
                <a:lnTo>
                  <a:pt x="19000" y="20000"/>
                </a:lnTo>
                <a:cubicBezTo>
                  <a:pt x="21760" y="20000"/>
                  <a:pt x="24000" y="17760"/>
                  <a:pt x="24000" y="15000"/>
                </a:cubicBezTo>
                <a:cubicBezTo>
                  <a:pt x="24000" y="12360"/>
                  <a:pt x="21950" y="10220"/>
                  <a:pt x="19350" y="10040"/>
                </a:cubicBezTo>
                <a:close/>
                <a:moveTo>
                  <a:pt x="19000" y="18000"/>
                </a:moveTo>
                <a:lnTo>
                  <a:pt x="6000" y="18000"/>
                </a:lnTo>
                <a:cubicBezTo>
                  <a:pt x="3790" y="18000"/>
                  <a:pt x="2000" y="16210"/>
                  <a:pt x="2000" y="14000"/>
                </a:cubicBezTo>
                <a:cubicBezTo>
                  <a:pt x="2000" y="11790"/>
                  <a:pt x="3790" y="10000"/>
                  <a:pt x="6000" y="10000"/>
                </a:cubicBezTo>
                <a:lnTo>
                  <a:pt x="6710" y="10000"/>
                </a:lnTo>
                <a:cubicBezTo>
                  <a:pt x="7370" y="7690"/>
                  <a:pt x="9480" y="6000"/>
                  <a:pt x="12000" y="6000"/>
                </a:cubicBezTo>
                <a:cubicBezTo>
                  <a:pt x="15040" y="6000"/>
                  <a:pt x="17500" y="8460"/>
                  <a:pt x="17500" y="11500"/>
                </a:cubicBezTo>
                <a:lnTo>
                  <a:pt x="17500" y="12000"/>
                </a:lnTo>
                <a:lnTo>
                  <a:pt x="19000" y="12000"/>
                </a:lnTo>
                <a:cubicBezTo>
                  <a:pt x="20660" y="12000"/>
                  <a:pt x="22000" y="13340"/>
                  <a:pt x="22000" y="15000"/>
                </a:cubicBezTo>
                <a:cubicBezTo>
                  <a:pt x="22000" y="16660"/>
                  <a:pt x="20660" y="18000"/>
                  <a:pt x="19000" y="18000"/>
                </a:cubicBezTo>
                <a:close/>
              </a:path>
            </a:pathLst>
          </a:custGeom>
          <a:solidFill>
            <a:srgbClr val="1F3864"/>
          </a:solidFill>
          <a:ln>
            <a:noFill/>
          </a:ln>
          <a:effectLst/>
        </p:spPr>
        <p:txBody>
          <a:bodyPr rtlCol="0" anchor="ctr"/>
          <a:lstStyle/>
          <a:p/>
        </p:txBody>
      </p:sp>
      <p:sp>
        <p:nvSpPr>
          <p:cNvPr id="14" name="TextBox 13"/>
          <p:cNvSpPr txBox="1"/>
          <p:nvPr/>
        </p:nvSpPr>
        <p:spPr>
          <a:xfrm>
            <a:off x="2798064" y="1298448"/>
            <a:ext cx="3200400" cy="256032"/>
          </a:xfrm>
          <a:prstGeom prst="rect">
            <a:avLst/>
          </a:prstGeom>
          <a:noFill/>
        </p:spPr>
        <p:txBody>
          <a:bodyPr wrap="square" lIns="0" rIns="0" tIns="18288" bIns="18288" anchor="t">
            <a:noAutofit/>
          </a:bodyPr>
          <a:lstStyle/>
          <a:p>
            <a:pPr algn="l"/>
            <a:r>
              <a:rPr sz="1100" b="1" i="0" lang="ko-KR" altLang="en-US">
                <a:solidFill>
                  <a:srgbClr val="1F3864"/>
                </a:solidFill>
                <a:latin typeface="LG스마트체 Regular"/>
                <a:ea typeface="LG스마트체 Regular"/>
                <a:cs typeface="LG스마트체 Regular"/>
              </a:rPr>
              <a:t>DAVINCI Sandbox — OC 분석과제</a:t>
            </a:r>
            <a:r>
              <a:rPr sz="900" b="0" i="0" lang="ko-KR" altLang="en-US">
                <a:solidFill>
                  <a:srgbClr val="595959"/>
                </a:solidFill>
                <a:latin typeface="LG스마트체 Regular"/>
                <a:ea typeface="LG스마트체 Regular"/>
                <a:cs typeface="LG스마트체 Regular"/>
              </a:rPr>
              <a:t>  신청 = 메일 합의</a:t>
            </a:r>
          </a:p>
        </p:txBody>
      </p:sp>
      <p:sp>
        <p:nvSpPr>
          <p:cNvPr id="15" name="vm"/>
          <p:cNvSpPr/>
          <p:nvPr/>
        </p:nvSpPr>
        <p:spPr>
          <a:xfrm>
            <a:off x="2542032" y="1664208"/>
            <a:ext cx="3374136" cy="3685032"/>
          </a:xfrm>
          <a:prstGeom prst="roundRect">
            <a:avLst>
              <a:gd name="adj" fmla="val 2168"/>
            </a:avLst>
          </a:prstGeom>
          <a:solidFill>
            <a:srgbClr val="FFFBF7"/>
          </a:solidFill>
          <a:ln w="15875">
            <a:solidFill>
              <a:srgbClr val="C55A11"/>
            </a:solidFill>
            <a:prstDash val="dash"/>
          </a:ln>
          <a:effectLst/>
        </p:spPr>
        <p:txBody>
          <a:bodyPr rtlCol="0" anchor="ctr"/>
          <a:lstStyle/>
          <a:p/>
        </p:txBody>
      </p:sp>
      <p:sp>
        <p:nvSpPr>
          <p:cNvPr id="16" name="icon-vm"/>
          <p:cNvSpPr/>
          <p:nvPr/>
        </p:nvSpPr>
        <p:spPr>
          <a:xfrm>
            <a:off x="2624328" y="1737360"/>
            <a:ext cx="201168" cy="201168"/>
          </a:xfrm>
          <a:custGeom>
            <a:avLst/>
            <a:gdLst/>
            <a:ahLst/>
            <a:cxnLst/>
            <a:rect l="0" t="0" r="r" b="b"/>
            <a:pathLst>
              <a:path w="24000" h="24000" fill="none">
                <a:moveTo>
                  <a:pt x="3000" y="4000"/>
                </a:moveTo>
                <a:moveTo>
                  <a:pt x="3000" y="7000"/>
                </a:moveTo>
                <a:cubicBezTo>
                  <a:pt x="3000" y="5343"/>
                  <a:pt x="4343" y="4000"/>
                  <a:pt x="6000" y="4000"/>
                </a:cubicBezTo>
                <a:lnTo>
                  <a:pt x="18000" y="4000"/>
                </a:lnTo>
                <a:cubicBezTo>
                  <a:pt x="19657" y="4000"/>
                  <a:pt x="21000" y="5343"/>
                  <a:pt x="21000" y="7000"/>
                </a:cubicBezTo>
                <a:lnTo>
                  <a:pt x="21000" y="9000"/>
                </a:lnTo>
                <a:cubicBezTo>
                  <a:pt x="21000" y="10657"/>
                  <a:pt x="19657" y="12000"/>
                  <a:pt x="18000" y="12000"/>
                </a:cubicBezTo>
                <a:lnTo>
                  <a:pt x="6000" y="12000"/>
                </a:lnTo>
                <a:cubicBezTo>
                  <a:pt x="4343" y="12000"/>
                  <a:pt x="3000" y="10657"/>
                  <a:pt x="3000" y="9000"/>
                </a:cubicBezTo>
                <a:close/>
              </a:path>
              <a:path w="24000" h="24000" fill="none">
                <a:moveTo>
                  <a:pt x="3000" y="12000"/>
                </a:moveTo>
                <a:moveTo>
                  <a:pt x="3000" y="15000"/>
                </a:moveTo>
                <a:cubicBezTo>
                  <a:pt x="3000" y="13343"/>
                  <a:pt x="4343" y="12000"/>
                  <a:pt x="6000" y="12000"/>
                </a:cubicBezTo>
                <a:lnTo>
                  <a:pt x="18000" y="12000"/>
                </a:lnTo>
                <a:cubicBezTo>
                  <a:pt x="19657" y="12000"/>
                  <a:pt x="21000" y="13343"/>
                  <a:pt x="21000" y="15000"/>
                </a:cubicBezTo>
                <a:lnTo>
                  <a:pt x="21000" y="17000"/>
                </a:lnTo>
                <a:cubicBezTo>
                  <a:pt x="21000" y="18657"/>
                  <a:pt x="19657" y="20000"/>
                  <a:pt x="18000" y="20000"/>
                </a:cubicBezTo>
                <a:lnTo>
                  <a:pt x="6000" y="20000"/>
                </a:lnTo>
                <a:cubicBezTo>
                  <a:pt x="4343" y="20000"/>
                  <a:pt x="3000" y="18657"/>
                  <a:pt x="3000" y="17000"/>
                </a:cubicBezTo>
                <a:close/>
              </a:path>
              <a:path w="24000" h="24000" fill="none">
                <a:moveTo>
                  <a:pt x="7000" y="8000"/>
                </a:moveTo>
                <a:lnTo>
                  <a:pt x="7000" y="8010"/>
                </a:lnTo>
              </a:path>
              <a:path w="24000" h="24000" fill="none">
                <a:moveTo>
                  <a:pt x="7000" y="16000"/>
                </a:moveTo>
                <a:lnTo>
                  <a:pt x="7000" y="16010"/>
                </a:lnTo>
              </a:path>
              <a:path w="24000" h="24000" fill="none">
                <a:moveTo>
                  <a:pt x="11000" y="8000"/>
                </a:moveTo>
                <a:lnTo>
                  <a:pt x="17000" y="8000"/>
                </a:lnTo>
              </a:path>
              <a:path w="24000" h="24000" fill="none">
                <a:moveTo>
                  <a:pt x="11000" y="16000"/>
                </a:moveTo>
                <a:lnTo>
                  <a:pt x="17000" y="16000"/>
                </a:lnTo>
              </a:path>
            </a:pathLst>
          </a:custGeom>
          <a:solidFill>
            <a:srgbClr val="595959"/>
          </a:solidFill>
          <a:ln w="12700">
            <a:solidFill>
              <a:srgbClr val="595959"/>
            </a:solidFill>
          </a:ln>
          <a:effectLst/>
        </p:spPr>
        <p:txBody>
          <a:bodyPr rtlCol="0" anchor="ctr"/>
          <a:lstStyle/>
          <a:p/>
        </p:txBody>
      </p:sp>
      <p:sp>
        <p:nvSpPr>
          <p:cNvPr id="17" name="TextBox 16"/>
          <p:cNvSpPr txBox="1"/>
          <p:nvPr/>
        </p:nvSpPr>
        <p:spPr>
          <a:xfrm>
            <a:off x="2880360" y="1719072"/>
            <a:ext cx="2971800" cy="237744"/>
          </a:xfrm>
          <a:prstGeom prst="rect">
            <a:avLst/>
          </a:prstGeom>
          <a:noFill/>
        </p:spPr>
        <p:txBody>
          <a:bodyPr wrap="square" lIns="0" rIns="0" tIns="18288" bIns="18288" anchor="t">
            <a:noAutofit/>
          </a:bodyPr>
          <a:lstStyle/>
          <a:p>
            <a:pPr algn="l"/>
            <a:r>
              <a:rPr sz="1000" b="1" i="0" lang="ko-KR" altLang="en-US">
                <a:solidFill>
                  <a:srgbClr val="262626"/>
                </a:solidFill>
                <a:latin typeface="LG스마트체 Regular"/>
                <a:ea typeface="LG스마트체 Regular"/>
                <a:cs typeface="LG스마트체 Regular"/>
              </a:rPr>
              <a:t>VM</a:t>
            </a:r>
            <a:r>
              <a:rPr sz="950" b="0" i="0" lang="ko-KR" altLang="en-US">
                <a:solidFill>
                  <a:srgbClr val="595959"/>
                </a:solidFill>
                <a:latin typeface="LG스마트체 Regular"/>
                <a:ea typeface="LG스마트체 Regular"/>
                <a:cs typeface="LG스마트체 Regular"/>
              </a:rPr>
              <a:t> (요청 사양: 8 Core · 32GB RAM · OS 미정)</a:t>
            </a:r>
          </a:p>
        </p:txBody>
      </p:sp>
      <p:sp>
        <p:nvSpPr>
          <p:cNvPr id="18" name="docker-container"/>
          <p:cNvSpPr/>
          <p:nvPr/>
        </p:nvSpPr>
        <p:spPr>
          <a:xfrm>
            <a:off x="2651760" y="2057400"/>
            <a:ext cx="3154680" cy="1600200"/>
          </a:xfrm>
          <a:prstGeom prst="roundRect">
            <a:avLst>
              <a:gd name="adj" fmla="val 4000"/>
            </a:avLst>
          </a:prstGeom>
          <a:solidFill>
            <a:srgbClr val="FFF5EB"/>
          </a:solidFill>
          <a:ln w="15875">
            <a:solidFill>
              <a:srgbClr val="C55A11"/>
            </a:solidFill>
            <a:prstDash val="dash"/>
          </a:ln>
          <a:effectLst/>
        </p:spPr>
        <p:txBody>
          <a:bodyPr rtlCol="0" anchor="ctr"/>
          <a:lstStyle/>
          <a:p/>
        </p:txBody>
      </p:sp>
      <p:sp>
        <p:nvSpPr>
          <p:cNvPr id="19" name="icon-docker"/>
          <p:cNvSpPr/>
          <p:nvPr/>
        </p:nvSpPr>
        <p:spPr>
          <a:xfrm>
            <a:off x="2715768" y="2103120"/>
            <a:ext cx="228600" cy="228600"/>
          </a:xfrm>
          <a:custGeom>
            <a:avLst/>
            <a:gdLst/>
            <a:ahLst/>
            <a:cxnLst/>
            <a:rect l="0" t="0" r="r" b="b"/>
            <a:pathLst>
              <a:path w="24000" h="24000" stroke="0">
                <a:moveTo>
                  <a:pt x="13983" y="11078"/>
                </a:moveTo>
                <a:lnTo>
                  <a:pt x="16102" y="11078"/>
                </a:lnTo>
                <a:cubicBezTo>
                  <a:pt x="16204" y="11078"/>
                  <a:pt x="16287" y="10995"/>
                  <a:pt x="16288" y="10893"/>
                </a:cubicBezTo>
                <a:lnTo>
                  <a:pt x="16288" y="9006"/>
                </a:lnTo>
                <a:cubicBezTo>
                  <a:pt x="16288" y="8903"/>
                  <a:pt x="16205" y="8820"/>
                  <a:pt x="16102" y="8820"/>
                </a:cubicBezTo>
                <a:lnTo>
                  <a:pt x="13983" y="8820"/>
                </a:lnTo>
                <a:cubicBezTo>
                  <a:pt x="13934" y="8820"/>
                  <a:pt x="13887" y="8839"/>
                  <a:pt x="13852" y="8874"/>
                </a:cubicBezTo>
                <a:cubicBezTo>
                  <a:pt x="13817" y="8909"/>
                  <a:pt x="13798" y="8956"/>
                  <a:pt x="13798" y="9005"/>
                </a:cubicBezTo>
                <a:lnTo>
                  <a:pt x="13798" y="10893"/>
                </a:lnTo>
                <a:cubicBezTo>
                  <a:pt x="13798" y="10995"/>
                  <a:pt x="13881" y="11078"/>
                  <a:pt x="13983" y="11078"/>
                </a:cubicBezTo>
                <a:moveTo>
                  <a:pt x="11029" y="5648"/>
                </a:moveTo>
                <a:lnTo>
                  <a:pt x="13147" y="5648"/>
                </a:lnTo>
                <a:cubicBezTo>
                  <a:pt x="13250" y="5648"/>
                  <a:pt x="13333" y="5565"/>
                  <a:pt x="13333" y="5462"/>
                </a:cubicBezTo>
                <a:lnTo>
                  <a:pt x="13333" y="3574"/>
                </a:lnTo>
                <a:cubicBezTo>
                  <a:pt x="13332" y="3472"/>
                  <a:pt x="13249" y="3389"/>
                  <a:pt x="13147" y="3389"/>
                </a:cubicBezTo>
                <a:lnTo>
                  <a:pt x="11029" y="3389"/>
                </a:lnTo>
                <a:cubicBezTo>
                  <a:pt x="10980" y="3389"/>
                  <a:pt x="10933" y="3408"/>
                  <a:pt x="10898" y="3443"/>
                </a:cubicBezTo>
                <a:cubicBezTo>
                  <a:pt x="10863" y="3478"/>
                  <a:pt x="10844" y="3525"/>
                  <a:pt x="10844" y="3574"/>
                </a:cubicBezTo>
                <a:lnTo>
                  <a:pt x="10844" y="5462"/>
                </a:lnTo>
                <a:cubicBezTo>
                  <a:pt x="10844" y="5564"/>
                  <a:pt x="10926" y="5647"/>
                  <a:pt x="11029" y="5647"/>
                </a:cubicBezTo>
                <a:moveTo>
                  <a:pt x="11029" y="8363"/>
                </a:moveTo>
                <a:lnTo>
                  <a:pt x="13147" y="8363"/>
                </a:lnTo>
                <a:cubicBezTo>
                  <a:pt x="13249" y="8362"/>
                  <a:pt x="13332" y="8279"/>
                  <a:pt x="13333" y="8177"/>
                </a:cubicBezTo>
                <a:lnTo>
                  <a:pt x="13333" y="6290"/>
                </a:lnTo>
                <a:cubicBezTo>
                  <a:pt x="13332" y="6188"/>
                  <a:pt x="13249" y="6105"/>
                  <a:pt x="13147" y="6105"/>
                </a:cubicBezTo>
                <a:lnTo>
                  <a:pt x="11029" y="6105"/>
                </a:lnTo>
                <a:cubicBezTo>
                  <a:pt x="10980" y="6105"/>
                  <a:pt x="10933" y="6124"/>
                  <a:pt x="10898" y="6159"/>
                </a:cubicBezTo>
                <a:cubicBezTo>
                  <a:pt x="10863" y="6194"/>
                  <a:pt x="10844" y="6241"/>
                  <a:pt x="10844" y="6290"/>
                </a:cubicBezTo>
                <a:lnTo>
                  <a:pt x="10844" y="8177"/>
                </a:lnTo>
                <a:cubicBezTo>
                  <a:pt x="10844" y="8279"/>
                  <a:pt x="10926" y="8362"/>
                  <a:pt x="11029" y="8363"/>
                </a:cubicBezTo>
                <a:moveTo>
                  <a:pt x="8099" y="8363"/>
                </a:moveTo>
                <a:lnTo>
                  <a:pt x="10219" y="8363"/>
                </a:lnTo>
                <a:cubicBezTo>
                  <a:pt x="10321" y="8362"/>
                  <a:pt x="10403" y="8279"/>
                  <a:pt x="10403" y="8177"/>
                </a:cubicBezTo>
                <a:lnTo>
                  <a:pt x="10403" y="6290"/>
                </a:lnTo>
                <a:cubicBezTo>
                  <a:pt x="10403" y="6241"/>
                  <a:pt x="10384" y="6194"/>
                  <a:pt x="10349" y="6159"/>
                </a:cubicBezTo>
                <a:cubicBezTo>
                  <a:pt x="10314" y="6124"/>
                  <a:pt x="10267" y="6105"/>
                  <a:pt x="10218" y="6105"/>
                </a:cubicBezTo>
                <a:lnTo>
                  <a:pt x="8100" y="6105"/>
                </a:lnTo>
                <a:cubicBezTo>
                  <a:pt x="7998" y="6105"/>
                  <a:pt x="7915" y="6188"/>
                  <a:pt x="7915" y="6290"/>
                </a:cubicBezTo>
                <a:lnTo>
                  <a:pt x="7915" y="8177"/>
                </a:lnTo>
                <a:cubicBezTo>
                  <a:pt x="7915" y="8279"/>
                  <a:pt x="7998" y="8362"/>
                  <a:pt x="8100" y="8363"/>
                </a:cubicBezTo>
                <a:moveTo>
                  <a:pt x="5136" y="8363"/>
                </a:moveTo>
                <a:lnTo>
                  <a:pt x="7255" y="8363"/>
                </a:lnTo>
                <a:cubicBezTo>
                  <a:pt x="7357" y="8362"/>
                  <a:pt x="7440" y="8279"/>
                  <a:pt x="7440" y="8177"/>
                </a:cubicBezTo>
                <a:lnTo>
                  <a:pt x="7440" y="6290"/>
                </a:lnTo>
                <a:cubicBezTo>
                  <a:pt x="7440" y="6188"/>
                  <a:pt x="7357" y="6105"/>
                  <a:pt x="7255" y="6105"/>
                </a:cubicBezTo>
                <a:lnTo>
                  <a:pt x="5136" y="6105"/>
                </a:lnTo>
                <a:cubicBezTo>
                  <a:pt x="5034" y="6105"/>
                  <a:pt x="4951" y="6188"/>
                  <a:pt x="4950" y="6290"/>
                </a:cubicBezTo>
                <a:lnTo>
                  <a:pt x="4950" y="8177"/>
                </a:lnTo>
                <a:cubicBezTo>
                  <a:pt x="4950" y="8279"/>
                  <a:pt x="5034" y="8362"/>
                  <a:pt x="5136" y="8363"/>
                </a:cubicBezTo>
                <a:moveTo>
                  <a:pt x="11029" y="11078"/>
                </a:moveTo>
                <a:lnTo>
                  <a:pt x="13147" y="11078"/>
                </a:lnTo>
                <a:cubicBezTo>
                  <a:pt x="13249" y="11078"/>
                  <a:pt x="13332" y="10995"/>
                  <a:pt x="13333" y="10893"/>
                </a:cubicBezTo>
                <a:lnTo>
                  <a:pt x="13333" y="9006"/>
                </a:lnTo>
                <a:cubicBezTo>
                  <a:pt x="13333" y="8903"/>
                  <a:pt x="13250" y="8820"/>
                  <a:pt x="13147" y="8820"/>
                </a:cubicBezTo>
                <a:lnTo>
                  <a:pt x="11029" y="8820"/>
                </a:lnTo>
                <a:cubicBezTo>
                  <a:pt x="10980" y="8820"/>
                  <a:pt x="10933" y="8839"/>
                  <a:pt x="10898" y="8874"/>
                </a:cubicBezTo>
                <a:cubicBezTo>
                  <a:pt x="10863" y="8909"/>
                  <a:pt x="10844" y="8956"/>
                  <a:pt x="10844" y="9005"/>
                </a:cubicBezTo>
                <a:lnTo>
                  <a:pt x="10844" y="10893"/>
                </a:lnTo>
                <a:cubicBezTo>
                  <a:pt x="10844" y="10995"/>
                  <a:pt x="10926" y="11078"/>
                  <a:pt x="11029" y="11078"/>
                </a:cubicBezTo>
                <a:moveTo>
                  <a:pt x="8099" y="11078"/>
                </a:moveTo>
                <a:lnTo>
                  <a:pt x="10219" y="11078"/>
                </a:lnTo>
                <a:cubicBezTo>
                  <a:pt x="10321" y="11077"/>
                  <a:pt x="10403" y="10995"/>
                  <a:pt x="10403" y="10893"/>
                </a:cubicBezTo>
                <a:lnTo>
                  <a:pt x="10403" y="9006"/>
                </a:lnTo>
                <a:cubicBezTo>
                  <a:pt x="10403" y="8957"/>
                  <a:pt x="10384" y="8910"/>
                  <a:pt x="10350" y="8875"/>
                </a:cubicBezTo>
                <a:cubicBezTo>
                  <a:pt x="10315" y="8840"/>
                  <a:pt x="10268" y="8820"/>
                  <a:pt x="10219" y="8820"/>
                </a:cubicBezTo>
                <a:lnTo>
                  <a:pt x="8099" y="8820"/>
                </a:lnTo>
                <a:cubicBezTo>
                  <a:pt x="7997" y="8821"/>
                  <a:pt x="7915" y="8903"/>
                  <a:pt x="7915" y="9005"/>
                </a:cubicBezTo>
                <a:lnTo>
                  <a:pt x="7915" y="10893"/>
                </a:lnTo>
                <a:cubicBezTo>
                  <a:pt x="7915" y="10995"/>
                  <a:pt x="7998" y="11078"/>
                  <a:pt x="8100" y="11078"/>
                </a:cubicBezTo>
                <a:moveTo>
                  <a:pt x="5136" y="11078"/>
                </a:moveTo>
                <a:lnTo>
                  <a:pt x="7255" y="11078"/>
                </a:lnTo>
                <a:cubicBezTo>
                  <a:pt x="7304" y="11078"/>
                  <a:pt x="7351" y="11059"/>
                  <a:pt x="7386" y="11024"/>
                </a:cubicBezTo>
                <a:cubicBezTo>
                  <a:pt x="7421" y="10989"/>
                  <a:pt x="7440" y="10942"/>
                  <a:pt x="7440" y="10893"/>
                </a:cubicBezTo>
                <a:lnTo>
                  <a:pt x="7440" y="9006"/>
                </a:lnTo>
                <a:cubicBezTo>
                  <a:pt x="7440" y="8957"/>
                  <a:pt x="7421" y="8910"/>
                  <a:pt x="7387" y="8875"/>
                </a:cubicBezTo>
                <a:cubicBezTo>
                  <a:pt x="7352" y="8840"/>
                  <a:pt x="7305" y="8820"/>
                  <a:pt x="7256" y="8820"/>
                </a:cubicBezTo>
                <a:lnTo>
                  <a:pt x="5136" y="8820"/>
                </a:lnTo>
                <a:cubicBezTo>
                  <a:pt x="5033" y="8820"/>
                  <a:pt x="4950" y="8903"/>
                  <a:pt x="4950" y="9006"/>
                </a:cubicBezTo>
                <a:lnTo>
                  <a:pt x="4950" y="10893"/>
                </a:lnTo>
                <a:cubicBezTo>
                  <a:pt x="4950" y="10995"/>
                  <a:pt x="5034" y="11078"/>
                  <a:pt x="5136" y="11078"/>
                </a:cubicBezTo>
                <a:moveTo>
                  <a:pt x="2216" y="11078"/>
                </a:moveTo>
                <a:lnTo>
                  <a:pt x="4336" y="11078"/>
                </a:lnTo>
                <a:cubicBezTo>
                  <a:pt x="4438" y="11077"/>
                  <a:pt x="4520" y="10995"/>
                  <a:pt x="4520" y="10893"/>
                </a:cubicBezTo>
                <a:lnTo>
                  <a:pt x="4520" y="9006"/>
                </a:lnTo>
                <a:cubicBezTo>
                  <a:pt x="4520" y="8957"/>
                  <a:pt x="4501" y="8910"/>
                  <a:pt x="4467" y="8875"/>
                </a:cubicBezTo>
                <a:cubicBezTo>
                  <a:pt x="4432" y="8840"/>
                  <a:pt x="4385" y="8820"/>
                  <a:pt x="4336" y="8820"/>
                </a:cubicBezTo>
                <a:lnTo>
                  <a:pt x="2216" y="8820"/>
                </a:lnTo>
                <a:cubicBezTo>
                  <a:pt x="2114" y="8821"/>
                  <a:pt x="2032" y="8903"/>
                  <a:pt x="2032" y="9005"/>
                </a:cubicBezTo>
                <a:lnTo>
                  <a:pt x="2032" y="10893"/>
                </a:lnTo>
                <a:cubicBezTo>
                  <a:pt x="2032" y="10995"/>
                  <a:pt x="2114" y="11078"/>
                  <a:pt x="2217" y="11078"/>
                </a:cubicBezTo>
                <a:moveTo>
                  <a:pt x="23763" y="9890"/>
                </a:moveTo>
                <a:cubicBezTo>
                  <a:pt x="23698" y="9839"/>
                  <a:pt x="23091" y="9380"/>
                  <a:pt x="21809" y="9380"/>
                </a:cubicBezTo>
                <a:cubicBezTo>
                  <a:pt x="21471" y="9381"/>
                  <a:pt x="21133" y="9410"/>
                  <a:pt x="20799" y="9467"/>
                </a:cubicBezTo>
                <a:cubicBezTo>
                  <a:pt x="20551" y="7767"/>
                  <a:pt x="19146" y="6937"/>
                  <a:pt x="19083" y="6901"/>
                </a:cubicBezTo>
                <a:lnTo>
                  <a:pt x="18739" y="6702"/>
                </a:lnTo>
                <a:lnTo>
                  <a:pt x="18513" y="7029"/>
                </a:lnTo>
                <a:cubicBezTo>
                  <a:pt x="18229" y="7467"/>
                  <a:pt x="18023" y="7951"/>
                  <a:pt x="17901" y="8459"/>
                </a:cubicBezTo>
                <a:cubicBezTo>
                  <a:pt x="17671" y="9429"/>
                  <a:pt x="17811" y="10341"/>
                  <a:pt x="18304" y="11120"/>
                </a:cubicBezTo>
                <a:cubicBezTo>
                  <a:pt x="17709" y="11452"/>
                  <a:pt x="16754" y="11533"/>
                  <a:pt x="16560" y="11540"/>
                </a:cubicBezTo>
                <a:lnTo>
                  <a:pt x="751" y="11540"/>
                </a:lnTo>
                <a:cubicBezTo>
                  <a:pt x="338" y="11541"/>
                  <a:pt x="3" y="11875"/>
                  <a:pt x="1" y="12288"/>
                </a:cubicBezTo>
                <a:cubicBezTo>
                  <a:pt x="-18" y="13673"/>
                  <a:pt x="217" y="15049"/>
                  <a:pt x="693" y="16350"/>
                </a:cubicBezTo>
                <a:cubicBezTo>
                  <a:pt x="1238" y="17778"/>
                  <a:pt x="2048" y="18830"/>
                  <a:pt x="3103" y="19474"/>
                </a:cubicBezTo>
                <a:cubicBezTo>
                  <a:pt x="4283" y="20197"/>
                  <a:pt x="6203" y="20611"/>
                  <a:pt x="8378" y="20611"/>
                </a:cubicBezTo>
                <a:cubicBezTo>
                  <a:pt x="9361" y="20614"/>
                  <a:pt x="10341" y="20525"/>
                  <a:pt x="11308" y="20345"/>
                </a:cubicBezTo>
                <a:cubicBezTo>
                  <a:pt x="12651" y="20098"/>
                  <a:pt x="13943" y="19629"/>
                  <a:pt x="15131" y="18956"/>
                </a:cubicBezTo>
                <a:cubicBezTo>
                  <a:pt x="16111" y="18389"/>
                  <a:pt x="16991" y="17668"/>
                  <a:pt x="17741" y="16820"/>
                </a:cubicBezTo>
                <a:cubicBezTo>
                  <a:pt x="18993" y="15402"/>
                  <a:pt x="19739" y="13823"/>
                  <a:pt x="20294" y="12420"/>
                </a:cubicBezTo>
                <a:lnTo>
                  <a:pt x="20515" y="12420"/>
                </a:lnTo>
                <a:cubicBezTo>
                  <a:pt x="21887" y="12420"/>
                  <a:pt x="22730" y="11871"/>
                  <a:pt x="23195" y="11411"/>
                </a:cubicBezTo>
                <a:cubicBezTo>
                  <a:pt x="23504" y="11118"/>
                  <a:pt x="23745" y="10761"/>
                  <a:pt x="23902" y="10365"/>
                </a:cubicBezTo>
                <a:lnTo>
                  <a:pt x="24000" y="10077"/>
                </a:lnTo>
                <a:close/>
              </a:path>
            </a:pathLst>
          </a:custGeom>
          <a:solidFill>
            <a:srgbClr val="2496ED"/>
          </a:solidFill>
          <a:ln>
            <a:noFill/>
          </a:ln>
          <a:effectLst/>
        </p:spPr>
        <p:txBody>
          <a:bodyPr rtlCol="0" anchor="ctr"/>
          <a:lstStyle/>
          <a:p/>
        </p:txBody>
      </p:sp>
      <p:sp>
        <p:nvSpPr>
          <p:cNvPr id="20" name="TextBox 19"/>
          <p:cNvSpPr txBox="1"/>
          <p:nvPr/>
        </p:nvSpPr>
        <p:spPr>
          <a:xfrm>
            <a:off x="2990088" y="2103120"/>
            <a:ext cx="2377440" cy="219456"/>
          </a:xfrm>
          <a:prstGeom prst="rect">
            <a:avLst/>
          </a:prstGeom>
          <a:noFill/>
        </p:spPr>
        <p:txBody>
          <a:bodyPr wrap="square" lIns="0" rIns="0" tIns="18288" bIns="18288" anchor="t">
            <a:noAutofit/>
          </a:bodyPr>
          <a:lstStyle/>
          <a:p>
            <a:pPr algn="l"/>
            <a:r>
              <a:rPr sz="950" b="1" i="0" lang="ko-KR" altLang="en-US">
                <a:solidFill>
                  <a:srgbClr val="262626"/>
                </a:solidFill>
                <a:latin typeface="LG스마트체 Regular"/>
                <a:ea typeface="LG스마트체 Regular"/>
                <a:cs typeface="LG스마트체 Regular"/>
              </a:rPr>
              <a:t>Docker 컨테이너</a:t>
            </a:r>
            <a:r>
              <a:rPr sz="900" b="0" i="0" lang="ko-KR" altLang="en-US">
                <a:solidFill>
                  <a:srgbClr val="C55A11"/>
                </a:solidFill>
                <a:latin typeface="LG스마트체 Regular"/>
                <a:ea typeface="LG스마트체 Regular"/>
                <a:cs typeface="LG스마트체 Regular"/>
              </a:rPr>
              <a:t> (계획 · Dockerfile 없음)</a:t>
            </a:r>
          </a:p>
        </p:txBody>
      </p:sp>
      <p:sp>
        <p:nvSpPr>
          <p:cNvPr id="21" name="conflict-C3"/>
          <p:cNvSpPr txBox="1"/>
          <p:nvPr/>
        </p:nvSpPr>
        <p:spPr>
          <a:xfrm>
            <a:off x="5413248" y="2112264"/>
            <a:ext cx="384048" cy="182880"/>
          </a:xfrm>
          <a:prstGeom prst="rect">
            <a:avLst/>
          </a:prstGeom>
          <a:noFill/>
        </p:spPr>
        <p:txBody>
          <a:bodyPr wrap="square" lIns="0" rIns="0" tIns="18288" bIns="18288" anchor="t">
            <a:noAutofit/>
          </a:bodyPr>
          <a:lstStyle/>
          <a:p>
            <a:pPr algn="l"/>
            <a:r>
              <a:rPr sz="900" b="1" i="0" lang="ko-KR" altLang="en-US">
                <a:solidFill>
                  <a:srgbClr val="C00000"/>
                </a:solidFill>
                <a:latin typeface="LG스마트체 Regular"/>
                <a:ea typeface="LG스마트체 Regular"/>
                <a:cs typeface="LG스마트체 Regular"/>
              </a:rPr>
              <a:t>◆</a:t>
            </a:r>
            <a:r>
              <a:rPr sz="900" b="1" i="0" lang="ko-KR" altLang="en-US">
                <a:solidFill>
                  <a:srgbClr val="C00000"/>
                </a:solidFill>
                <a:latin typeface="LG스마트체 Regular"/>
                <a:ea typeface="LG스마트체 Regular"/>
                <a:cs typeface="LG스마트체 Regular"/>
              </a:rPr>
              <a:t>C3</a:t>
            </a:r>
          </a:p>
        </p:txBody>
      </p:sp>
      <p:sp>
        <p:nvSpPr>
          <p:cNvPr id="22" name="app"/>
          <p:cNvSpPr/>
          <p:nvPr/>
        </p:nvSpPr>
        <p:spPr>
          <a:xfrm>
            <a:off x="2761488" y="2395728"/>
            <a:ext cx="2935224" cy="1170432"/>
          </a:xfrm>
          <a:prstGeom prst="roundRect">
            <a:avLst>
              <a:gd name="adj" fmla="val 4687"/>
            </a:avLst>
          </a:prstGeom>
          <a:solidFill>
            <a:srgbClr val="EEF2F8"/>
          </a:solidFill>
          <a:ln w="15875">
            <a:solidFill>
              <a:srgbClr val="1F3864"/>
            </a:solidFill>
          </a:ln>
          <a:effectLst/>
        </p:spPr>
        <p:txBody>
          <a:bodyPr rtlCol="0" anchor="ctr"/>
          <a:lstStyle/>
          <a:p/>
        </p:txBody>
      </p:sp>
      <p:sp>
        <p:nvSpPr>
          <p:cNvPr id="23" name="TextBox 22"/>
          <p:cNvSpPr txBox="1"/>
          <p:nvPr/>
        </p:nvSpPr>
        <p:spPr>
          <a:xfrm>
            <a:off x="2834640" y="2423160"/>
            <a:ext cx="1463040" cy="228600"/>
          </a:xfrm>
          <a:prstGeom prst="rect">
            <a:avLst/>
          </a:prstGeom>
          <a:noFill/>
        </p:spPr>
        <p:txBody>
          <a:bodyPr wrap="square" lIns="0" rIns="0" tIns="18288" bIns="18288" anchor="t">
            <a:noAutofit/>
          </a:bodyPr>
          <a:lstStyle/>
          <a:p>
            <a:pPr algn="l"/>
            <a:r>
              <a:rPr sz="1000" b="1" i="0" lang="ko-KR" altLang="en-US">
                <a:solidFill>
                  <a:srgbClr val="1F3864"/>
                </a:solidFill>
                <a:latin typeface="LG스마트체 Regular"/>
                <a:ea typeface="LG스마트체 Regular"/>
                <a:cs typeface="LG스마트체 Regular"/>
              </a:rPr>
              <a:t>Worklog 앱</a:t>
            </a:r>
          </a:p>
        </p:txBody>
      </p:sp>
      <p:sp>
        <p:nvSpPr>
          <p:cNvPr id="24" name="icon-python"/>
          <p:cNvSpPr/>
          <p:nvPr/>
        </p:nvSpPr>
        <p:spPr>
          <a:xfrm>
            <a:off x="5440680" y="2441448"/>
            <a:ext cx="182880" cy="182880"/>
          </a:xfrm>
          <a:custGeom>
            <a:avLst/>
            <a:gdLst/>
            <a:ahLst/>
            <a:cxnLst/>
            <a:rect l="0" t="0" r="r" b="b"/>
            <a:pathLst>
              <a:path w="24000" h="24000" stroke="0">
                <a:moveTo>
                  <a:pt x="14250" y="180"/>
                </a:moveTo>
                <a:lnTo>
                  <a:pt x="15150" y="380"/>
                </a:lnTo>
                <a:lnTo>
                  <a:pt x="15880" y="640"/>
                </a:lnTo>
                <a:lnTo>
                  <a:pt x="16470" y="940"/>
                </a:lnTo>
                <a:lnTo>
                  <a:pt x="16920" y="1260"/>
                </a:lnTo>
                <a:lnTo>
                  <a:pt x="17260" y="1600"/>
                </a:lnTo>
                <a:lnTo>
                  <a:pt x="17510" y="1940"/>
                </a:lnTo>
                <a:lnTo>
                  <a:pt x="17670" y="2270"/>
                </a:lnTo>
                <a:lnTo>
                  <a:pt x="17770" y="2570"/>
                </a:lnTo>
                <a:lnTo>
                  <a:pt x="17810" y="2830"/>
                </a:lnTo>
                <a:lnTo>
                  <a:pt x="17830" y="3030"/>
                </a:lnTo>
                <a:lnTo>
                  <a:pt x="17820" y="3160"/>
                </a:lnTo>
                <a:lnTo>
                  <a:pt x="17820" y="8500"/>
                </a:lnTo>
                <a:lnTo>
                  <a:pt x="17770" y="9130"/>
                </a:lnTo>
                <a:lnTo>
                  <a:pt x="17640" y="9680"/>
                </a:lnTo>
                <a:lnTo>
                  <a:pt x="17430" y="10140"/>
                </a:lnTo>
                <a:lnTo>
                  <a:pt x="17170" y="10520"/>
                </a:lnTo>
                <a:lnTo>
                  <a:pt x="16870" y="10830"/>
                </a:lnTo>
                <a:lnTo>
                  <a:pt x="16540" y="11080"/>
                </a:lnTo>
                <a:lnTo>
                  <a:pt x="16190" y="11270"/>
                </a:lnTo>
                <a:lnTo>
                  <a:pt x="15840" y="11410"/>
                </a:lnTo>
                <a:lnTo>
                  <a:pt x="15510" y="11510"/>
                </a:lnTo>
                <a:lnTo>
                  <a:pt x="15210" y="11580"/>
                </a:lnTo>
                <a:lnTo>
                  <a:pt x="14950" y="11620"/>
                </a:lnTo>
                <a:lnTo>
                  <a:pt x="14740" y="11640"/>
                </a:lnTo>
                <a:lnTo>
                  <a:pt x="8770" y="11640"/>
                </a:lnTo>
                <a:lnTo>
                  <a:pt x="8080" y="11690"/>
                </a:lnTo>
                <a:lnTo>
                  <a:pt x="7490" y="11830"/>
                </a:lnTo>
                <a:lnTo>
                  <a:pt x="6990" y="12050"/>
                </a:lnTo>
                <a:lnTo>
                  <a:pt x="6580" y="12320"/>
                </a:lnTo>
                <a:lnTo>
                  <a:pt x="6250" y="12640"/>
                </a:lnTo>
                <a:lnTo>
                  <a:pt x="5980" y="12990"/>
                </a:lnTo>
                <a:lnTo>
                  <a:pt x="5780" y="13350"/>
                </a:lnTo>
                <a:lnTo>
                  <a:pt x="5630" y="13720"/>
                </a:lnTo>
                <a:lnTo>
                  <a:pt x="5530" y="14070"/>
                </a:lnTo>
                <a:lnTo>
                  <a:pt x="5460" y="14390"/>
                </a:lnTo>
                <a:lnTo>
                  <a:pt x="5420" y="14660"/>
                </a:lnTo>
                <a:lnTo>
                  <a:pt x="5400" y="14870"/>
                </a:lnTo>
                <a:lnTo>
                  <a:pt x="5400" y="17930"/>
                </a:lnTo>
                <a:lnTo>
                  <a:pt x="3170" y="17930"/>
                </a:lnTo>
                <a:lnTo>
                  <a:pt x="2960" y="17900"/>
                </a:lnTo>
                <a:lnTo>
                  <a:pt x="2680" y="17830"/>
                </a:lnTo>
                <a:lnTo>
                  <a:pt x="2360" y="17710"/>
                </a:lnTo>
                <a:lnTo>
                  <a:pt x="2010" y="17530"/>
                </a:lnTo>
                <a:lnTo>
                  <a:pt x="1650" y="17270"/>
                </a:lnTo>
                <a:lnTo>
                  <a:pt x="1290" y="16910"/>
                </a:lnTo>
                <a:lnTo>
                  <a:pt x="940" y="16450"/>
                </a:lnTo>
                <a:lnTo>
                  <a:pt x="620" y="15860"/>
                </a:lnTo>
                <a:lnTo>
                  <a:pt x="340" y="15130"/>
                </a:lnTo>
                <a:lnTo>
                  <a:pt x="130" y="14250"/>
                </a:lnTo>
                <a:lnTo>
                  <a:pt x="-10" y="13200"/>
                </a:lnTo>
                <a:lnTo>
                  <a:pt x="-60" y="11970"/>
                </a:lnTo>
                <a:lnTo>
                  <a:pt x="0" y="10750"/>
                </a:lnTo>
                <a:lnTo>
                  <a:pt x="160" y="9710"/>
                </a:lnTo>
                <a:lnTo>
                  <a:pt x="400" y="8840"/>
                </a:lnTo>
                <a:lnTo>
                  <a:pt x="720" y="8130"/>
                </a:lnTo>
                <a:lnTo>
                  <a:pt x="1080" y="7560"/>
                </a:lnTo>
                <a:lnTo>
                  <a:pt x="1480" y="7120"/>
                </a:lnTo>
                <a:lnTo>
                  <a:pt x="1900" y="6790"/>
                </a:lnTo>
                <a:lnTo>
                  <a:pt x="2320" y="6550"/>
                </a:lnTo>
                <a:lnTo>
                  <a:pt x="2720" y="6390"/>
                </a:lnTo>
                <a:lnTo>
                  <a:pt x="3080" y="6290"/>
                </a:lnTo>
                <a:lnTo>
                  <a:pt x="3400" y="6240"/>
                </a:lnTo>
                <a:lnTo>
                  <a:pt x="3640" y="6230"/>
                </a:lnTo>
                <a:lnTo>
                  <a:pt x="3800" y="6230"/>
                </a:lnTo>
                <a:lnTo>
                  <a:pt x="3860" y="6240"/>
                </a:lnTo>
                <a:lnTo>
                  <a:pt x="12020" y="6240"/>
                </a:lnTo>
                <a:lnTo>
                  <a:pt x="12020" y="5410"/>
                </a:lnTo>
                <a:lnTo>
                  <a:pt x="6180" y="5410"/>
                </a:lnTo>
                <a:lnTo>
                  <a:pt x="6170" y="2660"/>
                </a:lnTo>
                <a:lnTo>
                  <a:pt x="6150" y="2290"/>
                </a:lnTo>
                <a:lnTo>
                  <a:pt x="6200" y="1950"/>
                </a:lnTo>
                <a:lnTo>
                  <a:pt x="6310" y="1640"/>
                </a:lnTo>
                <a:lnTo>
                  <a:pt x="6480" y="1360"/>
                </a:lnTo>
                <a:lnTo>
                  <a:pt x="6730" y="1100"/>
                </a:lnTo>
                <a:lnTo>
                  <a:pt x="7040" y="870"/>
                </a:lnTo>
                <a:lnTo>
                  <a:pt x="7420" y="670"/>
                </a:lnTo>
                <a:lnTo>
                  <a:pt x="7860" y="490"/>
                </a:lnTo>
                <a:lnTo>
                  <a:pt x="8370" y="340"/>
                </a:lnTo>
                <a:lnTo>
                  <a:pt x="8950" y="220"/>
                </a:lnTo>
                <a:lnTo>
                  <a:pt x="9590" y="120"/>
                </a:lnTo>
                <a:lnTo>
                  <a:pt x="10300" y="60"/>
                </a:lnTo>
                <a:lnTo>
                  <a:pt x="11070" y="20"/>
                </a:lnTo>
                <a:lnTo>
                  <a:pt x="11910" y="0"/>
                </a:lnTo>
                <a:lnTo>
                  <a:pt x="13180" y="50"/>
                </a:lnTo>
                <a:close/>
                <a:moveTo>
                  <a:pt x="7950" y="2160"/>
                </a:moveTo>
                <a:lnTo>
                  <a:pt x="7720" y="2490"/>
                </a:lnTo>
                <a:lnTo>
                  <a:pt x="7640" y="2900"/>
                </a:lnTo>
                <a:lnTo>
                  <a:pt x="7720" y="3310"/>
                </a:lnTo>
                <a:lnTo>
                  <a:pt x="7950" y="3650"/>
                </a:lnTo>
                <a:lnTo>
                  <a:pt x="8280" y="3870"/>
                </a:lnTo>
                <a:lnTo>
                  <a:pt x="8690" y="3960"/>
                </a:lnTo>
                <a:lnTo>
                  <a:pt x="9100" y="3870"/>
                </a:lnTo>
                <a:lnTo>
                  <a:pt x="9430" y="3650"/>
                </a:lnTo>
                <a:lnTo>
                  <a:pt x="9660" y="3310"/>
                </a:lnTo>
                <a:lnTo>
                  <a:pt x="9740" y="2900"/>
                </a:lnTo>
                <a:lnTo>
                  <a:pt x="9660" y="2490"/>
                </a:lnTo>
                <a:lnTo>
                  <a:pt x="9430" y="2160"/>
                </a:lnTo>
                <a:lnTo>
                  <a:pt x="9100" y="1940"/>
                </a:lnTo>
                <a:lnTo>
                  <a:pt x="8690" y="1850"/>
                </a:lnTo>
                <a:lnTo>
                  <a:pt x="8280" y="1940"/>
                </a:lnTo>
                <a:close/>
                <a:moveTo>
                  <a:pt x="21040" y="6110"/>
                </a:moveTo>
                <a:lnTo>
                  <a:pt x="21320" y="6170"/>
                </a:lnTo>
                <a:lnTo>
                  <a:pt x="21640" y="6290"/>
                </a:lnTo>
                <a:lnTo>
                  <a:pt x="21990" y="6470"/>
                </a:lnTo>
                <a:lnTo>
                  <a:pt x="22350" y="6740"/>
                </a:lnTo>
                <a:lnTo>
                  <a:pt x="22710" y="7090"/>
                </a:lnTo>
                <a:lnTo>
                  <a:pt x="23060" y="7560"/>
                </a:lnTo>
                <a:lnTo>
                  <a:pt x="23380" y="8150"/>
                </a:lnTo>
                <a:lnTo>
                  <a:pt x="23660" y="8880"/>
                </a:lnTo>
                <a:lnTo>
                  <a:pt x="23870" y="9760"/>
                </a:lnTo>
                <a:lnTo>
                  <a:pt x="24010" y="10800"/>
                </a:lnTo>
                <a:lnTo>
                  <a:pt x="24060" y="12030"/>
                </a:lnTo>
                <a:lnTo>
                  <a:pt x="24000" y="13260"/>
                </a:lnTo>
                <a:lnTo>
                  <a:pt x="23840" y="14300"/>
                </a:lnTo>
                <a:lnTo>
                  <a:pt x="23600" y="15160"/>
                </a:lnTo>
                <a:lnTo>
                  <a:pt x="23280" y="15870"/>
                </a:lnTo>
                <a:lnTo>
                  <a:pt x="22920" y="16440"/>
                </a:lnTo>
                <a:lnTo>
                  <a:pt x="22520" y="16890"/>
                </a:lnTo>
                <a:lnTo>
                  <a:pt x="22100" y="17220"/>
                </a:lnTo>
                <a:lnTo>
                  <a:pt x="21680" y="17460"/>
                </a:lnTo>
                <a:lnTo>
                  <a:pt x="21280" y="17620"/>
                </a:lnTo>
                <a:lnTo>
                  <a:pt x="20920" y="17710"/>
                </a:lnTo>
                <a:lnTo>
                  <a:pt x="20600" y="17760"/>
                </a:lnTo>
                <a:lnTo>
                  <a:pt x="20360" y="17780"/>
                </a:lnTo>
                <a:lnTo>
                  <a:pt x="20200" y="17770"/>
                </a:lnTo>
                <a:lnTo>
                  <a:pt x="11980" y="17770"/>
                </a:lnTo>
                <a:lnTo>
                  <a:pt x="11980" y="18590"/>
                </a:lnTo>
                <a:lnTo>
                  <a:pt x="17820" y="18590"/>
                </a:lnTo>
                <a:lnTo>
                  <a:pt x="17830" y="21350"/>
                </a:lnTo>
                <a:lnTo>
                  <a:pt x="17850" y="21710"/>
                </a:lnTo>
                <a:lnTo>
                  <a:pt x="17800" y="22050"/>
                </a:lnTo>
                <a:lnTo>
                  <a:pt x="17690" y="22360"/>
                </a:lnTo>
                <a:lnTo>
                  <a:pt x="17520" y="22650"/>
                </a:lnTo>
                <a:lnTo>
                  <a:pt x="17270" y="22900"/>
                </a:lnTo>
                <a:lnTo>
                  <a:pt x="16960" y="23140"/>
                </a:lnTo>
                <a:lnTo>
                  <a:pt x="16580" y="23340"/>
                </a:lnTo>
                <a:lnTo>
                  <a:pt x="16140" y="23510"/>
                </a:lnTo>
                <a:lnTo>
                  <a:pt x="15630" y="23660"/>
                </a:lnTo>
                <a:lnTo>
                  <a:pt x="15050" y="23790"/>
                </a:lnTo>
                <a:lnTo>
                  <a:pt x="14410" y="23880"/>
                </a:lnTo>
                <a:lnTo>
                  <a:pt x="13700" y="23950"/>
                </a:lnTo>
                <a:lnTo>
                  <a:pt x="12930" y="23990"/>
                </a:lnTo>
                <a:lnTo>
                  <a:pt x="12090" y="24000"/>
                </a:lnTo>
                <a:lnTo>
                  <a:pt x="10820" y="23960"/>
                </a:lnTo>
                <a:lnTo>
                  <a:pt x="9750" y="23820"/>
                </a:lnTo>
                <a:lnTo>
                  <a:pt x="8850" y="23620"/>
                </a:lnTo>
                <a:lnTo>
                  <a:pt x="8120" y="23370"/>
                </a:lnTo>
                <a:lnTo>
                  <a:pt x="7530" y="23070"/>
                </a:lnTo>
                <a:lnTo>
                  <a:pt x="7080" y="22740"/>
                </a:lnTo>
                <a:lnTo>
                  <a:pt x="6740" y="22400"/>
                </a:lnTo>
                <a:lnTo>
                  <a:pt x="6490" y="22060"/>
                </a:lnTo>
                <a:lnTo>
                  <a:pt x="6330" y="21730"/>
                </a:lnTo>
                <a:lnTo>
                  <a:pt x="6230" y="21430"/>
                </a:lnTo>
                <a:lnTo>
                  <a:pt x="6190" y="21180"/>
                </a:lnTo>
                <a:lnTo>
                  <a:pt x="6170" y="20980"/>
                </a:lnTo>
                <a:lnTo>
                  <a:pt x="6180" y="20850"/>
                </a:lnTo>
                <a:lnTo>
                  <a:pt x="6180" y="15510"/>
                </a:lnTo>
                <a:lnTo>
                  <a:pt x="6230" y="14870"/>
                </a:lnTo>
                <a:lnTo>
                  <a:pt x="6360" y="14330"/>
                </a:lnTo>
                <a:lnTo>
                  <a:pt x="6570" y="13870"/>
                </a:lnTo>
                <a:lnTo>
                  <a:pt x="6830" y="13490"/>
                </a:lnTo>
                <a:lnTo>
                  <a:pt x="7130" y="13170"/>
                </a:lnTo>
                <a:lnTo>
                  <a:pt x="7460" y="12930"/>
                </a:lnTo>
                <a:lnTo>
                  <a:pt x="7810" y="12730"/>
                </a:lnTo>
                <a:lnTo>
                  <a:pt x="8160" y="12590"/>
                </a:lnTo>
                <a:lnTo>
                  <a:pt x="8490" y="12490"/>
                </a:lnTo>
                <a:lnTo>
                  <a:pt x="8790" y="12430"/>
                </a:lnTo>
                <a:lnTo>
                  <a:pt x="9050" y="12390"/>
                </a:lnTo>
                <a:lnTo>
                  <a:pt x="9260" y="12370"/>
                </a:lnTo>
                <a:lnTo>
                  <a:pt x="9390" y="12360"/>
                </a:lnTo>
                <a:lnTo>
                  <a:pt x="15230" y="12360"/>
                </a:lnTo>
                <a:lnTo>
                  <a:pt x="15920" y="12310"/>
                </a:lnTo>
                <a:lnTo>
                  <a:pt x="16510" y="12170"/>
                </a:lnTo>
                <a:lnTo>
                  <a:pt x="17010" y="11960"/>
                </a:lnTo>
                <a:lnTo>
                  <a:pt x="17420" y="11680"/>
                </a:lnTo>
                <a:lnTo>
                  <a:pt x="17750" y="11360"/>
                </a:lnTo>
                <a:lnTo>
                  <a:pt x="18020" y="11010"/>
                </a:lnTo>
                <a:lnTo>
                  <a:pt x="18220" y="10650"/>
                </a:lnTo>
                <a:lnTo>
                  <a:pt x="18370" y="10290"/>
                </a:lnTo>
                <a:lnTo>
                  <a:pt x="18470" y="9940"/>
                </a:lnTo>
                <a:lnTo>
                  <a:pt x="18540" y="9620"/>
                </a:lnTo>
                <a:lnTo>
                  <a:pt x="18580" y="9340"/>
                </a:lnTo>
                <a:lnTo>
                  <a:pt x="18600" y="9130"/>
                </a:lnTo>
                <a:lnTo>
                  <a:pt x="18600" y="6070"/>
                </a:lnTo>
                <a:lnTo>
                  <a:pt x="20690" y="6070"/>
                </a:lnTo>
                <a:lnTo>
                  <a:pt x="20830" y="6080"/>
                </a:lnTo>
                <a:close/>
                <a:moveTo>
                  <a:pt x="14570" y="20360"/>
                </a:moveTo>
                <a:lnTo>
                  <a:pt x="14340" y="20690"/>
                </a:lnTo>
                <a:lnTo>
                  <a:pt x="14260" y="21100"/>
                </a:lnTo>
                <a:lnTo>
                  <a:pt x="14340" y="21510"/>
                </a:lnTo>
                <a:lnTo>
                  <a:pt x="14570" y="21840"/>
                </a:lnTo>
                <a:lnTo>
                  <a:pt x="14900" y="22070"/>
                </a:lnTo>
                <a:lnTo>
                  <a:pt x="15310" y="22150"/>
                </a:lnTo>
                <a:lnTo>
                  <a:pt x="15720" y="22070"/>
                </a:lnTo>
                <a:lnTo>
                  <a:pt x="16050" y="21840"/>
                </a:lnTo>
                <a:lnTo>
                  <a:pt x="16280" y="21510"/>
                </a:lnTo>
                <a:lnTo>
                  <a:pt x="16360" y="21100"/>
                </a:lnTo>
                <a:lnTo>
                  <a:pt x="16280" y="20690"/>
                </a:lnTo>
                <a:lnTo>
                  <a:pt x="16050" y="20360"/>
                </a:lnTo>
                <a:lnTo>
                  <a:pt x="15720" y="20130"/>
                </a:lnTo>
                <a:lnTo>
                  <a:pt x="15310" y="20050"/>
                </a:lnTo>
                <a:lnTo>
                  <a:pt x="14900" y="20130"/>
                </a:lnTo>
                <a:close/>
              </a:path>
            </a:pathLst>
          </a:custGeom>
          <a:solidFill>
            <a:srgbClr val="3776AB"/>
          </a:solidFill>
          <a:ln>
            <a:noFill/>
          </a:ln>
          <a:effectLst/>
        </p:spPr>
        <p:txBody>
          <a:bodyPr rtlCol="0" anchor="ctr"/>
          <a:lstStyle/>
          <a:p/>
        </p:txBody>
      </p:sp>
      <p:sp>
        <p:nvSpPr>
          <p:cNvPr id="25" name="TextBox 24"/>
          <p:cNvSpPr txBox="1"/>
          <p:nvPr/>
        </p:nvSpPr>
        <p:spPr>
          <a:xfrm>
            <a:off x="4800600" y="2432304"/>
            <a:ext cx="612648" cy="201168"/>
          </a:xfrm>
          <a:prstGeom prst="rect">
            <a:avLst/>
          </a:prstGeom>
          <a:noFill/>
        </p:spPr>
        <p:txBody>
          <a:bodyPr wrap="square" lIns="0" rIns="0" tIns="18288" bIns="18288" anchor="t">
            <a:noAutofit/>
          </a:bodyPr>
          <a:lstStyle/>
          <a:p>
            <a:pPr algn="r"/>
            <a:r>
              <a:rPr sz="900" b="0" i="0" lang="ko-KR" altLang="en-US">
                <a:solidFill>
                  <a:srgbClr val="595959"/>
                </a:solidFill>
                <a:latin typeface="LG스마트체 Regular"/>
                <a:ea typeface="LG스마트체 Regular"/>
                <a:cs typeface="LG스마트체 Regular"/>
              </a:rPr>
              <a:t>Python</a:t>
            </a:r>
          </a:p>
        </p:txBody>
      </p:sp>
      <p:sp>
        <p:nvSpPr>
          <p:cNvPr id="26" name="icon-fastapi"/>
          <p:cNvSpPr/>
          <p:nvPr/>
        </p:nvSpPr>
        <p:spPr>
          <a:xfrm>
            <a:off x="2852928" y="2715768"/>
            <a:ext cx="201168" cy="201168"/>
          </a:xfrm>
          <a:custGeom>
            <a:avLst/>
            <a:gdLst/>
            <a:ahLst/>
            <a:cxnLst/>
            <a:rect l="0" t="0" r="r" b="b"/>
            <a:pathLst>
              <a:path w="24000" h="24000" stroke="0">
                <a:moveTo>
                  <a:pt x="12000" y="39"/>
                </a:moveTo>
                <a:cubicBezTo>
                  <a:pt x="5373" y="38"/>
                  <a:pt x="0" y="5393"/>
                  <a:pt x="0" y="11999"/>
                </a:cubicBezTo>
                <a:cubicBezTo>
                  <a:pt x="-1" y="18605"/>
                  <a:pt x="5372" y="23962"/>
                  <a:pt x="12000" y="23961"/>
                </a:cubicBezTo>
                <a:cubicBezTo>
                  <a:pt x="18628" y="23962"/>
                  <a:pt x="24001" y="18605"/>
                  <a:pt x="24000" y="11999"/>
                </a:cubicBezTo>
                <a:cubicBezTo>
                  <a:pt x="24000" y="5393"/>
                  <a:pt x="18627" y="38"/>
                  <a:pt x="12000" y="39"/>
                </a:cubicBezTo>
                <a:moveTo>
                  <a:pt x="11171" y="5454"/>
                </a:moveTo>
                <a:lnTo>
                  <a:pt x="18721" y="5454"/>
                </a:lnTo>
                <a:lnTo>
                  <a:pt x="11140" y="10782"/>
                </a:lnTo>
                <a:lnTo>
                  <a:pt x="16323" y="10782"/>
                </a:lnTo>
                <a:lnTo>
                  <a:pt x="5279" y="18544"/>
                </a:lnTo>
                <a:cubicBezTo>
                  <a:pt x="7243" y="14181"/>
                  <a:pt x="9207" y="9817"/>
                  <a:pt x="11171" y="5454"/>
                </a:cubicBezTo>
              </a:path>
            </a:pathLst>
          </a:custGeom>
          <a:solidFill>
            <a:srgbClr val="009688"/>
          </a:solidFill>
          <a:ln>
            <a:noFill/>
          </a:ln>
          <a:effectLst/>
        </p:spPr>
        <p:txBody>
          <a:bodyPr rtlCol="0" anchor="ctr"/>
          <a:lstStyle/>
          <a:p/>
        </p:txBody>
      </p:sp>
      <p:sp>
        <p:nvSpPr>
          <p:cNvPr id="27" name="TextBox 26"/>
          <p:cNvSpPr txBox="1"/>
          <p:nvPr/>
        </p:nvSpPr>
        <p:spPr>
          <a:xfrm>
            <a:off x="3127248" y="2697480"/>
            <a:ext cx="2103120" cy="228600"/>
          </a:xfrm>
          <a:prstGeom prst="rect">
            <a:avLst/>
          </a:prstGeom>
          <a:noFill/>
        </p:spPr>
        <p:txBody>
          <a:bodyPr wrap="square" lIns="0" rIns="0" tIns="18288" bIns="18288" anchor="t">
            <a:noAutofit/>
          </a:bodyPr>
          <a:lstStyle/>
          <a:p>
            <a:pPr algn="l"/>
            <a:r>
              <a:rPr sz="950" b="0" i="0" lang="ko-KR" altLang="en-US">
                <a:solidFill>
                  <a:srgbClr val="262626"/>
                </a:solidFill>
                <a:latin typeface="LG스마트체 Regular"/>
                <a:ea typeface="LG스마트체 Regular"/>
                <a:cs typeface="LG스마트체 Regular"/>
              </a:rPr>
              <a:t>FastAPI · Uvicorn (worker 1)</a:t>
            </a:r>
          </a:p>
        </p:txBody>
      </p:sp>
      <p:sp>
        <p:nvSpPr>
          <p:cNvPr id="28" name="conflict-C2"/>
          <p:cNvSpPr txBox="1"/>
          <p:nvPr/>
        </p:nvSpPr>
        <p:spPr>
          <a:xfrm>
            <a:off x="5285232" y="2715768"/>
            <a:ext cx="384048" cy="182880"/>
          </a:xfrm>
          <a:prstGeom prst="rect">
            <a:avLst/>
          </a:prstGeom>
          <a:noFill/>
        </p:spPr>
        <p:txBody>
          <a:bodyPr wrap="square" lIns="0" rIns="0" tIns="18288" bIns="18288" anchor="t">
            <a:noAutofit/>
          </a:bodyPr>
          <a:lstStyle/>
          <a:p>
            <a:pPr algn="l"/>
            <a:r>
              <a:rPr sz="900" b="1" i="0" lang="ko-KR" altLang="en-US">
                <a:solidFill>
                  <a:srgbClr val="C00000"/>
                </a:solidFill>
                <a:latin typeface="LG스마트체 Regular"/>
                <a:ea typeface="LG스마트체 Regular"/>
                <a:cs typeface="LG스마트체 Regular"/>
              </a:rPr>
              <a:t>◆</a:t>
            </a:r>
            <a:r>
              <a:rPr sz="900" b="1" i="0" lang="ko-KR" altLang="en-US">
                <a:solidFill>
                  <a:srgbClr val="C00000"/>
                </a:solidFill>
                <a:latin typeface="LG스마트체 Regular"/>
                <a:ea typeface="LG스마트체 Regular"/>
                <a:cs typeface="LG스마트체 Regular"/>
              </a:rPr>
              <a:t>C2</a:t>
            </a:r>
          </a:p>
        </p:txBody>
      </p:sp>
      <p:sp>
        <p:nvSpPr>
          <p:cNvPr id="29" name="icon-react"/>
          <p:cNvSpPr/>
          <p:nvPr/>
        </p:nvSpPr>
        <p:spPr>
          <a:xfrm>
            <a:off x="2852928" y="2990088"/>
            <a:ext cx="201168" cy="201168"/>
          </a:xfrm>
          <a:custGeom>
            <a:avLst/>
            <a:gdLst/>
            <a:ahLst/>
            <a:cxnLst/>
            <a:rect l="0" t="0" r="r" b="b"/>
            <a:pathLst>
              <a:path w="24000" h="24000" stroke="0">
                <a:moveTo>
                  <a:pt x="14230" y="12004"/>
                </a:moveTo>
                <a:cubicBezTo>
                  <a:pt x="14230" y="13239"/>
                  <a:pt x="13230" y="14239"/>
                  <a:pt x="11995" y="14240"/>
                </a:cubicBezTo>
                <a:cubicBezTo>
                  <a:pt x="11402" y="14240"/>
                  <a:pt x="10833" y="14004"/>
                  <a:pt x="10414" y="13585"/>
                </a:cubicBezTo>
                <a:cubicBezTo>
                  <a:pt x="9995" y="13166"/>
                  <a:pt x="9759" y="12597"/>
                  <a:pt x="9759" y="12004"/>
                </a:cubicBezTo>
                <a:cubicBezTo>
                  <a:pt x="9759" y="10769"/>
                  <a:pt x="10759" y="9769"/>
                  <a:pt x="11994" y="9768"/>
                </a:cubicBezTo>
                <a:cubicBezTo>
                  <a:pt x="12587" y="9768"/>
                  <a:pt x="13156" y="10004"/>
                  <a:pt x="13575" y="10423"/>
                </a:cubicBezTo>
                <a:cubicBezTo>
                  <a:pt x="13994" y="10842"/>
                  <a:pt x="14230" y="11411"/>
                  <a:pt x="14230" y="12004"/>
                </a:cubicBezTo>
                <a:close/>
                <a:moveTo>
                  <a:pt x="16878" y="1314"/>
                </a:moveTo>
                <a:cubicBezTo>
                  <a:pt x="15532" y="1314"/>
                  <a:pt x="13771" y="2274"/>
                  <a:pt x="11990" y="3936"/>
                </a:cubicBezTo>
                <a:cubicBezTo>
                  <a:pt x="10210" y="2283"/>
                  <a:pt x="8448" y="1334"/>
                  <a:pt x="7103" y="1334"/>
                </a:cubicBezTo>
                <a:cubicBezTo>
                  <a:pt x="6693" y="1334"/>
                  <a:pt x="6320" y="1427"/>
                  <a:pt x="5997" y="1612"/>
                </a:cubicBezTo>
                <a:cubicBezTo>
                  <a:pt x="4622" y="2405"/>
                  <a:pt x="4314" y="4876"/>
                  <a:pt x="5024" y="7977"/>
                </a:cubicBezTo>
                <a:cubicBezTo>
                  <a:pt x="1980" y="8917"/>
                  <a:pt x="0" y="10420"/>
                  <a:pt x="0" y="12004"/>
                </a:cubicBezTo>
                <a:cubicBezTo>
                  <a:pt x="0" y="13594"/>
                  <a:pt x="1990" y="15101"/>
                  <a:pt x="5043" y="16034"/>
                </a:cubicBezTo>
                <a:cubicBezTo>
                  <a:pt x="4339" y="19147"/>
                  <a:pt x="4653" y="21622"/>
                  <a:pt x="6031" y="22414"/>
                </a:cubicBezTo>
                <a:cubicBezTo>
                  <a:pt x="6351" y="22601"/>
                  <a:pt x="6721" y="22689"/>
                  <a:pt x="7133" y="22689"/>
                </a:cubicBezTo>
                <a:cubicBezTo>
                  <a:pt x="8478" y="22689"/>
                  <a:pt x="10240" y="21729"/>
                  <a:pt x="12021" y="20065"/>
                </a:cubicBezTo>
                <a:cubicBezTo>
                  <a:pt x="13801" y="21719"/>
                  <a:pt x="15563" y="22668"/>
                  <a:pt x="16908" y="22668"/>
                </a:cubicBezTo>
                <a:cubicBezTo>
                  <a:pt x="17318" y="22668"/>
                  <a:pt x="17691" y="22578"/>
                  <a:pt x="18014" y="22393"/>
                </a:cubicBezTo>
                <a:cubicBezTo>
                  <a:pt x="19388" y="21601"/>
                  <a:pt x="19697" y="19130"/>
                  <a:pt x="18987" y="16028"/>
                </a:cubicBezTo>
                <a:cubicBezTo>
                  <a:pt x="22020" y="15096"/>
                  <a:pt x="24000" y="13590"/>
                  <a:pt x="24000" y="12004"/>
                </a:cubicBezTo>
                <a:cubicBezTo>
                  <a:pt x="24000" y="10414"/>
                  <a:pt x="22010" y="8907"/>
                  <a:pt x="18957" y="7972"/>
                </a:cubicBezTo>
                <a:cubicBezTo>
                  <a:pt x="19661" y="4862"/>
                  <a:pt x="19347" y="2385"/>
                  <a:pt x="17969" y="1592"/>
                </a:cubicBezTo>
                <a:cubicBezTo>
                  <a:pt x="17651" y="1408"/>
                  <a:pt x="17281" y="1315"/>
                  <a:pt x="16877" y="1314"/>
                </a:cubicBezTo>
                <a:close/>
                <a:moveTo>
                  <a:pt x="16873" y="2404"/>
                </a:moveTo>
                <a:lnTo>
                  <a:pt x="16873" y="2410"/>
                </a:lnTo>
                <a:cubicBezTo>
                  <a:pt x="17098" y="2410"/>
                  <a:pt x="17279" y="2454"/>
                  <a:pt x="17431" y="2537"/>
                </a:cubicBezTo>
                <a:cubicBezTo>
                  <a:pt x="18097" y="2919"/>
                  <a:pt x="18386" y="4372"/>
                  <a:pt x="18161" y="6241"/>
                </a:cubicBezTo>
                <a:cubicBezTo>
                  <a:pt x="18107" y="6701"/>
                  <a:pt x="18019" y="7186"/>
                  <a:pt x="17911" y="7681"/>
                </a:cubicBezTo>
                <a:cubicBezTo>
                  <a:pt x="16951" y="7445"/>
                  <a:pt x="15905" y="7264"/>
                  <a:pt x="14804" y="7147"/>
                </a:cubicBezTo>
                <a:cubicBezTo>
                  <a:pt x="14144" y="6242"/>
                  <a:pt x="13459" y="5420"/>
                  <a:pt x="12769" y="4700"/>
                </a:cubicBezTo>
                <a:cubicBezTo>
                  <a:pt x="14361" y="3220"/>
                  <a:pt x="15856" y="2408"/>
                  <a:pt x="16874" y="2405"/>
                </a:cubicBezTo>
                <a:close/>
                <a:moveTo>
                  <a:pt x="7103" y="2424"/>
                </a:moveTo>
                <a:cubicBezTo>
                  <a:pt x="8115" y="2424"/>
                  <a:pt x="9617" y="3232"/>
                  <a:pt x="11213" y="4704"/>
                </a:cubicBezTo>
                <a:cubicBezTo>
                  <a:pt x="10527" y="5424"/>
                  <a:pt x="9843" y="6241"/>
                  <a:pt x="9193" y="7146"/>
                </a:cubicBezTo>
                <a:cubicBezTo>
                  <a:pt x="8086" y="7263"/>
                  <a:pt x="7039" y="7444"/>
                  <a:pt x="6080" y="7684"/>
                </a:cubicBezTo>
                <a:cubicBezTo>
                  <a:pt x="5968" y="7194"/>
                  <a:pt x="5885" y="6720"/>
                  <a:pt x="5826" y="6264"/>
                </a:cubicBezTo>
                <a:cubicBezTo>
                  <a:pt x="5596" y="4396"/>
                  <a:pt x="5880" y="2944"/>
                  <a:pt x="6540" y="2557"/>
                </a:cubicBezTo>
                <a:cubicBezTo>
                  <a:pt x="6730" y="2467"/>
                  <a:pt x="6940" y="2430"/>
                  <a:pt x="7103" y="2425"/>
                </a:cubicBezTo>
                <a:close/>
                <a:moveTo>
                  <a:pt x="11985" y="5474"/>
                </a:moveTo>
                <a:cubicBezTo>
                  <a:pt x="12440" y="5942"/>
                  <a:pt x="12895" y="6466"/>
                  <a:pt x="13345" y="7038"/>
                </a:cubicBezTo>
                <a:cubicBezTo>
                  <a:pt x="12905" y="7018"/>
                  <a:pt x="12455" y="7004"/>
                  <a:pt x="12000" y="7004"/>
                </a:cubicBezTo>
                <a:cubicBezTo>
                  <a:pt x="11540" y="7004"/>
                  <a:pt x="11085" y="7014"/>
                  <a:pt x="10640" y="7038"/>
                </a:cubicBezTo>
                <a:cubicBezTo>
                  <a:pt x="11080" y="6466"/>
                  <a:pt x="11535" y="5942"/>
                  <a:pt x="11985" y="5473"/>
                </a:cubicBezTo>
                <a:close/>
                <a:moveTo>
                  <a:pt x="12000" y="8100"/>
                </a:moveTo>
                <a:cubicBezTo>
                  <a:pt x="12740" y="8100"/>
                  <a:pt x="13477" y="8134"/>
                  <a:pt x="14202" y="8193"/>
                </a:cubicBezTo>
                <a:cubicBezTo>
                  <a:pt x="14608" y="8775"/>
                  <a:pt x="15004" y="9396"/>
                  <a:pt x="15385" y="10053"/>
                </a:cubicBezTo>
                <a:cubicBezTo>
                  <a:pt x="15757" y="10693"/>
                  <a:pt x="16095" y="11343"/>
                  <a:pt x="16403" y="11999"/>
                </a:cubicBezTo>
                <a:cubicBezTo>
                  <a:pt x="16095" y="12654"/>
                  <a:pt x="15757" y="13309"/>
                  <a:pt x="15390" y="13949"/>
                </a:cubicBezTo>
                <a:cubicBezTo>
                  <a:pt x="15010" y="14609"/>
                  <a:pt x="14617" y="15237"/>
                  <a:pt x="14210" y="15819"/>
                </a:cubicBezTo>
                <a:cubicBezTo>
                  <a:pt x="13482" y="15882"/>
                  <a:pt x="12744" y="15917"/>
                  <a:pt x="12000" y="15917"/>
                </a:cubicBezTo>
                <a:cubicBezTo>
                  <a:pt x="11260" y="15917"/>
                  <a:pt x="10523" y="15882"/>
                  <a:pt x="9798" y="15824"/>
                </a:cubicBezTo>
                <a:cubicBezTo>
                  <a:pt x="9392" y="15242"/>
                  <a:pt x="8996" y="14620"/>
                  <a:pt x="8615" y="13964"/>
                </a:cubicBezTo>
                <a:cubicBezTo>
                  <a:pt x="8243" y="13324"/>
                  <a:pt x="7905" y="12674"/>
                  <a:pt x="7597" y="12018"/>
                </a:cubicBezTo>
                <a:cubicBezTo>
                  <a:pt x="7900" y="11361"/>
                  <a:pt x="8243" y="10705"/>
                  <a:pt x="8610" y="10064"/>
                </a:cubicBezTo>
                <a:cubicBezTo>
                  <a:pt x="8990" y="9404"/>
                  <a:pt x="9383" y="8778"/>
                  <a:pt x="9790" y="8196"/>
                </a:cubicBezTo>
                <a:cubicBezTo>
                  <a:pt x="10518" y="8132"/>
                  <a:pt x="11256" y="8098"/>
                  <a:pt x="12000" y="8098"/>
                </a:cubicBezTo>
                <a:close/>
                <a:moveTo>
                  <a:pt x="8365" y="8354"/>
                </a:moveTo>
                <a:cubicBezTo>
                  <a:pt x="8125" y="8731"/>
                  <a:pt x="7885" y="9117"/>
                  <a:pt x="7661" y="9514"/>
                </a:cubicBezTo>
                <a:cubicBezTo>
                  <a:pt x="7436" y="9904"/>
                  <a:pt x="7226" y="10296"/>
                  <a:pt x="7026" y="10688"/>
                </a:cubicBezTo>
                <a:cubicBezTo>
                  <a:pt x="6761" y="10032"/>
                  <a:pt x="6536" y="9378"/>
                  <a:pt x="6350" y="8741"/>
                </a:cubicBezTo>
                <a:cubicBezTo>
                  <a:pt x="6990" y="8591"/>
                  <a:pt x="7665" y="8458"/>
                  <a:pt x="8365" y="8355"/>
                </a:cubicBezTo>
                <a:close/>
                <a:moveTo>
                  <a:pt x="15625" y="8354"/>
                </a:moveTo>
                <a:cubicBezTo>
                  <a:pt x="16320" y="8457"/>
                  <a:pt x="16990" y="8584"/>
                  <a:pt x="17631" y="8741"/>
                </a:cubicBezTo>
                <a:cubicBezTo>
                  <a:pt x="17451" y="9373"/>
                  <a:pt x="17226" y="10023"/>
                  <a:pt x="16971" y="10674"/>
                </a:cubicBezTo>
                <a:cubicBezTo>
                  <a:pt x="16771" y="10284"/>
                  <a:pt x="16561" y="9891"/>
                  <a:pt x="16331" y="9500"/>
                </a:cubicBezTo>
                <a:cubicBezTo>
                  <a:pt x="16106" y="9108"/>
                  <a:pt x="15866" y="8726"/>
                  <a:pt x="15626" y="8354"/>
                </a:cubicBezTo>
                <a:close/>
                <a:moveTo>
                  <a:pt x="18688" y="9029"/>
                </a:moveTo>
                <a:cubicBezTo>
                  <a:pt x="19172" y="9179"/>
                  <a:pt x="19632" y="9346"/>
                  <a:pt x="20063" y="9527"/>
                </a:cubicBezTo>
                <a:cubicBezTo>
                  <a:pt x="21795" y="10267"/>
                  <a:pt x="22915" y="11235"/>
                  <a:pt x="22915" y="12003"/>
                </a:cubicBezTo>
                <a:cubicBezTo>
                  <a:pt x="22910" y="12771"/>
                  <a:pt x="21790" y="13743"/>
                  <a:pt x="20058" y="14478"/>
                </a:cubicBezTo>
                <a:cubicBezTo>
                  <a:pt x="19638" y="14658"/>
                  <a:pt x="19178" y="14820"/>
                  <a:pt x="18703" y="14971"/>
                </a:cubicBezTo>
                <a:cubicBezTo>
                  <a:pt x="18423" y="14013"/>
                  <a:pt x="18057" y="13015"/>
                  <a:pt x="17603" y="11991"/>
                </a:cubicBezTo>
                <a:cubicBezTo>
                  <a:pt x="18053" y="10974"/>
                  <a:pt x="18413" y="9981"/>
                  <a:pt x="18688" y="9027"/>
                </a:cubicBezTo>
                <a:close/>
                <a:moveTo>
                  <a:pt x="5293" y="9033"/>
                </a:moveTo>
                <a:cubicBezTo>
                  <a:pt x="5571" y="9993"/>
                  <a:pt x="5938" y="10990"/>
                  <a:pt x="6393" y="12013"/>
                </a:cubicBezTo>
                <a:cubicBezTo>
                  <a:pt x="5943" y="13030"/>
                  <a:pt x="5581" y="14023"/>
                  <a:pt x="5307" y="14977"/>
                </a:cubicBezTo>
                <a:cubicBezTo>
                  <a:pt x="4823" y="14827"/>
                  <a:pt x="4363" y="14659"/>
                  <a:pt x="3937" y="14477"/>
                </a:cubicBezTo>
                <a:cubicBezTo>
                  <a:pt x="2205" y="13740"/>
                  <a:pt x="1085" y="12771"/>
                  <a:pt x="1085" y="12003"/>
                </a:cubicBezTo>
                <a:cubicBezTo>
                  <a:pt x="1085" y="11235"/>
                  <a:pt x="2205" y="10261"/>
                  <a:pt x="3937" y="9527"/>
                </a:cubicBezTo>
                <a:cubicBezTo>
                  <a:pt x="4357" y="9347"/>
                  <a:pt x="4817" y="9185"/>
                  <a:pt x="5293" y="9033"/>
                </a:cubicBezTo>
                <a:close/>
                <a:moveTo>
                  <a:pt x="16971" y="13313"/>
                </a:moveTo>
                <a:cubicBezTo>
                  <a:pt x="17236" y="13970"/>
                  <a:pt x="17461" y="14625"/>
                  <a:pt x="17647" y="15261"/>
                </a:cubicBezTo>
                <a:cubicBezTo>
                  <a:pt x="17007" y="15418"/>
                  <a:pt x="16331" y="15551"/>
                  <a:pt x="15631" y="15651"/>
                </a:cubicBezTo>
                <a:cubicBezTo>
                  <a:pt x="15871" y="15276"/>
                  <a:pt x="16111" y="14889"/>
                  <a:pt x="16336" y="14493"/>
                </a:cubicBezTo>
                <a:cubicBezTo>
                  <a:pt x="16561" y="14103"/>
                  <a:pt x="16771" y="13705"/>
                  <a:pt x="16972" y="13313"/>
                </a:cubicBezTo>
                <a:close/>
                <a:moveTo>
                  <a:pt x="7026" y="13333"/>
                </a:moveTo>
                <a:cubicBezTo>
                  <a:pt x="7226" y="13725"/>
                  <a:pt x="7436" y="14116"/>
                  <a:pt x="7666" y="14508"/>
                </a:cubicBezTo>
                <a:cubicBezTo>
                  <a:pt x="7896" y="14898"/>
                  <a:pt x="8131" y="15280"/>
                  <a:pt x="8371" y="15651"/>
                </a:cubicBezTo>
                <a:cubicBezTo>
                  <a:pt x="7676" y="15549"/>
                  <a:pt x="7006" y="15421"/>
                  <a:pt x="6365" y="15265"/>
                </a:cubicBezTo>
                <a:cubicBezTo>
                  <a:pt x="6545" y="14635"/>
                  <a:pt x="6771" y="13983"/>
                  <a:pt x="7025" y="13332"/>
                </a:cubicBezTo>
                <a:close/>
                <a:moveTo>
                  <a:pt x="17920" y="16320"/>
                </a:moveTo>
                <a:cubicBezTo>
                  <a:pt x="18032" y="16813"/>
                  <a:pt x="18120" y="17288"/>
                  <a:pt x="18174" y="17743"/>
                </a:cubicBezTo>
                <a:cubicBezTo>
                  <a:pt x="18404" y="19611"/>
                  <a:pt x="18120" y="21063"/>
                  <a:pt x="17460" y="21451"/>
                </a:cubicBezTo>
                <a:cubicBezTo>
                  <a:pt x="17313" y="21541"/>
                  <a:pt x="17122" y="21579"/>
                  <a:pt x="16897" y="21579"/>
                </a:cubicBezTo>
                <a:cubicBezTo>
                  <a:pt x="15885" y="21579"/>
                  <a:pt x="14383" y="20772"/>
                  <a:pt x="12787" y="19299"/>
                </a:cubicBezTo>
                <a:cubicBezTo>
                  <a:pt x="13473" y="18579"/>
                  <a:pt x="14157" y="17763"/>
                  <a:pt x="14807" y="16859"/>
                </a:cubicBezTo>
                <a:cubicBezTo>
                  <a:pt x="15914" y="16741"/>
                  <a:pt x="16961" y="16559"/>
                  <a:pt x="17920" y="16319"/>
                </a:cubicBezTo>
                <a:close/>
                <a:moveTo>
                  <a:pt x="6090" y="16330"/>
                </a:moveTo>
                <a:cubicBezTo>
                  <a:pt x="7050" y="16564"/>
                  <a:pt x="8096" y="16745"/>
                  <a:pt x="9197" y="16862"/>
                </a:cubicBezTo>
                <a:cubicBezTo>
                  <a:pt x="9857" y="17767"/>
                  <a:pt x="10542" y="18589"/>
                  <a:pt x="11232" y="19308"/>
                </a:cubicBezTo>
                <a:cubicBezTo>
                  <a:pt x="9637" y="20791"/>
                  <a:pt x="8140" y="21603"/>
                  <a:pt x="7122" y="21603"/>
                </a:cubicBezTo>
                <a:cubicBezTo>
                  <a:pt x="6902" y="21598"/>
                  <a:pt x="6716" y="21553"/>
                  <a:pt x="6569" y="21471"/>
                </a:cubicBezTo>
                <a:cubicBezTo>
                  <a:pt x="5903" y="21091"/>
                  <a:pt x="5614" y="19637"/>
                  <a:pt x="5839" y="17768"/>
                </a:cubicBezTo>
                <a:cubicBezTo>
                  <a:pt x="5893" y="17308"/>
                  <a:pt x="5981" y="16824"/>
                  <a:pt x="6089" y="16330"/>
                </a:cubicBezTo>
                <a:close/>
                <a:moveTo>
                  <a:pt x="10650" y="16970"/>
                </a:moveTo>
                <a:cubicBezTo>
                  <a:pt x="11090" y="16990"/>
                  <a:pt x="11540" y="17004"/>
                  <a:pt x="11995" y="17004"/>
                </a:cubicBezTo>
                <a:cubicBezTo>
                  <a:pt x="12455" y="17004"/>
                  <a:pt x="12910" y="16994"/>
                  <a:pt x="13355" y="16970"/>
                </a:cubicBezTo>
                <a:cubicBezTo>
                  <a:pt x="12915" y="17542"/>
                  <a:pt x="12460" y="18065"/>
                  <a:pt x="12010" y="18535"/>
                </a:cubicBezTo>
                <a:cubicBezTo>
                  <a:pt x="11555" y="18065"/>
                  <a:pt x="11100" y="17542"/>
                  <a:pt x="10650" y="16970"/>
                </a:cubicBezTo>
                <a:close/>
              </a:path>
            </a:pathLst>
          </a:custGeom>
          <a:solidFill>
            <a:srgbClr val="61DAFB"/>
          </a:solidFill>
          <a:ln>
            <a:noFill/>
          </a:ln>
          <a:effectLst/>
        </p:spPr>
        <p:txBody>
          <a:bodyPr rtlCol="0" anchor="ctr"/>
          <a:lstStyle/>
          <a:p/>
        </p:txBody>
      </p:sp>
      <p:sp>
        <p:nvSpPr>
          <p:cNvPr id="30" name="icon-vite"/>
          <p:cNvSpPr/>
          <p:nvPr/>
        </p:nvSpPr>
        <p:spPr>
          <a:xfrm>
            <a:off x="3090672" y="2990088"/>
            <a:ext cx="201168" cy="201168"/>
          </a:xfrm>
          <a:custGeom>
            <a:avLst/>
            <a:gdLst/>
            <a:ahLst/>
            <a:cxnLst/>
            <a:rect l="0" t="0" r="r" b="b"/>
            <a:pathLst>
              <a:path w="24000" h="24000" stroke="0">
                <a:moveTo>
                  <a:pt x="8286" y="10578"/>
                </a:moveTo>
                <a:lnTo>
                  <a:pt x="8798" y="1921"/>
                </a:lnTo>
                <a:cubicBezTo>
                  <a:pt x="8806" y="1782"/>
                  <a:pt x="8908" y="1666"/>
                  <a:pt x="9045" y="1639"/>
                </a:cubicBezTo>
                <a:lnTo>
                  <a:pt x="17377" y="6"/>
                </a:lnTo>
                <a:cubicBezTo>
                  <a:pt x="17482" y="-15"/>
                  <a:pt x="17589" y="21"/>
                  <a:pt x="17662" y="99"/>
                </a:cubicBezTo>
                <a:cubicBezTo>
                  <a:pt x="17734" y="178"/>
                  <a:pt x="17760" y="289"/>
                  <a:pt x="17730" y="391"/>
                </a:cubicBezTo>
                <a:lnTo>
                  <a:pt x="16172" y="5794"/>
                </a:lnTo>
                <a:cubicBezTo>
                  <a:pt x="16143" y="5896"/>
                  <a:pt x="16168" y="6006"/>
                  <a:pt x="16240" y="6085"/>
                </a:cubicBezTo>
                <a:cubicBezTo>
                  <a:pt x="16312" y="6164"/>
                  <a:pt x="16420" y="6199"/>
                  <a:pt x="16524" y="6179"/>
                </a:cubicBezTo>
                <a:lnTo>
                  <a:pt x="18912" y="5719"/>
                </a:lnTo>
                <a:cubicBezTo>
                  <a:pt x="19027" y="5697"/>
                  <a:pt x="19144" y="5741"/>
                  <a:pt x="19215" y="5834"/>
                </a:cubicBezTo>
                <a:cubicBezTo>
                  <a:pt x="19285" y="5928"/>
                  <a:pt x="19297" y="6053"/>
                  <a:pt x="19244" y="6157"/>
                </a:cubicBezTo>
                <a:lnTo>
                  <a:pt x="12454" y="19707"/>
                </a:lnTo>
                <a:lnTo>
                  <a:pt x="12331" y="19897"/>
                </a:lnTo>
                <a:cubicBezTo>
                  <a:pt x="12277" y="19984"/>
                  <a:pt x="12182" y="20038"/>
                  <a:pt x="12079" y="20037"/>
                </a:cubicBezTo>
                <a:cubicBezTo>
                  <a:pt x="11902" y="20037"/>
                  <a:pt x="11729" y="19885"/>
                  <a:pt x="11774" y="19668"/>
                </a:cubicBezTo>
                <a:lnTo>
                  <a:pt x="12869" y="14367"/>
                </a:lnTo>
                <a:cubicBezTo>
                  <a:pt x="12891" y="14261"/>
                  <a:pt x="12856" y="14152"/>
                  <a:pt x="12776" y="14079"/>
                </a:cubicBezTo>
                <a:cubicBezTo>
                  <a:pt x="12696" y="14006"/>
                  <a:pt x="12584" y="13981"/>
                  <a:pt x="12481" y="14012"/>
                </a:cubicBezTo>
                <a:lnTo>
                  <a:pt x="11048" y="14447"/>
                </a:lnTo>
                <a:cubicBezTo>
                  <a:pt x="10945" y="14478"/>
                  <a:pt x="10833" y="14453"/>
                  <a:pt x="10753" y="14381"/>
                </a:cubicBezTo>
                <a:cubicBezTo>
                  <a:pt x="10673" y="14308"/>
                  <a:pt x="10637" y="14199"/>
                  <a:pt x="10659" y="14093"/>
                </a:cubicBezTo>
                <a:lnTo>
                  <a:pt x="11349" y="10718"/>
                </a:lnTo>
                <a:cubicBezTo>
                  <a:pt x="11370" y="10616"/>
                  <a:pt x="11338" y="10509"/>
                  <a:pt x="11263" y="10436"/>
                </a:cubicBezTo>
                <a:cubicBezTo>
                  <a:pt x="11188" y="10364"/>
                  <a:pt x="11081" y="10334"/>
                  <a:pt x="10979" y="10358"/>
                </a:cubicBezTo>
                <a:lnTo>
                  <a:pt x="8659" y="10894"/>
                </a:lnTo>
                <a:cubicBezTo>
                  <a:pt x="8565" y="10916"/>
                  <a:pt x="8467" y="10892"/>
                  <a:pt x="8393" y="10830"/>
                </a:cubicBezTo>
                <a:cubicBezTo>
                  <a:pt x="8319" y="10767"/>
                  <a:pt x="8279" y="10674"/>
                  <a:pt x="8285" y="10578"/>
                </a:cubicBezTo>
                <a:close/>
                <a:moveTo>
                  <a:pt x="23262" y="2652"/>
                </a:moveTo>
                <a:lnTo>
                  <a:pt x="17284" y="3740"/>
                </a:lnTo>
                <a:lnTo>
                  <a:pt x="16740" y="5627"/>
                </a:lnTo>
                <a:lnTo>
                  <a:pt x="18817" y="5227"/>
                </a:lnTo>
                <a:cubicBezTo>
                  <a:pt x="19147" y="5161"/>
                  <a:pt x="19482" y="5309"/>
                  <a:pt x="19657" y="5596"/>
                </a:cubicBezTo>
                <a:cubicBezTo>
                  <a:pt x="19804" y="5833"/>
                  <a:pt x="19817" y="6130"/>
                  <a:pt x="19691" y="6379"/>
                </a:cubicBezTo>
                <a:lnTo>
                  <a:pt x="12900" y="19930"/>
                </a:lnTo>
                <a:lnTo>
                  <a:pt x="12887" y="19955"/>
                </a:lnTo>
                <a:lnTo>
                  <a:pt x="12872" y="19978"/>
                </a:lnTo>
                <a:lnTo>
                  <a:pt x="12750" y="20168"/>
                </a:lnTo>
                <a:cubicBezTo>
                  <a:pt x="12603" y="20398"/>
                  <a:pt x="12350" y="20537"/>
                  <a:pt x="12078" y="20538"/>
                </a:cubicBezTo>
                <a:cubicBezTo>
                  <a:pt x="11832" y="20537"/>
                  <a:pt x="11600" y="20426"/>
                  <a:pt x="11444" y="20236"/>
                </a:cubicBezTo>
                <a:cubicBezTo>
                  <a:pt x="11292" y="20048"/>
                  <a:pt x="11234" y="19802"/>
                  <a:pt x="11284" y="19566"/>
                </a:cubicBezTo>
                <a:lnTo>
                  <a:pt x="12313" y="14585"/>
                </a:lnTo>
                <a:lnTo>
                  <a:pt x="11193" y="14925"/>
                </a:lnTo>
                <a:cubicBezTo>
                  <a:pt x="10880" y="15019"/>
                  <a:pt x="10540" y="14916"/>
                  <a:pt x="10333" y="14663"/>
                </a:cubicBezTo>
                <a:cubicBezTo>
                  <a:pt x="10180" y="14476"/>
                  <a:pt x="10119" y="14230"/>
                  <a:pt x="10168" y="13993"/>
                </a:cubicBezTo>
                <a:lnTo>
                  <a:pt x="10798" y="10913"/>
                </a:lnTo>
                <a:lnTo>
                  <a:pt x="8771" y="11381"/>
                </a:lnTo>
                <a:cubicBezTo>
                  <a:pt x="8492" y="11445"/>
                  <a:pt x="8200" y="11356"/>
                  <a:pt x="8003" y="11148"/>
                </a:cubicBezTo>
                <a:cubicBezTo>
                  <a:pt x="7852" y="10986"/>
                  <a:pt x="7773" y="10769"/>
                  <a:pt x="7786" y="10548"/>
                </a:cubicBezTo>
                <a:lnTo>
                  <a:pt x="8175" y="3978"/>
                </a:lnTo>
                <a:lnTo>
                  <a:pt x="735" y="2648"/>
                </a:lnTo>
                <a:cubicBezTo>
                  <a:pt x="501" y="2606"/>
                  <a:pt x="264" y="2703"/>
                  <a:pt x="126" y="2897"/>
                </a:cubicBezTo>
                <a:cubicBezTo>
                  <a:pt x="-11" y="3091"/>
                  <a:pt x="-23" y="3348"/>
                  <a:pt x="95" y="3554"/>
                </a:cubicBezTo>
                <a:lnTo>
                  <a:pt x="11580" y="23691"/>
                </a:lnTo>
                <a:cubicBezTo>
                  <a:pt x="11689" y="23883"/>
                  <a:pt x="11893" y="24001"/>
                  <a:pt x="12114" y="24000"/>
                </a:cubicBezTo>
                <a:cubicBezTo>
                  <a:pt x="12335" y="23999"/>
                  <a:pt x="12538" y="23880"/>
                  <a:pt x="12646" y="23687"/>
                </a:cubicBezTo>
                <a:lnTo>
                  <a:pt x="23906" y="3552"/>
                </a:lnTo>
                <a:cubicBezTo>
                  <a:pt x="24021" y="3345"/>
                  <a:pt x="24007" y="3091"/>
                  <a:pt x="23869" y="2898"/>
                </a:cubicBezTo>
                <a:cubicBezTo>
                  <a:pt x="23731" y="2706"/>
                  <a:pt x="23495" y="2610"/>
                  <a:pt x="23262" y="2652"/>
                </a:cubicBezTo>
                <a:close/>
              </a:path>
            </a:pathLst>
          </a:custGeom>
          <a:solidFill>
            <a:srgbClr val="646CFF"/>
          </a:solidFill>
          <a:ln>
            <a:noFill/>
          </a:ln>
          <a:effectLst/>
        </p:spPr>
        <p:txBody>
          <a:bodyPr rtlCol="0" anchor="ctr"/>
          <a:lstStyle/>
          <a:p/>
        </p:txBody>
      </p:sp>
      <p:sp>
        <p:nvSpPr>
          <p:cNvPr id="31" name="TextBox 30"/>
          <p:cNvSpPr txBox="1"/>
          <p:nvPr/>
        </p:nvSpPr>
        <p:spPr>
          <a:xfrm>
            <a:off x="3364992" y="2971800"/>
            <a:ext cx="2103120" cy="228600"/>
          </a:xfrm>
          <a:prstGeom prst="rect">
            <a:avLst/>
          </a:prstGeom>
          <a:noFill/>
        </p:spPr>
        <p:txBody>
          <a:bodyPr wrap="square" lIns="0" rIns="0" tIns="18288" bIns="18288" anchor="t">
            <a:noAutofit/>
          </a:bodyPr>
          <a:lstStyle/>
          <a:p>
            <a:pPr algn="l"/>
            <a:r>
              <a:rPr sz="950" b="0" i="0" lang="ko-KR" altLang="en-US">
                <a:solidFill>
                  <a:srgbClr val="262626"/>
                </a:solidFill>
                <a:latin typeface="LG스마트체 Regular"/>
                <a:ea typeface="LG스마트체 Regular"/>
                <a:cs typeface="LG스마트체 Regular"/>
              </a:rPr>
              <a:t>React · Vite 빌드 화면</a:t>
            </a:r>
          </a:p>
        </p:txBody>
      </p:sp>
      <p:sp>
        <p:nvSpPr>
          <p:cNvPr id="32" name="icon-ppt"/>
          <p:cNvSpPr/>
          <p:nvPr/>
        </p:nvSpPr>
        <p:spPr>
          <a:xfrm>
            <a:off x="2852928" y="3264408"/>
            <a:ext cx="201168" cy="201168"/>
          </a:xfrm>
          <a:custGeom>
            <a:avLst/>
            <a:gdLst/>
            <a:ahLst/>
            <a:cxnLst/>
            <a:rect l="0" t="0" r="r" b="b"/>
            <a:pathLst>
              <a:path w="24000" h="24000" fill="none">
                <a:moveTo>
                  <a:pt x="3000" y="4000"/>
                </a:moveTo>
                <a:lnTo>
                  <a:pt x="21000" y="4000"/>
                </a:lnTo>
              </a:path>
              <a:path w="24000" h="24000" fill="none">
                <a:moveTo>
                  <a:pt x="4000" y="4000"/>
                </a:moveTo>
                <a:lnTo>
                  <a:pt x="4000" y="14000"/>
                </a:lnTo>
                <a:cubicBezTo>
                  <a:pt x="4000" y="15105"/>
                  <a:pt x="4895" y="16000"/>
                  <a:pt x="6000" y="16000"/>
                </a:cubicBezTo>
                <a:lnTo>
                  <a:pt x="18000" y="16000"/>
                </a:lnTo>
                <a:cubicBezTo>
                  <a:pt x="19105" y="16000"/>
                  <a:pt x="20000" y="15105"/>
                  <a:pt x="20000" y="14000"/>
                </a:cubicBezTo>
                <a:lnTo>
                  <a:pt x="20000" y="4000"/>
                </a:lnTo>
              </a:path>
              <a:path w="24000" h="24000" fill="none">
                <a:moveTo>
                  <a:pt x="12000" y="16000"/>
                </a:moveTo>
                <a:lnTo>
                  <a:pt x="12000" y="20000"/>
                </a:lnTo>
              </a:path>
              <a:path w="24000" h="24000" fill="none">
                <a:moveTo>
                  <a:pt x="9000" y="20000"/>
                </a:moveTo>
                <a:lnTo>
                  <a:pt x="15000" y="20000"/>
                </a:lnTo>
              </a:path>
              <a:path w="24000" h="24000" fill="none">
                <a:moveTo>
                  <a:pt x="8000" y="12000"/>
                </a:moveTo>
                <a:lnTo>
                  <a:pt x="11000" y="9000"/>
                </a:lnTo>
                <a:lnTo>
                  <a:pt x="13000" y="11000"/>
                </a:lnTo>
                <a:lnTo>
                  <a:pt x="16000" y="8000"/>
                </a:lnTo>
              </a:path>
            </a:pathLst>
          </a:custGeom>
          <a:solidFill>
            <a:srgbClr val="595959"/>
          </a:solidFill>
          <a:ln w="12700">
            <a:solidFill>
              <a:srgbClr val="595959"/>
            </a:solidFill>
          </a:ln>
          <a:effectLst/>
        </p:spPr>
        <p:txBody>
          <a:bodyPr rtlCol="0" anchor="ctr"/>
          <a:lstStyle/>
          <a:p/>
        </p:txBody>
      </p:sp>
      <p:sp>
        <p:nvSpPr>
          <p:cNvPr id="33" name="TextBox 32"/>
          <p:cNvSpPr txBox="1"/>
          <p:nvPr/>
        </p:nvSpPr>
        <p:spPr>
          <a:xfrm>
            <a:off x="3127248" y="3246120"/>
            <a:ext cx="2286000" cy="228600"/>
          </a:xfrm>
          <a:prstGeom prst="rect">
            <a:avLst/>
          </a:prstGeom>
          <a:noFill/>
        </p:spPr>
        <p:txBody>
          <a:bodyPr wrap="square" lIns="0" rIns="0" tIns="18288" bIns="18288" anchor="t">
            <a:noAutofit/>
          </a:bodyPr>
          <a:lstStyle/>
          <a:p>
            <a:pPr algn="l"/>
            <a:r>
              <a:rPr sz="900" b="0" i="0" lang="ko-KR" altLang="en-US">
                <a:solidFill>
                  <a:srgbClr val="595959"/>
                </a:solidFill>
                <a:latin typeface="LG스마트체 Regular"/>
                <a:ea typeface="LG스마트체 Regular"/>
                <a:cs typeface="LG스마트체 Regular"/>
              </a:rPr>
              <a:t>LibreOffice (PPT 미리보기)</a:t>
            </a:r>
          </a:p>
        </p:txBody>
      </p:sp>
      <p:sp>
        <p:nvSpPr>
          <p:cNvPr id="34" name="ssd-datadir"/>
          <p:cNvSpPr/>
          <p:nvPr/>
        </p:nvSpPr>
        <p:spPr>
          <a:xfrm>
            <a:off x="2651760" y="4041648"/>
            <a:ext cx="3154680" cy="1234440"/>
          </a:xfrm>
          <a:prstGeom prst="roundRect">
            <a:avLst>
              <a:gd name="adj" fmla="val 5185"/>
            </a:avLst>
          </a:prstGeom>
          <a:solidFill>
            <a:srgbClr val="EEF2F8"/>
          </a:solidFill>
          <a:ln w="15875">
            <a:solidFill>
              <a:srgbClr val="1F3864"/>
            </a:solidFill>
          </a:ln>
          <a:effectLst/>
        </p:spPr>
        <p:txBody>
          <a:bodyPr rtlCol="0" anchor="ctr"/>
          <a:lstStyle/>
          <a:p/>
        </p:txBody>
      </p:sp>
      <p:sp>
        <p:nvSpPr>
          <p:cNvPr id="35" name="icon-ssd"/>
          <p:cNvSpPr/>
          <p:nvPr/>
        </p:nvSpPr>
        <p:spPr>
          <a:xfrm>
            <a:off x="2724912" y="4096512"/>
            <a:ext cx="201168" cy="201168"/>
          </a:xfrm>
          <a:custGeom>
            <a:avLst/>
            <a:gdLst/>
            <a:ahLst/>
            <a:cxnLst/>
            <a:rect l="0" t="0" r="r" b="b"/>
            <a:pathLst>
              <a:path w="24000" h="24000" fill="none">
                <a:moveTo>
                  <a:pt x="7000" y="21000"/>
                </a:moveTo>
                <a:lnTo>
                  <a:pt x="17000" y="21000"/>
                </a:lnTo>
                <a:cubicBezTo>
                  <a:pt x="18105" y="21000"/>
                  <a:pt x="19000" y="20105"/>
                  <a:pt x="19000" y="19000"/>
                </a:cubicBezTo>
                <a:lnTo>
                  <a:pt x="19000" y="5000"/>
                </a:lnTo>
                <a:cubicBezTo>
                  <a:pt x="19000" y="3895"/>
                  <a:pt x="18105" y="3000"/>
                  <a:pt x="17000" y="3000"/>
                </a:cubicBezTo>
                <a:lnTo>
                  <a:pt x="10828" y="3000"/>
                </a:lnTo>
                <a:cubicBezTo>
                  <a:pt x="10298" y="3000"/>
                  <a:pt x="9789" y="3211"/>
                  <a:pt x="9414" y="3586"/>
                </a:cubicBezTo>
                <a:lnTo>
                  <a:pt x="5586" y="7414"/>
                </a:lnTo>
                <a:cubicBezTo>
                  <a:pt x="5211" y="7789"/>
                  <a:pt x="5000" y="8298"/>
                  <a:pt x="5000" y="8828"/>
                </a:cubicBezTo>
                <a:lnTo>
                  <a:pt x="5000" y="19000"/>
                </a:lnTo>
                <a:cubicBezTo>
                  <a:pt x="5000" y="20105"/>
                  <a:pt x="5895" y="21000"/>
                  <a:pt x="7000" y="21000"/>
                </a:cubicBezTo>
                <a:close/>
              </a:path>
              <a:path w="24000" h="24000" fill="none">
                <a:moveTo>
                  <a:pt x="13000" y="6000"/>
                </a:moveTo>
                <a:lnTo>
                  <a:pt x="13000" y="8000"/>
                </a:lnTo>
              </a:path>
              <a:path w="24000" h="24000" fill="none">
                <a:moveTo>
                  <a:pt x="16000" y="6000"/>
                </a:moveTo>
                <a:lnTo>
                  <a:pt x="16000" y="8000"/>
                </a:lnTo>
              </a:path>
              <a:path w="24000" h="24000" fill="none">
                <a:moveTo>
                  <a:pt x="10000" y="7000"/>
                </a:moveTo>
                <a:lnTo>
                  <a:pt x="10000" y="8000"/>
                </a:lnTo>
              </a:path>
            </a:pathLst>
          </a:custGeom>
          <a:solidFill>
            <a:srgbClr val="1F3864"/>
          </a:solidFill>
          <a:ln w="12700">
            <a:solidFill>
              <a:srgbClr val="1F3864"/>
            </a:solidFill>
          </a:ln>
          <a:effectLst/>
        </p:spPr>
        <p:txBody>
          <a:bodyPr rtlCol="0" anchor="ctr"/>
          <a:lstStyle/>
          <a:p/>
        </p:txBody>
      </p:sp>
      <p:sp>
        <p:nvSpPr>
          <p:cNvPr id="36" name="TextBox 35"/>
          <p:cNvSpPr txBox="1"/>
          <p:nvPr/>
        </p:nvSpPr>
        <p:spPr>
          <a:xfrm>
            <a:off x="2980944" y="4078224"/>
            <a:ext cx="2651760" cy="228600"/>
          </a:xfrm>
          <a:prstGeom prst="rect">
            <a:avLst/>
          </a:prstGeom>
          <a:noFill/>
        </p:spPr>
        <p:txBody>
          <a:bodyPr wrap="square" lIns="0" rIns="0" tIns="18288" bIns="18288" anchor="t">
            <a:noAutofit/>
          </a:bodyPr>
          <a:lstStyle/>
          <a:p>
            <a:pPr algn="l"/>
            <a:r>
              <a:rPr sz="1000" b="1" i="0" lang="ko-KR" altLang="en-US">
                <a:solidFill>
                  <a:srgbClr val="1F3864"/>
                </a:solidFill>
                <a:latin typeface="LG스마트체 Regular"/>
                <a:ea typeface="LG스마트체 Regular"/>
                <a:cs typeface="LG스마트체 Regular"/>
              </a:rPr>
              <a:t>VM 로컬 SSD — DATA_DIR</a:t>
            </a:r>
          </a:p>
        </p:txBody>
      </p:sp>
      <p:sp>
        <p:nvSpPr>
          <p:cNvPr id="37" name="ssd-tag"/>
          <p:cNvSpPr/>
          <p:nvPr/>
        </p:nvSpPr>
        <p:spPr>
          <a:xfrm>
            <a:off x="2724912" y="4352544"/>
            <a:ext cx="3008376" cy="210312"/>
          </a:xfrm>
          <a:prstGeom prst="roundRect">
            <a:avLst>
              <a:gd name="adj" fmla="val 21739"/>
            </a:avLst>
          </a:prstGeom>
          <a:solidFill>
            <a:srgbClr val="FFF5EB"/>
          </a:solidFill>
          <a:ln w="9525">
            <a:solidFill>
              <a:srgbClr val="C55A11"/>
            </a:solidFill>
            <a:prstDash val="dash"/>
          </a:ln>
          <a:effectLst/>
        </p:spPr>
        <p:txBody>
          <a:bodyPr rtlCol="0" anchor="ctr" wrap="square" lIns="18288" rIns="18288" tIns="18288" bIns="18288">
            <a:noAutofit/>
          </a:bodyPr>
          <a:lstStyle/>
          <a:p>
            <a:pPr algn="ctr"/>
            <a:r>
              <a:rPr sz="900" b="1" i="0" lang="ko-KR" altLang="en-US">
                <a:solidFill>
                  <a:srgbClr val="C55A11"/>
                </a:solidFill>
                <a:latin typeface="LG스마트체 Regular"/>
                <a:ea typeface="LG스마트체 Regular"/>
                <a:cs typeface="LG스마트체 Regular"/>
              </a:rPr>
              <a:t>SSD 1TB → 최대 4TB</a:t>
            </a:r>
            <a:r>
              <a:rPr sz="900" b="0" i="0" lang="ko-KR" altLang="en-US">
                <a:solidFill>
                  <a:srgbClr val="C55A11"/>
                </a:solidFill>
                <a:latin typeface="LG스마트체 Regular"/>
                <a:ea typeface="LG스마트체 Regular"/>
                <a:cs typeface="LG스마트체 Regular"/>
              </a:rPr>
              <a:t> (DAVINCI 회신: '할당 가능할 것')</a:t>
            </a:r>
          </a:p>
        </p:txBody>
      </p:sp>
      <p:sp>
        <p:nvSpPr>
          <p:cNvPr id="38" name="icon-sqlite"/>
          <p:cNvSpPr/>
          <p:nvPr/>
        </p:nvSpPr>
        <p:spPr>
          <a:xfrm>
            <a:off x="2980944" y="4626864"/>
            <a:ext cx="237744" cy="237744"/>
          </a:xfrm>
          <a:custGeom>
            <a:avLst/>
            <a:gdLst/>
            <a:ahLst/>
            <a:cxnLst/>
            <a:rect l="0" t="0" r="r" b="b"/>
            <a:pathLst>
              <a:path w="24000" h="24000" stroke="0">
                <a:moveTo>
                  <a:pt x="21678" y="521"/>
                </a:moveTo>
                <a:cubicBezTo>
                  <a:pt x="20646" y="-399"/>
                  <a:pt x="19398" y="-29"/>
                  <a:pt x="18165" y="1065"/>
                </a:cubicBezTo>
                <a:cubicBezTo>
                  <a:pt x="17975" y="1235"/>
                  <a:pt x="17792" y="1414"/>
                  <a:pt x="17618" y="1600"/>
                </a:cubicBezTo>
                <a:cubicBezTo>
                  <a:pt x="15509" y="3837"/>
                  <a:pt x="13552" y="7980"/>
                  <a:pt x="12944" y="11144"/>
                </a:cubicBezTo>
                <a:cubicBezTo>
                  <a:pt x="13181" y="11624"/>
                  <a:pt x="13366" y="12237"/>
                  <a:pt x="13488" y="12705"/>
                </a:cubicBezTo>
                <a:cubicBezTo>
                  <a:pt x="13549" y="12938"/>
                  <a:pt x="13604" y="13172"/>
                  <a:pt x="13652" y="13408"/>
                </a:cubicBezTo>
                <a:cubicBezTo>
                  <a:pt x="13652" y="13408"/>
                  <a:pt x="13633" y="13337"/>
                  <a:pt x="13556" y="13112"/>
                </a:cubicBezTo>
                <a:lnTo>
                  <a:pt x="13506" y="12966"/>
                </a:lnTo>
                <a:cubicBezTo>
                  <a:pt x="13496" y="12939"/>
                  <a:pt x="13485" y="12912"/>
                  <a:pt x="13473" y="12886"/>
                </a:cubicBezTo>
                <a:cubicBezTo>
                  <a:pt x="13335" y="12566"/>
                  <a:pt x="12955" y="11891"/>
                  <a:pt x="12787" y="11597"/>
                </a:cubicBezTo>
                <a:cubicBezTo>
                  <a:pt x="12644" y="12020"/>
                  <a:pt x="12517" y="12415"/>
                  <a:pt x="12411" y="12773"/>
                </a:cubicBezTo>
                <a:cubicBezTo>
                  <a:pt x="12895" y="13657"/>
                  <a:pt x="13189" y="15173"/>
                  <a:pt x="13189" y="15173"/>
                </a:cubicBezTo>
                <a:cubicBezTo>
                  <a:pt x="13189" y="15173"/>
                  <a:pt x="13164" y="15074"/>
                  <a:pt x="13042" y="14731"/>
                </a:cubicBezTo>
                <a:cubicBezTo>
                  <a:pt x="12935" y="14428"/>
                  <a:pt x="12398" y="13487"/>
                  <a:pt x="12270" y="13267"/>
                </a:cubicBezTo>
                <a:cubicBezTo>
                  <a:pt x="12053" y="14071"/>
                  <a:pt x="11966" y="14613"/>
                  <a:pt x="12044" y="14745"/>
                </a:cubicBezTo>
                <a:cubicBezTo>
                  <a:pt x="12196" y="15001"/>
                  <a:pt x="12340" y="15443"/>
                  <a:pt x="12466" y="15931"/>
                </a:cubicBezTo>
                <a:cubicBezTo>
                  <a:pt x="12752" y="17031"/>
                  <a:pt x="12951" y="18371"/>
                  <a:pt x="12951" y="18371"/>
                </a:cubicBezTo>
                <a:lnTo>
                  <a:pt x="12968" y="18595"/>
                </a:lnTo>
                <a:cubicBezTo>
                  <a:pt x="12930" y="19511"/>
                  <a:pt x="12949" y="20429"/>
                  <a:pt x="13024" y="21343"/>
                </a:cubicBezTo>
                <a:cubicBezTo>
                  <a:pt x="13119" y="22489"/>
                  <a:pt x="13297" y="23473"/>
                  <a:pt x="13524" y="24000"/>
                </a:cubicBezTo>
                <a:lnTo>
                  <a:pt x="13679" y="23916"/>
                </a:lnTo>
                <a:cubicBezTo>
                  <a:pt x="13345" y="22878"/>
                  <a:pt x="13209" y="21517"/>
                  <a:pt x="13269" y="19949"/>
                </a:cubicBezTo>
                <a:cubicBezTo>
                  <a:pt x="13359" y="17551"/>
                  <a:pt x="13911" y="14659"/>
                  <a:pt x="14930" y="11645"/>
                </a:cubicBezTo>
                <a:cubicBezTo>
                  <a:pt x="16653" y="7095"/>
                  <a:pt x="19043" y="3444"/>
                  <a:pt x="21230" y="1700"/>
                </a:cubicBezTo>
                <a:cubicBezTo>
                  <a:pt x="19237" y="3500"/>
                  <a:pt x="16538" y="9330"/>
                  <a:pt x="15730" y="11488"/>
                </a:cubicBezTo>
                <a:cubicBezTo>
                  <a:pt x="14826" y="13904"/>
                  <a:pt x="14185" y="16172"/>
                  <a:pt x="13799" y="18345"/>
                </a:cubicBezTo>
                <a:cubicBezTo>
                  <a:pt x="14465" y="16308"/>
                  <a:pt x="16620" y="15433"/>
                  <a:pt x="16620" y="15433"/>
                </a:cubicBezTo>
                <a:cubicBezTo>
                  <a:pt x="16620" y="15433"/>
                  <a:pt x="17677" y="14129"/>
                  <a:pt x="18912" y="12267"/>
                </a:cubicBezTo>
                <a:cubicBezTo>
                  <a:pt x="18172" y="12436"/>
                  <a:pt x="16957" y="12725"/>
                  <a:pt x="16550" y="12896"/>
                </a:cubicBezTo>
                <a:cubicBezTo>
                  <a:pt x="15950" y="13147"/>
                  <a:pt x="15788" y="13233"/>
                  <a:pt x="15788" y="13233"/>
                </a:cubicBezTo>
                <a:cubicBezTo>
                  <a:pt x="15788" y="13233"/>
                  <a:pt x="17733" y="12049"/>
                  <a:pt x="19401" y="11513"/>
                </a:cubicBezTo>
                <a:cubicBezTo>
                  <a:pt x="21695" y="7900"/>
                  <a:pt x="24195" y="2767"/>
                  <a:pt x="21678" y="521"/>
                </a:cubicBezTo>
                <a:moveTo>
                  <a:pt x="3105" y="1064"/>
                </a:moveTo>
                <a:cubicBezTo>
                  <a:pt x="2093" y="1068"/>
                  <a:pt x="1273" y="1888"/>
                  <a:pt x="1270" y="2900"/>
                </a:cubicBezTo>
                <a:lnTo>
                  <a:pt x="1270" y="19508"/>
                </a:lnTo>
                <a:cubicBezTo>
                  <a:pt x="1273" y="20520"/>
                  <a:pt x="2093" y="21339"/>
                  <a:pt x="3105" y="21342"/>
                </a:cubicBezTo>
                <a:lnTo>
                  <a:pt x="12523" y="21342"/>
                </a:lnTo>
                <a:cubicBezTo>
                  <a:pt x="12452" y="20441"/>
                  <a:pt x="12435" y="19538"/>
                  <a:pt x="12471" y="18635"/>
                </a:cubicBezTo>
                <a:cubicBezTo>
                  <a:pt x="12465" y="18573"/>
                  <a:pt x="12460" y="18494"/>
                  <a:pt x="12455" y="18435"/>
                </a:cubicBezTo>
                <a:cubicBezTo>
                  <a:pt x="12333" y="17636"/>
                  <a:pt x="12175" y="16842"/>
                  <a:pt x="11982" y="16057"/>
                </a:cubicBezTo>
                <a:cubicBezTo>
                  <a:pt x="11861" y="15587"/>
                  <a:pt x="11707" y="15159"/>
                  <a:pt x="11613" y="15000"/>
                </a:cubicBezTo>
                <a:cubicBezTo>
                  <a:pt x="11497" y="14803"/>
                  <a:pt x="11515" y="14690"/>
                  <a:pt x="11516" y="14568"/>
                </a:cubicBezTo>
                <a:cubicBezTo>
                  <a:pt x="11516" y="14448"/>
                  <a:pt x="11531" y="14323"/>
                  <a:pt x="11553" y="14182"/>
                </a:cubicBezTo>
                <a:cubicBezTo>
                  <a:pt x="11612" y="13830"/>
                  <a:pt x="11690" y="13481"/>
                  <a:pt x="11787" y="13137"/>
                </a:cubicBezTo>
                <a:lnTo>
                  <a:pt x="12004" y="13109"/>
                </a:lnTo>
                <a:cubicBezTo>
                  <a:pt x="11987" y="13074"/>
                  <a:pt x="11990" y="13044"/>
                  <a:pt x="11973" y="13012"/>
                </a:cubicBezTo>
                <a:lnTo>
                  <a:pt x="11932" y="12631"/>
                </a:lnTo>
                <a:cubicBezTo>
                  <a:pt x="12052" y="12231"/>
                  <a:pt x="12179" y="11833"/>
                  <a:pt x="12314" y="11437"/>
                </a:cubicBezTo>
                <a:lnTo>
                  <a:pt x="12514" y="11418"/>
                </a:lnTo>
                <a:cubicBezTo>
                  <a:pt x="12506" y="11402"/>
                  <a:pt x="12504" y="11380"/>
                  <a:pt x="12496" y="11365"/>
                </a:cubicBezTo>
                <a:lnTo>
                  <a:pt x="12453" y="11049"/>
                </a:lnTo>
                <a:cubicBezTo>
                  <a:pt x="13083" y="7769"/>
                  <a:pt x="15040" y="3606"/>
                  <a:pt x="17253" y="1258"/>
                </a:cubicBezTo>
                <a:cubicBezTo>
                  <a:pt x="17319" y="1189"/>
                  <a:pt x="17386" y="1130"/>
                  <a:pt x="17451" y="1064"/>
                </a:cubicBezTo>
                <a:close/>
              </a:path>
            </a:pathLst>
          </a:custGeom>
          <a:solidFill>
            <a:srgbClr val="003B57"/>
          </a:solidFill>
          <a:ln>
            <a:noFill/>
          </a:ln>
          <a:effectLst/>
        </p:spPr>
        <p:txBody>
          <a:bodyPr rtlCol="0" anchor="ctr"/>
          <a:lstStyle/>
          <a:p/>
        </p:txBody>
      </p:sp>
      <p:sp>
        <p:nvSpPr>
          <p:cNvPr id="39" name="TextBox 38"/>
          <p:cNvSpPr txBox="1"/>
          <p:nvPr/>
        </p:nvSpPr>
        <p:spPr>
          <a:xfrm>
            <a:off x="2734056" y="4882896"/>
            <a:ext cx="731520" cy="365760"/>
          </a:xfrm>
          <a:prstGeom prst="rect">
            <a:avLst/>
          </a:prstGeom>
          <a:noFill/>
        </p:spPr>
        <p:txBody>
          <a:bodyPr wrap="square" lIns="0" rIns="0" tIns="18288" bIns="18288" anchor="t">
            <a:noAutofit/>
          </a:bodyPr>
          <a:lstStyle/>
          <a:p>
            <a:pPr algn="ctr"/>
            <a:r>
              <a:rPr sz="900" b="0" i="0" lang="ko-KR" altLang="en-US">
                <a:solidFill>
                  <a:srgbClr val="262626"/>
                </a:solidFill>
                <a:latin typeface="LG스마트체 Regular"/>
                <a:ea typeface="LG스마트체 Regular"/>
                <a:cs typeface="LG스마트체 Regular"/>
              </a:rPr>
              <a:t>SQLite DB</a:t>
            </a:r>
          </a:p>
          <a:p>
            <a:pPr algn="ctr"/>
            <a:r>
              <a:rPr sz="900" b="0" i="0" lang="ko-KR" altLang="en-US">
                <a:solidFill>
                  <a:srgbClr val="262626"/>
                </a:solidFill>
                <a:latin typeface="LG스마트체 Regular"/>
                <a:ea typeface="LG스마트체 Regular"/>
                <a:cs typeface="LG스마트체 Regular"/>
              </a:rPr>
              <a:t>(WAL)</a:t>
            </a:r>
          </a:p>
        </p:txBody>
      </p:sp>
      <p:sp>
        <p:nvSpPr>
          <p:cNvPr id="40" name="icon-folders"/>
          <p:cNvSpPr/>
          <p:nvPr/>
        </p:nvSpPr>
        <p:spPr>
          <a:xfrm>
            <a:off x="3730752" y="4626864"/>
            <a:ext cx="237744" cy="237744"/>
          </a:xfrm>
          <a:custGeom>
            <a:avLst/>
            <a:gdLst/>
            <a:ahLst/>
            <a:cxnLst/>
            <a:rect l="0" t="0" r="r" b="b"/>
            <a:pathLst>
              <a:path w="24000" h="24000" fill="none">
                <a:moveTo>
                  <a:pt x="9000" y="3000"/>
                </a:moveTo>
                <a:lnTo>
                  <a:pt x="12000" y="3000"/>
                </a:lnTo>
                <a:lnTo>
                  <a:pt x="14000" y="5000"/>
                </a:lnTo>
                <a:lnTo>
                  <a:pt x="19000" y="5000"/>
                </a:lnTo>
                <a:cubicBezTo>
                  <a:pt x="20105" y="5000"/>
                  <a:pt x="21000" y="5895"/>
                  <a:pt x="21000" y="7000"/>
                </a:cubicBezTo>
                <a:lnTo>
                  <a:pt x="21000" y="14000"/>
                </a:lnTo>
                <a:cubicBezTo>
                  <a:pt x="21000" y="15105"/>
                  <a:pt x="20105" y="16000"/>
                  <a:pt x="19000" y="16000"/>
                </a:cubicBezTo>
                <a:lnTo>
                  <a:pt x="9000" y="16000"/>
                </a:lnTo>
                <a:cubicBezTo>
                  <a:pt x="7895" y="16000"/>
                  <a:pt x="7000" y="15105"/>
                  <a:pt x="7000" y="14000"/>
                </a:cubicBezTo>
                <a:lnTo>
                  <a:pt x="7000" y="5000"/>
                </a:lnTo>
                <a:cubicBezTo>
                  <a:pt x="7000" y="3895"/>
                  <a:pt x="7895" y="3000"/>
                  <a:pt x="9000" y="3000"/>
                </a:cubicBezTo>
              </a:path>
              <a:path w="24000" h="24000" fill="none">
                <a:moveTo>
                  <a:pt x="17000" y="16000"/>
                </a:moveTo>
                <a:lnTo>
                  <a:pt x="17000" y="18000"/>
                </a:lnTo>
                <a:cubicBezTo>
                  <a:pt x="17000" y="19105"/>
                  <a:pt x="16105" y="20000"/>
                  <a:pt x="15000" y="20000"/>
                </a:cubicBezTo>
                <a:lnTo>
                  <a:pt x="5000" y="20000"/>
                </a:lnTo>
                <a:cubicBezTo>
                  <a:pt x="3895" y="20000"/>
                  <a:pt x="3000" y="19105"/>
                  <a:pt x="3000" y="18000"/>
                </a:cubicBezTo>
                <a:lnTo>
                  <a:pt x="3000" y="9000"/>
                </a:lnTo>
                <a:cubicBezTo>
                  <a:pt x="3000" y="7895"/>
                  <a:pt x="3895" y="7000"/>
                  <a:pt x="5000" y="7000"/>
                </a:cubicBezTo>
                <a:lnTo>
                  <a:pt x="7000" y="7000"/>
                </a:lnTo>
              </a:path>
            </a:pathLst>
          </a:custGeom>
          <a:solidFill>
            <a:srgbClr val="595959"/>
          </a:solidFill>
          <a:ln w="12700">
            <a:solidFill>
              <a:srgbClr val="595959"/>
            </a:solidFill>
          </a:ln>
          <a:effectLst/>
        </p:spPr>
        <p:txBody>
          <a:bodyPr rtlCol="0" anchor="ctr"/>
          <a:lstStyle/>
          <a:p/>
        </p:txBody>
      </p:sp>
      <p:sp>
        <p:nvSpPr>
          <p:cNvPr id="41" name="TextBox 40"/>
          <p:cNvSpPr txBox="1"/>
          <p:nvPr/>
        </p:nvSpPr>
        <p:spPr>
          <a:xfrm>
            <a:off x="3483864" y="4882896"/>
            <a:ext cx="731520" cy="365760"/>
          </a:xfrm>
          <a:prstGeom prst="rect">
            <a:avLst/>
          </a:prstGeom>
          <a:noFill/>
        </p:spPr>
        <p:txBody>
          <a:bodyPr wrap="square" lIns="0" rIns="0" tIns="18288" bIns="18288" anchor="t">
            <a:noAutofit/>
          </a:bodyPr>
          <a:lstStyle/>
          <a:p>
            <a:pPr algn="ctr"/>
            <a:r>
              <a:rPr sz="900" b="0" i="0" lang="ko-KR" altLang="en-US">
                <a:solidFill>
                  <a:srgbClr val="262626"/>
                </a:solidFill>
                <a:latin typeface="LG스마트체 Regular"/>
                <a:ea typeface="LG스마트체 Regular"/>
                <a:cs typeface="LG스마트체 Regular"/>
              </a:rPr>
              <a:t>첨부</a:t>
            </a:r>
          </a:p>
        </p:txBody>
      </p:sp>
      <p:sp>
        <p:nvSpPr>
          <p:cNvPr id="42" name="icon-ppt"/>
          <p:cNvSpPr/>
          <p:nvPr/>
        </p:nvSpPr>
        <p:spPr>
          <a:xfrm>
            <a:off x="4480560" y="4626864"/>
            <a:ext cx="237744" cy="237744"/>
          </a:xfrm>
          <a:custGeom>
            <a:avLst/>
            <a:gdLst/>
            <a:ahLst/>
            <a:cxnLst/>
            <a:rect l="0" t="0" r="r" b="b"/>
            <a:pathLst>
              <a:path w="24000" h="24000" fill="none">
                <a:moveTo>
                  <a:pt x="3000" y="4000"/>
                </a:moveTo>
                <a:lnTo>
                  <a:pt x="21000" y="4000"/>
                </a:lnTo>
              </a:path>
              <a:path w="24000" h="24000" fill="none">
                <a:moveTo>
                  <a:pt x="4000" y="4000"/>
                </a:moveTo>
                <a:lnTo>
                  <a:pt x="4000" y="14000"/>
                </a:lnTo>
                <a:cubicBezTo>
                  <a:pt x="4000" y="15105"/>
                  <a:pt x="4895" y="16000"/>
                  <a:pt x="6000" y="16000"/>
                </a:cubicBezTo>
                <a:lnTo>
                  <a:pt x="18000" y="16000"/>
                </a:lnTo>
                <a:cubicBezTo>
                  <a:pt x="19105" y="16000"/>
                  <a:pt x="20000" y="15105"/>
                  <a:pt x="20000" y="14000"/>
                </a:cubicBezTo>
                <a:lnTo>
                  <a:pt x="20000" y="4000"/>
                </a:lnTo>
              </a:path>
              <a:path w="24000" h="24000" fill="none">
                <a:moveTo>
                  <a:pt x="12000" y="16000"/>
                </a:moveTo>
                <a:lnTo>
                  <a:pt x="12000" y="20000"/>
                </a:lnTo>
              </a:path>
              <a:path w="24000" h="24000" fill="none">
                <a:moveTo>
                  <a:pt x="9000" y="20000"/>
                </a:moveTo>
                <a:lnTo>
                  <a:pt x="15000" y="20000"/>
                </a:lnTo>
              </a:path>
              <a:path w="24000" h="24000" fill="none">
                <a:moveTo>
                  <a:pt x="8000" y="12000"/>
                </a:moveTo>
                <a:lnTo>
                  <a:pt x="11000" y="9000"/>
                </a:lnTo>
                <a:lnTo>
                  <a:pt x="13000" y="11000"/>
                </a:lnTo>
                <a:lnTo>
                  <a:pt x="16000" y="8000"/>
                </a:lnTo>
              </a:path>
            </a:pathLst>
          </a:custGeom>
          <a:solidFill>
            <a:srgbClr val="595959"/>
          </a:solidFill>
          <a:ln w="12700">
            <a:solidFill>
              <a:srgbClr val="595959"/>
            </a:solidFill>
          </a:ln>
          <a:effectLst/>
        </p:spPr>
        <p:txBody>
          <a:bodyPr rtlCol="0" anchor="ctr"/>
          <a:lstStyle/>
          <a:p/>
        </p:txBody>
      </p:sp>
      <p:sp>
        <p:nvSpPr>
          <p:cNvPr id="43" name="TextBox 42"/>
          <p:cNvSpPr txBox="1"/>
          <p:nvPr/>
        </p:nvSpPr>
        <p:spPr>
          <a:xfrm>
            <a:off x="4233672" y="4882896"/>
            <a:ext cx="731520" cy="365760"/>
          </a:xfrm>
          <a:prstGeom prst="rect">
            <a:avLst/>
          </a:prstGeom>
          <a:noFill/>
        </p:spPr>
        <p:txBody>
          <a:bodyPr wrap="square" lIns="0" rIns="0" tIns="18288" bIns="18288" anchor="t">
            <a:noAutofit/>
          </a:bodyPr>
          <a:lstStyle/>
          <a:p>
            <a:pPr algn="ctr"/>
            <a:r>
              <a:rPr sz="900" b="0" i="0" lang="ko-KR" altLang="en-US">
                <a:solidFill>
                  <a:srgbClr val="262626"/>
                </a:solidFill>
                <a:latin typeface="LG스마트체 Regular"/>
                <a:ea typeface="LG스마트체 Regular"/>
                <a:cs typeface="LG스마트체 Regular"/>
              </a:rPr>
              <a:t>보고 결과</a:t>
            </a:r>
          </a:p>
          <a:p>
            <a:pPr algn="ctr"/>
            <a:r>
              <a:rPr sz="900" b="0" i="0" lang="ko-KR" altLang="en-US">
                <a:solidFill>
                  <a:srgbClr val="262626"/>
                </a:solidFill>
                <a:latin typeface="LG스마트체 Regular"/>
                <a:ea typeface="LG스마트체 Regular"/>
                <a:cs typeface="LG스마트체 Regular"/>
              </a:rPr>
              <a:t>(reports/)</a:t>
            </a:r>
          </a:p>
        </p:txBody>
      </p:sp>
      <p:sp>
        <p:nvSpPr>
          <p:cNvPr id="44" name="icon-folders"/>
          <p:cNvSpPr/>
          <p:nvPr/>
        </p:nvSpPr>
        <p:spPr>
          <a:xfrm>
            <a:off x="5230368" y="4626864"/>
            <a:ext cx="237744" cy="237744"/>
          </a:xfrm>
          <a:custGeom>
            <a:avLst/>
            <a:gdLst/>
            <a:ahLst/>
            <a:cxnLst/>
            <a:rect l="0" t="0" r="r" b="b"/>
            <a:pathLst>
              <a:path w="24000" h="24000" fill="none">
                <a:moveTo>
                  <a:pt x="9000" y="3000"/>
                </a:moveTo>
                <a:lnTo>
                  <a:pt x="12000" y="3000"/>
                </a:lnTo>
                <a:lnTo>
                  <a:pt x="14000" y="5000"/>
                </a:lnTo>
                <a:lnTo>
                  <a:pt x="19000" y="5000"/>
                </a:lnTo>
                <a:cubicBezTo>
                  <a:pt x="20105" y="5000"/>
                  <a:pt x="21000" y="5895"/>
                  <a:pt x="21000" y="7000"/>
                </a:cubicBezTo>
                <a:lnTo>
                  <a:pt x="21000" y="14000"/>
                </a:lnTo>
                <a:cubicBezTo>
                  <a:pt x="21000" y="15105"/>
                  <a:pt x="20105" y="16000"/>
                  <a:pt x="19000" y="16000"/>
                </a:cubicBezTo>
                <a:lnTo>
                  <a:pt x="9000" y="16000"/>
                </a:lnTo>
                <a:cubicBezTo>
                  <a:pt x="7895" y="16000"/>
                  <a:pt x="7000" y="15105"/>
                  <a:pt x="7000" y="14000"/>
                </a:cubicBezTo>
                <a:lnTo>
                  <a:pt x="7000" y="5000"/>
                </a:lnTo>
                <a:cubicBezTo>
                  <a:pt x="7000" y="3895"/>
                  <a:pt x="7895" y="3000"/>
                  <a:pt x="9000" y="3000"/>
                </a:cubicBezTo>
              </a:path>
              <a:path w="24000" h="24000" fill="none">
                <a:moveTo>
                  <a:pt x="17000" y="16000"/>
                </a:moveTo>
                <a:lnTo>
                  <a:pt x="17000" y="18000"/>
                </a:lnTo>
                <a:cubicBezTo>
                  <a:pt x="17000" y="19105"/>
                  <a:pt x="16105" y="20000"/>
                  <a:pt x="15000" y="20000"/>
                </a:cubicBezTo>
                <a:lnTo>
                  <a:pt x="5000" y="20000"/>
                </a:lnTo>
                <a:cubicBezTo>
                  <a:pt x="3895" y="20000"/>
                  <a:pt x="3000" y="19105"/>
                  <a:pt x="3000" y="18000"/>
                </a:cubicBezTo>
                <a:lnTo>
                  <a:pt x="3000" y="9000"/>
                </a:lnTo>
                <a:cubicBezTo>
                  <a:pt x="3000" y="7895"/>
                  <a:pt x="3895" y="7000"/>
                  <a:pt x="5000" y="7000"/>
                </a:cubicBezTo>
                <a:lnTo>
                  <a:pt x="7000" y="7000"/>
                </a:lnTo>
              </a:path>
            </a:pathLst>
          </a:custGeom>
          <a:solidFill>
            <a:srgbClr val="595959"/>
          </a:solidFill>
          <a:ln w="12700">
            <a:solidFill>
              <a:srgbClr val="595959"/>
            </a:solidFill>
          </a:ln>
          <a:effectLst/>
        </p:spPr>
        <p:txBody>
          <a:bodyPr rtlCol="0" anchor="ctr"/>
          <a:lstStyle/>
          <a:p/>
        </p:txBody>
      </p:sp>
      <p:sp>
        <p:nvSpPr>
          <p:cNvPr id="45" name="TextBox 44"/>
          <p:cNvSpPr txBox="1"/>
          <p:nvPr/>
        </p:nvSpPr>
        <p:spPr>
          <a:xfrm>
            <a:off x="4983480" y="4882896"/>
            <a:ext cx="731520" cy="365760"/>
          </a:xfrm>
          <a:prstGeom prst="rect">
            <a:avLst/>
          </a:prstGeom>
          <a:noFill/>
        </p:spPr>
        <p:txBody>
          <a:bodyPr wrap="square" lIns="0" rIns="0" tIns="18288" bIns="18288" anchor="t">
            <a:noAutofit/>
          </a:bodyPr>
          <a:lstStyle/>
          <a:p>
            <a:pPr algn="ctr"/>
            <a:r>
              <a:rPr sz="900" b="0" i="0" lang="ko-KR" altLang="en-US">
                <a:solidFill>
                  <a:srgbClr val="262626"/>
                </a:solidFill>
                <a:latin typeface="LG스마트체 Regular"/>
                <a:ea typeface="LG스마트체 Regular"/>
                <a:cs typeface="LG스마트체 Regular"/>
              </a:rPr>
              <a:t>VoE 글</a:t>
            </a:r>
          </a:p>
        </p:txBody>
      </p:sp>
      <p:sp>
        <p:nvSpPr>
          <p:cNvPr id="46" name="zoneD"/>
          <p:cNvSpPr/>
          <p:nvPr/>
        </p:nvSpPr>
        <p:spPr>
          <a:xfrm>
            <a:off x="6858000" y="1234440"/>
            <a:ext cx="1645920" cy="1920240"/>
          </a:xfrm>
          <a:prstGeom prst="roundRect">
            <a:avLst>
              <a:gd name="adj" fmla="val 6666"/>
            </a:avLst>
          </a:prstGeom>
          <a:noFill/>
          <a:ln w="15875">
            <a:solidFill>
              <a:srgbClr val="C55A11"/>
            </a:solidFill>
            <a:prstDash val="dash"/>
          </a:ln>
          <a:effectLst/>
        </p:spPr>
        <p:txBody>
          <a:bodyPr rtlCol="0" anchor="ctr"/>
          <a:lstStyle/>
          <a:p/>
        </p:txBody>
      </p:sp>
      <p:sp>
        <p:nvSpPr>
          <p:cNvPr id="47" name="icon-api"/>
          <p:cNvSpPr/>
          <p:nvPr/>
        </p:nvSpPr>
        <p:spPr>
          <a:xfrm>
            <a:off x="6931152" y="1316736"/>
            <a:ext cx="219456" cy="219456"/>
          </a:xfrm>
          <a:custGeom>
            <a:avLst/>
            <a:gdLst/>
            <a:ahLst/>
            <a:cxnLst/>
            <a:rect l="0" t="0" r="r" b="b"/>
            <a:pathLst>
              <a:path w="24000" h="24000" fill="none">
                <a:moveTo>
                  <a:pt x="4000" y="13000"/>
                </a:moveTo>
                <a:lnTo>
                  <a:pt x="9000" y="13000"/>
                </a:lnTo>
              </a:path>
              <a:path w="24000" h="24000" fill="none">
                <a:moveTo>
                  <a:pt x="12000" y="16000"/>
                </a:moveTo>
                <a:lnTo>
                  <a:pt x="12000" y="8000"/>
                </a:lnTo>
                <a:lnTo>
                  <a:pt x="15000" y="8000"/>
                </a:lnTo>
                <a:cubicBezTo>
                  <a:pt x="16105" y="8000"/>
                  <a:pt x="17000" y="8895"/>
                  <a:pt x="17000" y="10000"/>
                </a:cubicBezTo>
                <a:lnTo>
                  <a:pt x="17000" y="11000"/>
                </a:lnTo>
                <a:cubicBezTo>
                  <a:pt x="17000" y="12105"/>
                  <a:pt x="16105" y="13000"/>
                  <a:pt x="15000" y="13000"/>
                </a:cubicBezTo>
                <a:lnTo>
                  <a:pt x="12000" y="13000"/>
                </a:lnTo>
              </a:path>
              <a:path w="24000" h="24000" fill="none">
                <a:moveTo>
                  <a:pt x="20000" y="8000"/>
                </a:moveTo>
                <a:lnTo>
                  <a:pt x="20000" y="16000"/>
                </a:lnTo>
              </a:path>
              <a:path w="24000" h="24000" fill="none">
                <a:moveTo>
                  <a:pt x="9000" y="16000"/>
                </a:moveTo>
                <a:lnTo>
                  <a:pt x="9000" y="10500"/>
                </a:lnTo>
                <a:cubicBezTo>
                  <a:pt x="9000" y="9119"/>
                  <a:pt x="7881" y="8000"/>
                  <a:pt x="6500" y="8000"/>
                </a:cubicBezTo>
                <a:cubicBezTo>
                  <a:pt x="5119" y="8000"/>
                  <a:pt x="4000" y="9119"/>
                  <a:pt x="4000" y="10500"/>
                </a:cubicBezTo>
                <a:lnTo>
                  <a:pt x="4000" y="16000"/>
                </a:lnTo>
              </a:path>
            </a:pathLst>
          </a:custGeom>
          <a:solidFill>
            <a:srgbClr val="595959"/>
          </a:solidFill>
          <a:ln w="12700">
            <a:solidFill>
              <a:srgbClr val="595959"/>
            </a:solidFill>
          </a:ln>
          <a:effectLst/>
        </p:spPr>
        <p:txBody>
          <a:bodyPr rtlCol="0" anchor="ctr"/>
          <a:lstStyle/>
          <a:p/>
        </p:txBody>
      </p:sp>
      <p:sp>
        <p:nvSpPr>
          <p:cNvPr id="48" name="TextBox 47"/>
          <p:cNvSpPr txBox="1"/>
          <p:nvPr/>
        </p:nvSpPr>
        <p:spPr>
          <a:xfrm>
            <a:off x="7196328" y="1298448"/>
            <a:ext cx="1280160" cy="256032"/>
          </a:xfrm>
          <a:prstGeom prst="rect">
            <a:avLst/>
          </a:prstGeom>
          <a:noFill/>
        </p:spPr>
        <p:txBody>
          <a:bodyPr wrap="square" lIns="0" rIns="0" tIns="18288" bIns="18288" anchor="t">
            <a:noAutofit/>
          </a:bodyPr>
          <a:lstStyle/>
          <a:p>
            <a:pPr algn="l"/>
            <a:r>
              <a:rPr sz="1100" b="1" i="0" lang="ko-KR" altLang="en-US">
                <a:solidFill>
                  <a:srgbClr val="262626"/>
                </a:solidFill>
                <a:latin typeface="LG스마트체 Regular"/>
                <a:ea typeface="LG스마트체 Regular"/>
                <a:cs typeface="LG스마트체 Regular"/>
              </a:rPr>
              <a:t>EXAONE API </a:t>
            </a:r>
            <a:r>
              <a:rPr sz="1100" b="1" i="0" lang="ko-KR" altLang="en-US">
                <a:solidFill>
                  <a:srgbClr val="595959"/>
                </a:solidFill>
                <a:latin typeface="LG스마트체 Regular"/>
                <a:ea typeface="LG스마트체 Regular"/>
                <a:cs typeface="LG스마트체 Regular"/>
              </a:rPr>
              <a:t>(사내)</a:t>
            </a:r>
          </a:p>
        </p:txBody>
      </p:sp>
      <p:sp>
        <p:nvSpPr>
          <p:cNvPr id="49" name="exaone-tag"/>
          <p:cNvSpPr/>
          <p:nvPr/>
        </p:nvSpPr>
        <p:spPr>
          <a:xfrm>
            <a:off x="6967728" y="1719072"/>
            <a:ext cx="1426464" cy="329184"/>
          </a:xfrm>
          <a:prstGeom prst="roundRect">
            <a:avLst>
              <a:gd name="adj" fmla="val 16666"/>
            </a:avLst>
          </a:prstGeom>
          <a:solidFill>
            <a:srgbClr val="EEF2F8"/>
          </a:solidFill>
          <a:ln w="12700">
            <a:solidFill>
              <a:srgbClr val="1F3864"/>
            </a:solidFill>
          </a:ln>
          <a:effectLst/>
        </p:spPr>
        <p:txBody>
          <a:bodyPr rtlCol="0" anchor="ctr"/>
          <a:lstStyle/>
          <a:p/>
        </p:txBody>
      </p:sp>
      <p:sp>
        <p:nvSpPr>
          <p:cNvPr id="50" name="icon-ai"/>
          <p:cNvSpPr/>
          <p:nvPr/>
        </p:nvSpPr>
        <p:spPr>
          <a:xfrm>
            <a:off x="7040880" y="1773936"/>
            <a:ext cx="219456" cy="219456"/>
          </a:xfrm>
          <a:custGeom>
            <a:avLst/>
            <a:gdLst/>
            <a:ahLst/>
            <a:cxnLst/>
            <a:rect l="0" t="0" r="r" b="b"/>
            <a:pathLst>
              <a:path w="24000" h="24000" fill="none">
                <a:moveTo>
                  <a:pt x="15500" y="13000"/>
                </a:moveTo>
                <a:cubicBezTo>
                  <a:pt x="13567" y="13000"/>
                  <a:pt x="12000" y="14567"/>
                  <a:pt x="12000" y="16500"/>
                </a:cubicBezTo>
                <a:lnTo>
                  <a:pt x="12000" y="17500"/>
                </a:lnTo>
                <a:cubicBezTo>
                  <a:pt x="12000" y="19433"/>
                  <a:pt x="13567" y="21000"/>
                  <a:pt x="15500" y="21000"/>
                </a:cubicBezTo>
                <a:cubicBezTo>
                  <a:pt x="17433" y="21000"/>
                  <a:pt x="19000" y="19433"/>
                  <a:pt x="19000" y="17500"/>
                </a:cubicBezTo>
                <a:lnTo>
                  <a:pt x="19000" y="15700"/>
                </a:lnTo>
              </a:path>
              <a:path w="24000" h="24000" fill="none">
                <a:moveTo>
                  <a:pt x="8500" y="13000"/>
                </a:moveTo>
                <a:cubicBezTo>
                  <a:pt x="10433" y="13000"/>
                  <a:pt x="12000" y="14567"/>
                  <a:pt x="12000" y="16500"/>
                </a:cubicBezTo>
                <a:lnTo>
                  <a:pt x="12000" y="17500"/>
                </a:lnTo>
                <a:cubicBezTo>
                  <a:pt x="12000" y="19433"/>
                  <a:pt x="10433" y="21000"/>
                  <a:pt x="8500" y="21000"/>
                </a:cubicBezTo>
                <a:cubicBezTo>
                  <a:pt x="6567" y="21000"/>
                  <a:pt x="5000" y="19433"/>
                  <a:pt x="5000" y="17500"/>
                </a:cubicBezTo>
                <a:lnTo>
                  <a:pt x="5000" y="15700"/>
                </a:lnTo>
              </a:path>
              <a:path w="24000" h="24000" fill="none">
                <a:moveTo>
                  <a:pt x="17500" y="16000"/>
                </a:moveTo>
                <a:cubicBezTo>
                  <a:pt x="19433" y="16000"/>
                  <a:pt x="21000" y="14433"/>
                  <a:pt x="21000" y="12500"/>
                </a:cubicBezTo>
                <a:cubicBezTo>
                  <a:pt x="21000" y="10567"/>
                  <a:pt x="19433" y="9000"/>
                  <a:pt x="17500" y="9000"/>
                </a:cubicBezTo>
                <a:lnTo>
                  <a:pt x="17000" y="9000"/>
                </a:lnTo>
              </a:path>
              <a:path w="24000" h="24000" fill="none">
                <a:moveTo>
                  <a:pt x="19000" y="9300"/>
                </a:moveTo>
                <a:lnTo>
                  <a:pt x="19000" y="6500"/>
                </a:lnTo>
                <a:cubicBezTo>
                  <a:pt x="19000" y="4567"/>
                  <a:pt x="17433" y="3000"/>
                  <a:pt x="15500" y="3000"/>
                </a:cubicBezTo>
                <a:cubicBezTo>
                  <a:pt x="13567" y="3000"/>
                  <a:pt x="12000" y="4567"/>
                  <a:pt x="12000" y="6500"/>
                </a:cubicBezTo>
              </a:path>
              <a:path w="24000" h="24000" fill="none">
                <a:moveTo>
                  <a:pt x="6500" y="16000"/>
                </a:moveTo>
                <a:cubicBezTo>
                  <a:pt x="4567" y="16000"/>
                  <a:pt x="3000" y="14433"/>
                  <a:pt x="3000" y="12500"/>
                </a:cubicBezTo>
                <a:cubicBezTo>
                  <a:pt x="3000" y="10567"/>
                  <a:pt x="4567" y="9000"/>
                  <a:pt x="6500" y="9000"/>
                </a:cubicBezTo>
                <a:lnTo>
                  <a:pt x="7000" y="9000"/>
                </a:lnTo>
              </a:path>
              <a:path w="24000" h="24000" fill="none">
                <a:moveTo>
                  <a:pt x="5000" y="9300"/>
                </a:moveTo>
                <a:lnTo>
                  <a:pt x="5000" y="6500"/>
                </a:lnTo>
                <a:cubicBezTo>
                  <a:pt x="5000" y="4567"/>
                  <a:pt x="6567" y="3000"/>
                  <a:pt x="8500" y="3000"/>
                </a:cubicBezTo>
                <a:cubicBezTo>
                  <a:pt x="10433" y="3000"/>
                  <a:pt x="12000" y="4567"/>
                  <a:pt x="12000" y="6500"/>
                </a:cubicBezTo>
                <a:lnTo>
                  <a:pt x="12000" y="16500"/>
                </a:lnTo>
              </a:path>
            </a:pathLst>
          </a:custGeom>
          <a:solidFill>
            <a:srgbClr val="1F3864"/>
          </a:solidFill>
          <a:ln w="12700">
            <a:solidFill>
              <a:srgbClr val="1F3864"/>
            </a:solidFill>
          </a:ln>
          <a:effectLst/>
        </p:spPr>
        <p:txBody>
          <a:bodyPr rtlCol="0" anchor="ctr"/>
          <a:lstStyle/>
          <a:p/>
        </p:txBody>
      </p:sp>
      <p:sp>
        <p:nvSpPr>
          <p:cNvPr id="51" name="TextBox 50"/>
          <p:cNvSpPr txBox="1"/>
          <p:nvPr/>
        </p:nvSpPr>
        <p:spPr>
          <a:xfrm>
            <a:off x="7315200" y="1773936"/>
            <a:ext cx="1051560" cy="219456"/>
          </a:xfrm>
          <a:prstGeom prst="rect">
            <a:avLst/>
          </a:prstGeom>
          <a:noFill/>
        </p:spPr>
        <p:txBody>
          <a:bodyPr wrap="square" lIns="0" rIns="0" tIns="18288" bIns="18288" anchor="t">
            <a:noAutofit/>
          </a:bodyPr>
          <a:lstStyle/>
          <a:p>
            <a:pPr algn="l"/>
            <a:r>
              <a:rPr sz="1000" b="1" i="0" lang="ko-KR" altLang="en-US">
                <a:solidFill>
                  <a:srgbClr val="1F3864"/>
                </a:solidFill>
                <a:latin typeface="LG스마트체 Regular"/>
                <a:ea typeface="LG스마트체 Regular"/>
                <a:cs typeface="LG스마트체 Regular"/>
              </a:rPr>
              <a:t>EXAONE API</a:t>
            </a:r>
          </a:p>
        </p:txBody>
      </p:sp>
      <p:sp>
        <p:nvSpPr>
          <p:cNvPr id="52" name="TextBox 51"/>
          <p:cNvSpPr txBox="1"/>
          <p:nvPr/>
        </p:nvSpPr>
        <p:spPr>
          <a:xfrm>
            <a:off x="6949440" y="2139696"/>
            <a:ext cx="1508760" cy="969264"/>
          </a:xfrm>
          <a:prstGeom prst="rect">
            <a:avLst/>
          </a:prstGeom>
          <a:noFill/>
        </p:spPr>
        <p:txBody>
          <a:bodyPr wrap="square" lIns="18288" rIns="18288" tIns="18288" bIns="18288" anchor="t">
            <a:noAutofit/>
          </a:bodyPr>
          <a:lstStyle/>
          <a:p>
            <a:pPr algn="l">
              <a:spcBef>
                <a:spcPts val="0"/>
              </a:spcBef>
            </a:pPr>
            <a:r>
              <a:rPr sz="900" b="1" i="0" lang="ko-KR" altLang="en-US">
                <a:solidFill>
                  <a:srgbClr val="262626"/>
                </a:solidFill>
                <a:latin typeface="LG스마트체 Regular"/>
                <a:ea typeface="LG스마트체 Regular"/>
                <a:cs typeface="LG스마트체 Regular"/>
              </a:rPr>
              <a:t>키: </a:t>
            </a:r>
            <a:r>
              <a:rPr sz="900" b="0" i="0" lang="ko-KR" altLang="en-US">
                <a:solidFill>
                  <a:srgbClr val="262626"/>
                </a:solidFill>
                <a:latin typeface="LG스마트체 Regular"/>
                <a:ea typeface="LG스마트체 Regular"/>
                <a:cs typeface="LG스마트체 Regular"/>
              </a:rPr>
              <a:t>사내망 config 파일 (GitHub 미포함)</a:t>
            </a:r>
          </a:p>
          <a:p>
            <a:pPr algn="l">
              <a:spcBef>
                <a:spcPts val="300"/>
              </a:spcBef>
            </a:pPr>
            <a:r>
              <a:rPr sz="900" b="0" i="0" lang="ko-KR" altLang="en-US">
                <a:solidFill>
                  <a:srgbClr val="262626"/>
                </a:solidFill>
                <a:latin typeface="LG스마트체 Regular"/>
                <a:ea typeface="LG스마트체 Regular"/>
                <a:cs typeface="LG스마트체 Regular"/>
              </a:rPr>
              <a:t>개인 서버에서 연결 정상</a:t>
            </a:r>
            <a:r>
              <a:rPr sz="900" b="0" i="0" lang="ko-KR" altLang="en-US">
                <a:solidFill>
                  <a:srgbClr val="595959"/>
                </a:solidFill>
                <a:latin typeface="LG스마트체 Regular"/>
                <a:ea typeface="LG스마트체 Regular"/>
                <a:cs typeface="LG스마트체 Regular"/>
              </a:rPr>
              <a:t> (사용자 제공)</a:t>
            </a:r>
          </a:p>
        </p:txBody>
      </p:sp>
      <p:sp>
        <p:nvSpPr>
          <p:cNvPr id="53" name="zoneC"/>
          <p:cNvSpPr/>
          <p:nvPr/>
        </p:nvSpPr>
        <p:spPr>
          <a:xfrm>
            <a:off x="6858000" y="3337560"/>
            <a:ext cx="1645920" cy="2103120"/>
          </a:xfrm>
          <a:prstGeom prst="roundRect">
            <a:avLst>
              <a:gd name="adj" fmla="val 6666"/>
            </a:avLst>
          </a:prstGeom>
          <a:solidFill>
            <a:srgbClr val="FFF5EB"/>
          </a:solidFill>
          <a:ln w="15875">
            <a:solidFill>
              <a:srgbClr val="C55A11"/>
            </a:solidFill>
            <a:prstDash val="dash"/>
          </a:ln>
          <a:effectLst/>
        </p:spPr>
        <p:txBody>
          <a:bodyPr rtlCol="0" anchor="ctr"/>
          <a:lstStyle/>
          <a:p/>
        </p:txBody>
      </p:sp>
      <p:sp>
        <p:nvSpPr>
          <p:cNvPr id="54" name="icon-nas"/>
          <p:cNvSpPr/>
          <p:nvPr/>
        </p:nvSpPr>
        <p:spPr>
          <a:xfrm>
            <a:off x="6931152" y="3419856"/>
            <a:ext cx="219456" cy="219456"/>
          </a:xfrm>
          <a:custGeom>
            <a:avLst/>
            <a:gdLst/>
            <a:ahLst/>
            <a:cxnLst/>
            <a:rect l="0" t="0" r="r" b="b"/>
            <a:pathLst>
              <a:path w="24000" h="24000" stroke="0">
                <a:moveTo>
                  <a:pt x="2000" y="20000"/>
                </a:moveTo>
                <a:lnTo>
                  <a:pt x="22000" y="20000"/>
                </a:lnTo>
                <a:lnTo>
                  <a:pt x="22000" y="16000"/>
                </a:lnTo>
                <a:lnTo>
                  <a:pt x="2000" y="16000"/>
                </a:lnTo>
                <a:lnTo>
                  <a:pt x="2000" y="20000"/>
                </a:lnTo>
                <a:close/>
                <a:moveTo>
                  <a:pt x="4000" y="17000"/>
                </a:moveTo>
                <a:lnTo>
                  <a:pt x="6000" y="17000"/>
                </a:lnTo>
                <a:lnTo>
                  <a:pt x="6000" y="19000"/>
                </a:lnTo>
                <a:lnTo>
                  <a:pt x="4000" y="19000"/>
                </a:lnTo>
                <a:lnTo>
                  <a:pt x="4000" y="17000"/>
                </a:lnTo>
                <a:close/>
                <a:moveTo>
                  <a:pt x="2000" y="4000"/>
                </a:moveTo>
                <a:lnTo>
                  <a:pt x="2000" y="8000"/>
                </a:lnTo>
                <a:lnTo>
                  <a:pt x="22000" y="8000"/>
                </a:lnTo>
                <a:lnTo>
                  <a:pt x="22000" y="4000"/>
                </a:lnTo>
                <a:lnTo>
                  <a:pt x="2000" y="4000"/>
                </a:lnTo>
                <a:close/>
                <a:moveTo>
                  <a:pt x="6000" y="7000"/>
                </a:moveTo>
                <a:lnTo>
                  <a:pt x="4000" y="7000"/>
                </a:lnTo>
                <a:lnTo>
                  <a:pt x="4000" y="5000"/>
                </a:lnTo>
                <a:lnTo>
                  <a:pt x="6000" y="5000"/>
                </a:lnTo>
                <a:lnTo>
                  <a:pt x="6000" y="7000"/>
                </a:lnTo>
                <a:close/>
                <a:moveTo>
                  <a:pt x="2000" y="14000"/>
                </a:moveTo>
                <a:lnTo>
                  <a:pt x="22000" y="14000"/>
                </a:lnTo>
                <a:lnTo>
                  <a:pt x="22000" y="10000"/>
                </a:lnTo>
                <a:lnTo>
                  <a:pt x="2000" y="10000"/>
                </a:lnTo>
                <a:lnTo>
                  <a:pt x="2000" y="14000"/>
                </a:lnTo>
                <a:close/>
                <a:moveTo>
                  <a:pt x="4000" y="11000"/>
                </a:moveTo>
                <a:lnTo>
                  <a:pt x="6000" y="11000"/>
                </a:lnTo>
                <a:lnTo>
                  <a:pt x="6000" y="13000"/>
                </a:lnTo>
                <a:lnTo>
                  <a:pt x="4000" y="13000"/>
                </a:lnTo>
                <a:lnTo>
                  <a:pt x="4000" y="11000"/>
                </a:lnTo>
                <a:close/>
              </a:path>
            </a:pathLst>
          </a:custGeom>
          <a:solidFill>
            <a:srgbClr val="595959"/>
          </a:solidFill>
          <a:ln>
            <a:noFill/>
          </a:ln>
          <a:effectLst/>
        </p:spPr>
        <p:txBody>
          <a:bodyPr rtlCol="0" anchor="ctr"/>
          <a:lstStyle/>
          <a:p/>
        </p:txBody>
      </p:sp>
      <p:sp>
        <p:nvSpPr>
          <p:cNvPr id="55" name="TextBox 54"/>
          <p:cNvSpPr txBox="1"/>
          <p:nvPr/>
        </p:nvSpPr>
        <p:spPr>
          <a:xfrm>
            <a:off x="7196328" y="3392424"/>
            <a:ext cx="1280160" cy="402336"/>
          </a:xfrm>
          <a:prstGeom prst="rect">
            <a:avLst/>
          </a:prstGeom>
          <a:noFill/>
        </p:spPr>
        <p:txBody>
          <a:bodyPr wrap="square" lIns="0" rIns="0" tIns="18288" bIns="18288" anchor="t">
            <a:noAutofit/>
          </a:bodyPr>
          <a:lstStyle/>
          <a:p>
            <a:pPr algn="l"/>
            <a:r>
              <a:rPr sz="1100" b="1" i="0" lang="ko-KR" altLang="en-US">
                <a:solidFill>
                  <a:srgbClr val="262626"/>
                </a:solidFill>
                <a:latin typeface="LG스마트체 Regular"/>
                <a:ea typeface="LG스마트체 Regular"/>
                <a:cs typeface="LG스마트체 Regular"/>
              </a:rPr>
              <a:t>NAS</a:t>
            </a:r>
          </a:p>
          <a:p>
            <a:pPr algn="l"/>
            <a:r>
              <a:rPr sz="950" b="1" i="0" lang="ko-KR" altLang="en-US">
                <a:solidFill>
                  <a:srgbClr val="C55A11"/>
                </a:solidFill>
                <a:latin typeface="LG스마트체 Regular"/>
                <a:ea typeface="LG스마트체 Regular"/>
                <a:cs typeface="LG스마트체 Regular"/>
              </a:rPr>
              <a:t>(Sandbox 마운트·계획)</a:t>
            </a:r>
          </a:p>
        </p:txBody>
      </p:sp>
      <p:sp>
        <p:nvSpPr>
          <p:cNvPr id="56" name="icon-backup"/>
          <p:cNvSpPr/>
          <p:nvPr/>
        </p:nvSpPr>
        <p:spPr>
          <a:xfrm>
            <a:off x="6967728" y="4087368"/>
            <a:ext cx="274320" cy="274320"/>
          </a:xfrm>
          <a:custGeom>
            <a:avLst/>
            <a:gdLst/>
            <a:ahLst/>
            <a:cxnLst/>
            <a:rect l="0" t="0" r="r" b="b"/>
            <a:pathLst>
              <a:path w="24000" h="24000" stroke="0">
                <a:moveTo>
                  <a:pt x="19350" y="10040"/>
                </a:moveTo>
                <a:cubicBezTo>
                  <a:pt x="18657" y="6529"/>
                  <a:pt x="15578" y="3999"/>
                  <a:pt x="12000" y="4000"/>
                </a:cubicBezTo>
                <a:cubicBezTo>
                  <a:pt x="9110" y="4000"/>
                  <a:pt x="6600" y="5640"/>
                  <a:pt x="5350" y="8040"/>
                </a:cubicBezTo>
                <a:cubicBezTo>
                  <a:pt x="2306" y="8369"/>
                  <a:pt x="0" y="10939"/>
                  <a:pt x="0" y="14000"/>
                </a:cubicBezTo>
                <a:cubicBezTo>
                  <a:pt x="0" y="17310"/>
                  <a:pt x="2690" y="20000"/>
                  <a:pt x="6000" y="20000"/>
                </a:cubicBezTo>
                <a:lnTo>
                  <a:pt x="19000" y="20000"/>
                </a:lnTo>
                <a:cubicBezTo>
                  <a:pt x="21760" y="20000"/>
                  <a:pt x="24000" y="17760"/>
                  <a:pt x="24000" y="15000"/>
                </a:cubicBezTo>
                <a:cubicBezTo>
                  <a:pt x="24000" y="12360"/>
                  <a:pt x="21950" y="10220"/>
                  <a:pt x="19350" y="10040"/>
                </a:cubicBezTo>
                <a:close/>
                <a:moveTo>
                  <a:pt x="14000" y="13000"/>
                </a:moveTo>
                <a:lnTo>
                  <a:pt x="14000" y="17000"/>
                </a:lnTo>
                <a:lnTo>
                  <a:pt x="10000" y="17000"/>
                </a:lnTo>
                <a:lnTo>
                  <a:pt x="10000" y="13000"/>
                </a:lnTo>
                <a:lnTo>
                  <a:pt x="7000" y="13000"/>
                </a:lnTo>
                <a:lnTo>
                  <a:pt x="12000" y="8000"/>
                </a:lnTo>
                <a:lnTo>
                  <a:pt x="17000" y="13000"/>
                </a:lnTo>
                <a:lnTo>
                  <a:pt x="14000" y="13000"/>
                </a:lnTo>
                <a:close/>
              </a:path>
            </a:pathLst>
          </a:custGeom>
          <a:solidFill>
            <a:srgbClr val="595959"/>
          </a:solidFill>
          <a:ln>
            <a:noFill/>
          </a:ln>
          <a:effectLst/>
        </p:spPr>
        <p:txBody>
          <a:bodyPr rtlCol="0" anchor="ctr"/>
          <a:lstStyle/>
          <a:p/>
        </p:txBody>
      </p:sp>
      <p:sp>
        <p:nvSpPr>
          <p:cNvPr id="57" name="conflict-C4"/>
          <p:cNvSpPr txBox="1"/>
          <p:nvPr/>
        </p:nvSpPr>
        <p:spPr>
          <a:xfrm>
            <a:off x="7315200" y="4133088"/>
            <a:ext cx="384048" cy="182880"/>
          </a:xfrm>
          <a:prstGeom prst="rect">
            <a:avLst/>
          </a:prstGeom>
          <a:noFill/>
        </p:spPr>
        <p:txBody>
          <a:bodyPr wrap="square" lIns="0" rIns="0" tIns="18288" bIns="18288" anchor="t">
            <a:noAutofit/>
          </a:bodyPr>
          <a:lstStyle/>
          <a:p>
            <a:pPr algn="l"/>
            <a:r>
              <a:rPr sz="900" b="1" i="0" lang="ko-KR" altLang="en-US">
                <a:solidFill>
                  <a:srgbClr val="C00000"/>
                </a:solidFill>
                <a:latin typeface="LG스마트체 Regular"/>
                <a:ea typeface="LG스마트체 Regular"/>
                <a:cs typeface="LG스마트체 Regular"/>
              </a:rPr>
              <a:t>◆</a:t>
            </a:r>
            <a:r>
              <a:rPr sz="900" b="1" i="0" lang="ko-KR" altLang="en-US">
                <a:solidFill>
                  <a:srgbClr val="C00000"/>
                </a:solidFill>
                <a:latin typeface="LG스마트체 Regular"/>
                <a:ea typeface="LG스마트체 Regular"/>
                <a:cs typeface="LG스마트체 Regular"/>
              </a:rPr>
              <a:t>C4</a:t>
            </a:r>
          </a:p>
        </p:txBody>
      </p:sp>
      <p:sp>
        <p:nvSpPr>
          <p:cNvPr id="58" name="TextBox 57"/>
          <p:cNvSpPr txBox="1"/>
          <p:nvPr/>
        </p:nvSpPr>
        <p:spPr>
          <a:xfrm>
            <a:off x="6949440" y="4443984"/>
            <a:ext cx="1517904" cy="969264"/>
          </a:xfrm>
          <a:prstGeom prst="rect">
            <a:avLst/>
          </a:prstGeom>
          <a:noFill/>
        </p:spPr>
        <p:txBody>
          <a:bodyPr wrap="square" lIns="18288" rIns="18288" tIns="18288" bIns="18288" anchor="t">
            <a:noAutofit/>
          </a:bodyPr>
          <a:lstStyle/>
          <a:p>
            <a:pPr algn="l">
              <a:spcBef>
                <a:spcPts val="0"/>
              </a:spcBef>
            </a:pPr>
            <a:r>
              <a:rPr sz="900" b="1" i="0" lang="ko-KR" altLang="en-US">
                <a:solidFill>
                  <a:srgbClr val="262626"/>
                </a:solidFill>
                <a:latin typeface="LG스마트체 Regular"/>
                <a:ea typeface="LG스마트체 Regular"/>
                <a:cs typeface="LG스마트체 Regular"/>
              </a:rPr>
              <a:t>요청: </a:t>
            </a:r>
            <a:r>
              <a:rPr sz="900" b="0" i="0" lang="ko-KR" altLang="en-US">
                <a:solidFill>
                  <a:srgbClr val="262626"/>
                </a:solidFill>
                <a:latin typeface="LG스마트체 Regular"/>
                <a:ea typeface="LG스마트체 Regular"/>
                <a:cs typeface="LG스마트체 Regular"/>
              </a:rPr>
              <a:t>2TB · 보관 1년 (DAVINCI 미회신)</a:t>
            </a:r>
          </a:p>
          <a:p>
            <a:pPr algn="l">
              <a:spcBef>
                <a:spcPts val="200"/>
              </a:spcBef>
            </a:pPr>
            <a:r>
              <a:rPr sz="900" b="1" i="0" lang="ko-KR" altLang="en-US">
                <a:solidFill>
                  <a:srgbClr val="262626"/>
                </a:solidFill>
                <a:latin typeface="LG스마트체 Regular"/>
                <a:ea typeface="LG스마트체 Regular"/>
                <a:cs typeface="LG스마트체 Regular"/>
              </a:rPr>
              <a:t>역할: </a:t>
            </a:r>
            <a:r>
              <a:rPr sz="900" b="0" i="0" lang="ko-KR" altLang="en-US">
                <a:solidFill>
                  <a:srgbClr val="262626"/>
                </a:solidFill>
                <a:latin typeface="LG스마트체 Regular"/>
                <a:ea typeface="LG스마트체 Regular"/>
                <a:cs typeface="LG스마트체 Regular"/>
              </a:rPr>
              <a:t>백업 저장 — 범위 DAVINCI와 확정 필요</a:t>
            </a:r>
          </a:p>
          <a:p>
            <a:pPr algn="l">
              <a:spcBef>
                <a:spcPts val="200"/>
              </a:spcBef>
            </a:pPr>
            <a:r>
              <a:rPr sz="900" b="0" i="0" lang="ko-KR" altLang="en-US">
                <a:solidFill>
                  <a:srgbClr val="262626"/>
                </a:solidFill>
                <a:latin typeface="LG스마트체 Regular"/>
                <a:ea typeface="LG스마트체 Regular"/>
                <a:cs typeface="LG스마트체 Regular"/>
              </a:rPr>
              <a:t>마운트 방식(NFS/SMB) 미정</a:t>
            </a:r>
          </a:p>
        </p:txBody>
      </p:sp>
      <p:cxnSp>
        <p:nvCxnSpPr>
          <p:cNvPr id="59" name="flow1-access"/>
          <p:cNvCxnSpPr/>
          <p:nvPr/>
        </p:nvCxnSpPr>
        <p:spPr>
          <a:xfrm>
            <a:off x="1444752" y="2697480"/>
            <a:ext cx="1316736" cy="0"/>
          </a:xfrm>
          <a:prstGeom prst="line">
            <a:avLst/>
          </a:prstGeom>
          <a:ln w="19050">
            <a:solidFill>
              <a:srgbClr val="C55A11"/>
            </a:solidFill>
            <a:prstDash val="dash"/>
            <a:tailEnd type="triangle" w="med" len="med"/>
          </a:ln>
        </p:spPr>
      </p:cxnSp>
      <p:sp>
        <p:nvSpPr>
          <p:cNvPr id="60" name="badge-1"/>
          <p:cNvSpPr/>
          <p:nvPr/>
        </p:nvSpPr>
        <p:spPr>
          <a:xfrm>
            <a:off x="1874520" y="2583180"/>
            <a:ext cx="228600" cy="228600"/>
          </a:xfrm>
          <a:prstGeom prst="ellipse">
            <a:avLst/>
          </a:prstGeom>
          <a:solidFill>
            <a:srgbClr val="1F3864"/>
          </a:solidFill>
          <a:ln w="9525">
            <a:solidFill>
              <a:srgbClr val="FFFFFF"/>
            </a:solidFill>
          </a:ln>
          <a:effectLst/>
        </p:spPr>
        <p:txBody>
          <a:bodyPr rtlCol="0" anchor="ctr" wrap="square" lIns="0" rIns="0" tIns="0" bIns="0">
            <a:noAutofit/>
          </a:bodyPr>
          <a:lstStyle/>
          <a:p>
            <a:pPr algn="ctr"/>
            <a:r>
              <a:rPr sz="900" b="1" i="0" lang="ko-KR" altLang="en-US">
                <a:solidFill>
                  <a:srgbClr val="FFFFFF"/>
                </a:solidFill>
                <a:latin typeface="LG스마트체 Regular"/>
                <a:ea typeface="LG스마트체 Regular"/>
                <a:cs typeface="LG스마트체 Regular"/>
              </a:rPr>
              <a:t>1</a:t>
            </a:r>
          </a:p>
        </p:txBody>
      </p:sp>
      <p:sp>
        <p:nvSpPr>
          <p:cNvPr id="61" name="TextBox 60"/>
          <p:cNvSpPr txBox="1"/>
          <p:nvPr/>
        </p:nvSpPr>
        <p:spPr>
          <a:xfrm>
            <a:off x="1572768" y="2258568"/>
            <a:ext cx="832104" cy="347472"/>
          </a:xfrm>
          <a:prstGeom prst="rect">
            <a:avLst/>
          </a:prstGeom>
          <a:noFill/>
        </p:spPr>
        <p:txBody>
          <a:bodyPr wrap="square" lIns="0" rIns="0" tIns="18288" bIns="18288" anchor="t">
            <a:noAutofit/>
          </a:bodyPr>
          <a:lstStyle/>
          <a:p>
            <a:pPr algn="ctr"/>
            <a:r>
              <a:rPr sz="900" b="0" i="0" lang="ko-KR" altLang="en-US">
                <a:solidFill>
                  <a:srgbClr val="C55A11"/>
                </a:solidFill>
                <a:latin typeface="LG스마트체 Regular"/>
                <a:ea typeface="LG스마트체 Regular"/>
                <a:cs typeface="LG스마트체 Regular"/>
              </a:rPr>
              <a:t>HTTP</a:t>
            </a:r>
          </a:p>
          <a:p>
            <a:pPr algn="ctr"/>
            <a:r>
              <a:rPr sz="900" b="0" i="0" lang="ko-KR" altLang="en-US">
                <a:solidFill>
                  <a:srgbClr val="C55A11"/>
                </a:solidFill>
                <a:latin typeface="LG스마트체 Regular"/>
                <a:ea typeface="LG스마트체 Regular"/>
                <a:cs typeface="LG스마트체 Regular"/>
              </a:rPr>
              <a:t>포트·방화벽 미정</a:t>
            </a:r>
          </a:p>
        </p:txBody>
      </p:sp>
      <p:cxnSp>
        <p:nvCxnSpPr>
          <p:cNvPr id="62" name="flow4-pptx"/>
          <p:cNvCxnSpPr/>
          <p:nvPr/>
        </p:nvCxnSpPr>
        <p:spPr>
          <a:xfrm flipH="1">
            <a:off x="1444752" y="3291840"/>
            <a:ext cx="1316736" cy="0"/>
          </a:xfrm>
          <a:prstGeom prst="line">
            <a:avLst/>
          </a:prstGeom>
          <a:ln w="19050">
            <a:solidFill>
              <a:srgbClr val="1F3864"/>
            </a:solidFill>
            <a:tailEnd type="triangle" w="med" len="med"/>
          </a:ln>
        </p:spPr>
      </p:cxnSp>
      <p:sp>
        <p:nvSpPr>
          <p:cNvPr id="63" name="badge-4"/>
          <p:cNvSpPr/>
          <p:nvPr/>
        </p:nvSpPr>
        <p:spPr>
          <a:xfrm>
            <a:off x="1874520" y="3177540"/>
            <a:ext cx="228600" cy="228600"/>
          </a:xfrm>
          <a:prstGeom prst="ellipse">
            <a:avLst/>
          </a:prstGeom>
          <a:solidFill>
            <a:srgbClr val="1F3864"/>
          </a:solidFill>
          <a:ln w="9525">
            <a:solidFill>
              <a:srgbClr val="FFFFFF"/>
            </a:solidFill>
          </a:ln>
          <a:effectLst/>
        </p:spPr>
        <p:txBody>
          <a:bodyPr rtlCol="0" anchor="ctr" wrap="square" lIns="0" rIns="0" tIns="0" bIns="0">
            <a:noAutofit/>
          </a:bodyPr>
          <a:lstStyle/>
          <a:p>
            <a:pPr algn="ctr"/>
            <a:r>
              <a:rPr sz="900" b="1" i="0" lang="ko-KR" altLang="en-US">
                <a:solidFill>
                  <a:srgbClr val="FFFFFF"/>
                </a:solidFill>
                <a:latin typeface="LG스마트체 Regular"/>
                <a:ea typeface="LG스마트체 Regular"/>
                <a:cs typeface="LG스마트체 Regular"/>
              </a:rPr>
              <a:t>4</a:t>
            </a:r>
          </a:p>
        </p:txBody>
      </p:sp>
      <p:sp>
        <p:nvSpPr>
          <p:cNvPr id="64" name="TextBox 63"/>
          <p:cNvSpPr txBox="1"/>
          <p:nvPr/>
        </p:nvSpPr>
        <p:spPr>
          <a:xfrm>
            <a:off x="1572768" y="3438144"/>
            <a:ext cx="832104" cy="365760"/>
          </a:xfrm>
          <a:prstGeom prst="rect">
            <a:avLst/>
          </a:prstGeom>
          <a:noFill/>
        </p:spPr>
        <p:txBody>
          <a:bodyPr wrap="square" lIns="0" rIns="0" tIns="18288" bIns="18288" anchor="t">
            <a:noAutofit/>
          </a:bodyPr>
          <a:lstStyle/>
          <a:p>
            <a:pPr algn="ctr"/>
            <a:r>
              <a:rPr sz="900" b="0" i="0" lang="ko-KR" altLang="en-US">
                <a:solidFill>
                  <a:srgbClr val="1F3864"/>
                </a:solidFill>
                <a:latin typeface="LG스마트체 Regular"/>
                <a:ea typeface="LG스마트체 Regular"/>
                <a:cs typeface="LG스마트체 Regular"/>
              </a:rPr>
              <a:t>PPT 생성·</a:t>
            </a:r>
          </a:p>
          <a:p>
            <a:pPr algn="ctr"/>
            <a:r>
              <a:rPr sz="900" b="0" i="0" lang="ko-KR" altLang="en-US">
                <a:solidFill>
                  <a:srgbClr val="1F3864"/>
                </a:solidFill>
                <a:latin typeface="LG스마트체 Regular"/>
                <a:ea typeface="LG스마트체 Regular"/>
                <a:cs typeface="LG스마트체 Regular"/>
              </a:rPr>
              <a:t>내려받기(PPTX)</a:t>
            </a:r>
          </a:p>
        </p:txBody>
      </p:sp>
      <p:cxnSp>
        <p:nvCxnSpPr>
          <p:cNvPr id="65" name="flow2-save"/>
          <p:cNvCxnSpPr/>
          <p:nvPr/>
        </p:nvCxnSpPr>
        <p:spPr>
          <a:xfrm>
            <a:off x="3657600" y="3566160"/>
            <a:ext cx="0" cy="475488"/>
          </a:xfrm>
          <a:prstGeom prst="line">
            <a:avLst/>
          </a:prstGeom>
          <a:ln w="19050">
            <a:solidFill>
              <a:srgbClr val="1F3864"/>
            </a:solidFill>
            <a:tailEnd type="triangle" w="med" len="med"/>
          </a:ln>
        </p:spPr>
      </p:cxnSp>
      <p:sp>
        <p:nvSpPr>
          <p:cNvPr id="66" name="badge-2"/>
          <p:cNvSpPr/>
          <p:nvPr/>
        </p:nvSpPr>
        <p:spPr>
          <a:xfrm>
            <a:off x="3543300" y="3698748"/>
            <a:ext cx="228600" cy="228600"/>
          </a:xfrm>
          <a:prstGeom prst="ellipse">
            <a:avLst/>
          </a:prstGeom>
          <a:solidFill>
            <a:srgbClr val="1F3864"/>
          </a:solidFill>
          <a:ln w="9525">
            <a:solidFill>
              <a:srgbClr val="FFFFFF"/>
            </a:solidFill>
          </a:ln>
          <a:effectLst/>
        </p:spPr>
        <p:txBody>
          <a:bodyPr rtlCol="0" anchor="ctr" wrap="square" lIns="0" rIns="0" tIns="0" bIns="0">
            <a:noAutofit/>
          </a:bodyPr>
          <a:lstStyle/>
          <a:p>
            <a:pPr algn="ctr"/>
            <a:r>
              <a:rPr sz="900" b="1" i="0" lang="ko-KR" altLang="en-US">
                <a:solidFill>
                  <a:srgbClr val="FFFFFF"/>
                </a:solidFill>
                <a:latin typeface="LG스마트체 Regular"/>
                <a:ea typeface="LG스마트체 Regular"/>
                <a:cs typeface="LG스마트체 Regular"/>
              </a:rPr>
              <a:t>2</a:t>
            </a:r>
          </a:p>
        </p:txBody>
      </p:sp>
      <p:sp>
        <p:nvSpPr>
          <p:cNvPr id="67" name="TextBox 66"/>
          <p:cNvSpPr txBox="1"/>
          <p:nvPr/>
        </p:nvSpPr>
        <p:spPr>
          <a:xfrm>
            <a:off x="3840480" y="3712464"/>
            <a:ext cx="1463040" cy="219456"/>
          </a:xfrm>
          <a:prstGeom prst="rect">
            <a:avLst/>
          </a:prstGeom>
          <a:noFill/>
        </p:spPr>
        <p:txBody>
          <a:bodyPr wrap="square" lIns="0" rIns="0" tIns="18288" bIns="18288" anchor="t">
            <a:noAutofit/>
          </a:bodyPr>
          <a:lstStyle/>
          <a:p>
            <a:pPr algn="l"/>
            <a:r>
              <a:rPr sz="900" b="1" i="0" lang="ko-KR" altLang="en-US">
                <a:solidFill>
                  <a:srgbClr val="1F3864"/>
                </a:solidFill>
                <a:latin typeface="LG스마트체 Regular"/>
                <a:ea typeface="LG스마트체 Regular"/>
                <a:cs typeface="LG스마트체 Regular"/>
              </a:rPr>
              <a:t>기록 저장</a:t>
            </a:r>
            <a:r>
              <a:rPr sz="900" b="0" i="0" lang="ko-KR" altLang="en-US">
                <a:solidFill>
                  <a:srgbClr val="1F3864"/>
                </a:solidFill>
                <a:latin typeface="LG스마트체 Regular"/>
                <a:ea typeface="LG스마트체 Regular"/>
                <a:cs typeface="LG스마트체 Regular"/>
              </a:rPr>
              <a:t> · 로컬 디스크 필수</a:t>
            </a:r>
          </a:p>
        </p:txBody>
      </p:sp>
      <p:cxnSp>
        <p:nvCxnSpPr>
          <p:cNvPr id="68" name="flow3-ai"/>
          <p:cNvCxnSpPr/>
          <p:nvPr/>
        </p:nvCxnSpPr>
        <p:spPr>
          <a:xfrm flipV="1">
            <a:off x="5696712" y="1883664"/>
            <a:ext cx="1271016" cy="676656"/>
          </a:xfrm>
          <a:prstGeom prst="bentConnector3">
            <a:avLst/>
          </a:prstGeom>
          <a:ln w="19050">
            <a:solidFill>
              <a:srgbClr val="C55A11"/>
            </a:solidFill>
            <a:prstDash val="dash"/>
            <a:tailEnd type="triangle" w="med" len="med"/>
          </a:ln>
        </p:spPr>
      </p:cxnSp>
      <p:sp>
        <p:nvSpPr>
          <p:cNvPr id="69" name="badge-3"/>
          <p:cNvSpPr/>
          <p:nvPr/>
        </p:nvSpPr>
        <p:spPr>
          <a:xfrm>
            <a:off x="6217920" y="2107692"/>
            <a:ext cx="228600" cy="228600"/>
          </a:xfrm>
          <a:prstGeom prst="ellipse">
            <a:avLst/>
          </a:prstGeom>
          <a:solidFill>
            <a:srgbClr val="1F3864"/>
          </a:solidFill>
          <a:ln w="9525">
            <a:solidFill>
              <a:srgbClr val="FFFFFF"/>
            </a:solidFill>
          </a:ln>
          <a:effectLst/>
        </p:spPr>
        <p:txBody>
          <a:bodyPr rtlCol="0" anchor="ctr" wrap="square" lIns="0" rIns="0" tIns="0" bIns="0">
            <a:noAutofit/>
          </a:bodyPr>
          <a:lstStyle/>
          <a:p>
            <a:pPr algn="ctr"/>
            <a:r>
              <a:rPr sz="900" b="1" i="0" lang="ko-KR" altLang="en-US">
                <a:solidFill>
                  <a:srgbClr val="FFFFFF"/>
                </a:solidFill>
                <a:latin typeface="LG스마트체 Regular"/>
                <a:ea typeface="LG스마트체 Regular"/>
                <a:cs typeface="LG스마트체 Regular"/>
              </a:rPr>
              <a:t>3</a:t>
            </a:r>
          </a:p>
        </p:txBody>
      </p:sp>
      <p:sp>
        <p:nvSpPr>
          <p:cNvPr id="70" name="TextBox 69"/>
          <p:cNvSpPr txBox="1"/>
          <p:nvPr/>
        </p:nvSpPr>
        <p:spPr>
          <a:xfrm>
            <a:off x="6053328" y="1609344"/>
            <a:ext cx="786384" cy="219456"/>
          </a:xfrm>
          <a:prstGeom prst="rect">
            <a:avLst/>
          </a:prstGeom>
          <a:noFill/>
        </p:spPr>
        <p:txBody>
          <a:bodyPr wrap="square" lIns="0" rIns="0" tIns="18288" bIns="18288" anchor="t">
            <a:noAutofit/>
          </a:bodyPr>
          <a:lstStyle/>
          <a:p>
            <a:pPr algn="ctr"/>
            <a:r>
              <a:rPr sz="900" b="0" i="0" lang="ko-KR" altLang="en-US">
                <a:solidFill>
                  <a:srgbClr val="C55A11"/>
                </a:solidFill>
                <a:latin typeface="LG스마트체 Regular"/>
                <a:ea typeface="LG스마트체 Regular"/>
                <a:cs typeface="LG스마트체 Regular"/>
              </a:rPr>
              <a:t>망 경로 미정</a:t>
            </a:r>
          </a:p>
        </p:txBody>
      </p:sp>
      <p:sp>
        <p:nvSpPr>
          <p:cNvPr id="71" name="TextBox 70"/>
          <p:cNvSpPr txBox="1"/>
          <p:nvPr/>
        </p:nvSpPr>
        <p:spPr>
          <a:xfrm>
            <a:off x="6053328" y="2615184"/>
            <a:ext cx="786384" cy="219456"/>
          </a:xfrm>
          <a:prstGeom prst="rect">
            <a:avLst/>
          </a:prstGeom>
          <a:noFill/>
        </p:spPr>
        <p:txBody>
          <a:bodyPr wrap="square" lIns="0" rIns="0" tIns="18288" bIns="18288" anchor="t">
            <a:noAutofit/>
          </a:bodyPr>
          <a:lstStyle/>
          <a:p>
            <a:pPr algn="ctr"/>
            <a:r>
              <a:rPr sz="900" b="0" i="0" lang="ko-KR" altLang="en-US">
                <a:solidFill>
                  <a:srgbClr val="C55A11"/>
                </a:solidFill>
                <a:latin typeface="LG스마트체 Regular"/>
                <a:ea typeface="LG스마트체 Regular"/>
                <a:cs typeface="LG스마트체 Regular"/>
              </a:rPr>
              <a:t>AI 정리 요청</a:t>
            </a:r>
          </a:p>
        </p:txBody>
      </p:sp>
      <p:cxnSp>
        <p:nvCxnSpPr>
          <p:cNvPr id="72" name="flow5-backup"/>
          <p:cNvCxnSpPr/>
          <p:nvPr/>
        </p:nvCxnSpPr>
        <p:spPr>
          <a:xfrm>
            <a:off x="5806440" y="4224528"/>
            <a:ext cx="1143000" cy="0"/>
          </a:xfrm>
          <a:prstGeom prst="line">
            <a:avLst/>
          </a:prstGeom>
          <a:ln w="19050">
            <a:solidFill>
              <a:srgbClr val="C55A11"/>
            </a:solidFill>
            <a:prstDash val="dash"/>
            <a:tailEnd type="triangle" w="med" len="med"/>
          </a:ln>
        </p:spPr>
      </p:cxnSp>
      <p:sp>
        <p:nvSpPr>
          <p:cNvPr id="73" name="badge-5"/>
          <p:cNvSpPr/>
          <p:nvPr/>
        </p:nvSpPr>
        <p:spPr>
          <a:xfrm>
            <a:off x="6217920" y="4110228"/>
            <a:ext cx="228600" cy="228600"/>
          </a:xfrm>
          <a:prstGeom prst="ellipse">
            <a:avLst/>
          </a:prstGeom>
          <a:solidFill>
            <a:srgbClr val="1F3864"/>
          </a:solidFill>
          <a:ln w="9525">
            <a:solidFill>
              <a:srgbClr val="FFFFFF"/>
            </a:solidFill>
          </a:ln>
          <a:effectLst/>
        </p:spPr>
        <p:txBody>
          <a:bodyPr rtlCol="0" anchor="ctr" wrap="square" lIns="0" rIns="0" tIns="0" bIns="0">
            <a:noAutofit/>
          </a:bodyPr>
          <a:lstStyle/>
          <a:p>
            <a:pPr algn="ctr"/>
            <a:r>
              <a:rPr sz="900" b="1" i="0" lang="ko-KR" altLang="en-US">
                <a:solidFill>
                  <a:srgbClr val="FFFFFF"/>
                </a:solidFill>
                <a:latin typeface="LG스마트체 Regular"/>
                <a:ea typeface="LG스마트체 Regular"/>
                <a:cs typeface="LG스마트체 Regular"/>
              </a:rPr>
              <a:t>5</a:t>
            </a:r>
          </a:p>
        </p:txBody>
      </p:sp>
      <p:sp>
        <p:nvSpPr>
          <p:cNvPr id="74" name="conflict-C1"/>
          <p:cNvSpPr txBox="1"/>
          <p:nvPr/>
        </p:nvSpPr>
        <p:spPr>
          <a:xfrm>
            <a:off x="6144768" y="3931920"/>
            <a:ext cx="384048" cy="182880"/>
          </a:xfrm>
          <a:prstGeom prst="rect">
            <a:avLst/>
          </a:prstGeom>
          <a:noFill/>
        </p:spPr>
        <p:txBody>
          <a:bodyPr wrap="square" lIns="0" rIns="0" tIns="18288" bIns="18288" anchor="t">
            <a:noAutofit/>
          </a:bodyPr>
          <a:lstStyle/>
          <a:p>
            <a:pPr algn="l"/>
            <a:r>
              <a:rPr sz="900" b="1" i="0" lang="ko-KR" altLang="en-US">
                <a:solidFill>
                  <a:srgbClr val="C00000"/>
                </a:solidFill>
                <a:latin typeface="LG스마트체 Regular"/>
                <a:ea typeface="LG스마트체 Regular"/>
                <a:cs typeface="LG스마트체 Regular"/>
              </a:rPr>
              <a:t>◆</a:t>
            </a:r>
            <a:r>
              <a:rPr sz="900" b="1" i="0" lang="ko-KR" altLang="en-US">
                <a:solidFill>
                  <a:srgbClr val="C00000"/>
                </a:solidFill>
                <a:latin typeface="LG스마트체 Regular"/>
                <a:ea typeface="LG스마트체 Regular"/>
                <a:cs typeface="LG스마트체 Regular"/>
              </a:rPr>
              <a:t>C1</a:t>
            </a:r>
          </a:p>
        </p:txBody>
      </p:sp>
      <p:sp>
        <p:nvSpPr>
          <p:cNvPr id="75" name="TextBox 74"/>
          <p:cNvSpPr txBox="1"/>
          <p:nvPr/>
        </p:nvSpPr>
        <p:spPr>
          <a:xfrm>
            <a:off x="6035040" y="4370832"/>
            <a:ext cx="822960" cy="603504"/>
          </a:xfrm>
          <a:prstGeom prst="rect">
            <a:avLst/>
          </a:prstGeom>
          <a:noFill/>
        </p:spPr>
        <p:txBody>
          <a:bodyPr wrap="square" lIns="0" rIns="0" tIns="18288" bIns="18288" anchor="t">
            <a:noAutofit/>
          </a:bodyPr>
          <a:lstStyle/>
          <a:p>
            <a:pPr algn="ctr"/>
            <a:r>
              <a:rPr sz="900" b="0" i="0" lang="ko-KR" altLang="en-US">
                <a:solidFill>
                  <a:srgbClr val="C55A11"/>
                </a:solidFill>
                <a:latin typeface="LG스마트체 Regular"/>
                <a:ea typeface="LG스마트체 Regular"/>
                <a:cs typeface="LG스마트체 Regular"/>
              </a:rPr>
              <a:t>일일 백업</a:t>
            </a:r>
          </a:p>
          <a:p>
            <a:pPr algn="ctr"/>
            <a:r>
              <a:rPr sz="900" b="0" i="0" lang="ko-KR" altLang="en-US">
                <a:solidFill>
                  <a:srgbClr val="C55A11"/>
                </a:solidFill>
                <a:latin typeface="LG스마트체 Regular"/>
                <a:ea typeface="LG스마트체 Regular"/>
                <a:cs typeface="LG스마트체 Regular"/>
              </a:rPr>
              <a:t>BACKUP_DIR</a:t>
            </a:r>
          </a:p>
          <a:p>
            <a:pPr algn="ctr"/>
            <a:r>
              <a:rPr sz="900" b="0" i="0" lang="ko-KR" altLang="en-US">
                <a:solidFill>
                  <a:srgbClr val="C55A11"/>
                </a:solidFill>
                <a:latin typeface="LG스마트체 Regular"/>
                <a:ea typeface="LG스마트체 Regular"/>
                <a:cs typeface="LG스마트체 Regular"/>
              </a:rPr>
              <a:t>→ NAS</a:t>
            </a:r>
          </a:p>
          <a:p>
            <a:pPr algn="ctr"/>
            <a:r>
              <a:rPr sz="900" b="0" i="0" lang="ko-KR" altLang="en-US">
                <a:solidFill>
                  <a:srgbClr val="C55A11"/>
                </a:solidFill>
                <a:latin typeface="LG스마트체 Regular"/>
                <a:ea typeface="LG스마트체 Regular"/>
                <a:cs typeface="LG스마트체 Regular"/>
              </a:rPr>
              <a:t>(검증 전)</a:t>
            </a:r>
          </a:p>
        </p:txBody>
      </p:sp>
      <p:sp>
        <p:nvSpPr>
          <p:cNvPr id="76" name="conflict-panel"/>
          <p:cNvSpPr/>
          <p:nvPr/>
        </p:nvSpPr>
        <p:spPr>
          <a:xfrm>
            <a:off x="8705088" y="1234440"/>
            <a:ext cx="3072384" cy="4206240"/>
          </a:xfrm>
          <a:prstGeom prst="roundRect">
            <a:avLst>
              <a:gd name="adj" fmla="val 3571"/>
            </a:avLst>
          </a:prstGeom>
          <a:solidFill>
            <a:srgbClr val="FAFAFA"/>
          </a:solidFill>
          <a:ln w="12700">
            <a:solidFill>
              <a:srgbClr val="D9D9D9"/>
            </a:solidFill>
          </a:ln>
          <a:effectLst/>
        </p:spPr>
        <p:txBody>
          <a:bodyPr rtlCol="0" anchor="ctr"/>
          <a:lstStyle/>
          <a:p/>
        </p:txBody>
      </p:sp>
      <p:sp>
        <p:nvSpPr>
          <p:cNvPr id="77" name="icon-alert"/>
          <p:cNvSpPr/>
          <p:nvPr/>
        </p:nvSpPr>
        <p:spPr>
          <a:xfrm>
            <a:off x="8796528" y="1316736"/>
            <a:ext cx="219456" cy="219456"/>
          </a:xfrm>
          <a:custGeom>
            <a:avLst/>
            <a:gdLst/>
            <a:ahLst/>
            <a:cxnLst/>
            <a:rect l="0" t="0" r="r" b="b"/>
            <a:pathLst>
              <a:path w="24000" h="24000" fill="none">
                <a:moveTo>
                  <a:pt x="12000" y="9000"/>
                </a:moveTo>
                <a:lnTo>
                  <a:pt x="12000" y="13000"/>
                </a:lnTo>
              </a:path>
              <a:path w="24000" h="24000" fill="none">
                <a:moveTo>
                  <a:pt x="10363" y="3591"/>
                </a:moveTo>
                <a:lnTo>
                  <a:pt x="2257" y="17125"/>
                </a:lnTo>
                <a:cubicBezTo>
                  <a:pt x="1917" y="17714"/>
                  <a:pt x="1915" y="18439"/>
                  <a:pt x="2252" y="19030"/>
                </a:cubicBezTo>
                <a:cubicBezTo>
                  <a:pt x="2588" y="19621"/>
                  <a:pt x="3213" y="19988"/>
                  <a:pt x="3893" y="19996"/>
                </a:cubicBezTo>
                <a:lnTo>
                  <a:pt x="20107" y="19996"/>
                </a:lnTo>
                <a:cubicBezTo>
                  <a:pt x="20787" y="19988"/>
                  <a:pt x="21411" y="19620"/>
                  <a:pt x="21748" y="19030"/>
                </a:cubicBezTo>
                <a:cubicBezTo>
                  <a:pt x="22084" y="18440"/>
                  <a:pt x="22083" y="17715"/>
                  <a:pt x="21743" y="17126"/>
                </a:cubicBezTo>
                <a:lnTo>
                  <a:pt x="13637" y="3590"/>
                </a:lnTo>
                <a:cubicBezTo>
                  <a:pt x="13290" y="3017"/>
                  <a:pt x="12669" y="2668"/>
                  <a:pt x="12000" y="2668"/>
                </a:cubicBezTo>
                <a:cubicBezTo>
                  <a:pt x="11331" y="2668"/>
                  <a:pt x="10710" y="3017"/>
                  <a:pt x="10363" y="3590"/>
                </a:cubicBezTo>
                <a:close/>
              </a:path>
              <a:path w="24000" h="24000" fill="none">
                <a:moveTo>
                  <a:pt x="12000" y="16000"/>
                </a:moveTo>
                <a:lnTo>
                  <a:pt x="12010" y="16000"/>
                </a:lnTo>
              </a:path>
            </a:pathLst>
          </a:custGeom>
          <a:solidFill>
            <a:srgbClr val="C00000"/>
          </a:solidFill>
          <a:ln w="12700">
            <a:solidFill>
              <a:srgbClr val="C00000"/>
            </a:solidFill>
          </a:ln>
          <a:effectLst/>
        </p:spPr>
        <p:txBody>
          <a:bodyPr rtlCol="0" anchor="ctr"/>
          <a:lstStyle/>
          <a:p/>
        </p:txBody>
      </p:sp>
      <p:sp>
        <p:nvSpPr>
          <p:cNvPr id="78" name="TextBox 77"/>
          <p:cNvSpPr txBox="1"/>
          <p:nvPr/>
        </p:nvSpPr>
        <p:spPr>
          <a:xfrm>
            <a:off x="9070848" y="1298448"/>
            <a:ext cx="2651760" cy="256032"/>
          </a:xfrm>
          <a:prstGeom prst="rect">
            <a:avLst/>
          </a:prstGeom>
          <a:noFill/>
        </p:spPr>
        <p:txBody>
          <a:bodyPr wrap="square" lIns="0" rIns="0" tIns="18288" bIns="18288" anchor="t">
            <a:noAutofit/>
          </a:bodyPr>
          <a:lstStyle/>
          <a:p>
            <a:pPr algn="l"/>
            <a:r>
              <a:rPr sz="1100" b="1" i="0" lang="ko-KR" altLang="en-US">
                <a:solidFill>
                  <a:srgbClr val="1F3864"/>
                </a:solidFill>
                <a:latin typeface="LG스마트체 Regular"/>
                <a:ea typeface="LG스마트체 Regular"/>
                <a:cs typeface="LG스마트체 Regular"/>
              </a:rPr>
              <a:t>메일 ↔ 코드 충돌 · 착수 전 정리</a:t>
            </a:r>
          </a:p>
        </p:txBody>
      </p:sp>
      <p:sp>
        <p:nvSpPr>
          <p:cNvPr id="79" name="conflict-item-C1"/>
          <p:cNvSpPr txBox="1"/>
          <p:nvPr/>
        </p:nvSpPr>
        <p:spPr>
          <a:xfrm>
            <a:off x="8796528" y="1664208"/>
            <a:ext cx="2907792" cy="868680"/>
          </a:xfrm>
          <a:prstGeom prst="rect">
            <a:avLst/>
          </a:prstGeom>
          <a:noFill/>
        </p:spPr>
        <p:txBody>
          <a:bodyPr wrap="square" lIns="18288" rIns="18288" tIns="18288" bIns="18288" anchor="t">
            <a:noAutofit/>
          </a:bodyPr>
          <a:lstStyle/>
          <a:p>
            <a:pPr algn="l">
              <a:spcBef>
                <a:spcPts val="0"/>
              </a:spcBef>
            </a:pPr>
            <a:r>
              <a:rPr sz="1000" b="1" i="0" lang="ko-KR" altLang="en-US">
                <a:solidFill>
                  <a:srgbClr val="C00000"/>
                </a:solidFill>
                <a:latin typeface="LG스마트체 Regular"/>
                <a:ea typeface="LG스마트체 Regular"/>
                <a:cs typeface="LG스마트체 Regular"/>
              </a:rPr>
              <a:t>◆C1 </a:t>
            </a:r>
            <a:r>
              <a:rPr sz="1000" b="1" i="0" lang="ko-KR" altLang="en-US">
                <a:solidFill>
                  <a:srgbClr val="1F3864"/>
                </a:solidFill>
                <a:latin typeface="LG스마트체 Regular"/>
                <a:ea typeface="LG스마트체 Regular"/>
                <a:cs typeface="LG스마트체 Regular"/>
              </a:rPr>
              <a:t>NAS에 DB?</a:t>
            </a:r>
          </a:p>
          <a:p>
            <a:pPr algn="l">
              <a:spcBef>
                <a:spcPts val="100"/>
              </a:spcBef>
            </a:pPr>
            <a:r>
              <a:rPr sz="900" b="1" i="0" lang="ko-KR" altLang="en-US">
                <a:solidFill>
                  <a:srgbClr val="595959"/>
                </a:solidFill>
                <a:latin typeface="LG스마트체 Regular"/>
                <a:ea typeface="LG스마트체 Regular"/>
                <a:cs typeface="LG스마트체 Regular"/>
              </a:rPr>
              <a:t>메일  </a:t>
            </a:r>
            <a:r>
              <a:rPr sz="900" b="0" i="0" lang="ko-KR" altLang="en-US">
                <a:solidFill>
                  <a:srgbClr val="262626"/>
                </a:solidFill>
                <a:latin typeface="LG스마트체 Regular"/>
                <a:ea typeface="LG스마트체 Regular"/>
                <a:cs typeface="LG스마트체 Regular"/>
              </a:rPr>
              <a:t>'백업 DB(NAS)', 'NAS에 연동하여 저장'</a:t>
            </a:r>
          </a:p>
          <a:p>
            <a:pPr algn="l">
              <a:spcBef>
                <a:spcPts val="100"/>
              </a:spcBef>
            </a:pPr>
            <a:r>
              <a:rPr sz="900" b="1" i="0" lang="ko-KR" altLang="en-US">
                <a:solidFill>
                  <a:srgbClr val="595959"/>
                </a:solidFill>
                <a:latin typeface="LG스마트체 Regular"/>
                <a:ea typeface="LG스마트체 Regular"/>
                <a:cs typeface="LG스마트체 Regular"/>
              </a:rPr>
              <a:t>문서  </a:t>
            </a:r>
            <a:r>
              <a:rPr sz="900" b="0" i="0" lang="ko-KR" altLang="en-US">
                <a:solidFill>
                  <a:srgbClr val="262626"/>
                </a:solidFill>
                <a:latin typeface="LG스마트체 Regular"/>
                <a:ea typeface="LG스마트체 Regular"/>
                <a:cs typeface="LG스마트체 Regular"/>
              </a:rPr>
              <a:t>DB는 로컬 디스크(공유 금지) · SQLite WAL</a:t>
            </a:r>
          </a:p>
          <a:p>
            <a:pPr algn="l">
              <a:spcBef>
                <a:spcPts val="100"/>
              </a:spcBef>
            </a:pPr>
            <a:r>
              <a:rPr sz="900" b="1" i="0" lang="ko-KR" altLang="en-US">
                <a:solidFill>
                  <a:srgbClr val="1F3864"/>
                </a:solidFill>
                <a:latin typeface="LG스마트체 Regular"/>
                <a:ea typeface="LG스마트체 Regular"/>
                <a:cs typeface="LG스마트체 Regular"/>
              </a:rPr>
              <a:t>→ DB는 SSD, NAS는 백업 경로만</a:t>
            </a:r>
          </a:p>
        </p:txBody>
      </p:sp>
      <p:cxnSp>
        <p:nvCxnSpPr>
          <p:cNvPr id="80" name="sep1"/>
          <p:cNvCxnSpPr/>
          <p:nvPr/>
        </p:nvCxnSpPr>
        <p:spPr>
          <a:xfrm>
            <a:off x="8823960" y="2560320"/>
            <a:ext cx="2834640" cy="0"/>
          </a:xfrm>
          <a:prstGeom prst="line">
            <a:avLst/>
          </a:prstGeom>
          <a:ln w="9525">
            <a:solidFill>
              <a:srgbClr val="D9D9D9"/>
            </a:solidFill>
          </a:ln>
        </p:spPr>
      </p:cxnSp>
      <p:sp>
        <p:nvSpPr>
          <p:cNvPr id="81" name="conflict-item-C2"/>
          <p:cNvSpPr txBox="1"/>
          <p:nvPr/>
        </p:nvSpPr>
        <p:spPr>
          <a:xfrm>
            <a:off x="8796528" y="2606040"/>
            <a:ext cx="2907792" cy="868680"/>
          </a:xfrm>
          <a:prstGeom prst="rect">
            <a:avLst/>
          </a:prstGeom>
          <a:noFill/>
        </p:spPr>
        <p:txBody>
          <a:bodyPr wrap="square" lIns="18288" rIns="18288" tIns="18288" bIns="18288" anchor="t">
            <a:noAutofit/>
          </a:bodyPr>
          <a:lstStyle/>
          <a:p>
            <a:pPr algn="l">
              <a:spcBef>
                <a:spcPts val="0"/>
              </a:spcBef>
            </a:pPr>
            <a:r>
              <a:rPr sz="1000" b="1" i="0" lang="ko-KR" altLang="en-US">
                <a:solidFill>
                  <a:srgbClr val="C00000"/>
                </a:solidFill>
                <a:latin typeface="LG스마트체 Regular"/>
                <a:ea typeface="LG스마트체 Regular"/>
                <a:cs typeface="LG스마트체 Regular"/>
              </a:rPr>
              <a:t>◆C2 </a:t>
            </a:r>
            <a:r>
              <a:rPr sz="1000" b="1" i="0" lang="ko-KR" altLang="en-US">
                <a:solidFill>
                  <a:srgbClr val="1F3864"/>
                </a:solidFill>
                <a:latin typeface="LG스마트체 Regular"/>
                <a:ea typeface="LG스마트체 Regular"/>
                <a:cs typeface="LG스마트체 Regular"/>
              </a:rPr>
              <a:t>동시 100명?</a:t>
            </a:r>
          </a:p>
          <a:p>
            <a:pPr algn="l">
              <a:spcBef>
                <a:spcPts val="100"/>
              </a:spcBef>
            </a:pPr>
            <a:r>
              <a:rPr sz="900" b="1" i="0" lang="ko-KR" altLang="en-US">
                <a:solidFill>
                  <a:srgbClr val="595959"/>
                </a:solidFill>
                <a:latin typeface="LG스마트체 Regular"/>
                <a:ea typeface="LG스마트체 Regular"/>
                <a:cs typeface="LG스마트체 Regular"/>
              </a:rPr>
              <a:t>메일  </a:t>
            </a:r>
            <a:r>
              <a:rPr sz="900" b="0" i="0" lang="ko-KR" altLang="en-US">
                <a:solidFill>
                  <a:srgbClr val="262626"/>
                </a:solidFill>
                <a:latin typeface="LG스마트체 Regular"/>
                <a:ea typeface="LG스마트체 Regular"/>
                <a:cs typeface="LG스마트체 Regular"/>
              </a:rPr>
              <a:t>동시 100명 가정</a:t>
            </a:r>
          </a:p>
          <a:p>
            <a:pPr algn="l">
              <a:spcBef>
                <a:spcPts val="100"/>
              </a:spcBef>
            </a:pPr>
            <a:r>
              <a:rPr sz="900" b="1" i="0" lang="ko-KR" altLang="en-US">
                <a:solidFill>
                  <a:srgbClr val="595959"/>
                </a:solidFill>
                <a:latin typeface="LG스마트체 Regular"/>
                <a:ea typeface="LG스마트체 Regular"/>
                <a:cs typeface="LG스마트체 Regular"/>
              </a:rPr>
              <a:t>코드  </a:t>
            </a:r>
            <a:r>
              <a:rPr sz="900" b="0" i="0" lang="ko-KR" altLang="en-US">
                <a:solidFill>
                  <a:srgbClr val="262626"/>
                </a:solidFill>
                <a:latin typeface="LG스마트체 Regular"/>
                <a:ea typeface="LG스마트체 Regular"/>
                <a:cs typeface="LG스마트체 Regular"/>
              </a:rPr>
              <a:t>run.py workers=1 · 설계 목표 약 20명</a:t>
            </a:r>
          </a:p>
          <a:p>
            <a:pPr algn="l">
              <a:spcBef>
                <a:spcPts val="100"/>
              </a:spcBef>
            </a:pPr>
            <a:r>
              <a:rPr sz="900" b="1" i="0" lang="ko-KR" altLang="en-US">
                <a:solidFill>
                  <a:srgbClr val="1F3864"/>
                </a:solidFill>
                <a:latin typeface="LG스마트체 Regular"/>
                <a:ea typeface="LG스마트체 Regular"/>
                <a:cs typeface="LG스마트체 Regular"/>
              </a:rPr>
              <a:t>→ 부하 측정 전 100명 수용 주장 불가</a:t>
            </a:r>
          </a:p>
        </p:txBody>
      </p:sp>
      <p:cxnSp>
        <p:nvCxnSpPr>
          <p:cNvPr id="82" name="sep2"/>
          <p:cNvCxnSpPr/>
          <p:nvPr/>
        </p:nvCxnSpPr>
        <p:spPr>
          <a:xfrm>
            <a:off x="8823960" y="3502152"/>
            <a:ext cx="2834640" cy="0"/>
          </a:xfrm>
          <a:prstGeom prst="line">
            <a:avLst/>
          </a:prstGeom>
          <a:ln w="9525">
            <a:solidFill>
              <a:srgbClr val="D9D9D9"/>
            </a:solidFill>
          </a:ln>
        </p:spPr>
      </p:cxnSp>
      <p:sp>
        <p:nvSpPr>
          <p:cNvPr id="83" name="conflict-item-C3"/>
          <p:cNvSpPr txBox="1"/>
          <p:nvPr/>
        </p:nvSpPr>
        <p:spPr>
          <a:xfrm>
            <a:off x="8796528" y="3547872"/>
            <a:ext cx="2907792" cy="868680"/>
          </a:xfrm>
          <a:prstGeom prst="rect">
            <a:avLst/>
          </a:prstGeom>
          <a:noFill/>
        </p:spPr>
        <p:txBody>
          <a:bodyPr wrap="square" lIns="18288" rIns="18288" tIns="18288" bIns="18288" anchor="t">
            <a:noAutofit/>
          </a:bodyPr>
          <a:lstStyle/>
          <a:p>
            <a:pPr algn="l">
              <a:spcBef>
                <a:spcPts val="0"/>
              </a:spcBef>
            </a:pPr>
            <a:r>
              <a:rPr sz="1000" b="1" i="0" lang="ko-KR" altLang="en-US">
                <a:solidFill>
                  <a:srgbClr val="C00000"/>
                </a:solidFill>
                <a:latin typeface="LG스마트체 Regular"/>
                <a:ea typeface="LG스마트체 Regular"/>
                <a:cs typeface="LG스마트체 Regular"/>
              </a:rPr>
              <a:t>◆C3 </a:t>
            </a:r>
            <a:r>
              <a:rPr sz="1000" b="1" i="0" lang="ko-KR" altLang="en-US">
                <a:solidFill>
                  <a:srgbClr val="1F3864"/>
                </a:solidFill>
                <a:latin typeface="LG스마트체 Regular"/>
                <a:ea typeface="LG스마트체 Regular"/>
                <a:cs typeface="LG스마트체 Regular"/>
              </a:rPr>
              <a:t>도커 실행?</a:t>
            </a:r>
          </a:p>
          <a:p>
            <a:pPr algn="l">
              <a:spcBef>
                <a:spcPts val="100"/>
              </a:spcBef>
            </a:pPr>
            <a:r>
              <a:rPr sz="900" b="1" i="0" lang="ko-KR" altLang="en-US">
                <a:solidFill>
                  <a:srgbClr val="595959"/>
                </a:solidFill>
                <a:latin typeface="LG스마트체 Regular"/>
                <a:ea typeface="LG스마트체 Regular"/>
                <a:cs typeface="LG스마트체 Regular"/>
              </a:rPr>
              <a:t>메일  </a:t>
            </a:r>
            <a:r>
              <a:rPr sz="900" b="0" i="0" lang="ko-KR" altLang="en-US">
                <a:solidFill>
                  <a:srgbClr val="262626"/>
                </a:solidFill>
                <a:latin typeface="LG스마트체 Regular"/>
                <a:ea typeface="LG스마트체 Regular"/>
                <a:cs typeface="LG스마트체 Regular"/>
              </a:rPr>
              <a:t>컨테이너로 실행</a:t>
            </a:r>
          </a:p>
          <a:p>
            <a:pPr algn="l">
              <a:spcBef>
                <a:spcPts val="100"/>
              </a:spcBef>
            </a:pPr>
            <a:r>
              <a:rPr sz="900" b="1" i="0" lang="ko-KR" altLang="en-US">
                <a:solidFill>
                  <a:srgbClr val="595959"/>
                </a:solidFill>
                <a:latin typeface="LG스마트체 Regular"/>
                <a:ea typeface="LG스마트체 Regular"/>
                <a:cs typeface="LG스마트체 Regular"/>
              </a:rPr>
              <a:t>코드  </a:t>
            </a:r>
            <a:r>
              <a:rPr sz="900" b="0" i="0" lang="ko-KR" altLang="en-US">
                <a:solidFill>
                  <a:srgbClr val="262626"/>
                </a:solidFill>
                <a:latin typeface="LG스마트체 Regular"/>
                <a:ea typeface="LG스마트체 Regular"/>
                <a:cs typeface="LG스마트체 Regular"/>
              </a:rPr>
              <a:t>Dockerfile 없음 · 현재 실행.bat(Windows)</a:t>
            </a:r>
          </a:p>
          <a:p>
            <a:pPr algn="l">
              <a:spcBef>
                <a:spcPts val="100"/>
              </a:spcBef>
            </a:pPr>
            <a:r>
              <a:rPr sz="900" b="1" i="0" lang="ko-KR" altLang="en-US">
                <a:solidFill>
                  <a:srgbClr val="1F3864"/>
                </a:solidFill>
                <a:latin typeface="LG스마트체 Regular"/>
                <a:ea typeface="LG스마트체 Regular"/>
                <a:cs typeface="LG스마트체 Regular"/>
              </a:rPr>
              <a:t>→ 이미지 작성·검증 (LibreOffice·한글 글꼴 포함)</a:t>
            </a:r>
          </a:p>
        </p:txBody>
      </p:sp>
      <p:cxnSp>
        <p:nvCxnSpPr>
          <p:cNvPr id="84" name="sep3"/>
          <p:cNvCxnSpPr/>
          <p:nvPr/>
        </p:nvCxnSpPr>
        <p:spPr>
          <a:xfrm>
            <a:off x="8823960" y="4443984"/>
            <a:ext cx="2834640" cy="0"/>
          </a:xfrm>
          <a:prstGeom prst="line">
            <a:avLst/>
          </a:prstGeom>
          <a:ln w="9525">
            <a:solidFill>
              <a:srgbClr val="D9D9D9"/>
            </a:solidFill>
          </a:ln>
        </p:spPr>
      </p:cxnSp>
      <p:sp>
        <p:nvSpPr>
          <p:cNvPr id="85" name="conflict-item-C4"/>
          <p:cNvSpPr txBox="1"/>
          <p:nvPr/>
        </p:nvSpPr>
        <p:spPr>
          <a:xfrm>
            <a:off x="8796528" y="4489704"/>
            <a:ext cx="2907792" cy="868680"/>
          </a:xfrm>
          <a:prstGeom prst="rect">
            <a:avLst/>
          </a:prstGeom>
          <a:noFill/>
        </p:spPr>
        <p:txBody>
          <a:bodyPr wrap="square" lIns="18288" rIns="18288" tIns="18288" bIns="18288" anchor="t">
            <a:noAutofit/>
          </a:bodyPr>
          <a:lstStyle/>
          <a:p>
            <a:pPr algn="l">
              <a:spcBef>
                <a:spcPts val="0"/>
              </a:spcBef>
            </a:pPr>
            <a:r>
              <a:rPr sz="1000" b="1" i="0" lang="ko-KR" altLang="en-US">
                <a:solidFill>
                  <a:srgbClr val="C00000"/>
                </a:solidFill>
                <a:latin typeface="LG스마트체 Regular"/>
                <a:ea typeface="LG스마트체 Regular"/>
                <a:cs typeface="LG스마트체 Regular"/>
              </a:rPr>
              <a:t>◆C4 </a:t>
            </a:r>
            <a:r>
              <a:rPr sz="1000" b="1" i="0" lang="ko-KR" altLang="en-US">
                <a:solidFill>
                  <a:srgbClr val="1F3864"/>
                </a:solidFill>
                <a:latin typeface="LG스마트체 Regular"/>
                <a:ea typeface="LG스마트체 Regular"/>
                <a:cs typeface="LG스마트체 Regular"/>
              </a:rPr>
              <a:t>NAS 1년 보관?</a:t>
            </a:r>
          </a:p>
          <a:p>
            <a:pPr algn="l">
              <a:spcBef>
                <a:spcPts val="100"/>
              </a:spcBef>
            </a:pPr>
            <a:r>
              <a:rPr sz="900" b="1" i="0" lang="ko-KR" altLang="en-US">
                <a:solidFill>
                  <a:srgbClr val="595959"/>
                </a:solidFill>
                <a:latin typeface="LG스마트체 Regular"/>
                <a:ea typeface="LG스마트체 Regular"/>
                <a:cs typeface="LG스마트체 Regular"/>
              </a:rPr>
              <a:t>메일  </a:t>
            </a:r>
            <a:r>
              <a:rPr sz="900" b="0" i="0" lang="ko-KR" altLang="en-US">
                <a:solidFill>
                  <a:srgbClr val="262626"/>
                </a:solidFill>
                <a:latin typeface="LG스마트체 Regular"/>
                <a:ea typeface="LG스마트체 Regular"/>
                <a:cs typeface="LG스마트체 Regular"/>
              </a:rPr>
              <a:t>2TB · 1년 보관</a:t>
            </a:r>
          </a:p>
          <a:p>
            <a:pPr algn="l">
              <a:spcBef>
                <a:spcPts val="100"/>
              </a:spcBef>
            </a:pPr>
            <a:r>
              <a:rPr sz="900" b="1" i="0" lang="ko-KR" altLang="en-US">
                <a:solidFill>
                  <a:srgbClr val="595959"/>
                </a:solidFill>
                <a:latin typeface="LG스마트체 Regular"/>
                <a:ea typeface="LG스마트체 Regular"/>
                <a:cs typeface="LG스마트체 Regular"/>
              </a:rPr>
              <a:t>코드  </a:t>
            </a:r>
            <a:r>
              <a:rPr sz="900" b="0" i="0" lang="ko-KR" altLang="en-US">
                <a:solidFill>
                  <a:srgbClr val="262626"/>
                </a:solidFill>
                <a:latin typeface="LG스마트체 Regular"/>
                <a:ea typeface="LG스마트체 Regular"/>
                <a:cs typeface="LG스마트체 Regular"/>
              </a:rPr>
              <a:t>백업 = 매회 DB+첨부 전체 복사 · 최근 14개 보관</a:t>
            </a:r>
          </a:p>
          <a:p>
            <a:pPr algn="l">
              <a:spcBef>
                <a:spcPts val="100"/>
              </a:spcBef>
            </a:pPr>
            <a:r>
              <a:rPr sz="900" b="1" i="0" lang="ko-KR" altLang="en-US">
                <a:solidFill>
                  <a:srgbClr val="1F3864"/>
                </a:solidFill>
                <a:latin typeface="LG스마트체 Regular"/>
                <a:ea typeface="LG스마트체 Regular"/>
                <a:cs typeface="LG스마트체 Regular"/>
              </a:rPr>
              <a:t>→ 용량·보관 규칙 재설계</a:t>
            </a:r>
          </a:p>
        </p:txBody>
      </p:sp>
      <p:sp>
        <p:nvSpPr>
          <p:cNvPr id="86" name="capacity-strip"/>
          <p:cNvSpPr/>
          <p:nvPr/>
        </p:nvSpPr>
        <p:spPr>
          <a:xfrm>
            <a:off x="411480" y="5559552"/>
            <a:ext cx="11365992" cy="548640"/>
          </a:xfrm>
          <a:prstGeom prst="roundRect">
            <a:avLst>
              <a:gd name="adj" fmla="val 10000"/>
            </a:avLst>
          </a:prstGeom>
          <a:solidFill>
            <a:srgbClr val="FCFCFC"/>
          </a:solidFill>
          <a:ln w="9525">
            <a:solidFill>
              <a:srgbClr val="D9D9D9"/>
            </a:solidFill>
          </a:ln>
          <a:effectLst/>
        </p:spPr>
        <p:txBody>
          <a:bodyPr rtlCol="0" anchor="ctr"/>
          <a:lstStyle/>
          <a:p/>
        </p:txBody>
      </p:sp>
      <p:sp>
        <p:nvSpPr>
          <p:cNvPr id="87" name="Rounded Rectangle 86"/>
          <p:cNvSpPr/>
          <p:nvPr/>
        </p:nvSpPr>
        <p:spPr>
          <a:xfrm>
            <a:off x="521208" y="5724144"/>
            <a:ext cx="420624" cy="219456"/>
          </a:xfrm>
          <a:prstGeom prst="roundRect">
            <a:avLst>
              <a:gd name="adj" fmla="val 20833"/>
            </a:avLst>
          </a:prstGeom>
          <a:solidFill>
            <a:srgbClr val="FFF5EB"/>
          </a:solidFill>
          <a:ln w="9525">
            <a:solidFill>
              <a:srgbClr val="C55A11"/>
            </a:solidFill>
          </a:ln>
          <a:effectLst/>
        </p:spPr>
        <p:txBody>
          <a:bodyPr rtlCol="0" anchor="ctr" wrap="square" lIns="0" rIns="0" tIns="18288" bIns="18288">
            <a:noAutofit/>
          </a:bodyPr>
          <a:lstStyle/>
          <a:p>
            <a:pPr algn="ctr"/>
            <a:r>
              <a:rPr sz="900" b="1" i="0" lang="ko-KR" altLang="en-US">
                <a:solidFill>
                  <a:srgbClr val="C55A11"/>
                </a:solidFill>
                <a:latin typeface="LG스마트체 Regular"/>
                <a:ea typeface="LG스마트체 Regular"/>
                <a:cs typeface="LG스마트체 Regular"/>
              </a:rPr>
              <a:t>가정</a:t>
            </a:r>
          </a:p>
        </p:txBody>
      </p:sp>
      <p:sp>
        <p:nvSpPr>
          <p:cNvPr id="88" name="TextBox 87"/>
          <p:cNvSpPr txBox="1"/>
          <p:nvPr/>
        </p:nvSpPr>
        <p:spPr>
          <a:xfrm>
            <a:off x="1033272" y="5586984"/>
            <a:ext cx="10652760" cy="493776"/>
          </a:xfrm>
          <a:prstGeom prst="rect">
            <a:avLst/>
          </a:prstGeom>
          <a:noFill/>
        </p:spPr>
        <p:txBody>
          <a:bodyPr wrap="square" lIns="18288" rIns="18288" tIns="18288" bIns="18288" anchor="ctr">
            <a:noAutofit/>
          </a:bodyPr>
          <a:lstStyle/>
          <a:p>
            <a:pPr algn="l"/>
            <a:r>
              <a:rPr sz="950" b="1" i="0" lang="ko-KR" altLang="en-US">
                <a:solidFill>
                  <a:srgbClr val="1F3864"/>
                </a:solidFill>
                <a:latin typeface="LG스마트체 Regular"/>
                <a:ea typeface="LG스마트체 Regular"/>
                <a:cs typeface="LG스마트체 Regular"/>
              </a:rPr>
              <a:t>용량 산정 (메일 가정, 실측 전): </a:t>
            </a:r>
            <a:r>
              <a:rPr sz="950" b="0" i="0" lang="ko-KR" altLang="en-US">
                <a:solidFill>
                  <a:srgbClr val="262626"/>
                </a:solidFill>
                <a:latin typeface="LG스마트체 Regular"/>
                <a:ea typeface="LG스마트체 Regular"/>
                <a:cs typeface="LG스마트체 Regular"/>
              </a:rPr>
              <a:t>200명 × 5GB/인·년 = 연 약 1TB → SSD 1TB는 약 12개월 · 백업 14개 전체본 기준 NAS 2TB는 데이터 약 143GB까지(가정상 약 1.7개월)</a:t>
            </a:r>
          </a:p>
          <a:p>
            <a:pPr algn="l"/>
            <a:r>
              <a:rPr sz="950" b="1" i="0" lang="ko-KR" altLang="en-US">
                <a:solidFill>
                  <a:srgbClr val="1F3864"/>
                </a:solidFill>
                <a:latin typeface="LG스마트체 Regular"/>
                <a:ea typeface="LG스마트체 Regular"/>
                <a:cs typeface="LG스마트체 Regular"/>
              </a:rPr>
              <a:t>실측 예정: </a:t>
            </a:r>
            <a:r>
              <a:rPr sz="950" b="0" i="0" lang="ko-KR" altLang="en-US">
                <a:solidFill>
                  <a:srgbClr val="262626"/>
                </a:solidFill>
                <a:latin typeface="LG스마트체 Regular"/>
                <a:ea typeface="LG스마트체 Regular"/>
                <a:cs typeface="LG스마트체 Regular"/>
              </a:rPr>
              <a:t>DATA_DIR 크기 · 백업 1회 크기 · 생성 1건 소요 시간</a:t>
            </a:r>
          </a:p>
        </p:txBody>
      </p:sp>
      <p:cxnSp>
        <p:nvCxnSpPr>
          <p:cNvPr id="89" name="legend-solid"/>
          <p:cNvCxnSpPr/>
          <p:nvPr/>
        </p:nvCxnSpPr>
        <p:spPr>
          <a:xfrm>
            <a:off x="4023360" y="6373368"/>
            <a:ext cx="384048" cy="0"/>
          </a:xfrm>
          <a:prstGeom prst="line">
            <a:avLst/>
          </a:prstGeom>
          <a:ln w="19050">
            <a:solidFill>
              <a:srgbClr val="1F3864"/>
            </a:solidFill>
          </a:ln>
        </p:spPr>
      </p:cxnSp>
      <p:sp>
        <p:nvSpPr>
          <p:cNvPr id="90" name="TextBox 89"/>
          <p:cNvSpPr txBox="1"/>
          <p:nvPr/>
        </p:nvSpPr>
        <p:spPr>
          <a:xfrm>
            <a:off x="4462272" y="6272784"/>
            <a:ext cx="2011680" cy="201168"/>
          </a:xfrm>
          <a:prstGeom prst="rect">
            <a:avLst/>
          </a:prstGeom>
          <a:noFill/>
        </p:spPr>
        <p:txBody>
          <a:bodyPr wrap="square" lIns="0" rIns="0" tIns="18288" bIns="18288" anchor="t">
            <a:noAutofit/>
          </a:bodyPr>
          <a:lstStyle/>
          <a:p>
            <a:pPr algn="l"/>
            <a:r>
              <a:rPr sz="900" b="0" i="0" lang="ko-KR" altLang="en-US">
                <a:solidFill>
                  <a:srgbClr val="595959"/>
                </a:solidFill>
                <a:latin typeface="LG스마트체 Regular"/>
                <a:ea typeface="LG스마트체 Regular"/>
                <a:cs typeface="LG스마트체 Regular"/>
              </a:rPr>
              <a:t>실선 = 확정(메일 합의·저장소 구현)</a:t>
            </a:r>
          </a:p>
        </p:txBody>
      </p:sp>
      <p:cxnSp>
        <p:nvCxnSpPr>
          <p:cNvPr id="91" name="legend-dash"/>
          <p:cNvCxnSpPr/>
          <p:nvPr/>
        </p:nvCxnSpPr>
        <p:spPr>
          <a:xfrm>
            <a:off x="6537960" y="6373368"/>
            <a:ext cx="384048" cy="0"/>
          </a:xfrm>
          <a:prstGeom prst="line">
            <a:avLst/>
          </a:prstGeom>
          <a:ln w="19050">
            <a:solidFill>
              <a:srgbClr val="C55A11"/>
            </a:solidFill>
            <a:prstDash val="dash"/>
          </a:ln>
        </p:spPr>
      </p:cxnSp>
      <p:sp>
        <p:nvSpPr>
          <p:cNvPr id="92" name="TextBox 91"/>
          <p:cNvSpPr txBox="1"/>
          <p:nvPr/>
        </p:nvSpPr>
        <p:spPr>
          <a:xfrm>
            <a:off x="6976872" y="6272784"/>
            <a:ext cx="960120" cy="201168"/>
          </a:xfrm>
          <a:prstGeom prst="rect">
            <a:avLst/>
          </a:prstGeom>
          <a:noFill/>
        </p:spPr>
        <p:txBody>
          <a:bodyPr wrap="square" lIns="0" rIns="0" tIns="18288" bIns="18288" anchor="t">
            <a:noAutofit/>
          </a:bodyPr>
          <a:lstStyle/>
          <a:p>
            <a:pPr algn="l"/>
            <a:r>
              <a:rPr sz="900" b="0" i="0" lang="ko-KR" altLang="en-US">
                <a:solidFill>
                  <a:srgbClr val="595959"/>
                </a:solidFill>
                <a:latin typeface="LG스마트체 Regular"/>
                <a:ea typeface="LG스마트체 Regular"/>
                <a:cs typeface="LG스마트체 Regular"/>
              </a:rPr>
              <a:t>점선 = 계획·미정</a:t>
            </a:r>
          </a:p>
        </p:txBody>
      </p:sp>
      <p:sp>
        <p:nvSpPr>
          <p:cNvPr id="93" name="TextBox 92"/>
          <p:cNvSpPr txBox="1"/>
          <p:nvPr/>
        </p:nvSpPr>
        <p:spPr>
          <a:xfrm>
            <a:off x="8001000" y="6272784"/>
            <a:ext cx="1965960" cy="201168"/>
          </a:xfrm>
          <a:prstGeom prst="rect">
            <a:avLst/>
          </a:prstGeom>
          <a:noFill/>
        </p:spPr>
        <p:txBody>
          <a:bodyPr wrap="square" lIns="0" rIns="0" tIns="18288" bIns="18288" anchor="t">
            <a:noAutofit/>
          </a:bodyPr>
          <a:lstStyle/>
          <a:p>
            <a:pPr algn="l"/>
            <a:r>
              <a:rPr sz="900" b="1" i="0" lang="ko-KR" altLang="en-US">
                <a:solidFill>
                  <a:srgbClr val="C00000"/>
                </a:solidFill>
                <a:latin typeface="LG스마트체 Regular"/>
                <a:ea typeface="LG스마트체 Regular"/>
                <a:cs typeface="LG스마트체 Regular"/>
              </a:rPr>
              <a:t>◆ 충돌</a:t>
            </a:r>
            <a:r>
              <a:rPr sz="900" b="0" i="0" lang="ko-KR" altLang="en-US">
                <a:solidFill>
                  <a:srgbClr val="595959"/>
                </a:solidFill>
                <a:latin typeface="LG스마트체 Regular"/>
                <a:ea typeface="LG스마트체 Regular"/>
                <a:cs typeface="LG스마트체 Regular"/>
              </a:rPr>
              <a:t> = 메일↔코드 불일치</a:t>
            </a:r>
          </a:p>
        </p:txBody>
      </p:sp>
      <p:sp>
        <p:nvSpPr>
          <p:cNvPr id="94" name="Rounded Rectangle 93"/>
          <p:cNvSpPr/>
          <p:nvPr/>
        </p:nvSpPr>
        <p:spPr>
          <a:xfrm>
            <a:off x="10012680" y="6281928"/>
            <a:ext cx="384048" cy="182880"/>
          </a:xfrm>
          <a:prstGeom prst="roundRect">
            <a:avLst>
              <a:gd name="adj" fmla="val 25000"/>
            </a:avLst>
          </a:prstGeom>
          <a:solidFill>
            <a:srgbClr val="FFF5EB"/>
          </a:solidFill>
          <a:ln w="9525">
            <a:solidFill>
              <a:srgbClr val="C55A11"/>
            </a:solidFill>
          </a:ln>
          <a:effectLst/>
        </p:spPr>
        <p:txBody>
          <a:bodyPr rtlCol="0" anchor="ctr" wrap="square" lIns="0" rIns="0" tIns="18288" bIns="18288">
            <a:noAutofit/>
          </a:bodyPr>
          <a:lstStyle/>
          <a:p>
            <a:pPr algn="ctr"/>
            <a:r>
              <a:rPr sz="900" b="1" i="0" lang="ko-KR" altLang="en-US">
                <a:solidFill>
                  <a:srgbClr val="C55A11"/>
                </a:solidFill>
                <a:latin typeface="LG스마트체 Regular"/>
                <a:ea typeface="LG스마트체 Regular"/>
                <a:cs typeface="LG스마트체 Regular"/>
              </a:rPr>
              <a:t>가정</a:t>
            </a:r>
          </a:p>
        </p:txBody>
      </p:sp>
      <p:sp>
        <p:nvSpPr>
          <p:cNvPr id="95" name="TextBox 94"/>
          <p:cNvSpPr txBox="1"/>
          <p:nvPr/>
        </p:nvSpPr>
        <p:spPr>
          <a:xfrm>
            <a:off x="10451592" y="6272784"/>
            <a:ext cx="1097280" cy="201168"/>
          </a:xfrm>
          <a:prstGeom prst="rect">
            <a:avLst/>
          </a:prstGeom>
          <a:noFill/>
        </p:spPr>
        <p:txBody>
          <a:bodyPr wrap="square" lIns="0" rIns="0" tIns="18288" bIns="18288" anchor="t">
            <a:noAutofit/>
          </a:bodyPr>
          <a:lstStyle/>
          <a:p>
            <a:pPr algn="l"/>
            <a:r>
              <a:rPr sz="900" b="0" i="0" lang="ko-KR" altLang="en-US">
                <a:solidFill>
                  <a:srgbClr val="595959"/>
                </a:solidFill>
                <a:latin typeface="LG스마트체 Regular"/>
                <a:ea typeface="LG스마트체 Regular"/>
                <a:cs typeface="LG스마트체 Regular"/>
              </a:rPr>
              <a:t>= 실측 전 추정</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11480" y="256032"/>
            <a:ext cx="11365992" cy="530352"/>
          </a:xfrm>
          <a:prstGeom prst="rect">
            <a:avLst/>
          </a:prstGeom>
          <a:noFill/>
        </p:spPr>
        <p:txBody>
          <a:bodyPr wrap="square" lIns="0" rIns="0" tIns="18288" bIns="18288" anchor="t">
            <a:noAutofit/>
          </a:bodyPr>
          <a:lstStyle/>
          <a:p>
            <a:pPr algn="l"/>
            <a:r>
              <a:rPr sz="1600" b="1" i="0" lang="ko-KR" altLang="en-US">
                <a:solidFill>
                  <a:srgbClr val="1F3864"/>
                </a:solidFill>
                <a:latin typeface="LG스마트체 Regular"/>
                <a:ea typeface="LG스마트체 Regular"/>
                <a:cs typeface="LG스마트체 Regular"/>
              </a:rPr>
              <a:t>부록 A. 사실 대조 — 확정 2 · 제안 4 · 미정 4, Docker·NAS 마운트는 DAVINCI가 아닌 우리 측 제안</a:t>
            </a:r>
          </a:p>
        </p:txBody>
      </p:sp>
      <p:sp>
        <p:nvSpPr>
          <p:cNvPr id="3" name="subtitle"/>
          <p:cNvSpPr txBox="1"/>
          <p:nvPr/>
        </p:nvSpPr>
        <p:spPr>
          <a:xfrm>
            <a:off x="411480" y="621792"/>
            <a:ext cx="11365992" cy="219456"/>
          </a:xfrm>
          <a:prstGeom prst="rect">
            <a:avLst/>
          </a:prstGeom>
          <a:noFill/>
        </p:spPr>
        <p:txBody>
          <a:bodyPr wrap="square" lIns="0" rIns="0" tIns="18288" bIns="18288" anchor="t">
            <a:noAutofit/>
          </a:bodyPr>
          <a:lstStyle/>
          <a:p>
            <a:pPr algn="l"/>
            <a:r>
              <a:rPr sz="1000" b="0" i="0" lang="ko-KR" altLang="en-US">
                <a:solidFill>
                  <a:srgbClr val="595959"/>
                </a:solidFill>
                <a:latin typeface="LG스마트체 Regular"/>
                <a:ea typeface="LG스마트체 Regular"/>
                <a:cs typeface="LG스마트체 Regular"/>
              </a:rPr>
              <a:t>분류 기준: 확정 = 양측 메일 합의 · 제안 = 한쪽 제시, 상대 미확인(제안 주체 표기) · 미정 = 언급 없음/조사 예정</a:t>
            </a:r>
          </a:p>
        </p:txBody>
      </p:sp>
      <p:graphicFrame>
        <p:nvGraphicFramePr>
          <p:cNvPr id="4" name="fact-table"/>
          <p:cNvGraphicFramePr>
            <a:graphicFrameLocks noGrp="1"/>
          </p:cNvGraphicFramePr>
          <p:nvPr/>
        </p:nvGraphicFramePr>
        <p:xfrm>
          <a:off x="411480" y="1188720"/>
          <a:ext cx="11365992" cy="3108960"/>
        </p:xfrm>
        <a:graphic>
          <a:graphicData uri="http://schemas.openxmlformats.org/drawingml/2006/table">
            <a:tbl>
              <a:tblPr firstRow="1">
                <a:tableStyleId>{5C22544A-7EE6-4342-B048-85BDC9FD1C3A}</a:tableStyleId>
              </a:tblPr>
              <a:tblGrid>
                <a:gridCol w="1371600"/>
                <a:gridCol w="1920240"/>
                <a:gridCol w="3931920"/>
                <a:gridCol w="2377440"/>
                <a:gridCol w="1764792"/>
              </a:tblGrid>
              <a:tr h="274320">
                <a:tc>
                  <a:txBody>
                    <a:bodyPr wrap="square" lIns="45720" rIns="45720" tIns="18288" bIns="18288" anchor="ctr">
                      <a:noAutofit/>
                    </a:bodyPr>
                    <a:lstStyle/>
                    <a:p>
                      <a:pPr algn="l"/>
                      <a:r>
                        <a:rPr sz="950" b="1" i="0" lang="ko-KR" altLang="en-US">
                          <a:solidFill>
                            <a:srgbClr val="FFFFFF"/>
                          </a:solidFill>
                          <a:latin typeface="LG스마트체 Regular"/>
                          <a:ea typeface="LG스마트체 Regular"/>
                          <a:cs typeface="LG스마트체 Regular"/>
                        </a:rPr>
                        <a:t>항목</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1F3864"/>
                    </a:solidFill>
                  </a:tcPr>
                </a:tc>
                <a:tc>
                  <a:txBody>
                    <a:bodyPr wrap="square" lIns="45720" rIns="45720" tIns="18288" bIns="18288" anchor="ctr">
                      <a:noAutofit/>
                    </a:bodyPr>
                    <a:lstStyle/>
                    <a:p>
                      <a:pPr algn="l"/>
                      <a:r>
                        <a:rPr sz="950" b="1" i="0" lang="ko-KR" altLang="en-US">
                          <a:solidFill>
                            <a:srgbClr val="FFFFFF"/>
                          </a:solidFill>
                          <a:latin typeface="LG스마트체 Regular"/>
                          <a:ea typeface="LG스마트체 Regular"/>
                          <a:cs typeface="LG스마트체 Regular"/>
                        </a:rPr>
                        <a:t>분류</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1F3864"/>
                    </a:solidFill>
                  </a:tcPr>
                </a:tc>
                <a:tc>
                  <a:txBody>
                    <a:bodyPr wrap="square" lIns="45720" rIns="45720" tIns="18288" bIns="18288" anchor="ctr">
                      <a:noAutofit/>
                    </a:bodyPr>
                    <a:lstStyle/>
                    <a:p>
                      <a:pPr algn="l"/>
                      <a:r>
                        <a:rPr sz="950" b="1" i="0" lang="ko-KR" altLang="en-US">
                          <a:solidFill>
                            <a:srgbClr val="FFFFFF"/>
                          </a:solidFill>
                          <a:latin typeface="LG스마트체 Regular"/>
                          <a:ea typeface="LG스마트체 Regular"/>
                          <a:cs typeface="LG스마트체 Regular"/>
                        </a:rPr>
                        <a:t>메일 근거 (날짜·발신)</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1F3864"/>
                    </a:solidFill>
                  </a:tcPr>
                </a:tc>
                <a:tc>
                  <a:txBody>
                    <a:bodyPr wrap="square" lIns="45720" rIns="45720" tIns="18288" bIns="18288" anchor="ctr">
                      <a:noAutofit/>
                    </a:bodyPr>
                    <a:lstStyle/>
                    <a:p>
                      <a:pPr algn="l"/>
                      <a:r>
                        <a:rPr sz="950" b="1" i="0" lang="ko-KR" altLang="en-US">
                          <a:solidFill>
                            <a:srgbClr val="FFFFFF"/>
                          </a:solidFill>
                          <a:latin typeface="LG스마트체 Regular"/>
                          <a:ea typeface="LG스마트체 Regular"/>
                          <a:cs typeface="LG스마트체 Regular"/>
                        </a:rPr>
                        <a:t>저장소 대조</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1F3864"/>
                    </a:solidFill>
                  </a:tcPr>
                </a:tc>
                <a:tc>
                  <a:txBody>
                    <a:bodyPr wrap="square" lIns="45720" rIns="45720" tIns="18288" bIns="18288" anchor="ctr">
                      <a:noAutofit/>
                    </a:bodyPr>
                    <a:lstStyle/>
                    <a:p>
                      <a:pPr algn="l"/>
                      <a:r>
                        <a:rPr sz="950" b="1" i="0" lang="ko-KR" altLang="en-US">
                          <a:solidFill>
                            <a:srgbClr val="FFFFFF"/>
                          </a:solidFill>
                          <a:latin typeface="LG스마트체 Regular"/>
                          <a:ea typeface="LG스마트체 Regular"/>
                          <a:cs typeface="LG스마트체 Regular"/>
                        </a:rPr>
                        <a:t>다음 확인</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1F3864"/>
                    </a:solidFill>
                  </a:tcPr>
                </a:tc>
              </a:tr>
              <a:tr h="274320">
                <a:tc>
                  <a:txBody>
                    <a:bodyPr wrap="square" lIns="45720" rIns="45720" tIns="18288" bIns="18288" anchor="ctr">
                      <a:noAutofit/>
                    </a:bodyPr>
                    <a:lstStyle/>
                    <a:p>
                      <a:pPr algn="l"/>
                      <a:r>
                        <a:rPr sz="900" b="1" i="0" lang="ko-KR" altLang="en-US">
                          <a:solidFill>
                            <a:srgbClr val="1F3864"/>
                          </a:solidFill>
                          <a:latin typeface="LG스마트체 Regular"/>
                          <a:ea typeface="LG스마트체 Regular"/>
                          <a:cs typeface="LG스마트체 Regular"/>
                        </a:rPr>
                        <a:t>OC 법인</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1" i="0" lang="ko-KR" altLang="en-US">
                          <a:solidFill>
                            <a:srgbClr val="1F3864"/>
                          </a:solidFill>
                          <a:latin typeface="LG스마트체 Regular"/>
                          <a:ea typeface="LG스마트체 Regular"/>
                          <a:cs typeface="LG스마트체 Regular"/>
                        </a:rPr>
                        <a:t>확정</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EEF2F8"/>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10-20 박정환 "OC라고 생각하면 될지" → 이재후 회신 "OC로 진행"</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0" i="0" lang="ko-KR" altLang="en-US">
                          <a:solidFill>
                            <a:srgbClr val="595959"/>
                          </a:solidFill>
                          <a:latin typeface="LG스마트체 Regular"/>
                          <a:ea typeface="LG스마트체 Regular"/>
                          <a:cs typeface="LG스마트체 Regular"/>
                        </a:rPr>
                        <a:t>—</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0" i="0" lang="ko-KR" altLang="en-US">
                          <a:solidFill>
                            <a:srgbClr val="595959"/>
                          </a:solidFill>
                          <a:latin typeface="LG스마트체 Regular"/>
                          <a:ea typeface="LG스마트체 Regular"/>
                          <a:cs typeface="LG스마트체 Regular"/>
                        </a:rPr>
                        <a:t>—</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r>
              <a:tr h="274320">
                <a:tc>
                  <a:txBody>
                    <a:bodyPr wrap="square" lIns="45720" rIns="45720" tIns="18288" bIns="18288" anchor="ctr">
                      <a:noAutofit/>
                    </a:bodyPr>
                    <a:lstStyle/>
                    <a:p>
                      <a:pPr algn="l"/>
                      <a:r>
                        <a:rPr sz="900" b="1" i="0" lang="ko-KR" altLang="en-US">
                          <a:solidFill>
                            <a:srgbClr val="1F3864"/>
                          </a:solidFill>
                          <a:latin typeface="LG스마트체 Regular"/>
                          <a:ea typeface="LG스마트체 Regular"/>
                          <a:cs typeface="LG스마트체 Regular"/>
                        </a:rPr>
                        <a:t>분석과제 신청</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1" i="0" lang="ko-KR" altLang="en-US">
                          <a:solidFill>
                            <a:srgbClr val="1F3864"/>
                          </a:solidFill>
                          <a:latin typeface="LG스마트체 Regular"/>
                          <a:ea typeface="LG스마트체 Regular"/>
                          <a:cs typeface="LG스마트체 Regular"/>
                        </a:rPr>
                        <a:t>확정</a:t>
                      </a:r>
                      <a:r>
                        <a:rPr sz="900" b="0" i="0" lang="ko-KR" altLang="en-US">
                          <a:solidFill>
                            <a:srgbClr val="1F3864"/>
                          </a:solidFill>
                          <a:latin typeface="LG스마트체 Regular"/>
                          <a:ea typeface="LG스마트체 Regular"/>
                          <a:cs typeface="LG스마트체 Regular"/>
                        </a:rPr>
                        <a:t> (접수 여부 미확인)</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EEF2F8"/>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10-21 박정환 "분석 과제는 신청 주시고"</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0" i="0" lang="ko-KR" altLang="en-US">
                          <a:solidFill>
                            <a:srgbClr val="595959"/>
                          </a:solidFill>
                          <a:latin typeface="LG스마트체 Regular"/>
                          <a:ea typeface="LG스마트체 Regular"/>
                          <a:cs typeface="LG스마트체 Regular"/>
                        </a:rPr>
                        <a:t>—</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신청 완료·과제 정보</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r>
              <a:tr h="274320">
                <a:tc>
                  <a:txBody>
                    <a:bodyPr wrap="square" lIns="45720" rIns="45720" tIns="18288" bIns="18288" anchor="ctr">
                      <a:noAutofit/>
                    </a:bodyPr>
                    <a:lstStyle/>
                    <a:p>
                      <a:pPr algn="l"/>
                      <a:r>
                        <a:rPr sz="900" b="1" i="0" lang="ko-KR" altLang="en-US">
                          <a:solidFill>
                            <a:srgbClr val="1F3864"/>
                          </a:solidFill>
                          <a:latin typeface="LG스마트체 Regular"/>
                          <a:ea typeface="LG스마트체 Regular"/>
                          <a:cs typeface="LG스마트체 Regular"/>
                        </a:rPr>
                        <a:t>VM 8 Core · 32GB</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1" i="0" lang="ko-KR" altLang="en-US">
                          <a:solidFill>
                            <a:srgbClr val="C55A11"/>
                          </a:solidFill>
                          <a:latin typeface="LG스마트체 Regular"/>
                          <a:ea typeface="LG스마트체 Regular"/>
                          <a:cs typeface="LG스마트체 Regular"/>
                        </a:rPr>
                        <a:t>제안</a:t>
                      </a:r>
                      <a:r>
                        <a:rPr sz="900" b="0" i="0" lang="ko-KR" altLang="en-US">
                          <a:solidFill>
                            <a:srgbClr val="C55A11"/>
                          </a:solidFill>
                          <a:latin typeface="LG스마트체 Regular"/>
                          <a:ea typeface="LG스마트체 Regular"/>
                          <a:cs typeface="LG스마트체 Regular"/>
                        </a:rPr>
                        <a:t> (이재후 · 할당 미회신)</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5EB"/>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10-20 이재후 요청 / 이정원 "할당 가능한지 확인"</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worker 1개 → 코어 활용 제한</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할당 회신</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r>
              <a:tr h="274320">
                <a:tc>
                  <a:txBody>
                    <a:bodyPr wrap="square" lIns="45720" rIns="45720" tIns="18288" bIns="18288" anchor="ctr">
                      <a:noAutofit/>
                    </a:bodyPr>
                    <a:lstStyle/>
                    <a:p>
                      <a:pPr algn="l"/>
                      <a:r>
                        <a:rPr sz="900" b="1" i="0" lang="ko-KR" altLang="en-US">
                          <a:solidFill>
                            <a:srgbClr val="1F3864"/>
                          </a:solidFill>
                          <a:latin typeface="LG스마트체 Regular"/>
                          <a:ea typeface="LG스마트체 Regular"/>
                          <a:cs typeface="LG스마트체 Regular"/>
                        </a:rPr>
                        <a:t>SSD 1TB → 최대 4TB</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1" i="0" lang="ko-KR" altLang="en-US">
                          <a:solidFill>
                            <a:srgbClr val="C55A11"/>
                          </a:solidFill>
                          <a:latin typeface="LG스마트체 Regular"/>
                          <a:ea typeface="LG스마트체 Regular"/>
                          <a:cs typeface="LG스마트체 Regular"/>
                        </a:rPr>
                        <a:t>제안</a:t>
                      </a:r>
                      <a:r>
                        <a:rPr sz="900" b="0" i="0" lang="ko-KR" altLang="en-US">
                          <a:solidFill>
                            <a:srgbClr val="C55A11"/>
                          </a:solidFill>
                          <a:latin typeface="LG스마트체 Regular"/>
                          <a:ea typeface="LG스마트체 Regular"/>
                          <a:cs typeface="LG스마트체 Regular"/>
                        </a:rPr>
                        <a:t> (DAVINCI · "가능할 것 같음")</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5EB"/>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10-21 박정환 "1TB 수준으로 신청… 이후 SSD 4TB까지 할당 가능할 것 같으므로"</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DB·첨부·보고 결과는 SSD</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IP·계정 정보 메일 → 확장</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r>
              <a:tr h="365760">
                <a:tc>
                  <a:txBody>
                    <a:bodyPr wrap="square" lIns="45720" rIns="45720" tIns="18288" bIns="18288" anchor="ctr">
                      <a:noAutofit/>
                    </a:bodyPr>
                    <a:lstStyle/>
                    <a:p>
                      <a:pPr algn="l"/>
                      <a:r>
                        <a:rPr sz="900" b="1" i="0" lang="ko-KR" altLang="en-US">
                          <a:solidFill>
                            <a:srgbClr val="1F3864"/>
                          </a:solidFill>
                          <a:latin typeface="LG스마트체 Regular"/>
                          <a:ea typeface="LG스마트체 Regular"/>
                          <a:cs typeface="LG스마트체 Regular"/>
                        </a:rPr>
                        <a:t>NAS 2TB · 1년</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1" i="0" lang="ko-KR" altLang="en-US">
                          <a:solidFill>
                            <a:srgbClr val="595959"/>
                          </a:solidFill>
                          <a:latin typeface="LG스마트체 Regular"/>
                          <a:ea typeface="LG스마트체 Regular"/>
                          <a:cs typeface="LG스마트체 Regular"/>
                        </a:rPr>
                        <a:t>미정</a:t>
                      </a:r>
                      <a:r>
                        <a:rPr sz="900" b="0" i="0" lang="ko-KR" altLang="en-US">
                          <a:solidFill>
                            <a:srgbClr val="595959"/>
                          </a:solidFill>
                          <a:latin typeface="LG스마트체 Regular"/>
                          <a:ea typeface="LG스마트체 Regular"/>
                          <a:cs typeface="LG스마트체 Regular"/>
                        </a:rPr>
                        <a:t> (DAVINCI 미회신)</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2F2F2"/>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10-20 이재후 요청 / 박정환 "4TB(SSD 2TB, NAS 2TB)?" 질문, 10-21 회신은 SSD만 언급</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백업 14개 전체 복사(backups.py)</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NAS 할당·보관 정책</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r>
              <a:tr h="274320">
                <a:tc>
                  <a:txBody>
                    <a:bodyPr wrap="square" lIns="45720" rIns="45720" tIns="18288" bIns="18288" anchor="ctr">
                      <a:noAutofit/>
                    </a:bodyPr>
                    <a:lstStyle/>
                    <a:p>
                      <a:pPr algn="l"/>
                      <a:r>
                        <a:rPr sz="900" b="1" i="0" lang="ko-KR" altLang="en-US">
                          <a:solidFill>
                            <a:srgbClr val="1F3864"/>
                          </a:solidFill>
                          <a:latin typeface="LG스마트체 Regular"/>
                          <a:ea typeface="LG스마트체 Regular"/>
                          <a:cs typeface="LG스마트체 Regular"/>
                        </a:rPr>
                        <a:t>Docker 실행</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1" i="0" lang="ko-KR" altLang="en-US">
                          <a:solidFill>
                            <a:srgbClr val="C55A11"/>
                          </a:solidFill>
                          <a:latin typeface="LG스마트체 Regular"/>
                          <a:ea typeface="LG스마트체 Regular"/>
                          <a:cs typeface="LG스마트체 Regular"/>
                        </a:rPr>
                        <a:t>제안</a:t>
                      </a:r>
                      <a:r>
                        <a:rPr sz="900" b="0" i="0" lang="ko-KR" altLang="en-US">
                          <a:solidFill>
                            <a:srgbClr val="C55A11"/>
                          </a:solidFill>
                          <a:latin typeface="LG스마트체 Regular"/>
                          <a:ea typeface="LG스마트체 Regular"/>
                          <a:cs typeface="LG스마트체 Regular"/>
                        </a:rPr>
                        <a:t> (이재후)</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5EB"/>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10-20 이재후 회신 "실행하는 환경 자체는 도커 컨테이너로"</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Dockerfile 없음, 실행.bat</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허용 여부·베이스 이미지</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r>
              <a:tr h="274320">
                <a:tc>
                  <a:txBody>
                    <a:bodyPr wrap="square" lIns="45720" rIns="45720" tIns="18288" bIns="18288" anchor="ctr">
                      <a:noAutofit/>
                    </a:bodyPr>
                    <a:lstStyle/>
                    <a:p>
                      <a:pPr algn="l"/>
                      <a:r>
                        <a:rPr sz="900" b="1" i="0" lang="ko-KR" altLang="en-US">
                          <a:solidFill>
                            <a:srgbClr val="1F3864"/>
                          </a:solidFill>
                          <a:latin typeface="LG스마트체 Regular"/>
                          <a:ea typeface="LG스마트체 Regular"/>
                          <a:cs typeface="LG스마트체 Regular"/>
                        </a:rPr>
                        <a:t>NAS 마운트</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1" i="0" lang="ko-KR" altLang="en-US">
                          <a:solidFill>
                            <a:srgbClr val="C55A11"/>
                          </a:solidFill>
                          <a:latin typeface="LG스마트체 Regular"/>
                          <a:ea typeface="LG스마트체 Regular"/>
                          <a:cs typeface="LG스마트체 Regular"/>
                        </a:rPr>
                        <a:t>제안</a:t>
                      </a:r>
                      <a:r>
                        <a:rPr sz="900" b="0" i="0" lang="ko-KR" altLang="en-US">
                          <a:solidFill>
                            <a:srgbClr val="C55A11"/>
                          </a:solidFill>
                          <a:latin typeface="LG스마트체 Regular"/>
                          <a:ea typeface="LG스마트체 Regular"/>
                          <a:cs typeface="LG스마트체 Regular"/>
                        </a:rPr>
                        <a:t> (이재후)</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5EB"/>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10-20 이재후 회신 "NAS는 샌드박스에서 마운트하는 방식"</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DB 불가, BACKUP_DIR만</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NFS/SMB·권한</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r>
              <a:tr h="274320">
                <a:tc>
                  <a:txBody>
                    <a:bodyPr wrap="square" lIns="45720" rIns="45720" tIns="18288" bIns="18288" anchor="ctr">
                      <a:noAutofit/>
                    </a:bodyPr>
                    <a:lstStyle/>
                    <a:p>
                      <a:pPr algn="l"/>
                      <a:r>
                        <a:rPr sz="900" b="1" i="0" lang="ko-KR" altLang="en-US">
                          <a:solidFill>
                            <a:srgbClr val="1F3864"/>
                          </a:solidFill>
                          <a:latin typeface="LG스마트체 Regular"/>
                          <a:ea typeface="LG스마트체 Regular"/>
                          <a:cs typeface="LG스마트체 Regular"/>
                        </a:rPr>
                        <a:t>OS</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1" i="0" lang="ko-KR" altLang="en-US">
                          <a:solidFill>
                            <a:srgbClr val="595959"/>
                          </a:solidFill>
                          <a:latin typeface="LG스마트체 Regular"/>
                          <a:ea typeface="LG스마트체 Regular"/>
                          <a:cs typeface="LG스마트체 Regular"/>
                        </a:rPr>
                        <a:t>미정</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2F2F2"/>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10-20 이정원 "샌드박스의 OS…요청 파일"</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Windows 전용 스크립트(.bat·.ps1)</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요청 파일 수령</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r>
              <a:tr h="274320">
                <a:tc>
                  <a:txBody>
                    <a:bodyPr wrap="square" lIns="45720" rIns="45720" tIns="18288" bIns="18288" anchor="ctr">
                      <a:noAutofit/>
                    </a:bodyPr>
                    <a:lstStyle/>
                    <a:p>
                      <a:pPr algn="l"/>
                      <a:r>
                        <a:rPr sz="900" b="1" i="0" lang="ko-KR" altLang="en-US">
                          <a:solidFill>
                            <a:srgbClr val="1F3864"/>
                          </a:solidFill>
                          <a:latin typeface="LG스마트체 Regular"/>
                          <a:ea typeface="LG스마트체 Regular"/>
                          <a:cs typeface="LG스마트체 Regular"/>
                        </a:rPr>
                        <a:t>EXAONE 경로</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1" i="0" lang="ko-KR" altLang="en-US">
                          <a:solidFill>
                            <a:srgbClr val="595959"/>
                          </a:solidFill>
                          <a:latin typeface="LG스마트체 Regular"/>
                          <a:ea typeface="LG스마트체 Regular"/>
                          <a:cs typeface="LG스마트체 Regular"/>
                        </a:rPr>
                        <a:t>미정</a:t>
                      </a:r>
                      <a:r>
                        <a:rPr sz="900" b="0" i="0" lang="ko-KR" altLang="en-US">
                          <a:solidFill>
                            <a:srgbClr val="595959"/>
                          </a:solidFill>
                          <a:latin typeface="LG스마트체 Regular"/>
                          <a:ea typeface="LG스마트체 Regular"/>
                          <a:cs typeface="LG스마트체 Regular"/>
                        </a:rPr>
                        <a:t> (필요성만 합의)</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2F2F2"/>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10-20 박정환 "엑사원과 통신이 필요할 것 같고"</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config AI_API_URL·KEY (저장소 값 비어 있음)</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Sandbox→EXAONE 허용</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r>
              <a:tr h="274320">
                <a:tc>
                  <a:txBody>
                    <a:bodyPr wrap="square" lIns="45720" rIns="45720" tIns="18288" bIns="18288" anchor="ctr">
                      <a:noAutofit/>
                    </a:bodyPr>
                    <a:lstStyle/>
                    <a:p>
                      <a:pPr algn="l"/>
                      <a:r>
                        <a:rPr sz="900" b="1" i="0" lang="ko-KR" altLang="en-US">
                          <a:solidFill>
                            <a:srgbClr val="1F3864"/>
                          </a:solidFill>
                          <a:latin typeface="LG스마트체 Regular"/>
                          <a:ea typeface="LG스마트체 Regular"/>
                          <a:cs typeface="LG스마트체 Regular"/>
                        </a:rPr>
                        <a:t>접근 통제</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1" i="0" lang="ko-KR" altLang="en-US">
                          <a:solidFill>
                            <a:srgbClr val="595959"/>
                          </a:solidFill>
                          <a:latin typeface="LG스마트체 Regular"/>
                          <a:ea typeface="LG스마트체 Regular"/>
                          <a:cs typeface="LG스마트체 Regular"/>
                        </a:rPr>
                        <a:t>미정</a:t>
                      </a:r>
                      <a:r>
                        <a:rPr sz="900" b="0" i="0" lang="ko-KR" altLang="en-US">
                          <a:solidFill>
                            <a:srgbClr val="595959"/>
                          </a:solidFill>
                          <a:latin typeface="LG스마트체 Regular"/>
                          <a:ea typeface="LG스마트체 Regular"/>
                          <a:cs typeface="LG스마트체 Regular"/>
                        </a:rPr>
                        <a:t> (메일 언급 없음)</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2F2F2"/>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로그인·권한 없음(docs/01)</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사내 정책상 허용·보완</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r>
            </a:tbl>
          </a:graphicData>
        </a:graphic>
      </p:graphicFrame>
      <p:sp>
        <p:nvSpPr>
          <p:cNvPr id="5" name="Rounded Rectangle 4"/>
          <p:cNvSpPr/>
          <p:nvPr/>
        </p:nvSpPr>
        <p:spPr>
          <a:xfrm>
            <a:off x="411480" y="4590288"/>
            <a:ext cx="402336" cy="201168"/>
          </a:xfrm>
          <a:prstGeom prst="roundRect">
            <a:avLst>
              <a:gd name="adj" fmla="val 22727"/>
            </a:avLst>
          </a:prstGeom>
          <a:solidFill>
            <a:srgbClr val="FFF5EB"/>
          </a:solidFill>
          <a:ln w="9525">
            <a:solidFill>
              <a:srgbClr val="C55A11"/>
            </a:solidFill>
          </a:ln>
          <a:effectLst/>
        </p:spPr>
        <p:txBody>
          <a:bodyPr rtlCol="0" anchor="ctr" wrap="square" lIns="0" rIns="0" tIns="18288" bIns="18288">
            <a:noAutofit/>
          </a:bodyPr>
          <a:lstStyle/>
          <a:p>
            <a:pPr algn="ctr"/>
            <a:r>
              <a:rPr sz="900" b="1" i="0" lang="ko-KR" altLang="en-US">
                <a:solidFill>
                  <a:srgbClr val="C55A11"/>
                </a:solidFill>
                <a:latin typeface="LG스마트체 Regular"/>
                <a:ea typeface="LG스마트체 Regular"/>
                <a:cs typeface="LG스마트체 Regular"/>
              </a:rPr>
              <a:t>가정</a:t>
            </a:r>
          </a:p>
        </p:txBody>
      </p:sp>
      <p:sp>
        <p:nvSpPr>
          <p:cNvPr id="6" name="TextBox 5"/>
          <p:cNvSpPr txBox="1"/>
          <p:nvPr/>
        </p:nvSpPr>
        <p:spPr>
          <a:xfrm>
            <a:off x="886968" y="4572000"/>
            <a:ext cx="5120640" cy="237744"/>
          </a:xfrm>
          <a:prstGeom prst="rect">
            <a:avLst/>
          </a:prstGeom>
          <a:noFill/>
        </p:spPr>
        <p:txBody>
          <a:bodyPr wrap="square" lIns="0" rIns="0" tIns="18288" bIns="18288" anchor="t">
            <a:noAutofit/>
          </a:bodyPr>
          <a:lstStyle/>
          <a:p>
            <a:pPr algn="l"/>
            <a:r>
              <a:rPr sz="1100" b="1" i="0" lang="ko-KR" altLang="en-US">
                <a:solidFill>
                  <a:srgbClr val="1F3864"/>
                </a:solidFill>
                <a:latin typeface="LG스마트체 Regular"/>
                <a:ea typeface="LG스마트체 Regular"/>
                <a:cs typeface="LG스마트체 Regular"/>
              </a:rPr>
              <a:t>용량 산정</a:t>
            </a:r>
            <a:r>
              <a:rPr sz="900" b="0" i="0" lang="ko-KR" altLang="en-US">
                <a:solidFill>
                  <a:srgbClr val="595959"/>
                </a:solidFill>
                <a:latin typeface="LG스마트체 Regular"/>
                <a:ea typeface="LG스마트체 Regular"/>
                <a:cs typeface="LG스마트체 Regular"/>
              </a:rPr>
              <a:t>  메일 가정 · 실측 전</a:t>
            </a:r>
          </a:p>
        </p:txBody>
      </p:sp>
      <p:graphicFrame>
        <p:nvGraphicFramePr>
          <p:cNvPr id="7" name="capacity-table"/>
          <p:cNvGraphicFramePr>
            <a:graphicFrameLocks noGrp="1"/>
          </p:cNvGraphicFramePr>
          <p:nvPr/>
        </p:nvGraphicFramePr>
        <p:xfrm>
          <a:off x="411480" y="4864608"/>
          <a:ext cx="5760720" cy="1207008"/>
        </p:xfrm>
        <a:graphic>
          <a:graphicData uri="http://schemas.openxmlformats.org/drawingml/2006/table">
            <a:tbl>
              <a:tblPr>
                <a:tableStyleId>{5C22544A-7EE6-4342-B048-85BDC9FD1C3A}</a:tableStyleId>
              </a:tblPr>
              <a:tblGrid>
                <a:gridCol w="2011680"/>
                <a:gridCol w="3749040"/>
              </a:tblGrid>
              <a:tr h="201168">
                <a:tc>
                  <a:txBody>
                    <a:bodyPr wrap="square" lIns="45720" rIns="45720" tIns="18288" bIns="18288" anchor="ctr">
                      <a:noAutofit/>
                    </a:bodyPr>
                    <a:lstStyle/>
                    <a:p>
                      <a:pPr algn="l"/>
                      <a:r>
                        <a:rPr sz="900" b="1" i="0" lang="ko-KR" altLang="en-US">
                          <a:solidFill>
                            <a:srgbClr val="595959"/>
                          </a:solidFill>
                          <a:latin typeface="LG스마트체 Regular"/>
                          <a:ea typeface="LG스마트체 Regular"/>
                          <a:cs typeface="LG스마트체 Regular"/>
                        </a:rPr>
                        <a:t>가정 인원</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7F7F7"/>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200명 (동시 100명 = 50%)</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r>
              <a:tr h="201168">
                <a:tc>
                  <a:txBody>
                    <a:bodyPr wrap="square" lIns="45720" rIns="45720" tIns="18288" bIns="18288" anchor="ctr">
                      <a:noAutofit/>
                    </a:bodyPr>
                    <a:lstStyle/>
                    <a:p>
                      <a:pPr algn="l"/>
                      <a:r>
                        <a:rPr sz="900" b="1" i="0" lang="ko-KR" altLang="en-US">
                          <a:solidFill>
                            <a:srgbClr val="595959"/>
                          </a:solidFill>
                          <a:latin typeface="LG스마트체 Regular"/>
                          <a:ea typeface="LG스마트체 Regular"/>
                          <a:cs typeface="LG스마트체 Regular"/>
                        </a:rPr>
                        <a:t>1인 연간 데이터</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7F7F7"/>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5GB</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r>
              <a:tr h="201168">
                <a:tc>
                  <a:txBody>
                    <a:bodyPr wrap="square" lIns="45720" rIns="45720" tIns="18288" bIns="18288" anchor="ctr">
                      <a:noAutofit/>
                    </a:bodyPr>
                    <a:lstStyle/>
                    <a:p>
                      <a:pPr algn="l"/>
                      <a:r>
                        <a:rPr sz="900" b="1" i="0" lang="ko-KR" altLang="en-US">
                          <a:solidFill>
                            <a:srgbClr val="595959"/>
                          </a:solidFill>
                          <a:latin typeface="LG스마트체 Regular"/>
                          <a:ea typeface="LG스마트체 Regular"/>
                          <a:cs typeface="LG스마트체 Regular"/>
                        </a:rPr>
                        <a:t>연간 데이터</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7F7F7"/>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 1,000GB</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r>
              <a:tr h="201168">
                <a:tc>
                  <a:txBody>
                    <a:bodyPr wrap="square" lIns="45720" rIns="45720" tIns="18288" bIns="18288" anchor="ctr">
                      <a:noAutofit/>
                    </a:bodyPr>
                    <a:lstStyle/>
                    <a:p>
                      <a:pPr algn="l"/>
                      <a:r>
                        <a:rPr sz="900" b="1" i="0" lang="ko-KR" altLang="en-US">
                          <a:solidFill>
                            <a:srgbClr val="595959"/>
                          </a:solidFill>
                          <a:latin typeface="LG스마트체 Regular"/>
                          <a:ea typeface="LG스마트체 Regular"/>
                          <a:cs typeface="LG스마트체 Regular"/>
                        </a:rPr>
                        <a:t>SSD 소진</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7F7F7"/>
                    </a:solidFill>
                  </a:tcPr>
                </a:tc>
                <a:tc>
                  <a:txBody>
                    <a:bodyPr wrap="square" lIns="45720" rIns="45720" tIns="18288" bIns="18288" anchor="ctr">
                      <a:noAutofit/>
                    </a:bodyPr>
                    <a:lstStyle/>
                    <a:p>
                      <a:pPr algn="l"/>
                      <a:r>
                        <a:rPr sz="900" b="0" i="0" lang="ko-KR" altLang="en-US">
                          <a:solidFill>
                            <a:srgbClr val="262626"/>
                          </a:solidFill>
                          <a:latin typeface="LG스마트체 Regular"/>
                          <a:ea typeface="LG스마트체 Regular"/>
                          <a:cs typeface="LG스마트체 Regular"/>
                        </a:rPr>
                        <a:t>1TB ≈ 12개월 · 4TB ≈ 4년</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FFF"/>
                    </a:solidFill>
                  </a:tcPr>
                </a:tc>
              </a:tr>
              <a:tr h="201168">
                <a:tc>
                  <a:txBody>
                    <a:bodyPr wrap="square" lIns="45720" rIns="45720" tIns="18288" bIns="18288" anchor="ctr">
                      <a:noAutofit/>
                    </a:bodyPr>
                    <a:lstStyle/>
                    <a:p>
                      <a:pPr algn="l"/>
                      <a:r>
                        <a:rPr sz="900" b="1" i="0" lang="ko-KR" altLang="en-US">
                          <a:solidFill>
                            <a:srgbClr val="595959"/>
                          </a:solidFill>
                          <a:latin typeface="LG스마트체 Regular"/>
                          <a:ea typeface="LG스마트체 Regular"/>
                          <a:cs typeface="LG스마트체 Regular"/>
                        </a:rPr>
                        <a:t>NAS 2TB ÷ 백업 14개</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7F7F7"/>
                    </a:solidFill>
                  </a:tcPr>
                </a:tc>
                <a:tc>
                  <a:txBody>
                    <a:bodyPr wrap="square" lIns="45720" rIns="45720" tIns="18288" bIns="18288" anchor="ctr">
                      <a:noAutofit/>
                    </a:bodyPr>
                    <a:lstStyle/>
                    <a:p>
                      <a:pPr algn="l"/>
                      <a:r>
                        <a:rPr sz="900" b="1" i="0" lang="ko-KR" altLang="en-US">
                          <a:solidFill>
                            <a:srgbClr val="C55A11"/>
                          </a:solidFill>
                          <a:latin typeface="LG스마트체 Regular"/>
                          <a:ea typeface="LG스마트체 Regular"/>
                          <a:cs typeface="LG스마트체 Regular"/>
                        </a:rPr>
                        <a:t>데이터 ≈ 143GB까지 (≈ 1.7개월)</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5EB"/>
                    </a:solidFill>
                  </a:tcPr>
                </a:tc>
              </a:tr>
              <a:tr h="201168">
                <a:tc>
                  <a:txBody>
                    <a:bodyPr wrap="square" lIns="45720" rIns="45720" tIns="18288" bIns="18288" anchor="ctr">
                      <a:noAutofit/>
                    </a:bodyPr>
                    <a:lstStyle/>
                    <a:p>
                      <a:pPr algn="l"/>
                      <a:r>
                        <a:rPr sz="900" b="1" i="0" lang="ko-KR" altLang="en-US">
                          <a:solidFill>
                            <a:srgbClr val="595959"/>
                          </a:solidFill>
                          <a:latin typeface="LG스마트체 Regular"/>
                          <a:ea typeface="LG스마트체 Regular"/>
                          <a:cs typeface="LG스마트체 Regular"/>
                        </a:rPr>
                        <a:t>1년 말 14개 전체본</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7F7F7"/>
                    </a:solidFill>
                  </a:tcPr>
                </a:tc>
                <a:tc>
                  <a:txBody>
                    <a:bodyPr wrap="square" lIns="45720" rIns="45720" tIns="18288" bIns="18288" anchor="ctr">
                      <a:noAutofit/>
                    </a:bodyPr>
                    <a:lstStyle/>
                    <a:p>
                      <a:pPr algn="l"/>
                      <a:r>
                        <a:rPr sz="900" b="1" i="0" lang="ko-KR" altLang="en-US">
                          <a:solidFill>
                            <a:srgbClr val="C55A11"/>
                          </a:solidFill>
                          <a:latin typeface="LG스마트체 Regular"/>
                          <a:ea typeface="LG스마트체 Regular"/>
                          <a:cs typeface="LG스마트체 Regular"/>
                        </a:rPr>
                        <a:t>≈ 14TB</a:t>
                      </a:r>
                    </a:p>
                  </a:txBody>
                  <a:tcPr marL="54864" marR="54864" marT="22860" marB="22860" anchor="ctr">
                    <a:lnL w="6350" cmpd="sng">
                      <a:solidFill>
                        <a:srgbClr val="D9D9D9"/>
                      </a:solidFill>
                    </a:lnL>
                    <a:lnR w="6350" cmpd="sng">
                      <a:solidFill>
                        <a:srgbClr val="D9D9D9"/>
                      </a:solidFill>
                    </a:lnR>
                    <a:lnT w="6350" cmpd="sng">
                      <a:solidFill>
                        <a:srgbClr val="D9D9D9"/>
                      </a:solidFill>
                    </a:lnT>
                    <a:lnB w="6350" cmpd="sng">
                      <a:solidFill>
                        <a:srgbClr val="D9D9D9"/>
                      </a:solidFill>
                    </a:lnB>
                    <a:solidFill>
                      <a:srgbClr val="FFF5EB"/>
                    </a:solidFill>
                  </a:tcPr>
                </a:tc>
              </a:tr>
            </a:tbl>
          </a:graphicData>
        </a:graphic>
      </p:graphicFrame>
      <p:sp>
        <p:nvSpPr>
          <p:cNvPr id="8" name="measure-box"/>
          <p:cNvSpPr/>
          <p:nvPr/>
        </p:nvSpPr>
        <p:spPr>
          <a:xfrm>
            <a:off x="6400800" y="4572000"/>
            <a:ext cx="5376672" cy="1536192"/>
          </a:xfrm>
          <a:prstGeom prst="roundRect">
            <a:avLst>
              <a:gd name="adj" fmla="val 4761"/>
            </a:avLst>
          </a:prstGeom>
          <a:solidFill>
            <a:srgbClr val="EEF2F8"/>
          </a:solidFill>
          <a:ln w="12700">
            <a:solidFill>
              <a:srgbClr val="1F3864"/>
            </a:solidFill>
          </a:ln>
          <a:effectLst/>
        </p:spPr>
        <p:txBody>
          <a:bodyPr rtlCol="0" anchor="ctr"/>
          <a:lstStyle/>
          <a:p/>
        </p:txBody>
      </p:sp>
      <p:sp>
        <p:nvSpPr>
          <p:cNvPr id="9" name="icon-clock"/>
          <p:cNvSpPr/>
          <p:nvPr/>
        </p:nvSpPr>
        <p:spPr>
          <a:xfrm>
            <a:off x="6510528" y="4663440"/>
            <a:ext cx="219456" cy="219456"/>
          </a:xfrm>
          <a:custGeom>
            <a:avLst/>
            <a:gdLst/>
            <a:ahLst/>
            <a:cxnLst/>
            <a:rect l="0" t="0" r="r" b="b"/>
            <a:pathLst>
              <a:path w="24000" h="24000" fill="none">
                <a:moveTo>
                  <a:pt x="12000" y="12000"/>
                </a:moveTo>
                <a:moveTo>
                  <a:pt x="3000" y="12000"/>
                </a:moveTo>
                <a:cubicBezTo>
                  <a:pt x="3000" y="16971"/>
                  <a:pt x="7029" y="21000"/>
                  <a:pt x="12000" y="21000"/>
                </a:cubicBezTo>
                <a:cubicBezTo>
                  <a:pt x="16971" y="21000"/>
                  <a:pt x="21000" y="16971"/>
                  <a:pt x="21000" y="12000"/>
                </a:cubicBezTo>
                <a:cubicBezTo>
                  <a:pt x="21000" y="7029"/>
                  <a:pt x="16971" y="3000"/>
                  <a:pt x="12000" y="3000"/>
                </a:cubicBezTo>
                <a:cubicBezTo>
                  <a:pt x="7029" y="3000"/>
                  <a:pt x="3000" y="7029"/>
                  <a:pt x="3000" y="12000"/>
                </a:cubicBezTo>
              </a:path>
              <a:path w="24000" h="24000" fill="none">
                <a:moveTo>
                  <a:pt x="12000" y="12000"/>
                </a:moveTo>
                <a:lnTo>
                  <a:pt x="15000" y="14000"/>
                </a:lnTo>
              </a:path>
              <a:path w="24000" h="24000" fill="none">
                <a:moveTo>
                  <a:pt x="12000" y="7000"/>
                </a:moveTo>
                <a:lnTo>
                  <a:pt x="12000" y="12000"/>
                </a:lnTo>
              </a:path>
            </a:pathLst>
          </a:custGeom>
          <a:solidFill>
            <a:srgbClr val="1F3864"/>
          </a:solidFill>
          <a:ln w="12700">
            <a:solidFill>
              <a:srgbClr val="1F3864"/>
            </a:solidFill>
          </a:ln>
          <a:effectLst/>
        </p:spPr>
        <p:txBody>
          <a:bodyPr rtlCol="0" anchor="ctr"/>
          <a:lstStyle/>
          <a:p/>
        </p:txBody>
      </p:sp>
      <p:sp>
        <p:nvSpPr>
          <p:cNvPr id="10" name="TextBox 9"/>
          <p:cNvSpPr txBox="1"/>
          <p:nvPr/>
        </p:nvSpPr>
        <p:spPr>
          <a:xfrm>
            <a:off x="6803136" y="4645152"/>
            <a:ext cx="4846320" cy="256032"/>
          </a:xfrm>
          <a:prstGeom prst="rect">
            <a:avLst/>
          </a:prstGeom>
          <a:noFill/>
        </p:spPr>
        <p:txBody>
          <a:bodyPr wrap="square" lIns="0" rIns="0" tIns="18288" bIns="18288" anchor="t">
            <a:noAutofit/>
          </a:bodyPr>
          <a:lstStyle/>
          <a:p>
            <a:pPr algn="l"/>
            <a:r>
              <a:rPr sz="1100" b="1" i="0" lang="ko-KR" altLang="en-US">
                <a:solidFill>
                  <a:srgbClr val="1F3864"/>
                </a:solidFill>
                <a:latin typeface="LG스마트체 Regular"/>
                <a:ea typeface="LG스마트체 Regular"/>
                <a:cs typeface="LG스마트체 Regular"/>
              </a:rPr>
              <a:t>실측 항목 </a:t>
            </a:r>
            <a:r>
              <a:rPr sz="900" b="0" i="0" lang="ko-KR" altLang="en-US">
                <a:solidFill>
                  <a:srgbClr val="595959"/>
                </a:solidFill>
                <a:latin typeface="LG스마트체 Regular"/>
                <a:ea typeface="LG스마트체 Regular"/>
                <a:cs typeface="LG스마트체 Regular"/>
              </a:rPr>
              <a:t>(개인 서버)</a:t>
            </a:r>
          </a:p>
        </p:txBody>
      </p:sp>
      <p:sp>
        <p:nvSpPr>
          <p:cNvPr id="11" name="TextBox 10"/>
          <p:cNvSpPr txBox="1"/>
          <p:nvPr/>
        </p:nvSpPr>
        <p:spPr>
          <a:xfrm>
            <a:off x="6528816" y="4956048"/>
            <a:ext cx="5138928" cy="1097280"/>
          </a:xfrm>
          <a:prstGeom prst="rect">
            <a:avLst/>
          </a:prstGeom>
          <a:noFill/>
        </p:spPr>
        <p:txBody>
          <a:bodyPr wrap="square" lIns="18288" rIns="18288" tIns="18288" bIns="18288" anchor="t">
            <a:noAutofit/>
          </a:bodyPr>
          <a:lstStyle/>
          <a:p>
            <a:pPr algn="l">
              <a:spcBef>
                <a:spcPts val="0"/>
              </a:spcBef>
            </a:pPr>
            <a:r>
              <a:rPr sz="950" b="1" i="0" lang="ko-KR" altLang="en-US">
                <a:solidFill>
                  <a:srgbClr val="1F3864"/>
                </a:solidFill>
                <a:latin typeface="LG스마트체 Regular"/>
                <a:ea typeface="LG스마트체 Regular"/>
                <a:cs typeface="LG스마트체 Regular"/>
              </a:rPr>
              <a:t>1  </a:t>
            </a:r>
            <a:r>
              <a:rPr sz="950" b="0" i="0" lang="ko-KR" altLang="en-US">
                <a:solidFill>
                  <a:srgbClr val="262626"/>
                </a:solidFill>
                <a:latin typeface="LG스마트체 Regular"/>
                <a:ea typeface="LG스마트체 Regular"/>
                <a:cs typeface="LG스마트체 Regular"/>
              </a:rPr>
              <a:t>DATA_DIR 크기 · 월 증가량</a:t>
            </a:r>
          </a:p>
          <a:p>
            <a:pPr algn="l">
              <a:spcBef>
                <a:spcPts val="600"/>
              </a:spcBef>
            </a:pPr>
            <a:r>
              <a:rPr sz="950" b="1" i="0" lang="ko-KR" altLang="en-US">
                <a:solidFill>
                  <a:srgbClr val="1F3864"/>
                </a:solidFill>
                <a:latin typeface="LG스마트체 Regular"/>
                <a:ea typeface="LG스마트체 Regular"/>
                <a:cs typeface="LG스마트체 Regular"/>
              </a:rPr>
              <a:t>2  </a:t>
            </a:r>
            <a:r>
              <a:rPr sz="950" b="0" i="0" lang="ko-KR" altLang="en-US">
                <a:solidFill>
                  <a:srgbClr val="262626"/>
                </a:solidFill>
                <a:latin typeface="LG스마트체 Regular"/>
                <a:ea typeface="LG스마트체 Regular"/>
                <a:cs typeface="LG스마트체 Regular"/>
              </a:rPr>
              <a:t>백업 1회 크기 </a:t>
            </a:r>
            <a:r>
              <a:rPr sz="950" b="0" i="0" lang="ko-KR" altLang="en-US">
                <a:solidFill>
                  <a:srgbClr val="595959"/>
                </a:solidFill>
                <a:latin typeface="LG스마트체 Regular"/>
                <a:ea typeface="LG스마트체 Regular"/>
                <a:cs typeface="LG스마트체 Regular"/>
              </a:rPr>
              <a:t>(backups/&lt;ID&gt;)</a:t>
            </a:r>
          </a:p>
          <a:p>
            <a:pPr algn="l">
              <a:spcBef>
                <a:spcPts val="600"/>
              </a:spcBef>
            </a:pPr>
            <a:r>
              <a:rPr sz="950" b="1" i="0" lang="ko-KR" altLang="en-US">
                <a:solidFill>
                  <a:srgbClr val="1F3864"/>
                </a:solidFill>
                <a:latin typeface="LG스마트체 Regular"/>
                <a:ea typeface="LG스마트체 Regular"/>
                <a:cs typeface="LG스마트체 Regular"/>
              </a:rPr>
              <a:t>3  </a:t>
            </a:r>
            <a:r>
              <a:rPr sz="950" b="0" i="0" lang="ko-KR" altLang="en-US">
                <a:solidFill>
                  <a:srgbClr val="262626"/>
                </a:solidFill>
                <a:latin typeface="LG스마트체 Regular"/>
                <a:ea typeface="LG스마트체 Regular"/>
                <a:cs typeface="LG스마트체 Regular"/>
              </a:rPr>
              <a:t>보고서 생성 1건 소요 시간 · AI 호출 수 </a:t>
            </a:r>
            <a:r>
              <a:rPr sz="950" b="0" i="0" lang="ko-KR" altLang="en-US">
                <a:solidFill>
                  <a:srgbClr val="595959"/>
                </a:solidFill>
                <a:latin typeface="LG스마트체 Regular"/>
                <a:ea typeface="LG스마트체 Regular"/>
                <a:cs typeface="LG스마트체 Regular"/>
              </a:rPr>
              <a:t>(작업 완료 내역)</a:t>
            </a:r>
          </a:p>
          <a:p>
            <a:pPr algn="l">
              <a:spcBef>
                <a:spcPts val="600"/>
              </a:spcBef>
            </a:pPr>
            <a:r>
              <a:rPr sz="950" b="1" i="0" lang="ko-KR" altLang="en-US">
                <a:solidFill>
                  <a:srgbClr val="1F3864"/>
                </a:solidFill>
                <a:latin typeface="LG스마트체 Regular"/>
                <a:ea typeface="LG스마트체 Regular"/>
                <a:cs typeface="LG스마트체 Regular"/>
              </a:rPr>
              <a:t>4  </a:t>
            </a:r>
            <a:r>
              <a:rPr sz="950" b="0" i="0" lang="ko-KR" altLang="en-US">
                <a:solidFill>
                  <a:srgbClr val="262626"/>
                </a:solidFill>
                <a:latin typeface="LG스마트체 Regular"/>
                <a:ea typeface="LG스마트체 Regular"/>
                <a:cs typeface="LG스마트체 Regular"/>
              </a:rPr>
              <a:t>동시 사용자 부하 </a:t>
            </a:r>
            <a:r>
              <a:rPr sz="950" b="0" i="0" lang="ko-KR" altLang="en-US">
                <a:solidFill>
                  <a:srgbClr val="595959"/>
                </a:solidFill>
                <a:latin typeface="LG스마트체 Regular"/>
                <a:ea typeface="LG스마트체 Regular"/>
                <a:cs typeface="LG스마트체 Regular"/>
              </a:rPr>
              <a:t>(scripts/loadtest.py)</a:t>
            </a:r>
          </a:p>
        </p:txBody>
      </p:sp>
      <p:cxnSp>
        <p:nvCxnSpPr>
          <p:cNvPr id="12" name="legend-solid"/>
          <p:cNvCxnSpPr/>
          <p:nvPr/>
        </p:nvCxnSpPr>
        <p:spPr>
          <a:xfrm>
            <a:off x="4023360" y="6446520"/>
            <a:ext cx="384048" cy="0"/>
          </a:xfrm>
          <a:prstGeom prst="line">
            <a:avLst/>
          </a:prstGeom>
          <a:ln w="19050">
            <a:solidFill>
              <a:srgbClr val="1F3864"/>
            </a:solidFill>
          </a:ln>
        </p:spPr>
      </p:cxnSp>
      <p:sp>
        <p:nvSpPr>
          <p:cNvPr id="13" name="TextBox 12"/>
          <p:cNvSpPr txBox="1"/>
          <p:nvPr/>
        </p:nvSpPr>
        <p:spPr>
          <a:xfrm>
            <a:off x="4462272" y="6345936"/>
            <a:ext cx="2011680" cy="201168"/>
          </a:xfrm>
          <a:prstGeom prst="rect">
            <a:avLst/>
          </a:prstGeom>
          <a:noFill/>
        </p:spPr>
        <p:txBody>
          <a:bodyPr wrap="square" lIns="0" rIns="0" tIns="18288" bIns="18288" anchor="t">
            <a:noAutofit/>
          </a:bodyPr>
          <a:lstStyle/>
          <a:p>
            <a:pPr algn="l"/>
            <a:r>
              <a:rPr sz="900" b="0" i="0" lang="ko-KR" altLang="en-US">
                <a:solidFill>
                  <a:srgbClr val="595959"/>
                </a:solidFill>
                <a:latin typeface="LG스마트체 Regular"/>
                <a:ea typeface="LG스마트체 Regular"/>
                <a:cs typeface="LG스마트체 Regular"/>
              </a:rPr>
              <a:t>실선 = 확정(메일 합의·저장소 구현)</a:t>
            </a:r>
          </a:p>
        </p:txBody>
      </p:sp>
      <p:cxnSp>
        <p:nvCxnSpPr>
          <p:cNvPr id="14" name="legend-dash"/>
          <p:cNvCxnSpPr/>
          <p:nvPr/>
        </p:nvCxnSpPr>
        <p:spPr>
          <a:xfrm>
            <a:off x="6537960" y="6446520"/>
            <a:ext cx="384048" cy="0"/>
          </a:xfrm>
          <a:prstGeom prst="line">
            <a:avLst/>
          </a:prstGeom>
          <a:ln w="19050">
            <a:solidFill>
              <a:srgbClr val="C55A11"/>
            </a:solidFill>
            <a:prstDash val="dash"/>
          </a:ln>
        </p:spPr>
      </p:cxnSp>
      <p:sp>
        <p:nvSpPr>
          <p:cNvPr id="15" name="TextBox 14"/>
          <p:cNvSpPr txBox="1"/>
          <p:nvPr/>
        </p:nvSpPr>
        <p:spPr>
          <a:xfrm>
            <a:off x="6976872" y="6345936"/>
            <a:ext cx="960120" cy="201168"/>
          </a:xfrm>
          <a:prstGeom prst="rect">
            <a:avLst/>
          </a:prstGeom>
          <a:noFill/>
        </p:spPr>
        <p:txBody>
          <a:bodyPr wrap="square" lIns="0" rIns="0" tIns="18288" bIns="18288" anchor="t">
            <a:noAutofit/>
          </a:bodyPr>
          <a:lstStyle/>
          <a:p>
            <a:pPr algn="l"/>
            <a:r>
              <a:rPr sz="900" b="0" i="0" lang="ko-KR" altLang="en-US">
                <a:solidFill>
                  <a:srgbClr val="595959"/>
                </a:solidFill>
                <a:latin typeface="LG스마트체 Regular"/>
                <a:ea typeface="LG스마트체 Regular"/>
                <a:cs typeface="LG스마트체 Regular"/>
              </a:rPr>
              <a:t>점선 = 계획·미정</a:t>
            </a:r>
          </a:p>
        </p:txBody>
      </p:sp>
      <p:sp>
        <p:nvSpPr>
          <p:cNvPr id="16" name="TextBox 15"/>
          <p:cNvSpPr txBox="1"/>
          <p:nvPr/>
        </p:nvSpPr>
        <p:spPr>
          <a:xfrm>
            <a:off x="8001000" y="6345936"/>
            <a:ext cx="1965960" cy="201168"/>
          </a:xfrm>
          <a:prstGeom prst="rect">
            <a:avLst/>
          </a:prstGeom>
          <a:noFill/>
        </p:spPr>
        <p:txBody>
          <a:bodyPr wrap="square" lIns="0" rIns="0" tIns="18288" bIns="18288" anchor="t">
            <a:noAutofit/>
          </a:bodyPr>
          <a:lstStyle/>
          <a:p>
            <a:pPr algn="l"/>
            <a:r>
              <a:rPr sz="900" b="1" i="0" lang="ko-KR" altLang="en-US">
                <a:solidFill>
                  <a:srgbClr val="C00000"/>
                </a:solidFill>
                <a:latin typeface="LG스마트체 Regular"/>
                <a:ea typeface="LG스마트체 Regular"/>
                <a:cs typeface="LG스마트체 Regular"/>
              </a:rPr>
              <a:t>◆ 충돌</a:t>
            </a:r>
            <a:r>
              <a:rPr sz="900" b="0" i="0" lang="ko-KR" altLang="en-US">
                <a:solidFill>
                  <a:srgbClr val="595959"/>
                </a:solidFill>
                <a:latin typeface="LG스마트체 Regular"/>
                <a:ea typeface="LG스마트체 Regular"/>
                <a:cs typeface="LG스마트체 Regular"/>
              </a:rPr>
              <a:t> = 메일↔코드 불일치</a:t>
            </a:r>
          </a:p>
        </p:txBody>
      </p:sp>
      <p:sp>
        <p:nvSpPr>
          <p:cNvPr id="17" name="Rounded Rectangle 16"/>
          <p:cNvSpPr/>
          <p:nvPr/>
        </p:nvSpPr>
        <p:spPr>
          <a:xfrm>
            <a:off x="10012680" y="6355080"/>
            <a:ext cx="384048" cy="182880"/>
          </a:xfrm>
          <a:prstGeom prst="roundRect">
            <a:avLst>
              <a:gd name="adj" fmla="val 25000"/>
            </a:avLst>
          </a:prstGeom>
          <a:solidFill>
            <a:srgbClr val="FFF5EB"/>
          </a:solidFill>
          <a:ln w="9525">
            <a:solidFill>
              <a:srgbClr val="C55A11"/>
            </a:solidFill>
          </a:ln>
          <a:effectLst/>
        </p:spPr>
        <p:txBody>
          <a:bodyPr rtlCol="0" anchor="ctr" wrap="square" lIns="0" rIns="0" tIns="18288" bIns="18288">
            <a:noAutofit/>
          </a:bodyPr>
          <a:lstStyle/>
          <a:p>
            <a:pPr algn="ctr"/>
            <a:r>
              <a:rPr sz="900" b="1" i="0" lang="ko-KR" altLang="en-US">
                <a:solidFill>
                  <a:srgbClr val="C55A11"/>
                </a:solidFill>
                <a:latin typeface="LG스마트체 Regular"/>
                <a:ea typeface="LG스마트체 Regular"/>
                <a:cs typeface="LG스마트체 Regular"/>
              </a:rPr>
              <a:t>가정</a:t>
            </a:r>
          </a:p>
        </p:txBody>
      </p:sp>
      <p:sp>
        <p:nvSpPr>
          <p:cNvPr id="18" name="TextBox 17"/>
          <p:cNvSpPr txBox="1"/>
          <p:nvPr/>
        </p:nvSpPr>
        <p:spPr>
          <a:xfrm>
            <a:off x="10451592" y="6345936"/>
            <a:ext cx="1097280" cy="201168"/>
          </a:xfrm>
          <a:prstGeom prst="rect">
            <a:avLst/>
          </a:prstGeom>
          <a:noFill/>
        </p:spPr>
        <p:txBody>
          <a:bodyPr wrap="square" lIns="0" rIns="0" tIns="18288" bIns="18288" anchor="t">
            <a:noAutofit/>
          </a:bodyPr>
          <a:lstStyle/>
          <a:p>
            <a:pPr algn="l"/>
            <a:r>
              <a:rPr sz="900" b="0" i="0" lang="ko-KR" altLang="en-US">
                <a:solidFill>
                  <a:srgbClr val="595959"/>
                </a:solidFill>
                <a:latin typeface="LG스마트체 Regular"/>
                <a:ea typeface="LG스마트체 Regular"/>
                <a:cs typeface="LG스마트체 Regular"/>
              </a:rPr>
              <a:t>= 실측 전 추정</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11480" y="256032"/>
            <a:ext cx="8961120" cy="310896"/>
          </a:xfrm>
          <a:prstGeom prst="rect">
            <a:avLst/>
          </a:prstGeom>
          <a:noFill/>
        </p:spPr>
        <p:txBody>
          <a:bodyPr wrap="square" lIns="0" rIns="0" tIns="18288" bIns="18288" anchor="t">
            <a:noAutofit/>
          </a:bodyPr>
          <a:lstStyle/>
          <a:p>
            <a:pPr algn="l"/>
            <a:r>
              <a:rPr sz="1600" b="1" i="0" lang="ko-KR" altLang="en-US">
                <a:solidFill>
                  <a:srgbClr val="1F3864"/>
                </a:solidFill>
                <a:latin typeface="LG스마트체 Regular"/>
                <a:ea typeface="LG스마트체 Regular"/>
                <a:cs typeface="LG스마트체 Regular"/>
              </a:rPr>
              <a:t>부록 B. 상세 배치도 (초안 · DAVINCI 검토용) — 컨테이너 · 볼륨 · 포트 · 마운트</a:t>
            </a:r>
          </a:p>
        </p:txBody>
      </p:sp>
      <p:sp>
        <p:nvSpPr>
          <p:cNvPr id="3" name="TextBox 2"/>
          <p:cNvSpPr txBox="1"/>
          <p:nvPr/>
        </p:nvSpPr>
        <p:spPr>
          <a:xfrm>
            <a:off x="411480" y="621792"/>
            <a:ext cx="8961120" cy="219456"/>
          </a:xfrm>
          <a:prstGeom prst="rect">
            <a:avLst/>
          </a:prstGeom>
          <a:noFill/>
        </p:spPr>
        <p:txBody>
          <a:bodyPr wrap="square" lIns="0" rIns="0" tIns="18288" bIns="18288" anchor="t">
            <a:noAutofit/>
          </a:bodyPr>
          <a:lstStyle/>
          <a:p>
            <a:pPr algn="l"/>
            <a:r>
              <a:rPr sz="1000" b="0" i="0" lang="ko-KR" altLang="en-US">
                <a:solidFill>
                  <a:srgbClr val="595959"/>
                </a:solidFill>
                <a:latin typeface="LG스마트체 Regular"/>
                <a:ea typeface="LG스마트체 Regular"/>
                <a:cs typeface="LG스마트체 Regular"/>
              </a:rPr>
              <a:t>근거: backend/run.py · app/config.py · app/db.py · services/backups.py · docs/03_ARCHITECTURE · docs/09_OPERATIONS §3·§5</a:t>
            </a:r>
          </a:p>
        </p:txBody>
      </p:sp>
      <p:sp>
        <p:nvSpPr>
          <p:cNvPr id="4" name="draft-tag"/>
          <p:cNvSpPr/>
          <p:nvPr/>
        </p:nvSpPr>
        <p:spPr>
          <a:xfrm>
            <a:off x="9628632" y="274320"/>
            <a:ext cx="2148840" cy="329184"/>
          </a:xfrm>
          <a:prstGeom prst="roundRect">
            <a:avLst>
              <a:gd name="adj" fmla="val 16666"/>
            </a:avLst>
          </a:prstGeom>
          <a:solidFill>
            <a:srgbClr val="FFF5EB"/>
          </a:solidFill>
          <a:ln w="15875">
            <a:solidFill>
              <a:srgbClr val="C55A11"/>
            </a:solidFill>
            <a:prstDash val="dash"/>
          </a:ln>
          <a:effectLst/>
        </p:spPr>
        <p:txBody>
          <a:bodyPr rtlCol="0" anchor="ctr" wrap="square" lIns="36576" rIns="36576" tIns="18288" bIns="18288">
            <a:noAutofit/>
          </a:bodyPr>
          <a:lstStyle/>
          <a:p>
            <a:pPr algn="ctr"/>
            <a:r>
              <a:rPr sz="1100" b="1" i="0" lang="ko-KR" altLang="en-US">
                <a:solidFill>
                  <a:srgbClr val="C55A11"/>
                </a:solidFill>
                <a:latin typeface="LG스마트체 Regular"/>
                <a:ea typeface="LG스마트체 Regular"/>
                <a:cs typeface="LG스마트체 Regular"/>
              </a:rPr>
              <a:t>초안 — DAVINCI 확인 전</a:t>
            </a:r>
          </a:p>
        </p:txBody>
      </p:sp>
      <p:sp>
        <p:nvSpPr>
          <p:cNvPr id="5" name="users"/>
          <p:cNvSpPr/>
          <p:nvPr/>
        </p:nvSpPr>
        <p:spPr>
          <a:xfrm>
            <a:off x="411480" y="1463040"/>
            <a:ext cx="1783080" cy="731520"/>
          </a:xfrm>
          <a:prstGeom prst="roundRect">
            <a:avLst>
              <a:gd name="adj" fmla="val 7500"/>
            </a:avLst>
          </a:prstGeom>
          <a:solidFill>
            <a:srgbClr val="F7F7F7"/>
          </a:solidFill>
          <a:ln w="12700">
            <a:solidFill>
              <a:srgbClr val="595959"/>
            </a:solidFill>
          </a:ln>
          <a:effectLst/>
        </p:spPr>
        <p:txBody>
          <a:bodyPr rtlCol="0" anchor="ctr"/>
          <a:lstStyle/>
          <a:p/>
        </p:txBody>
      </p:sp>
      <p:sp>
        <p:nvSpPr>
          <p:cNvPr id="6" name="icon-users"/>
          <p:cNvSpPr/>
          <p:nvPr/>
        </p:nvSpPr>
        <p:spPr>
          <a:xfrm>
            <a:off x="502920" y="1627632"/>
            <a:ext cx="365760" cy="365760"/>
          </a:xfrm>
          <a:custGeom>
            <a:avLst/>
            <a:gdLst/>
            <a:ahLst/>
            <a:cxnLst/>
            <a:rect l="0" t="0" r="r" b="b"/>
            <a:pathLst>
              <a:path w="24000" h="24000" stroke="0">
                <a:moveTo>
                  <a:pt x="12000" y="12750"/>
                </a:moveTo>
                <a:cubicBezTo>
                  <a:pt x="13630" y="12750"/>
                  <a:pt x="15070" y="13140"/>
                  <a:pt x="16240" y="13650"/>
                </a:cubicBezTo>
                <a:cubicBezTo>
                  <a:pt x="17320" y="14130"/>
                  <a:pt x="18000" y="15210"/>
                  <a:pt x="18000" y="16380"/>
                </a:cubicBezTo>
                <a:lnTo>
                  <a:pt x="18000" y="18000"/>
                </a:lnTo>
                <a:lnTo>
                  <a:pt x="6000" y="18000"/>
                </a:lnTo>
                <a:lnTo>
                  <a:pt x="6000" y="16390"/>
                </a:lnTo>
                <a:cubicBezTo>
                  <a:pt x="6000" y="15210"/>
                  <a:pt x="6680" y="14130"/>
                  <a:pt x="7760" y="13660"/>
                </a:cubicBezTo>
                <a:cubicBezTo>
                  <a:pt x="8930" y="13140"/>
                  <a:pt x="10370" y="12750"/>
                  <a:pt x="12000" y="12750"/>
                </a:cubicBezTo>
                <a:close/>
                <a:moveTo>
                  <a:pt x="4000" y="13000"/>
                </a:moveTo>
                <a:cubicBezTo>
                  <a:pt x="5100" y="13000"/>
                  <a:pt x="6000" y="12100"/>
                  <a:pt x="6000" y="11000"/>
                </a:cubicBezTo>
                <a:cubicBezTo>
                  <a:pt x="6000" y="9900"/>
                  <a:pt x="5100" y="9000"/>
                  <a:pt x="4000" y="9000"/>
                </a:cubicBezTo>
                <a:cubicBezTo>
                  <a:pt x="2900" y="9000"/>
                  <a:pt x="2000" y="9900"/>
                  <a:pt x="2000" y="11000"/>
                </a:cubicBezTo>
                <a:cubicBezTo>
                  <a:pt x="2000" y="12100"/>
                  <a:pt x="2900" y="13000"/>
                  <a:pt x="4000" y="13000"/>
                </a:cubicBezTo>
                <a:close/>
                <a:moveTo>
                  <a:pt x="5130" y="14100"/>
                </a:moveTo>
                <a:cubicBezTo>
                  <a:pt x="4760" y="14040"/>
                  <a:pt x="4390" y="14000"/>
                  <a:pt x="4000" y="14000"/>
                </a:cubicBezTo>
                <a:cubicBezTo>
                  <a:pt x="3010" y="14000"/>
                  <a:pt x="2070" y="14210"/>
                  <a:pt x="1220" y="14580"/>
                </a:cubicBezTo>
                <a:cubicBezTo>
                  <a:pt x="479" y="14897"/>
                  <a:pt x="-1" y="15625"/>
                  <a:pt x="0" y="16430"/>
                </a:cubicBezTo>
                <a:lnTo>
                  <a:pt x="0" y="18000"/>
                </a:lnTo>
                <a:lnTo>
                  <a:pt x="4500" y="18000"/>
                </a:lnTo>
                <a:lnTo>
                  <a:pt x="4500" y="16390"/>
                </a:lnTo>
                <a:cubicBezTo>
                  <a:pt x="4500" y="15560"/>
                  <a:pt x="4730" y="14780"/>
                  <a:pt x="5130" y="14100"/>
                </a:cubicBezTo>
                <a:close/>
                <a:moveTo>
                  <a:pt x="20000" y="13000"/>
                </a:moveTo>
                <a:cubicBezTo>
                  <a:pt x="21100" y="13000"/>
                  <a:pt x="22000" y="12100"/>
                  <a:pt x="22000" y="11000"/>
                </a:cubicBezTo>
                <a:cubicBezTo>
                  <a:pt x="22000" y="9900"/>
                  <a:pt x="21100" y="9000"/>
                  <a:pt x="20000" y="9000"/>
                </a:cubicBezTo>
                <a:cubicBezTo>
                  <a:pt x="18900" y="9000"/>
                  <a:pt x="18000" y="9900"/>
                  <a:pt x="18000" y="11000"/>
                </a:cubicBezTo>
                <a:cubicBezTo>
                  <a:pt x="18000" y="12100"/>
                  <a:pt x="18900" y="13000"/>
                  <a:pt x="20000" y="13000"/>
                </a:cubicBezTo>
                <a:close/>
                <a:moveTo>
                  <a:pt x="24000" y="16430"/>
                </a:moveTo>
                <a:cubicBezTo>
                  <a:pt x="24000" y="15620"/>
                  <a:pt x="23520" y="14900"/>
                  <a:pt x="22780" y="14580"/>
                </a:cubicBezTo>
                <a:cubicBezTo>
                  <a:pt x="21903" y="14197"/>
                  <a:pt x="20957" y="14000"/>
                  <a:pt x="20000" y="14000"/>
                </a:cubicBezTo>
                <a:cubicBezTo>
                  <a:pt x="19610" y="14000"/>
                  <a:pt x="19240" y="14040"/>
                  <a:pt x="18870" y="14100"/>
                </a:cubicBezTo>
                <a:cubicBezTo>
                  <a:pt x="19270" y="14780"/>
                  <a:pt x="19500" y="15560"/>
                  <a:pt x="19500" y="16390"/>
                </a:cubicBezTo>
                <a:lnTo>
                  <a:pt x="19500" y="18000"/>
                </a:lnTo>
                <a:lnTo>
                  <a:pt x="24000" y="18000"/>
                </a:lnTo>
                <a:lnTo>
                  <a:pt x="24000" y="16430"/>
                </a:lnTo>
                <a:close/>
                <a:moveTo>
                  <a:pt x="12000" y="6000"/>
                </a:moveTo>
                <a:cubicBezTo>
                  <a:pt x="13660" y="6000"/>
                  <a:pt x="15000" y="7340"/>
                  <a:pt x="15000" y="9000"/>
                </a:cubicBezTo>
                <a:cubicBezTo>
                  <a:pt x="15000" y="10660"/>
                  <a:pt x="13660" y="12000"/>
                  <a:pt x="12000" y="12000"/>
                </a:cubicBezTo>
                <a:cubicBezTo>
                  <a:pt x="10340" y="12000"/>
                  <a:pt x="9000" y="10660"/>
                  <a:pt x="9000" y="9000"/>
                </a:cubicBezTo>
                <a:cubicBezTo>
                  <a:pt x="9000" y="7340"/>
                  <a:pt x="10340" y="6000"/>
                  <a:pt x="12000" y="6000"/>
                </a:cubicBezTo>
                <a:close/>
              </a:path>
            </a:pathLst>
          </a:custGeom>
          <a:solidFill>
            <a:srgbClr val="595959"/>
          </a:solidFill>
          <a:ln>
            <a:noFill/>
          </a:ln>
          <a:effectLst/>
        </p:spPr>
        <p:txBody>
          <a:bodyPr rtlCol="0" anchor="ctr"/>
          <a:lstStyle/>
          <a:p/>
        </p:txBody>
      </p:sp>
      <p:sp>
        <p:nvSpPr>
          <p:cNvPr id="7" name="TextBox 6"/>
          <p:cNvSpPr txBox="1"/>
          <p:nvPr/>
        </p:nvSpPr>
        <p:spPr>
          <a:xfrm>
            <a:off x="932688" y="1517904"/>
            <a:ext cx="1216152" cy="621792"/>
          </a:xfrm>
          <a:prstGeom prst="rect">
            <a:avLst/>
          </a:prstGeom>
          <a:noFill/>
        </p:spPr>
        <p:txBody>
          <a:bodyPr wrap="square" lIns="0" rIns="0" tIns="18288" bIns="18288" anchor="ctr">
            <a:noAutofit/>
          </a:bodyPr>
          <a:lstStyle/>
          <a:p>
            <a:pPr algn="l"/>
            <a:r>
              <a:rPr sz="950" b="1" i="0" lang="ko-KR" altLang="en-US">
                <a:solidFill>
                  <a:srgbClr val="262626"/>
                </a:solidFill>
                <a:latin typeface="LG스마트체 Regular"/>
                <a:ea typeface="LG스마트체 Regular"/>
                <a:cs typeface="LG스마트체 Regular"/>
              </a:rPr>
              <a:t>사내망 사용자</a:t>
            </a:r>
          </a:p>
          <a:p>
            <a:pPr algn="l"/>
            <a:r>
              <a:rPr sz="950" b="0" i="0" lang="ko-KR" altLang="en-US">
                <a:solidFill>
                  <a:srgbClr val="595959"/>
                </a:solidFill>
                <a:latin typeface="LG스마트체 Regular"/>
                <a:ea typeface="LG스마트체 Regular"/>
                <a:cs typeface="LG스마트체 Regular"/>
              </a:rPr>
              <a:t>브라우저</a:t>
            </a:r>
          </a:p>
        </p:txBody>
      </p:sp>
      <p:cxnSp>
        <p:nvCxnSpPr>
          <p:cNvPr id="8" name="in-1"/>
          <p:cNvCxnSpPr/>
          <p:nvPr/>
        </p:nvCxnSpPr>
        <p:spPr>
          <a:xfrm>
            <a:off x="1303020" y="2194560"/>
            <a:ext cx="0" cy="411480"/>
          </a:xfrm>
          <a:prstGeom prst="line">
            <a:avLst/>
          </a:prstGeom>
          <a:ln w="19050">
            <a:solidFill>
              <a:srgbClr val="C55A11"/>
            </a:solidFill>
            <a:prstDash val="dash"/>
            <a:tailEnd type="triangle" w="med" len="med"/>
          </a:ln>
        </p:spPr>
      </p:cxnSp>
      <p:sp>
        <p:nvSpPr>
          <p:cNvPr id="9" name="firewall"/>
          <p:cNvSpPr/>
          <p:nvPr/>
        </p:nvSpPr>
        <p:spPr>
          <a:xfrm>
            <a:off x="411480" y="2606040"/>
            <a:ext cx="1783080" cy="731520"/>
          </a:xfrm>
          <a:prstGeom prst="roundRect">
            <a:avLst>
              <a:gd name="adj" fmla="val 7500"/>
            </a:avLst>
          </a:prstGeom>
          <a:solidFill>
            <a:srgbClr val="FFF5EB"/>
          </a:solidFill>
          <a:ln w="12700">
            <a:solidFill>
              <a:srgbClr val="C55A11"/>
            </a:solidFill>
            <a:prstDash val="dash"/>
          </a:ln>
          <a:effectLst/>
        </p:spPr>
        <p:txBody>
          <a:bodyPr rtlCol="0" anchor="ctr"/>
          <a:lstStyle/>
          <a:p/>
        </p:txBody>
      </p:sp>
      <p:sp>
        <p:nvSpPr>
          <p:cNvPr id="10" name="icon-firewall"/>
          <p:cNvSpPr/>
          <p:nvPr/>
        </p:nvSpPr>
        <p:spPr>
          <a:xfrm>
            <a:off x="502920" y="2770632"/>
            <a:ext cx="365760" cy="365760"/>
          </a:xfrm>
          <a:custGeom>
            <a:avLst/>
            <a:gdLst/>
            <a:ahLst/>
            <a:cxnLst/>
            <a:rect l="0" t="0" r="r" b="b"/>
            <a:pathLst>
              <a:path w="24000" h="24000" fill="none">
                <a:moveTo>
                  <a:pt x="12000" y="3000"/>
                </a:moveTo>
                <a:cubicBezTo>
                  <a:pt x="14336" y="5067"/>
                  <a:pt x="17384" y="6143"/>
                  <a:pt x="20500" y="6000"/>
                </a:cubicBezTo>
                <a:cubicBezTo>
                  <a:pt x="21416" y="9118"/>
                  <a:pt x="21029" y="12473"/>
                  <a:pt x="19427" y="15301"/>
                </a:cubicBezTo>
                <a:cubicBezTo>
                  <a:pt x="17825" y="18128"/>
                  <a:pt x="15145" y="20184"/>
                  <a:pt x="12000" y="21000"/>
                </a:cubicBezTo>
                <a:cubicBezTo>
                  <a:pt x="8855" y="20184"/>
                  <a:pt x="6175" y="18128"/>
                  <a:pt x="4573" y="15301"/>
                </a:cubicBezTo>
                <a:cubicBezTo>
                  <a:pt x="2971" y="12473"/>
                  <a:pt x="2584" y="9118"/>
                  <a:pt x="3500" y="6000"/>
                </a:cubicBezTo>
                <a:cubicBezTo>
                  <a:pt x="6616" y="6143"/>
                  <a:pt x="9664" y="5067"/>
                  <a:pt x="12000" y="3000"/>
                </a:cubicBezTo>
              </a:path>
              <a:path w="24000" h="24000" fill="none">
                <a:moveTo>
                  <a:pt x="12000" y="11000"/>
                </a:moveTo>
                <a:moveTo>
                  <a:pt x="11000" y="11000"/>
                </a:moveTo>
                <a:cubicBezTo>
                  <a:pt x="11000" y="11552"/>
                  <a:pt x="11448" y="12000"/>
                  <a:pt x="12000" y="12000"/>
                </a:cubicBezTo>
                <a:cubicBezTo>
                  <a:pt x="12552" y="12000"/>
                  <a:pt x="13000" y="11552"/>
                  <a:pt x="13000" y="11000"/>
                </a:cubicBezTo>
                <a:cubicBezTo>
                  <a:pt x="13000" y="10448"/>
                  <a:pt x="12552" y="10000"/>
                  <a:pt x="12000" y="10000"/>
                </a:cubicBezTo>
                <a:cubicBezTo>
                  <a:pt x="11448" y="10000"/>
                  <a:pt x="11000" y="10448"/>
                  <a:pt x="11000" y="11000"/>
                </a:cubicBezTo>
              </a:path>
              <a:path w="24000" h="24000" fill="none">
                <a:moveTo>
                  <a:pt x="12000" y="12000"/>
                </a:moveTo>
                <a:lnTo>
                  <a:pt x="12000" y="14500"/>
                </a:lnTo>
              </a:path>
            </a:pathLst>
          </a:custGeom>
          <a:solidFill>
            <a:srgbClr val="595959"/>
          </a:solidFill>
          <a:ln w="12700">
            <a:solidFill>
              <a:srgbClr val="595959"/>
            </a:solidFill>
          </a:ln>
          <a:effectLst/>
        </p:spPr>
        <p:txBody>
          <a:bodyPr rtlCol="0" anchor="ctr"/>
          <a:lstStyle/>
          <a:p/>
        </p:txBody>
      </p:sp>
      <p:sp>
        <p:nvSpPr>
          <p:cNvPr id="11" name="TextBox 10"/>
          <p:cNvSpPr txBox="1"/>
          <p:nvPr/>
        </p:nvSpPr>
        <p:spPr>
          <a:xfrm>
            <a:off x="932688" y="2660904"/>
            <a:ext cx="1216152" cy="621792"/>
          </a:xfrm>
          <a:prstGeom prst="rect">
            <a:avLst/>
          </a:prstGeom>
          <a:noFill/>
        </p:spPr>
        <p:txBody>
          <a:bodyPr wrap="square" lIns="0" rIns="0" tIns="18288" bIns="18288" anchor="ctr">
            <a:noAutofit/>
          </a:bodyPr>
          <a:lstStyle/>
          <a:p>
            <a:pPr algn="l"/>
            <a:r>
              <a:rPr sz="950" b="1" i="0" lang="ko-KR" altLang="en-US">
                <a:solidFill>
                  <a:srgbClr val="262626"/>
                </a:solidFill>
                <a:latin typeface="LG스마트체 Regular"/>
                <a:ea typeface="LG스마트체 Regular"/>
                <a:cs typeface="LG스마트체 Regular"/>
              </a:rPr>
              <a:t>방화벽</a:t>
            </a:r>
          </a:p>
          <a:p>
            <a:pPr algn="l"/>
            <a:r>
              <a:rPr sz="950" b="0" i="0" lang="ko-KR" altLang="en-US">
                <a:solidFill>
                  <a:srgbClr val="C55A11"/>
                </a:solidFill>
                <a:latin typeface="LG스마트체 Regular"/>
                <a:ea typeface="LG스마트체 Regular"/>
                <a:cs typeface="LG스마트체 Regular"/>
              </a:rPr>
              <a:t>인바운드 규칙 미정</a:t>
            </a:r>
          </a:p>
        </p:txBody>
      </p:sp>
      <p:cxnSp>
        <p:nvCxnSpPr>
          <p:cNvPr id="12" name="in-2"/>
          <p:cNvCxnSpPr/>
          <p:nvPr/>
        </p:nvCxnSpPr>
        <p:spPr>
          <a:xfrm>
            <a:off x="2194560" y="2971800"/>
            <a:ext cx="777240" cy="0"/>
          </a:xfrm>
          <a:prstGeom prst="line">
            <a:avLst/>
          </a:prstGeom>
          <a:ln w="19050">
            <a:solidFill>
              <a:srgbClr val="C55A11"/>
            </a:solidFill>
            <a:prstDash val="dash"/>
            <a:tailEnd type="triangle" w="med" len="med"/>
          </a:ln>
        </p:spPr>
      </p:cxnSp>
      <p:sp>
        <p:nvSpPr>
          <p:cNvPr id="13" name="badge-1"/>
          <p:cNvSpPr/>
          <p:nvPr/>
        </p:nvSpPr>
        <p:spPr>
          <a:xfrm>
            <a:off x="2327148" y="2857500"/>
            <a:ext cx="228600" cy="228600"/>
          </a:xfrm>
          <a:prstGeom prst="ellipse">
            <a:avLst/>
          </a:prstGeom>
          <a:solidFill>
            <a:srgbClr val="1F3864"/>
          </a:solidFill>
          <a:ln w="9525">
            <a:solidFill>
              <a:srgbClr val="FFFFFF"/>
            </a:solidFill>
          </a:ln>
          <a:effectLst/>
        </p:spPr>
        <p:txBody>
          <a:bodyPr rtlCol="0" anchor="ctr" wrap="square" lIns="0" rIns="0" tIns="0" bIns="0">
            <a:noAutofit/>
          </a:bodyPr>
          <a:lstStyle/>
          <a:p>
            <a:pPr algn="ctr"/>
            <a:r>
              <a:rPr sz="900" b="1" i="0" lang="ko-KR" altLang="en-US">
                <a:solidFill>
                  <a:srgbClr val="FFFFFF"/>
                </a:solidFill>
                <a:latin typeface="LG스마트체 Regular"/>
                <a:ea typeface="LG스마트체 Regular"/>
                <a:cs typeface="LG스마트체 Regular"/>
              </a:rPr>
              <a:t>1</a:t>
            </a:r>
          </a:p>
        </p:txBody>
      </p:sp>
      <p:sp>
        <p:nvSpPr>
          <p:cNvPr id="14" name="TextBox 13"/>
          <p:cNvSpPr txBox="1"/>
          <p:nvPr/>
        </p:nvSpPr>
        <p:spPr>
          <a:xfrm>
            <a:off x="411480" y="3429000"/>
            <a:ext cx="1783080" cy="384048"/>
          </a:xfrm>
          <a:prstGeom prst="rect">
            <a:avLst/>
          </a:prstGeom>
          <a:noFill/>
        </p:spPr>
        <p:txBody>
          <a:bodyPr wrap="square" lIns="0" rIns="0" tIns="18288" bIns="18288" anchor="t">
            <a:noAutofit/>
          </a:bodyPr>
          <a:lstStyle/>
          <a:p>
            <a:pPr algn="ctr"/>
            <a:r>
              <a:rPr sz="900" b="1" i="0" lang="ko-KR" altLang="en-US">
                <a:solidFill>
                  <a:srgbClr val="C55A11"/>
                </a:solidFill>
                <a:latin typeface="LG스마트체 Regular"/>
                <a:ea typeface="LG스마트체 Regular"/>
                <a:cs typeface="LG스마트체 Regular"/>
              </a:rPr>
              <a:t>TCP 8000</a:t>
            </a:r>
          </a:p>
          <a:p>
            <a:pPr algn="ctr"/>
            <a:r>
              <a:rPr sz="900" b="0" i="0" lang="ko-KR" altLang="en-US">
                <a:solidFill>
                  <a:srgbClr val="C55A11"/>
                </a:solidFill>
                <a:latin typeface="LG스마트체 Regular"/>
                <a:ea typeface="LG스마트체 Regular"/>
                <a:cs typeface="LG스마트체 Regular"/>
              </a:rPr>
              <a:t>(config 기본값 예시, 미정)</a:t>
            </a:r>
          </a:p>
        </p:txBody>
      </p:sp>
      <p:sp>
        <p:nvSpPr>
          <p:cNvPr id="15" name="vm"/>
          <p:cNvSpPr/>
          <p:nvPr/>
        </p:nvSpPr>
        <p:spPr>
          <a:xfrm>
            <a:off x="2697480" y="1188720"/>
            <a:ext cx="5577840" cy="4892040"/>
          </a:xfrm>
          <a:prstGeom prst="roundRect">
            <a:avLst>
              <a:gd name="adj" fmla="val 1869"/>
            </a:avLst>
          </a:prstGeom>
          <a:solidFill>
            <a:srgbClr val="FFFBF7"/>
          </a:solidFill>
          <a:ln w="15875">
            <a:solidFill>
              <a:srgbClr val="C55A11"/>
            </a:solidFill>
            <a:prstDash val="dash"/>
          </a:ln>
          <a:effectLst/>
        </p:spPr>
        <p:txBody>
          <a:bodyPr rtlCol="0" anchor="ctr"/>
          <a:lstStyle/>
          <a:p/>
        </p:txBody>
      </p:sp>
      <p:sp>
        <p:nvSpPr>
          <p:cNvPr id="16" name="icon-vm"/>
          <p:cNvSpPr/>
          <p:nvPr/>
        </p:nvSpPr>
        <p:spPr>
          <a:xfrm>
            <a:off x="2788920" y="1261872"/>
            <a:ext cx="237744" cy="237744"/>
          </a:xfrm>
          <a:custGeom>
            <a:avLst/>
            <a:gdLst/>
            <a:ahLst/>
            <a:cxnLst/>
            <a:rect l="0" t="0" r="r" b="b"/>
            <a:pathLst>
              <a:path w="24000" h="24000" fill="none">
                <a:moveTo>
                  <a:pt x="3000" y="4000"/>
                </a:moveTo>
                <a:moveTo>
                  <a:pt x="3000" y="7000"/>
                </a:moveTo>
                <a:cubicBezTo>
                  <a:pt x="3000" y="5343"/>
                  <a:pt x="4343" y="4000"/>
                  <a:pt x="6000" y="4000"/>
                </a:cubicBezTo>
                <a:lnTo>
                  <a:pt x="18000" y="4000"/>
                </a:lnTo>
                <a:cubicBezTo>
                  <a:pt x="19657" y="4000"/>
                  <a:pt x="21000" y="5343"/>
                  <a:pt x="21000" y="7000"/>
                </a:cubicBezTo>
                <a:lnTo>
                  <a:pt x="21000" y="9000"/>
                </a:lnTo>
                <a:cubicBezTo>
                  <a:pt x="21000" y="10657"/>
                  <a:pt x="19657" y="12000"/>
                  <a:pt x="18000" y="12000"/>
                </a:cubicBezTo>
                <a:lnTo>
                  <a:pt x="6000" y="12000"/>
                </a:lnTo>
                <a:cubicBezTo>
                  <a:pt x="4343" y="12000"/>
                  <a:pt x="3000" y="10657"/>
                  <a:pt x="3000" y="9000"/>
                </a:cubicBezTo>
                <a:close/>
              </a:path>
              <a:path w="24000" h="24000" fill="none">
                <a:moveTo>
                  <a:pt x="3000" y="12000"/>
                </a:moveTo>
                <a:moveTo>
                  <a:pt x="3000" y="15000"/>
                </a:moveTo>
                <a:cubicBezTo>
                  <a:pt x="3000" y="13343"/>
                  <a:pt x="4343" y="12000"/>
                  <a:pt x="6000" y="12000"/>
                </a:cubicBezTo>
                <a:lnTo>
                  <a:pt x="18000" y="12000"/>
                </a:lnTo>
                <a:cubicBezTo>
                  <a:pt x="19657" y="12000"/>
                  <a:pt x="21000" y="13343"/>
                  <a:pt x="21000" y="15000"/>
                </a:cubicBezTo>
                <a:lnTo>
                  <a:pt x="21000" y="17000"/>
                </a:lnTo>
                <a:cubicBezTo>
                  <a:pt x="21000" y="18657"/>
                  <a:pt x="19657" y="20000"/>
                  <a:pt x="18000" y="20000"/>
                </a:cubicBezTo>
                <a:lnTo>
                  <a:pt x="6000" y="20000"/>
                </a:lnTo>
                <a:cubicBezTo>
                  <a:pt x="4343" y="20000"/>
                  <a:pt x="3000" y="18657"/>
                  <a:pt x="3000" y="17000"/>
                </a:cubicBezTo>
                <a:close/>
              </a:path>
              <a:path w="24000" h="24000" fill="none">
                <a:moveTo>
                  <a:pt x="7000" y="8000"/>
                </a:moveTo>
                <a:lnTo>
                  <a:pt x="7000" y="8010"/>
                </a:lnTo>
              </a:path>
              <a:path w="24000" h="24000" fill="none">
                <a:moveTo>
                  <a:pt x="7000" y="16000"/>
                </a:moveTo>
                <a:lnTo>
                  <a:pt x="7000" y="16010"/>
                </a:lnTo>
              </a:path>
              <a:path w="24000" h="24000" fill="none">
                <a:moveTo>
                  <a:pt x="11000" y="8000"/>
                </a:moveTo>
                <a:lnTo>
                  <a:pt x="17000" y="8000"/>
                </a:lnTo>
              </a:path>
              <a:path w="24000" h="24000" fill="none">
                <a:moveTo>
                  <a:pt x="11000" y="16000"/>
                </a:moveTo>
                <a:lnTo>
                  <a:pt x="17000" y="16000"/>
                </a:lnTo>
              </a:path>
            </a:pathLst>
          </a:custGeom>
          <a:solidFill>
            <a:srgbClr val="595959"/>
          </a:solidFill>
          <a:ln w="12700">
            <a:solidFill>
              <a:srgbClr val="595959"/>
            </a:solidFill>
          </a:ln>
          <a:effectLst/>
        </p:spPr>
        <p:txBody>
          <a:bodyPr rtlCol="0" anchor="ctr"/>
          <a:lstStyle/>
          <a:p/>
        </p:txBody>
      </p:sp>
      <p:sp>
        <p:nvSpPr>
          <p:cNvPr id="17" name="TextBox 16"/>
          <p:cNvSpPr txBox="1"/>
          <p:nvPr/>
        </p:nvSpPr>
        <p:spPr>
          <a:xfrm>
            <a:off x="3090672" y="1261872"/>
            <a:ext cx="5029200" cy="256032"/>
          </a:xfrm>
          <a:prstGeom prst="rect">
            <a:avLst/>
          </a:prstGeom>
          <a:noFill/>
        </p:spPr>
        <p:txBody>
          <a:bodyPr wrap="square" lIns="0" rIns="0" tIns="18288" bIns="18288" anchor="t">
            <a:noAutofit/>
          </a:bodyPr>
          <a:lstStyle/>
          <a:p>
            <a:pPr algn="l"/>
            <a:r>
              <a:rPr sz="1100" b="1" i="0" lang="ko-KR" altLang="en-US">
                <a:solidFill>
                  <a:srgbClr val="262626"/>
                </a:solidFill>
                <a:latin typeface="LG스마트체 Regular"/>
                <a:ea typeface="LG스마트체 Regular"/>
                <a:cs typeface="LG스마트체 Regular"/>
              </a:rPr>
              <a:t>Sandbox VM</a:t>
            </a:r>
            <a:r>
              <a:rPr sz="950" b="0" i="0" lang="ko-KR" altLang="en-US">
                <a:solidFill>
                  <a:srgbClr val="C55A11"/>
                </a:solidFill>
                <a:latin typeface="LG스마트체 Regular"/>
                <a:ea typeface="LG스마트체 Regular"/>
                <a:cs typeface="LG스마트체 Regular"/>
              </a:rPr>
              <a:t>  OS 미정 · 8 Core · 32GB 요청</a:t>
            </a:r>
          </a:p>
        </p:txBody>
      </p:sp>
      <p:sp>
        <p:nvSpPr>
          <p:cNvPr id="18" name="docker-engine"/>
          <p:cNvSpPr/>
          <p:nvPr/>
        </p:nvSpPr>
        <p:spPr>
          <a:xfrm>
            <a:off x="2834640" y="1627632"/>
            <a:ext cx="5303520" cy="2514600"/>
          </a:xfrm>
          <a:prstGeom prst="roundRect">
            <a:avLst>
              <a:gd name="adj" fmla="val 2909"/>
            </a:avLst>
          </a:prstGeom>
          <a:solidFill>
            <a:srgbClr val="FFF5EB"/>
          </a:solidFill>
          <a:ln w="15875">
            <a:solidFill>
              <a:srgbClr val="C55A11"/>
            </a:solidFill>
            <a:prstDash val="dash"/>
          </a:ln>
          <a:effectLst/>
        </p:spPr>
        <p:txBody>
          <a:bodyPr rtlCol="0" anchor="ctr"/>
          <a:lstStyle/>
          <a:p/>
        </p:txBody>
      </p:sp>
      <p:sp>
        <p:nvSpPr>
          <p:cNvPr id="19" name="icon-docker"/>
          <p:cNvSpPr/>
          <p:nvPr/>
        </p:nvSpPr>
        <p:spPr>
          <a:xfrm>
            <a:off x="2916936" y="1691640"/>
            <a:ext cx="237744" cy="237744"/>
          </a:xfrm>
          <a:custGeom>
            <a:avLst/>
            <a:gdLst/>
            <a:ahLst/>
            <a:cxnLst/>
            <a:rect l="0" t="0" r="r" b="b"/>
            <a:pathLst>
              <a:path w="24000" h="24000" stroke="0">
                <a:moveTo>
                  <a:pt x="13983" y="11078"/>
                </a:moveTo>
                <a:lnTo>
                  <a:pt x="16102" y="11078"/>
                </a:lnTo>
                <a:cubicBezTo>
                  <a:pt x="16204" y="11078"/>
                  <a:pt x="16287" y="10995"/>
                  <a:pt x="16288" y="10893"/>
                </a:cubicBezTo>
                <a:lnTo>
                  <a:pt x="16288" y="9006"/>
                </a:lnTo>
                <a:cubicBezTo>
                  <a:pt x="16288" y="8903"/>
                  <a:pt x="16205" y="8820"/>
                  <a:pt x="16102" y="8820"/>
                </a:cubicBezTo>
                <a:lnTo>
                  <a:pt x="13983" y="8820"/>
                </a:lnTo>
                <a:cubicBezTo>
                  <a:pt x="13934" y="8820"/>
                  <a:pt x="13887" y="8839"/>
                  <a:pt x="13852" y="8874"/>
                </a:cubicBezTo>
                <a:cubicBezTo>
                  <a:pt x="13817" y="8909"/>
                  <a:pt x="13798" y="8956"/>
                  <a:pt x="13798" y="9005"/>
                </a:cubicBezTo>
                <a:lnTo>
                  <a:pt x="13798" y="10893"/>
                </a:lnTo>
                <a:cubicBezTo>
                  <a:pt x="13798" y="10995"/>
                  <a:pt x="13881" y="11078"/>
                  <a:pt x="13983" y="11078"/>
                </a:cubicBezTo>
                <a:moveTo>
                  <a:pt x="11029" y="5648"/>
                </a:moveTo>
                <a:lnTo>
                  <a:pt x="13147" y="5648"/>
                </a:lnTo>
                <a:cubicBezTo>
                  <a:pt x="13250" y="5648"/>
                  <a:pt x="13333" y="5565"/>
                  <a:pt x="13333" y="5462"/>
                </a:cubicBezTo>
                <a:lnTo>
                  <a:pt x="13333" y="3574"/>
                </a:lnTo>
                <a:cubicBezTo>
                  <a:pt x="13332" y="3472"/>
                  <a:pt x="13249" y="3389"/>
                  <a:pt x="13147" y="3389"/>
                </a:cubicBezTo>
                <a:lnTo>
                  <a:pt x="11029" y="3389"/>
                </a:lnTo>
                <a:cubicBezTo>
                  <a:pt x="10980" y="3389"/>
                  <a:pt x="10933" y="3408"/>
                  <a:pt x="10898" y="3443"/>
                </a:cubicBezTo>
                <a:cubicBezTo>
                  <a:pt x="10863" y="3478"/>
                  <a:pt x="10844" y="3525"/>
                  <a:pt x="10844" y="3574"/>
                </a:cubicBezTo>
                <a:lnTo>
                  <a:pt x="10844" y="5462"/>
                </a:lnTo>
                <a:cubicBezTo>
                  <a:pt x="10844" y="5564"/>
                  <a:pt x="10926" y="5647"/>
                  <a:pt x="11029" y="5647"/>
                </a:cubicBezTo>
                <a:moveTo>
                  <a:pt x="11029" y="8363"/>
                </a:moveTo>
                <a:lnTo>
                  <a:pt x="13147" y="8363"/>
                </a:lnTo>
                <a:cubicBezTo>
                  <a:pt x="13249" y="8362"/>
                  <a:pt x="13332" y="8279"/>
                  <a:pt x="13333" y="8177"/>
                </a:cubicBezTo>
                <a:lnTo>
                  <a:pt x="13333" y="6290"/>
                </a:lnTo>
                <a:cubicBezTo>
                  <a:pt x="13332" y="6188"/>
                  <a:pt x="13249" y="6105"/>
                  <a:pt x="13147" y="6105"/>
                </a:cubicBezTo>
                <a:lnTo>
                  <a:pt x="11029" y="6105"/>
                </a:lnTo>
                <a:cubicBezTo>
                  <a:pt x="10980" y="6105"/>
                  <a:pt x="10933" y="6124"/>
                  <a:pt x="10898" y="6159"/>
                </a:cubicBezTo>
                <a:cubicBezTo>
                  <a:pt x="10863" y="6194"/>
                  <a:pt x="10844" y="6241"/>
                  <a:pt x="10844" y="6290"/>
                </a:cubicBezTo>
                <a:lnTo>
                  <a:pt x="10844" y="8177"/>
                </a:lnTo>
                <a:cubicBezTo>
                  <a:pt x="10844" y="8279"/>
                  <a:pt x="10926" y="8362"/>
                  <a:pt x="11029" y="8363"/>
                </a:cubicBezTo>
                <a:moveTo>
                  <a:pt x="8099" y="8363"/>
                </a:moveTo>
                <a:lnTo>
                  <a:pt x="10219" y="8363"/>
                </a:lnTo>
                <a:cubicBezTo>
                  <a:pt x="10321" y="8362"/>
                  <a:pt x="10403" y="8279"/>
                  <a:pt x="10403" y="8177"/>
                </a:cubicBezTo>
                <a:lnTo>
                  <a:pt x="10403" y="6290"/>
                </a:lnTo>
                <a:cubicBezTo>
                  <a:pt x="10403" y="6241"/>
                  <a:pt x="10384" y="6194"/>
                  <a:pt x="10349" y="6159"/>
                </a:cubicBezTo>
                <a:cubicBezTo>
                  <a:pt x="10314" y="6124"/>
                  <a:pt x="10267" y="6105"/>
                  <a:pt x="10218" y="6105"/>
                </a:cubicBezTo>
                <a:lnTo>
                  <a:pt x="8100" y="6105"/>
                </a:lnTo>
                <a:cubicBezTo>
                  <a:pt x="7998" y="6105"/>
                  <a:pt x="7915" y="6188"/>
                  <a:pt x="7915" y="6290"/>
                </a:cubicBezTo>
                <a:lnTo>
                  <a:pt x="7915" y="8177"/>
                </a:lnTo>
                <a:cubicBezTo>
                  <a:pt x="7915" y="8279"/>
                  <a:pt x="7998" y="8362"/>
                  <a:pt x="8100" y="8363"/>
                </a:cubicBezTo>
                <a:moveTo>
                  <a:pt x="5136" y="8363"/>
                </a:moveTo>
                <a:lnTo>
                  <a:pt x="7255" y="8363"/>
                </a:lnTo>
                <a:cubicBezTo>
                  <a:pt x="7357" y="8362"/>
                  <a:pt x="7440" y="8279"/>
                  <a:pt x="7440" y="8177"/>
                </a:cubicBezTo>
                <a:lnTo>
                  <a:pt x="7440" y="6290"/>
                </a:lnTo>
                <a:cubicBezTo>
                  <a:pt x="7440" y="6188"/>
                  <a:pt x="7357" y="6105"/>
                  <a:pt x="7255" y="6105"/>
                </a:cubicBezTo>
                <a:lnTo>
                  <a:pt x="5136" y="6105"/>
                </a:lnTo>
                <a:cubicBezTo>
                  <a:pt x="5034" y="6105"/>
                  <a:pt x="4951" y="6188"/>
                  <a:pt x="4950" y="6290"/>
                </a:cubicBezTo>
                <a:lnTo>
                  <a:pt x="4950" y="8177"/>
                </a:lnTo>
                <a:cubicBezTo>
                  <a:pt x="4950" y="8279"/>
                  <a:pt x="5034" y="8362"/>
                  <a:pt x="5136" y="8363"/>
                </a:cubicBezTo>
                <a:moveTo>
                  <a:pt x="11029" y="11078"/>
                </a:moveTo>
                <a:lnTo>
                  <a:pt x="13147" y="11078"/>
                </a:lnTo>
                <a:cubicBezTo>
                  <a:pt x="13249" y="11078"/>
                  <a:pt x="13332" y="10995"/>
                  <a:pt x="13333" y="10893"/>
                </a:cubicBezTo>
                <a:lnTo>
                  <a:pt x="13333" y="9006"/>
                </a:lnTo>
                <a:cubicBezTo>
                  <a:pt x="13333" y="8903"/>
                  <a:pt x="13250" y="8820"/>
                  <a:pt x="13147" y="8820"/>
                </a:cubicBezTo>
                <a:lnTo>
                  <a:pt x="11029" y="8820"/>
                </a:lnTo>
                <a:cubicBezTo>
                  <a:pt x="10980" y="8820"/>
                  <a:pt x="10933" y="8839"/>
                  <a:pt x="10898" y="8874"/>
                </a:cubicBezTo>
                <a:cubicBezTo>
                  <a:pt x="10863" y="8909"/>
                  <a:pt x="10844" y="8956"/>
                  <a:pt x="10844" y="9005"/>
                </a:cubicBezTo>
                <a:lnTo>
                  <a:pt x="10844" y="10893"/>
                </a:lnTo>
                <a:cubicBezTo>
                  <a:pt x="10844" y="10995"/>
                  <a:pt x="10926" y="11078"/>
                  <a:pt x="11029" y="11078"/>
                </a:cubicBezTo>
                <a:moveTo>
                  <a:pt x="8099" y="11078"/>
                </a:moveTo>
                <a:lnTo>
                  <a:pt x="10219" y="11078"/>
                </a:lnTo>
                <a:cubicBezTo>
                  <a:pt x="10321" y="11077"/>
                  <a:pt x="10403" y="10995"/>
                  <a:pt x="10403" y="10893"/>
                </a:cubicBezTo>
                <a:lnTo>
                  <a:pt x="10403" y="9006"/>
                </a:lnTo>
                <a:cubicBezTo>
                  <a:pt x="10403" y="8957"/>
                  <a:pt x="10384" y="8910"/>
                  <a:pt x="10350" y="8875"/>
                </a:cubicBezTo>
                <a:cubicBezTo>
                  <a:pt x="10315" y="8840"/>
                  <a:pt x="10268" y="8820"/>
                  <a:pt x="10219" y="8820"/>
                </a:cubicBezTo>
                <a:lnTo>
                  <a:pt x="8099" y="8820"/>
                </a:lnTo>
                <a:cubicBezTo>
                  <a:pt x="7997" y="8821"/>
                  <a:pt x="7915" y="8903"/>
                  <a:pt x="7915" y="9005"/>
                </a:cubicBezTo>
                <a:lnTo>
                  <a:pt x="7915" y="10893"/>
                </a:lnTo>
                <a:cubicBezTo>
                  <a:pt x="7915" y="10995"/>
                  <a:pt x="7998" y="11078"/>
                  <a:pt x="8100" y="11078"/>
                </a:cubicBezTo>
                <a:moveTo>
                  <a:pt x="5136" y="11078"/>
                </a:moveTo>
                <a:lnTo>
                  <a:pt x="7255" y="11078"/>
                </a:lnTo>
                <a:cubicBezTo>
                  <a:pt x="7304" y="11078"/>
                  <a:pt x="7351" y="11059"/>
                  <a:pt x="7386" y="11024"/>
                </a:cubicBezTo>
                <a:cubicBezTo>
                  <a:pt x="7421" y="10989"/>
                  <a:pt x="7440" y="10942"/>
                  <a:pt x="7440" y="10893"/>
                </a:cubicBezTo>
                <a:lnTo>
                  <a:pt x="7440" y="9006"/>
                </a:lnTo>
                <a:cubicBezTo>
                  <a:pt x="7440" y="8957"/>
                  <a:pt x="7421" y="8910"/>
                  <a:pt x="7387" y="8875"/>
                </a:cubicBezTo>
                <a:cubicBezTo>
                  <a:pt x="7352" y="8840"/>
                  <a:pt x="7305" y="8820"/>
                  <a:pt x="7256" y="8820"/>
                </a:cubicBezTo>
                <a:lnTo>
                  <a:pt x="5136" y="8820"/>
                </a:lnTo>
                <a:cubicBezTo>
                  <a:pt x="5033" y="8820"/>
                  <a:pt x="4950" y="8903"/>
                  <a:pt x="4950" y="9006"/>
                </a:cubicBezTo>
                <a:lnTo>
                  <a:pt x="4950" y="10893"/>
                </a:lnTo>
                <a:cubicBezTo>
                  <a:pt x="4950" y="10995"/>
                  <a:pt x="5034" y="11078"/>
                  <a:pt x="5136" y="11078"/>
                </a:cubicBezTo>
                <a:moveTo>
                  <a:pt x="2216" y="11078"/>
                </a:moveTo>
                <a:lnTo>
                  <a:pt x="4336" y="11078"/>
                </a:lnTo>
                <a:cubicBezTo>
                  <a:pt x="4438" y="11077"/>
                  <a:pt x="4520" y="10995"/>
                  <a:pt x="4520" y="10893"/>
                </a:cubicBezTo>
                <a:lnTo>
                  <a:pt x="4520" y="9006"/>
                </a:lnTo>
                <a:cubicBezTo>
                  <a:pt x="4520" y="8957"/>
                  <a:pt x="4501" y="8910"/>
                  <a:pt x="4467" y="8875"/>
                </a:cubicBezTo>
                <a:cubicBezTo>
                  <a:pt x="4432" y="8840"/>
                  <a:pt x="4385" y="8820"/>
                  <a:pt x="4336" y="8820"/>
                </a:cubicBezTo>
                <a:lnTo>
                  <a:pt x="2216" y="8820"/>
                </a:lnTo>
                <a:cubicBezTo>
                  <a:pt x="2114" y="8821"/>
                  <a:pt x="2032" y="8903"/>
                  <a:pt x="2032" y="9005"/>
                </a:cubicBezTo>
                <a:lnTo>
                  <a:pt x="2032" y="10893"/>
                </a:lnTo>
                <a:cubicBezTo>
                  <a:pt x="2032" y="10995"/>
                  <a:pt x="2114" y="11078"/>
                  <a:pt x="2217" y="11078"/>
                </a:cubicBezTo>
                <a:moveTo>
                  <a:pt x="23763" y="9890"/>
                </a:moveTo>
                <a:cubicBezTo>
                  <a:pt x="23698" y="9839"/>
                  <a:pt x="23091" y="9380"/>
                  <a:pt x="21809" y="9380"/>
                </a:cubicBezTo>
                <a:cubicBezTo>
                  <a:pt x="21471" y="9381"/>
                  <a:pt x="21133" y="9410"/>
                  <a:pt x="20799" y="9467"/>
                </a:cubicBezTo>
                <a:cubicBezTo>
                  <a:pt x="20551" y="7767"/>
                  <a:pt x="19146" y="6937"/>
                  <a:pt x="19083" y="6901"/>
                </a:cubicBezTo>
                <a:lnTo>
                  <a:pt x="18739" y="6702"/>
                </a:lnTo>
                <a:lnTo>
                  <a:pt x="18513" y="7029"/>
                </a:lnTo>
                <a:cubicBezTo>
                  <a:pt x="18229" y="7467"/>
                  <a:pt x="18023" y="7951"/>
                  <a:pt x="17901" y="8459"/>
                </a:cubicBezTo>
                <a:cubicBezTo>
                  <a:pt x="17671" y="9429"/>
                  <a:pt x="17811" y="10341"/>
                  <a:pt x="18304" y="11120"/>
                </a:cubicBezTo>
                <a:cubicBezTo>
                  <a:pt x="17709" y="11452"/>
                  <a:pt x="16754" y="11533"/>
                  <a:pt x="16560" y="11540"/>
                </a:cubicBezTo>
                <a:lnTo>
                  <a:pt x="751" y="11540"/>
                </a:lnTo>
                <a:cubicBezTo>
                  <a:pt x="338" y="11541"/>
                  <a:pt x="3" y="11875"/>
                  <a:pt x="1" y="12288"/>
                </a:cubicBezTo>
                <a:cubicBezTo>
                  <a:pt x="-18" y="13673"/>
                  <a:pt x="217" y="15049"/>
                  <a:pt x="693" y="16350"/>
                </a:cubicBezTo>
                <a:cubicBezTo>
                  <a:pt x="1238" y="17778"/>
                  <a:pt x="2048" y="18830"/>
                  <a:pt x="3103" y="19474"/>
                </a:cubicBezTo>
                <a:cubicBezTo>
                  <a:pt x="4283" y="20197"/>
                  <a:pt x="6203" y="20611"/>
                  <a:pt x="8378" y="20611"/>
                </a:cubicBezTo>
                <a:cubicBezTo>
                  <a:pt x="9361" y="20614"/>
                  <a:pt x="10341" y="20525"/>
                  <a:pt x="11308" y="20345"/>
                </a:cubicBezTo>
                <a:cubicBezTo>
                  <a:pt x="12651" y="20098"/>
                  <a:pt x="13943" y="19629"/>
                  <a:pt x="15131" y="18956"/>
                </a:cubicBezTo>
                <a:cubicBezTo>
                  <a:pt x="16111" y="18389"/>
                  <a:pt x="16991" y="17668"/>
                  <a:pt x="17741" y="16820"/>
                </a:cubicBezTo>
                <a:cubicBezTo>
                  <a:pt x="18993" y="15402"/>
                  <a:pt x="19739" y="13823"/>
                  <a:pt x="20294" y="12420"/>
                </a:cubicBezTo>
                <a:lnTo>
                  <a:pt x="20515" y="12420"/>
                </a:lnTo>
                <a:cubicBezTo>
                  <a:pt x="21887" y="12420"/>
                  <a:pt x="22730" y="11871"/>
                  <a:pt x="23195" y="11411"/>
                </a:cubicBezTo>
                <a:cubicBezTo>
                  <a:pt x="23504" y="11118"/>
                  <a:pt x="23745" y="10761"/>
                  <a:pt x="23902" y="10365"/>
                </a:cubicBezTo>
                <a:lnTo>
                  <a:pt x="24000" y="10077"/>
                </a:lnTo>
                <a:close/>
              </a:path>
            </a:pathLst>
          </a:custGeom>
          <a:solidFill>
            <a:srgbClr val="2496ED"/>
          </a:solidFill>
          <a:ln>
            <a:noFill/>
          </a:ln>
          <a:effectLst/>
        </p:spPr>
        <p:txBody>
          <a:bodyPr rtlCol="0" anchor="ctr"/>
          <a:lstStyle/>
          <a:p/>
        </p:txBody>
      </p:sp>
      <p:sp>
        <p:nvSpPr>
          <p:cNvPr id="20" name="TextBox 19"/>
          <p:cNvSpPr txBox="1"/>
          <p:nvPr/>
        </p:nvSpPr>
        <p:spPr>
          <a:xfrm>
            <a:off x="3218688" y="1700784"/>
            <a:ext cx="4572000" cy="237744"/>
          </a:xfrm>
          <a:prstGeom prst="rect">
            <a:avLst/>
          </a:prstGeom>
          <a:noFill/>
        </p:spPr>
        <p:txBody>
          <a:bodyPr wrap="square" lIns="0" rIns="0" tIns="18288" bIns="18288" anchor="t">
            <a:noAutofit/>
          </a:bodyPr>
          <a:lstStyle/>
          <a:p>
            <a:pPr algn="l"/>
            <a:r>
              <a:rPr sz="1000" b="1" i="0" lang="ko-KR" altLang="en-US">
                <a:solidFill>
                  <a:srgbClr val="262626"/>
                </a:solidFill>
                <a:latin typeface="LG스마트체 Regular"/>
                <a:ea typeface="LG스마트체 Regular"/>
                <a:cs typeface="LG스마트체 Regular"/>
              </a:rPr>
              <a:t>Docker 엔진</a:t>
            </a:r>
            <a:r>
              <a:rPr sz="900" b="0" i="0" lang="ko-KR" altLang="en-US">
                <a:solidFill>
                  <a:srgbClr val="C55A11"/>
                </a:solidFill>
                <a:latin typeface="LG스마트체 Regular"/>
                <a:ea typeface="LG스마트체 Regular"/>
                <a:cs typeface="LG스마트체 Regular"/>
              </a:rPr>
              <a:t>  허용 여부·베이스 이미지 미정</a:t>
            </a:r>
          </a:p>
        </p:txBody>
      </p:sp>
      <p:sp>
        <p:nvSpPr>
          <p:cNvPr id="21" name="container-worklog"/>
          <p:cNvSpPr/>
          <p:nvPr/>
        </p:nvSpPr>
        <p:spPr>
          <a:xfrm>
            <a:off x="2971800" y="2011680"/>
            <a:ext cx="5029200" cy="2011680"/>
          </a:xfrm>
          <a:prstGeom prst="roundRect">
            <a:avLst>
              <a:gd name="adj" fmla="val 3181"/>
            </a:avLst>
          </a:prstGeom>
          <a:solidFill>
            <a:srgbClr val="FFFFFF"/>
          </a:solidFill>
          <a:ln w="15875">
            <a:solidFill>
              <a:srgbClr val="C55A11"/>
            </a:solidFill>
            <a:prstDash val="dash"/>
          </a:ln>
          <a:effectLst/>
        </p:spPr>
        <p:txBody>
          <a:bodyPr rtlCol="0" anchor="ctr"/>
          <a:lstStyle/>
          <a:p/>
        </p:txBody>
      </p:sp>
      <p:sp>
        <p:nvSpPr>
          <p:cNvPr id="22" name="icon-container"/>
          <p:cNvSpPr/>
          <p:nvPr/>
        </p:nvSpPr>
        <p:spPr>
          <a:xfrm>
            <a:off x="3044952" y="2075688"/>
            <a:ext cx="219456" cy="219456"/>
          </a:xfrm>
          <a:custGeom>
            <a:avLst/>
            <a:gdLst/>
            <a:ahLst/>
            <a:cxnLst/>
            <a:rect l="0" t="0" r="r" b="b"/>
            <a:pathLst>
              <a:path w="24000" h="24000" fill="none">
                <a:moveTo>
                  <a:pt x="12000" y="3000"/>
                </a:moveTo>
                <a:lnTo>
                  <a:pt x="20000" y="7500"/>
                </a:lnTo>
                <a:lnTo>
                  <a:pt x="20000" y="16500"/>
                </a:lnTo>
                <a:lnTo>
                  <a:pt x="12000" y="21000"/>
                </a:lnTo>
                <a:lnTo>
                  <a:pt x="4000" y="16500"/>
                </a:lnTo>
                <a:lnTo>
                  <a:pt x="4000" y="7500"/>
                </a:lnTo>
                <a:lnTo>
                  <a:pt x="12000" y="3000"/>
                </a:lnTo>
              </a:path>
              <a:path w="24000" h="24000" fill="none">
                <a:moveTo>
                  <a:pt x="12000" y="12000"/>
                </a:moveTo>
                <a:lnTo>
                  <a:pt x="20000" y="7500"/>
                </a:lnTo>
              </a:path>
              <a:path w="24000" h="24000" fill="none">
                <a:moveTo>
                  <a:pt x="12000" y="12000"/>
                </a:moveTo>
                <a:lnTo>
                  <a:pt x="12000" y="21000"/>
                </a:lnTo>
              </a:path>
              <a:path w="24000" h="24000" fill="none">
                <a:moveTo>
                  <a:pt x="12000" y="12000"/>
                </a:moveTo>
                <a:lnTo>
                  <a:pt x="4000" y="7500"/>
                </a:lnTo>
              </a:path>
            </a:pathLst>
          </a:custGeom>
          <a:solidFill>
            <a:srgbClr val="595959"/>
          </a:solidFill>
          <a:ln w="12700">
            <a:solidFill>
              <a:srgbClr val="595959"/>
            </a:solidFill>
          </a:ln>
          <a:effectLst/>
        </p:spPr>
        <p:txBody>
          <a:bodyPr rtlCol="0" anchor="ctr"/>
          <a:lstStyle/>
          <a:p/>
        </p:txBody>
      </p:sp>
      <p:sp>
        <p:nvSpPr>
          <p:cNvPr id="23" name="TextBox 22"/>
          <p:cNvSpPr txBox="1"/>
          <p:nvPr/>
        </p:nvSpPr>
        <p:spPr>
          <a:xfrm>
            <a:off x="3328416" y="2075688"/>
            <a:ext cx="4572000" cy="237744"/>
          </a:xfrm>
          <a:prstGeom prst="rect">
            <a:avLst/>
          </a:prstGeom>
          <a:noFill/>
        </p:spPr>
        <p:txBody>
          <a:bodyPr wrap="square" lIns="0" rIns="0" tIns="18288" bIns="18288" anchor="t">
            <a:noAutofit/>
          </a:bodyPr>
          <a:lstStyle/>
          <a:p>
            <a:pPr algn="l"/>
            <a:r>
              <a:rPr sz="1000" b="1" i="0" lang="ko-KR" altLang="en-US">
                <a:solidFill>
                  <a:srgbClr val="262626"/>
                </a:solidFill>
                <a:latin typeface="LG스마트체 Regular"/>
                <a:ea typeface="LG스마트체 Regular"/>
                <a:cs typeface="LG스마트체 Regular"/>
              </a:rPr>
              <a:t>컨테이너 </a:t>
            </a:r>
            <a:r>
              <a:rPr sz="1000" b="1" i="0" lang="ko-KR" altLang="en-US">
                <a:solidFill>
                  <a:srgbClr val="1F3864"/>
                </a:solidFill>
                <a:latin typeface="LG스마트체 Regular"/>
                <a:ea typeface="LG스마트체 Regular"/>
                <a:cs typeface="LG스마트체 Regular"/>
              </a:rPr>
              <a:t>worklog</a:t>
            </a:r>
            <a:r>
              <a:rPr sz="900" b="0" i="0" lang="ko-KR" altLang="en-US">
                <a:solidFill>
                  <a:srgbClr val="C55A11"/>
                </a:solidFill>
                <a:latin typeface="LG스마트체 Regular"/>
                <a:ea typeface="LG스마트체 Regular"/>
                <a:cs typeface="LG스마트체 Regular"/>
              </a:rPr>
              <a:t>  Dockerfile 미작성</a:t>
            </a:r>
          </a:p>
        </p:txBody>
      </p:sp>
      <p:sp>
        <p:nvSpPr>
          <p:cNvPr id="24" name="frontend"/>
          <p:cNvSpPr/>
          <p:nvPr/>
        </p:nvSpPr>
        <p:spPr>
          <a:xfrm>
            <a:off x="3108960" y="2395728"/>
            <a:ext cx="1828800" cy="777240"/>
          </a:xfrm>
          <a:prstGeom prst="roundRect">
            <a:avLst>
              <a:gd name="adj" fmla="val 7058"/>
            </a:avLst>
          </a:prstGeom>
          <a:solidFill>
            <a:srgbClr val="EEF2F8"/>
          </a:solidFill>
          <a:ln w="15875">
            <a:solidFill>
              <a:srgbClr val="1F3864"/>
            </a:solidFill>
          </a:ln>
          <a:effectLst/>
        </p:spPr>
        <p:txBody>
          <a:bodyPr rtlCol="0" anchor="ctr"/>
          <a:lstStyle/>
          <a:p/>
        </p:txBody>
      </p:sp>
      <p:sp>
        <p:nvSpPr>
          <p:cNvPr id="25" name="icon-react"/>
          <p:cNvSpPr/>
          <p:nvPr/>
        </p:nvSpPr>
        <p:spPr>
          <a:xfrm>
            <a:off x="3182112" y="2468880"/>
            <a:ext cx="201168" cy="201168"/>
          </a:xfrm>
          <a:custGeom>
            <a:avLst/>
            <a:gdLst/>
            <a:ahLst/>
            <a:cxnLst/>
            <a:rect l="0" t="0" r="r" b="b"/>
            <a:pathLst>
              <a:path w="24000" h="24000" stroke="0">
                <a:moveTo>
                  <a:pt x="14230" y="12004"/>
                </a:moveTo>
                <a:cubicBezTo>
                  <a:pt x="14230" y="13239"/>
                  <a:pt x="13230" y="14239"/>
                  <a:pt x="11995" y="14240"/>
                </a:cubicBezTo>
                <a:cubicBezTo>
                  <a:pt x="11402" y="14240"/>
                  <a:pt x="10833" y="14004"/>
                  <a:pt x="10414" y="13585"/>
                </a:cubicBezTo>
                <a:cubicBezTo>
                  <a:pt x="9995" y="13166"/>
                  <a:pt x="9759" y="12597"/>
                  <a:pt x="9759" y="12004"/>
                </a:cubicBezTo>
                <a:cubicBezTo>
                  <a:pt x="9759" y="10769"/>
                  <a:pt x="10759" y="9769"/>
                  <a:pt x="11994" y="9768"/>
                </a:cubicBezTo>
                <a:cubicBezTo>
                  <a:pt x="12587" y="9768"/>
                  <a:pt x="13156" y="10004"/>
                  <a:pt x="13575" y="10423"/>
                </a:cubicBezTo>
                <a:cubicBezTo>
                  <a:pt x="13994" y="10842"/>
                  <a:pt x="14230" y="11411"/>
                  <a:pt x="14230" y="12004"/>
                </a:cubicBezTo>
                <a:close/>
                <a:moveTo>
                  <a:pt x="16878" y="1314"/>
                </a:moveTo>
                <a:cubicBezTo>
                  <a:pt x="15532" y="1314"/>
                  <a:pt x="13771" y="2274"/>
                  <a:pt x="11990" y="3936"/>
                </a:cubicBezTo>
                <a:cubicBezTo>
                  <a:pt x="10210" y="2283"/>
                  <a:pt x="8448" y="1334"/>
                  <a:pt x="7103" y="1334"/>
                </a:cubicBezTo>
                <a:cubicBezTo>
                  <a:pt x="6693" y="1334"/>
                  <a:pt x="6320" y="1427"/>
                  <a:pt x="5997" y="1612"/>
                </a:cubicBezTo>
                <a:cubicBezTo>
                  <a:pt x="4622" y="2405"/>
                  <a:pt x="4314" y="4876"/>
                  <a:pt x="5024" y="7977"/>
                </a:cubicBezTo>
                <a:cubicBezTo>
                  <a:pt x="1980" y="8917"/>
                  <a:pt x="0" y="10420"/>
                  <a:pt x="0" y="12004"/>
                </a:cubicBezTo>
                <a:cubicBezTo>
                  <a:pt x="0" y="13594"/>
                  <a:pt x="1990" y="15101"/>
                  <a:pt x="5043" y="16034"/>
                </a:cubicBezTo>
                <a:cubicBezTo>
                  <a:pt x="4339" y="19147"/>
                  <a:pt x="4653" y="21622"/>
                  <a:pt x="6031" y="22414"/>
                </a:cubicBezTo>
                <a:cubicBezTo>
                  <a:pt x="6351" y="22601"/>
                  <a:pt x="6721" y="22689"/>
                  <a:pt x="7133" y="22689"/>
                </a:cubicBezTo>
                <a:cubicBezTo>
                  <a:pt x="8478" y="22689"/>
                  <a:pt x="10240" y="21729"/>
                  <a:pt x="12021" y="20065"/>
                </a:cubicBezTo>
                <a:cubicBezTo>
                  <a:pt x="13801" y="21719"/>
                  <a:pt x="15563" y="22668"/>
                  <a:pt x="16908" y="22668"/>
                </a:cubicBezTo>
                <a:cubicBezTo>
                  <a:pt x="17318" y="22668"/>
                  <a:pt x="17691" y="22578"/>
                  <a:pt x="18014" y="22393"/>
                </a:cubicBezTo>
                <a:cubicBezTo>
                  <a:pt x="19388" y="21601"/>
                  <a:pt x="19697" y="19130"/>
                  <a:pt x="18987" y="16028"/>
                </a:cubicBezTo>
                <a:cubicBezTo>
                  <a:pt x="22020" y="15096"/>
                  <a:pt x="24000" y="13590"/>
                  <a:pt x="24000" y="12004"/>
                </a:cubicBezTo>
                <a:cubicBezTo>
                  <a:pt x="24000" y="10414"/>
                  <a:pt x="22010" y="8907"/>
                  <a:pt x="18957" y="7972"/>
                </a:cubicBezTo>
                <a:cubicBezTo>
                  <a:pt x="19661" y="4862"/>
                  <a:pt x="19347" y="2385"/>
                  <a:pt x="17969" y="1592"/>
                </a:cubicBezTo>
                <a:cubicBezTo>
                  <a:pt x="17651" y="1408"/>
                  <a:pt x="17281" y="1315"/>
                  <a:pt x="16877" y="1314"/>
                </a:cubicBezTo>
                <a:close/>
                <a:moveTo>
                  <a:pt x="16873" y="2404"/>
                </a:moveTo>
                <a:lnTo>
                  <a:pt x="16873" y="2410"/>
                </a:lnTo>
                <a:cubicBezTo>
                  <a:pt x="17098" y="2410"/>
                  <a:pt x="17279" y="2454"/>
                  <a:pt x="17431" y="2537"/>
                </a:cubicBezTo>
                <a:cubicBezTo>
                  <a:pt x="18097" y="2919"/>
                  <a:pt x="18386" y="4372"/>
                  <a:pt x="18161" y="6241"/>
                </a:cubicBezTo>
                <a:cubicBezTo>
                  <a:pt x="18107" y="6701"/>
                  <a:pt x="18019" y="7186"/>
                  <a:pt x="17911" y="7681"/>
                </a:cubicBezTo>
                <a:cubicBezTo>
                  <a:pt x="16951" y="7445"/>
                  <a:pt x="15905" y="7264"/>
                  <a:pt x="14804" y="7147"/>
                </a:cubicBezTo>
                <a:cubicBezTo>
                  <a:pt x="14144" y="6242"/>
                  <a:pt x="13459" y="5420"/>
                  <a:pt x="12769" y="4700"/>
                </a:cubicBezTo>
                <a:cubicBezTo>
                  <a:pt x="14361" y="3220"/>
                  <a:pt x="15856" y="2408"/>
                  <a:pt x="16874" y="2405"/>
                </a:cubicBezTo>
                <a:close/>
                <a:moveTo>
                  <a:pt x="7103" y="2424"/>
                </a:moveTo>
                <a:cubicBezTo>
                  <a:pt x="8115" y="2424"/>
                  <a:pt x="9617" y="3232"/>
                  <a:pt x="11213" y="4704"/>
                </a:cubicBezTo>
                <a:cubicBezTo>
                  <a:pt x="10527" y="5424"/>
                  <a:pt x="9843" y="6241"/>
                  <a:pt x="9193" y="7146"/>
                </a:cubicBezTo>
                <a:cubicBezTo>
                  <a:pt x="8086" y="7263"/>
                  <a:pt x="7039" y="7444"/>
                  <a:pt x="6080" y="7684"/>
                </a:cubicBezTo>
                <a:cubicBezTo>
                  <a:pt x="5968" y="7194"/>
                  <a:pt x="5885" y="6720"/>
                  <a:pt x="5826" y="6264"/>
                </a:cubicBezTo>
                <a:cubicBezTo>
                  <a:pt x="5596" y="4396"/>
                  <a:pt x="5880" y="2944"/>
                  <a:pt x="6540" y="2557"/>
                </a:cubicBezTo>
                <a:cubicBezTo>
                  <a:pt x="6730" y="2467"/>
                  <a:pt x="6940" y="2430"/>
                  <a:pt x="7103" y="2425"/>
                </a:cubicBezTo>
                <a:close/>
                <a:moveTo>
                  <a:pt x="11985" y="5474"/>
                </a:moveTo>
                <a:cubicBezTo>
                  <a:pt x="12440" y="5942"/>
                  <a:pt x="12895" y="6466"/>
                  <a:pt x="13345" y="7038"/>
                </a:cubicBezTo>
                <a:cubicBezTo>
                  <a:pt x="12905" y="7018"/>
                  <a:pt x="12455" y="7004"/>
                  <a:pt x="12000" y="7004"/>
                </a:cubicBezTo>
                <a:cubicBezTo>
                  <a:pt x="11540" y="7004"/>
                  <a:pt x="11085" y="7014"/>
                  <a:pt x="10640" y="7038"/>
                </a:cubicBezTo>
                <a:cubicBezTo>
                  <a:pt x="11080" y="6466"/>
                  <a:pt x="11535" y="5942"/>
                  <a:pt x="11985" y="5473"/>
                </a:cubicBezTo>
                <a:close/>
                <a:moveTo>
                  <a:pt x="12000" y="8100"/>
                </a:moveTo>
                <a:cubicBezTo>
                  <a:pt x="12740" y="8100"/>
                  <a:pt x="13477" y="8134"/>
                  <a:pt x="14202" y="8193"/>
                </a:cubicBezTo>
                <a:cubicBezTo>
                  <a:pt x="14608" y="8775"/>
                  <a:pt x="15004" y="9396"/>
                  <a:pt x="15385" y="10053"/>
                </a:cubicBezTo>
                <a:cubicBezTo>
                  <a:pt x="15757" y="10693"/>
                  <a:pt x="16095" y="11343"/>
                  <a:pt x="16403" y="11999"/>
                </a:cubicBezTo>
                <a:cubicBezTo>
                  <a:pt x="16095" y="12654"/>
                  <a:pt x="15757" y="13309"/>
                  <a:pt x="15390" y="13949"/>
                </a:cubicBezTo>
                <a:cubicBezTo>
                  <a:pt x="15010" y="14609"/>
                  <a:pt x="14617" y="15237"/>
                  <a:pt x="14210" y="15819"/>
                </a:cubicBezTo>
                <a:cubicBezTo>
                  <a:pt x="13482" y="15882"/>
                  <a:pt x="12744" y="15917"/>
                  <a:pt x="12000" y="15917"/>
                </a:cubicBezTo>
                <a:cubicBezTo>
                  <a:pt x="11260" y="15917"/>
                  <a:pt x="10523" y="15882"/>
                  <a:pt x="9798" y="15824"/>
                </a:cubicBezTo>
                <a:cubicBezTo>
                  <a:pt x="9392" y="15242"/>
                  <a:pt x="8996" y="14620"/>
                  <a:pt x="8615" y="13964"/>
                </a:cubicBezTo>
                <a:cubicBezTo>
                  <a:pt x="8243" y="13324"/>
                  <a:pt x="7905" y="12674"/>
                  <a:pt x="7597" y="12018"/>
                </a:cubicBezTo>
                <a:cubicBezTo>
                  <a:pt x="7900" y="11361"/>
                  <a:pt x="8243" y="10705"/>
                  <a:pt x="8610" y="10064"/>
                </a:cubicBezTo>
                <a:cubicBezTo>
                  <a:pt x="8990" y="9404"/>
                  <a:pt x="9383" y="8778"/>
                  <a:pt x="9790" y="8196"/>
                </a:cubicBezTo>
                <a:cubicBezTo>
                  <a:pt x="10518" y="8132"/>
                  <a:pt x="11256" y="8098"/>
                  <a:pt x="12000" y="8098"/>
                </a:cubicBezTo>
                <a:close/>
                <a:moveTo>
                  <a:pt x="8365" y="8354"/>
                </a:moveTo>
                <a:cubicBezTo>
                  <a:pt x="8125" y="8731"/>
                  <a:pt x="7885" y="9117"/>
                  <a:pt x="7661" y="9514"/>
                </a:cubicBezTo>
                <a:cubicBezTo>
                  <a:pt x="7436" y="9904"/>
                  <a:pt x="7226" y="10296"/>
                  <a:pt x="7026" y="10688"/>
                </a:cubicBezTo>
                <a:cubicBezTo>
                  <a:pt x="6761" y="10032"/>
                  <a:pt x="6536" y="9378"/>
                  <a:pt x="6350" y="8741"/>
                </a:cubicBezTo>
                <a:cubicBezTo>
                  <a:pt x="6990" y="8591"/>
                  <a:pt x="7665" y="8458"/>
                  <a:pt x="8365" y="8355"/>
                </a:cubicBezTo>
                <a:close/>
                <a:moveTo>
                  <a:pt x="15625" y="8354"/>
                </a:moveTo>
                <a:cubicBezTo>
                  <a:pt x="16320" y="8457"/>
                  <a:pt x="16990" y="8584"/>
                  <a:pt x="17631" y="8741"/>
                </a:cubicBezTo>
                <a:cubicBezTo>
                  <a:pt x="17451" y="9373"/>
                  <a:pt x="17226" y="10023"/>
                  <a:pt x="16971" y="10674"/>
                </a:cubicBezTo>
                <a:cubicBezTo>
                  <a:pt x="16771" y="10284"/>
                  <a:pt x="16561" y="9891"/>
                  <a:pt x="16331" y="9500"/>
                </a:cubicBezTo>
                <a:cubicBezTo>
                  <a:pt x="16106" y="9108"/>
                  <a:pt x="15866" y="8726"/>
                  <a:pt x="15626" y="8354"/>
                </a:cubicBezTo>
                <a:close/>
                <a:moveTo>
                  <a:pt x="18688" y="9029"/>
                </a:moveTo>
                <a:cubicBezTo>
                  <a:pt x="19172" y="9179"/>
                  <a:pt x="19632" y="9346"/>
                  <a:pt x="20063" y="9527"/>
                </a:cubicBezTo>
                <a:cubicBezTo>
                  <a:pt x="21795" y="10267"/>
                  <a:pt x="22915" y="11235"/>
                  <a:pt x="22915" y="12003"/>
                </a:cubicBezTo>
                <a:cubicBezTo>
                  <a:pt x="22910" y="12771"/>
                  <a:pt x="21790" y="13743"/>
                  <a:pt x="20058" y="14478"/>
                </a:cubicBezTo>
                <a:cubicBezTo>
                  <a:pt x="19638" y="14658"/>
                  <a:pt x="19178" y="14820"/>
                  <a:pt x="18703" y="14971"/>
                </a:cubicBezTo>
                <a:cubicBezTo>
                  <a:pt x="18423" y="14013"/>
                  <a:pt x="18057" y="13015"/>
                  <a:pt x="17603" y="11991"/>
                </a:cubicBezTo>
                <a:cubicBezTo>
                  <a:pt x="18053" y="10974"/>
                  <a:pt x="18413" y="9981"/>
                  <a:pt x="18688" y="9027"/>
                </a:cubicBezTo>
                <a:close/>
                <a:moveTo>
                  <a:pt x="5293" y="9033"/>
                </a:moveTo>
                <a:cubicBezTo>
                  <a:pt x="5571" y="9993"/>
                  <a:pt x="5938" y="10990"/>
                  <a:pt x="6393" y="12013"/>
                </a:cubicBezTo>
                <a:cubicBezTo>
                  <a:pt x="5943" y="13030"/>
                  <a:pt x="5581" y="14023"/>
                  <a:pt x="5307" y="14977"/>
                </a:cubicBezTo>
                <a:cubicBezTo>
                  <a:pt x="4823" y="14827"/>
                  <a:pt x="4363" y="14659"/>
                  <a:pt x="3937" y="14477"/>
                </a:cubicBezTo>
                <a:cubicBezTo>
                  <a:pt x="2205" y="13740"/>
                  <a:pt x="1085" y="12771"/>
                  <a:pt x="1085" y="12003"/>
                </a:cubicBezTo>
                <a:cubicBezTo>
                  <a:pt x="1085" y="11235"/>
                  <a:pt x="2205" y="10261"/>
                  <a:pt x="3937" y="9527"/>
                </a:cubicBezTo>
                <a:cubicBezTo>
                  <a:pt x="4357" y="9347"/>
                  <a:pt x="4817" y="9185"/>
                  <a:pt x="5293" y="9033"/>
                </a:cubicBezTo>
                <a:close/>
                <a:moveTo>
                  <a:pt x="16971" y="13313"/>
                </a:moveTo>
                <a:cubicBezTo>
                  <a:pt x="17236" y="13970"/>
                  <a:pt x="17461" y="14625"/>
                  <a:pt x="17647" y="15261"/>
                </a:cubicBezTo>
                <a:cubicBezTo>
                  <a:pt x="17007" y="15418"/>
                  <a:pt x="16331" y="15551"/>
                  <a:pt x="15631" y="15651"/>
                </a:cubicBezTo>
                <a:cubicBezTo>
                  <a:pt x="15871" y="15276"/>
                  <a:pt x="16111" y="14889"/>
                  <a:pt x="16336" y="14493"/>
                </a:cubicBezTo>
                <a:cubicBezTo>
                  <a:pt x="16561" y="14103"/>
                  <a:pt x="16771" y="13705"/>
                  <a:pt x="16972" y="13313"/>
                </a:cubicBezTo>
                <a:close/>
                <a:moveTo>
                  <a:pt x="7026" y="13333"/>
                </a:moveTo>
                <a:cubicBezTo>
                  <a:pt x="7226" y="13725"/>
                  <a:pt x="7436" y="14116"/>
                  <a:pt x="7666" y="14508"/>
                </a:cubicBezTo>
                <a:cubicBezTo>
                  <a:pt x="7896" y="14898"/>
                  <a:pt x="8131" y="15280"/>
                  <a:pt x="8371" y="15651"/>
                </a:cubicBezTo>
                <a:cubicBezTo>
                  <a:pt x="7676" y="15549"/>
                  <a:pt x="7006" y="15421"/>
                  <a:pt x="6365" y="15265"/>
                </a:cubicBezTo>
                <a:cubicBezTo>
                  <a:pt x="6545" y="14635"/>
                  <a:pt x="6771" y="13983"/>
                  <a:pt x="7025" y="13332"/>
                </a:cubicBezTo>
                <a:close/>
                <a:moveTo>
                  <a:pt x="17920" y="16320"/>
                </a:moveTo>
                <a:cubicBezTo>
                  <a:pt x="18032" y="16813"/>
                  <a:pt x="18120" y="17288"/>
                  <a:pt x="18174" y="17743"/>
                </a:cubicBezTo>
                <a:cubicBezTo>
                  <a:pt x="18404" y="19611"/>
                  <a:pt x="18120" y="21063"/>
                  <a:pt x="17460" y="21451"/>
                </a:cubicBezTo>
                <a:cubicBezTo>
                  <a:pt x="17313" y="21541"/>
                  <a:pt x="17122" y="21579"/>
                  <a:pt x="16897" y="21579"/>
                </a:cubicBezTo>
                <a:cubicBezTo>
                  <a:pt x="15885" y="21579"/>
                  <a:pt x="14383" y="20772"/>
                  <a:pt x="12787" y="19299"/>
                </a:cubicBezTo>
                <a:cubicBezTo>
                  <a:pt x="13473" y="18579"/>
                  <a:pt x="14157" y="17763"/>
                  <a:pt x="14807" y="16859"/>
                </a:cubicBezTo>
                <a:cubicBezTo>
                  <a:pt x="15914" y="16741"/>
                  <a:pt x="16961" y="16559"/>
                  <a:pt x="17920" y="16319"/>
                </a:cubicBezTo>
                <a:close/>
                <a:moveTo>
                  <a:pt x="6090" y="16330"/>
                </a:moveTo>
                <a:cubicBezTo>
                  <a:pt x="7050" y="16564"/>
                  <a:pt x="8096" y="16745"/>
                  <a:pt x="9197" y="16862"/>
                </a:cubicBezTo>
                <a:cubicBezTo>
                  <a:pt x="9857" y="17767"/>
                  <a:pt x="10542" y="18589"/>
                  <a:pt x="11232" y="19308"/>
                </a:cubicBezTo>
                <a:cubicBezTo>
                  <a:pt x="9637" y="20791"/>
                  <a:pt x="8140" y="21603"/>
                  <a:pt x="7122" y="21603"/>
                </a:cubicBezTo>
                <a:cubicBezTo>
                  <a:pt x="6902" y="21598"/>
                  <a:pt x="6716" y="21553"/>
                  <a:pt x="6569" y="21471"/>
                </a:cubicBezTo>
                <a:cubicBezTo>
                  <a:pt x="5903" y="21091"/>
                  <a:pt x="5614" y="19637"/>
                  <a:pt x="5839" y="17768"/>
                </a:cubicBezTo>
                <a:cubicBezTo>
                  <a:pt x="5893" y="17308"/>
                  <a:pt x="5981" y="16824"/>
                  <a:pt x="6089" y="16330"/>
                </a:cubicBezTo>
                <a:close/>
                <a:moveTo>
                  <a:pt x="10650" y="16970"/>
                </a:moveTo>
                <a:cubicBezTo>
                  <a:pt x="11090" y="16990"/>
                  <a:pt x="11540" y="17004"/>
                  <a:pt x="11995" y="17004"/>
                </a:cubicBezTo>
                <a:cubicBezTo>
                  <a:pt x="12455" y="17004"/>
                  <a:pt x="12910" y="16994"/>
                  <a:pt x="13355" y="16970"/>
                </a:cubicBezTo>
                <a:cubicBezTo>
                  <a:pt x="12915" y="17542"/>
                  <a:pt x="12460" y="18065"/>
                  <a:pt x="12010" y="18535"/>
                </a:cubicBezTo>
                <a:cubicBezTo>
                  <a:pt x="11555" y="18065"/>
                  <a:pt x="11100" y="17542"/>
                  <a:pt x="10650" y="16970"/>
                </a:cubicBezTo>
                <a:close/>
              </a:path>
            </a:pathLst>
          </a:custGeom>
          <a:solidFill>
            <a:srgbClr val="61DAFB"/>
          </a:solidFill>
          <a:ln>
            <a:noFill/>
          </a:ln>
          <a:effectLst/>
        </p:spPr>
        <p:txBody>
          <a:bodyPr rtlCol="0" anchor="ctr"/>
          <a:lstStyle/>
          <a:p/>
        </p:txBody>
      </p:sp>
      <p:sp>
        <p:nvSpPr>
          <p:cNvPr id="26" name="icon-vite"/>
          <p:cNvSpPr/>
          <p:nvPr/>
        </p:nvSpPr>
        <p:spPr>
          <a:xfrm>
            <a:off x="3419856" y="2468880"/>
            <a:ext cx="201168" cy="201168"/>
          </a:xfrm>
          <a:custGeom>
            <a:avLst/>
            <a:gdLst/>
            <a:ahLst/>
            <a:cxnLst/>
            <a:rect l="0" t="0" r="r" b="b"/>
            <a:pathLst>
              <a:path w="24000" h="24000" stroke="0">
                <a:moveTo>
                  <a:pt x="8286" y="10578"/>
                </a:moveTo>
                <a:lnTo>
                  <a:pt x="8798" y="1921"/>
                </a:lnTo>
                <a:cubicBezTo>
                  <a:pt x="8806" y="1782"/>
                  <a:pt x="8908" y="1666"/>
                  <a:pt x="9045" y="1639"/>
                </a:cubicBezTo>
                <a:lnTo>
                  <a:pt x="17377" y="6"/>
                </a:lnTo>
                <a:cubicBezTo>
                  <a:pt x="17482" y="-15"/>
                  <a:pt x="17589" y="21"/>
                  <a:pt x="17662" y="99"/>
                </a:cubicBezTo>
                <a:cubicBezTo>
                  <a:pt x="17734" y="178"/>
                  <a:pt x="17760" y="289"/>
                  <a:pt x="17730" y="391"/>
                </a:cubicBezTo>
                <a:lnTo>
                  <a:pt x="16172" y="5794"/>
                </a:lnTo>
                <a:cubicBezTo>
                  <a:pt x="16143" y="5896"/>
                  <a:pt x="16168" y="6006"/>
                  <a:pt x="16240" y="6085"/>
                </a:cubicBezTo>
                <a:cubicBezTo>
                  <a:pt x="16312" y="6164"/>
                  <a:pt x="16420" y="6199"/>
                  <a:pt x="16524" y="6179"/>
                </a:cubicBezTo>
                <a:lnTo>
                  <a:pt x="18912" y="5719"/>
                </a:lnTo>
                <a:cubicBezTo>
                  <a:pt x="19027" y="5697"/>
                  <a:pt x="19144" y="5741"/>
                  <a:pt x="19215" y="5834"/>
                </a:cubicBezTo>
                <a:cubicBezTo>
                  <a:pt x="19285" y="5928"/>
                  <a:pt x="19297" y="6053"/>
                  <a:pt x="19244" y="6157"/>
                </a:cubicBezTo>
                <a:lnTo>
                  <a:pt x="12454" y="19707"/>
                </a:lnTo>
                <a:lnTo>
                  <a:pt x="12331" y="19897"/>
                </a:lnTo>
                <a:cubicBezTo>
                  <a:pt x="12277" y="19984"/>
                  <a:pt x="12182" y="20038"/>
                  <a:pt x="12079" y="20037"/>
                </a:cubicBezTo>
                <a:cubicBezTo>
                  <a:pt x="11902" y="20037"/>
                  <a:pt x="11729" y="19885"/>
                  <a:pt x="11774" y="19668"/>
                </a:cubicBezTo>
                <a:lnTo>
                  <a:pt x="12869" y="14367"/>
                </a:lnTo>
                <a:cubicBezTo>
                  <a:pt x="12891" y="14261"/>
                  <a:pt x="12856" y="14152"/>
                  <a:pt x="12776" y="14079"/>
                </a:cubicBezTo>
                <a:cubicBezTo>
                  <a:pt x="12696" y="14006"/>
                  <a:pt x="12584" y="13981"/>
                  <a:pt x="12481" y="14012"/>
                </a:cubicBezTo>
                <a:lnTo>
                  <a:pt x="11048" y="14447"/>
                </a:lnTo>
                <a:cubicBezTo>
                  <a:pt x="10945" y="14478"/>
                  <a:pt x="10833" y="14453"/>
                  <a:pt x="10753" y="14381"/>
                </a:cubicBezTo>
                <a:cubicBezTo>
                  <a:pt x="10673" y="14308"/>
                  <a:pt x="10637" y="14199"/>
                  <a:pt x="10659" y="14093"/>
                </a:cubicBezTo>
                <a:lnTo>
                  <a:pt x="11349" y="10718"/>
                </a:lnTo>
                <a:cubicBezTo>
                  <a:pt x="11370" y="10616"/>
                  <a:pt x="11338" y="10509"/>
                  <a:pt x="11263" y="10436"/>
                </a:cubicBezTo>
                <a:cubicBezTo>
                  <a:pt x="11188" y="10364"/>
                  <a:pt x="11081" y="10334"/>
                  <a:pt x="10979" y="10358"/>
                </a:cubicBezTo>
                <a:lnTo>
                  <a:pt x="8659" y="10894"/>
                </a:lnTo>
                <a:cubicBezTo>
                  <a:pt x="8565" y="10916"/>
                  <a:pt x="8467" y="10892"/>
                  <a:pt x="8393" y="10830"/>
                </a:cubicBezTo>
                <a:cubicBezTo>
                  <a:pt x="8319" y="10767"/>
                  <a:pt x="8279" y="10674"/>
                  <a:pt x="8285" y="10578"/>
                </a:cubicBezTo>
                <a:close/>
                <a:moveTo>
                  <a:pt x="23262" y="2652"/>
                </a:moveTo>
                <a:lnTo>
                  <a:pt x="17284" y="3740"/>
                </a:lnTo>
                <a:lnTo>
                  <a:pt x="16740" y="5627"/>
                </a:lnTo>
                <a:lnTo>
                  <a:pt x="18817" y="5227"/>
                </a:lnTo>
                <a:cubicBezTo>
                  <a:pt x="19147" y="5161"/>
                  <a:pt x="19482" y="5309"/>
                  <a:pt x="19657" y="5596"/>
                </a:cubicBezTo>
                <a:cubicBezTo>
                  <a:pt x="19804" y="5833"/>
                  <a:pt x="19817" y="6130"/>
                  <a:pt x="19691" y="6379"/>
                </a:cubicBezTo>
                <a:lnTo>
                  <a:pt x="12900" y="19930"/>
                </a:lnTo>
                <a:lnTo>
                  <a:pt x="12887" y="19955"/>
                </a:lnTo>
                <a:lnTo>
                  <a:pt x="12872" y="19978"/>
                </a:lnTo>
                <a:lnTo>
                  <a:pt x="12750" y="20168"/>
                </a:lnTo>
                <a:cubicBezTo>
                  <a:pt x="12603" y="20398"/>
                  <a:pt x="12350" y="20537"/>
                  <a:pt x="12078" y="20538"/>
                </a:cubicBezTo>
                <a:cubicBezTo>
                  <a:pt x="11832" y="20537"/>
                  <a:pt x="11600" y="20426"/>
                  <a:pt x="11444" y="20236"/>
                </a:cubicBezTo>
                <a:cubicBezTo>
                  <a:pt x="11292" y="20048"/>
                  <a:pt x="11234" y="19802"/>
                  <a:pt x="11284" y="19566"/>
                </a:cubicBezTo>
                <a:lnTo>
                  <a:pt x="12313" y="14585"/>
                </a:lnTo>
                <a:lnTo>
                  <a:pt x="11193" y="14925"/>
                </a:lnTo>
                <a:cubicBezTo>
                  <a:pt x="10880" y="15019"/>
                  <a:pt x="10540" y="14916"/>
                  <a:pt x="10333" y="14663"/>
                </a:cubicBezTo>
                <a:cubicBezTo>
                  <a:pt x="10180" y="14476"/>
                  <a:pt x="10119" y="14230"/>
                  <a:pt x="10168" y="13993"/>
                </a:cubicBezTo>
                <a:lnTo>
                  <a:pt x="10798" y="10913"/>
                </a:lnTo>
                <a:lnTo>
                  <a:pt x="8771" y="11381"/>
                </a:lnTo>
                <a:cubicBezTo>
                  <a:pt x="8492" y="11445"/>
                  <a:pt x="8200" y="11356"/>
                  <a:pt x="8003" y="11148"/>
                </a:cubicBezTo>
                <a:cubicBezTo>
                  <a:pt x="7852" y="10986"/>
                  <a:pt x="7773" y="10769"/>
                  <a:pt x="7786" y="10548"/>
                </a:cubicBezTo>
                <a:lnTo>
                  <a:pt x="8175" y="3978"/>
                </a:lnTo>
                <a:lnTo>
                  <a:pt x="735" y="2648"/>
                </a:lnTo>
                <a:cubicBezTo>
                  <a:pt x="501" y="2606"/>
                  <a:pt x="264" y="2703"/>
                  <a:pt x="126" y="2897"/>
                </a:cubicBezTo>
                <a:cubicBezTo>
                  <a:pt x="-11" y="3091"/>
                  <a:pt x="-23" y="3348"/>
                  <a:pt x="95" y="3554"/>
                </a:cubicBezTo>
                <a:lnTo>
                  <a:pt x="11580" y="23691"/>
                </a:lnTo>
                <a:cubicBezTo>
                  <a:pt x="11689" y="23883"/>
                  <a:pt x="11893" y="24001"/>
                  <a:pt x="12114" y="24000"/>
                </a:cubicBezTo>
                <a:cubicBezTo>
                  <a:pt x="12335" y="23999"/>
                  <a:pt x="12538" y="23880"/>
                  <a:pt x="12646" y="23687"/>
                </a:cubicBezTo>
                <a:lnTo>
                  <a:pt x="23906" y="3552"/>
                </a:lnTo>
                <a:cubicBezTo>
                  <a:pt x="24021" y="3345"/>
                  <a:pt x="24007" y="3091"/>
                  <a:pt x="23869" y="2898"/>
                </a:cubicBezTo>
                <a:cubicBezTo>
                  <a:pt x="23731" y="2706"/>
                  <a:pt x="23495" y="2610"/>
                  <a:pt x="23262" y="2652"/>
                </a:cubicBezTo>
                <a:close/>
              </a:path>
            </a:pathLst>
          </a:custGeom>
          <a:solidFill>
            <a:srgbClr val="646CFF"/>
          </a:solidFill>
          <a:ln>
            <a:noFill/>
          </a:ln>
          <a:effectLst/>
        </p:spPr>
        <p:txBody>
          <a:bodyPr rtlCol="0" anchor="ctr"/>
          <a:lstStyle/>
          <a:p/>
        </p:txBody>
      </p:sp>
      <p:sp>
        <p:nvSpPr>
          <p:cNvPr id="27" name="TextBox 26"/>
          <p:cNvSpPr txBox="1"/>
          <p:nvPr/>
        </p:nvSpPr>
        <p:spPr>
          <a:xfrm>
            <a:off x="3182112" y="2706624"/>
            <a:ext cx="1719072" cy="438912"/>
          </a:xfrm>
          <a:prstGeom prst="rect">
            <a:avLst/>
          </a:prstGeom>
          <a:noFill/>
        </p:spPr>
        <p:txBody>
          <a:bodyPr wrap="square" lIns="0" rIns="0" tIns="18288" bIns="18288" anchor="ctr">
            <a:noAutofit/>
          </a:bodyPr>
          <a:lstStyle/>
          <a:p>
            <a:pPr algn="l"/>
            <a:r>
              <a:rPr sz="900" b="1" i="0" lang="ko-KR" altLang="en-US">
                <a:solidFill>
                  <a:srgbClr val="1F3864"/>
                </a:solidFill>
                <a:latin typeface="LG스마트체 Regular"/>
                <a:ea typeface="LG스마트체 Regular"/>
                <a:cs typeface="LG스마트체 Regular"/>
              </a:rPr>
              <a:t>frontend/dist</a:t>
            </a:r>
          </a:p>
          <a:p>
            <a:pPr algn="l"/>
            <a:r>
              <a:rPr sz="900" b="0" i="0" lang="ko-KR" altLang="en-US">
                <a:solidFill>
                  <a:srgbClr val="262626"/>
                </a:solidFill>
                <a:latin typeface="LG스마트체 Regular"/>
                <a:ea typeface="LG스마트체 Regular"/>
                <a:cs typeface="LG스마트체 Regular"/>
              </a:rPr>
              <a:t>정적 화면 (앱이 함께 제공)</a:t>
            </a:r>
          </a:p>
        </p:txBody>
      </p:sp>
      <p:sp>
        <p:nvSpPr>
          <p:cNvPr id="28" name="process"/>
          <p:cNvSpPr/>
          <p:nvPr/>
        </p:nvSpPr>
        <p:spPr>
          <a:xfrm>
            <a:off x="5074920" y="2395728"/>
            <a:ext cx="2788920" cy="777240"/>
          </a:xfrm>
          <a:prstGeom prst="roundRect">
            <a:avLst>
              <a:gd name="adj" fmla="val 7058"/>
            </a:avLst>
          </a:prstGeom>
          <a:solidFill>
            <a:srgbClr val="EEF2F8"/>
          </a:solidFill>
          <a:ln w="15875">
            <a:solidFill>
              <a:srgbClr val="1F3864"/>
            </a:solidFill>
          </a:ln>
          <a:effectLst/>
        </p:spPr>
        <p:txBody>
          <a:bodyPr rtlCol="0" anchor="ctr"/>
          <a:lstStyle/>
          <a:p/>
        </p:txBody>
      </p:sp>
      <p:sp>
        <p:nvSpPr>
          <p:cNvPr id="29" name="icon-fastapi"/>
          <p:cNvSpPr/>
          <p:nvPr/>
        </p:nvSpPr>
        <p:spPr>
          <a:xfrm>
            <a:off x="5148072" y="2468880"/>
            <a:ext cx="219456" cy="219456"/>
          </a:xfrm>
          <a:custGeom>
            <a:avLst/>
            <a:gdLst/>
            <a:ahLst/>
            <a:cxnLst/>
            <a:rect l="0" t="0" r="r" b="b"/>
            <a:pathLst>
              <a:path w="24000" h="24000" stroke="0">
                <a:moveTo>
                  <a:pt x="12000" y="39"/>
                </a:moveTo>
                <a:cubicBezTo>
                  <a:pt x="5373" y="38"/>
                  <a:pt x="0" y="5393"/>
                  <a:pt x="0" y="11999"/>
                </a:cubicBezTo>
                <a:cubicBezTo>
                  <a:pt x="-1" y="18605"/>
                  <a:pt x="5372" y="23962"/>
                  <a:pt x="12000" y="23961"/>
                </a:cubicBezTo>
                <a:cubicBezTo>
                  <a:pt x="18628" y="23962"/>
                  <a:pt x="24001" y="18605"/>
                  <a:pt x="24000" y="11999"/>
                </a:cubicBezTo>
                <a:cubicBezTo>
                  <a:pt x="24000" y="5393"/>
                  <a:pt x="18627" y="38"/>
                  <a:pt x="12000" y="39"/>
                </a:cubicBezTo>
                <a:moveTo>
                  <a:pt x="11171" y="5454"/>
                </a:moveTo>
                <a:lnTo>
                  <a:pt x="18721" y="5454"/>
                </a:lnTo>
                <a:lnTo>
                  <a:pt x="11140" y="10782"/>
                </a:lnTo>
                <a:lnTo>
                  <a:pt x="16323" y="10782"/>
                </a:lnTo>
                <a:lnTo>
                  <a:pt x="5279" y="18544"/>
                </a:lnTo>
                <a:cubicBezTo>
                  <a:pt x="7243" y="14181"/>
                  <a:pt x="9207" y="9817"/>
                  <a:pt x="11171" y="5454"/>
                </a:cubicBezTo>
              </a:path>
            </a:pathLst>
          </a:custGeom>
          <a:solidFill>
            <a:srgbClr val="009688"/>
          </a:solidFill>
          <a:ln>
            <a:noFill/>
          </a:ln>
          <a:effectLst/>
        </p:spPr>
        <p:txBody>
          <a:bodyPr rtlCol="0" anchor="ctr"/>
          <a:lstStyle/>
          <a:p/>
        </p:txBody>
      </p:sp>
      <p:sp>
        <p:nvSpPr>
          <p:cNvPr id="30" name="TextBox 29"/>
          <p:cNvSpPr txBox="1"/>
          <p:nvPr/>
        </p:nvSpPr>
        <p:spPr>
          <a:xfrm>
            <a:off x="5440680" y="2432304"/>
            <a:ext cx="2377440" cy="713232"/>
          </a:xfrm>
          <a:prstGeom prst="rect">
            <a:avLst/>
          </a:prstGeom>
          <a:noFill/>
        </p:spPr>
        <p:txBody>
          <a:bodyPr wrap="square" lIns="0" rIns="0" tIns="18288" bIns="18288" anchor="ctr">
            <a:noAutofit/>
          </a:bodyPr>
          <a:lstStyle/>
          <a:p>
            <a:pPr algn="l"/>
            <a:r>
              <a:rPr sz="900" b="1" i="0" lang="ko-KR" altLang="en-US">
                <a:solidFill>
                  <a:srgbClr val="1F3864"/>
                </a:solidFill>
                <a:latin typeface="LG스마트체 Regular"/>
                <a:ea typeface="LG스마트체 Regular"/>
                <a:cs typeface="LG스마트체 Regular"/>
              </a:rPr>
              <a:t>프로세스 </a:t>
            </a:r>
            <a:r>
              <a:rPr sz="900" b="0" i="0" lang="ko-KR" altLang="en-US">
                <a:solidFill>
                  <a:srgbClr val="595959"/>
                </a:solidFill>
                <a:latin typeface="LG스마트체 Regular"/>
                <a:ea typeface="LG스마트체 Regular"/>
                <a:cs typeface="LG스마트체 Regular"/>
              </a:rPr>
              <a:t>(구현)</a:t>
            </a:r>
          </a:p>
          <a:p>
            <a:pPr algn="l"/>
            <a:r>
              <a:rPr sz="900" b="0" i="0" lang="ko-KR" altLang="en-US">
                <a:solidFill>
                  <a:srgbClr val="262626"/>
                </a:solidFill>
                <a:latin typeface="LG스마트체 Regular"/>
                <a:ea typeface="LG스마트체 Regular"/>
                <a:cs typeface="LG스마트체 Regular"/>
              </a:rPr>
              <a:t>uvicorn app.main:app_factory</a:t>
            </a:r>
          </a:p>
          <a:p>
            <a:pPr algn="l"/>
            <a:r>
              <a:rPr sz="900" b="0" i="0" lang="ko-KR" altLang="en-US">
                <a:solidFill>
                  <a:srgbClr val="262626"/>
                </a:solidFill>
                <a:latin typeface="LG스마트체 Regular"/>
                <a:ea typeface="LG스마트체 Regular"/>
                <a:cs typeface="LG스마트체 Regular"/>
              </a:rPr>
              <a:t>workers=1 · PORT 8000 (config)</a:t>
            </a:r>
          </a:p>
        </p:txBody>
      </p:sp>
      <p:sp>
        <p:nvSpPr>
          <p:cNvPr id="31" name="libreoffice"/>
          <p:cNvSpPr/>
          <p:nvPr/>
        </p:nvSpPr>
        <p:spPr>
          <a:xfrm>
            <a:off x="3108960" y="3273552"/>
            <a:ext cx="2331720" cy="640080"/>
          </a:xfrm>
          <a:prstGeom prst="roundRect">
            <a:avLst>
              <a:gd name="adj" fmla="val 8571"/>
            </a:avLst>
          </a:prstGeom>
          <a:solidFill>
            <a:srgbClr val="FFF5EB"/>
          </a:solidFill>
          <a:ln w="12700">
            <a:solidFill>
              <a:srgbClr val="C55A11"/>
            </a:solidFill>
            <a:prstDash val="dash"/>
          </a:ln>
          <a:effectLst/>
        </p:spPr>
        <p:txBody>
          <a:bodyPr rtlCol="0" anchor="ctr"/>
          <a:lstStyle/>
          <a:p/>
        </p:txBody>
      </p:sp>
      <p:sp>
        <p:nvSpPr>
          <p:cNvPr id="32" name="icon-ppt"/>
          <p:cNvSpPr/>
          <p:nvPr/>
        </p:nvSpPr>
        <p:spPr>
          <a:xfrm>
            <a:off x="3182112" y="3364992"/>
            <a:ext cx="201168" cy="201168"/>
          </a:xfrm>
          <a:custGeom>
            <a:avLst/>
            <a:gdLst/>
            <a:ahLst/>
            <a:cxnLst/>
            <a:rect l="0" t="0" r="r" b="b"/>
            <a:pathLst>
              <a:path w="24000" h="24000" fill="none">
                <a:moveTo>
                  <a:pt x="3000" y="4000"/>
                </a:moveTo>
                <a:lnTo>
                  <a:pt x="21000" y="4000"/>
                </a:lnTo>
              </a:path>
              <a:path w="24000" h="24000" fill="none">
                <a:moveTo>
                  <a:pt x="4000" y="4000"/>
                </a:moveTo>
                <a:lnTo>
                  <a:pt x="4000" y="14000"/>
                </a:lnTo>
                <a:cubicBezTo>
                  <a:pt x="4000" y="15105"/>
                  <a:pt x="4895" y="16000"/>
                  <a:pt x="6000" y="16000"/>
                </a:cubicBezTo>
                <a:lnTo>
                  <a:pt x="18000" y="16000"/>
                </a:lnTo>
                <a:cubicBezTo>
                  <a:pt x="19105" y="16000"/>
                  <a:pt x="20000" y="15105"/>
                  <a:pt x="20000" y="14000"/>
                </a:cubicBezTo>
                <a:lnTo>
                  <a:pt x="20000" y="4000"/>
                </a:lnTo>
              </a:path>
              <a:path w="24000" h="24000" fill="none">
                <a:moveTo>
                  <a:pt x="12000" y="16000"/>
                </a:moveTo>
                <a:lnTo>
                  <a:pt x="12000" y="20000"/>
                </a:lnTo>
              </a:path>
              <a:path w="24000" h="24000" fill="none">
                <a:moveTo>
                  <a:pt x="9000" y="20000"/>
                </a:moveTo>
                <a:lnTo>
                  <a:pt x="15000" y="20000"/>
                </a:lnTo>
              </a:path>
              <a:path w="24000" h="24000" fill="none">
                <a:moveTo>
                  <a:pt x="8000" y="12000"/>
                </a:moveTo>
                <a:lnTo>
                  <a:pt x="11000" y="9000"/>
                </a:lnTo>
                <a:lnTo>
                  <a:pt x="13000" y="11000"/>
                </a:lnTo>
                <a:lnTo>
                  <a:pt x="16000" y="8000"/>
                </a:lnTo>
              </a:path>
            </a:pathLst>
          </a:custGeom>
          <a:solidFill>
            <a:srgbClr val="595959"/>
          </a:solidFill>
          <a:ln w="12700">
            <a:solidFill>
              <a:srgbClr val="595959"/>
            </a:solidFill>
          </a:ln>
          <a:effectLst/>
        </p:spPr>
        <p:txBody>
          <a:bodyPr rtlCol="0" anchor="ctr"/>
          <a:lstStyle/>
          <a:p/>
        </p:txBody>
      </p:sp>
      <p:sp>
        <p:nvSpPr>
          <p:cNvPr id="33" name="TextBox 32"/>
          <p:cNvSpPr txBox="1"/>
          <p:nvPr/>
        </p:nvSpPr>
        <p:spPr>
          <a:xfrm>
            <a:off x="3456432" y="3310128"/>
            <a:ext cx="1938528" cy="566928"/>
          </a:xfrm>
          <a:prstGeom prst="rect">
            <a:avLst/>
          </a:prstGeom>
          <a:noFill/>
        </p:spPr>
        <p:txBody>
          <a:bodyPr wrap="square" lIns="0" rIns="0" tIns="18288" bIns="18288" anchor="ctr">
            <a:noAutofit/>
          </a:bodyPr>
          <a:lstStyle/>
          <a:p>
            <a:pPr algn="l"/>
            <a:r>
              <a:rPr sz="900" b="1" i="0" lang="ko-KR" altLang="en-US">
                <a:solidFill>
                  <a:srgbClr val="262626"/>
                </a:solidFill>
                <a:latin typeface="LG스마트체 Regular"/>
                <a:ea typeface="LG스마트체 Regular"/>
                <a:cs typeface="LG스마트체 Regular"/>
              </a:rPr>
              <a:t>LibreOffice</a:t>
            </a:r>
            <a:r>
              <a:rPr sz="900" b="0" i="0" lang="ko-KR" altLang="en-US">
                <a:solidFill>
                  <a:srgbClr val="262626"/>
                </a:solidFill>
                <a:latin typeface="LG스마트체 Regular"/>
                <a:ea typeface="LG스마트체 Regular"/>
                <a:cs typeface="LG스마트체 Regular"/>
              </a:rPr>
              <a:t> (미리보기)</a:t>
            </a:r>
          </a:p>
          <a:p>
            <a:pPr algn="l"/>
            <a:r>
              <a:rPr sz="900" b="0" i="0" lang="ko-KR" altLang="en-US">
                <a:solidFill>
                  <a:srgbClr val="C55A11"/>
                </a:solidFill>
                <a:latin typeface="LG스마트체 Regular"/>
                <a:ea typeface="LG스마트체 Regular"/>
                <a:cs typeface="LG스마트체 Regular"/>
              </a:rPr>
              <a:t>이미지에 설치 · 한글 글꼴 포함</a:t>
            </a:r>
          </a:p>
        </p:txBody>
      </p:sp>
      <p:sp>
        <p:nvSpPr>
          <p:cNvPr id="34" name="alembic"/>
          <p:cNvSpPr/>
          <p:nvPr/>
        </p:nvSpPr>
        <p:spPr>
          <a:xfrm>
            <a:off x="5577840" y="3273552"/>
            <a:ext cx="2286000" cy="640080"/>
          </a:xfrm>
          <a:prstGeom prst="roundRect">
            <a:avLst>
              <a:gd name="adj" fmla="val 8571"/>
            </a:avLst>
          </a:prstGeom>
          <a:solidFill>
            <a:srgbClr val="EEF2F8"/>
          </a:solidFill>
          <a:ln w="15875">
            <a:solidFill>
              <a:srgbClr val="1F3864"/>
            </a:solidFill>
          </a:ln>
          <a:effectLst/>
        </p:spPr>
        <p:txBody>
          <a:bodyPr rtlCol="0" anchor="ctr"/>
          <a:lstStyle/>
          <a:p/>
        </p:txBody>
      </p:sp>
      <p:sp>
        <p:nvSpPr>
          <p:cNvPr id="35" name="icon-database"/>
          <p:cNvSpPr/>
          <p:nvPr/>
        </p:nvSpPr>
        <p:spPr>
          <a:xfrm>
            <a:off x="5650992" y="3364992"/>
            <a:ext cx="201168" cy="201168"/>
          </a:xfrm>
          <a:custGeom>
            <a:avLst/>
            <a:gdLst/>
            <a:ahLst/>
            <a:cxnLst/>
            <a:rect l="0" t="0" r="r" b="b"/>
            <a:pathLst>
              <a:path w="24000" h="24000" fill="none">
                <a:moveTo>
                  <a:pt x="12000" y="6000"/>
                </a:moveTo>
                <a:moveTo>
                  <a:pt x="4000" y="6000"/>
                </a:moveTo>
                <a:cubicBezTo>
                  <a:pt x="4000" y="7657"/>
                  <a:pt x="7582" y="9000"/>
                  <a:pt x="12000" y="9000"/>
                </a:cubicBezTo>
                <a:cubicBezTo>
                  <a:pt x="16418" y="9000"/>
                  <a:pt x="20000" y="7657"/>
                  <a:pt x="20000" y="6000"/>
                </a:cubicBezTo>
                <a:cubicBezTo>
                  <a:pt x="20000" y="4343"/>
                  <a:pt x="16418" y="3000"/>
                  <a:pt x="12000" y="3000"/>
                </a:cubicBezTo>
                <a:cubicBezTo>
                  <a:pt x="7582" y="3000"/>
                  <a:pt x="4000" y="4343"/>
                  <a:pt x="4000" y="6000"/>
                </a:cubicBezTo>
              </a:path>
              <a:path w="24000" h="24000" fill="none">
                <a:moveTo>
                  <a:pt x="4000" y="6000"/>
                </a:moveTo>
                <a:lnTo>
                  <a:pt x="4000" y="12000"/>
                </a:lnTo>
                <a:cubicBezTo>
                  <a:pt x="4000" y="13657"/>
                  <a:pt x="7582" y="15000"/>
                  <a:pt x="12000" y="15000"/>
                </a:cubicBezTo>
                <a:cubicBezTo>
                  <a:pt x="16418" y="15000"/>
                  <a:pt x="20000" y="13657"/>
                  <a:pt x="20000" y="12000"/>
                </a:cubicBezTo>
                <a:lnTo>
                  <a:pt x="20000" y="6000"/>
                </a:lnTo>
              </a:path>
              <a:path w="24000" h="24000" fill="none">
                <a:moveTo>
                  <a:pt x="4000" y="12000"/>
                </a:moveTo>
                <a:lnTo>
                  <a:pt x="4000" y="18000"/>
                </a:lnTo>
                <a:cubicBezTo>
                  <a:pt x="4000" y="19657"/>
                  <a:pt x="7582" y="21000"/>
                  <a:pt x="12000" y="21000"/>
                </a:cubicBezTo>
                <a:cubicBezTo>
                  <a:pt x="16418" y="21000"/>
                  <a:pt x="20000" y="19657"/>
                  <a:pt x="20000" y="18000"/>
                </a:cubicBezTo>
                <a:lnTo>
                  <a:pt x="20000" y="12000"/>
                </a:lnTo>
              </a:path>
            </a:pathLst>
          </a:custGeom>
          <a:solidFill>
            <a:srgbClr val="1F3864"/>
          </a:solidFill>
          <a:ln w="12700">
            <a:solidFill>
              <a:srgbClr val="1F3864"/>
            </a:solidFill>
          </a:ln>
          <a:effectLst/>
        </p:spPr>
        <p:txBody>
          <a:bodyPr rtlCol="0" anchor="ctr"/>
          <a:lstStyle/>
          <a:p/>
        </p:txBody>
      </p:sp>
      <p:sp>
        <p:nvSpPr>
          <p:cNvPr id="36" name="TextBox 35"/>
          <p:cNvSpPr txBox="1"/>
          <p:nvPr/>
        </p:nvSpPr>
        <p:spPr>
          <a:xfrm>
            <a:off x="5925312" y="3310128"/>
            <a:ext cx="1901952" cy="566928"/>
          </a:xfrm>
          <a:prstGeom prst="rect">
            <a:avLst/>
          </a:prstGeom>
          <a:noFill/>
        </p:spPr>
        <p:txBody>
          <a:bodyPr wrap="square" lIns="0" rIns="0" tIns="18288" bIns="18288" anchor="ctr">
            <a:noAutofit/>
          </a:bodyPr>
          <a:lstStyle/>
          <a:p>
            <a:pPr algn="l"/>
            <a:r>
              <a:rPr sz="900" b="1" i="0" lang="ko-KR" altLang="en-US">
                <a:solidFill>
                  <a:srgbClr val="1F3864"/>
                </a:solidFill>
                <a:latin typeface="LG스마트체 Regular"/>
                <a:ea typeface="LG스마트체 Regular"/>
                <a:cs typeface="LG스마트체 Regular"/>
              </a:rPr>
              <a:t>Alembic</a:t>
            </a:r>
            <a:r>
              <a:rPr sz="900" b="0" i="0" lang="ko-KR" altLang="en-US">
                <a:solidFill>
                  <a:srgbClr val="262626"/>
                </a:solidFill>
                <a:latin typeface="LG스마트체 Regular"/>
                <a:ea typeface="LG스마트체 Regular"/>
                <a:cs typeface="LG스마트체 Regular"/>
              </a:rPr>
              <a:t> 자동 마이그레이션</a:t>
            </a:r>
          </a:p>
          <a:p>
            <a:pPr algn="l"/>
            <a:r>
              <a:rPr sz="900" b="0" i="0" lang="ko-KR" altLang="en-US">
                <a:solidFill>
                  <a:srgbClr val="595959"/>
                </a:solidFill>
                <a:latin typeface="LG스마트체 Regular"/>
                <a:ea typeface="LG스마트체 Regular"/>
                <a:cs typeface="LG스마트체 Regular"/>
              </a:rPr>
              <a:t>(앱 시작 시 실행)</a:t>
            </a:r>
          </a:p>
        </p:txBody>
      </p:sp>
      <p:cxnSp>
        <p:nvCxnSpPr>
          <p:cNvPr id="37" name="vol-data"/>
          <p:cNvCxnSpPr/>
          <p:nvPr/>
        </p:nvCxnSpPr>
        <p:spPr>
          <a:xfrm>
            <a:off x="4297680" y="4023360"/>
            <a:ext cx="0" cy="502920"/>
          </a:xfrm>
          <a:prstGeom prst="line">
            <a:avLst/>
          </a:prstGeom>
          <a:ln w="19050">
            <a:solidFill>
              <a:srgbClr val="1F3864"/>
            </a:solidFill>
            <a:tailEnd type="triangle" w="med" len="med"/>
          </a:ln>
        </p:spPr>
      </p:cxnSp>
      <p:sp>
        <p:nvSpPr>
          <p:cNvPr id="38" name="badge-2"/>
          <p:cNvSpPr/>
          <p:nvPr/>
        </p:nvSpPr>
        <p:spPr>
          <a:xfrm>
            <a:off x="4183380" y="4201668"/>
            <a:ext cx="228600" cy="228600"/>
          </a:xfrm>
          <a:prstGeom prst="ellipse">
            <a:avLst/>
          </a:prstGeom>
          <a:solidFill>
            <a:srgbClr val="1F3864"/>
          </a:solidFill>
          <a:ln w="9525">
            <a:solidFill>
              <a:srgbClr val="FFFFFF"/>
            </a:solidFill>
          </a:ln>
          <a:effectLst/>
        </p:spPr>
        <p:txBody>
          <a:bodyPr rtlCol="0" anchor="ctr" wrap="square" lIns="0" rIns="0" tIns="0" bIns="0">
            <a:noAutofit/>
          </a:bodyPr>
          <a:lstStyle/>
          <a:p>
            <a:pPr algn="ctr"/>
            <a:r>
              <a:rPr sz="900" b="1" i="0" lang="ko-KR" altLang="en-US">
                <a:solidFill>
                  <a:srgbClr val="FFFFFF"/>
                </a:solidFill>
                <a:latin typeface="LG스마트체 Regular"/>
                <a:ea typeface="LG스마트체 Regular"/>
                <a:cs typeface="LG스마트체 Regular"/>
              </a:rPr>
              <a:t>2</a:t>
            </a:r>
          </a:p>
        </p:txBody>
      </p:sp>
      <p:sp>
        <p:nvSpPr>
          <p:cNvPr id="39" name="TextBox 38"/>
          <p:cNvSpPr txBox="1"/>
          <p:nvPr/>
        </p:nvSpPr>
        <p:spPr>
          <a:xfrm>
            <a:off x="4462272" y="4206240"/>
            <a:ext cx="914400" cy="201168"/>
          </a:xfrm>
          <a:prstGeom prst="rect">
            <a:avLst/>
          </a:prstGeom>
          <a:noFill/>
        </p:spPr>
        <p:txBody>
          <a:bodyPr wrap="square" lIns="0" rIns="0" tIns="18288" bIns="18288" anchor="t">
            <a:noAutofit/>
          </a:bodyPr>
          <a:lstStyle/>
          <a:p>
            <a:pPr algn="l"/>
            <a:r>
              <a:rPr sz="900" b="0" i="0" lang="ko-KR" altLang="en-US">
                <a:solidFill>
                  <a:srgbClr val="1F3864"/>
                </a:solidFill>
                <a:latin typeface="LG스마트체 Regular"/>
                <a:ea typeface="LG스마트체 Regular"/>
                <a:cs typeface="LG스마트체 Regular"/>
              </a:rPr>
              <a:t>볼륨 /data</a:t>
            </a:r>
          </a:p>
        </p:txBody>
      </p:sp>
      <p:sp>
        <p:nvSpPr>
          <p:cNvPr id="40" name="vol-data-ssd"/>
          <p:cNvSpPr/>
          <p:nvPr/>
        </p:nvSpPr>
        <p:spPr>
          <a:xfrm>
            <a:off x="2834640" y="4526280"/>
            <a:ext cx="2926080" cy="1417320"/>
          </a:xfrm>
          <a:prstGeom prst="roundRect">
            <a:avLst>
              <a:gd name="adj" fmla="val 4516"/>
            </a:avLst>
          </a:prstGeom>
          <a:solidFill>
            <a:srgbClr val="EEF2F8"/>
          </a:solidFill>
          <a:ln w="15875">
            <a:solidFill>
              <a:srgbClr val="1F3864"/>
            </a:solidFill>
          </a:ln>
          <a:effectLst/>
        </p:spPr>
        <p:txBody>
          <a:bodyPr rtlCol="0" anchor="ctr"/>
          <a:lstStyle/>
          <a:p/>
        </p:txBody>
      </p:sp>
      <p:sp>
        <p:nvSpPr>
          <p:cNvPr id="41" name="icon-ssd"/>
          <p:cNvSpPr/>
          <p:nvPr/>
        </p:nvSpPr>
        <p:spPr>
          <a:xfrm>
            <a:off x="2907792" y="4599432"/>
            <a:ext cx="219456" cy="219456"/>
          </a:xfrm>
          <a:custGeom>
            <a:avLst/>
            <a:gdLst/>
            <a:ahLst/>
            <a:cxnLst/>
            <a:rect l="0" t="0" r="r" b="b"/>
            <a:pathLst>
              <a:path w="24000" h="24000" fill="none">
                <a:moveTo>
                  <a:pt x="7000" y="21000"/>
                </a:moveTo>
                <a:lnTo>
                  <a:pt x="17000" y="21000"/>
                </a:lnTo>
                <a:cubicBezTo>
                  <a:pt x="18105" y="21000"/>
                  <a:pt x="19000" y="20105"/>
                  <a:pt x="19000" y="19000"/>
                </a:cubicBezTo>
                <a:lnTo>
                  <a:pt x="19000" y="5000"/>
                </a:lnTo>
                <a:cubicBezTo>
                  <a:pt x="19000" y="3895"/>
                  <a:pt x="18105" y="3000"/>
                  <a:pt x="17000" y="3000"/>
                </a:cubicBezTo>
                <a:lnTo>
                  <a:pt x="10828" y="3000"/>
                </a:lnTo>
                <a:cubicBezTo>
                  <a:pt x="10298" y="3000"/>
                  <a:pt x="9789" y="3211"/>
                  <a:pt x="9414" y="3586"/>
                </a:cubicBezTo>
                <a:lnTo>
                  <a:pt x="5586" y="7414"/>
                </a:lnTo>
                <a:cubicBezTo>
                  <a:pt x="5211" y="7789"/>
                  <a:pt x="5000" y="8298"/>
                  <a:pt x="5000" y="8828"/>
                </a:cubicBezTo>
                <a:lnTo>
                  <a:pt x="5000" y="19000"/>
                </a:lnTo>
                <a:cubicBezTo>
                  <a:pt x="5000" y="20105"/>
                  <a:pt x="5895" y="21000"/>
                  <a:pt x="7000" y="21000"/>
                </a:cubicBezTo>
                <a:close/>
              </a:path>
              <a:path w="24000" h="24000" fill="none">
                <a:moveTo>
                  <a:pt x="13000" y="6000"/>
                </a:moveTo>
                <a:lnTo>
                  <a:pt x="13000" y="8000"/>
                </a:lnTo>
              </a:path>
              <a:path w="24000" h="24000" fill="none">
                <a:moveTo>
                  <a:pt x="16000" y="6000"/>
                </a:moveTo>
                <a:lnTo>
                  <a:pt x="16000" y="8000"/>
                </a:lnTo>
              </a:path>
              <a:path w="24000" h="24000" fill="none">
                <a:moveTo>
                  <a:pt x="10000" y="7000"/>
                </a:moveTo>
                <a:lnTo>
                  <a:pt x="10000" y="8000"/>
                </a:lnTo>
              </a:path>
            </a:pathLst>
          </a:custGeom>
          <a:solidFill>
            <a:srgbClr val="1F3864"/>
          </a:solidFill>
          <a:ln w="12700">
            <a:solidFill>
              <a:srgbClr val="1F3864"/>
            </a:solidFill>
          </a:ln>
          <a:effectLst/>
        </p:spPr>
        <p:txBody>
          <a:bodyPr rtlCol="0" anchor="ctr"/>
          <a:lstStyle/>
          <a:p/>
        </p:txBody>
      </p:sp>
      <p:sp>
        <p:nvSpPr>
          <p:cNvPr id="42" name="TextBox 41"/>
          <p:cNvSpPr txBox="1"/>
          <p:nvPr/>
        </p:nvSpPr>
        <p:spPr>
          <a:xfrm>
            <a:off x="3182112" y="4590288"/>
            <a:ext cx="2542032" cy="237744"/>
          </a:xfrm>
          <a:prstGeom prst="rect">
            <a:avLst/>
          </a:prstGeom>
          <a:noFill/>
        </p:spPr>
        <p:txBody>
          <a:bodyPr wrap="square" lIns="0" rIns="0" tIns="18288" bIns="18288" anchor="t">
            <a:noAutofit/>
          </a:bodyPr>
          <a:lstStyle/>
          <a:p>
            <a:pPr algn="l"/>
            <a:r>
              <a:rPr sz="950" b="1" i="0" lang="ko-KR" altLang="en-US">
                <a:solidFill>
                  <a:srgbClr val="1F3864"/>
                </a:solidFill>
                <a:latin typeface="LG스마트체 Regular"/>
                <a:ea typeface="LG스마트체 Regular"/>
                <a:cs typeface="LG스마트체 Regular"/>
              </a:rPr>
              <a:t>/data → VM 로컬 SSD</a:t>
            </a:r>
            <a:r>
              <a:rPr sz="950" b="0" i="0" lang="ko-KR" altLang="en-US">
                <a:solidFill>
                  <a:srgbClr val="595959"/>
                </a:solidFill>
                <a:latin typeface="LG스마트체 Regular"/>
                <a:ea typeface="LG스마트체 Regular"/>
                <a:cs typeface="LG스마트체 Regular"/>
              </a:rPr>
              <a:t> (DATA_DIR)</a:t>
            </a:r>
          </a:p>
        </p:txBody>
      </p:sp>
      <p:sp>
        <p:nvSpPr>
          <p:cNvPr id="43" name="TextBox 42"/>
          <p:cNvSpPr txBox="1"/>
          <p:nvPr/>
        </p:nvSpPr>
        <p:spPr>
          <a:xfrm>
            <a:off x="2926080" y="4864608"/>
            <a:ext cx="2788920" cy="731520"/>
          </a:xfrm>
          <a:prstGeom prst="rect">
            <a:avLst/>
          </a:prstGeom>
          <a:noFill/>
        </p:spPr>
        <p:txBody>
          <a:bodyPr wrap="square" lIns="18288" rIns="18288" tIns="18288" bIns="18288" anchor="t">
            <a:noAutofit/>
          </a:bodyPr>
          <a:lstStyle/>
          <a:p>
            <a:pPr algn="l">
              <a:spcBef>
                <a:spcPts val="0"/>
              </a:spcBef>
            </a:pPr>
            <a:r>
              <a:rPr sz="900" b="0" i="0" lang="ko-KR" altLang="en-US">
                <a:solidFill>
                  <a:srgbClr val="262626"/>
                </a:solidFill>
                <a:latin typeface="LG스마트체 Regular"/>
                <a:ea typeface="LG스마트체 Regular"/>
                <a:cs typeface="LG스마트체 Regular"/>
              </a:rPr>
              <a:t>db/worklog.sqlite3 (+WAL·SHM)</a:t>
            </a:r>
          </a:p>
          <a:p>
            <a:pPr algn="l">
              <a:spcBef>
                <a:spcPts val="200"/>
              </a:spcBef>
            </a:pPr>
            <a:r>
              <a:rPr sz="900" b="0" i="0" lang="ko-KR" altLang="en-US">
                <a:solidFill>
                  <a:srgbClr val="262626"/>
                </a:solidFill>
                <a:latin typeface="LG스마트체 Regular"/>
                <a:ea typeface="LG스마트체 Regular"/>
                <a:cs typeface="LG스마트체 Regular"/>
              </a:rPr>
              <a:t>attachments/ · reports/ · json/</a:t>
            </a:r>
          </a:p>
          <a:p>
            <a:pPr algn="l">
              <a:spcBef>
                <a:spcPts val="200"/>
              </a:spcBef>
            </a:pPr>
            <a:r>
              <a:rPr sz="900" b="0" i="0" lang="ko-KR" altLang="en-US">
                <a:solidFill>
                  <a:srgbClr val="262626"/>
                </a:solidFill>
                <a:latin typeface="LG스마트체 Regular"/>
                <a:ea typeface="LG스마트체 Regular"/>
                <a:cs typeface="LG스마트체 Regular"/>
              </a:rPr>
              <a:t>exports/ · temp/ · logs/ · voe/posts/</a:t>
            </a:r>
          </a:p>
        </p:txBody>
      </p:sp>
      <p:sp>
        <p:nvSpPr>
          <p:cNvPr id="44" name="TextBox 43"/>
          <p:cNvSpPr txBox="1"/>
          <p:nvPr/>
        </p:nvSpPr>
        <p:spPr>
          <a:xfrm>
            <a:off x="2926080" y="5641848"/>
            <a:ext cx="2788920" cy="219456"/>
          </a:xfrm>
          <a:prstGeom prst="rect">
            <a:avLst/>
          </a:prstGeom>
          <a:noFill/>
        </p:spPr>
        <p:txBody>
          <a:bodyPr wrap="square" lIns="18288" rIns="18288" tIns="18288" bIns="18288" anchor="t">
            <a:noAutofit/>
          </a:bodyPr>
          <a:lstStyle/>
          <a:p>
            <a:pPr algn="l"/>
            <a:r>
              <a:rPr sz="900" b="1" i="0" lang="ko-KR" altLang="en-US">
                <a:solidFill>
                  <a:srgbClr val="1F3864"/>
                </a:solidFill>
                <a:latin typeface="LG스마트체 Regular"/>
                <a:ea typeface="LG스마트체 Regular"/>
                <a:cs typeface="LG스마트체 Regular"/>
              </a:rPr>
              <a:t>※ 네트워크 공유 금지</a:t>
            </a:r>
            <a:r>
              <a:rPr sz="900" b="0" i="0" lang="ko-KR" altLang="en-US">
                <a:solidFill>
                  <a:srgbClr val="595959"/>
                </a:solidFill>
                <a:latin typeface="LG스마트체 Regular"/>
                <a:ea typeface="LG스마트체 Regular"/>
                <a:cs typeface="LG스마트체 Regular"/>
              </a:rPr>
              <a:t> (docs/09 §3)</a:t>
            </a:r>
          </a:p>
        </p:txBody>
      </p:sp>
      <p:cxnSp>
        <p:nvCxnSpPr>
          <p:cNvPr id="45" name="vol-config"/>
          <p:cNvCxnSpPr/>
          <p:nvPr/>
        </p:nvCxnSpPr>
        <p:spPr>
          <a:xfrm>
            <a:off x="7132320" y="4023360"/>
            <a:ext cx="0" cy="502920"/>
          </a:xfrm>
          <a:prstGeom prst="line">
            <a:avLst/>
          </a:prstGeom>
          <a:ln w="19050">
            <a:solidFill>
              <a:srgbClr val="C55A11"/>
            </a:solidFill>
            <a:prstDash val="dash"/>
            <a:tailEnd type="triangle" w="med" len="med"/>
          </a:ln>
        </p:spPr>
      </p:cxnSp>
      <p:sp>
        <p:nvSpPr>
          <p:cNvPr id="46" name="TextBox 45"/>
          <p:cNvSpPr txBox="1"/>
          <p:nvPr/>
        </p:nvSpPr>
        <p:spPr>
          <a:xfrm>
            <a:off x="7278624" y="4206240"/>
            <a:ext cx="868680" cy="201168"/>
          </a:xfrm>
          <a:prstGeom prst="rect">
            <a:avLst/>
          </a:prstGeom>
          <a:noFill/>
        </p:spPr>
        <p:txBody>
          <a:bodyPr wrap="square" lIns="0" rIns="0" tIns="18288" bIns="18288" anchor="t">
            <a:noAutofit/>
          </a:bodyPr>
          <a:lstStyle/>
          <a:p>
            <a:pPr algn="l"/>
            <a:r>
              <a:rPr sz="900" b="0" i="0" lang="ko-KR" altLang="en-US">
                <a:solidFill>
                  <a:srgbClr val="C55A11"/>
                </a:solidFill>
                <a:latin typeface="LG스마트체 Regular"/>
                <a:ea typeface="LG스마트체 Regular"/>
                <a:cs typeface="LG스마트체 Regular"/>
              </a:rPr>
              <a:t>읽기 전용</a:t>
            </a:r>
          </a:p>
        </p:txBody>
      </p:sp>
      <p:sp>
        <p:nvSpPr>
          <p:cNvPr id="47" name="vol-config-box"/>
          <p:cNvSpPr/>
          <p:nvPr/>
        </p:nvSpPr>
        <p:spPr>
          <a:xfrm>
            <a:off x="6172200" y="4526280"/>
            <a:ext cx="1965960" cy="658368"/>
          </a:xfrm>
          <a:prstGeom prst="roundRect">
            <a:avLst>
              <a:gd name="adj" fmla="val 8333"/>
            </a:avLst>
          </a:prstGeom>
          <a:solidFill>
            <a:srgbClr val="FFF5EB"/>
          </a:solidFill>
          <a:ln w="12700">
            <a:solidFill>
              <a:srgbClr val="C55A11"/>
            </a:solidFill>
            <a:prstDash val="dash"/>
          </a:ln>
          <a:effectLst/>
        </p:spPr>
        <p:txBody>
          <a:bodyPr rtlCol="0" anchor="ctr"/>
          <a:lstStyle/>
          <a:p/>
        </p:txBody>
      </p:sp>
      <p:sp>
        <p:nvSpPr>
          <p:cNvPr id="48" name="icon-key"/>
          <p:cNvSpPr/>
          <p:nvPr/>
        </p:nvSpPr>
        <p:spPr>
          <a:xfrm>
            <a:off x="6245352" y="4599432"/>
            <a:ext cx="201168" cy="201168"/>
          </a:xfrm>
          <a:custGeom>
            <a:avLst/>
            <a:gdLst/>
            <a:ahLst/>
            <a:cxnLst/>
            <a:rect l="0" t="0" r="r" b="b"/>
            <a:pathLst>
              <a:path w="24000" h="24000" stroke="0">
                <a:moveTo>
                  <a:pt x="21000" y="10000"/>
                </a:moveTo>
                <a:lnTo>
                  <a:pt x="12650" y="10000"/>
                </a:lnTo>
                <a:cubicBezTo>
                  <a:pt x="11806" y="7603"/>
                  <a:pt x="9541" y="6000"/>
                  <a:pt x="7000" y="6000"/>
                </a:cubicBezTo>
                <a:cubicBezTo>
                  <a:pt x="3690" y="6000"/>
                  <a:pt x="1000" y="8690"/>
                  <a:pt x="1000" y="12000"/>
                </a:cubicBezTo>
                <a:cubicBezTo>
                  <a:pt x="1000" y="15310"/>
                  <a:pt x="3690" y="18000"/>
                  <a:pt x="7000" y="18000"/>
                </a:cubicBezTo>
                <a:cubicBezTo>
                  <a:pt x="9541" y="18000"/>
                  <a:pt x="11806" y="16397"/>
                  <a:pt x="12650" y="14000"/>
                </a:cubicBezTo>
                <a:lnTo>
                  <a:pt x="13000" y="14000"/>
                </a:lnTo>
                <a:lnTo>
                  <a:pt x="15000" y="16000"/>
                </a:lnTo>
                <a:lnTo>
                  <a:pt x="17000" y="14000"/>
                </a:lnTo>
                <a:lnTo>
                  <a:pt x="19000" y="16000"/>
                </a:lnTo>
                <a:lnTo>
                  <a:pt x="23000" y="11960"/>
                </a:lnTo>
                <a:lnTo>
                  <a:pt x="21000" y="10000"/>
                </a:lnTo>
                <a:close/>
                <a:moveTo>
                  <a:pt x="7000" y="15000"/>
                </a:moveTo>
                <a:cubicBezTo>
                  <a:pt x="5350" y="15000"/>
                  <a:pt x="4000" y="13650"/>
                  <a:pt x="4000" y="12000"/>
                </a:cubicBezTo>
                <a:cubicBezTo>
                  <a:pt x="4000" y="10350"/>
                  <a:pt x="5350" y="9000"/>
                  <a:pt x="7000" y="9000"/>
                </a:cubicBezTo>
                <a:cubicBezTo>
                  <a:pt x="8650" y="9000"/>
                  <a:pt x="10000" y="10350"/>
                  <a:pt x="10000" y="12000"/>
                </a:cubicBezTo>
                <a:cubicBezTo>
                  <a:pt x="10000" y="13650"/>
                  <a:pt x="8650" y="15000"/>
                  <a:pt x="7000" y="15000"/>
                </a:cubicBezTo>
                <a:close/>
              </a:path>
            </a:pathLst>
          </a:custGeom>
          <a:solidFill>
            <a:srgbClr val="595959"/>
          </a:solidFill>
          <a:ln>
            <a:noFill/>
          </a:ln>
          <a:effectLst/>
        </p:spPr>
        <p:txBody>
          <a:bodyPr rtlCol="0" anchor="ctr"/>
          <a:lstStyle/>
          <a:p/>
        </p:txBody>
      </p:sp>
      <p:sp>
        <p:nvSpPr>
          <p:cNvPr id="49" name="TextBox 48"/>
          <p:cNvSpPr txBox="1"/>
          <p:nvPr/>
        </p:nvSpPr>
        <p:spPr>
          <a:xfrm>
            <a:off x="6492240" y="4562856"/>
            <a:ext cx="1618488" cy="603504"/>
          </a:xfrm>
          <a:prstGeom prst="rect">
            <a:avLst/>
          </a:prstGeom>
          <a:noFill/>
        </p:spPr>
        <p:txBody>
          <a:bodyPr wrap="square" lIns="0" rIns="0" tIns="18288" bIns="18288" anchor="t">
            <a:noAutofit/>
          </a:bodyPr>
          <a:lstStyle/>
          <a:p>
            <a:pPr algn="l"/>
            <a:r>
              <a:rPr sz="900" b="1" i="0" lang="ko-KR" altLang="en-US">
                <a:solidFill>
                  <a:srgbClr val="262626"/>
                </a:solidFill>
                <a:latin typeface="LG스마트체 Regular"/>
                <a:ea typeface="LG스마트체 Regular"/>
                <a:cs typeface="LG스마트체 Regular"/>
              </a:rPr>
              <a:t>/config/config.json</a:t>
            </a:r>
          </a:p>
          <a:p>
            <a:pPr algn="l"/>
            <a:r>
              <a:rPr sz="850" b="0" i="0" lang="ko-KR" altLang="en-US">
                <a:solidFill>
                  <a:srgbClr val="262626"/>
                </a:solidFill>
                <a:latin typeface="LG스마트체 Regular"/>
                <a:ea typeface="LG스마트체 Regular"/>
                <a:cs typeface="LG스마트체 Regular"/>
              </a:rPr>
              <a:t>비밀 값: AI_API_URL · AI_API_KEY</a:t>
            </a:r>
          </a:p>
        </p:txBody>
      </p:sp>
      <p:sp>
        <p:nvSpPr>
          <p:cNvPr id="50" name="vol-backup-box"/>
          <p:cNvSpPr/>
          <p:nvPr/>
        </p:nvSpPr>
        <p:spPr>
          <a:xfrm>
            <a:off x="6172200" y="5303520"/>
            <a:ext cx="1965960" cy="658368"/>
          </a:xfrm>
          <a:prstGeom prst="roundRect">
            <a:avLst>
              <a:gd name="adj" fmla="val 8333"/>
            </a:avLst>
          </a:prstGeom>
          <a:solidFill>
            <a:srgbClr val="FFF5EB"/>
          </a:solidFill>
          <a:ln w="12700">
            <a:solidFill>
              <a:srgbClr val="C55A11"/>
            </a:solidFill>
            <a:prstDash val="dash"/>
          </a:ln>
          <a:effectLst/>
        </p:spPr>
        <p:txBody>
          <a:bodyPr rtlCol="0" anchor="ctr"/>
          <a:lstStyle/>
          <a:p/>
        </p:txBody>
      </p:sp>
      <p:sp>
        <p:nvSpPr>
          <p:cNvPr id="51" name="icon-nas"/>
          <p:cNvSpPr/>
          <p:nvPr/>
        </p:nvSpPr>
        <p:spPr>
          <a:xfrm>
            <a:off x="6245352" y="5376672"/>
            <a:ext cx="201168" cy="201168"/>
          </a:xfrm>
          <a:custGeom>
            <a:avLst/>
            <a:gdLst/>
            <a:ahLst/>
            <a:cxnLst/>
            <a:rect l="0" t="0" r="r" b="b"/>
            <a:pathLst>
              <a:path w="24000" h="24000" stroke="0">
                <a:moveTo>
                  <a:pt x="2000" y="20000"/>
                </a:moveTo>
                <a:lnTo>
                  <a:pt x="22000" y="20000"/>
                </a:lnTo>
                <a:lnTo>
                  <a:pt x="22000" y="16000"/>
                </a:lnTo>
                <a:lnTo>
                  <a:pt x="2000" y="16000"/>
                </a:lnTo>
                <a:lnTo>
                  <a:pt x="2000" y="20000"/>
                </a:lnTo>
                <a:close/>
                <a:moveTo>
                  <a:pt x="4000" y="17000"/>
                </a:moveTo>
                <a:lnTo>
                  <a:pt x="6000" y="17000"/>
                </a:lnTo>
                <a:lnTo>
                  <a:pt x="6000" y="19000"/>
                </a:lnTo>
                <a:lnTo>
                  <a:pt x="4000" y="19000"/>
                </a:lnTo>
                <a:lnTo>
                  <a:pt x="4000" y="17000"/>
                </a:lnTo>
                <a:close/>
                <a:moveTo>
                  <a:pt x="2000" y="4000"/>
                </a:moveTo>
                <a:lnTo>
                  <a:pt x="2000" y="8000"/>
                </a:lnTo>
                <a:lnTo>
                  <a:pt x="22000" y="8000"/>
                </a:lnTo>
                <a:lnTo>
                  <a:pt x="22000" y="4000"/>
                </a:lnTo>
                <a:lnTo>
                  <a:pt x="2000" y="4000"/>
                </a:lnTo>
                <a:close/>
                <a:moveTo>
                  <a:pt x="6000" y="7000"/>
                </a:moveTo>
                <a:lnTo>
                  <a:pt x="4000" y="7000"/>
                </a:lnTo>
                <a:lnTo>
                  <a:pt x="4000" y="5000"/>
                </a:lnTo>
                <a:lnTo>
                  <a:pt x="6000" y="5000"/>
                </a:lnTo>
                <a:lnTo>
                  <a:pt x="6000" y="7000"/>
                </a:lnTo>
                <a:close/>
                <a:moveTo>
                  <a:pt x="2000" y="14000"/>
                </a:moveTo>
                <a:lnTo>
                  <a:pt x="22000" y="14000"/>
                </a:lnTo>
                <a:lnTo>
                  <a:pt x="22000" y="10000"/>
                </a:lnTo>
                <a:lnTo>
                  <a:pt x="2000" y="10000"/>
                </a:lnTo>
                <a:lnTo>
                  <a:pt x="2000" y="14000"/>
                </a:lnTo>
                <a:close/>
                <a:moveTo>
                  <a:pt x="4000" y="11000"/>
                </a:moveTo>
                <a:lnTo>
                  <a:pt x="6000" y="11000"/>
                </a:lnTo>
                <a:lnTo>
                  <a:pt x="6000" y="13000"/>
                </a:lnTo>
                <a:lnTo>
                  <a:pt x="4000" y="13000"/>
                </a:lnTo>
                <a:lnTo>
                  <a:pt x="4000" y="11000"/>
                </a:lnTo>
                <a:close/>
              </a:path>
            </a:pathLst>
          </a:custGeom>
          <a:solidFill>
            <a:srgbClr val="595959"/>
          </a:solidFill>
          <a:ln>
            <a:noFill/>
          </a:ln>
          <a:effectLst/>
        </p:spPr>
        <p:txBody>
          <a:bodyPr rtlCol="0" anchor="ctr"/>
          <a:lstStyle/>
          <a:p/>
        </p:txBody>
      </p:sp>
      <p:sp>
        <p:nvSpPr>
          <p:cNvPr id="52" name="TextBox 51"/>
          <p:cNvSpPr txBox="1"/>
          <p:nvPr/>
        </p:nvSpPr>
        <p:spPr>
          <a:xfrm>
            <a:off x="6492240" y="5340096"/>
            <a:ext cx="1618488" cy="603504"/>
          </a:xfrm>
          <a:prstGeom prst="rect">
            <a:avLst/>
          </a:prstGeom>
          <a:noFill/>
        </p:spPr>
        <p:txBody>
          <a:bodyPr wrap="square" lIns="0" rIns="0" tIns="18288" bIns="18288" anchor="t">
            <a:noAutofit/>
          </a:bodyPr>
          <a:lstStyle/>
          <a:p>
            <a:pPr algn="l"/>
            <a:r>
              <a:rPr sz="900" b="1" i="0" lang="ko-KR" altLang="en-US">
                <a:solidFill>
                  <a:srgbClr val="262626"/>
                </a:solidFill>
                <a:latin typeface="LG스마트체 Regular"/>
                <a:ea typeface="LG스마트체 Regular"/>
                <a:cs typeface="LG스마트체 Regular"/>
              </a:rPr>
              <a:t>BACKUP_DIR</a:t>
            </a:r>
            <a:r>
              <a:rPr sz="900" b="0" i="0" lang="ko-KR" altLang="en-US">
                <a:solidFill>
                  <a:srgbClr val="262626"/>
                </a:solidFill>
                <a:latin typeface="LG스마트체 Regular"/>
                <a:ea typeface="LG스마트체 Regular"/>
                <a:cs typeface="LG스마트체 Regular"/>
              </a:rPr>
              <a:t> 마운트</a:t>
            </a:r>
          </a:p>
          <a:p>
            <a:pPr algn="l"/>
            <a:r>
              <a:rPr sz="850" b="0" i="0" lang="ko-KR" altLang="en-US">
                <a:solidFill>
                  <a:srgbClr val="262626"/>
                </a:solidFill>
                <a:latin typeface="LG스마트체 Regular"/>
                <a:ea typeface="LG스마트체 Regular"/>
                <a:cs typeface="LG스마트체 Regular"/>
              </a:rPr>
              <a:t>/mnt/nas/worklog-backup</a:t>
            </a:r>
          </a:p>
        </p:txBody>
      </p:sp>
      <p:cxnSp>
        <p:nvCxnSpPr>
          <p:cNvPr id="53" name="backup-copy"/>
          <p:cNvCxnSpPr/>
          <p:nvPr/>
        </p:nvCxnSpPr>
        <p:spPr>
          <a:xfrm>
            <a:off x="5760720" y="5632704"/>
            <a:ext cx="411480" cy="0"/>
          </a:xfrm>
          <a:prstGeom prst="line">
            <a:avLst/>
          </a:prstGeom>
          <a:ln w="19050">
            <a:solidFill>
              <a:srgbClr val="C55A11"/>
            </a:solidFill>
            <a:prstDash val="dash"/>
            <a:tailEnd type="triangle" w="med" len="med"/>
          </a:ln>
        </p:spPr>
      </p:cxnSp>
      <p:sp>
        <p:nvSpPr>
          <p:cNvPr id="54" name="exaone"/>
          <p:cNvSpPr/>
          <p:nvPr/>
        </p:nvSpPr>
        <p:spPr>
          <a:xfrm>
            <a:off x="8595360" y="2331720"/>
            <a:ext cx="3182112" cy="868680"/>
          </a:xfrm>
          <a:prstGeom prst="roundRect">
            <a:avLst>
              <a:gd name="adj" fmla="val 8421"/>
            </a:avLst>
          </a:prstGeom>
          <a:noFill/>
          <a:ln w="15875">
            <a:solidFill>
              <a:srgbClr val="C55A11"/>
            </a:solidFill>
            <a:prstDash val="dash"/>
          </a:ln>
          <a:effectLst/>
        </p:spPr>
        <p:txBody>
          <a:bodyPr rtlCol="0" anchor="ctr"/>
          <a:lstStyle/>
          <a:p/>
        </p:txBody>
      </p:sp>
      <p:sp>
        <p:nvSpPr>
          <p:cNvPr id="55" name="icon-ai"/>
          <p:cNvSpPr/>
          <p:nvPr/>
        </p:nvSpPr>
        <p:spPr>
          <a:xfrm>
            <a:off x="8686800" y="2423160"/>
            <a:ext cx="256032" cy="256032"/>
          </a:xfrm>
          <a:custGeom>
            <a:avLst/>
            <a:gdLst/>
            <a:ahLst/>
            <a:cxnLst/>
            <a:rect l="0" t="0" r="r" b="b"/>
            <a:pathLst>
              <a:path w="24000" h="24000" fill="none">
                <a:moveTo>
                  <a:pt x="15500" y="13000"/>
                </a:moveTo>
                <a:cubicBezTo>
                  <a:pt x="13567" y="13000"/>
                  <a:pt x="12000" y="14567"/>
                  <a:pt x="12000" y="16500"/>
                </a:cubicBezTo>
                <a:lnTo>
                  <a:pt x="12000" y="17500"/>
                </a:lnTo>
                <a:cubicBezTo>
                  <a:pt x="12000" y="19433"/>
                  <a:pt x="13567" y="21000"/>
                  <a:pt x="15500" y="21000"/>
                </a:cubicBezTo>
                <a:cubicBezTo>
                  <a:pt x="17433" y="21000"/>
                  <a:pt x="19000" y="19433"/>
                  <a:pt x="19000" y="17500"/>
                </a:cubicBezTo>
                <a:lnTo>
                  <a:pt x="19000" y="15700"/>
                </a:lnTo>
              </a:path>
              <a:path w="24000" h="24000" fill="none">
                <a:moveTo>
                  <a:pt x="8500" y="13000"/>
                </a:moveTo>
                <a:cubicBezTo>
                  <a:pt x="10433" y="13000"/>
                  <a:pt x="12000" y="14567"/>
                  <a:pt x="12000" y="16500"/>
                </a:cubicBezTo>
                <a:lnTo>
                  <a:pt x="12000" y="17500"/>
                </a:lnTo>
                <a:cubicBezTo>
                  <a:pt x="12000" y="19433"/>
                  <a:pt x="10433" y="21000"/>
                  <a:pt x="8500" y="21000"/>
                </a:cubicBezTo>
                <a:cubicBezTo>
                  <a:pt x="6567" y="21000"/>
                  <a:pt x="5000" y="19433"/>
                  <a:pt x="5000" y="17500"/>
                </a:cubicBezTo>
                <a:lnTo>
                  <a:pt x="5000" y="15700"/>
                </a:lnTo>
              </a:path>
              <a:path w="24000" h="24000" fill="none">
                <a:moveTo>
                  <a:pt x="17500" y="16000"/>
                </a:moveTo>
                <a:cubicBezTo>
                  <a:pt x="19433" y="16000"/>
                  <a:pt x="21000" y="14433"/>
                  <a:pt x="21000" y="12500"/>
                </a:cubicBezTo>
                <a:cubicBezTo>
                  <a:pt x="21000" y="10567"/>
                  <a:pt x="19433" y="9000"/>
                  <a:pt x="17500" y="9000"/>
                </a:cubicBezTo>
                <a:lnTo>
                  <a:pt x="17000" y="9000"/>
                </a:lnTo>
              </a:path>
              <a:path w="24000" h="24000" fill="none">
                <a:moveTo>
                  <a:pt x="19000" y="9300"/>
                </a:moveTo>
                <a:lnTo>
                  <a:pt x="19000" y="6500"/>
                </a:lnTo>
                <a:cubicBezTo>
                  <a:pt x="19000" y="4567"/>
                  <a:pt x="17433" y="3000"/>
                  <a:pt x="15500" y="3000"/>
                </a:cubicBezTo>
                <a:cubicBezTo>
                  <a:pt x="13567" y="3000"/>
                  <a:pt x="12000" y="4567"/>
                  <a:pt x="12000" y="6500"/>
                </a:cubicBezTo>
              </a:path>
              <a:path w="24000" h="24000" fill="none">
                <a:moveTo>
                  <a:pt x="6500" y="16000"/>
                </a:moveTo>
                <a:cubicBezTo>
                  <a:pt x="4567" y="16000"/>
                  <a:pt x="3000" y="14433"/>
                  <a:pt x="3000" y="12500"/>
                </a:cubicBezTo>
                <a:cubicBezTo>
                  <a:pt x="3000" y="10567"/>
                  <a:pt x="4567" y="9000"/>
                  <a:pt x="6500" y="9000"/>
                </a:cubicBezTo>
                <a:lnTo>
                  <a:pt x="7000" y="9000"/>
                </a:lnTo>
              </a:path>
              <a:path w="24000" h="24000" fill="none">
                <a:moveTo>
                  <a:pt x="5000" y="9300"/>
                </a:moveTo>
                <a:lnTo>
                  <a:pt x="5000" y="6500"/>
                </a:lnTo>
                <a:cubicBezTo>
                  <a:pt x="5000" y="4567"/>
                  <a:pt x="6567" y="3000"/>
                  <a:pt x="8500" y="3000"/>
                </a:cubicBezTo>
                <a:cubicBezTo>
                  <a:pt x="10433" y="3000"/>
                  <a:pt x="12000" y="4567"/>
                  <a:pt x="12000" y="6500"/>
                </a:cubicBezTo>
                <a:lnTo>
                  <a:pt x="12000" y="16500"/>
                </a:lnTo>
              </a:path>
            </a:pathLst>
          </a:custGeom>
          <a:solidFill>
            <a:srgbClr val="1F3864"/>
          </a:solidFill>
          <a:ln w="12700">
            <a:solidFill>
              <a:srgbClr val="1F3864"/>
            </a:solidFill>
          </a:ln>
          <a:effectLst/>
        </p:spPr>
        <p:txBody>
          <a:bodyPr rtlCol="0" anchor="ctr"/>
          <a:lstStyle/>
          <a:p/>
        </p:txBody>
      </p:sp>
      <p:sp>
        <p:nvSpPr>
          <p:cNvPr id="56" name="TextBox 55"/>
          <p:cNvSpPr txBox="1"/>
          <p:nvPr/>
        </p:nvSpPr>
        <p:spPr>
          <a:xfrm>
            <a:off x="9015984" y="2377440"/>
            <a:ext cx="2697480" cy="777240"/>
          </a:xfrm>
          <a:prstGeom prst="rect">
            <a:avLst/>
          </a:prstGeom>
          <a:noFill/>
        </p:spPr>
        <p:txBody>
          <a:bodyPr wrap="square" lIns="0" rIns="0" tIns="18288" bIns="18288" anchor="t">
            <a:noAutofit/>
          </a:bodyPr>
          <a:lstStyle/>
          <a:p>
            <a:pPr algn="l"/>
            <a:r>
              <a:rPr sz="950" b="1" i="0" lang="ko-KR" altLang="en-US">
                <a:solidFill>
                  <a:srgbClr val="1F3864"/>
                </a:solidFill>
                <a:latin typeface="LG스마트체 Regular"/>
                <a:ea typeface="LG스마트체 Regular"/>
                <a:cs typeface="LG스마트체 Regular"/>
              </a:rPr>
              <a:t>EXAONE API</a:t>
            </a:r>
            <a:r>
              <a:rPr sz="950" b="0" i="0" lang="ko-KR" altLang="en-US">
                <a:solidFill>
                  <a:srgbClr val="595959"/>
                </a:solidFill>
                <a:latin typeface="LG스마트체 Regular"/>
                <a:ea typeface="LG스마트체 Regular"/>
                <a:cs typeface="LG스마트체 Regular"/>
              </a:rPr>
              <a:t> (사내)</a:t>
            </a:r>
          </a:p>
          <a:p>
            <a:pPr algn="l"/>
            <a:r>
              <a:rPr sz="950" b="0" i="0" lang="ko-KR" altLang="en-US">
                <a:solidFill>
                  <a:srgbClr val="C55A11"/>
                </a:solidFill>
                <a:latin typeface="LG스마트체 Regular"/>
                <a:ea typeface="LG스마트체 Regular"/>
                <a:cs typeface="LG스마트체 Regular"/>
              </a:rPr>
              <a:t>HTTPS · 망 경로·방화벽 미정</a:t>
            </a:r>
          </a:p>
          <a:p>
            <a:pPr algn="l"/>
            <a:r>
              <a:rPr sz="950" b="0" i="0" lang="ko-KR" altLang="en-US">
                <a:solidFill>
                  <a:srgbClr val="262626"/>
                </a:solidFill>
                <a:latin typeface="LG스마트체 Regular"/>
                <a:ea typeface="LG스마트체 Regular"/>
                <a:cs typeface="LG스마트체 Regular"/>
              </a:rPr>
              <a:t>키: config 파일 (GitHub 미포함)</a:t>
            </a:r>
          </a:p>
        </p:txBody>
      </p:sp>
      <p:cxnSp>
        <p:nvCxnSpPr>
          <p:cNvPr id="57" name="out-exaone"/>
          <p:cNvCxnSpPr/>
          <p:nvPr/>
        </p:nvCxnSpPr>
        <p:spPr>
          <a:xfrm>
            <a:off x="7863840" y="2770632"/>
            <a:ext cx="731520" cy="0"/>
          </a:xfrm>
          <a:prstGeom prst="line">
            <a:avLst/>
          </a:prstGeom>
          <a:ln w="19050">
            <a:solidFill>
              <a:srgbClr val="C55A11"/>
            </a:solidFill>
            <a:prstDash val="dash"/>
            <a:tailEnd type="triangle" w="med" len="med"/>
          </a:ln>
        </p:spPr>
      </p:cxnSp>
      <p:sp>
        <p:nvSpPr>
          <p:cNvPr id="58" name="badge-3"/>
          <p:cNvSpPr/>
          <p:nvPr/>
        </p:nvSpPr>
        <p:spPr>
          <a:xfrm>
            <a:off x="8298180" y="2656332"/>
            <a:ext cx="228600" cy="228600"/>
          </a:xfrm>
          <a:prstGeom prst="ellipse">
            <a:avLst/>
          </a:prstGeom>
          <a:solidFill>
            <a:srgbClr val="1F3864"/>
          </a:solidFill>
          <a:ln w="9525">
            <a:solidFill>
              <a:srgbClr val="FFFFFF"/>
            </a:solidFill>
          </a:ln>
          <a:effectLst/>
        </p:spPr>
        <p:txBody>
          <a:bodyPr rtlCol="0" anchor="ctr" wrap="square" lIns="0" rIns="0" tIns="0" bIns="0">
            <a:noAutofit/>
          </a:bodyPr>
          <a:lstStyle/>
          <a:p>
            <a:pPr algn="ctr"/>
            <a:r>
              <a:rPr sz="900" b="1" i="0" lang="ko-KR" altLang="en-US">
                <a:solidFill>
                  <a:srgbClr val="FFFFFF"/>
                </a:solidFill>
                <a:latin typeface="LG스마트체 Regular"/>
                <a:ea typeface="LG스마트체 Regular"/>
                <a:cs typeface="LG스마트체 Regular"/>
              </a:rPr>
              <a:t>3</a:t>
            </a:r>
          </a:p>
        </p:txBody>
      </p:sp>
      <p:sp>
        <p:nvSpPr>
          <p:cNvPr id="59" name="flow-key"/>
          <p:cNvSpPr/>
          <p:nvPr/>
        </p:nvSpPr>
        <p:spPr>
          <a:xfrm>
            <a:off x="8595360" y="1188720"/>
            <a:ext cx="3182112" cy="960120"/>
          </a:xfrm>
          <a:prstGeom prst="roundRect">
            <a:avLst>
              <a:gd name="adj" fmla="val 7619"/>
            </a:avLst>
          </a:prstGeom>
          <a:solidFill>
            <a:srgbClr val="FAFAFA"/>
          </a:solidFill>
          <a:ln w="9525">
            <a:solidFill>
              <a:srgbClr val="D9D9D9"/>
            </a:solidFill>
          </a:ln>
          <a:effectLst/>
        </p:spPr>
        <p:txBody>
          <a:bodyPr rtlCol="0" anchor="ctr"/>
          <a:lstStyle/>
          <a:p/>
        </p:txBody>
      </p:sp>
      <p:sp>
        <p:nvSpPr>
          <p:cNvPr id="60" name="TextBox 59"/>
          <p:cNvSpPr txBox="1"/>
          <p:nvPr/>
        </p:nvSpPr>
        <p:spPr>
          <a:xfrm>
            <a:off x="8686800" y="1216152"/>
            <a:ext cx="3017520" cy="905256"/>
          </a:xfrm>
          <a:prstGeom prst="rect">
            <a:avLst/>
          </a:prstGeom>
          <a:noFill/>
        </p:spPr>
        <p:txBody>
          <a:bodyPr wrap="square" lIns="18288" rIns="18288" tIns="18288" bIns="18288" anchor="ctr">
            <a:noAutofit/>
          </a:bodyPr>
          <a:lstStyle/>
          <a:p>
            <a:pPr algn="l"/>
            <a:r>
              <a:rPr sz="900" b="1" i="0" lang="ko-KR" altLang="en-US">
                <a:solidFill>
                  <a:srgbClr val="1F3864"/>
                </a:solidFill>
                <a:latin typeface="LG스마트체 Regular"/>
                <a:ea typeface="LG스마트체 Regular"/>
                <a:cs typeface="LG스마트체 Regular"/>
              </a:rPr>
              <a:t>흐름 번호 </a:t>
            </a:r>
            <a:r>
              <a:rPr sz="900" b="0" i="0" lang="ko-KR" altLang="en-US">
                <a:solidFill>
                  <a:srgbClr val="595959"/>
                </a:solidFill>
                <a:latin typeface="LG스마트체 Regular"/>
                <a:ea typeface="LG스마트체 Regular"/>
                <a:cs typeface="LG스마트체 Regular"/>
              </a:rPr>
              <a:t>(본문과 동일)</a:t>
            </a:r>
          </a:p>
          <a:p>
            <a:pPr algn="l"/>
            <a:r>
              <a:rPr sz="900" b="0" i="0" lang="ko-KR" altLang="en-US">
                <a:solidFill>
                  <a:srgbClr val="262626"/>
                </a:solidFill>
                <a:latin typeface="LG스마트체 Regular"/>
                <a:ea typeface="LG스마트체 Regular"/>
                <a:cs typeface="LG스마트체 Regular"/>
              </a:rPr>
              <a:t>① 사내망 → TCP 8000 </a:t>
            </a:r>
            <a:r>
              <a:rPr sz="900" b="0" i="0" lang="ko-KR" altLang="en-US">
                <a:solidFill>
                  <a:srgbClr val="C55A11"/>
                </a:solidFill>
                <a:latin typeface="LG스마트체 Regular"/>
                <a:ea typeface="LG스마트체 Regular"/>
                <a:cs typeface="LG스마트체 Regular"/>
              </a:rPr>
              <a:t>(미정)</a:t>
            </a:r>
          </a:p>
          <a:p>
            <a:pPr algn="l"/>
            <a:r>
              <a:rPr sz="900" b="0" i="0" lang="ko-KR" altLang="en-US">
                <a:solidFill>
                  <a:srgbClr val="262626"/>
                </a:solidFill>
                <a:latin typeface="LG스마트체 Regular"/>
                <a:ea typeface="LG스마트체 Regular"/>
                <a:cs typeface="LG스마트체 Regular"/>
              </a:rPr>
              <a:t>② 컨테이너 → /data 로컬 볼륨 </a:t>
            </a:r>
            <a:r>
              <a:rPr sz="900" b="0" i="0" lang="ko-KR" altLang="en-US">
                <a:solidFill>
                  <a:srgbClr val="1F3864"/>
                </a:solidFill>
                <a:latin typeface="LG스마트체 Regular"/>
                <a:ea typeface="LG스마트체 Regular"/>
                <a:cs typeface="LG스마트체 Regular"/>
              </a:rPr>
              <a:t>(구현)</a:t>
            </a:r>
          </a:p>
          <a:p>
            <a:pPr algn="l"/>
            <a:r>
              <a:rPr sz="900" b="0" i="0" lang="ko-KR" altLang="en-US">
                <a:solidFill>
                  <a:srgbClr val="262626"/>
                </a:solidFill>
                <a:latin typeface="LG스마트체 Regular"/>
                <a:ea typeface="LG스마트체 Regular"/>
                <a:cs typeface="LG스마트체 Regular"/>
              </a:rPr>
              <a:t>③ EXAONE 호출 </a:t>
            </a:r>
            <a:r>
              <a:rPr sz="900" b="0" i="0" lang="ko-KR" altLang="en-US">
                <a:solidFill>
                  <a:srgbClr val="C55A11"/>
                </a:solidFill>
                <a:latin typeface="LG스마트체 Regular"/>
                <a:ea typeface="LG스마트체 Regular"/>
                <a:cs typeface="LG스마트체 Regular"/>
              </a:rPr>
              <a:t>(망 경로 미정)</a:t>
            </a:r>
          </a:p>
          <a:p>
            <a:pPr algn="l"/>
            <a:r>
              <a:rPr sz="900" b="0" i="0" lang="ko-KR" altLang="en-US">
                <a:solidFill>
                  <a:srgbClr val="262626"/>
                </a:solidFill>
                <a:latin typeface="LG스마트체 Regular"/>
                <a:ea typeface="LG스마트체 Regular"/>
                <a:cs typeface="LG스마트체 Regular"/>
              </a:rPr>
              <a:t>⑤ 백업 → NAS </a:t>
            </a:r>
            <a:r>
              <a:rPr sz="900" b="0" i="0" lang="ko-KR" altLang="en-US">
                <a:solidFill>
                  <a:srgbClr val="C55A11"/>
                </a:solidFill>
                <a:latin typeface="LG스마트체 Regular"/>
                <a:ea typeface="LG스마트체 Regular"/>
                <a:cs typeface="LG스마트체 Regular"/>
              </a:rPr>
              <a:t>(검증 전)</a:t>
            </a:r>
          </a:p>
        </p:txBody>
      </p:sp>
      <p:sp>
        <p:nvSpPr>
          <p:cNvPr id="61" name="backup-scope"/>
          <p:cNvSpPr/>
          <p:nvPr/>
        </p:nvSpPr>
        <p:spPr>
          <a:xfrm>
            <a:off x="8595360" y="3429000"/>
            <a:ext cx="3182112" cy="1371600"/>
          </a:xfrm>
          <a:prstGeom prst="roundRect">
            <a:avLst>
              <a:gd name="adj" fmla="val 5333"/>
            </a:avLst>
          </a:prstGeom>
          <a:solidFill>
            <a:srgbClr val="EEF2F8"/>
          </a:solidFill>
          <a:ln w="15875">
            <a:solidFill>
              <a:srgbClr val="1F3864"/>
            </a:solidFill>
          </a:ln>
          <a:effectLst/>
        </p:spPr>
        <p:txBody>
          <a:bodyPr rtlCol="0" anchor="ctr"/>
          <a:lstStyle/>
          <a:p/>
        </p:txBody>
      </p:sp>
      <p:sp>
        <p:nvSpPr>
          <p:cNvPr id="62" name="icon-backup"/>
          <p:cNvSpPr/>
          <p:nvPr/>
        </p:nvSpPr>
        <p:spPr>
          <a:xfrm>
            <a:off x="8686800" y="3511296"/>
            <a:ext cx="237744" cy="237744"/>
          </a:xfrm>
          <a:custGeom>
            <a:avLst/>
            <a:gdLst/>
            <a:ahLst/>
            <a:cxnLst/>
            <a:rect l="0" t="0" r="r" b="b"/>
            <a:pathLst>
              <a:path w="24000" h="24000" stroke="0">
                <a:moveTo>
                  <a:pt x="19350" y="10040"/>
                </a:moveTo>
                <a:cubicBezTo>
                  <a:pt x="18657" y="6529"/>
                  <a:pt x="15578" y="3999"/>
                  <a:pt x="12000" y="4000"/>
                </a:cubicBezTo>
                <a:cubicBezTo>
                  <a:pt x="9110" y="4000"/>
                  <a:pt x="6600" y="5640"/>
                  <a:pt x="5350" y="8040"/>
                </a:cubicBezTo>
                <a:cubicBezTo>
                  <a:pt x="2306" y="8369"/>
                  <a:pt x="0" y="10939"/>
                  <a:pt x="0" y="14000"/>
                </a:cubicBezTo>
                <a:cubicBezTo>
                  <a:pt x="0" y="17310"/>
                  <a:pt x="2690" y="20000"/>
                  <a:pt x="6000" y="20000"/>
                </a:cubicBezTo>
                <a:lnTo>
                  <a:pt x="19000" y="20000"/>
                </a:lnTo>
                <a:cubicBezTo>
                  <a:pt x="21760" y="20000"/>
                  <a:pt x="24000" y="17760"/>
                  <a:pt x="24000" y="15000"/>
                </a:cubicBezTo>
                <a:cubicBezTo>
                  <a:pt x="24000" y="12360"/>
                  <a:pt x="21950" y="10220"/>
                  <a:pt x="19350" y="10040"/>
                </a:cubicBezTo>
                <a:close/>
                <a:moveTo>
                  <a:pt x="14000" y="13000"/>
                </a:moveTo>
                <a:lnTo>
                  <a:pt x="14000" y="17000"/>
                </a:lnTo>
                <a:lnTo>
                  <a:pt x="10000" y="17000"/>
                </a:lnTo>
                <a:lnTo>
                  <a:pt x="10000" y="13000"/>
                </a:lnTo>
                <a:lnTo>
                  <a:pt x="7000" y="13000"/>
                </a:lnTo>
                <a:lnTo>
                  <a:pt x="12000" y="8000"/>
                </a:lnTo>
                <a:lnTo>
                  <a:pt x="17000" y="13000"/>
                </a:lnTo>
                <a:lnTo>
                  <a:pt x="14000" y="13000"/>
                </a:lnTo>
                <a:close/>
              </a:path>
            </a:pathLst>
          </a:custGeom>
          <a:solidFill>
            <a:srgbClr val="1F3864"/>
          </a:solidFill>
          <a:ln>
            <a:noFill/>
          </a:ln>
          <a:effectLst/>
        </p:spPr>
        <p:txBody>
          <a:bodyPr rtlCol="0" anchor="ctr"/>
          <a:lstStyle/>
          <a:p/>
        </p:txBody>
      </p:sp>
      <p:sp>
        <p:nvSpPr>
          <p:cNvPr id="63" name="TextBox 62"/>
          <p:cNvSpPr txBox="1"/>
          <p:nvPr/>
        </p:nvSpPr>
        <p:spPr>
          <a:xfrm>
            <a:off x="8997696" y="3511296"/>
            <a:ext cx="2697480" cy="256032"/>
          </a:xfrm>
          <a:prstGeom prst="rect">
            <a:avLst/>
          </a:prstGeom>
          <a:noFill/>
        </p:spPr>
        <p:txBody>
          <a:bodyPr wrap="square" lIns="0" rIns="0" tIns="18288" bIns="18288" anchor="t">
            <a:noAutofit/>
          </a:bodyPr>
          <a:lstStyle/>
          <a:p>
            <a:pPr algn="l"/>
            <a:r>
              <a:rPr sz="1100" b="1" i="0" lang="ko-KR" altLang="en-US">
                <a:solidFill>
                  <a:srgbClr val="1F3864"/>
                </a:solidFill>
                <a:latin typeface="LG스마트체 Regular"/>
                <a:ea typeface="LG스마트체 Regular"/>
                <a:cs typeface="LG스마트체 Regular"/>
              </a:rPr>
              <a:t>백업 범위</a:t>
            </a:r>
            <a:r>
              <a:rPr sz="900" b="0" i="0" lang="ko-KR" altLang="en-US">
                <a:solidFill>
                  <a:srgbClr val="595959"/>
                </a:solidFill>
                <a:latin typeface="LG스마트체 Regular"/>
                <a:ea typeface="LG스마트체 Regular"/>
                <a:cs typeface="LG스마트체 Regular"/>
              </a:rPr>
              <a:t> (backups.py · 구현)</a:t>
            </a:r>
          </a:p>
        </p:txBody>
      </p:sp>
      <p:sp>
        <p:nvSpPr>
          <p:cNvPr id="64" name="TextBox 63"/>
          <p:cNvSpPr txBox="1"/>
          <p:nvPr/>
        </p:nvSpPr>
        <p:spPr>
          <a:xfrm>
            <a:off x="8705088" y="3822192"/>
            <a:ext cx="2999232" cy="932688"/>
          </a:xfrm>
          <a:prstGeom prst="rect">
            <a:avLst/>
          </a:prstGeom>
          <a:noFill/>
        </p:spPr>
        <p:txBody>
          <a:bodyPr wrap="square" lIns="18288" rIns="18288" tIns="18288" bIns="18288" anchor="t">
            <a:noAutofit/>
          </a:bodyPr>
          <a:lstStyle/>
          <a:p>
            <a:pPr algn="l">
              <a:spcBef>
                <a:spcPts val="0"/>
              </a:spcBef>
            </a:pPr>
            <a:r>
              <a:rPr sz="950" b="1" i="0" lang="ko-KR" altLang="en-US">
                <a:solidFill>
                  <a:srgbClr val="1F3864"/>
                </a:solidFill>
                <a:latin typeface="LG스마트체 Regular"/>
                <a:ea typeface="LG스마트체 Regular"/>
                <a:cs typeface="LG스마트체 Regular"/>
              </a:rPr>
              <a:t>포함  </a:t>
            </a:r>
            <a:r>
              <a:rPr sz="950" b="0" i="0" lang="ko-KR" altLang="en-US">
                <a:solidFill>
                  <a:srgbClr val="262626"/>
                </a:solidFill>
                <a:latin typeface="LG스마트체 Regular"/>
                <a:ea typeface="LG스마트체 Regular"/>
                <a:cs typeface="LG스마트체 Regular"/>
              </a:rPr>
              <a:t>SQLite 사본 + 첨부 (manifest sha256)</a:t>
            </a:r>
          </a:p>
          <a:p>
            <a:pPr algn="l">
              <a:spcBef>
                <a:spcPts val="200"/>
              </a:spcBef>
            </a:pPr>
            <a:r>
              <a:rPr sz="950" b="1" i="0" lang="ko-KR" altLang="en-US">
                <a:solidFill>
                  <a:srgbClr val="1F3864"/>
                </a:solidFill>
                <a:latin typeface="LG스마트체 Regular"/>
                <a:ea typeface="LG스마트체 Regular"/>
                <a:cs typeface="LG스마트체 Regular"/>
              </a:rPr>
              <a:t>미포함  </a:t>
            </a:r>
            <a:r>
              <a:rPr sz="950" b="0" i="0" lang="ko-KR" altLang="en-US">
                <a:solidFill>
                  <a:srgbClr val="262626"/>
                </a:solidFill>
                <a:latin typeface="LG스마트체 Regular"/>
                <a:ea typeface="LG스마트체 Regular"/>
                <a:cs typeface="LG스마트체 Regular"/>
              </a:rPr>
              <a:t>reports/ · voe/</a:t>
            </a:r>
            <a:r>
              <a:rPr sz="950" b="0" i="0" lang="ko-KR" altLang="en-US">
                <a:solidFill>
                  <a:srgbClr val="C55A11"/>
                </a:solidFill>
                <a:latin typeface="LG스마트체 Regular"/>
                <a:ea typeface="LG스마트체 Regular"/>
                <a:cs typeface="LG스마트체 Regular"/>
              </a:rPr>
              <a:t> → 별도 복사 규칙 필요</a:t>
            </a:r>
          </a:p>
          <a:p>
            <a:pPr algn="l">
              <a:spcBef>
                <a:spcPts val="200"/>
              </a:spcBef>
            </a:pPr>
            <a:r>
              <a:rPr sz="950" b="1" i="0" lang="ko-KR" altLang="en-US">
                <a:solidFill>
                  <a:srgbClr val="1F3864"/>
                </a:solidFill>
                <a:latin typeface="LG스마트체 Regular"/>
                <a:ea typeface="LG스마트체 Regular"/>
                <a:cs typeface="LG스마트체 Regular"/>
              </a:rPr>
              <a:t>보관  </a:t>
            </a:r>
            <a:r>
              <a:rPr sz="950" b="0" i="0" lang="ko-KR" altLang="en-US">
                <a:solidFill>
                  <a:srgbClr val="262626"/>
                </a:solidFill>
                <a:latin typeface="LG스마트체 Regular"/>
                <a:ea typeface="LG스마트체 Regular"/>
                <a:cs typeface="LG스마트체 Regular"/>
              </a:rPr>
              <a:t>최근 14개 · 매회 전체 복사</a:t>
            </a:r>
          </a:p>
          <a:p>
            <a:pPr algn="l">
              <a:spcBef>
                <a:spcPts val="200"/>
              </a:spcBef>
            </a:pPr>
            <a:r>
              <a:rPr sz="950" b="1" i="0" lang="ko-KR" altLang="en-US">
                <a:solidFill>
                  <a:srgbClr val="1F3864"/>
                </a:solidFill>
                <a:latin typeface="LG스마트체 Regular"/>
                <a:ea typeface="LG스마트체 Regular"/>
                <a:cs typeface="LG스마트체 Regular"/>
              </a:rPr>
              <a:t>복원  </a:t>
            </a:r>
            <a:r>
              <a:rPr sz="950" b="0" i="0" lang="ko-KR" altLang="en-US">
                <a:solidFill>
                  <a:srgbClr val="262626"/>
                </a:solidFill>
                <a:latin typeface="LG스마트체 Regular"/>
                <a:ea typeface="LG스마트체 Regular"/>
                <a:cs typeface="LG스마트체 Regular"/>
              </a:rPr>
              <a:t>복원 시 스키마 확인</a:t>
            </a:r>
          </a:p>
        </p:txBody>
      </p:sp>
      <p:sp>
        <p:nvSpPr>
          <p:cNvPr id="65" name="nas"/>
          <p:cNvSpPr/>
          <p:nvPr/>
        </p:nvSpPr>
        <p:spPr>
          <a:xfrm>
            <a:off x="8595360" y="5029200"/>
            <a:ext cx="3182112" cy="1051560"/>
          </a:xfrm>
          <a:prstGeom prst="roundRect">
            <a:avLst>
              <a:gd name="adj" fmla="val 6956"/>
            </a:avLst>
          </a:prstGeom>
          <a:solidFill>
            <a:srgbClr val="FFF5EB"/>
          </a:solidFill>
          <a:ln w="15875">
            <a:solidFill>
              <a:srgbClr val="C55A11"/>
            </a:solidFill>
            <a:prstDash val="dash"/>
          </a:ln>
          <a:effectLst/>
        </p:spPr>
        <p:txBody>
          <a:bodyPr rtlCol="0" anchor="ctr"/>
          <a:lstStyle/>
          <a:p/>
        </p:txBody>
      </p:sp>
      <p:sp>
        <p:nvSpPr>
          <p:cNvPr id="66" name="icon-nas"/>
          <p:cNvSpPr/>
          <p:nvPr/>
        </p:nvSpPr>
        <p:spPr>
          <a:xfrm>
            <a:off x="8686800" y="5120640"/>
            <a:ext cx="256032" cy="256032"/>
          </a:xfrm>
          <a:custGeom>
            <a:avLst/>
            <a:gdLst/>
            <a:ahLst/>
            <a:cxnLst/>
            <a:rect l="0" t="0" r="r" b="b"/>
            <a:pathLst>
              <a:path w="24000" h="24000" stroke="0">
                <a:moveTo>
                  <a:pt x="2000" y="20000"/>
                </a:moveTo>
                <a:lnTo>
                  <a:pt x="22000" y="20000"/>
                </a:lnTo>
                <a:lnTo>
                  <a:pt x="22000" y="16000"/>
                </a:lnTo>
                <a:lnTo>
                  <a:pt x="2000" y="16000"/>
                </a:lnTo>
                <a:lnTo>
                  <a:pt x="2000" y="20000"/>
                </a:lnTo>
                <a:close/>
                <a:moveTo>
                  <a:pt x="4000" y="17000"/>
                </a:moveTo>
                <a:lnTo>
                  <a:pt x="6000" y="17000"/>
                </a:lnTo>
                <a:lnTo>
                  <a:pt x="6000" y="19000"/>
                </a:lnTo>
                <a:lnTo>
                  <a:pt x="4000" y="19000"/>
                </a:lnTo>
                <a:lnTo>
                  <a:pt x="4000" y="17000"/>
                </a:lnTo>
                <a:close/>
                <a:moveTo>
                  <a:pt x="2000" y="4000"/>
                </a:moveTo>
                <a:lnTo>
                  <a:pt x="2000" y="8000"/>
                </a:lnTo>
                <a:lnTo>
                  <a:pt x="22000" y="8000"/>
                </a:lnTo>
                <a:lnTo>
                  <a:pt x="22000" y="4000"/>
                </a:lnTo>
                <a:lnTo>
                  <a:pt x="2000" y="4000"/>
                </a:lnTo>
                <a:close/>
                <a:moveTo>
                  <a:pt x="6000" y="7000"/>
                </a:moveTo>
                <a:lnTo>
                  <a:pt x="4000" y="7000"/>
                </a:lnTo>
                <a:lnTo>
                  <a:pt x="4000" y="5000"/>
                </a:lnTo>
                <a:lnTo>
                  <a:pt x="6000" y="5000"/>
                </a:lnTo>
                <a:lnTo>
                  <a:pt x="6000" y="7000"/>
                </a:lnTo>
                <a:close/>
                <a:moveTo>
                  <a:pt x="2000" y="14000"/>
                </a:moveTo>
                <a:lnTo>
                  <a:pt x="22000" y="14000"/>
                </a:lnTo>
                <a:lnTo>
                  <a:pt x="22000" y="10000"/>
                </a:lnTo>
                <a:lnTo>
                  <a:pt x="2000" y="10000"/>
                </a:lnTo>
                <a:lnTo>
                  <a:pt x="2000" y="14000"/>
                </a:lnTo>
                <a:close/>
                <a:moveTo>
                  <a:pt x="4000" y="11000"/>
                </a:moveTo>
                <a:lnTo>
                  <a:pt x="6000" y="11000"/>
                </a:lnTo>
                <a:lnTo>
                  <a:pt x="6000" y="13000"/>
                </a:lnTo>
                <a:lnTo>
                  <a:pt x="4000" y="13000"/>
                </a:lnTo>
                <a:lnTo>
                  <a:pt x="4000" y="11000"/>
                </a:lnTo>
                <a:close/>
              </a:path>
            </a:pathLst>
          </a:custGeom>
          <a:solidFill>
            <a:srgbClr val="595959"/>
          </a:solidFill>
          <a:ln>
            <a:noFill/>
          </a:ln>
          <a:effectLst/>
        </p:spPr>
        <p:txBody>
          <a:bodyPr rtlCol="0" anchor="ctr"/>
          <a:lstStyle/>
          <a:p/>
        </p:txBody>
      </p:sp>
      <p:sp>
        <p:nvSpPr>
          <p:cNvPr id="67" name="TextBox 66"/>
          <p:cNvSpPr txBox="1"/>
          <p:nvPr/>
        </p:nvSpPr>
        <p:spPr>
          <a:xfrm>
            <a:off x="9015984" y="5084064"/>
            <a:ext cx="2697480" cy="950976"/>
          </a:xfrm>
          <a:prstGeom prst="rect">
            <a:avLst/>
          </a:prstGeom>
          <a:noFill/>
        </p:spPr>
        <p:txBody>
          <a:bodyPr wrap="square" lIns="0" rIns="0" tIns="18288" bIns="18288" anchor="t">
            <a:noAutofit/>
          </a:bodyPr>
          <a:lstStyle/>
          <a:p>
            <a:pPr algn="l">
              <a:spcBef>
                <a:spcPts val="0"/>
              </a:spcBef>
            </a:pPr>
            <a:r>
              <a:rPr sz="950" b="1" i="0" lang="ko-KR" altLang="en-US">
                <a:solidFill>
                  <a:srgbClr val="262626"/>
                </a:solidFill>
                <a:latin typeface="LG스마트체 Regular"/>
                <a:ea typeface="LG스마트체 Regular"/>
                <a:cs typeface="LG스마트체 Regular"/>
              </a:rPr>
              <a:t>NAS</a:t>
            </a:r>
            <a:r>
              <a:rPr sz="950" b="0" i="0" lang="ko-KR" altLang="en-US">
                <a:solidFill>
                  <a:srgbClr val="C55A11"/>
                </a:solidFill>
                <a:latin typeface="LG스마트체 Regular"/>
                <a:ea typeface="LG스마트체 Regular"/>
                <a:cs typeface="LG스마트체 Regular"/>
              </a:rPr>
              <a:t> (Sandbox 마운트)</a:t>
            </a:r>
          </a:p>
          <a:p>
            <a:pPr algn="l">
              <a:spcBef>
                <a:spcPts val="200"/>
              </a:spcBef>
            </a:pPr>
            <a:r>
              <a:rPr sz="950" b="0" i="0" lang="ko-KR" altLang="en-US">
                <a:solidFill>
                  <a:srgbClr val="262626"/>
                </a:solidFill>
                <a:latin typeface="LG스마트체 Regular"/>
                <a:ea typeface="LG스마트체 Regular"/>
                <a:cs typeface="LG스마트체 Regular"/>
              </a:rPr>
              <a:t>NFS/SMB · 권한 미정</a:t>
            </a:r>
          </a:p>
          <a:p>
            <a:pPr algn="l">
              <a:spcBef>
                <a:spcPts val="200"/>
              </a:spcBef>
            </a:pPr>
            <a:r>
              <a:rPr sz="950" b="0" i="0" lang="ko-KR" altLang="en-US">
                <a:solidFill>
                  <a:srgbClr val="262626"/>
                </a:solidFill>
                <a:latin typeface="LG스마트체 Regular"/>
                <a:ea typeface="LG스마트체 Regular"/>
                <a:cs typeface="LG스마트체 Regular"/>
              </a:rPr>
              <a:t>2TB · 1년 요청 — DAVINCI 미회신</a:t>
            </a:r>
          </a:p>
        </p:txBody>
      </p:sp>
      <p:cxnSp>
        <p:nvCxnSpPr>
          <p:cNvPr id="68" name="out-nas"/>
          <p:cNvCxnSpPr/>
          <p:nvPr/>
        </p:nvCxnSpPr>
        <p:spPr>
          <a:xfrm>
            <a:off x="8138160" y="5632704"/>
            <a:ext cx="457200" cy="0"/>
          </a:xfrm>
          <a:prstGeom prst="line">
            <a:avLst/>
          </a:prstGeom>
          <a:ln w="19050">
            <a:solidFill>
              <a:srgbClr val="C55A11"/>
            </a:solidFill>
            <a:prstDash val="dash"/>
            <a:tailEnd type="triangle" w="med" len="med"/>
          </a:ln>
        </p:spPr>
      </p:cxnSp>
      <p:sp>
        <p:nvSpPr>
          <p:cNvPr id="69" name="badge-5"/>
          <p:cNvSpPr/>
          <p:nvPr/>
        </p:nvSpPr>
        <p:spPr>
          <a:xfrm>
            <a:off x="8252460" y="5518404"/>
            <a:ext cx="228600" cy="228600"/>
          </a:xfrm>
          <a:prstGeom prst="ellipse">
            <a:avLst/>
          </a:prstGeom>
          <a:solidFill>
            <a:srgbClr val="1F3864"/>
          </a:solidFill>
          <a:ln w="9525">
            <a:solidFill>
              <a:srgbClr val="FFFFFF"/>
            </a:solidFill>
          </a:ln>
          <a:effectLst/>
        </p:spPr>
        <p:txBody>
          <a:bodyPr rtlCol="0" anchor="ctr" wrap="square" lIns="0" rIns="0" tIns="0" bIns="0">
            <a:noAutofit/>
          </a:bodyPr>
          <a:lstStyle/>
          <a:p>
            <a:pPr algn="ctr"/>
            <a:r>
              <a:rPr sz="900" b="1" i="0" lang="ko-KR" altLang="en-US">
                <a:solidFill>
                  <a:srgbClr val="FFFFFF"/>
                </a:solidFill>
                <a:latin typeface="LG스마트체 Regular"/>
                <a:ea typeface="LG스마트체 Regular"/>
                <a:cs typeface="LG스마트체 Regular"/>
              </a:rPr>
              <a:t>5</a:t>
            </a:r>
          </a:p>
        </p:txBody>
      </p:sp>
      <p:cxnSp>
        <p:nvCxnSpPr>
          <p:cNvPr id="70" name="legend-solid"/>
          <p:cNvCxnSpPr/>
          <p:nvPr/>
        </p:nvCxnSpPr>
        <p:spPr>
          <a:xfrm>
            <a:off x="4023360" y="6446520"/>
            <a:ext cx="384048" cy="0"/>
          </a:xfrm>
          <a:prstGeom prst="line">
            <a:avLst/>
          </a:prstGeom>
          <a:ln w="19050">
            <a:solidFill>
              <a:srgbClr val="1F3864"/>
            </a:solidFill>
          </a:ln>
        </p:spPr>
      </p:cxnSp>
      <p:sp>
        <p:nvSpPr>
          <p:cNvPr id="71" name="TextBox 70"/>
          <p:cNvSpPr txBox="1"/>
          <p:nvPr/>
        </p:nvSpPr>
        <p:spPr>
          <a:xfrm>
            <a:off x="4462272" y="6345936"/>
            <a:ext cx="2011680" cy="201168"/>
          </a:xfrm>
          <a:prstGeom prst="rect">
            <a:avLst/>
          </a:prstGeom>
          <a:noFill/>
        </p:spPr>
        <p:txBody>
          <a:bodyPr wrap="square" lIns="0" rIns="0" tIns="18288" bIns="18288" anchor="t">
            <a:noAutofit/>
          </a:bodyPr>
          <a:lstStyle/>
          <a:p>
            <a:pPr algn="l"/>
            <a:r>
              <a:rPr sz="900" b="0" i="0" lang="ko-KR" altLang="en-US">
                <a:solidFill>
                  <a:srgbClr val="595959"/>
                </a:solidFill>
                <a:latin typeface="LG스마트체 Regular"/>
                <a:ea typeface="LG스마트체 Regular"/>
                <a:cs typeface="LG스마트체 Regular"/>
              </a:rPr>
              <a:t>실선 = 확정(메일 합의·저장소 구현)</a:t>
            </a:r>
          </a:p>
        </p:txBody>
      </p:sp>
      <p:cxnSp>
        <p:nvCxnSpPr>
          <p:cNvPr id="72" name="legend-dash"/>
          <p:cNvCxnSpPr/>
          <p:nvPr/>
        </p:nvCxnSpPr>
        <p:spPr>
          <a:xfrm>
            <a:off x="6537960" y="6446520"/>
            <a:ext cx="384048" cy="0"/>
          </a:xfrm>
          <a:prstGeom prst="line">
            <a:avLst/>
          </a:prstGeom>
          <a:ln w="19050">
            <a:solidFill>
              <a:srgbClr val="C55A11"/>
            </a:solidFill>
            <a:prstDash val="dash"/>
          </a:ln>
        </p:spPr>
      </p:cxnSp>
      <p:sp>
        <p:nvSpPr>
          <p:cNvPr id="73" name="TextBox 72"/>
          <p:cNvSpPr txBox="1"/>
          <p:nvPr/>
        </p:nvSpPr>
        <p:spPr>
          <a:xfrm>
            <a:off x="6976872" y="6345936"/>
            <a:ext cx="960120" cy="201168"/>
          </a:xfrm>
          <a:prstGeom prst="rect">
            <a:avLst/>
          </a:prstGeom>
          <a:noFill/>
        </p:spPr>
        <p:txBody>
          <a:bodyPr wrap="square" lIns="0" rIns="0" tIns="18288" bIns="18288" anchor="t">
            <a:noAutofit/>
          </a:bodyPr>
          <a:lstStyle/>
          <a:p>
            <a:pPr algn="l"/>
            <a:r>
              <a:rPr sz="900" b="0" i="0" lang="ko-KR" altLang="en-US">
                <a:solidFill>
                  <a:srgbClr val="595959"/>
                </a:solidFill>
                <a:latin typeface="LG스마트체 Regular"/>
                <a:ea typeface="LG스마트체 Regular"/>
                <a:cs typeface="LG스마트체 Regular"/>
              </a:rPr>
              <a:t>점선 = 계획·미정</a:t>
            </a:r>
          </a:p>
        </p:txBody>
      </p:sp>
      <p:sp>
        <p:nvSpPr>
          <p:cNvPr id="74" name="TextBox 73"/>
          <p:cNvSpPr txBox="1"/>
          <p:nvPr/>
        </p:nvSpPr>
        <p:spPr>
          <a:xfrm>
            <a:off x="8001000" y="6345936"/>
            <a:ext cx="1965960" cy="201168"/>
          </a:xfrm>
          <a:prstGeom prst="rect">
            <a:avLst/>
          </a:prstGeom>
          <a:noFill/>
        </p:spPr>
        <p:txBody>
          <a:bodyPr wrap="square" lIns="0" rIns="0" tIns="18288" bIns="18288" anchor="t">
            <a:noAutofit/>
          </a:bodyPr>
          <a:lstStyle/>
          <a:p>
            <a:pPr algn="l"/>
            <a:r>
              <a:rPr sz="900" b="1" i="0" lang="ko-KR" altLang="en-US">
                <a:solidFill>
                  <a:srgbClr val="C00000"/>
                </a:solidFill>
                <a:latin typeface="LG스마트체 Regular"/>
                <a:ea typeface="LG스마트체 Regular"/>
                <a:cs typeface="LG스마트체 Regular"/>
              </a:rPr>
              <a:t>◆ 충돌</a:t>
            </a:r>
            <a:r>
              <a:rPr sz="900" b="0" i="0" lang="ko-KR" altLang="en-US">
                <a:solidFill>
                  <a:srgbClr val="595959"/>
                </a:solidFill>
                <a:latin typeface="LG스마트체 Regular"/>
                <a:ea typeface="LG스마트체 Regular"/>
                <a:cs typeface="LG스마트체 Regular"/>
              </a:rPr>
              <a:t> = 메일↔코드 불일치</a:t>
            </a:r>
          </a:p>
        </p:txBody>
      </p:sp>
      <p:sp>
        <p:nvSpPr>
          <p:cNvPr id="75" name="Rounded Rectangle 74"/>
          <p:cNvSpPr/>
          <p:nvPr/>
        </p:nvSpPr>
        <p:spPr>
          <a:xfrm>
            <a:off x="10012680" y="6355080"/>
            <a:ext cx="384048" cy="182880"/>
          </a:xfrm>
          <a:prstGeom prst="roundRect">
            <a:avLst>
              <a:gd name="adj" fmla="val 25000"/>
            </a:avLst>
          </a:prstGeom>
          <a:solidFill>
            <a:srgbClr val="FFF5EB"/>
          </a:solidFill>
          <a:ln w="9525">
            <a:solidFill>
              <a:srgbClr val="C55A11"/>
            </a:solidFill>
          </a:ln>
          <a:effectLst/>
        </p:spPr>
        <p:txBody>
          <a:bodyPr rtlCol="0" anchor="ctr" wrap="square" lIns="0" rIns="0" tIns="18288" bIns="18288">
            <a:noAutofit/>
          </a:bodyPr>
          <a:lstStyle/>
          <a:p>
            <a:pPr algn="ctr"/>
            <a:r>
              <a:rPr sz="900" b="1" i="0" lang="ko-KR" altLang="en-US">
                <a:solidFill>
                  <a:srgbClr val="C55A11"/>
                </a:solidFill>
                <a:latin typeface="LG스마트체 Regular"/>
                <a:ea typeface="LG스마트체 Regular"/>
                <a:cs typeface="LG스마트체 Regular"/>
              </a:rPr>
              <a:t>가정</a:t>
            </a:r>
          </a:p>
        </p:txBody>
      </p:sp>
      <p:sp>
        <p:nvSpPr>
          <p:cNvPr id="76" name="TextBox 75"/>
          <p:cNvSpPr txBox="1"/>
          <p:nvPr/>
        </p:nvSpPr>
        <p:spPr>
          <a:xfrm>
            <a:off x="10451592" y="6345936"/>
            <a:ext cx="1097280" cy="201168"/>
          </a:xfrm>
          <a:prstGeom prst="rect">
            <a:avLst/>
          </a:prstGeom>
          <a:noFill/>
        </p:spPr>
        <p:txBody>
          <a:bodyPr wrap="square" lIns="0" rIns="0" tIns="18288" bIns="18288" anchor="t">
            <a:noAutofit/>
          </a:bodyPr>
          <a:lstStyle/>
          <a:p>
            <a:pPr algn="l"/>
            <a:r>
              <a:rPr sz="900" b="0" i="0" lang="ko-KR" altLang="en-US">
                <a:solidFill>
                  <a:srgbClr val="595959"/>
                </a:solidFill>
                <a:latin typeface="LG스마트체 Regular"/>
                <a:ea typeface="LG스마트체 Regular"/>
                <a:cs typeface="LG스마트체 Regular"/>
              </a:rPr>
              <a:t>= 실측 전 추정</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365 Copilot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2013-01-27T09:14:16Z</dcterms:created>
  <dcterms:modified xsi:type="dcterms:W3CDTF">2013-01-27T09:15:58Z</dcterms:modified>
  <cp:category/>
</cp:coreProperties>
</file>