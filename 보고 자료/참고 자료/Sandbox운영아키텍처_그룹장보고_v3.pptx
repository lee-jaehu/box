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1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[분류 기준]</a:t>
            </a:r>
          </a:p>
          <a:p>
            <a:r>
              <a:rPr sz="1100" b="0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확정 = 양측이 메일로 합의한 것. 제안 = 한쪽이 제시하고 상대가 확인하지 않은 것(제안 주체 표기). 미정 = 언급이 없거나 조사 예정. Docker와 NAS 마운트는 10-20 18:10 메일에서 이재후가 답한 내용이므로 DAVINCI 제안이 아니라 우리 측 제안임. SSD 4TB는 DAVINCI 회신이지만 '가능할 것 같으므로'라는 전망 표현이라 확정으로 쓰지 않음. 박정환 책임의 '총 4TB(SSD 2TB, NAS 2TB)' 질문에 대해 10-21 회신은 SSD만 언급 → NAS 할당은 미회신.</a:t>
            </a:r>
          </a:p>
          <a:p>
            <a:r>
              <a:rPr sz="1100" b="1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[DAVINCI 확인 질문]</a:t>
            </a:r>
          </a:p>
          <a:p>
            <a:r>
              <a:rPr sz="1100" b="0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1) Sandbox OS와 버전, Docker(엔진·compose) 사용 허용 여부와 베이스 이미지 제약</a:t>
            </a:r>
          </a:p>
          <a:p>
            <a:r>
              <a:rPr sz="1100" b="0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2) NAS 할당 여부·용량·보관 정책, 마운트 방식(NFS/SMB)·권한, 용도를 백업 저장으로 한정해도 되는지</a:t>
            </a:r>
          </a:p>
          <a:p>
            <a:r>
              <a:rPr sz="1100" b="0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3) SSD 1TB가 VM 로컬 디스크인지, 4TB 확장 시 절차(IP·계정 정보)</a:t>
            </a:r>
          </a:p>
          <a:p>
            <a:r>
              <a:rPr sz="1100" b="0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4) Sandbox에서 EXAONE API까지 망 경로·방화벽·인증 방식</a:t>
            </a:r>
          </a:p>
          <a:p>
            <a:r>
              <a:rPr sz="1100" b="0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5) 사내망 사용자 접속 포트·방화벽 인바운드 규칙</a:t>
            </a:r>
          </a:p>
          <a:p>
            <a:r>
              <a:rPr sz="1100" b="0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6) 로그인 없는 사내 웹서비스 운영 허용 여부와 필요한 접근 통제(SSO·IP 제한 등)</a:t>
            </a:r>
          </a:p>
          <a:p>
            <a:r>
              <a:rPr sz="1100" b="0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7) VM 재시작·스냅샷·모니터링 지원 범위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"초안입니다. 컨테이너 구성은 저장소에 Dockerfile이 없어 아직 만들지 않았고, DAVINCI 확인 후 작성·검증합니다. DATA_DIR은 로컬 볼륨으로만, NAS는 BACKUP_DIR로만 연결합니다. 백업에 reports/와 voe/가 포함되지 않으므로 필요하면 별도 복사 규칙을 정해야 합니다. 포트 8000은 config 기본값 예시입니다."</a:t>
            </a:r>
          </a:p>
          <a:p>
            <a:r>
              <a:rPr sz="1100" b="0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근거: backend/run.py, backend/app/config.py, backend/app/db.py, backend/app/services/backups.py, docs/03_ARCHITECTURE.md, docs/09_OPERATIONS.md §3·§5, README(실행.bat·초기설정.bat).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1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[30초 멘트]</a:t>
            </a:r>
          </a:p>
          <a:p>
            <a:r>
              <a:rPr sz="1100" b="0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"업무 기록 시스템을 지금은 제 PC에서 시범 운영하고 있고, 회사 서버인 다빈치 Sandbox로 옮기고 있습니다. 법인(OC)과 과제 신청 방식은 다빈치팀과 정했고, 서버 사양과 백업 보관함, 사내 AI 연결은 확인 중입니다. 착수 전에 네 가지를 확인해야 합니다. 업무 기록은 서버 디스크에 두고 NAS는 백업에만 쓰는 것, 현재 검증된 규모가 약 20명이라는 것, 지금 백업 방식이면 NAS가 약 2개월 안에 차서 보관 방식을 바꿔야 한다는 것(가정), 회사 서버용 실행 패키지가 아직 없다는 것입니다. 현재 결정이 필요한 사항은 없고 다빈치팀과 실무로 협의하겠습니다."</a:t>
            </a:r>
          </a:p>
          <a:p>
            <a:r>
              <a:rPr sz="1100" b="1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[용어 대응표]</a:t>
            </a:r>
          </a:p>
          <a:p>
            <a:r>
              <a:rPr sz="1100" b="0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SQLite DB·WAL → 업무 기록 저장소 / DATA_DIR → 서버 안 저장소 / BACKUP_DIR → 백업 보관함 / NAS 마운트 → 백업 보관함 연결 / Docker 컨테이너·Dockerfile → 회사 서버용 실행 패키지 / Uvicorn worker 1 → 현재 검증 규모 약 20명 / VM → 회사 서버 / OC 분석과제 → 회사 서버 사용 신청(OC 법인) / EXAONE API → 사내 AI / 포트·방화벽 → 접속 경로 / 백업 14개 전체 복사 → 지금 백업 방식 / reports/ → 보고서.</a:t>
            </a:r>
          </a:p>
          <a:p>
            <a:r>
              <a:rPr sz="1100" b="1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[문장별 근거]</a:t>
            </a:r>
          </a:p>
          <a:p>
            <a:r>
              <a:rPr sz="1100" b="0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- 개인 PC 시범 운영 — 메일 10-20 이재후 "현재 PoC 단계에서는 실행 배치파일로 돌리고 있으며"</a:t>
            </a:r>
          </a:p>
          <a:p>
            <a:r>
              <a:rPr sz="1100" b="0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- 회사 서버 DAVINCI Sandbox·OC·분석과제 — 부록 A 1·2행; 메일 10-20 이재후 회신 "OC로 진행", 10-21 박정환 "분석 과제는 신청 주시고"</a:t>
            </a:r>
          </a:p>
          <a:p>
            <a:r>
              <a:rPr sz="1100" b="0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- 서버 사양 확인 중 — 부록 A 3행; 메일 10-20 이정원 "할당 가능한지 확인"</a:t>
            </a:r>
          </a:p>
          <a:p>
            <a:r>
              <a:rPr sz="1100" b="0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- 1TB→최대 4TB — 부록 A 4행; 메일 10-21 박정환 "이후 SSD 4TB까지 할당 가능할 것 같으므로"</a:t>
            </a:r>
          </a:p>
          <a:p>
            <a:r>
              <a:rPr sz="1100" b="0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- 사내 AI 개인 PC 연결 정상 — 사용자 제공 운영 사실(이전 보고); 회사 서버 경로 미정 — 부록 A 9행, 메일 10-20 박정환 "엑사원과 통신이 필요할 것 같고"</a:t>
            </a:r>
          </a:p>
          <a:p>
            <a:r>
              <a:rPr sz="1100" b="0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- NAS 2TB·1년 미회신 — 부록 A 5행</a:t>
            </a:r>
          </a:p>
          <a:p>
            <a:r>
              <a:rPr sz="1100" b="0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- 확인1 저장 위치 — 부록 A 7행, 부록 B 'DATA_DIR 네트워크 공유 금지'(docs/09 §3)</a:t>
            </a:r>
          </a:p>
          <a:p>
            <a:r>
              <a:rPr sz="1100" b="0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- 확인2 약 20명 — 부록 B 프로세스(workers=1), README 동시 작성 목표 약 20명; 100명 — 메일 10-20 이재후 가정</a:t>
            </a:r>
          </a:p>
          <a:p>
            <a:r>
              <a:rPr sz="1100" b="0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- 확인3 약 2개월 — 부록 A 용량 산정(200명×5GB, 14개 전체본 → 데이터 약 143GB, 약 1.7개월, 가정)</a:t>
            </a:r>
          </a:p>
          <a:p>
            <a:r>
              <a:rPr sz="1100" b="0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- 확인4 실행 패키지 없음 — 부록 A 6·8행(Dockerfile 없음, OS 미정)</a:t>
            </a:r>
          </a:p>
          <a:p>
            <a:r>
              <a:rPr sz="1100" b="1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[예상 질문]</a:t>
            </a:r>
          </a:p>
          <a:p>
            <a:r>
              <a:rPr sz="1100" b="0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Q1 보안: "로그인이 없는데 괜찮나?" → 현재 로그인·권한 기능 없음(부록 A 10행). 회사 서버에서 필요한 접근 통제는 다빈치팀에 확인할 항목. API 키는 GitHub에 올리지 않고 사내망 설정 파일로 관리(사용자 제공). 보안 검토 완료라고 말하지 않음.</a:t>
            </a:r>
          </a:p>
          <a:p>
            <a:r>
              <a:rPr sz="1100" b="0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Q2 비용·자원: "서버 자원은 얼마나 드나?" → 요청 사양 8코어·32GB·SSD 1TB(최대 4TB 가능 회신)·NAS 2TB. 비용 정보는 메일에 없어 답변 범위 밖 — 다빈치팀 확인 필요.</a:t>
            </a:r>
          </a:p>
          <a:p>
            <a:r>
              <a:rPr sz="1100" b="0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Q3 운영 책임: "운영은 누가 하나?" → 앱 개발·실행 패키지·백업 방식은 우리(이재후), 서버 자원·OS·NAS·망은 다빈치팀 협조. 다빈치 인원 지원 범위는 10-19 요청 메일 기준 협의 중이며 확정 아님.</a:t>
            </a:r>
          </a:p>
          <a:p>
            <a:r>
              <a:rPr sz="1100" b="1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[5초 테스트 점검 결과]</a:t>
            </a:r>
          </a:p>
          <a:p>
            <a:r>
              <a:rPr sz="1100" b="0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제목에서 "회사 서버(DAVINCI)로 옮기는 중 · 확인 4건"이 먼저 읽힘 → 다이어그램 중앙의 가장 큰 상자 "회사 서버"와 그 안의 "서버 안 저장소"가 다음으로 보임 → 오른쪽 "④ 착수 전 확인 사항" 표 4행과 담당이 보임. 실선(✓ 확정)과 점선(… 확인 중)이 범례와 같은 색·선으로 구분됨. 슬라이드 1 본문에 기술 용어(Docker·WAL·worker·포트·FastAPI·SQLite·Uvicorn·DATA_DIR·BACKUP_DIR) 없음.</a:t>
            </a:r>
          </a:p>
          <a:p>
            <a:r>
              <a:rPr sz="1100" b="1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[비전문가 확인 질문 4개 — 동료에게 장표를 보여준 뒤 30초 안에 답하게 함]</a:t>
            </a:r>
          </a:p>
          <a:p>
            <a:r>
              <a:rPr sz="1100" b="0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1. 이 시스템은 지금 어디서 돌아가고, 앞으로 어디로 옮기나?</a:t>
            </a:r>
          </a:p>
          <a:p>
            <a:r>
              <a:rPr sz="1100" b="0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2. 업무 기록은 어디에 저장되고, NAS는 무슨 용도인가?</a:t>
            </a:r>
          </a:p>
          <a:p>
            <a:r>
              <a:rPr sz="1100" b="0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3. 현재 몇 명 규모까지 확인됐고, 언제부터 쓸 수 있나?</a:t>
            </a:r>
          </a:p>
          <a:p>
            <a:r>
              <a:rPr sz="1100" b="0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4. 착수 전에 확인할 것은 무엇이고, 누가 하나?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256032"/>
            <a:ext cx="11365992" cy="310896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/>
            <a:r>
              <a:rPr sz="1600" b="1" i="0" lang="ko-KR" altLang="en-US">
                <a:solidFill>
                  <a:srgbClr val="1F3864"/>
                </a:solidFill>
                <a:latin typeface="LG스마트체 Regular"/>
                <a:ea typeface="LG스마트체 Regular"/>
                <a:cs typeface="LG스마트체 Regular"/>
              </a:rPr>
              <a:t>업무 기록 시스템을 회사 서버(DAVINCI)로 옮기는 중 — 착수 전 확인 4건, 현재는 다빈치팀과 실무 협의로 진행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11480" y="640080"/>
            <a:ext cx="1136599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/>
            <a:r>
              <a:rPr sz="1000" b="0" i="0" lang="ko-KR" altLang="en-US">
                <a:solidFill>
                  <a:srgbClr val="595959"/>
                </a:solidFill>
                <a:latin typeface="LG스마트체 Regular"/>
                <a:ea typeface="LG스마트체 Regular"/>
                <a:cs typeface="LG스마트체 Regular"/>
              </a:rPr>
              <a:t>정보 공유 · 근거: DAVINCI팀 메일(2026-10-19~21), 저장소 점검 결과(부록 A·B) · 기술 상세는 부록 B</a:t>
            </a:r>
          </a:p>
        </p:txBody>
      </p:sp>
      <p:sp>
        <p:nvSpPr>
          <p:cNvPr id="4" name="now-tag"/>
          <p:cNvSpPr/>
          <p:nvPr/>
        </p:nvSpPr>
        <p:spPr>
          <a:xfrm>
            <a:off x="411480" y="1097280"/>
            <a:ext cx="1600200" cy="777240"/>
          </a:xfrm>
          <a:prstGeom prst="roundRect">
            <a:avLst>
              <a:gd name="adj" fmla="val 7058"/>
            </a:avLst>
          </a:prstGeom>
          <a:solidFill>
            <a:srgbClr val="F2F2F2"/>
          </a:solidFill>
          <a:ln w="12700">
            <a:solidFill>
              <a:srgbClr val="595959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l"/>
            <a:r>
              <a:rPr sz="1100" b="1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지금</a:t>
            </a:r>
          </a:p>
          <a:p>
            <a:pPr algn="l"/>
            <a:r>
              <a:rPr sz="1000" b="0" i="0" lang="ko-KR" altLang="en-US">
                <a:solidFill>
                  <a:srgbClr val="595959"/>
                </a:solidFill>
                <a:latin typeface="LG스마트체 Regular"/>
                <a:ea typeface="LG스마트체 Regular"/>
                <a:cs typeface="LG스마트체 Regular"/>
              </a:rPr>
              <a:t>개인 PC에서 시범 운영 (배치파일 실행)</a:t>
            </a:r>
          </a:p>
        </p:txBody>
      </p:sp>
      <p:sp>
        <p:nvSpPr>
          <p:cNvPr id="5" name="box1-users"/>
          <p:cNvSpPr/>
          <p:nvPr/>
        </p:nvSpPr>
        <p:spPr>
          <a:xfrm>
            <a:off x="411480" y="2057400"/>
            <a:ext cx="1600200" cy="1600200"/>
          </a:xfrm>
          <a:prstGeom prst="roundRect">
            <a:avLst>
              <a:gd name="adj" fmla="val 4571"/>
            </a:avLst>
          </a:prstGeom>
          <a:solidFill>
            <a:srgbClr val="F7F7F7"/>
          </a:solidFill>
          <a:ln w="15875">
            <a:solidFill>
              <a:srgbClr val="59595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6" name="icon-users"/>
          <p:cNvSpPr/>
          <p:nvPr/>
        </p:nvSpPr>
        <p:spPr>
          <a:xfrm>
            <a:off x="914400" y="2176272"/>
            <a:ext cx="594360" cy="594360"/>
          </a:xfrm>
          <a:custGeom>
            <a:avLst/>
            <a:gdLst/>
            <a:ahLst/>
            <a:cxnLst/>
            <a:rect l="0" t="0" r="r" b="b"/>
            <a:pathLst>
              <a:path w="24000" h="24000" stroke="0">
                <a:moveTo>
                  <a:pt x="12000" y="12750"/>
                </a:moveTo>
                <a:cubicBezTo>
                  <a:pt x="13630" y="12750"/>
                  <a:pt x="15070" y="13140"/>
                  <a:pt x="16240" y="13650"/>
                </a:cubicBezTo>
                <a:cubicBezTo>
                  <a:pt x="17320" y="14130"/>
                  <a:pt x="18000" y="15210"/>
                  <a:pt x="18000" y="16380"/>
                </a:cubicBezTo>
                <a:lnTo>
                  <a:pt x="18000" y="18000"/>
                </a:lnTo>
                <a:lnTo>
                  <a:pt x="6000" y="18000"/>
                </a:lnTo>
                <a:lnTo>
                  <a:pt x="6000" y="16390"/>
                </a:lnTo>
                <a:cubicBezTo>
                  <a:pt x="6000" y="15210"/>
                  <a:pt x="6680" y="14130"/>
                  <a:pt x="7760" y="13660"/>
                </a:cubicBezTo>
                <a:cubicBezTo>
                  <a:pt x="8930" y="13140"/>
                  <a:pt x="10370" y="12750"/>
                  <a:pt x="12000" y="12750"/>
                </a:cubicBezTo>
                <a:close/>
                <a:moveTo>
                  <a:pt x="4000" y="13000"/>
                </a:moveTo>
                <a:cubicBezTo>
                  <a:pt x="5100" y="13000"/>
                  <a:pt x="6000" y="12100"/>
                  <a:pt x="6000" y="11000"/>
                </a:cubicBezTo>
                <a:cubicBezTo>
                  <a:pt x="6000" y="9900"/>
                  <a:pt x="5100" y="9000"/>
                  <a:pt x="4000" y="9000"/>
                </a:cubicBezTo>
                <a:cubicBezTo>
                  <a:pt x="2900" y="9000"/>
                  <a:pt x="2000" y="9900"/>
                  <a:pt x="2000" y="11000"/>
                </a:cubicBezTo>
                <a:cubicBezTo>
                  <a:pt x="2000" y="12100"/>
                  <a:pt x="2900" y="13000"/>
                  <a:pt x="4000" y="13000"/>
                </a:cubicBezTo>
                <a:close/>
                <a:moveTo>
                  <a:pt x="5130" y="14100"/>
                </a:moveTo>
                <a:cubicBezTo>
                  <a:pt x="4760" y="14040"/>
                  <a:pt x="4390" y="14000"/>
                  <a:pt x="4000" y="14000"/>
                </a:cubicBezTo>
                <a:cubicBezTo>
                  <a:pt x="3010" y="14000"/>
                  <a:pt x="2070" y="14210"/>
                  <a:pt x="1220" y="14580"/>
                </a:cubicBezTo>
                <a:cubicBezTo>
                  <a:pt x="479" y="14897"/>
                  <a:pt x="-1" y="15625"/>
                  <a:pt x="0" y="16430"/>
                </a:cubicBezTo>
                <a:lnTo>
                  <a:pt x="0" y="18000"/>
                </a:lnTo>
                <a:lnTo>
                  <a:pt x="4500" y="18000"/>
                </a:lnTo>
                <a:lnTo>
                  <a:pt x="4500" y="16390"/>
                </a:lnTo>
                <a:cubicBezTo>
                  <a:pt x="4500" y="15560"/>
                  <a:pt x="4730" y="14780"/>
                  <a:pt x="5130" y="14100"/>
                </a:cubicBezTo>
                <a:close/>
                <a:moveTo>
                  <a:pt x="20000" y="13000"/>
                </a:moveTo>
                <a:cubicBezTo>
                  <a:pt x="21100" y="13000"/>
                  <a:pt x="22000" y="12100"/>
                  <a:pt x="22000" y="11000"/>
                </a:cubicBezTo>
                <a:cubicBezTo>
                  <a:pt x="22000" y="9900"/>
                  <a:pt x="21100" y="9000"/>
                  <a:pt x="20000" y="9000"/>
                </a:cubicBezTo>
                <a:cubicBezTo>
                  <a:pt x="18900" y="9000"/>
                  <a:pt x="18000" y="9900"/>
                  <a:pt x="18000" y="11000"/>
                </a:cubicBezTo>
                <a:cubicBezTo>
                  <a:pt x="18000" y="12100"/>
                  <a:pt x="18900" y="13000"/>
                  <a:pt x="20000" y="13000"/>
                </a:cubicBezTo>
                <a:close/>
                <a:moveTo>
                  <a:pt x="24000" y="16430"/>
                </a:moveTo>
                <a:cubicBezTo>
                  <a:pt x="24000" y="15620"/>
                  <a:pt x="23520" y="14900"/>
                  <a:pt x="22780" y="14580"/>
                </a:cubicBezTo>
                <a:cubicBezTo>
                  <a:pt x="21903" y="14197"/>
                  <a:pt x="20957" y="14000"/>
                  <a:pt x="20000" y="14000"/>
                </a:cubicBezTo>
                <a:cubicBezTo>
                  <a:pt x="19610" y="14000"/>
                  <a:pt x="19240" y="14040"/>
                  <a:pt x="18870" y="14100"/>
                </a:cubicBezTo>
                <a:cubicBezTo>
                  <a:pt x="19270" y="14780"/>
                  <a:pt x="19500" y="15560"/>
                  <a:pt x="19500" y="16390"/>
                </a:cubicBezTo>
                <a:lnTo>
                  <a:pt x="19500" y="18000"/>
                </a:lnTo>
                <a:lnTo>
                  <a:pt x="24000" y="18000"/>
                </a:lnTo>
                <a:lnTo>
                  <a:pt x="24000" y="16430"/>
                </a:lnTo>
                <a:close/>
                <a:moveTo>
                  <a:pt x="12000" y="6000"/>
                </a:moveTo>
                <a:cubicBezTo>
                  <a:pt x="13660" y="6000"/>
                  <a:pt x="15000" y="7340"/>
                  <a:pt x="15000" y="9000"/>
                </a:cubicBezTo>
                <a:cubicBezTo>
                  <a:pt x="15000" y="10660"/>
                  <a:pt x="13660" y="12000"/>
                  <a:pt x="12000" y="12000"/>
                </a:cubicBezTo>
                <a:cubicBezTo>
                  <a:pt x="10340" y="12000"/>
                  <a:pt x="9000" y="10660"/>
                  <a:pt x="9000" y="9000"/>
                </a:cubicBezTo>
                <a:cubicBezTo>
                  <a:pt x="9000" y="7340"/>
                  <a:pt x="10340" y="6000"/>
                  <a:pt x="12000" y="6000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2788920"/>
            <a:ext cx="1508760" cy="777240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ctr"/>
            <a:r>
              <a:rPr sz="1200" b="1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구성원</a:t>
            </a:r>
          </a:p>
          <a:p>
            <a:pPr algn="ctr"/>
            <a:r>
              <a:rPr sz="1200" b="1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(사내망)</a:t>
            </a:r>
          </a:p>
          <a:p>
            <a:pPr algn="ctr"/>
            <a:r>
              <a:rPr sz="1000" b="0" i="0" lang="ko-KR" altLang="en-US">
                <a:solidFill>
                  <a:srgbClr val="595959"/>
                </a:solidFill>
                <a:latin typeface="LG스마트체 Regular"/>
                <a:ea typeface="LG스마트체 Regular"/>
                <a:cs typeface="LG스마트체 Regular"/>
              </a:rPr>
              <a:t>브라우저로 접속</a:t>
            </a:r>
          </a:p>
        </p:txBody>
      </p:sp>
      <p:sp>
        <p:nvSpPr>
          <p:cNvPr id="8" name="box2-server"/>
          <p:cNvSpPr/>
          <p:nvPr/>
        </p:nvSpPr>
        <p:spPr>
          <a:xfrm>
            <a:off x="2880360" y="1097280"/>
            <a:ext cx="2606040" cy="3657600"/>
          </a:xfrm>
          <a:prstGeom prst="roundRect">
            <a:avLst>
              <a:gd name="adj" fmla="val 4210"/>
            </a:avLst>
          </a:prstGeom>
          <a:noFill/>
          <a:ln w="22225">
            <a:solidFill>
              <a:srgbClr val="1F3864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" name="icon-building"/>
          <p:cNvSpPr/>
          <p:nvPr/>
        </p:nvSpPr>
        <p:spPr>
          <a:xfrm>
            <a:off x="2999232" y="1207008"/>
            <a:ext cx="384048" cy="384048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3000" y="21000"/>
                </a:moveTo>
                <a:lnTo>
                  <a:pt x="21000" y="21000"/>
                </a:lnTo>
              </a:path>
              <a:path w="24000" h="24000" fill="none">
                <a:moveTo>
                  <a:pt x="5000" y="21000"/>
                </a:moveTo>
                <a:lnTo>
                  <a:pt x="5000" y="9000"/>
                </a:lnTo>
                <a:lnTo>
                  <a:pt x="10000" y="13000"/>
                </a:lnTo>
                <a:lnTo>
                  <a:pt x="10000" y="9000"/>
                </a:lnTo>
                <a:lnTo>
                  <a:pt x="15000" y="13000"/>
                </a:lnTo>
                <a:lnTo>
                  <a:pt x="19000" y="13000"/>
                </a:lnTo>
              </a:path>
              <a:path w="24000" h="24000" fill="none">
                <a:moveTo>
                  <a:pt x="19000" y="21000"/>
                </a:moveTo>
                <a:lnTo>
                  <a:pt x="19000" y="13000"/>
                </a:lnTo>
                <a:lnTo>
                  <a:pt x="17564" y="3426"/>
                </a:lnTo>
                <a:cubicBezTo>
                  <a:pt x="17527" y="3181"/>
                  <a:pt x="17317" y="3000"/>
                  <a:pt x="17069" y="3000"/>
                </a:cubicBezTo>
                <a:lnTo>
                  <a:pt x="15924" y="3000"/>
                </a:lnTo>
                <a:cubicBezTo>
                  <a:pt x="15679" y="3000"/>
                  <a:pt x="15470" y="3177"/>
                  <a:pt x="15430" y="3418"/>
                </a:cubicBezTo>
                <a:lnTo>
                  <a:pt x="14000" y="12000"/>
                </a:lnTo>
              </a:path>
              <a:path w="24000" h="24000" fill="none">
                <a:moveTo>
                  <a:pt x="9000" y="17000"/>
                </a:moveTo>
                <a:lnTo>
                  <a:pt x="10000" y="17000"/>
                </a:lnTo>
              </a:path>
              <a:path w="24000" h="24000" fill="none">
                <a:moveTo>
                  <a:pt x="14000" y="17000"/>
                </a:moveTo>
                <a:lnTo>
                  <a:pt x="15000" y="17000"/>
                </a:lnTo>
              </a:path>
            </a:pathLst>
          </a:custGeom>
          <a:solidFill>
            <a:srgbClr val="1F3864"/>
          </a:solidFill>
          <a:ln w="12700">
            <a:solidFill>
              <a:srgbClr val="1F3864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474720" y="1188720"/>
            <a:ext cx="196596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/>
            <a:r>
              <a:rPr sz="1200" b="1" i="0" lang="ko-KR" altLang="en-US">
                <a:solidFill>
                  <a:srgbClr val="1F3864"/>
                </a:solidFill>
                <a:latin typeface="LG스마트체 Regular"/>
                <a:ea typeface="LG스마트체 Regular"/>
                <a:cs typeface="LG스마트체 Regular"/>
              </a:rPr>
              <a:t>회사 서버</a:t>
            </a:r>
          </a:p>
          <a:p>
            <a:pPr algn="l"/>
            <a:r>
              <a:rPr sz="1000" b="0" i="0" lang="ko-KR" altLang="en-US">
                <a:solidFill>
                  <a:srgbClr val="595959"/>
                </a:solidFill>
                <a:latin typeface="LG스마트체 Regular"/>
                <a:ea typeface="LG스마트체 Regular"/>
                <a:cs typeface="LG스마트체 Regular"/>
              </a:rPr>
              <a:t>DAVINCI Sandbox (OC 분석과제)</a:t>
            </a:r>
          </a:p>
        </p:txBody>
      </p:sp>
      <p:sp>
        <p:nvSpPr>
          <p:cNvPr id="11" name="qtag-① 어디서?"/>
          <p:cNvSpPr/>
          <p:nvPr/>
        </p:nvSpPr>
        <p:spPr>
          <a:xfrm>
            <a:off x="4526280" y="969264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000" b="1" i="0" lang="ko-KR" altLang="en-US">
                <a:solidFill>
                  <a:srgbClr val="FFFFFF"/>
                </a:solidFill>
                <a:latin typeface="LG스마트체 Regular"/>
                <a:ea typeface="LG스마트체 Regular"/>
                <a:cs typeface="LG스마트체 Regular"/>
              </a:rPr>
              <a:t>① 어디서?</a:t>
            </a:r>
          </a:p>
        </p:txBody>
      </p:sp>
      <p:sp>
        <p:nvSpPr>
          <p:cNvPr id="12" name="chip-confirmed"/>
          <p:cNvSpPr/>
          <p:nvPr/>
        </p:nvSpPr>
        <p:spPr>
          <a:xfrm>
            <a:off x="2999232" y="1737360"/>
            <a:ext cx="2377440" cy="438912"/>
          </a:xfrm>
          <a:prstGeom prst="roundRect">
            <a:avLst>
              <a:gd name="adj" fmla="val 10416"/>
            </a:avLst>
          </a:prstGeom>
          <a:solidFill>
            <a:srgbClr val="EEF2F8"/>
          </a:solidFill>
          <a:ln w="12700">
            <a:solidFill>
              <a:srgbClr val="1F3864"/>
            </a:solidFill>
          </a:ln>
          <a:effectLst/>
        </p:spPr>
        <p:txBody>
          <a:bodyPr rtlCol="0" anchor="ctr" wrap="square" lIns="64008" rIns="64008" tIns="18288" bIns="18288">
            <a:noAutofit/>
          </a:bodyPr>
          <a:lstStyle/>
          <a:p>
            <a:pPr algn="l"/>
            <a:r>
              <a:rPr sz="1000" b="1" i="0" lang="ko-KR" altLang="en-US">
                <a:solidFill>
                  <a:srgbClr val="1F3864"/>
                </a:solidFill>
                <a:latin typeface="LG스마트체 Regular"/>
                <a:ea typeface="LG스마트체 Regular"/>
                <a:cs typeface="LG스마트체 Regular"/>
              </a:rPr>
              <a:t>✓ 확정: </a:t>
            </a:r>
            <a:r>
              <a:rPr sz="1000" b="0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OC 법인 · 분석과제 신청</a:t>
            </a:r>
          </a:p>
        </p:txBody>
      </p:sp>
      <p:sp>
        <p:nvSpPr>
          <p:cNvPr id="13" name="chip-server-alloc"/>
          <p:cNvSpPr/>
          <p:nvPr/>
        </p:nvSpPr>
        <p:spPr>
          <a:xfrm>
            <a:off x="2999232" y="2249424"/>
            <a:ext cx="2377440" cy="438912"/>
          </a:xfrm>
          <a:prstGeom prst="roundRect">
            <a:avLst>
              <a:gd name="adj" fmla="val 10416"/>
            </a:avLst>
          </a:prstGeom>
          <a:solidFill>
            <a:srgbClr val="FFF5EB"/>
          </a:solidFill>
          <a:ln w="12700">
            <a:solidFill>
              <a:srgbClr val="C55A11"/>
            </a:solidFill>
            <a:prstDash val="dash"/>
          </a:ln>
          <a:effectLst/>
        </p:spPr>
        <p:txBody>
          <a:bodyPr rtlCol="0" anchor="ctr" wrap="square" lIns="64008" rIns="64008" tIns="18288" bIns="18288">
            <a:noAutofit/>
          </a:bodyPr>
          <a:lstStyle/>
          <a:p>
            <a:pPr algn="l"/>
            <a:r>
              <a:rPr sz="1000" b="1" i="0" lang="ko-KR" altLang="en-US">
                <a:solidFill>
                  <a:srgbClr val="C55A11"/>
                </a:solidFill>
                <a:latin typeface="LG스마트체 Regular"/>
                <a:ea typeface="LG스마트체 Regular"/>
                <a:cs typeface="LG스마트체 Regular"/>
              </a:rPr>
              <a:t>… 확인 중: </a:t>
            </a:r>
            <a:r>
              <a:rPr sz="1000" b="0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서버 사양 할당 (8코어·32GB 요청)</a:t>
            </a:r>
          </a:p>
        </p:txBody>
      </p:sp>
      <p:sp>
        <p:nvSpPr>
          <p:cNvPr id="14" name="box3-storage"/>
          <p:cNvSpPr/>
          <p:nvPr/>
        </p:nvSpPr>
        <p:spPr>
          <a:xfrm>
            <a:off x="2999232" y="2852928"/>
            <a:ext cx="2377440" cy="1783080"/>
          </a:xfrm>
          <a:prstGeom prst="roundRect">
            <a:avLst>
              <a:gd name="adj" fmla="val 4102"/>
            </a:avLst>
          </a:prstGeom>
          <a:solidFill>
            <a:srgbClr val="EEF2F8"/>
          </a:solidFill>
          <a:ln w="15875">
            <a:solidFill>
              <a:srgbClr val="1F3864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5" name="icon-database"/>
          <p:cNvSpPr/>
          <p:nvPr/>
        </p:nvSpPr>
        <p:spPr>
          <a:xfrm>
            <a:off x="3108960" y="2971800"/>
            <a:ext cx="347472" cy="347472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12000" y="6000"/>
                </a:moveTo>
                <a:moveTo>
                  <a:pt x="4000" y="6000"/>
                </a:moveTo>
                <a:cubicBezTo>
                  <a:pt x="4000" y="7657"/>
                  <a:pt x="7582" y="9000"/>
                  <a:pt x="12000" y="9000"/>
                </a:cubicBezTo>
                <a:cubicBezTo>
                  <a:pt x="16418" y="9000"/>
                  <a:pt x="20000" y="7657"/>
                  <a:pt x="20000" y="6000"/>
                </a:cubicBezTo>
                <a:cubicBezTo>
                  <a:pt x="20000" y="4343"/>
                  <a:pt x="16418" y="3000"/>
                  <a:pt x="12000" y="3000"/>
                </a:cubicBezTo>
                <a:cubicBezTo>
                  <a:pt x="7582" y="3000"/>
                  <a:pt x="4000" y="4343"/>
                  <a:pt x="4000" y="6000"/>
                </a:cubicBezTo>
              </a:path>
              <a:path w="24000" h="24000" fill="none">
                <a:moveTo>
                  <a:pt x="4000" y="6000"/>
                </a:moveTo>
                <a:lnTo>
                  <a:pt x="4000" y="12000"/>
                </a:lnTo>
                <a:cubicBezTo>
                  <a:pt x="4000" y="13657"/>
                  <a:pt x="7582" y="15000"/>
                  <a:pt x="12000" y="15000"/>
                </a:cubicBezTo>
                <a:cubicBezTo>
                  <a:pt x="16418" y="15000"/>
                  <a:pt x="20000" y="13657"/>
                  <a:pt x="20000" y="12000"/>
                </a:cubicBezTo>
                <a:lnTo>
                  <a:pt x="20000" y="6000"/>
                </a:lnTo>
              </a:path>
              <a:path w="24000" h="24000" fill="none">
                <a:moveTo>
                  <a:pt x="4000" y="12000"/>
                </a:moveTo>
                <a:lnTo>
                  <a:pt x="4000" y="18000"/>
                </a:lnTo>
                <a:cubicBezTo>
                  <a:pt x="4000" y="19657"/>
                  <a:pt x="7582" y="21000"/>
                  <a:pt x="12000" y="21000"/>
                </a:cubicBezTo>
                <a:cubicBezTo>
                  <a:pt x="16418" y="21000"/>
                  <a:pt x="20000" y="19657"/>
                  <a:pt x="20000" y="18000"/>
                </a:cubicBezTo>
                <a:lnTo>
                  <a:pt x="20000" y="12000"/>
                </a:lnTo>
              </a:path>
            </a:pathLst>
          </a:custGeom>
          <a:solidFill>
            <a:srgbClr val="1F3864"/>
          </a:solidFill>
          <a:ln w="12700">
            <a:solidFill>
              <a:srgbClr val="1F3864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529584" y="2944368"/>
            <a:ext cx="1810512" cy="475488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/>
            <a:r>
              <a:rPr sz="1200" b="1" i="0" lang="ko-KR" altLang="en-US">
                <a:solidFill>
                  <a:srgbClr val="1F3864"/>
                </a:solidFill>
                <a:latin typeface="LG스마트체 Regular"/>
                <a:ea typeface="LG스마트체 Regular"/>
                <a:cs typeface="LG스마트체 Regular"/>
              </a:rPr>
              <a:t>서버 안 저장소</a:t>
            </a:r>
          </a:p>
          <a:p>
            <a:pPr algn="l"/>
            <a:r>
              <a:rPr sz="1000" b="0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업무 기록 · 첨부 · 보고서</a:t>
            </a:r>
          </a:p>
        </p:txBody>
      </p:sp>
      <p:sp>
        <p:nvSpPr>
          <p:cNvPr id="17" name="qtag-② 데이터는?"/>
          <p:cNvSpPr/>
          <p:nvPr/>
        </p:nvSpPr>
        <p:spPr>
          <a:xfrm>
            <a:off x="4343400" y="2734056"/>
            <a:ext cx="987552" cy="256032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000" b="1" i="0" lang="ko-KR" altLang="en-US">
                <a:solidFill>
                  <a:srgbClr val="FFFFFF"/>
                </a:solidFill>
                <a:latin typeface="LG스마트체 Regular"/>
                <a:ea typeface="LG스마트체 Regular"/>
                <a:cs typeface="LG스마트체 Regular"/>
              </a:rPr>
              <a:t>② 데이터는?</a:t>
            </a:r>
          </a:p>
        </p:txBody>
      </p:sp>
      <p:sp>
        <p:nvSpPr>
          <p:cNvPr id="18" name="chip-disk"/>
          <p:cNvSpPr/>
          <p:nvPr/>
        </p:nvSpPr>
        <p:spPr>
          <a:xfrm>
            <a:off x="3108960" y="3657600"/>
            <a:ext cx="2157984" cy="603504"/>
          </a:xfrm>
          <a:prstGeom prst="roundRect">
            <a:avLst>
              <a:gd name="adj" fmla="val 7575"/>
            </a:avLst>
          </a:prstGeom>
          <a:solidFill>
            <a:srgbClr val="FFF5EB"/>
          </a:solidFill>
          <a:ln w="12700">
            <a:solidFill>
              <a:srgbClr val="C55A11"/>
            </a:solidFill>
            <a:prstDash val="dash"/>
          </a:ln>
          <a:effectLst/>
        </p:spPr>
        <p:txBody>
          <a:bodyPr rtlCol="0" anchor="ctr" wrap="square" lIns="64008" rIns="64008" tIns="18288" bIns="18288">
            <a:noAutofit/>
          </a:bodyPr>
          <a:lstStyle/>
          <a:p>
            <a:pPr algn="l"/>
            <a:r>
              <a:rPr sz="1000" b="1" i="0" lang="ko-KR" altLang="en-US">
                <a:solidFill>
                  <a:srgbClr val="C55A11"/>
                </a:solidFill>
                <a:latin typeface="LG스마트체 Regular"/>
                <a:ea typeface="LG스마트체 Regular"/>
                <a:cs typeface="LG스마트체 Regular"/>
              </a:rPr>
              <a:t>… 확인 중: </a:t>
            </a:r>
            <a:r>
              <a:rPr sz="1000" b="0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1TB로 시작, 최대 4TB (다빈치 회신 '가능할 것')</a:t>
            </a:r>
          </a:p>
        </p:txBody>
      </p:sp>
      <p:sp>
        <p:nvSpPr>
          <p:cNvPr id="19" name="box4-ai"/>
          <p:cNvSpPr/>
          <p:nvPr/>
        </p:nvSpPr>
        <p:spPr>
          <a:xfrm>
            <a:off x="6217920" y="1097280"/>
            <a:ext cx="1737360" cy="1828800"/>
          </a:xfrm>
          <a:prstGeom prst="roundRect">
            <a:avLst>
              <a:gd name="adj" fmla="val 5263"/>
            </a:avLst>
          </a:prstGeom>
          <a:noFill/>
          <a:ln w="15875">
            <a:solidFill>
              <a:srgbClr val="C55A11"/>
            </a:solidFill>
            <a:prstDash val="dash"/>
          </a:ln>
          <a:effectLst/>
        </p:spPr>
        <p:txBody>
          <a:bodyPr rtlCol="0" anchor="ctr"/>
          <a:lstStyle/>
          <a:p/>
        </p:txBody>
      </p:sp>
      <p:sp>
        <p:nvSpPr>
          <p:cNvPr id="20" name="icon-ai"/>
          <p:cNvSpPr/>
          <p:nvPr/>
        </p:nvSpPr>
        <p:spPr>
          <a:xfrm>
            <a:off x="6327648" y="1197864"/>
            <a:ext cx="365760" cy="36576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15500" y="13000"/>
                </a:moveTo>
                <a:cubicBezTo>
                  <a:pt x="13567" y="13000"/>
                  <a:pt x="12000" y="14567"/>
                  <a:pt x="12000" y="16500"/>
                </a:cubicBezTo>
                <a:lnTo>
                  <a:pt x="12000" y="17500"/>
                </a:lnTo>
                <a:cubicBezTo>
                  <a:pt x="12000" y="19433"/>
                  <a:pt x="13567" y="21000"/>
                  <a:pt x="15500" y="21000"/>
                </a:cubicBezTo>
                <a:cubicBezTo>
                  <a:pt x="17433" y="21000"/>
                  <a:pt x="19000" y="19433"/>
                  <a:pt x="19000" y="17500"/>
                </a:cubicBezTo>
                <a:lnTo>
                  <a:pt x="19000" y="15700"/>
                </a:lnTo>
              </a:path>
              <a:path w="24000" h="24000" fill="none">
                <a:moveTo>
                  <a:pt x="8500" y="13000"/>
                </a:moveTo>
                <a:cubicBezTo>
                  <a:pt x="10433" y="13000"/>
                  <a:pt x="12000" y="14567"/>
                  <a:pt x="12000" y="16500"/>
                </a:cubicBezTo>
                <a:lnTo>
                  <a:pt x="12000" y="17500"/>
                </a:lnTo>
                <a:cubicBezTo>
                  <a:pt x="12000" y="19433"/>
                  <a:pt x="10433" y="21000"/>
                  <a:pt x="8500" y="21000"/>
                </a:cubicBezTo>
                <a:cubicBezTo>
                  <a:pt x="6567" y="21000"/>
                  <a:pt x="5000" y="19433"/>
                  <a:pt x="5000" y="17500"/>
                </a:cubicBezTo>
                <a:lnTo>
                  <a:pt x="5000" y="15700"/>
                </a:lnTo>
              </a:path>
              <a:path w="24000" h="24000" fill="none">
                <a:moveTo>
                  <a:pt x="17500" y="16000"/>
                </a:moveTo>
                <a:cubicBezTo>
                  <a:pt x="19433" y="16000"/>
                  <a:pt x="21000" y="14433"/>
                  <a:pt x="21000" y="12500"/>
                </a:cubicBezTo>
                <a:cubicBezTo>
                  <a:pt x="21000" y="10567"/>
                  <a:pt x="19433" y="9000"/>
                  <a:pt x="17500" y="9000"/>
                </a:cubicBezTo>
                <a:lnTo>
                  <a:pt x="17000" y="9000"/>
                </a:lnTo>
              </a:path>
              <a:path w="24000" h="24000" fill="none">
                <a:moveTo>
                  <a:pt x="19000" y="9300"/>
                </a:moveTo>
                <a:lnTo>
                  <a:pt x="19000" y="6500"/>
                </a:lnTo>
                <a:cubicBezTo>
                  <a:pt x="19000" y="4567"/>
                  <a:pt x="17433" y="3000"/>
                  <a:pt x="15500" y="3000"/>
                </a:cubicBezTo>
                <a:cubicBezTo>
                  <a:pt x="13567" y="3000"/>
                  <a:pt x="12000" y="4567"/>
                  <a:pt x="12000" y="6500"/>
                </a:cubicBezTo>
              </a:path>
              <a:path w="24000" h="24000" fill="none">
                <a:moveTo>
                  <a:pt x="6500" y="16000"/>
                </a:moveTo>
                <a:cubicBezTo>
                  <a:pt x="4567" y="16000"/>
                  <a:pt x="3000" y="14433"/>
                  <a:pt x="3000" y="12500"/>
                </a:cubicBezTo>
                <a:cubicBezTo>
                  <a:pt x="3000" y="10567"/>
                  <a:pt x="4567" y="9000"/>
                  <a:pt x="6500" y="9000"/>
                </a:cubicBezTo>
                <a:lnTo>
                  <a:pt x="7000" y="9000"/>
                </a:lnTo>
              </a:path>
              <a:path w="24000" h="24000" fill="none">
                <a:moveTo>
                  <a:pt x="5000" y="9300"/>
                </a:moveTo>
                <a:lnTo>
                  <a:pt x="5000" y="6500"/>
                </a:lnTo>
                <a:cubicBezTo>
                  <a:pt x="5000" y="4567"/>
                  <a:pt x="6567" y="3000"/>
                  <a:pt x="8500" y="3000"/>
                </a:cubicBezTo>
                <a:cubicBezTo>
                  <a:pt x="10433" y="3000"/>
                  <a:pt x="12000" y="4567"/>
                  <a:pt x="12000" y="6500"/>
                </a:cubicBezTo>
                <a:lnTo>
                  <a:pt x="12000" y="16500"/>
                </a:lnTo>
              </a:path>
            </a:pathLst>
          </a:custGeom>
          <a:solidFill>
            <a:srgbClr val="1F3864"/>
          </a:solidFill>
          <a:ln w="12700">
            <a:solidFill>
              <a:srgbClr val="1F3864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748272" y="1179576"/>
            <a:ext cx="1188720" cy="438912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/>
            <a:r>
              <a:rPr sz="1200" b="1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사내 AI</a:t>
            </a:r>
          </a:p>
          <a:p>
            <a:pPr algn="l"/>
            <a:r>
              <a:rPr sz="1000" b="0" i="0" lang="ko-KR" altLang="en-US">
                <a:solidFill>
                  <a:srgbClr val="595959"/>
                </a:solidFill>
                <a:latin typeface="LG스마트체 Regular"/>
                <a:ea typeface="LG스마트체 Regular"/>
                <a:cs typeface="LG스마트체 Regular"/>
              </a:rPr>
              <a:t>(EXAONE)</a:t>
            </a:r>
          </a:p>
        </p:txBody>
      </p:sp>
      <p:sp>
        <p:nvSpPr>
          <p:cNvPr id="22" name="chip-ai-ok"/>
          <p:cNvSpPr/>
          <p:nvPr/>
        </p:nvSpPr>
        <p:spPr>
          <a:xfrm>
            <a:off x="6309360" y="1700784"/>
            <a:ext cx="1554480" cy="512064"/>
          </a:xfrm>
          <a:prstGeom prst="roundRect">
            <a:avLst>
              <a:gd name="adj" fmla="val 8928"/>
            </a:avLst>
          </a:prstGeom>
          <a:solidFill>
            <a:srgbClr val="EAF4EA"/>
          </a:solidFill>
          <a:ln w="12700">
            <a:solidFill>
              <a:srgbClr val="2E7D32"/>
            </a:solidFill>
          </a:ln>
          <a:effectLst/>
        </p:spPr>
        <p:txBody>
          <a:bodyPr rtlCol="0" anchor="ctr" wrap="square" lIns="64008" rIns="64008" tIns="18288" bIns="18288">
            <a:noAutofit/>
          </a:bodyPr>
          <a:lstStyle/>
          <a:p>
            <a:pPr algn="l"/>
            <a:r>
              <a:rPr sz="1000" b="1" i="0" lang="ko-KR" altLang="en-US">
                <a:solidFill>
                  <a:srgbClr val="2E7D32"/>
                </a:solidFill>
                <a:latin typeface="LG스마트체 Regular"/>
                <a:ea typeface="LG스마트체 Regular"/>
                <a:cs typeface="LG스마트체 Regular"/>
              </a:rPr>
              <a:t>✓ 개인 PC 연결 정상</a:t>
            </a:r>
            <a:r>
              <a:rPr sz="1000" b="0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 (사용자 확인)</a:t>
            </a:r>
          </a:p>
        </p:txBody>
      </p:sp>
      <p:sp>
        <p:nvSpPr>
          <p:cNvPr id="23" name="chip-ai-path"/>
          <p:cNvSpPr/>
          <p:nvPr/>
        </p:nvSpPr>
        <p:spPr>
          <a:xfrm>
            <a:off x="6309360" y="2286000"/>
            <a:ext cx="1554480" cy="548640"/>
          </a:xfrm>
          <a:prstGeom prst="roundRect">
            <a:avLst>
              <a:gd name="adj" fmla="val 8333"/>
            </a:avLst>
          </a:prstGeom>
          <a:solidFill>
            <a:srgbClr val="FFF5EB"/>
          </a:solidFill>
          <a:ln w="12700">
            <a:solidFill>
              <a:srgbClr val="C55A11"/>
            </a:solidFill>
            <a:prstDash val="dash"/>
          </a:ln>
          <a:effectLst/>
        </p:spPr>
        <p:txBody>
          <a:bodyPr rtlCol="0" anchor="ctr" wrap="square" lIns="64008" rIns="64008" tIns="18288" bIns="18288">
            <a:noAutofit/>
          </a:bodyPr>
          <a:lstStyle/>
          <a:p>
            <a:pPr algn="l"/>
            <a:r>
              <a:rPr sz="1000" b="1" i="0" lang="ko-KR" altLang="en-US">
                <a:solidFill>
                  <a:srgbClr val="C55A11"/>
                </a:solidFill>
                <a:latin typeface="LG스마트체 Regular"/>
                <a:ea typeface="LG스마트체 Regular"/>
                <a:cs typeface="LG스마트체 Regular"/>
              </a:rPr>
              <a:t>… 확인 중: </a:t>
            </a:r>
            <a:r>
              <a:rPr sz="1000" b="0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회사 서버에서의 연결 경로</a:t>
            </a:r>
          </a:p>
        </p:txBody>
      </p:sp>
      <p:sp>
        <p:nvSpPr>
          <p:cNvPr id="24" name="box5-backup"/>
          <p:cNvSpPr/>
          <p:nvPr/>
        </p:nvSpPr>
        <p:spPr>
          <a:xfrm>
            <a:off x="6217920" y="3154680"/>
            <a:ext cx="1737360" cy="1600200"/>
          </a:xfrm>
          <a:prstGeom prst="roundRect">
            <a:avLst>
              <a:gd name="adj" fmla="val 5714"/>
            </a:avLst>
          </a:prstGeom>
          <a:solidFill>
            <a:srgbClr val="FFF5EB"/>
          </a:solidFill>
          <a:ln w="15875">
            <a:solidFill>
              <a:srgbClr val="C55A11"/>
            </a:solidFill>
            <a:prstDash val="dash"/>
          </a:ln>
          <a:effectLst/>
        </p:spPr>
        <p:txBody>
          <a:bodyPr rtlCol="0" anchor="ctr"/>
          <a:lstStyle/>
          <a:p/>
        </p:txBody>
      </p:sp>
      <p:sp>
        <p:nvSpPr>
          <p:cNvPr id="25" name="icon-backup"/>
          <p:cNvSpPr/>
          <p:nvPr/>
        </p:nvSpPr>
        <p:spPr>
          <a:xfrm>
            <a:off x="6327648" y="3255264"/>
            <a:ext cx="365760" cy="365760"/>
          </a:xfrm>
          <a:custGeom>
            <a:avLst/>
            <a:gdLst/>
            <a:ahLst/>
            <a:cxnLst/>
            <a:rect l="0" t="0" r="r" b="b"/>
            <a:pathLst>
              <a:path w="24000" h="24000" stroke="0">
                <a:moveTo>
                  <a:pt x="19350" y="10040"/>
                </a:moveTo>
                <a:cubicBezTo>
                  <a:pt x="18657" y="6529"/>
                  <a:pt x="15578" y="3999"/>
                  <a:pt x="12000" y="4000"/>
                </a:cubicBezTo>
                <a:cubicBezTo>
                  <a:pt x="9110" y="4000"/>
                  <a:pt x="6600" y="5640"/>
                  <a:pt x="5350" y="8040"/>
                </a:cubicBezTo>
                <a:cubicBezTo>
                  <a:pt x="2306" y="8369"/>
                  <a:pt x="0" y="10939"/>
                  <a:pt x="0" y="14000"/>
                </a:cubicBezTo>
                <a:cubicBezTo>
                  <a:pt x="0" y="17310"/>
                  <a:pt x="2690" y="20000"/>
                  <a:pt x="6000" y="20000"/>
                </a:cubicBezTo>
                <a:lnTo>
                  <a:pt x="19000" y="20000"/>
                </a:lnTo>
                <a:cubicBezTo>
                  <a:pt x="21760" y="20000"/>
                  <a:pt x="24000" y="17760"/>
                  <a:pt x="24000" y="15000"/>
                </a:cubicBezTo>
                <a:cubicBezTo>
                  <a:pt x="24000" y="12360"/>
                  <a:pt x="21950" y="10220"/>
                  <a:pt x="19350" y="10040"/>
                </a:cubicBezTo>
                <a:close/>
                <a:moveTo>
                  <a:pt x="14000" y="13000"/>
                </a:moveTo>
                <a:lnTo>
                  <a:pt x="14000" y="17000"/>
                </a:lnTo>
                <a:lnTo>
                  <a:pt x="10000" y="17000"/>
                </a:lnTo>
                <a:lnTo>
                  <a:pt x="10000" y="13000"/>
                </a:lnTo>
                <a:lnTo>
                  <a:pt x="7000" y="13000"/>
                </a:lnTo>
                <a:lnTo>
                  <a:pt x="12000" y="8000"/>
                </a:lnTo>
                <a:lnTo>
                  <a:pt x="17000" y="13000"/>
                </a:lnTo>
                <a:lnTo>
                  <a:pt x="14000" y="13000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748272" y="3236976"/>
            <a:ext cx="1188720" cy="438912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/>
            <a:r>
              <a:rPr sz="1200" b="1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백업 보관함</a:t>
            </a:r>
          </a:p>
          <a:p>
            <a:pPr algn="l"/>
            <a:r>
              <a:rPr sz="1000" b="0" i="0" lang="ko-KR" altLang="en-US">
                <a:solidFill>
                  <a:srgbClr val="595959"/>
                </a:solidFill>
                <a:latin typeface="LG스마트체 Regular"/>
                <a:ea typeface="LG스마트체 Regular"/>
                <a:cs typeface="LG스마트체 Regular"/>
              </a:rPr>
              <a:t>(NAS)</a:t>
            </a:r>
          </a:p>
        </p:txBody>
      </p:sp>
      <p:sp>
        <p:nvSpPr>
          <p:cNvPr id="27" name="chip-nas"/>
          <p:cNvSpPr/>
          <p:nvPr/>
        </p:nvSpPr>
        <p:spPr>
          <a:xfrm>
            <a:off x="6309360" y="3767328"/>
            <a:ext cx="1554480" cy="896112"/>
          </a:xfrm>
          <a:prstGeom prst="roundRect">
            <a:avLst>
              <a:gd name="adj" fmla="val 5102"/>
            </a:avLst>
          </a:prstGeom>
          <a:solidFill>
            <a:srgbClr val="FFF5EB"/>
          </a:solidFill>
          <a:ln w="12700">
            <a:solidFill>
              <a:srgbClr val="C55A11"/>
            </a:solidFill>
            <a:prstDash val="dash"/>
          </a:ln>
          <a:effectLst/>
        </p:spPr>
        <p:txBody>
          <a:bodyPr rtlCol="0" anchor="ctr" wrap="square" lIns="64008" rIns="64008" tIns="18288" bIns="18288">
            <a:noAutofit/>
          </a:bodyPr>
          <a:lstStyle/>
          <a:p>
            <a:pPr algn="l"/>
            <a:r>
              <a:rPr sz="1000" b="1" i="0" lang="ko-KR" altLang="en-US">
                <a:solidFill>
                  <a:srgbClr val="C55A11"/>
                </a:solidFill>
                <a:latin typeface="LG스마트체 Regular"/>
                <a:ea typeface="LG스마트체 Regular"/>
                <a:cs typeface="LG스마트체 Regular"/>
              </a:rPr>
              <a:t>… 확인 중: </a:t>
            </a:r>
            <a:r>
              <a:rPr sz="1000" b="0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2TB · 1년 보관 요청, 다빈치 미회신</a:t>
            </a:r>
          </a:p>
        </p:txBody>
      </p:sp>
      <p:cxnSp>
        <p:nvCxnSpPr>
          <p:cNvPr id="28" name="flow1-input"/>
          <p:cNvCxnSpPr/>
          <p:nvPr/>
        </p:nvCxnSpPr>
        <p:spPr>
          <a:xfrm>
            <a:off x="2011680" y="2468880"/>
            <a:ext cx="868680" cy="0"/>
          </a:xfrm>
          <a:prstGeom prst="line">
            <a:avLst/>
          </a:prstGeom>
          <a:ln w="19050">
            <a:solidFill>
              <a:srgbClr val="C55A11"/>
            </a:solidFill>
            <a:prstDash val="dash"/>
            <a:tailEnd type="triangle" w="med" len="med"/>
          </a:ln>
        </p:spPr>
      </p:cxnSp>
      <p:sp>
        <p:nvSpPr>
          <p:cNvPr id="29" name="badge-1"/>
          <p:cNvSpPr/>
          <p:nvPr/>
        </p:nvSpPr>
        <p:spPr>
          <a:xfrm>
            <a:off x="2308860" y="2331720"/>
            <a:ext cx="274320" cy="274320"/>
          </a:xfrm>
          <a:prstGeom prst="ellipse">
            <a:avLst/>
          </a:prstGeom>
          <a:solidFill>
            <a:srgbClr val="1F3864"/>
          </a:solidFill>
          <a:ln w="9525">
            <a:solidFill>
              <a:srgbClr val="FFFFFF"/>
            </a:solidFill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000" b="1" i="0" lang="ko-KR" altLang="en-US">
                <a:solidFill>
                  <a:srgbClr val="FFFFFF"/>
                </a:solidFill>
                <a:latin typeface="LG스마트체 Regular"/>
                <a:ea typeface="LG스마트체 Regular"/>
                <a:cs typeface="LG스마트체 Regular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29968" y="2075688"/>
            <a:ext cx="832104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ctr"/>
            <a:r>
              <a:rPr sz="1000" b="1" i="0" lang="ko-KR" altLang="en-US">
                <a:solidFill>
                  <a:srgbClr val="1F3864"/>
                </a:solidFill>
                <a:latin typeface="LG스마트체 Regular"/>
                <a:ea typeface="LG스마트체 Regular"/>
                <a:cs typeface="LG스마트체 Regular"/>
              </a:rPr>
              <a:t>기록 입력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29968" y="2633472"/>
            <a:ext cx="832104" cy="384048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ctr"/>
            <a:r>
              <a:rPr sz="1000" b="0" i="0" lang="ko-KR" altLang="en-US">
                <a:solidFill>
                  <a:srgbClr val="C55A11"/>
                </a:solidFill>
                <a:latin typeface="LG스마트체 Regular"/>
                <a:ea typeface="LG스마트체 Regular"/>
                <a:cs typeface="LG스마트체 Regular"/>
              </a:rPr>
              <a:t>접속 경로</a:t>
            </a:r>
          </a:p>
          <a:p>
            <a:pPr algn="ctr"/>
            <a:r>
              <a:rPr sz="1000" b="0" i="0" lang="ko-KR" altLang="en-US">
                <a:solidFill>
                  <a:srgbClr val="C55A11"/>
                </a:solidFill>
                <a:latin typeface="LG스마트체 Regular"/>
                <a:ea typeface="LG스마트체 Regular"/>
                <a:cs typeface="LG스마트체 Regular"/>
              </a:rPr>
              <a:t>확인 중</a:t>
            </a:r>
          </a:p>
        </p:txBody>
      </p:sp>
      <p:cxnSp>
        <p:nvCxnSpPr>
          <p:cNvPr id="32" name="flow3-report"/>
          <p:cNvCxnSpPr/>
          <p:nvPr/>
        </p:nvCxnSpPr>
        <p:spPr>
          <a:xfrm flipH="1">
            <a:off x="2011680" y="3337560"/>
            <a:ext cx="868680" cy="0"/>
          </a:xfrm>
          <a:prstGeom prst="line">
            <a:avLst/>
          </a:prstGeom>
          <a:ln w="19050">
            <a:solidFill>
              <a:srgbClr val="1F3864"/>
            </a:solidFill>
            <a:tailEnd type="triangle" w="med" len="med"/>
          </a:ln>
        </p:spPr>
      </p:cxnSp>
      <p:sp>
        <p:nvSpPr>
          <p:cNvPr id="33" name="badge-3"/>
          <p:cNvSpPr/>
          <p:nvPr/>
        </p:nvSpPr>
        <p:spPr>
          <a:xfrm>
            <a:off x="2308860" y="3200400"/>
            <a:ext cx="274320" cy="274320"/>
          </a:xfrm>
          <a:prstGeom prst="ellipse">
            <a:avLst/>
          </a:prstGeom>
          <a:solidFill>
            <a:srgbClr val="1F3864"/>
          </a:solidFill>
          <a:ln w="9525">
            <a:solidFill>
              <a:srgbClr val="FFFFFF"/>
            </a:solidFill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000" b="1" i="0" lang="ko-KR" altLang="en-US">
                <a:solidFill>
                  <a:srgbClr val="FFFFFF"/>
                </a:solidFill>
                <a:latin typeface="LG스마트체 Regular"/>
                <a:ea typeface="LG스마트체 Regular"/>
                <a:cs typeface="LG스마트체 Regular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29968" y="3493008"/>
            <a:ext cx="832104" cy="384048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ctr"/>
            <a:r>
              <a:rPr sz="1000" b="1" i="0" lang="ko-KR" altLang="en-US">
                <a:solidFill>
                  <a:srgbClr val="1F3864"/>
                </a:solidFill>
                <a:latin typeface="LG스마트체 Regular"/>
                <a:ea typeface="LG스마트체 Regular"/>
                <a:cs typeface="LG스마트체 Regular"/>
              </a:rPr>
              <a:t>보고서</a:t>
            </a:r>
          </a:p>
          <a:p>
            <a:pPr algn="ctr"/>
            <a:r>
              <a:rPr sz="1000" b="1" i="0" lang="ko-KR" altLang="en-US">
                <a:solidFill>
                  <a:srgbClr val="1F3864"/>
                </a:solidFill>
                <a:latin typeface="LG스마트체 Regular"/>
                <a:ea typeface="LG스마트체 Regular"/>
                <a:cs typeface="LG스마트체 Regular"/>
              </a:rPr>
              <a:t>내려받기(PPT)</a:t>
            </a:r>
          </a:p>
        </p:txBody>
      </p:sp>
      <p:cxnSp>
        <p:nvCxnSpPr>
          <p:cNvPr id="35" name="flow2-ai"/>
          <p:cNvCxnSpPr/>
          <p:nvPr/>
        </p:nvCxnSpPr>
        <p:spPr>
          <a:xfrm>
            <a:off x="5486400" y="2011680"/>
            <a:ext cx="731520" cy="0"/>
          </a:xfrm>
          <a:prstGeom prst="line">
            <a:avLst/>
          </a:prstGeom>
          <a:ln w="19050">
            <a:solidFill>
              <a:srgbClr val="C55A11"/>
            </a:solidFill>
            <a:prstDash val="dash"/>
            <a:tailEnd type="triangle" w="med" len="med"/>
          </a:ln>
        </p:spPr>
      </p:cxnSp>
      <p:sp>
        <p:nvSpPr>
          <p:cNvPr id="36" name="badge-2"/>
          <p:cNvSpPr/>
          <p:nvPr/>
        </p:nvSpPr>
        <p:spPr>
          <a:xfrm>
            <a:off x="5715000" y="1874520"/>
            <a:ext cx="274320" cy="274320"/>
          </a:xfrm>
          <a:prstGeom prst="ellipse">
            <a:avLst/>
          </a:prstGeom>
          <a:solidFill>
            <a:srgbClr val="1F3864"/>
          </a:solidFill>
          <a:ln w="9525">
            <a:solidFill>
              <a:srgbClr val="FFFFFF"/>
            </a:solidFill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000" b="1" i="0" lang="ko-KR" altLang="en-US">
                <a:solidFill>
                  <a:srgbClr val="FFFFFF"/>
                </a:solidFill>
                <a:latin typeface="LG스마트체 Regular"/>
                <a:ea typeface="LG스마트체 Regular"/>
                <a:cs typeface="LG스마트체 Regular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04688" y="1536192"/>
            <a:ext cx="694944" cy="384048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ctr"/>
            <a:r>
              <a:rPr sz="1000" b="1" i="0" lang="ko-KR" altLang="en-US">
                <a:solidFill>
                  <a:srgbClr val="1F3864"/>
                </a:solidFill>
                <a:latin typeface="LG스마트체 Regular"/>
                <a:ea typeface="LG스마트체 Regular"/>
                <a:cs typeface="LG스마트체 Regular"/>
              </a:rPr>
              <a:t>AI 요약</a:t>
            </a:r>
          </a:p>
          <a:p>
            <a:pPr algn="ctr"/>
            <a:r>
              <a:rPr sz="1000" b="1" i="0" lang="ko-KR" altLang="en-US">
                <a:solidFill>
                  <a:srgbClr val="1F3864"/>
                </a:solidFill>
                <a:latin typeface="LG스마트체 Regular"/>
                <a:ea typeface="LG스마트체 Regular"/>
                <a:cs typeface="LG스마트체 Regular"/>
              </a:rPr>
              <a:t>요청</a:t>
            </a:r>
          </a:p>
        </p:txBody>
      </p:sp>
      <p:cxnSp>
        <p:nvCxnSpPr>
          <p:cNvPr id="38" name="flow4-backup"/>
          <p:cNvCxnSpPr/>
          <p:nvPr/>
        </p:nvCxnSpPr>
        <p:spPr>
          <a:xfrm>
            <a:off x="5376672" y="4069080"/>
            <a:ext cx="841248" cy="0"/>
          </a:xfrm>
          <a:prstGeom prst="line">
            <a:avLst/>
          </a:prstGeom>
          <a:ln w="19050">
            <a:solidFill>
              <a:srgbClr val="C55A11"/>
            </a:solidFill>
            <a:prstDash val="dash"/>
            <a:tailEnd type="triangle" w="med" len="med"/>
          </a:ln>
        </p:spPr>
      </p:cxnSp>
      <p:sp>
        <p:nvSpPr>
          <p:cNvPr id="39" name="badge-4"/>
          <p:cNvSpPr/>
          <p:nvPr/>
        </p:nvSpPr>
        <p:spPr>
          <a:xfrm>
            <a:off x="5715000" y="3931920"/>
            <a:ext cx="274320" cy="274320"/>
          </a:xfrm>
          <a:prstGeom prst="ellipse">
            <a:avLst/>
          </a:prstGeom>
          <a:solidFill>
            <a:srgbClr val="1F3864"/>
          </a:solidFill>
          <a:ln w="9525">
            <a:solidFill>
              <a:srgbClr val="FFFFFF"/>
            </a:solidFill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000" b="1" i="0" lang="ko-KR" altLang="en-US">
                <a:solidFill>
                  <a:srgbClr val="FFFFFF"/>
                </a:solidFill>
                <a:latin typeface="LG스마트체 Regular"/>
                <a:ea typeface="LG스마트체 Regular"/>
                <a:cs typeface="LG스마트체 Regular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04688" y="4242816"/>
            <a:ext cx="694944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ctr"/>
            <a:r>
              <a:rPr sz="1000" b="1" i="0" lang="ko-KR" altLang="en-US">
                <a:solidFill>
                  <a:srgbClr val="1F3864"/>
                </a:solidFill>
                <a:latin typeface="LG스마트체 Regular"/>
                <a:ea typeface="LG스마트체 Regular"/>
                <a:cs typeface="LG스마트체 Regular"/>
              </a:rPr>
              <a:t>매일 백업</a:t>
            </a:r>
          </a:p>
        </p:txBody>
      </p:sp>
      <p:sp>
        <p:nvSpPr>
          <p:cNvPr id="41" name="box-scale-when"/>
          <p:cNvSpPr/>
          <p:nvPr/>
        </p:nvSpPr>
        <p:spPr>
          <a:xfrm>
            <a:off x="411480" y="4983480"/>
            <a:ext cx="7543800" cy="822960"/>
          </a:xfrm>
          <a:prstGeom prst="roundRect">
            <a:avLst>
              <a:gd name="adj" fmla="val 8888"/>
            </a:avLst>
          </a:prstGeom>
          <a:solidFill>
            <a:srgbClr val="FAFAFA"/>
          </a:solidFill>
          <a:ln w="12700">
            <a:solidFill>
              <a:srgbClr val="D9D9D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2" name="qtag-③ 몇 명·언제?"/>
          <p:cNvSpPr/>
          <p:nvPr/>
        </p:nvSpPr>
        <p:spPr>
          <a:xfrm>
            <a:off x="548640" y="5266944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000" b="1" i="0" lang="ko-KR" altLang="en-US">
                <a:solidFill>
                  <a:srgbClr val="FFFFFF"/>
                </a:solidFill>
                <a:latin typeface="LG스마트체 Regular"/>
                <a:ea typeface="LG스마트체 Regular"/>
                <a:cs typeface="LG스마트체 Regular"/>
              </a:rPr>
              <a:t>③ 몇 명·언제?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74520" y="5029200"/>
            <a:ext cx="5989320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sz="1050" b="1" i="0" lang="ko-KR" altLang="en-US">
                <a:solidFill>
                  <a:srgbClr val="1F3864"/>
                </a:solidFill>
                <a:latin typeface="LG스마트체 Regular"/>
                <a:ea typeface="LG스마트체 Regular"/>
                <a:cs typeface="LG스마트체 Regular"/>
              </a:rPr>
              <a:t>현재 검증된 규모: </a:t>
            </a:r>
            <a:r>
              <a:rPr sz="1050" b="1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약 20명 (설계 기준)</a:t>
            </a:r>
            <a:r>
              <a:rPr sz="1050" b="0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 · 메일의 100명 동시 사용은 측정 후 판단</a:t>
            </a:r>
          </a:p>
          <a:p>
            <a:pPr algn="l">
              <a:spcBef>
                <a:spcPts val="400"/>
              </a:spcBef>
            </a:pPr>
            <a:r>
              <a:rPr sz="1050" b="1" i="0" lang="ko-KR" altLang="en-US">
                <a:solidFill>
                  <a:srgbClr val="1F3864"/>
                </a:solidFill>
                <a:latin typeface="LG스마트체 Regular"/>
                <a:ea typeface="LG스마트체 Regular"/>
                <a:cs typeface="LG스마트체 Regular"/>
              </a:rPr>
              <a:t>사용 시작 시점: </a:t>
            </a:r>
            <a:r>
              <a:rPr sz="1050" b="0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서버 할당과 ④ 확인 후 결정 (날짜 미정)</a:t>
            </a:r>
          </a:p>
        </p:txBody>
      </p:sp>
      <p:sp>
        <p:nvSpPr>
          <p:cNvPr id="44" name="qtag-④ 확인할 것"/>
          <p:cNvSpPr/>
          <p:nvPr/>
        </p:nvSpPr>
        <p:spPr>
          <a:xfrm>
            <a:off x="8183880" y="102412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1000" b="1" i="0" lang="ko-KR" altLang="en-US">
                <a:solidFill>
                  <a:srgbClr val="FFFFFF"/>
                </a:solidFill>
                <a:latin typeface="LG스마트체 Regular"/>
                <a:ea typeface="LG스마트체 Regular"/>
                <a:cs typeface="LG스마트체 Regular"/>
              </a:rPr>
              <a:t>④ 확인할 것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08592" y="1014984"/>
            <a:ext cx="246888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/>
            <a:r>
              <a:rPr sz="1200" b="1" i="0" lang="ko-KR" altLang="en-US">
                <a:solidFill>
                  <a:srgbClr val="1F3864"/>
                </a:solidFill>
                <a:latin typeface="LG스마트체 Regular"/>
                <a:ea typeface="LG스마트체 Regular"/>
                <a:cs typeface="LG스마트체 Regular"/>
              </a:rPr>
              <a:t>착수 전 확인 사항 — 누가</a:t>
            </a:r>
          </a:p>
        </p:txBody>
      </p:sp>
      <p:graphicFrame>
        <p:nvGraphicFramePr>
          <p:cNvPr id="46" name="check-table"/>
          <p:cNvGraphicFramePr>
            <a:graphicFrameLocks noGrp="1"/>
          </p:cNvGraphicFramePr>
          <p:nvPr/>
        </p:nvGraphicFramePr>
        <p:xfrm>
          <a:off x="8183880" y="1417320"/>
          <a:ext cx="3593592" cy="33832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22960"/>
                <a:gridCol w="1645920"/>
                <a:gridCol w="1124712"/>
              </a:tblGrid>
              <a:tr h="292608"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1000" b="1" i="0" lang="ko-KR" altLang="en-US">
                          <a:solidFill>
                            <a:srgbClr val="FFFFFF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확인할 것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1000" b="1" i="0" lang="ko-KR" altLang="en-US">
                          <a:solidFill>
                            <a:srgbClr val="FFFFFF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쉬운 설명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1000" b="1" i="0" lang="ko-KR" altLang="en-US">
                          <a:solidFill>
                            <a:srgbClr val="FFFFFF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담당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731520"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1000" b="1" i="0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1. </a:t>
                      </a:r>
                      <a:r>
                        <a:rPr sz="1000" b="1" i="0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저장 위치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1000" b="0" i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업무 기록은 서버 디스크에 두고, NAS는 백업에만 사용 (NAS에 직접 저장 불가)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1000" b="0" i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이재후 ↔</a:t>
                      </a:r>
                    </a:p>
                    <a:p>
                      <a:pPr algn="l"/>
                      <a:r>
                        <a:rPr sz="1000" b="0" i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다빈치팀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566928"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1000" b="1" i="0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2. </a:t>
                      </a:r>
                      <a:r>
                        <a:rPr sz="1000" b="1" i="0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사용 규모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1000" b="0" i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현재 검증 규모 약 20명, 100명은 측정 후 판단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1000" b="0" i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이재후</a:t>
                      </a:r>
                    </a:p>
                    <a:p>
                      <a:pPr algn="l"/>
                      <a:r>
                        <a:rPr sz="1000" b="0" i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(부하 측정)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896112"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1000" b="1" i="0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3. </a:t>
                      </a:r>
                      <a:r>
                        <a:rPr sz="1000" b="1" i="0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백업 용량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1000" b="0" i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지금 백업 방식이면 NAS 2TB가 약 2개월 안에 가득 참(가정) → 보관 방식 재설계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1000" b="0" i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이재후 (재설계)</a:t>
                      </a:r>
                    </a:p>
                    <a:p>
                      <a:pPr algn="l"/>
                      <a:r>
                        <a:rPr sz="1000" b="0" i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다빈치팀</a:t>
                      </a:r>
                    </a:p>
                    <a:p>
                      <a:pPr algn="l"/>
                      <a:r>
                        <a:rPr sz="1000" b="0" i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(NAS 정책)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896112"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1000" b="1" i="0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4. </a:t>
                      </a:r>
                      <a:r>
                        <a:rPr sz="1000" b="1" i="0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서버 실행 준비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1000" b="0" i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회사 서버용 실행 패키지 아직 없음, 서버 환경(OS·실행 방식) 확인 필요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1000" b="0" i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이재후 (패키지)</a:t>
                      </a:r>
                    </a:p>
                    <a:p>
                      <a:pPr algn="l"/>
                      <a:r>
                        <a:rPr sz="1000" b="0" i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다빈치팀</a:t>
                      </a:r>
                    </a:p>
                    <a:p>
                      <a:pPr algn="l"/>
                      <a:r>
                        <a:rPr sz="1000" b="0" i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(환경 확인)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47" name="TextBox 46"/>
          <p:cNvSpPr txBox="1"/>
          <p:nvPr/>
        </p:nvSpPr>
        <p:spPr>
          <a:xfrm>
            <a:off x="8183880" y="4983480"/>
            <a:ext cx="3593592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000" b="1" i="0" lang="ko-KR" altLang="en-US">
                <a:solidFill>
                  <a:srgbClr val="1F3864"/>
                </a:solidFill>
                <a:latin typeface="LG스마트체 Regular"/>
                <a:ea typeface="LG스마트체 Regular"/>
                <a:cs typeface="LG스마트체 Regular"/>
              </a:rPr>
              <a:t>진행 방식: </a:t>
            </a:r>
            <a:r>
              <a:rPr sz="1000" b="0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다빈치팀(박정환 책임)에 검토 요청 예정 · </a:t>
            </a:r>
            <a:r>
              <a:rPr sz="1000" b="1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현재 그룹장님 결정 필요 사항 없음</a:t>
            </a:r>
          </a:p>
        </p:txBody>
      </p:sp>
      <p:cxnSp>
        <p:nvCxnSpPr>
          <p:cNvPr id="48" name="legend-solid"/>
          <p:cNvCxnSpPr/>
          <p:nvPr/>
        </p:nvCxnSpPr>
        <p:spPr>
          <a:xfrm>
            <a:off x="3931920" y="6382512"/>
            <a:ext cx="411480" cy="0"/>
          </a:xfrm>
          <a:prstGeom prst="line">
            <a:avLst/>
          </a:prstGeom>
          <a:ln w="19050">
            <a:solidFill>
              <a:srgbClr val="1F3864"/>
            </a:solidFill>
          </a:ln>
        </p:spPr>
      </p:cxnSp>
      <p:sp>
        <p:nvSpPr>
          <p:cNvPr id="49" name="TextBox 48"/>
          <p:cNvSpPr txBox="1"/>
          <p:nvPr/>
        </p:nvSpPr>
        <p:spPr>
          <a:xfrm>
            <a:off x="4407408" y="6272784"/>
            <a:ext cx="137160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/>
            <a:r>
              <a:rPr sz="1000" b="1" i="0" lang="ko-KR" altLang="en-US">
                <a:solidFill>
                  <a:srgbClr val="1F3864"/>
                </a:solidFill>
                <a:latin typeface="LG스마트체 Regular"/>
                <a:ea typeface="LG스마트체 Regular"/>
                <a:cs typeface="LG스마트체 Regular"/>
              </a:rPr>
              <a:t>✓ 확정</a:t>
            </a:r>
            <a:r>
              <a:rPr sz="1000" b="0" i="0" lang="ko-KR" altLang="en-US">
                <a:solidFill>
                  <a:srgbClr val="595959"/>
                </a:solidFill>
                <a:latin typeface="LG스마트체 Regular"/>
                <a:ea typeface="LG스마트체 Regular"/>
                <a:cs typeface="LG스마트체 Regular"/>
              </a:rPr>
              <a:t> (실선)</a:t>
            </a:r>
          </a:p>
        </p:txBody>
      </p:sp>
      <p:cxnSp>
        <p:nvCxnSpPr>
          <p:cNvPr id="50" name="legend-dash"/>
          <p:cNvCxnSpPr/>
          <p:nvPr/>
        </p:nvCxnSpPr>
        <p:spPr>
          <a:xfrm>
            <a:off x="5897880" y="6382512"/>
            <a:ext cx="411480" cy="0"/>
          </a:xfrm>
          <a:prstGeom prst="line">
            <a:avLst/>
          </a:prstGeom>
          <a:ln w="19050">
            <a:solidFill>
              <a:srgbClr val="C55A11"/>
            </a:solidFill>
            <a:prstDash val="dash"/>
          </a:ln>
        </p:spPr>
      </p:cxnSp>
      <p:sp>
        <p:nvSpPr>
          <p:cNvPr id="51" name="TextBox 50"/>
          <p:cNvSpPr txBox="1"/>
          <p:nvPr/>
        </p:nvSpPr>
        <p:spPr>
          <a:xfrm>
            <a:off x="6373368" y="6272784"/>
            <a:ext cx="155448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/>
            <a:r>
              <a:rPr sz="1000" b="1" i="0" lang="ko-KR" altLang="en-US">
                <a:solidFill>
                  <a:srgbClr val="C55A11"/>
                </a:solidFill>
                <a:latin typeface="LG스마트체 Regular"/>
                <a:ea typeface="LG스마트체 Regular"/>
                <a:cs typeface="LG스마트체 Regular"/>
              </a:rPr>
              <a:t>… 확인 중</a:t>
            </a:r>
            <a:r>
              <a:rPr sz="1000" b="0" i="0" lang="ko-KR" altLang="en-US">
                <a:solidFill>
                  <a:srgbClr val="595959"/>
                </a:solidFill>
                <a:latin typeface="LG스마트체 Regular"/>
                <a:ea typeface="LG스마트체 Regular"/>
                <a:cs typeface="LG스마트체 Regular"/>
              </a:rPr>
              <a:t> (점선)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46720" y="6281928"/>
            <a:ext cx="438912" cy="210312"/>
          </a:xfrm>
          <a:prstGeom prst="roundRect">
            <a:avLst>
              <a:gd name="adj" fmla="val 21739"/>
            </a:avLst>
          </a:prstGeom>
          <a:solidFill>
            <a:srgbClr val="FFF5EB"/>
          </a:solidFill>
          <a:ln w="9525">
            <a:solidFill>
              <a:srgbClr val="C55A11"/>
            </a:solidFill>
          </a:ln>
          <a:effectLst/>
        </p:spPr>
        <p:txBody>
          <a:bodyPr rtlCol="0" anchor="ctr" wrap="square" lIns="0" rIns="0" tIns="18288" bIns="18288">
            <a:noAutofit/>
          </a:bodyPr>
          <a:lstStyle/>
          <a:p>
            <a:pPr algn="ctr"/>
            <a:r>
              <a:rPr sz="1000" b="1" i="0" lang="ko-KR" altLang="en-US">
                <a:solidFill>
                  <a:srgbClr val="C55A11"/>
                </a:solidFill>
                <a:latin typeface="LG스마트체 Regular"/>
                <a:ea typeface="LG스마트체 Regular"/>
                <a:cs typeface="LG스마트체 Regular"/>
              </a:rPr>
              <a:t>가정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49640" y="6272784"/>
            <a:ext cx="146304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/>
            <a:r>
              <a:rPr sz="1000" b="0" i="0" lang="ko-KR" altLang="en-US">
                <a:solidFill>
                  <a:srgbClr val="595959"/>
                </a:solidFill>
                <a:latin typeface="LG스마트체 Regular"/>
                <a:ea typeface="LG스마트체 Regular"/>
                <a:cs typeface="LG스마트체 Regular"/>
              </a:rPr>
              <a:t>= 실측 전 추정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256032"/>
            <a:ext cx="11365992" cy="530352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/>
            <a:r>
              <a:rPr sz="1600" b="1" i="0" lang="ko-KR" altLang="en-US">
                <a:solidFill>
                  <a:srgbClr val="1F3864"/>
                </a:solidFill>
                <a:latin typeface="LG스마트체 Regular"/>
                <a:ea typeface="LG스마트체 Regular"/>
                <a:cs typeface="LG스마트체 Regular"/>
              </a:rPr>
              <a:t>부록 A. 사실 대조 — 확정 2 · 제안 4 · 미정 4, Docker·NAS 마운트는 DAVINCI가 아닌 우리 측 제안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11480" y="621792"/>
            <a:ext cx="1136599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/>
            <a:r>
              <a:rPr sz="1000" b="0" i="0" lang="ko-KR" altLang="en-US">
                <a:solidFill>
                  <a:srgbClr val="595959"/>
                </a:solidFill>
                <a:latin typeface="LG스마트체 Regular"/>
                <a:ea typeface="LG스마트체 Regular"/>
                <a:cs typeface="LG스마트체 Regular"/>
              </a:rPr>
              <a:t>분류 기준: 확정 = 양측 메일 합의 · 제안 = 한쪽 제시, 상대 미확인(제안 주체 표기) · 미정 = 언급 없음/조사 예정</a:t>
            </a:r>
          </a:p>
        </p:txBody>
      </p:sp>
      <p:graphicFrame>
        <p:nvGraphicFramePr>
          <p:cNvPr id="4" name="fact-table"/>
          <p:cNvGraphicFramePr>
            <a:graphicFrameLocks noGrp="1"/>
          </p:cNvGraphicFramePr>
          <p:nvPr/>
        </p:nvGraphicFramePr>
        <p:xfrm>
          <a:off x="411480" y="1188720"/>
          <a:ext cx="11365992" cy="31089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71600"/>
                <a:gridCol w="1920240"/>
                <a:gridCol w="3931920"/>
                <a:gridCol w="2377440"/>
                <a:gridCol w="1764792"/>
              </a:tblGrid>
              <a:tr h="274320"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950" b="1" i="0" lang="ko-KR" altLang="en-US">
                          <a:solidFill>
                            <a:srgbClr val="FFFFFF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항목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950" b="1" i="0" lang="ko-KR" altLang="en-US">
                          <a:solidFill>
                            <a:srgbClr val="FFFFFF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분류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950" b="1" i="0" lang="ko-KR" altLang="en-US">
                          <a:solidFill>
                            <a:srgbClr val="FFFFFF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메일 근거 (날짜·발신)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950" b="1" i="0" lang="ko-KR" altLang="en-US">
                          <a:solidFill>
                            <a:srgbClr val="FFFFFF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저장소 대조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950" b="1" i="0" lang="ko-KR" altLang="en-US">
                          <a:solidFill>
                            <a:srgbClr val="FFFFFF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다음 확인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900" b="1" i="0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OC 법인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900" b="1" i="0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확정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900" b="0" i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10-20 박정환 "OC라고 생각하면 될지" → 이재후 회신 "OC로 진행"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900" b="0" i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900" b="0" i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900" b="1" i="0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분석과제 신청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900" b="1" i="0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확정</a:t>
                      </a:r>
                      <a:r>
                        <a:rPr sz="900" b="0" i="0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 (접수 여부 미확인)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900" b="0" i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10-21 박정환 "분석 과제는 신청 주시고"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900" b="0" i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900" b="0" i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신청 완료·과제 정보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900" b="1" i="0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VM 8 Core · 32GB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900" b="1" i="0" lang="ko-KR" altLang="en-US">
                          <a:solidFill>
                            <a:srgbClr val="C55A11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제안</a:t>
                      </a:r>
                      <a:r>
                        <a:rPr sz="900" b="0" i="0" lang="ko-KR" altLang="en-US">
                          <a:solidFill>
                            <a:srgbClr val="C55A11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 (이재후 · 할당 미회신)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FFF5EB"/>
                    </a:solidFill>
                  </a:tcPr>
                </a:tc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900" b="0" i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10-20 이재후 요청 / 이정원 "할당 가능한지 확인"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900" b="0" i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worker 1개 → 코어 활용 제한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900" b="0" i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할당 회신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900" b="1" i="0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SSD 1TB → 최대 4TB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900" b="1" i="0" lang="ko-KR" altLang="en-US">
                          <a:solidFill>
                            <a:srgbClr val="C55A11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제안</a:t>
                      </a:r>
                      <a:r>
                        <a:rPr sz="900" b="0" i="0" lang="ko-KR" altLang="en-US">
                          <a:solidFill>
                            <a:srgbClr val="C55A11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 (DAVINCI · "가능할 것 같음")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FFF5EB"/>
                    </a:solidFill>
                  </a:tcPr>
                </a:tc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900" b="0" i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10-21 박정환 "1TB 수준으로 신청… 이후 SSD 4TB까지 할당 가능할 것 같으므로"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900" b="0" i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DB·첨부·보고 결과는 SSD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900" b="0" i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IP·계정 정보 메일 → 확장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900" b="1" i="0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NAS 2TB · 1년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900" b="1" i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미정</a:t>
                      </a:r>
                      <a:r>
                        <a:rPr sz="900" b="0" i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 (DAVINCI 미회신)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900" b="0" i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10-20 이재후 요청 / 박정환 "4TB(SSD 2TB, NAS 2TB)?" 질문, 10-21 회신은 SSD만 언급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900" b="0" i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백업 14개 전체 복사(backups.py)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900" b="0" i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NAS 할당·보관 정책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900" b="1" i="0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Docker 실행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900" b="1" i="0" lang="ko-KR" altLang="en-US">
                          <a:solidFill>
                            <a:srgbClr val="C55A11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제안</a:t>
                      </a:r>
                      <a:r>
                        <a:rPr sz="900" b="0" i="0" lang="ko-KR" altLang="en-US">
                          <a:solidFill>
                            <a:srgbClr val="C55A11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 (이재후)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FFF5EB"/>
                    </a:solidFill>
                  </a:tcPr>
                </a:tc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900" b="0" i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10-20 이재후 회신 "실행하는 환경 자체는 도커 컨테이너로"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900" b="0" i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Dockerfile 없음, 실행.bat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900" b="0" i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허용 여부·베이스 이미지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900" b="1" i="0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NAS 마운트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900" b="1" i="0" lang="ko-KR" altLang="en-US">
                          <a:solidFill>
                            <a:srgbClr val="C55A11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제안</a:t>
                      </a:r>
                      <a:r>
                        <a:rPr sz="900" b="0" i="0" lang="ko-KR" altLang="en-US">
                          <a:solidFill>
                            <a:srgbClr val="C55A11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 (이재후)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FFF5EB"/>
                    </a:solidFill>
                  </a:tcPr>
                </a:tc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900" b="0" i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10-20 이재후 회신 "NAS는 샌드박스에서 마운트하는 방식"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900" b="0" i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DB 불가, BACKUP_DIR만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900" b="0" i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NFS/SMB·권한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900" b="1" i="0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OS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900" b="1" i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미정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900" b="0" i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10-20 이정원 "샌드박스의 OS…요청 파일"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900" b="0" i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Windows 전용 스크립트(.bat·.ps1)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900" b="0" i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요청 파일 수령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900" b="1" i="0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EXAONE 경로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900" b="1" i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미정</a:t>
                      </a:r>
                      <a:r>
                        <a:rPr sz="900" b="0" i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 (필요성만 합의)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900" b="0" i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10-20 박정환 "엑사원과 통신이 필요할 것 같고"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900" b="0" i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config AI_API_URL·KEY (저장소 값 비어 있음)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900" b="0" i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Sandbox→EXAONE 허용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900" b="1" i="0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접근 통제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900" b="1" i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미정</a:t>
                      </a:r>
                      <a:r>
                        <a:rPr sz="900" b="0" i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 (메일 언급 없음)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900" b="0" i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900" b="0" i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로그인·권한 없음(docs/01)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900" b="0" i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사내 정책상 허용·보완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11480" y="4590288"/>
            <a:ext cx="402336" cy="201168"/>
          </a:xfrm>
          <a:prstGeom prst="roundRect">
            <a:avLst>
              <a:gd name="adj" fmla="val 22727"/>
            </a:avLst>
          </a:prstGeom>
          <a:solidFill>
            <a:srgbClr val="FFF5EB"/>
          </a:solidFill>
          <a:ln w="9525">
            <a:solidFill>
              <a:srgbClr val="C55A11"/>
            </a:solidFill>
          </a:ln>
          <a:effectLst/>
        </p:spPr>
        <p:txBody>
          <a:bodyPr rtlCol="0" anchor="ctr" wrap="square" lIns="0" rIns="0" tIns="18288" bIns="18288">
            <a:noAutofit/>
          </a:bodyPr>
          <a:lstStyle/>
          <a:p>
            <a:pPr algn="ctr"/>
            <a:r>
              <a:rPr sz="900" b="1" i="0" lang="ko-KR" altLang="en-US">
                <a:solidFill>
                  <a:srgbClr val="C55A11"/>
                </a:solidFill>
                <a:latin typeface="LG스마트체 Regular"/>
                <a:ea typeface="LG스마트체 Regular"/>
                <a:cs typeface="LG스마트체 Regular"/>
              </a:rPr>
              <a:t>가정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4572000"/>
            <a:ext cx="512064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/>
            <a:r>
              <a:rPr sz="1100" b="1" i="0" lang="ko-KR" altLang="en-US">
                <a:solidFill>
                  <a:srgbClr val="1F3864"/>
                </a:solidFill>
                <a:latin typeface="LG스마트체 Regular"/>
                <a:ea typeface="LG스마트체 Regular"/>
                <a:cs typeface="LG스마트체 Regular"/>
              </a:rPr>
              <a:t>용량 산정</a:t>
            </a:r>
            <a:r>
              <a:rPr sz="900" b="0" i="0" lang="ko-KR" altLang="en-US">
                <a:solidFill>
                  <a:srgbClr val="595959"/>
                </a:solidFill>
                <a:latin typeface="LG스마트체 Regular"/>
                <a:ea typeface="LG스마트체 Regular"/>
                <a:cs typeface="LG스마트체 Regular"/>
              </a:rPr>
              <a:t>  메일 가정 · 실측 전</a:t>
            </a:r>
          </a:p>
        </p:txBody>
      </p:sp>
      <p:graphicFrame>
        <p:nvGraphicFramePr>
          <p:cNvPr id="7" name="capacity-table"/>
          <p:cNvGraphicFramePr>
            <a:graphicFrameLocks noGrp="1"/>
          </p:cNvGraphicFramePr>
          <p:nvPr/>
        </p:nvGraphicFramePr>
        <p:xfrm>
          <a:off x="411480" y="4864608"/>
          <a:ext cx="5760720" cy="12070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3749040"/>
              </a:tblGrid>
              <a:tr h="201168"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900" b="1" i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가정 인원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900" b="0" i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200명 (동시 100명 = 50%)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900" b="1" i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1인 연간 데이터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900" b="0" i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5GB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900" b="1" i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연간 데이터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900" b="0" i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≈ 1,000GB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900" b="1" i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SSD 소진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900" b="0" i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1TB ≈ 12개월 · 4TB ≈ 4년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900" b="1" i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NAS 2TB ÷ 백업 14개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900" b="1" i="0" lang="ko-KR" altLang="en-US">
                          <a:solidFill>
                            <a:srgbClr val="C55A11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데이터 ≈ 143GB까지 (≈ 1.7개월)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FFF5EB"/>
                    </a:solidFill>
                  </a:tcPr>
                </a:tc>
              </a:tr>
              <a:tr h="201168"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900" b="1" i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1년 말 14개 전체본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 lIns="45720" rIns="45720" tIns="18288" bIns="18288" anchor="ctr">
                      <a:noAutofit/>
                    </a:bodyPr>
                    <a:lstStyle/>
                    <a:p>
                      <a:pPr algn="l"/>
                      <a:r>
                        <a:rPr sz="900" b="1" i="0" lang="ko-KR" altLang="en-US">
                          <a:solidFill>
                            <a:srgbClr val="C55A11"/>
                          </a:solidFill>
                          <a:latin typeface="LG스마트체 Regular"/>
                          <a:ea typeface="LG스마트체 Regular"/>
                          <a:cs typeface="LG스마트체 Regular"/>
                        </a:rPr>
                        <a:t>≈ 14TB</a:t>
                      </a:r>
                    </a:p>
                  </a:txBody>
                  <a:tcPr marL="54864" marR="54864" marT="22860" marB="22860" anchor="ctr">
                    <a:lnL w="6350" cmpd="sng">
                      <a:solidFill>
                        <a:srgbClr val="D9D9D9"/>
                      </a:solidFill>
                    </a:lnL>
                    <a:lnR w="6350" cmpd="sng">
                      <a:solidFill>
                        <a:srgbClr val="D9D9D9"/>
                      </a:solidFill>
                    </a:lnR>
                    <a:lnT w="6350" cmpd="sng">
                      <a:solidFill>
                        <a:srgbClr val="D9D9D9"/>
                      </a:solidFill>
                    </a:lnT>
                    <a:lnB w="6350" cmpd="sng">
                      <a:solidFill>
                        <a:srgbClr val="D9D9D9"/>
                      </a:solidFill>
                    </a:lnB>
                    <a:solidFill>
                      <a:srgbClr val="FFF5EB"/>
                    </a:solidFill>
                  </a:tcPr>
                </a:tc>
              </a:tr>
            </a:tbl>
          </a:graphicData>
        </a:graphic>
      </p:graphicFrame>
      <p:sp>
        <p:nvSpPr>
          <p:cNvPr id="8" name="measure-box"/>
          <p:cNvSpPr/>
          <p:nvPr/>
        </p:nvSpPr>
        <p:spPr>
          <a:xfrm>
            <a:off x="6400800" y="4572000"/>
            <a:ext cx="5376672" cy="1536192"/>
          </a:xfrm>
          <a:prstGeom prst="roundRect">
            <a:avLst>
              <a:gd name="adj" fmla="val 4761"/>
            </a:avLst>
          </a:prstGeom>
          <a:solidFill>
            <a:srgbClr val="EEF2F8"/>
          </a:solidFill>
          <a:ln w="12700">
            <a:solidFill>
              <a:srgbClr val="1F3864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" name="icon-clock"/>
          <p:cNvSpPr/>
          <p:nvPr/>
        </p:nvSpPr>
        <p:spPr>
          <a:xfrm>
            <a:off x="6510528" y="4663440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12000" y="12000"/>
                </a:moveTo>
                <a:moveTo>
                  <a:pt x="3000" y="12000"/>
                </a:moveTo>
                <a:cubicBezTo>
                  <a:pt x="3000" y="16971"/>
                  <a:pt x="7029" y="21000"/>
                  <a:pt x="12000" y="21000"/>
                </a:cubicBezTo>
                <a:cubicBezTo>
                  <a:pt x="16971" y="21000"/>
                  <a:pt x="21000" y="16971"/>
                  <a:pt x="21000" y="12000"/>
                </a:cubicBezTo>
                <a:cubicBezTo>
                  <a:pt x="21000" y="7029"/>
                  <a:pt x="16971" y="3000"/>
                  <a:pt x="12000" y="3000"/>
                </a:cubicBezTo>
                <a:cubicBezTo>
                  <a:pt x="7029" y="3000"/>
                  <a:pt x="3000" y="7029"/>
                  <a:pt x="3000" y="12000"/>
                </a:cubicBezTo>
              </a:path>
              <a:path w="24000" h="24000" fill="none">
                <a:moveTo>
                  <a:pt x="12000" y="12000"/>
                </a:moveTo>
                <a:lnTo>
                  <a:pt x="15000" y="14000"/>
                </a:lnTo>
              </a:path>
              <a:path w="24000" h="24000" fill="none">
                <a:moveTo>
                  <a:pt x="12000" y="7000"/>
                </a:moveTo>
                <a:lnTo>
                  <a:pt x="12000" y="12000"/>
                </a:lnTo>
              </a:path>
            </a:pathLst>
          </a:custGeom>
          <a:solidFill>
            <a:srgbClr val="1F3864"/>
          </a:solidFill>
          <a:ln w="12700">
            <a:solidFill>
              <a:srgbClr val="1F3864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03136" y="4645152"/>
            <a:ext cx="4846320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/>
            <a:r>
              <a:rPr sz="1100" b="1" i="0" lang="ko-KR" altLang="en-US">
                <a:solidFill>
                  <a:srgbClr val="1F3864"/>
                </a:solidFill>
                <a:latin typeface="LG스마트체 Regular"/>
                <a:ea typeface="LG스마트체 Regular"/>
                <a:cs typeface="LG스마트체 Regular"/>
              </a:rPr>
              <a:t>실측 항목 </a:t>
            </a:r>
            <a:r>
              <a:rPr sz="900" b="0" i="0" lang="ko-KR" altLang="en-US">
                <a:solidFill>
                  <a:srgbClr val="595959"/>
                </a:solidFill>
                <a:latin typeface="LG스마트체 Regular"/>
                <a:ea typeface="LG스마트체 Regular"/>
                <a:cs typeface="LG스마트체 Regular"/>
              </a:rPr>
              <a:t>(개인 서버)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8816" y="4956048"/>
            <a:ext cx="5138928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950" b="1" i="0" lang="ko-KR" altLang="en-US">
                <a:solidFill>
                  <a:srgbClr val="1F3864"/>
                </a:solidFill>
                <a:latin typeface="LG스마트체 Regular"/>
                <a:ea typeface="LG스마트체 Regular"/>
                <a:cs typeface="LG스마트체 Regular"/>
              </a:rPr>
              <a:t>1  </a:t>
            </a:r>
            <a:r>
              <a:rPr sz="950" b="0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DATA_DIR 크기 · 월 증가량</a:t>
            </a:r>
          </a:p>
          <a:p>
            <a:pPr algn="l">
              <a:spcBef>
                <a:spcPts val="600"/>
              </a:spcBef>
            </a:pPr>
            <a:r>
              <a:rPr sz="950" b="1" i="0" lang="ko-KR" altLang="en-US">
                <a:solidFill>
                  <a:srgbClr val="1F3864"/>
                </a:solidFill>
                <a:latin typeface="LG스마트체 Regular"/>
                <a:ea typeface="LG스마트체 Regular"/>
                <a:cs typeface="LG스마트체 Regular"/>
              </a:rPr>
              <a:t>2  </a:t>
            </a:r>
            <a:r>
              <a:rPr sz="950" b="0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백업 1회 크기 </a:t>
            </a:r>
            <a:r>
              <a:rPr sz="950" b="0" i="0" lang="ko-KR" altLang="en-US">
                <a:solidFill>
                  <a:srgbClr val="595959"/>
                </a:solidFill>
                <a:latin typeface="LG스마트체 Regular"/>
                <a:ea typeface="LG스마트체 Regular"/>
                <a:cs typeface="LG스마트체 Regular"/>
              </a:rPr>
              <a:t>(backups/&lt;ID&gt;)</a:t>
            </a:r>
          </a:p>
          <a:p>
            <a:pPr algn="l">
              <a:spcBef>
                <a:spcPts val="600"/>
              </a:spcBef>
            </a:pPr>
            <a:r>
              <a:rPr sz="950" b="1" i="0" lang="ko-KR" altLang="en-US">
                <a:solidFill>
                  <a:srgbClr val="1F3864"/>
                </a:solidFill>
                <a:latin typeface="LG스마트체 Regular"/>
                <a:ea typeface="LG스마트체 Regular"/>
                <a:cs typeface="LG스마트체 Regular"/>
              </a:rPr>
              <a:t>3  </a:t>
            </a:r>
            <a:r>
              <a:rPr sz="950" b="0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보고서 생성 1건 소요 시간 · AI 호출 수 </a:t>
            </a:r>
            <a:r>
              <a:rPr sz="950" b="0" i="0" lang="ko-KR" altLang="en-US">
                <a:solidFill>
                  <a:srgbClr val="595959"/>
                </a:solidFill>
                <a:latin typeface="LG스마트체 Regular"/>
                <a:ea typeface="LG스마트체 Regular"/>
                <a:cs typeface="LG스마트체 Regular"/>
              </a:rPr>
              <a:t>(작업 완료 내역)</a:t>
            </a:r>
          </a:p>
          <a:p>
            <a:pPr algn="l">
              <a:spcBef>
                <a:spcPts val="600"/>
              </a:spcBef>
            </a:pPr>
            <a:r>
              <a:rPr sz="950" b="1" i="0" lang="ko-KR" altLang="en-US">
                <a:solidFill>
                  <a:srgbClr val="1F3864"/>
                </a:solidFill>
                <a:latin typeface="LG스마트체 Regular"/>
                <a:ea typeface="LG스마트체 Regular"/>
                <a:cs typeface="LG스마트체 Regular"/>
              </a:rPr>
              <a:t>4  </a:t>
            </a:r>
            <a:r>
              <a:rPr sz="950" b="0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동시 사용자 부하 </a:t>
            </a:r>
            <a:r>
              <a:rPr sz="950" b="0" i="0" lang="ko-KR" altLang="en-US">
                <a:solidFill>
                  <a:srgbClr val="595959"/>
                </a:solidFill>
                <a:latin typeface="LG스마트체 Regular"/>
                <a:ea typeface="LG스마트체 Regular"/>
                <a:cs typeface="LG스마트체 Regular"/>
              </a:rPr>
              <a:t>(scripts/loadtest.py)</a:t>
            </a:r>
          </a:p>
        </p:txBody>
      </p:sp>
      <p:cxnSp>
        <p:nvCxnSpPr>
          <p:cNvPr id="12" name="legend-solid"/>
          <p:cNvCxnSpPr/>
          <p:nvPr/>
        </p:nvCxnSpPr>
        <p:spPr>
          <a:xfrm>
            <a:off x="4023360" y="6446520"/>
            <a:ext cx="384048" cy="0"/>
          </a:xfrm>
          <a:prstGeom prst="line">
            <a:avLst/>
          </a:prstGeom>
          <a:ln w="19050">
            <a:solidFill>
              <a:srgbClr val="1F3864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4462272" y="6345936"/>
            <a:ext cx="2011680" cy="201168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/>
            <a:r>
              <a:rPr sz="900" b="0" i="0" lang="ko-KR" altLang="en-US">
                <a:solidFill>
                  <a:srgbClr val="595959"/>
                </a:solidFill>
                <a:latin typeface="LG스마트체 Regular"/>
                <a:ea typeface="LG스마트체 Regular"/>
                <a:cs typeface="LG스마트체 Regular"/>
              </a:rPr>
              <a:t>실선 = 확정(메일 합의·저장소 구현)</a:t>
            </a:r>
          </a:p>
        </p:txBody>
      </p:sp>
      <p:cxnSp>
        <p:nvCxnSpPr>
          <p:cNvPr id="14" name="legend-dash"/>
          <p:cNvCxnSpPr/>
          <p:nvPr/>
        </p:nvCxnSpPr>
        <p:spPr>
          <a:xfrm>
            <a:off x="6537960" y="6446520"/>
            <a:ext cx="384048" cy="0"/>
          </a:xfrm>
          <a:prstGeom prst="line">
            <a:avLst/>
          </a:prstGeom>
          <a:ln w="19050">
            <a:solidFill>
              <a:srgbClr val="C55A11"/>
            </a:solidFill>
            <a:prstDash val="dash"/>
          </a:ln>
        </p:spPr>
      </p:cxnSp>
      <p:sp>
        <p:nvSpPr>
          <p:cNvPr id="15" name="TextBox 14"/>
          <p:cNvSpPr txBox="1"/>
          <p:nvPr/>
        </p:nvSpPr>
        <p:spPr>
          <a:xfrm>
            <a:off x="6976872" y="6345936"/>
            <a:ext cx="960120" cy="201168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/>
            <a:r>
              <a:rPr sz="900" b="0" i="0" lang="ko-KR" altLang="en-US">
                <a:solidFill>
                  <a:srgbClr val="595959"/>
                </a:solidFill>
                <a:latin typeface="LG스마트체 Regular"/>
                <a:ea typeface="LG스마트체 Regular"/>
                <a:cs typeface="LG스마트체 Regular"/>
              </a:rPr>
              <a:t>점선 = 계획·미정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6345936"/>
            <a:ext cx="1965960" cy="201168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/>
            <a:r>
              <a:rPr sz="900" b="1" i="0" lang="ko-KR" altLang="en-US">
                <a:solidFill>
                  <a:srgbClr val="C00000"/>
                </a:solidFill>
                <a:latin typeface="LG스마트체 Regular"/>
                <a:ea typeface="LG스마트체 Regular"/>
                <a:cs typeface="LG스마트체 Regular"/>
              </a:rPr>
              <a:t>◆ 충돌</a:t>
            </a:r>
            <a:r>
              <a:rPr sz="900" b="0" i="0" lang="ko-KR" altLang="en-US">
                <a:solidFill>
                  <a:srgbClr val="595959"/>
                </a:solidFill>
                <a:latin typeface="LG스마트체 Regular"/>
                <a:ea typeface="LG스마트체 Regular"/>
                <a:cs typeface="LG스마트체 Regular"/>
              </a:rPr>
              <a:t> = 메일↔코드 불일치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12680" y="6355080"/>
            <a:ext cx="384048" cy="182880"/>
          </a:xfrm>
          <a:prstGeom prst="roundRect">
            <a:avLst>
              <a:gd name="adj" fmla="val 25000"/>
            </a:avLst>
          </a:prstGeom>
          <a:solidFill>
            <a:srgbClr val="FFF5EB"/>
          </a:solidFill>
          <a:ln w="9525">
            <a:solidFill>
              <a:srgbClr val="C55A11"/>
            </a:solidFill>
          </a:ln>
          <a:effectLst/>
        </p:spPr>
        <p:txBody>
          <a:bodyPr rtlCol="0" anchor="ctr" wrap="square" lIns="0" rIns="0" tIns="18288" bIns="18288">
            <a:noAutofit/>
          </a:bodyPr>
          <a:lstStyle/>
          <a:p>
            <a:pPr algn="ctr"/>
            <a:r>
              <a:rPr sz="900" b="1" i="0" lang="ko-KR" altLang="en-US">
                <a:solidFill>
                  <a:srgbClr val="C55A11"/>
                </a:solidFill>
                <a:latin typeface="LG스마트체 Regular"/>
                <a:ea typeface="LG스마트체 Regular"/>
                <a:cs typeface="LG스마트체 Regular"/>
              </a:rPr>
              <a:t>가정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51592" y="6345936"/>
            <a:ext cx="1097280" cy="201168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/>
            <a:r>
              <a:rPr sz="900" b="0" i="0" lang="ko-KR" altLang="en-US">
                <a:solidFill>
                  <a:srgbClr val="595959"/>
                </a:solidFill>
                <a:latin typeface="LG스마트체 Regular"/>
                <a:ea typeface="LG스마트체 Regular"/>
                <a:cs typeface="LG스마트체 Regular"/>
              </a:rPr>
              <a:t>= 실측 전 추정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256032"/>
            <a:ext cx="8961120" cy="310896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/>
            <a:r>
              <a:rPr sz="1600" b="1" i="0" lang="ko-KR" altLang="en-US">
                <a:solidFill>
                  <a:srgbClr val="1F3864"/>
                </a:solidFill>
                <a:latin typeface="LG스마트체 Regular"/>
                <a:ea typeface="LG스마트체 Regular"/>
                <a:cs typeface="LG스마트체 Regular"/>
              </a:rPr>
              <a:t>부록 B. 상세 배치도 (초안 · DAVINCI 검토용) — 컨테이너 · 볼륨 · 포트 · 마운트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21792"/>
            <a:ext cx="89611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/>
            <a:r>
              <a:rPr sz="1000" b="0" i="0" lang="ko-KR" altLang="en-US">
                <a:solidFill>
                  <a:srgbClr val="595959"/>
                </a:solidFill>
                <a:latin typeface="LG스마트체 Regular"/>
                <a:ea typeface="LG스마트체 Regular"/>
                <a:cs typeface="LG스마트체 Regular"/>
              </a:rPr>
              <a:t>근거: backend/run.py · app/config.py · app/db.py · services/backups.py · docs/03_ARCHITECTURE · docs/09_OPERATIONS §3·§5</a:t>
            </a:r>
          </a:p>
        </p:txBody>
      </p:sp>
      <p:sp>
        <p:nvSpPr>
          <p:cNvPr id="4" name="draft-tag"/>
          <p:cNvSpPr/>
          <p:nvPr/>
        </p:nvSpPr>
        <p:spPr>
          <a:xfrm>
            <a:off x="9628632" y="274320"/>
            <a:ext cx="2148840" cy="329184"/>
          </a:xfrm>
          <a:prstGeom prst="roundRect">
            <a:avLst>
              <a:gd name="adj" fmla="val 16666"/>
            </a:avLst>
          </a:prstGeom>
          <a:solidFill>
            <a:srgbClr val="FFF5EB"/>
          </a:solidFill>
          <a:ln w="15875">
            <a:solidFill>
              <a:srgbClr val="C55A11"/>
            </a:solidFill>
            <a:prstDash val="dash"/>
          </a:ln>
          <a:effectLst/>
        </p:spPr>
        <p:txBody>
          <a:bodyPr rtlCol="0" anchor="ctr" wrap="square" lIns="36576" rIns="36576" tIns="18288" bIns="18288">
            <a:noAutofit/>
          </a:bodyPr>
          <a:lstStyle/>
          <a:p>
            <a:pPr algn="ctr"/>
            <a:r>
              <a:rPr sz="1100" b="1" i="0" lang="ko-KR" altLang="en-US">
                <a:solidFill>
                  <a:srgbClr val="C55A11"/>
                </a:solidFill>
                <a:latin typeface="LG스마트체 Regular"/>
                <a:ea typeface="LG스마트체 Regular"/>
                <a:cs typeface="LG스마트체 Regular"/>
              </a:rPr>
              <a:t>초안 — DAVINCI 확인 전</a:t>
            </a:r>
          </a:p>
        </p:txBody>
      </p:sp>
      <p:sp>
        <p:nvSpPr>
          <p:cNvPr id="5" name="users"/>
          <p:cNvSpPr/>
          <p:nvPr/>
        </p:nvSpPr>
        <p:spPr>
          <a:xfrm>
            <a:off x="411480" y="1463040"/>
            <a:ext cx="1783080" cy="731520"/>
          </a:xfrm>
          <a:prstGeom prst="roundRect">
            <a:avLst>
              <a:gd name="adj" fmla="val 7500"/>
            </a:avLst>
          </a:prstGeom>
          <a:solidFill>
            <a:srgbClr val="F7F7F7"/>
          </a:solidFill>
          <a:ln w="12700">
            <a:solidFill>
              <a:srgbClr val="59595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6" name="icon-users"/>
          <p:cNvSpPr/>
          <p:nvPr/>
        </p:nvSpPr>
        <p:spPr>
          <a:xfrm>
            <a:off x="502920" y="1627632"/>
            <a:ext cx="365760" cy="365760"/>
          </a:xfrm>
          <a:custGeom>
            <a:avLst/>
            <a:gdLst/>
            <a:ahLst/>
            <a:cxnLst/>
            <a:rect l="0" t="0" r="r" b="b"/>
            <a:pathLst>
              <a:path w="24000" h="24000" stroke="0">
                <a:moveTo>
                  <a:pt x="12000" y="12750"/>
                </a:moveTo>
                <a:cubicBezTo>
                  <a:pt x="13630" y="12750"/>
                  <a:pt x="15070" y="13140"/>
                  <a:pt x="16240" y="13650"/>
                </a:cubicBezTo>
                <a:cubicBezTo>
                  <a:pt x="17320" y="14130"/>
                  <a:pt x="18000" y="15210"/>
                  <a:pt x="18000" y="16380"/>
                </a:cubicBezTo>
                <a:lnTo>
                  <a:pt x="18000" y="18000"/>
                </a:lnTo>
                <a:lnTo>
                  <a:pt x="6000" y="18000"/>
                </a:lnTo>
                <a:lnTo>
                  <a:pt x="6000" y="16390"/>
                </a:lnTo>
                <a:cubicBezTo>
                  <a:pt x="6000" y="15210"/>
                  <a:pt x="6680" y="14130"/>
                  <a:pt x="7760" y="13660"/>
                </a:cubicBezTo>
                <a:cubicBezTo>
                  <a:pt x="8930" y="13140"/>
                  <a:pt x="10370" y="12750"/>
                  <a:pt x="12000" y="12750"/>
                </a:cubicBezTo>
                <a:close/>
                <a:moveTo>
                  <a:pt x="4000" y="13000"/>
                </a:moveTo>
                <a:cubicBezTo>
                  <a:pt x="5100" y="13000"/>
                  <a:pt x="6000" y="12100"/>
                  <a:pt x="6000" y="11000"/>
                </a:cubicBezTo>
                <a:cubicBezTo>
                  <a:pt x="6000" y="9900"/>
                  <a:pt x="5100" y="9000"/>
                  <a:pt x="4000" y="9000"/>
                </a:cubicBezTo>
                <a:cubicBezTo>
                  <a:pt x="2900" y="9000"/>
                  <a:pt x="2000" y="9900"/>
                  <a:pt x="2000" y="11000"/>
                </a:cubicBezTo>
                <a:cubicBezTo>
                  <a:pt x="2000" y="12100"/>
                  <a:pt x="2900" y="13000"/>
                  <a:pt x="4000" y="13000"/>
                </a:cubicBezTo>
                <a:close/>
                <a:moveTo>
                  <a:pt x="5130" y="14100"/>
                </a:moveTo>
                <a:cubicBezTo>
                  <a:pt x="4760" y="14040"/>
                  <a:pt x="4390" y="14000"/>
                  <a:pt x="4000" y="14000"/>
                </a:cubicBezTo>
                <a:cubicBezTo>
                  <a:pt x="3010" y="14000"/>
                  <a:pt x="2070" y="14210"/>
                  <a:pt x="1220" y="14580"/>
                </a:cubicBezTo>
                <a:cubicBezTo>
                  <a:pt x="479" y="14897"/>
                  <a:pt x="-1" y="15625"/>
                  <a:pt x="0" y="16430"/>
                </a:cubicBezTo>
                <a:lnTo>
                  <a:pt x="0" y="18000"/>
                </a:lnTo>
                <a:lnTo>
                  <a:pt x="4500" y="18000"/>
                </a:lnTo>
                <a:lnTo>
                  <a:pt x="4500" y="16390"/>
                </a:lnTo>
                <a:cubicBezTo>
                  <a:pt x="4500" y="15560"/>
                  <a:pt x="4730" y="14780"/>
                  <a:pt x="5130" y="14100"/>
                </a:cubicBezTo>
                <a:close/>
                <a:moveTo>
                  <a:pt x="20000" y="13000"/>
                </a:moveTo>
                <a:cubicBezTo>
                  <a:pt x="21100" y="13000"/>
                  <a:pt x="22000" y="12100"/>
                  <a:pt x="22000" y="11000"/>
                </a:cubicBezTo>
                <a:cubicBezTo>
                  <a:pt x="22000" y="9900"/>
                  <a:pt x="21100" y="9000"/>
                  <a:pt x="20000" y="9000"/>
                </a:cubicBezTo>
                <a:cubicBezTo>
                  <a:pt x="18900" y="9000"/>
                  <a:pt x="18000" y="9900"/>
                  <a:pt x="18000" y="11000"/>
                </a:cubicBezTo>
                <a:cubicBezTo>
                  <a:pt x="18000" y="12100"/>
                  <a:pt x="18900" y="13000"/>
                  <a:pt x="20000" y="13000"/>
                </a:cubicBezTo>
                <a:close/>
                <a:moveTo>
                  <a:pt x="24000" y="16430"/>
                </a:moveTo>
                <a:cubicBezTo>
                  <a:pt x="24000" y="15620"/>
                  <a:pt x="23520" y="14900"/>
                  <a:pt x="22780" y="14580"/>
                </a:cubicBezTo>
                <a:cubicBezTo>
                  <a:pt x="21903" y="14197"/>
                  <a:pt x="20957" y="14000"/>
                  <a:pt x="20000" y="14000"/>
                </a:cubicBezTo>
                <a:cubicBezTo>
                  <a:pt x="19610" y="14000"/>
                  <a:pt x="19240" y="14040"/>
                  <a:pt x="18870" y="14100"/>
                </a:cubicBezTo>
                <a:cubicBezTo>
                  <a:pt x="19270" y="14780"/>
                  <a:pt x="19500" y="15560"/>
                  <a:pt x="19500" y="16390"/>
                </a:cubicBezTo>
                <a:lnTo>
                  <a:pt x="19500" y="18000"/>
                </a:lnTo>
                <a:lnTo>
                  <a:pt x="24000" y="18000"/>
                </a:lnTo>
                <a:lnTo>
                  <a:pt x="24000" y="16430"/>
                </a:lnTo>
                <a:close/>
                <a:moveTo>
                  <a:pt x="12000" y="6000"/>
                </a:moveTo>
                <a:cubicBezTo>
                  <a:pt x="13660" y="6000"/>
                  <a:pt x="15000" y="7340"/>
                  <a:pt x="15000" y="9000"/>
                </a:cubicBezTo>
                <a:cubicBezTo>
                  <a:pt x="15000" y="10660"/>
                  <a:pt x="13660" y="12000"/>
                  <a:pt x="12000" y="12000"/>
                </a:cubicBezTo>
                <a:cubicBezTo>
                  <a:pt x="10340" y="12000"/>
                  <a:pt x="9000" y="10660"/>
                  <a:pt x="9000" y="9000"/>
                </a:cubicBezTo>
                <a:cubicBezTo>
                  <a:pt x="9000" y="7340"/>
                  <a:pt x="10340" y="6000"/>
                  <a:pt x="12000" y="6000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32688" y="1517904"/>
            <a:ext cx="1216152" cy="621792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l"/>
            <a:r>
              <a:rPr sz="950" b="1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사내망 사용자</a:t>
            </a:r>
          </a:p>
          <a:p>
            <a:pPr algn="l"/>
            <a:r>
              <a:rPr sz="950" b="0" i="0" lang="ko-KR" altLang="en-US">
                <a:solidFill>
                  <a:srgbClr val="595959"/>
                </a:solidFill>
                <a:latin typeface="LG스마트체 Regular"/>
                <a:ea typeface="LG스마트체 Regular"/>
                <a:cs typeface="LG스마트체 Regular"/>
              </a:rPr>
              <a:t>브라우저</a:t>
            </a:r>
          </a:p>
        </p:txBody>
      </p:sp>
      <p:cxnSp>
        <p:nvCxnSpPr>
          <p:cNvPr id="8" name="in-1"/>
          <p:cNvCxnSpPr/>
          <p:nvPr/>
        </p:nvCxnSpPr>
        <p:spPr>
          <a:xfrm>
            <a:off x="1303020" y="2194560"/>
            <a:ext cx="0" cy="411480"/>
          </a:xfrm>
          <a:prstGeom prst="line">
            <a:avLst/>
          </a:prstGeom>
          <a:ln w="19050">
            <a:solidFill>
              <a:srgbClr val="C55A11"/>
            </a:solidFill>
            <a:prstDash val="dash"/>
            <a:tailEnd type="triangle" w="med" len="med"/>
          </a:ln>
        </p:spPr>
      </p:cxnSp>
      <p:sp>
        <p:nvSpPr>
          <p:cNvPr id="9" name="firewall"/>
          <p:cNvSpPr/>
          <p:nvPr/>
        </p:nvSpPr>
        <p:spPr>
          <a:xfrm>
            <a:off x="411480" y="2606040"/>
            <a:ext cx="1783080" cy="731520"/>
          </a:xfrm>
          <a:prstGeom prst="roundRect">
            <a:avLst>
              <a:gd name="adj" fmla="val 7500"/>
            </a:avLst>
          </a:prstGeom>
          <a:solidFill>
            <a:srgbClr val="FFF5EB"/>
          </a:solidFill>
          <a:ln w="12700">
            <a:solidFill>
              <a:srgbClr val="C55A11"/>
            </a:solidFill>
            <a:prstDash val="dash"/>
          </a:ln>
          <a:effectLst/>
        </p:spPr>
        <p:txBody>
          <a:bodyPr rtlCol="0" anchor="ctr"/>
          <a:lstStyle/>
          <a:p/>
        </p:txBody>
      </p:sp>
      <p:sp>
        <p:nvSpPr>
          <p:cNvPr id="10" name="icon-firewall"/>
          <p:cNvSpPr/>
          <p:nvPr/>
        </p:nvSpPr>
        <p:spPr>
          <a:xfrm>
            <a:off x="502920" y="2770632"/>
            <a:ext cx="365760" cy="36576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12000" y="3000"/>
                </a:moveTo>
                <a:cubicBezTo>
                  <a:pt x="14336" y="5067"/>
                  <a:pt x="17384" y="6143"/>
                  <a:pt x="20500" y="6000"/>
                </a:cubicBezTo>
                <a:cubicBezTo>
                  <a:pt x="21416" y="9118"/>
                  <a:pt x="21029" y="12473"/>
                  <a:pt x="19427" y="15301"/>
                </a:cubicBezTo>
                <a:cubicBezTo>
                  <a:pt x="17825" y="18128"/>
                  <a:pt x="15145" y="20184"/>
                  <a:pt x="12000" y="21000"/>
                </a:cubicBezTo>
                <a:cubicBezTo>
                  <a:pt x="8855" y="20184"/>
                  <a:pt x="6175" y="18128"/>
                  <a:pt x="4573" y="15301"/>
                </a:cubicBezTo>
                <a:cubicBezTo>
                  <a:pt x="2971" y="12473"/>
                  <a:pt x="2584" y="9118"/>
                  <a:pt x="3500" y="6000"/>
                </a:cubicBezTo>
                <a:cubicBezTo>
                  <a:pt x="6616" y="6143"/>
                  <a:pt x="9664" y="5067"/>
                  <a:pt x="12000" y="3000"/>
                </a:cubicBezTo>
              </a:path>
              <a:path w="24000" h="24000" fill="none">
                <a:moveTo>
                  <a:pt x="12000" y="11000"/>
                </a:moveTo>
                <a:moveTo>
                  <a:pt x="11000" y="11000"/>
                </a:moveTo>
                <a:cubicBezTo>
                  <a:pt x="11000" y="11552"/>
                  <a:pt x="11448" y="12000"/>
                  <a:pt x="12000" y="12000"/>
                </a:cubicBezTo>
                <a:cubicBezTo>
                  <a:pt x="12552" y="12000"/>
                  <a:pt x="13000" y="11552"/>
                  <a:pt x="13000" y="11000"/>
                </a:cubicBezTo>
                <a:cubicBezTo>
                  <a:pt x="13000" y="10448"/>
                  <a:pt x="12552" y="10000"/>
                  <a:pt x="12000" y="10000"/>
                </a:cubicBezTo>
                <a:cubicBezTo>
                  <a:pt x="11448" y="10000"/>
                  <a:pt x="11000" y="10448"/>
                  <a:pt x="11000" y="11000"/>
                </a:cubicBezTo>
              </a:path>
              <a:path w="24000" h="24000" fill="none">
                <a:moveTo>
                  <a:pt x="12000" y="12000"/>
                </a:moveTo>
                <a:lnTo>
                  <a:pt x="12000" y="14500"/>
                </a:lnTo>
              </a:path>
            </a:pathLst>
          </a:custGeom>
          <a:solidFill>
            <a:srgbClr val="595959"/>
          </a:solidFill>
          <a:ln w="12700">
            <a:solidFill>
              <a:srgbClr val="59595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60904"/>
            <a:ext cx="1216152" cy="621792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l"/>
            <a:r>
              <a:rPr sz="950" b="1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방화벽</a:t>
            </a:r>
          </a:p>
          <a:p>
            <a:pPr algn="l"/>
            <a:r>
              <a:rPr sz="950" b="0" i="0" lang="ko-KR" altLang="en-US">
                <a:solidFill>
                  <a:srgbClr val="C55A11"/>
                </a:solidFill>
                <a:latin typeface="LG스마트체 Regular"/>
                <a:ea typeface="LG스마트체 Regular"/>
                <a:cs typeface="LG스마트체 Regular"/>
              </a:rPr>
              <a:t>인바운드 규칙 미정</a:t>
            </a:r>
          </a:p>
        </p:txBody>
      </p:sp>
      <p:cxnSp>
        <p:nvCxnSpPr>
          <p:cNvPr id="12" name="in-2"/>
          <p:cNvCxnSpPr/>
          <p:nvPr/>
        </p:nvCxnSpPr>
        <p:spPr>
          <a:xfrm>
            <a:off x="2194560" y="2971800"/>
            <a:ext cx="777240" cy="0"/>
          </a:xfrm>
          <a:prstGeom prst="line">
            <a:avLst/>
          </a:prstGeom>
          <a:ln w="19050">
            <a:solidFill>
              <a:srgbClr val="C55A11"/>
            </a:solidFill>
            <a:prstDash val="dash"/>
            <a:tailEnd type="triangle" w="med" len="med"/>
          </a:ln>
        </p:spPr>
      </p:cxnSp>
      <p:sp>
        <p:nvSpPr>
          <p:cNvPr id="13" name="badge-1"/>
          <p:cNvSpPr/>
          <p:nvPr/>
        </p:nvSpPr>
        <p:spPr>
          <a:xfrm>
            <a:off x="2327148" y="2857500"/>
            <a:ext cx="228600" cy="228600"/>
          </a:xfrm>
          <a:prstGeom prst="ellipse">
            <a:avLst/>
          </a:prstGeom>
          <a:solidFill>
            <a:srgbClr val="1F3864"/>
          </a:solidFill>
          <a:ln w="9525">
            <a:solidFill>
              <a:srgbClr val="FFFFFF"/>
            </a:solidFill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 b="1" i="0" lang="ko-KR" altLang="en-US">
                <a:solidFill>
                  <a:srgbClr val="FFFFFF"/>
                </a:solidFill>
                <a:latin typeface="LG스마트체 Regular"/>
                <a:ea typeface="LG스마트체 Regular"/>
                <a:cs typeface="LG스마트체 Regular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429000"/>
            <a:ext cx="1783080" cy="384048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ctr"/>
            <a:r>
              <a:rPr sz="900" b="1" i="0" lang="ko-KR" altLang="en-US">
                <a:solidFill>
                  <a:srgbClr val="C55A11"/>
                </a:solidFill>
                <a:latin typeface="LG스마트체 Regular"/>
                <a:ea typeface="LG스마트체 Regular"/>
                <a:cs typeface="LG스마트체 Regular"/>
              </a:rPr>
              <a:t>TCP 8000</a:t>
            </a:r>
          </a:p>
          <a:p>
            <a:pPr algn="ctr"/>
            <a:r>
              <a:rPr sz="900" b="0" i="0" lang="ko-KR" altLang="en-US">
                <a:solidFill>
                  <a:srgbClr val="C55A11"/>
                </a:solidFill>
                <a:latin typeface="LG스마트체 Regular"/>
                <a:ea typeface="LG스마트체 Regular"/>
                <a:cs typeface="LG스마트체 Regular"/>
              </a:rPr>
              <a:t>(config 기본값 예시, 미정)</a:t>
            </a:r>
          </a:p>
        </p:txBody>
      </p:sp>
      <p:sp>
        <p:nvSpPr>
          <p:cNvPr id="15" name="vm"/>
          <p:cNvSpPr/>
          <p:nvPr/>
        </p:nvSpPr>
        <p:spPr>
          <a:xfrm>
            <a:off x="2697480" y="1188720"/>
            <a:ext cx="5577840" cy="4892040"/>
          </a:xfrm>
          <a:prstGeom prst="roundRect">
            <a:avLst>
              <a:gd name="adj" fmla="val 1869"/>
            </a:avLst>
          </a:prstGeom>
          <a:solidFill>
            <a:srgbClr val="FFFBF7"/>
          </a:solidFill>
          <a:ln w="15875">
            <a:solidFill>
              <a:srgbClr val="C55A11"/>
            </a:solidFill>
            <a:prstDash val="dash"/>
          </a:ln>
          <a:effectLst/>
        </p:spPr>
        <p:txBody>
          <a:bodyPr rtlCol="0" anchor="ctr"/>
          <a:lstStyle/>
          <a:p/>
        </p:txBody>
      </p:sp>
      <p:sp>
        <p:nvSpPr>
          <p:cNvPr id="16" name="icon-vm"/>
          <p:cNvSpPr/>
          <p:nvPr/>
        </p:nvSpPr>
        <p:spPr>
          <a:xfrm>
            <a:off x="2788920" y="1261872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3000" y="4000"/>
                </a:moveTo>
                <a:moveTo>
                  <a:pt x="3000" y="7000"/>
                </a:moveTo>
                <a:cubicBezTo>
                  <a:pt x="3000" y="5343"/>
                  <a:pt x="4343" y="4000"/>
                  <a:pt x="6000" y="4000"/>
                </a:cubicBezTo>
                <a:lnTo>
                  <a:pt x="18000" y="4000"/>
                </a:lnTo>
                <a:cubicBezTo>
                  <a:pt x="19657" y="4000"/>
                  <a:pt x="21000" y="5343"/>
                  <a:pt x="21000" y="7000"/>
                </a:cubicBezTo>
                <a:lnTo>
                  <a:pt x="21000" y="9000"/>
                </a:lnTo>
                <a:cubicBezTo>
                  <a:pt x="21000" y="10657"/>
                  <a:pt x="19657" y="12000"/>
                  <a:pt x="18000" y="12000"/>
                </a:cubicBezTo>
                <a:lnTo>
                  <a:pt x="6000" y="12000"/>
                </a:lnTo>
                <a:cubicBezTo>
                  <a:pt x="4343" y="12000"/>
                  <a:pt x="3000" y="10657"/>
                  <a:pt x="3000" y="9000"/>
                </a:cubicBezTo>
                <a:close/>
              </a:path>
              <a:path w="24000" h="24000" fill="none">
                <a:moveTo>
                  <a:pt x="3000" y="12000"/>
                </a:moveTo>
                <a:moveTo>
                  <a:pt x="3000" y="15000"/>
                </a:moveTo>
                <a:cubicBezTo>
                  <a:pt x="3000" y="13343"/>
                  <a:pt x="4343" y="12000"/>
                  <a:pt x="6000" y="12000"/>
                </a:cubicBezTo>
                <a:lnTo>
                  <a:pt x="18000" y="12000"/>
                </a:lnTo>
                <a:cubicBezTo>
                  <a:pt x="19657" y="12000"/>
                  <a:pt x="21000" y="13343"/>
                  <a:pt x="21000" y="15000"/>
                </a:cubicBezTo>
                <a:lnTo>
                  <a:pt x="21000" y="17000"/>
                </a:lnTo>
                <a:cubicBezTo>
                  <a:pt x="21000" y="18657"/>
                  <a:pt x="19657" y="20000"/>
                  <a:pt x="18000" y="20000"/>
                </a:cubicBezTo>
                <a:lnTo>
                  <a:pt x="6000" y="20000"/>
                </a:lnTo>
                <a:cubicBezTo>
                  <a:pt x="4343" y="20000"/>
                  <a:pt x="3000" y="18657"/>
                  <a:pt x="3000" y="17000"/>
                </a:cubicBezTo>
                <a:close/>
              </a:path>
              <a:path w="24000" h="24000" fill="none">
                <a:moveTo>
                  <a:pt x="7000" y="8000"/>
                </a:moveTo>
                <a:lnTo>
                  <a:pt x="7000" y="8010"/>
                </a:lnTo>
              </a:path>
              <a:path w="24000" h="24000" fill="none">
                <a:moveTo>
                  <a:pt x="7000" y="16000"/>
                </a:moveTo>
                <a:lnTo>
                  <a:pt x="7000" y="16010"/>
                </a:lnTo>
              </a:path>
              <a:path w="24000" h="24000" fill="none">
                <a:moveTo>
                  <a:pt x="11000" y="8000"/>
                </a:moveTo>
                <a:lnTo>
                  <a:pt x="17000" y="8000"/>
                </a:lnTo>
              </a:path>
              <a:path w="24000" h="24000" fill="none">
                <a:moveTo>
                  <a:pt x="11000" y="16000"/>
                </a:moveTo>
                <a:lnTo>
                  <a:pt x="17000" y="16000"/>
                </a:lnTo>
              </a:path>
            </a:pathLst>
          </a:custGeom>
          <a:solidFill>
            <a:srgbClr val="595959"/>
          </a:solidFill>
          <a:ln w="12700">
            <a:solidFill>
              <a:srgbClr val="59595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090672" y="1261872"/>
            <a:ext cx="5029200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/>
            <a:r>
              <a:rPr sz="1100" b="1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Sandbox VM</a:t>
            </a:r>
            <a:r>
              <a:rPr sz="950" b="0" i="0" lang="ko-KR" altLang="en-US">
                <a:solidFill>
                  <a:srgbClr val="C55A11"/>
                </a:solidFill>
                <a:latin typeface="LG스마트체 Regular"/>
                <a:ea typeface="LG스마트체 Regular"/>
                <a:cs typeface="LG스마트체 Regular"/>
              </a:rPr>
              <a:t>  OS 미정 · 8 Core · 32GB 요청</a:t>
            </a:r>
          </a:p>
        </p:txBody>
      </p:sp>
      <p:sp>
        <p:nvSpPr>
          <p:cNvPr id="18" name="docker-engine"/>
          <p:cNvSpPr/>
          <p:nvPr/>
        </p:nvSpPr>
        <p:spPr>
          <a:xfrm>
            <a:off x="2834640" y="1627632"/>
            <a:ext cx="5303520" cy="2514600"/>
          </a:xfrm>
          <a:prstGeom prst="roundRect">
            <a:avLst>
              <a:gd name="adj" fmla="val 2909"/>
            </a:avLst>
          </a:prstGeom>
          <a:solidFill>
            <a:srgbClr val="FFF5EB"/>
          </a:solidFill>
          <a:ln w="15875">
            <a:solidFill>
              <a:srgbClr val="C55A11"/>
            </a:solidFill>
            <a:prstDash val="dash"/>
          </a:ln>
          <a:effectLst/>
        </p:spPr>
        <p:txBody>
          <a:bodyPr rtlCol="0" anchor="ctr"/>
          <a:lstStyle/>
          <a:p/>
        </p:txBody>
      </p:sp>
      <p:sp>
        <p:nvSpPr>
          <p:cNvPr id="19" name="icon-docker"/>
          <p:cNvSpPr/>
          <p:nvPr/>
        </p:nvSpPr>
        <p:spPr>
          <a:xfrm>
            <a:off x="2916936" y="1691640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4000" h="24000" stroke="0">
                <a:moveTo>
                  <a:pt x="13983" y="11078"/>
                </a:moveTo>
                <a:lnTo>
                  <a:pt x="16102" y="11078"/>
                </a:lnTo>
                <a:cubicBezTo>
                  <a:pt x="16204" y="11078"/>
                  <a:pt x="16287" y="10995"/>
                  <a:pt x="16288" y="10893"/>
                </a:cubicBezTo>
                <a:lnTo>
                  <a:pt x="16288" y="9006"/>
                </a:lnTo>
                <a:cubicBezTo>
                  <a:pt x="16288" y="8903"/>
                  <a:pt x="16205" y="8820"/>
                  <a:pt x="16102" y="8820"/>
                </a:cubicBezTo>
                <a:lnTo>
                  <a:pt x="13983" y="8820"/>
                </a:lnTo>
                <a:cubicBezTo>
                  <a:pt x="13934" y="8820"/>
                  <a:pt x="13887" y="8839"/>
                  <a:pt x="13852" y="8874"/>
                </a:cubicBezTo>
                <a:cubicBezTo>
                  <a:pt x="13817" y="8909"/>
                  <a:pt x="13798" y="8956"/>
                  <a:pt x="13798" y="9005"/>
                </a:cubicBezTo>
                <a:lnTo>
                  <a:pt x="13798" y="10893"/>
                </a:lnTo>
                <a:cubicBezTo>
                  <a:pt x="13798" y="10995"/>
                  <a:pt x="13881" y="11078"/>
                  <a:pt x="13983" y="11078"/>
                </a:cubicBezTo>
                <a:moveTo>
                  <a:pt x="11029" y="5648"/>
                </a:moveTo>
                <a:lnTo>
                  <a:pt x="13147" y="5648"/>
                </a:lnTo>
                <a:cubicBezTo>
                  <a:pt x="13250" y="5648"/>
                  <a:pt x="13333" y="5565"/>
                  <a:pt x="13333" y="5462"/>
                </a:cubicBezTo>
                <a:lnTo>
                  <a:pt x="13333" y="3574"/>
                </a:lnTo>
                <a:cubicBezTo>
                  <a:pt x="13332" y="3472"/>
                  <a:pt x="13249" y="3389"/>
                  <a:pt x="13147" y="3389"/>
                </a:cubicBezTo>
                <a:lnTo>
                  <a:pt x="11029" y="3389"/>
                </a:lnTo>
                <a:cubicBezTo>
                  <a:pt x="10980" y="3389"/>
                  <a:pt x="10933" y="3408"/>
                  <a:pt x="10898" y="3443"/>
                </a:cubicBezTo>
                <a:cubicBezTo>
                  <a:pt x="10863" y="3478"/>
                  <a:pt x="10844" y="3525"/>
                  <a:pt x="10844" y="3574"/>
                </a:cubicBezTo>
                <a:lnTo>
                  <a:pt x="10844" y="5462"/>
                </a:lnTo>
                <a:cubicBezTo>
                  <a:pt x="10844" y="5564"/>
                  <a:pt x="10926" y="5647"/>
                  <a:pt x="11029" y="5647"/>
                </a:cubicBezTo>
                <a:moveTo>
                  <a:pt x="11029" y="8363"/>
                </a:moveTo>
                <a:lnTo>
                  <a:pt x="13147" y="8363"/>
                </a:lnTo>
                <a:cubicBezTo>
                  <a:pt x="13249" y="8362"/>
                  <a:pt x="13332" y="8279"/>
                  <a:pt x="13333" y="8177"/>
                </a:cubicBezTo>
                <a:lnTo>
                  <a:pt x="13333" y="6290"/>
                </a:lnTo>
                <a:cubicBezTo>
                  <a:pt x="13332" y="6188"/>
                  <a:pt x="13249" y="6105"/>
                  <a:pt x="13147" y="6105"/>
                </a:cubicBezTo>
                <a:lnTo>
                  <a:pt x="11029" y="6105"/>
                </a:lnTo>
                <a:cubicBezTo>
                  <a:pt x="10980" y="6105"/>
                  <a:pt x="10933" y="6124"/>
                  <a:pt x="10898" y="6159"/>
                </a:cubicBezTo>
                <a:cubicBezTo>
                  <a:pt x="10863" y="6194"/>
                  <a:pt x="10844" y="6241"/>
                  <a:pt x="10844" y="6290"/>
                </a:cubicBezTo>
                <a:lnTo>
                  <a:pt x="10844" y="8177"/>
                </a:lnTo>
                <a:cubicBezTo>
                  <a:pt x="10844" y="8279"/>
                  <a:pt x="10926" y="8362"/>
                  <a:pt x="11029" y="8363"/>
                </a:cubicBezTo>
                <a:moveTo>
                  <a:pt x="8099" y="8363"/>
                </a:moveTo>
                <a:lnTo>
                  <a:pt x="10219" y="8363"/>
                </a:lnTo>
                <a:cubicBezTo>
                  <a:pt x="10321" y="8362"/>
                  <a:pt x="10403" y="8279"/>
                  <a:pt x="10403" y="8177"/>
                </a:cubicBezTo>
                <a:lnTo>
                  <a:pt x="10403" y="6290"/>
                </a:lnTo>
                <a:cubicBezTo>
                  <a:pt x="10403" y="6241"/>
                  <a:pt x="10384" y="6194"/>
                  <a:pt x="10349" y="6159"/>
                </a:cubicBezTo>
                <a:cubicBezTo>
                  <a:pt x="10314" y="6124"/>
                  <a:pt x="10267" y="6105"/>
                  <a:pt x="10218" y="6105"/>
                </a:cubicBezTo>
                <a:lnTo>
                  <a:pt x="8100" y="6105"/>
                </a:lnTo>
                <a:cubicBezTo>
                  <a:pt x="7998" y="6105"/>
                  <a:pt x="7915" y="6188"/>
                  <a:pt x="7915" y="6290"/>
                </a:cubicBezTo>
                <a:lnTo>
                  <a:pt x="7915" y="8177"/>
                </a:lnTo>
                <a:cubicBezTo>
                  <a:pt x="7915" y="8279"/>
                  <a:pt x="7998" y="8362"/>
                  <a:pt x="8100" y="8363"/>
                </a:cubicBezTo>
                <a:moveTo>
                  <a:pt x="5136" y="8363"/>
                </a:moveTo>
                <a:lnTo>
                  <a:pt x="7255" y="8363"/>
                </a:lnTo>
                <a:cubicBezTo>
                  <a:pt x="7357" y="8362"/>
                  <a:pt x="7440" y="8279"/>
                  <a:pt x="7440" y="8177"/>
                </a:cubicBezTo>
                <a:lnTo>
                  <a:pt x="7440" y="6290"/>
                </a:lnTo>
                <a:cubicBezTo>
                  <a:pt x="7440" y="6188"/>
                  <a:pt x="7357" y="6105"/>
                  <a:pt x="7255" y="6105"/>
                </a:cubicBezTo>
                <a:lnTo>
                  <a:pt x="5136" y="6105"/>
                </a:lnTo>
                <a:cubicBezTo>
                  <a:pt x="5034" y="6105"/>
                  <a:pt x="4951" y="6188"/>
                  <a:pt x="4950" y="6290"/>
                </a:cubicBezTo>
                <a:lnTo>
                  <a:pt x="4950" y="8177"/>
                </a:lnTo>
                <a:cubicBezTo>
                  <a:pt x="4950" y="8279"/>
                  <a:pt x="5034" y="8362"/>
                  <a:pt x="5136" y="8363"/>
                </a:cubicBezTo>
                <a:moveTo>
                  <a:pt x="11029" y="11078"/>
                </a:moveTo>
                <a:lnTo>
                  <a:pt x="13147" y="11078"/>
                </a:lnTo>
                <a:cubicBezTo>
                  <a:pt x="13249" y="11078"/>
                  <a:pt x="13332" y="10995"/>
                  <a:pt x="13333" y="10893"/>
                </a:cubicBezTo>
                <a:lnTo>
                  <a:pt x="13333" y="9006"/>
                </a:lnTo>
                <a:cubicBezTo>
                  <a:pt x="13333" y="8903"/>
                  <a:pt x="13250" y="8820"/>
                  <a:pt x="13147" y="8820"/>
                </a:cubicBezTo>
                <a:lnTo>
                  <a:pt x="11029" y="8820"/>
                </a:lnTo>
                <a:cubicBezTo>
                  <a:pt x="10980" y="8820"/>
                  <a:pt x="10933" y="8839"/>
                  <a:pt x="10898" y="8874"/>
                </a:cubicBezTo>
                <a:cubicBezTo>
                  <a:pt x="10863" y="8909"/>
                  <a:pt x="10844" y="8956"/>
                  <a:pt x="10844" y="9005"/>
                </a:cubicBezTo>
                <a:lnTo>
                  <a:pt x="10844" y="10893"/>
                </a:lnTo>
                <a:cubicBezTo>
                  <a:pt x="10844" y="10995"/>
                  <a:pt x="10926" y="11078"/>
                  <a:pt x="11029" y="11078"/>
                </a:cubicBezTo>
                <a:moveTo>
                  <a:pt x="8099" y="11078"/>
                </a:moveTo>
                <a:lnTo>
                  <a:pt x="10219" y="11078"/>
                </a:lnTo>
                <a:cubicBezTo>
                  <a:pt x="10321" y="11077"/>
                  <a:pt x="10403" y="10995"/>
                  <a:pt x="10403" y="10893"/>
                </a:cubicBezTo>
                <a:lnTo>
                  <a:pt x="10403" y="9006"/>
                </a:lnTo>
                <a:cubicBezTo>
                  <a:pt x="10403" y="8957"/>
                  <a:pt x="10384" y="8910"/>
                  <a:pt x="10350" y="8875"/>
                </a:cubicBezTo>
                <a:cubicBezTo>
                  <a:pt x="10315" y="8840"/>
                  <a:pt x="10268" y="8820"/>
                  <a:pt x="10219" y="8820"/>
                </a:cubicBezTo>
                <a:lnTo>
                  <a:pt x="8099" y="8820"/>
                </a:lnTo>
                <a:cubicBezTo>
                  <a:pt x="7997" y="8821"/>
                  <a:pt x="7915" y="8903"/>
                  <a:pt x="7915" y="9005"/>
                </a:cubicBezTo>
                <a:lnTo>
                  <a:pt x="7915" y="10893"/>
                </a:lnTo>
                <a:cubicBezTo>
                  <a:pt x="7915" y="10995"/>
                  <a:pt x="7998" y="11078"/>
                  <a:pt x="8100" y="11078"/>
                </a:cubicBezTo>
                <a:moveTo>
                  <a:pt x="5136" y="11078"/>
                </a:moveTo>
                <a:lnTo>
                  <a:pt x="7255" y="11078"/>
                </a:lnTo>
                <a:cubicBezTo>
                  <a:pt x="7304" y="11078"/>
                  <a:pt x="7351" y="11059"/>
                  <a:pt x="7386" y="11024"/>
                </a:cubicBezTo>
                <a:cubicBezTo>
                  <a:pt x="7421" y="10989"/>
                  <a:pt x="7440" y="10942"/>
                  <a:pt x="7440" y="10893"/>
                </a:cubicBezTo>
                <a:lnTo>
                  <a:pt x="7440" y="9006"/>
                </a:lnTo>
                <a:cubicBezTo>
                  <a:pt x="7440" y="8957"/>
                  <a:pt x="7421" y="8910"/>
                  <a:pt x="7387" y="8875"/>
                </a:cubicBezTo>
                <a:cubicBezTo>
                  <a:pt x="7352" y="8840"/>
                  <a:pt x="7305" y="8820"/>
                  <a:pt x="7256" y="8820"/>
                </a:cubicBezTo>
                <a:lnTo>
                  <a:pt x="5136" y="8820"/>
                </a:lnTo>
                <a:cubicBezTo>
                  <a:pt x="5033" y="8820"/>
                  <a:pt x="4950" y="8903"/>
                  <a:pt x="4950" y="9006"/>
                </a:cubicBezTo>
                <a:lnTo>
                  <a:pt x="4950" y="10893"/>
                </a:lnTo>
                <a:cubicBezTo>
                  <a:pt x="4950" y="10995"/>
                  <a:pt x="5034" y="11078"/>
                  <a:pt x="5136" y="11078"/>
                </a:cubicBezTo>
                <a:moveTo>
                  <a:pt x="2216" y="11078"/>
                </a:moveTo>
                <a:lnTo>
                  <a:pt x="4336" y="11078"/>
                </a:lnTo>
                <a:cubicBezTo>
                  <a:pt x="4438" y="11077"/>
                  <a:pt x="4520" y="10995"/>
                  <a:pt x="4520" y="10893"/>
                </a:cubicBezTo>
                <a:lnTo>
                  <a:pt x="4520" y="9006"/>
                </a:lnTo>
                <a:cubicBezTo>
                  <a:pt x="4520" y="8957"/>
                  <a:pt x="4501" y="8910"/>
                  <a:pt x="4467" y="8875"/>
                </a:cubicBezTo>
                <a:cubicBezTo>
                  <a:pt x="4432" y="8840"/>
                  <a:pt x="4385" y="8820"/>
                  <a:pt x="4336" y="8820"/>
                </a:cubicBezTo>
                <a:lnTo>
                  <a:pt x="2216" y="8820"/>
                </a:lnTo>
                <a:cubicBezTo>
                  <a:pt x="2114" y="8821"/>
                  <a:pt x="2032" y="8903"/>
                  <a:pt x="2032" y="9005"/>
                </a:cubicBezTo>
                <a:lnTo>
                  <a:pt x="2032" y="10893"/>
                </a:lnTo>
                <a:cubicBezTo>
                  <a:pt x="2032" y="10995"/>
                  <a:pt x="2114" y="11078"/>
                  <a:pt x="2217" y="11078"/>
                </a:cubicBezTo>
                <a:moveTo>
                  <a:pt x="23763" y="9890"/>
                </a:moveTo>
                <a:cubicBezTo>
                  <a:pt x="23698" y="9839"/>
                  <a:pt x="23091" y="9380"/>
                  <a:pt x="21809" y="9380"/>
                </a:cubicBezTo>
                <a:cubicBezTo>
                  <a:pt x="21471" y="9381"/>
                  <a:pt x="21133" y="9410"/>
                  <a:pt x="20799" y="9467"/>
                </a:cubicBezTo>
                <a:cubicBezTo>
                  <a:pt x="20551" y="7767"/>
                  <a:pt x="19146" y="6937"/>
                  <a:pt x="19083" y="6901"/>
                </a:cubicBezTo>
                <a:lnTo>
                  <a:pt x="18739" y="6702"/>
                </a:lnTo>
                <a:lnTo>
                  <a:pt x="18513" y="7029"/>
                </a:lnTo>
                <a:cubicBezTo>
                  <a:pt x="18229" y="7467"/>
                  <a:pt x="18023" y="7951"/>
                  <a:pt x="17901" y="8459"/>
                </a:cubicBezTo>
                <a:cubicBezTo>
                  <a:pt x="17671" y="9429"/>
                  <a:pt x="17811" y="10341"/>
                  <a:pt x="18304" y="11120"/>
                </a:cubicBezTo>
                <a:cubicBezTo>
                  <a:pt x="17709" y="11452"/>
                  <a:pt x="16754" y="11533"/>
                  <a:pt x="16560" y="11540"/>
                </a:cubicBezTo>
                <a:lnTo>
                  <a:pt x="751" y="11540"/>
                </a:lnTo>
                <a:cubicBezTo>
                  <a:pt x="338" y="11541"/>
                  <a:pt x="3" y="11875"/>
                  <a:pt x="1" y="12288"/>
                </a:cubicBezTo>
                <a:cubicBezTo>
                  <a:pt x="-18" y="13673"/>
                  <a:pt x="217" y="15049"/>
                  <a:pt x="693" y="16350"/>
                </a:cubicBezTo>
                <a:cubicBezTo>
                  <a:pt x="1238" y="17778"/>
                  <a:pt x="2048" y="18830"/>
                  <a:pt x="3103" y="19474"/>
                </a:cubicBezTo>
                <a:cubicBezTo>
                  <a:pt x="4283" y="20197"/>
                  <a:pt x="6203" y="20611"/>
                  <a:pt x="8378" y="20611"/>
                </a:cubicBezTo>
                <a:cubicBezTo>
                  <a:pt x="9361" y="20614"/>
                  <a:pt x="10341" y="20525"/>
                  <a:pt x="11308" y="20345"/>
                </a:cubicBezTo>
                <a:cubicBezTo>
                  <a:pt x="12651" y="20098"/>
                  <a:pt x="13943" y="19629"/>
                  <a:pt x="15131" y="18956"/>
                </a:cubicBezTo>
                <a:cubicBezTo>
                  <a:pt x="16111" y="18389"/>
                  <a:pt x="16991" y="17668"/>
                  <a:pt x="17741" y="16820"/>
                </a:cubicBezTo>
                <a:cubicBezTo>
                  <a:pt x="18993" y="15402"/>
                  <a:pt x="19739" y="13823"/>
                  <a:pt x="20294" y="12420"/>
                </a:cubicBezTo>
                <a:lnTo>
                  <a:pt x="20515" y="12420"/>
                </a:lnTo>
                <a:cubicBezTo>
                  <a:pt x="21887" y="12420"/>
                  <a:pt x="22730" y="11871"/>
                  <a:pt x="23195" y="11411"/>
                </a:cubicBezTo>
                <a:cubicBezTo>
                  <a:pt x="23504" y="11118"/>
                  <a:pt x="23745" y="10761"/>
                  <a:pt x="23902" y="10365"/>
                </a:cubicBezTo>
                <a:lnTo>
                  <a:pt x="24000" y="10077"/>
                </a:lnTo>
                <a:close/>
              </a:path>
            </a:pathLst>
          </a:custGeom>
          <a:solidFill>
            <a:srgbClr val="2496E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218688" y="1700784"/>
            <a:ext cx="457200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/>
            <a:r>
              <a:rPr sz="1000" b="1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Docker 엔진</a:t>
            </a:r>
            <a:r>
              <a:rPr sz="900" b="0" i="0" lang="ko-KR" altLang="en-US">
                <a:solidFill>
                  <a:srgbClr val="C55A11"/>
                </a:solidFill>
                <a:latin typeface="LG스마트체 Regular"/>
                <a:ea typeface="LG스마트체 Regular"/>
                <a:cs typeface="LG스마트체 Regular"/>
              </a:rPr>
              <a:t>  허용 여부·베이스 이미지 미정</a:t>
            </a:r>
          </a:p>
        </p:txBody>
      </p:sp>
      <p:sp>
        <p:nvSpPr>
          <p:cNvPr id="21" name="container-worklog"/>
          <p:cNvSpPr/>
          <p:nvPr/>
        </p:nvSpPr>
        <p:spPr>
          <a:xfrm>
            <a:off x="2971800" y="2011680"/>
            <a:ext cx="5029200" cy="2011680"/>
          </a:xfrm>
          <a:prstGeom prst="roundRect">
            <a:avLst>
              <a:gd name="adj" fmla="val 3181"/>
            </a:avLst>
          </a:prstGeom>
          <a:solidFill>
            <a:srgbClr val="FFFFFF"/>
          </a:solidFill>
          <a:ln w="15875">
            <a:solidFill>
              <a:srgbClr val="C55A11"/>
            </a:solidFill>
            <a:prstDash val="dash"/>
          </a:ln>
          <a:effectLst/>
        </p:spPr>
        <p:txBody>
          <a:bodyPr rtlCol="0" anchor="ctr"/>
          <a:lstStyle/>
          <a:p/>
        </p:txBody>
      </p:sp>
      <p:sp>
        <p:nvSpPr>
          <p:cNvPr id="22" name="icon-container"/>
          <p:cNvSpPr/>
          <p:nvPr/>
        </p:nvSpPr>
        <p:spPr>
          <a:xfrm>
            <a:off x="3044952" y="207568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12000" y="3000"/>
                </a:moveTo>
                <a:lnTo>
                  <a:pt x="20000" y="7500"/>
                </a:lnTo>
                <a:lnTo>
                  <a:pt x="20000" y="16500"/>
                </a:lnTo>
                <a:lnTo>
                  <a:pt x="12000" y="21000"/>
                </a:lnTo>
                <a:lnTo>
                  <a:pt x="4000" y="16500"/>
                </a:lnTo>
                <a:lnTo>
                  <a:pt x="4000" y="7500"/>
                </a:lnTo>
                <a:lnTo>
                  <a:pt x="12000" y="3000"/>
                </a:lnTo>
              </a:path>
              <a:path w="24000" h="24000" fill="none">
                <a:moveTo>
                  <a:pt x="12000" y="12000"/>
                </a:moveTo>
                <a:lnTo>
                  <a:pt x="20000" y="7500"/>
                </a:lnTo>
              </a:path>
              <a:path w="24000" h="24000" fill="none">
                <a:moveTo>
                  <a:pt x="12000" y="12000"/>
                </a:moveTo>
                <a:lnTo>
                  <a:pt x="12000" y="21000"/>
                </a:lnTo>
              </a:path>
              <a:path w="24000" h="24000" fill="none">
                <a:moveTo>
                  <a:pt x="12000" y="12000"/>
                </a:moveTo>
                <a:lnTo>
                  <a:pt x="4000" y="7500"/>
                </a:lnTo>
              </a:path>
            </a:pathLst>
          </a:custGeom>
          <a:solidFill>
            <a:srgbClr val="595959"/>
          </a:solidFill>
          <a:ln w="12700">
            <a:solidFill>
              <a:srgbClr val="59595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328416" y="2075688"/>
            <a:ext cx="457200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/>
            <a:r>
              <a:rPr sz="1000" b="1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컨테이너 </a:t>
            </a:r>
            <a:r>
              <a:rPr sz="1000" b="1" i="0" lang="ko-KR" altLang="en-US">
                <a:solidFill>
                  <a:srgbClr val="1F3864"/>
                </a:solidFill>
                <a:latin typeface="LG스마트체 Regular"/>
                <a:ea typeface="LG스마트체 Regular"/>
                <a:cs typeface="LG스마트체 Regular"/>
              </a:rPr>
              <a:t>worklog</a:t>
            </a:r>
            <a:r>
              <a:rPr sz="900" b="0" i="0" lang="ko-KR" altLang="en-US">
                <a:solidFill>
                  <a:srgbClr val="C55A11"/>
                </a:solidFill>
                <a:latin typeface="LG스마트체 Regular"/>
                <a:ea typeface="LG스마트체 Regular"/>
                <a:cs typeface="LG스마트체 Regular"/>
              </a:rPr>
              <a:t>  Dockerfile 미작성</a:t>
            </a:r>
          </a:p>
        </p:txBody>
      </p:sp>
      <p:sp>
        <p:nvSpPr>
          <p:cNvPr id="24" name="frontend"/>
          <p:cNvSpPr/>
          <p:nvPr/>
        </p:nvSpPr>
        <p:spPr>
          <a:xfrm>
            <a:off x="3108960" y="2395728"/>
            <a:ext cx="1828800" cy="777240"/>
          </a:xfrm>
          <a:prstGeom prst="roundRect">
            <a:avLst>
              <a:gd name="adj" fmla="val 7058"/>
            </a:avLst>
          </a:prstGeom>
          <a:solidFill>
            <a:srgbClr val="EEF2F8"/>
          </a:solidFill>
          <a:ln w="15875">
            <a:solidFill>
              <a:srgbClr val="1F3864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5" name="icon-react"/>
          <p:cNvSpPr/>
          <p:nvPr/>
        </p:nvSpPr>
        <p:spPr>
          <a:xfrm>
            <a:off x="3182112" y="2468880"/>
            <a:ext cx="201168" cy="201168"/>
          </a:xfrm>
          <a:custGeom>
            <a:avLst/>
            <a:gdLst/>
            <a:ahLst/>
            <a:cxnLst/>
            <a:rect l="0" t="0" r="r" b="b"/>
            <a:pathLst>
              <a:path w="24000" h="24000" stroke="0">
                <a:moveTo>
                  <a:pt x="14230" y="12004"/>
                </a:moveTo>
                <a:cubicBezTo>
                  <a:pt x="14230" y="13239"/>
                  <a:pt x="13230" y="14239"/>
                  <a:pt x="11995" y="14240"/>
                </a:cubicBezTo>
                <a:cubicBezTo>
                  <a:pt x="11402" y="14240"/>
                  <a:pt x="10833" y="14004"/>
                  <a:pt x="10414" y="13585"/>
                </a:cubicBezTo>
                <a:cubicBezTo>
                  <a:pt x="9995" y="13166"/>
                  <a:pt x="9759" y="12597"/>
                  <a:pt x="9759" y="12004"/>
                </a:cubicBezTo>
                <a:cubicBezTo>
                  <a:pt x="9759" y="10769"/>
                  <a:pt x="10759" y="9769"/>
                  <a:pt x="11994" y="9768"/>
                </a:cubicBezTo>
                <a:cubicBezTo>
                  <a:pt x="12587" y="9768"/>
                  <a:pt x="13156" y="10004"/>
                  <a:pt x="13575" y="10423"/>
                </a:cubicBezTo>
                <a:cubicBezTo>
                  <a:pt x="13994" y="10842"/>
                  <a:pt x="14230" y="11411"/>
                  <a:pt x="14230" y="12004"/>
                </a:cubicBezTo>
                <a:close/>
                <a:moveTo>
                  <a:pt x="16878" y="1314"/>
                </a:moveTo>
                <a:cubicBezTo>
                  <a:pt x="15532" y="1314"/>
                  <a:pt x="13771" y="2274"/>
                  <a:pt x="11990" y="3936"/>
                </a:cubicBezTo>
                <a:cubicBezTo>
                  <a:pt x="10210" y="2283"/>
                  <a:pt x="8448" y="1334"/>
                  <a:pt x="7103" y="1334"/>
                </a:cubicBezTo>
                <a:cubicBezTo>
                  <a:pt x="6693" y="1334"/>
                  <a:pt x="6320" y="1427"/>
                  <a:pt x="5997" y="1612"/>
                </a:cubicBezTo>
                <a:cubicBezTo>
                  <a:pt x="4622" y="2405"/>
                  <a:pt x="4314" y="4876"/>
                  <a:pt x="5024" y="7977"/>
                </a:cubicBezTo>
                <a:cubicBezTo>
                  <a:pt x="1980" y="8917"/>
                  <a:pt x="0" y="10420"/>
                  <a:pt x="0" y="12004"/>
                </a:cubicBezTo>
                <a:cubicBezTo>
                  <a:pt x="0" y="13594"/>
                  <a:pt x="1990" y="15101"/>
                  <a:pt x="5043" y="16034"/>
                </a:cubicBezTo>
                <a:cubicBezTo>
                  <a:pt x="4339" y="19147"/>
                  <a:pt x="4653" y="21622"/>
                  <a:pt x="6031" y="22414"/>
                </a:cubicBezTo>
                <a:cubicBezTo>
                  <a:pt x="6351" y="22601"/>
                  <a:pt x="6721" y="22689"/>
                  <a:pt x="7133" y="22689"/>
                </a:cubicBezTo>
                <a:cubicBezTo>
                  <a:pt x="8478" y="22689"/>
                  <a:pt x="10240" y="21729"/>
                  <a:pt x="12021" y="20065"/>
                </a:cubicBezTo>
                <a:cubicBezTo>
                  <a:pt x="13801" y="21719"/>
                  <a:pt x="15563" y="22668"/>
                  <a:pt x="16908" y="22668"/>
                </a:cubicBezTo>
                <a:cubicBezTo>
                  <a:pt x="17318" y="22668"/>
                  <a:pt x="17691" y="22578"/>
                  <a:pt x="18014" y="22393"/>
                </a:cubicBezTo>
                <a:cubicBezTo>
                  <a:pt x="19388" y="21601"/>
                  <a:pt x="19697" y="19130"/>
                  <a:pt x="18987" y="16028"/>
                </a:cubicBezTo>
                <a:cubicBezTo>
                  <a:pt x="22020" y="15096"/>
                  <a:pt x="24000" y="13590"/>
                  <a:pt x="24000" y="12004"/>
                </a:cubicBezTo>
                <a:cubicBezTo>
                  <a:pt x="24000" y="10414"/>
                  <a:pt x="22010" y="8907"/>
                  <a:pt x="18957" y="7972"/>
                </a:cubicBezTo>
                <a:cubicBezTo>
                  <a:pt x="19661" y="4862"/>
                  <a:pt x="19347" y="2385"/>
                  <a:pt x="17969" y="1592"/>
                </a:cubicBezTo>
                <a:cubicBezTo>
                  <a:pt x="17651" y="1408"/>
                  <a:pt x="17281" y="1315"/>
                  <a:pt x="16877" y="1314"/>
                </a:cubicBezTo>
                <a:close/>
                <a:moveTo>
                  <a:pt x="16873" y="2404"/>
                </a:moveTo>
                <a:lnTo>
                  <a:pt x="16873" y="2410"/>
                </a:lnTo>
                <a:cubicBezTo>
                  <a:pt x="17098" y="2410"/>
                  <a:pt x="17279" y="2454"/>
                  <a:pt x="17431" y="2537"/>
                </a:cubicBezTo>
                <a:cubicBezTo>
                  <a:pt x="18097" y="2919"/>
                  <a:pt x="18386" y="4372"/>
                  <a:pt x="18161" y="6241"/>
                </a:cubicBezTo>
                <a:cubicBezTo>
                  <a:pt x="18107" y="6701"/>
                  <a:pt x="18019" y="7186"/>
                  <a:pt x="17911" y="7681"/>
                </a:cubicBezTo>
                <a:cubicBezTo>
                  <a:pt x="16951" y="7445"/>
                  <a:pt x="15905" y="7264"/>
                  <a:pt x="14804" y="7147"/>
                </a:cubicBezTo>
                <a:cubicBezTo>
                  <a:pt x="14144" y="6242"/>
                  <a:pt x="13459" y="5420"/>
                  <a:pt x="12769" y="4700"/>
                </a:cubicBezTo>
                <a:cubicBezTo>
                  <a:pt x="14361" y="3220"/>
                  <a:pt x="15856" y="2408"/>
                  <a:pt x="16874" y="2405"/>
                </a:cubicBezTo>
                <a:close/>
                <a:moveTo>
                  <a:pt x="7103" y="2424"/>
                </a:moveTo>
                <a:cubicBezTo>
                  <a:pt x="8115" y="2424"/>
                  <a:pt x="9617" y="3232"/>
                  <a:pt x="11213" y="4704"/>
                </a:cubicBezTo>
                <a:cubicBezTo>
                  <a:pt x="10527" y="5424"/>
                  <a:pt x="9843" y="6241"/>
                  <a:pt x="9193" y="7146"/>
                </a:cubicBezTo>
                <a:cubicBezTo>
                  <a:pt x="8086" y="7263"/>
                  <a:pt x="7039" y="7444"/>
                  <a:pt x="6080" y="7684"/>
                </a:cubicBezTo>
                <a:cubicBezTo>
                  <a:pt x="5968" y="7194"/>
                  <a:pt x="5885" y="6720"/>
                  <a:pt x="5826" y="6264"/>
                </a:cubicBezTo>
                <a:cubicBezTo>
                  <a:pt x="5596" y="4396"/>
                  <a:pt x="5880" y="2944"/>
                  <a:pt x="6540" y="2557"/>
                </a:cubicBezTo>
                <a:cubicBezTo>
                  <a:pt x="6730" y="2467"/>
                  <a:pt x="6940" y="2430"/>
                  <a:pt x="7103" y="2425"/>
                </a:cubicBezTo>
                <a:close/>
                <a:moveTo>
                  <a:pt x="11985" y="5474"/>
                </a:moveTo>
                <a:cubicBezTo>
                  <a:pt x="12440" y="5942"/>
                  <a:pt x="12895" y="6466"/>
                  <a:pt x="13345" y="7038"/>
                </a:cubicBezTo>
                <a:cubicBezTo>
                  <a:pt x="12905" y="7018"/>
                  <a:pt x="12455" y="7004"/>
                  <a:pt x="12000" y="7004"/>
                </a:cubicBezTo>
                <a:cubicBezTo>
                  <a:pt x="11540" y="7004"/>
                  <a:pt x="11085" y="7014"/>
                  <a:pt x="10640" y="7038"/>
                </a:cubicBezTo>
                <a:cubicBezTo>
                  <a:pt x="11080" y="6466"/>
                  <a:pt x="11535" y="5942"/>
                  <a:pt x="11985" y="5473"/>
                </a:cubicBezTo>
                <a:close/>
                <a:moveTo>
                  <a:pt x="12000" y="8100"/>
                </a:moveTo>
                <a:cubicBezTo>
                  <a:pt x="12740" y="8100"/>
                  <a:pt x="13477" y="8134"/>
                  <a:pt x="14202" y="8193"/>
                </a:cubicBezTo>
                <a:cubicBezTo>
                  <a:pt x="14608" y="8775"/>
                  <a:pt x="15004" y="9396"/>
                  <a:pt x="15385" y="10053"/>
                </a:cubicBezTo>
                <a:cubicBezTo>
                  <a:pt x="15757" y="10693"/>
                  <a:pt x="16095" y="11343"/>
                  <a:pt x="16403" y="11999"/>
                </a:cubicBezTo>
                <a:cubicBezTo>
                  <a:pt x="16095" y="12654"/>
                  <a:pt x="15757" y="13309"/>
                  <a:pt x="15390" y="13949"/>
                </a:cubicBezTo>
                <a:cubicBezTo>
                  <a:pt x="15010" y="14609"/>
                  <a:pt x="14617" y="15237"/>
                  <a:pt x="14210" y="15819"/>
                </a:cubicBezTo>
                <a:cubicBezTo>
                  <a:pt x="13482" y="15882"/>
                  <a:pt x="12744" y="15917"/>
                  <a:pt x="12000" y="15917"/>
                </a:cubicBezTo>
                <a:cubicBezTo>
                  <a:pt x="11260" y="15917"/>
                  <a:pt x="10523" y="15882"/>
                  <a:pt x="9798" y="15824"/>
                </a:cubicBezTo>
                <a:cubicBezTo>
                  <a:pt x="9392" y="15242"/>
                  <a:pt x="8996" y="14620"/>
                  <a:pt x="8615" y="13964"/>
                </a:cubicBezTo>
                <a:cubicBezTo>
                  <a:pt x="8243" y="13324"/>
                  <a:pt x="7905" y="12674"/>
                  <a:pt x="7597" y="12018"/>
                </a:cubicBezTo>
                <a:cubicBezTo>
                  <a:pt x="7900" y="11361"/>
                  <a:pt x="8243" y="10705"/>
                  <a:pt x="8610" y="10064"/>
                </a:cubicBezTo>
                <a:cubicBezTo>
                  <a:pt x="8990" y="9404"/>
                  <a:pt x="9383" y="8778"/>
                  <a:pt x="9790" y="8196"/>
                </a:cubicBezTo>
                <a:cubicBezTo>
                  <a:pt x="10518" y="8132"/>
                  <a:pt x="11256" y="8098"/>
                  <a:pt x="12000" y="8098"/>
                </a:cubicBezTo>
                <a:close/>
                <a:moveTo>
                  <a:pt x="8365" y="8354"/>
                </a:moveTo>
                <a:cubicBezTo>
                  <a:pt x="8125" y="8731"/>
                  <a:pt x="7885" y="9117"/>
                  <a:pt x="7661" y="9514"/>
                </a:cubicBezTo>
                <a:cubicBezTo>
                  <a:pt x="7436" y="9904"/>
                  <a:pt x="7226" y="10296"/>
                  <a:pt x="7026" y="10688"/>
                </a:cubicBezTo>
                <a:cubicBezTo>
                  <a:pt x="6761" y="10032"/>
                  <a:pt x="6536" y="9378"/>
                  <a:pt x="6350" y="8741"/>
                </a:cubicBezTo>
                <a:cubicBezTo>
                  <a:pt x="6990" y="8591"/>
                  <a:pt x="7665" y="8458"/>
                  <a:pt x="8365" y="8355"/>
                </a:cubicBezTo>
                <a:close/>
                <a:moveTo>
                  <a:pt x="15625" y="8354"/>
                </a:moveTo>
                <a:cubicBezTo>
                  <a:pt x="16320" y="8457"/>
                  <a:pt x="16990" y="8584"/>
                  <a:pt x="17631" y="8741"/>
                </a:cubicBezTo>
                <a:cubicBezTo>
                  <a:pt x="17451" y="9373"/>
                  <a:pt x="17226" y="10023"/>
                  <a:pt x="16971" y="10674"/>
                </a:cubicBezTo>
                <a:cubicBezTo>
                  <a:pt x="16771" y="10284"/>
                  <a:pt x="16561" y="9891"/>
                  <a:pt x="16331" y="9500"/>
                </a:cubicBezTo>
                <a:cubicBezTo>
                  <a:pt x="16106" y="9108"/>
                  <a:pt x="15866" y="8726"/>
                  <a:pt x="15626" y="8354"/>
                </a:cubicBezTo>
                <a:close/>
                <a:moveTo>
                  <a:pt x="18688" y="9029"/>
                </a:moveTo>
                <a:cubicBezTo>
                  <a:pt x="19172" y="9179"/>
                  <a:pt x="19632" y="9346"/>
                  <a:pt x="20063" y="9527"/>
                </a:cubicBezTo>
                <a:cubicBezTo>
                  <a:pt x="21795" y="10267"/>
                  <a:pt x="22915" y="11235"/>
                  <a:pt x="22915" y="12003"/>
                </a:cubicBezTo>
                <a:cubicBezTo>
                  <a:pt x="22910" y="12771"/>
                  <a:pt x="21790" y="13743"/>
                  <a:pt x="20058" y="14478"/>
                </a:cubicBezTo>
                <a:cubicBezTo>
                  <a:pt x="19638" y="14658"/>
                  <a:pt x="19178" y="14820"/>
                  <a:pt x="18703" y="14971"/>
                </a:cubicBezTo>
                <a:cubicBezTo>
                  <a:pt x="18423" y="14013"/>
                  <a:pt x="18057" y="13015"/>
                  <a:pt x="17603" y="11991"/>
                </a:cubicBezTo>
                <a:cubicBezTo>
                  <a:pt x="18053" y="10974"/>
                  <a:pt x="18413" y="9981"/>
                  <a:pt x="18688" y="9027"/>
                </a:cubicBezTo>
                <a:close/>
                <a:moveTo>
                  <a:pt x="5293" y="9033"/>
                </a:moveTo>
                <a:cubicBezTo>
                  <a:pt x="5571" y="9993"/>
                  <a:pt x="5938" y="10990"/>
                  <a:pt x="6393" y="12013"/>
                </a:cubicBezTo>
                <a:cubicBezTo>
                  <a:pt x="5943" y="13030"/>
                  <a:pt x="5581" y="14023"/>
                  <a:pt x="5307" y="14977"/>
                </a:cubicBezTo>
                <a:cubicBezTo>
                  <a:pt x="4823" y="14827"/>
                  <a:pt x="4363" y="14659"/>
                  <a:pt x="3937" y="14477"/>
                </a:cubicBezTo>
                <a:cubicBezTo>
                  <a:pt x="2205" y="13740"/>
                  <a:pt x="1085" y="12771"/>
                  <a:pt x="1085" y="12003"/>
                </a:cubicBezTo>
                <a:cubicBezTo>
                  <a:pt x="1085" y="11235"/>
                  <a:pt x="2205" y="10261"/>
                  <a:pt x="3937" y="9527"/>
                </a:cubicBezTo>
                <a:cubicBezTo>
                  <a:pt x="4357" y="9347"/>
                  <a:pt x="4817" y="9185"/>
                  <a:pt x="5293" y="9033"/>
                </a:cubicBezTo>
                <a:close/>
                <a:moveTo>
                  <a:pt x="16971" y="13313"/>
                </a:moveTo>
                <a:cubicBezTo>
                  <a:pt x="17236" y="13970"/>
                  <a:pt x="17461" y="14625"/>
                  <a:pt x="17647" y="15261"/>
                </a:cubicBezTo>
                <a:cubicBezTo>
                  <a:pt x="17007" y="15418"/>
                  <a:pt x="16331" y="15551"/>
                  <a:pt x="15631" y="15651"/>
                </a:cubicBezTo>
                <a:cubicBezTo>
                  <a:pt x="15871" y="15276"/>
                  <a:pt x="16111" y="14889"/>
                  <a:pt x="16336" y="14493"/>
                </a:cubicBezTo>
                <a:cubicBezTo>
                  <a:pt x="16561" y="14103"/>
                  <a:pt x="16771" y="13705"/>
                  <a:pt x="16972" y="13313"/>
                </a:cubicBezTo>
                <a:close/>
                <a:moveTo>
                  <a:pt x="7026" y="13333"/>
                </a:moveTo>
                <a:cubicBezTo>
                  <a:pt x="7226" y="13725"/>
                  <a:pt x="7436" y="14116"/>
                  <a:pt x="7666" y="14508"/>
                </a:cubicBezTo>
                <a:cubicBezTo>
                  <a:pt x="7896" y="14898"/>
                  <a:pt x="8131" y="15280"/>
                  <a:pt x="8371" y="15651"/>
                </a:cubicBezTo>
                <a:cubicBezTo>
                  <a:pt x="7676" y="15549"/>
                  <a:pt x="7006" y="15421"/>
                  <a:pt x="6365" y="15265"/>
                </a:cubicBezTo>
                <a:cubicBezTo>
                  <a:pt x="6545" y="14635"/>
                  <a:pt x="6771" y="13983"/>
                  <a:pt x="7025" y="13332"/>
                </a:cubicBezTo>
                <a:close/>
                <a:moveTo>
                  <a:pt x="17920" y="16320"/>
                </a:moveTo>
                <a:cubicBezTo>
                  <a:pt x="18032" y="16813"/>
                  <a:pt x="18120" y="17288"/>
                  <a:pt x="18174" y="17743"/>
                </a:cubicBezTo>
                <a:cubicBezTo>
                  <a:pt x="18404" y="19611"/>
                  <a:pt x="18120" y="21063"/>
                  <a:pt x="17460" y="21451"/>
                </a:cubicBezTo>
                <a:cubicBezTo>
                  <a:pt x="17313" y="21541"/>
                  <a:pt x="17122" y="21579"/>
                  <a:pt x="16897" y="21579"/>
                </a:cubicBezTo>
                <a:cubicBezTo>
                  <a:pt x="15885" y="21579"/>
                  <a:pt x="14383" y="20772"/>
                  <a:pt x="12787" y="19299"/>
                </a:cubicBezTo>
                <a:cubicBezTo>
                  <a:pt x="13473" y="18579"/>
                  <a:pt x="14157" y="17763"/>
                  <a:pt x="14807" y="16859"/>
                </a:cubicBezTo>
                <a:cubicBezTo>
                  <a:pt x="15914" y="16741"/>
                  <a:pt x="16961" y="16559"/>
                  <a:pt x="17920" y="16319"/>
                </a:cubicBezTo>
                <a:close/>
                <a:moveTo>
                  <a:pt x="6090" y="16330"/>
                </a:moveTo>
                <a:cubicBezTo>
                  <a:pt x="7050" y="16564"/>
                  <a:pt x="8096" y="16745"/>
                  <a:pt x="9197" y="16862"/>
                </a:cubicBezTo>
                <a:cubicBezTo>
                  <a:pt x="9857" y="17767"/>
                  <a:pt x="10542" y="18589"/>
                  <a:pt x="11232" y="19308"/>
                </a:cubicBezTo>
                <a:cubicBezTo>
                  <a:pt x="9637" y="20791"/>
                  <a:pt x="8140" y="21603"/>
                  <a:pt x="7122" y="21603"/>
                </a:cubicBezTo>
                <a:cubicBezTo>
                  <a:pt x="6902" y="21598"/>
                  <a:pt x="6716" y="21553"/>
                  <a:pt x="6569" y="21471"/>
                </a:cubicBezTo>
                <a:cubicBezTo>
                  <a:pt x="5903" y="21091"/>
                  <a:pt x="5614" y="19637"/>
                  <a:pt x="5839" y="17768"/>
                </a:cubicBezTo>
                <a:cubicBezTo>
                  <a:pt x="5893" y="17308"/>
                  <a:pt x="5981" y="16824"/>
                  <a:pt x="6089" y="16330"/>
                </a:cubicBezTo>
                <a:close/>
                <a:moveTo>
                  <a:pt x="10650" y="16970"/>
                </a:moveTo>
                <a:cubicBezTo>
                  <a:pt x="11090" y="16990"/>
                  <a:pt x="11540" y="17004"/>
                  <a:pt x="11995" y="17004"/>
                </a:cubicBezTo>
                <a:cubicBezTo>
                  <a:pt x="12455" y="17004"/>
                  <a:pt x="12910" y="16994"/>
                  <a:pt x="13355" y="16970"/>
                </a:cubicBezTo>
                <a:cubicBezTo>
                  <a:pt x="12915" y="17542"/>
                  <a:pt x="12460" y="18065"/>
                  <a:pt x="12010" y="18535"/>
                </a:cubicBezTo>
                <a:cubicBezTo>
                  <a:pt x="11555" y="18065"/>
                  <a:pt x="11100" y="17542"/>
                  <a:pt x="10650" y="16970"/>
                </a:cubicBezTo>
                <a:close/>
              </a:path>
            </a:pathLst>
          </a:custGeom>
          <a:solidFill>
            <a:srgbClr val="61DA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6" name="icon-vite"/>
          <p:cNvSpPr/>
          <p:nvPr/>
        </p:nvSpPr>
        <p:spPr>
          <a:xfrm>
            <a:off x="3419856" y="2468880"/>
            <a:ext cx="201168" cy="201168"/>
          </a:xfrm>
          <a:custGeom>
            <a:avLst/>
            <a:gdLst/>
            <a:ahLst/>
            <a:cxnLst/>
            <a:rect l="0" t="0" r="r" b="b"/>
            <a:pathLst>
              <a:path w="24000" h="24000" stroke="0">
                <a:moveTo>
                  <a:pt x="8286" y="10578"/>
                </a:moveTo>
                <a:lnTo>
                  <a:pt x="8798" y="1921"/>
                </a:lnTo>
                <a:cubicBezTo>
                  <a:pt x="8806" y="1782"/>
                  <a:pt x="8908" y="1666"/>
                  <a:pt x="9045" y="1639"/>
                </a:cubicBezTo>
                <a:lnTo>
                  <a:pt x="17377" y="6"/>
                </a:lnTo>
                <a:cubicBezTo>
                  <a:pt x="17482" y="-15"/>
                  <a:pt x="17589" y="21"/>
                  <a:pt x="17662" y="99"/>
                </a:cubicBezTo>
                <a:cubicBezTo>
                  <a:pt x="17734" y="178"/>
                  <a:pt x="17760" y="289"/>
                  <a:pt x="17730" y="391"/>
                </a:cubicBezTo>
                <a:lnTo>
                  <a:pt x="16172" y="5794"/>
                </a:lnTo>
                <a:cubicBezTo>
                  <a:pt x="16143" y="5896"/>
                  <a:pt x="16168" y="6006"/>
                  <a:pt x="16240" y="6085"/>
                </a:cubicBezTo>
                <a:cubicBezTo>
                  <a:pt x="16312" y="6164"/>
                  <a:pt x="16420" y="6199"/>
                  <a:pt x="16524" y="6179"/>
                </a:cubicBezTo>
                <a:lnTo>
                  <a:pt x="18912" y="5719"/>
                </a:lnTo>
                <a:cubicBezTo>
                  <a:pt x="19027" y="5697"/>
                  <a:pt x="19144" y="5741"/>
                  <a:pt x="19215" y="5834"/>
                </a:cubicBezTo>
                <a:cubicBezTo>
                  <a:pt x="19285" y="5928"/>
                  <a:pt x="19297" y="6053"/>
                  <a:pt x="19244" y="6157"/>
                </a:cubicBezTo>
                <a:lnTo>
                  <a:pt x="12454" y="19707"/>
                </a:lnTo>
                <a:lnTo>
                  <a:pt x="12331" y="19897"/>
                </a:lnTo>
                <a:cubicBezTo>
                  <a:pt x="12277" y="19984"/>
                  <a:pt x="12182" y="20038"/>
                  <a:pt x="12079" y="20037"/>
                </a:cubicBezTo>
                <a:cubicBezTo>
                  <a:pt x="11902" y="20037"/>
                  <a:pt x="11729" y="19885"/>
                  <a:pt x="11774" y="19668"/>
                </a:cubicBezTo>
                <a:lnTo>
                  <a:pt x="12869" y="14367"/>
                </a:lnTo>
                <a:cubicBezTo>
                  <a:pt x="12891" y="14261"/>
                  <a:pt x="12856" y="14152"/>
                  <a:pt x="12776" y="14079"/>
                </a:cubicBezTo>
                <a:cubicBezTo>
                  <a:pt x="12696" y="14006"/>
                  <a:pt x="12584" y="13981"/>
                  <a:pt x="12481" y="14012"/>
                </a:cubicBezTo>
                <a:lnTo>
                  <a:pt x="11048" y="14447"/>
                </a:lnTo>
                <a:cubicBezTo>
                  <a:pt x="10945" y="14478"/>
                  <a:pt x="10833" y="14453"/>
                  <a:pt x="10753" y="14381"/>
                </a:cubicBezTo>
                <a:cubicBezTo>
                  <a:pt x="10673" y="14308"/>
                  <a:pt x="10637" y="14199"/>
                  <a:pt x="10659" y="14093"/>
                </a:cubicBezTo>
                <a:lnTo>
                  <a:pt x="11349" y="10718"/>
                </a:lnTo>
                <a:cubicBezTo>
                  <a:pt x="11370" y="10616"/>
                  <a:pt x="11338" y="10509"/>
                  <a:pt x="11263" y="10436"/>
                </a:cubicBezTo>
                <a:cubicBezTo>
                  <a:pt x="11188" y="10364"/>
                  <a:pt x="11081" y="10334"/>
                  <a:pt x="10979" y="10358"/>
                </a:cubicBezTo>
                <a:lnTo>
                  <a:pt x="8659" y="10894"/>
                </a:lnTo>
                <a:cubicBezTo>
                  <a:pt x="8565" y="10916"/>
                  <a:pt x="8467" y="10892"/>
                  <a:pt x="8393" y="10830"/>
                </a:cubicBezTo>
                <a:cubicBezTo>
                  <a:pt x="8319" y="10767"/>
                  <a:pt x="8279" y="10674"/>
                  <a:pt x="8285" y="10578"/>
                </a:cubicBezTo>
                <a:close/>
                <a:moveTo>
                  <a:pt x="23262" y="2652"/>
                </a:moveTo>
                <a:lnTo>
                  <a:pt x="17284" y="3740"/>
                </a:lnTo>
                <a:lnTo>
                  <a:pt x="16740" y="5627"/>
                </a:lnTo>
                <a:lnTo>
                  <a:pt x="18817" y="5227"/>
                </a:lnTo>
                <a:cubicBezTo>
                  <a:pt x="19147" y="5161"/>
                  <a:pt x="19482" y="5309"/>
                  <a:pt x="19657" y="5596"/>
                </a:cubicBezTo>
                <a:cubicBezTo>
                  <a:pt x="19804" y="5833"/>
                  <a:pt x="19817" y="6130"/>
                  <a:pt x="19691" y="6379"/>
                </a:cubicBezTo>
                <a:lnTo>
                  <a:pt x="12900" y="19930"/>
                </a:lnTo>
                <a:lnTo>
                  <a:pt x="12887" y="19955"/>
                </a:lnTo>
                <a:lnTo>
                  <a:pt x="12872" y="19978"/>
                </a:lnTo>
                <a:lnTo>
                  <a:pt x="12750" y="20168"/>
                </a:lnTo>
                <a:cubicBezTo>
                  <a:pt x="12603" y="20398"/>
                  <a:pt x="12350" y="20537"/>
                  <a:pt x="12078" y="20538"/>
                </a:cubicBezTo>
                <a:cubicBezTo>
                  <a:pt x="11832" y="20537"/>
                  <a:pt x="11600" y="20426"/>
                  <a:pt x="11444" y="20236"/>
                </a:cubicBezTo>
                <a:cubicBezTo>
                  <a:pt x="11292" y="20048"/>
                  <a:pt x="11234" y="19802"/>
                  <a:pt x="11284" y="19566"/>
                </a:cubicBezTo>
                <a:lnTo>
                  <a:pt x="12313" y="14585"/>
                </a:lnTo>
                <a:lnTo>
                  <a:pt x="11193" y="14925"/>
                </a:lnTo>
                <a:cubicBezTo>
                  <a:pt x="10880" y="15019"/>
                  <a:pt x="10540" y="14916"/>
                  <a:pt x="10333" y="14663"/>
                </a:cubicBezTo>
                <a:cubicBezTo>
                  <a:pt x="10180" y="14476"/>
                  <a:pt x="10119" y="14230"/>
                  <a:pt x="10168" y="13993"/>
                </a:cubicBezTo>
                <a:lnTo>
                  <a:pt x="10798" y="10913"/>
                </a:lnTo>
                <a:lnTo>
                  <a:pt x="8771" y="11381"/>
                </a:lnTo>
                <a:cubicBezTo>
                  <a:pt x="8492" y="11445"/>
                  <a:pt x="8200" y="11356"/>
                  <a:pt x="8003" y="11148"/>
                </a:cubicBezTo>
                <a:cubicBezTo>
                  <a:pt x="7852" y="10986"/>
                  <a:pt x="7773" y="10769"/>
                  <a:pt x="7786" y="10548"/>
                </a:cubicBezTo>
                <a:lnTo>
                  <a:pt x="8175" y="3978"/>
                </a:lnTo>
                <a:lnTo>
                  <a:pt x="735" y="2648"/>
                </a:lnTo>
                <a:cubicBezTo>
                  <a:pt x="501" y="2606"/>
                  <a:pt x="264" y="2703"/>
                  <a:pt x="126" y="2897"/>
                </a:cubicBezTo>
                <a:cubicBezTo>
                  <a:pt x="-11" y="3091"/>
                  <a:pt x="-23" y="3348"/>
                  <a:pt x="95" y="3554"/>
                </a:cubicBezTo>
                <a:lnTo>
                  <a:pt x="11580" y="23691"/>
                </a:lnTo>
                <a:cubicBezTo>
                  <a:pt x="11689" y="23883"/>
                  <a:pt x="11893" y="24001"/>
                  <a:pt x="12114" y="24000"/>
                </a:cubicBezTo>
                <a:cubicBezTo>
                  <a:pt x="12335" y="23999"/>
                  <a:pt x="12538" y="23880"/>
                  <a:pt x="12646" y="23687"/>
                </a:cubicBezTo>
                <a:lnTo>
                  <a:pt x="23906" y="3552"/>
                </a:lnTo>
                <a:cubicBezTo>
                  <a:pt x="24021" y="3345"/>
                  <a:pt x="24007" y="3091"/>
                  <a:pt x="23869" y="2898"/>
                </a:cubicBezTo>
                <a:cubicBezTo>
                  <a:pt x="23731" y="2706"/>
                  <a:pt x="23495" y="2610"/>
                  <a:pt x="23262" y="2652"/>
                </a:cubicBezTo>
                <a:close/>
              </a:path>
            </a:pathLst>
          </a:custGeom>
          <a:solidFill>
            <a:srgbClr val="646C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3182112" y="2706624"/>
            <a:ext cx="1719072" cy="438912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l"/>
            <a:r>
              <a:rPr sz="900" b="1" i="0" lang="ko-KR" altLang="en-US">
                <a:solidFill>
                  <a:srgbClr val="1F3864"/>
                </a:solidFill>
                <a:latin typeface="LG스마트체 Regular"/>
                <a:ea typeface="LG스마트체 Regular"/>
                <a:cs typeface="LG스마트체 Regular"/>
              </a:rPr>
              <a:t>frontend/dist</a:t>
            </a:r>
          </a:p>
          <a:p>
            <a:pPr algn="l"/>
            <a:r>
              <a:rPr sz="900" b="0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정적 화면 (앱이 함께 제공)</a:t>
            </a:r>
          </a:p>
        </p:txBody>
      </p:sp>
      <p:sp>
        <p:nvSpPr>
          <p:cNvPr id="28" name="process"/>
          <p:cNvSpPr/>
          <p:nvPr/>
        </p:nvSpPr>
        <p:spPr>
          <a:xfrm>
            <a:off x="5074920" y="2395728"/>
            <a:ext cx="2788920" cy="777240"/>
          </a:xfrm>
          <a:prstGeom prst="roundRect">
            <a:avLst>
              <a:gd name="adj" fmla="val 7058"/>
            </a:avLst>
          </a:prstGeom>
          <a:solidFill>
            <a:srgbClr val="EEF2F8"/>
          </a:solidFill>
          <a:ln w="15875">
            <a:solidFill>
              <a:srgbClr val="1F3864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9" name="icon-fastapi"/>
          <p:cNvSpPr/>
          <p:nvPr/>
        </p:nvSpPr>
        <p:spPr>
          <a:xfrm>
            <a:off x="5148072" y="2468880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24000" h="24000" stroke="0">
                <a:moveTo>
                  <a:pt x="12000" y="39"/>
                </a:moveTo>
                <a:cubicBezTo>
                  <a:pt x="5373" y="38"/>
                  <a:pt x="0" y="5393"/>
                  <a:pt x="0" y="11999"/>
                </a:cubicBezTo>
                <a:cubicBezTo>
                  <a:pt x="-1" y="18605"/>
                  <a:pt x="5372" y="23962"/>
                  <a:pt x="12000" y="23961"/>
                </a:cubicBezTo>
                <a:cubicBezTo>
                  <a:pt x="18628" y="23962"/>
                  <a:pt x="24001" y="18605"/>
                  <a:pt x="24000" y="11999"/>
                </a:cubicBezTo>
                <a:cubicBezTo>
                  <a:pt x="24000" y="5393"/>
                  <a:pt x="18627" y="38"/>
                  <a:pt x="12000" y="39"/>
                </a:cubicBezTo>
                <a:moveTo>
                  <a:pt x="11171" y="5454"/>
                </a:moveTo>
                <a:lnTo>
                  <a:pt x="18721" y="5454"/>
                </a:lnTo>
                <a:lnTo>
                  <a:pt x="11140" y="10782"/>
                </a:lnTo>
                <a:lnTo>
                  <a:pt x="16323" y="10782"/>
                </a:lnTo>
                <a:lnTo>
                  <a:pt x="5279" y="18544"/>
                </a:lnTo>
                <a:cubicBezTo>
                  <a:pt x="7243" y="14181"/>
                  <a:pt x="9207" y="9817"/>
                  <a:pt x="11171" y="5454"/>
                </a:cubicBezTo>
              </a:path>
            </a:pathLst>
          </a:custGeom>
          <a:solidFill>
            <a:srgbClr val="00968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440680" y="2432304"/>
            <a:ext cx="2377440" cy="713232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l"/>
            <a:r>
              <a:rPr sz="900" b="1" i="0" lang="ko-KR" altLang="en-US">
                <a:solidFill>
                  <a:srgbClr val="1F3864"/>
                </a:solidFill>
                <a:latin typeface="LG스마트체 Regular"/>
                <a:ea typeface="LG스마트체 Regular"/>
                <a:cs typeface="LG스마트체 Regular"/>
              </a:rPr>
              <a:t>프로세스 </a:t>
            </a:r>
            <a:r>
              <a:rPr sz="900" b="0" i="0" lang="ko-KR" altLang="en-US">
                <a:solidFill>
                  <a:srgbClr val="595959"/>
                </a:solidFill>
                <a:latin typeface="LG스마트체 Regular"/>
                <a:ea typeface="LG스마트체 Regular"/>
                <a:cs typeface="LG스마트체 Regular"/>
              </a:rPr>
              <a:t>(구현)</a:t>
            </a:r>
          </a:p>
          <a:p>
            <a:pPr algn="l"/>
            <a:r>
              <a:rPr sz="900" b="0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uvicorn app.main:app_factory</a:t>
            </a:r>
          </a:p>
          <a:p>
            <a:pPr algn="l"/>
            <a:r>
              <a:rPr sz="900" b="0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workers=1 · PORT 8000 (config)</a:t>
            </a:r>
          </a:p>
        </p:txBody>
      </p:sp>
      <p:sp>
        <p:nvSpPr>
          <p:cNvPr id="31" name="libreoffice"/>
          <p:cNvSpPr/>
          <p:nvPr/>
        </p:nvSpPr>
        <p:spPr>
          <a:xfrm>
            <a:off x="3108960" y="3273552"/>
            <a:ext cx="2331720" cy="640080"/>
          </a:xfrm>
          <a:prstGeom prst="roundRect">
            <a:avLst>
              <a:gd name="adj" fmla="val 8571"/>
            </a:avLst>
          </a:prstGeom>
          <a:solidFill>
            <a:srgbClr val="FFF5EB"/>
          </a:solidFill>
          <a:ln w="12700">
            <a:solidFill>
              <a:srgbClr val="C55A11"/>
            </a:solidFill>
            <a:prstDash val="dash"/>
          </a:ln>
          <a:effectLst/>
        </p:spPr>
        <p:txBody>
          <a:bodyPr rtlCol="0" anchor="ctr"/>
          <a:lstStyle/>
          <a:p/>
        </p:txBody>
      </p:sp>
      <p:sp>
        <p:nvSpPr>
          <p:cNvPr id="32" name="icon-ppt"/>
          <p:cNvSpPr/>
          <p:nvPr/>
        </p:nvSpPr>
        <p:spPr>
          <a:xfrm>
            <a:off x="3182112" y="3364992"/>
            <a:ext cx="201168" cy="201168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3000" y="4000"/>
                </a:moveTo>
                <a:lnTo>
                  <a:pt x="21000" y="4000"/>
                </a:lnTo>
              </a:path>
              <a:path w="24000" h="24000" fill="none">
                <a:moveTo>
                  <a:pt x="4000" y="4000"/>
                </a:moveTo>
                <a:lnTo>
                  <a:pt x="4000" y="14000"/>
                </a:lnTo>
                <a:cubicBezTo>
                  <a:pt x="4000" y="15105"/>
                  <a:pt x="4895" y="16000"/>
                  <a:pt x="6000" y="16000"/>
                </a:cubicBezTo>
                <a:lnTo>
                  <a:pt x="18000" y="16000"/>
                </a:lnTo>
                <a:cubicBezTo>
                  <a:pt x="19105" y="16000"/>
                  <a:pt x="20000" y="15105"/>
                  <a:pt x="20000" y="14000"/>
                </a:cubicBezTo>
                <a:lnTo>
                  <a:pt x="20000" y="4000"/>
                </a:lnTo>
              </a:path>
              <a:path w="24000" h="24000" fill="none">
                <a:moveTo>
                  <a:pt x="12000" y="16000"/>
                </a:moveTo>
                <a:lnTo>
                  <a:pt x="12000" y="20000"/>
                </a:lnTo>
              </a:path>
              <a:path w="24000" h="24000" fill="none">
                <a:moveTo>
                  <a:pt x="9000" y="20000"/>
                </a:moveTo>
                <a:lnTo>
                  <a:pt x="15000" y="20000"/>
                </a:lnTo>
              </a:path>
              <a:path w="24000" h="24000" fill="none">
                <a:moveTo>
                  <a:pt x="8000" y="12000"/>
                </a:moveTo>
                <a:lnTo>
                  <a:pt x="11000" y="9000"/>
                </a:lnTo>
                <a:lnTo>
                  <a:pt x="13000" y="11000"/>
                </a:lnTo>
                <a:lnTo>
                  <a:pt x="16000" y="8000"/>
                </a:lnTo>
              </a:path>
            </a:pathLst>
          </a:custGeom>
          <a:solidFill>
            <a:srgbClr val="595959"/>
          </a:solidFill>
          <a:ln w="12700">
            <a:solidFill>
              <a:srgbClr val="59595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3456432" y="3310128"/>
            <a:ext cx="1938528" cy="566928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l"/>
            <a:r>
              <a:rPr sz="900" b="1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LibreOffice</a:t>
            </a:r>
            <a:r>
              <a:rPr sz="900" b="0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 (미리보기)</a:t>
            </a:r>
          </a:p>
          <a:p>
            <a:pPr algn="l"/>
            <a:r>
              <a:rPr sz="900" b="0" i="0" lang="ko-KR" altLang="en-US">
                <a:solidFill>
                  <a:srgbClr val="C55A11"/>
                </a:solidFill>
                <a:latin typeface="LG스마트체 Regular"/>
                <a:ea typeface="LG스마트체 Regular"/>
                <a:cs typeface="LG스마트체 Regular"/>
              </a:rPr>
              <a:t>이미지에 설치 · 한글 글꼴 포함</a:t>
            </a:r>
          </a:p>
        </p:txBody>
      </p:sp>
      <p:sp>
        <p:nvSpPr>
          <p:cNvPr id="34" name="alembic"/>
          <p:cNvSpPr/>
          <p:nvPr/>
        </p:nvSpPr>
        <p:spPr>
          <a:xfrm>
            <a:off x="5577840" y="3273552"/>
            <a:ext cx="2286000" cy="640080"/>
          </a:xfrm>
          <a:prstGeom prst="roundRect">
            <a:avLst>
              <a:gd name="adj" fmla="val 8571"/>
            </a:avLst>
          </a:prstGeom>
          <a:solidFill>
            <a:srgbClr val="EEF2F8"/>
          </a:solidFill>
          <a:ln w="15875">
            <a:solidFill>
              <a:srgbClr val="1F3864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5" name="icon-database"/>
          <p:cNvSpPr/>
          <p:nvPr/>
        </p:nvSpPr>
        <p:spPr>
          <a:xfrm>
            <a:off x="5650992" y="3364992"/>
            <a:ext cx="201168" cy="201168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12000" y="6000"/>
                </a:moveTo>
                <a:moveTo>
                  <a:pt x="4000" y="6000"/>
                </a:moveTo>
                <a:cubicBezTo>
                  <a:pt x="4000" y="7657"/>
                  <a:pt x="7582" y="9000"/>
                  <a:pt x="12000" y="9000"/>
                </a:cubicBezTo>
                <a:cubicBezTo>
                  <a:pt x="16418" y="9000"/>
                  <a:pt x="20000" y="7657"/>
                  <a:pt x="20000" y="6000"/>
                </a:cubicBezTo>
                <a:cubicBezTo>
                  <a:pt x="20000" y="4343"/>
                  <a:pt x="16418" y="3000"/>
                  <a:pt x="12000" y="3000"/>
                </a:cubicBezTo>
                <a:cubicBezTo>
                  <a:pt x="7582" y="3000"/>
                  <a:pt x="4000" y="4343"/>
                  <a:pt x="4000" y="6000"/>
                </a:cubicBezTo>
              </a:path>
              <a:path w="24000" h="24000" fill="none">
                <a:moveTo>
                  <a:pt x="4000" y="6000"/>
                </a:moveTo>
                <a:lnTo>
                  <a:pt x="4000" y="12000"/>
                </a:lnTo>
                <a:cubicBezTo>
                  <a:pt x="4000" y="13657"/>
                  <a:pt x="7582" y="15000"/>
                  <a:pt x="12000" y="15000"/>
                </a:cubicBezTo>
                <a:cubicBezTo>
                  <a:pt x="16418" y="15000"/>
                  <a:pt x="20000" y="13657"/>
                  <a:pt x="20000" y="12000"/>
                </a:cubicBezTo>
                <a:lnTo>
                  <a:pt x="20000" y="6000"/>
                </a:lnTo>
              </a:path>
              <a:path w="24000" h="24000" fill="none">
                <a:moveTo>
                  <a:pt x="4000" y="12000"/>
                </a:moveTo>
                <a:lnTo>
                  <a:pt x="4000" y="18000"/>
                </a:lnTo>
                <a:cubicBezTo>
                  <a:pt x="4000" y="19657"/>
                  <a:pt x="7582" y="21000"/>
                  <a:pt x="12000" y="21000"/>
                </a:cubicBezTo>
                <a:cubicBezTo>
                  <a:pt x="16418" y="21000"/>
                  <a:pt x="20000" y="19657"/>
                  <a:pt x="20000" y="18000"/>
                </a:cubicBezTo>
                <a:lnTo>
                  <a:pt x="20000" y="12000"/>
                </a:lnTo>
              </a:path>
            </a:pathLst>
          </a:custGeom>
          <a:solidFill>
            <a:srgbClr val="1F3864"/>
          </a:solidFill>
          <a:ln w="12700">
            <a:solidFill>
              <a:srgbClr val="1F3864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925312" y="3310128"/>
            <a:ext cx="1901952" cy="566928"/>
          </a:xfrm>
          <a:prstGeom prst="rect">
            <a:avLst/>
          </a:prstGeom>
          <a:noFill/>
        </p:spPr>
        <p:txBody>
          <a:bodyPr wrap="square" lIns="0" rIns="0" tIns="18288" bIns="18288" anchor="ctr">
            <a:noAutofit/>
          </a:bodyPr>
          <a:lstStyle/>
          <a:p>
            <a:pPr algn="l"/>
            <a:r>
              <a:rPr sz="900" b="1" i="0" lang="ko-KR" altLang="en-US">
                <a:solidFill>
                  <a:srgbClr val="1F3864"/>
                </a:solidFill>
                <a:latin typeface="LG스마트체 Regular"/>
                <a:ea typeface="LG스마트체 Regular"/>
                <a:cs typeface="LG스마트체 Regular"/>
              </a:rPr>
              <a:t>Alembic</a:t>
            </a:r>
            <a:r>
              <a:rPr sz="900" b="0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 자동 마이그레이션</a:t>
            </a:r>
          </a:p>
          <a:p>
            <a:pPr algn="l"/>
            <a:r>
              <a:rPr sz="900" b="0" i="0" lang="ko-KR" altLang="en-US">
                <a:solidFill>
                  <a:srgbClr val="595959"/>
                </a:solidFill>
                <a:latin typeface="LG스마트체 Regular"/>
                <a:ea typeface="LG스마트체 Regular"/>
                <a:cs typeface="LG스마트체 Regular"/>
              </a:rPr>
              <a:t>(앱 시작 시 실행)</a:t>
            </a:r>
          </a:p>
        </p:txBody>
      </p:sp>
      <p:cxnSp>
        <p:nvCxnSpPr>
          <p:cNvPr id="37" name="vol-data"/>
          <p:cNvCxnSpPr/>
          <p:nvPr/>
        </p:nvCxnSpPr>
        <p:spPr>
          <a:xfrm>
            <a:off x="4297680" y="4023360"/>
            <a:ext cx="0" cy="502920"/>
          </a:xfrm>
          <a:prstGeom prst="line">
            <a:avLst/>
          </a:prstGeom>
          <a:ln w="19050">
            <a:solidFill>
              <a:srgbClr val="1F3864"/>
            </a:solidFill>
            <a:tailEnd type="triangle" w="med" len="med"/>
          </a:ln>
        </p:spPr>
      </p:cxnSp>
      <p:sp>
        <p:nvSpPr>
          <p:cNvPr id="38" name="badge-2"/>
          <p:cNvSpPr/>
          <p:nvPr/>
        </p:nvSpPr>
        <p:spPr>
          <a:xfrm>
            <a:off x="4183380" y="4201668"/>
            <a:ext cx="228600" cy="228600"/>
          </a:xfrm>
          <a:prstGeom prst="ellipse">
            <a:avLst/>
          </a:prstGeom>
          <a:solidFill>
            <a:srgbClr val="1F3864"/>
          </a:solidFill>
          <a:ln w="9525">
            <a:solidFill>
              <a:srgbClr val="FFFFFF"/>
            </a:solidFill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 b="1" i="0" lang="ko-KR" altLang="en-US">
                <a:solidFill>
                  <a:srgbClr val="FFFFFF"/>
                </a:solidFill>
                <a:latin typeface="LG스마트체 Regular"/>
                <a:ea typeface="LG스마트체 Regular"/>
                <a:cs typeface="LG스마트체 Regular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62272" y="4206240"/>
            <a:ext cx="914400" cy="201168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/>
            <a:r>
              <a:rPr sz="900" b="0" i="0" lang="ko-KR" altLang="en-US">
                <a:solidFill>
                  <a:srgbClr val="1F3864"/>
                </a:solidFill>
                <a:latin typeface="LG스마트체 Regular"/>
                <a:ea typeface="LG스마트체 Regular"/>
                <a:cs typeface="LG스마트체 Regular"/>
              </a:rPr>
              <a:t>볼륨 /data</a:t>
            </a:r>
          </a:p>
        </p:txBody>
      </p:sp>
      <p:sp>
        <p:nvSpPr>
          <p:cNvPr id="40" name="vol-data-ssd"/>
          <p:cNvSpPr/>
          <p:nvPr/>
        </p:nvSpPr>
        <p:spPr>
          <a:xfrm>
            <a:off x="2834640" y="4526280"/>
            <a:ext cx="2926080" cy="1417320"/>
          </a:xfrm>
          <a:prstGeom prst="roundRect">
            <a:avLst>
              <a:gd name="adj" fmla="val 4516"/>
            </a:avLst>
          </a:prstGeom>
          <a:solidFill>
            <a:srgbClr val="EEF2F8"/>
          </a:solidFill>
          <a:ln w="15875">
            <a:solidFill>
              <a:srgbClr val="1F3864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1" name="icon-ssd"/>
          <p:cNvSpPr/>
          <p:nvPr/>
        </p:nvSpPr>
        <p:spPr>
          <a:xfrm>
            <a:off x="2907792" y="4599432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7000" y="21000"/>
                </a:moveTo>
                <a:lnTo>
                  <a:pt x="17000" y="21000"/>
                </a:lnTo>
                <a:cubicBezTo>
                  <a:pt x="18105" y="21000"/>
                  <a:pt x="19000" y="20105"/>
                  <a:pt x="19000" y="19000"/>
                </a:cubicBezTo>
                <a:lnTo>
                  <a:pt x="19000" y="5000"/>
                </a:lnTo>
                <a:cubicBezTo>
                  <a:pt x="19000" y="3895"/>
                  <a:pt x="18105" y="3000"/>
                  <a:pt x="17000" y="3000"/>
                </a:cubicBezTo>
                <a:lnTo>
                  <a:pt x="10828" y="3000"/>
                </a:lnTo>
                <a:cubicBezTo>
                  <a:pt x="10298" y="3000"/>
                  <a:pt x="9789" y="3211"/>
                  <a:pt x="9414" y="3586"/>
                </a:cubicBezTo>
                <a:lnTo>
                  <a:pt x="5586" y="7414"/>
                </a:lnTo>
                <a:cubicBezTo>
                  <a:pt x="5211" y="7789"/>
                  <a:pt x="5000" y="8298"/>
                  <a:pt x="5000" y="8828"/>
                </a:cubicBezTo>
                <a:lnTo>
                  <a:pt x="5000" y="19000"/>
                </a:lnTo>
                <a:cubicBezTo>
                  <a:pt x="5000" y="20105"/>
                  <a:pt x="5895" y="21000"/>
                  <a:pt x="7000" y="21000"/>
                </a:cubicBezTo>
                <a:close/>
              </a:path>
              <a:path w="24000" h="24000" fill="none">
                <a:moveTo>
                  <a:pt x="13000" y="6000"/>
                </a:moveTo>
                <a:lnTo>
                  <a:pt x="13000" y="8000"/>
                </a:lnTo>
              </a:path>
              <a:path w="24000" h="24000" fill="none">
                <a:moveTo>
                  <a:pt x="16000" y="6000"/>
                </a:moveTo>
                <a:lnTo>
                  <a:pt x="16000" y="8000"/>
                </a:lnTo>
              </a:path>
              <a:path w="24000" h="24000" fill="none">
                <a:moveTo>
                  <a:pt x="10000" y="7000"/>
                </a:moveTo>
                <a:lnTo>
                  <a:pt x="10000" y="8000"/>
                </a:lnTo>
              </a:path>
            </a:pathLst>
          </a:custGeom>
          <a:solidFill>
            <a:srgbClr val="1F3864"/>
          </a:solidFill>
          <a:ln w="12700">
            <a:solidFill>
              <a:srgbClr val="1F3864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3182112" y="4590288"/>
            <a:ext cx="2542032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/>
            <a:r>
              <a:rPr sz="950" b="1" i="0" lang="ko-KR" altLang="en-US">
                <a:solidFill>
                  <a:srgbClr val="1F3864"/>
                </a:solidFill>
                <a:latin typeface="LG스마트체 Regular"/>
                <a:ea typeface="LG스마트체 Regular"/>
                <a:cs typeface="LG스마트체 Regular"/>
              </a:rPr>
              <a:t>/data → VM 로컬 SSD</a:t>
            </a:r>
            <a:r>
              <a:rPr sz="950" b="0" i="0" lang="ko-KR" altLang="en-US">
                <a:solidFill>
                  <a:srgbClr val="595959"/>
                </a:solidFill>
                <a:latin typeface="LG스마트체 Regular"/>
                <a:ea typeface="LG스마트체 Regular"/>
                <a:cs typeface="LG스마트체 Regular"/>
              </a:rPr>
              <a:t> (DATA_DIR)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26080" y="4864608"/>
            <a:ext cx="278892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900" b="0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db/worklog.sqlite3 (+WAL·SHM)</a:t>
            </a:r>
          </a:p>
          <a:p>
            <a:pPr algn="l">
              <a:spcBef>
                <a:spcPts val="200"/>
              </a:spcBef>
            </a:pPr>
            <a:r>
              <a:rPr sz="900" b="0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attachments/ · reports/ · json/</a:t>
            </a:r>
          </a:p>
          <a:p>
            <a:pPr algn="l">
              <a:spcBef>
                <a:spcPts val="200"/>
              </a:spcBef>
            </a:pPr>
            <a:r>
              <a:rPr sz="900" b="0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exports/ · temp/ · logs/ · voe/posts/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26080" y="5641848"/>
            <a:ext cx="27889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900" b="1" i="0" lang="ko-KR" altLang="en-US">
                <a:solidFill>
                  <a:srgbClr val="1F3864"/>
                </a:solidFill>
                <a:latin typeface="LG스마트체 Regular"/>
                <a:ea typeface="LG스마트체 Regular"/>
                <a:cs typeface="LG스마트체 Regular"/>
              </a:rPr>
              <a:t>※ 네트워크 공유 금지</a:t>
            </a:r>
            <a:r>
              <a:rPr sz="900" b="0" i="0" lang="ko-KR" altLang="en-US">
                <a:solidFill>
                  <a:srgbClr val="595959"/>
                </a:solidFill>
                <a:latin typeface="LG스마트체 Regular"/>
                <a:ea typeface="LG스마트체 Regular"/>
                <a:cs typeface="LG스마트체 Regular"/>
              </a:rPr>
              <a:t> (docs/09 §3)</a:t>
            </a:r>
          </a:p>
        </p:txBody>
      </p:sp>
      <p:cxnSp>
        <p:nvCxnSpPr>
          <p:cNvPr id="45" name="vol-config"/>
          <p:cNvCxnSpPr/>
          <p:nvPr/>
        </p:nvCxnSpPr>
        <p:spPr>
          <a:xfrm>
            <a:off x="7132320" y="4023360"/>
            <a:ext cx="0" cy="502920"/>
          </a:xfrm>
          <a:prstGeom prst="line">
            <a:avLst/>
          </a:prstGeom>
          <a:ln w="19050">
            <a:solidFill>
              <a:srgbClr val="C55A11"/>
            </a:solidFill>
            <a:prstDash val="dash"/>
            <a:tailEnd type="triangle" w="med" len="med"/>
          </a:ln>
        </p:spPr>
      </p:cxnSp>
      <p:sp>
        <p:nvSpPr>
          <p:cNvPr id="46" name="TextBox 45"/>
          <p:cNvSpPr txBox="1"/>
          <p:nvPr/>
        </p:nvSpPr>
        <p:spPr>
          <a:xfrm>
            <a:off x="7278624" y="4206240"/>
            <a:ext cx="868680" cy="201168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/>
            <a:r>
              <a:rPr sz="900" b="0" i="0" lang="ko-KR" altLang="en-US">
                <a:solidFill>
                  <a:srgbClr val="C55A11"/>
                </a:solidFill>
                <a:latin typeface="LG스마트체 Regular"/>
                <a:ea typeface="LG스마트체 Regular"/>
                <a:cs typeface="LG스마트체 Regular"/>
              </a:rPr>
              <a:t>읽기 전용</a:t>
            </a:r>
          </a:p>
        </p:txBody>
      </p:sp>
      <p:sp>
        <p:nvSpPr>
          <p:cNvPr id="47" name="vol-config-box"/>
          <p:cNvSpPr/>
          <p:nvPr/>
        </p:nvSpPr>
        <p:spPr>
          <a:xfrm>
            <a:off x="6172200" y="4526280"/>
            <a:ext cx="1965960" cy="658368"/>
          </a:xfrm>
          <a:prstGeom prst="roundRect">
            <a:avLst>
              <a:gd name="adj" fmla="val 8333"/>
            </a:avLst>
          </a:prstGeom>
          <a:solidFill>
            <a:srgbClr val="FFF5EB"/>
          </a:solidFill>
          <a:ln w="12700">
            <a:solidFill>
              <a:srgbClr val="C55A11"/>
            </a:solidFill>
            <a:prstDash val="dash"/>
          </a:ln>
          <a:effectLst/>
        </p:spPr>
        <p:txBody>
          <a:bodyPr rtlCol="0" anchor="ctr"/>
          <a:lstStyle/>
          <a:p/>
        </p:txBody>
      </p:sp>
      <p:sp>
        <p:nvSpPr>
          <p:cNvPr id="48" name="icon-key"/>
          <p:cNvSpPr/>
          <p:nvPr/>
        </p:nvSpPr>
        <p:spPr>
          <a:xfrm>
            <a:off x="6245352" y="4599432"/>
            <a:ext cx="201168" cy="201168"/>
          </a:xfrm>
          <a:custGeom>
            <a:avLst/>
            <a:gdLst/>
            <a:ahLst/>
            <a:cxnLst/>
            <a:rect l="0" t="0" r="r" b="b"/>
            <a:pathLst>
              <a:path w="24000" h="24000" stroke="0">
                <a:moveTo>
                  <a:pt x="21000" y="10000"/>
                </a:moveTo>
                <a:lnTo>
                  <a:pt x="12650" y="10000"/>
                </a:lnTo>
                <a:cubicBezTo>
                  <a:pt x="11806" y="7603"/>
                  <a:pt x="9541" y="6000"/>
                  <a:pt x="7000" y="6000"/>
                </a:cubicBezTo>
                <a:cubicBezTo>
                  <a:pt x="3690" y="6000"/>
                  <a:pt x="1000" y="8690"/>
                  <a:pt x="1000" y="12000"/>
                </a:cubicBezTo>
                <a:cubicBezTo>
                  <a:pt x="1000" y="15310"/>
                  <a:pt x="3690" y="18000"/>
                  <a:pt x="7000" y="18000"/>
                </a:cubicBezTo>
                <a:cubicBezTo>
                  <a:pt x="9541" y="18000"/>
                  <a:pt x="11806" y="16397"/>
                  <a:pt x="12650" y="14000"/>
                </a:cubicBezTo>
                <a:lnTo>
                  <a:pt x="13000" y="14000"/>
                </a:lnTo>
                <a:lnTo>
                  <a:pt x="15000" y="16000"/>
                </a:lnTo>
                <a:lnTo>
                  <a:pt x="17000" y="14000"/>
                </a:lnTo>
                <a:lnTo>
                  <a:pt x="19000" y="16000"/>
                </a:lnTo>
                <a:lnTo>
                  <a:pt x="23000" y="11960"/>
                </a:lnTo>
                <a:lnTo>
                  <a:pt x="21000" y="10000"/>
                </a:lnTo>
                <a:close/>
                <a:moveTo>
                  <a:pt x="7000" y="15000"/>
                </a:moveTo>
                <a:cubicBezTo>
                  <a:pt x="5350" y="15000"/>
                  <a:pt x="4000" y="13650"/>
                  <a:pt x="4000" y="12000"/>
                </a:cubicBezTo>
                <a:cubicBezTo>
                  <a:pt x="4000" y="10350"/>
                  <a:pt x="5350" y="9000"/>
                  <a:pt x="7000" y="9000"/>
                </a:cubicBezTo>
                <a:cubicBezTo>
                  <a:pt x="8650" y="9000"/>
                  <a:pt x="10000" y="10350"/>
                  <a:pt x="10000" y="12000"/>
                </a:cubicBezTo>
                <a:cubicBezTo>
                  <a:pt x="10000" y="13650"/>
                  <a:pt x="8650" y="15000"/>
                  <a:pt x="7000" y="15000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6492240" y="4562856"/>
            <a:ext cx="1618488" cy="603504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/>
            <a:r>
              <a:rPr sz="900" b="1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/config/config.json</a:t>
            </a:r>
          </a:p>
          <a:p>
            <a:pPr algn="l"/>
            <a:r>
              <a:rPr sz="850" b="0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비밀 값: AI_API_URL · AI_API_KEY</a:t>
            </a:r>
          </a:p>
        </p:txBody>
      </p:sp>
      <p:sp>
        <p:nvSpPr>
          <p:cNvPr id="50" name="vol-backup-box"/>
          <p:cNvSpPr/>
          <p:nvPr/>
        </p:nvSpPr>
        <p:spPr>
          <a:xfrm>
            <a:off x="6172200" y="5303520"/>
            <a:ext cx="1965960" cy="658368"/>
          </a:xfrm>
          <a:prstGeom prst="roundRect">
            <a:avLst>
              <a:gd name="adj" fmla="val 8333"/>
            </a:avLst>
          </a:prstGeom>
          <a:solidFill>
            <a:srgbClr val="FFF5EB"/>
          </a:solidFill>
          <a:ln w="12700">
            <a:solidFill>
              <a:srgbClr val="C55A11"/>
            </a:solidFill>
            <a:prstDash val="dash"/>
          </a:ln>
          <a:effectLst/>
        </p:spPr>
        <p:txBody>
          <a:bodyPr rtlCol="0" anchor="ctr"/>
          <a:lstStyle/>
          <a:p/>
        </p:txBody>
      </p:sp>
      <p:sp>
        <p:nvSpPr>
          <p:cNvPr id="51" name="icon-nas"/>
          <p:cNvSpPr/>
          <p:nvPr/>
        </p:nvSpPr>
        <p:spPr>
          <a:xfrm>
            <a:off x="6245352" y="5376672"/>
            <a:ext cx="201168" cy="201168"/>
          </a:xfrm>
          <a:custGeom>
            <a:avLst/>
            <a:gdLst/>
            <a:ahLst/>
            <a:cxnLst/>
            <a:rect l="0" t="0" r="r" b="b"/>
            <a:pathLst>
              <a:path w="24000" h="24000" stroke="0">
                <a:moveTo>
                  <a:pt x="2000" y="20000"/>
                </a:moveTo>
                <a:lnTo>
                  <a:pt x="22000" y="20000"/>
                </a:lnTo>
                <a:lnTo>
                  <a:pt x="22000" y="16000"/>
                </a:lnTo>
                <a:lnTo>
                  <a:pt x="2000" y="16000"/>
                </a:lnTo>
                <a:lnTo>
                  <a:pt x="2000" y="20000"/>
                </a:lnTo>
                <a:close/>
                <a:moveTo>
                  <a:pt x="4000" y="17000"/>
                </a:moveTo>
                <a:lnTo>
                  <a:pt x="6000" y="17000"/>
                </a:lnTo>
                <a:lnTo>
                  <a:pt x="6000" y="19000"/>
                </a:lnTo>
                <a:lnTo>
                  <a:pt x="4000" y="19000"/>
                </a:lnTo>
                <a:lnTo>
                  <a:pt x="4000" y="17000"/>
                </a:lnTo>
                <a:close/>
                <a:moveTo>
                  <a:pt x="2000" y="4000"/>
                </a:moveTo>
                <a:lnTo>
                  <a:pt x="2000" y="8000"/>
                </a:lnTo>
                <a:lnTo>
                  <a:pt x="22000" y="8000"/>
                </a:lnTo>
                <a:lnTo>
                  <a:pt x="22000" y="4000"/>
                </a:lnTo>
                <a:lnTo>
                  <a:pt x="2000" y="4000"/>
                </a:lnTo>
                <a:close/>
                <a:moveTo>
                  <a:pt x="6000" y="7000"/>
                </a:moveTo>
                <a:lnTo>
                  <a:pt x="4000" y="7000"/>
                </a:lnTo>
                <a:lnTo>
                  <a:pt x="4000" y="5000"/>
                </a:lnTo>
                <a:lnTo>
                  <a:pt x="6000" y="5000"/>
                </a:lnTo>
                <a:lnTo>
                  <a:pt x="6000" y="7000"/>
                </a:lnTo>
                <a:close/>
                <a:moveTo>
                  <a:pt x="2000" y="14000"/>
                </a:moveTo>
                <a:lnTo>
                  <a:pt x="22000" y="14000"/>
                </a:lnTo>
                <a:lnTo>
                  <a:pt x="22000" y="10000"/>
                </a:lnTo>
                <a:lnTo>
                  <a:pt x="2000" y="10000"/>
                </a:lnTo>
                <a:lnTo>
                  <a:pt x="2000" y="14000"/>
                </a:lnTo>
                <a:close/>
                <a:moveTo>
                  <a:pt x="4000" y="11000"/>
                </a:moveTo>
                <a:lnTo>
                  <a:pt x="6000" y="11000"/>
                </a:lnTo>
                <a:lnTo>
                  <a:pt x="6000" y="13000"/>
                </a:lnTo>
                <a:lnTo>
                  <a:pt x="4000" y="13000"/>
                </a:lnTo>
                <a:lnTo>
                  <a:pt x="4000" y="11000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6492240" y="5340096"/>
            <a:ext cx="1618488" cy="603504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/>
            <a:r>
              <a:rPr sz="900" b="1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BACKUP_DIR</a:t>
            </a:r>
            <a:r>
              <a:rPr sz="900" b="0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 마운트</a:t>
            </a:r>
          </a:p>
          <a:p>
            <a:pPr algn="l"/>
            <a:r>
              <a:rPr sz="850" b="0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/mnt/nas/worklog-backup</a:t>
            </a:r>
          </a:p>
        </p:txBody>
      </p:sp>
      <p:cxnSp>
        <p:nvCxnSpPr>
          <p:cNvPr id="53" name="backup-copy"/>
          <p:cNvCxnSpPr/>
          <p:nvPr/>
        </p:nvCxnSpPr>
        <p:spPr>
          <a:xfrm>
            <a:off x="5760720" y="5632704"/>
            <a:ext cx="411480" cy="0"/>
          </a:xfrm>
          <a:prstGeom prst="line">
            <a:avLst/>
          </a:prstGeom>
          <a:ln w="19050">
            <a:solidFill>
              <a:srgbClr val="C55A11"/>
            </a:solidFill>
            <a:prstDash val="dash"/>
            <a:tailEnd type="triangle" w="med" len="med"/>
          </a:ln>
        </p:spPr>
      </p:cxnSp>
      <p:sp>
        <p:nvSpPr>
          <p:cNvPr id="54" name="exaone"/>
          <p:cNvSpPr/>
          <p:nvPr/>
        </p:nvSpPr>
        <p:spPr>
          <a:xfrm>
            <a:off x="8595360" y="2331720"/>
            <a:ext cx="3182112" cy="868680"/>
          </a:xfrm>
          <a:prstGeom prst="roundRect">
            <a:avLst>
              <a:gd name="adj" fmla="val 8421"/>
            </a:avLst>
          </a:prstGeom>
          <a:noFill/>
          <a:ln w="15875">
            <a:solidFill>
              <a:srgbClr val="C55A11"/>
            </a:solidFill>
            <a:prstDash val="dash"/>
          </a:ln>
          <a:effectLst/>
        </p:spPr>
        <p:txBody>
          <a:bodyPr rtlCol="0" anchor="ctr"/>
          <a:lstStyle/>
          <a:p/>
        </p:txBody>
      </p:sp>
      <p:sp>
        <p:nvSpPr>
          <p:cNvPr id="55" name="icon-ai"/>
          <p:cNvSpPr/>
          <p:nvPr/>
        </p:nvSpPr>
        <p:spPr>
          <a:xfrm>
            <a:off x="8686800" y="2423160"/>
            <a:ext cx="256032" cy="256032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15500" y="13000"/>
                </a:moveTo>
                <a:cubicBezTo>
                  <a:pt x="13567" y="13000"/>
                  <a:pt x="12000" y="14567"/>
                  <a:pt x="12000" y="16500"/>
                </a:cubicBezTo>
                <a:lnTo>
                  <a:pt x="12000" y="17500"/>
                </a:lnTo>
                <a:cubicBezTo>
                  <a:pt x="12000" y="19433"/>
                  <a:pt x="13567" y="21000"/>
                  <a:pt x="15500" y="21000"/>
                </a:cubicBezTo>
                <a:cubicBezTo>
                  <a:pt x="17433" y="21000"/>
                  <a:pt x="19000" y="19433"/>
                  <a:pt x="19000" y="17500"/>
                </a:cubicBezTo>
                <a:lnTo>
                  <a:pt x="19000" y="15700"/>
                </a:lnTo>
              </a:path>
              <a:path w="24000" h="24000" fill="none">
                <a:moveTo>
                  <a:pt x="8500" y="13000"/>
                </a:moveTo>
                <a:cubicBezTo>
                  <a:pt x="10433" y="13000"/>
                  <a:pt x="12000" y="14567"/>
                  <a:pt x="12000" y="16500"/>
                </a:cubicBezTo>
                <a:lnTo>
                  <a:pt x="12000" y="17500"/>
                </a:lnTo>
                <a:cubicBezTo>
                  <a:pt x="12000" y="19433"/>
                  <a:pt x="10433" y="21000"/>
                  <a:pt x="8500" y="21000"/>
                </a:cubicBezTo>
                <a:cubicBezTo>
                  <a:pt x="6567" y="21000"/>
                  <a:pt x="5000" y="19433"/>
                  <a:pt x="5000" y="17500"/>
                </a:cubicBezTo>
                <a:lnTo>
                  <a:pt x="5000" y="15700"/>
                </a:lnTo>
              </a:path>
              <a:path w="24000" h="24000" fill="none">
                <a:moveTo>
                  <a:pt x="17500" y="16000"/>
                </a:moveTo>
                <a:cubicBezTo>
                  <a:pt x="19433" y="16000"/>
                  <a:pt x="21000" y="14433"/>
                  <a:pt x="21000" y="12500"/>
                </a:cubicBezTo>
                <a:cubicBezTo>
                  <a:pt x="21000" y="10567"/>
                  <a:pt x="19433" y="9000"/>
                  <a:pt x="17500" y="9000"/>
                </a:cubicBezTo>
                <a:lnTo>
                  <a:pt x="17000" y="9000"/>
                </a:lnTo>
              </a:path>
              <a:path w="24000" h="24000" fill="none">
                <a:moveTo>
                  <a:pt x="19000" y="9300"/>
                </a:moveTo>
                <a:lnTo>
                  <a:pt x="19000" y="6500"/>
                </a:lnTo>
                <a:cubicBezTo>
                  <a:pt x="19000" y="4567"/>
                  <a:pt x="17433" y="3000"/>
                  <a:pt x="15500" y="3000"/>
                </a:cubicBezTo>
                <a:cubicBezTo>
                  <a:pt x="13567" y="3000"/>
                  <a:pt x="12000" y="4567"/>
                  <a:pt x="12000" y="6500"/>
                </a:cubicBezTo>
              </a:path>
              <a:path w="24000" h="24000" fill="none">
                <a:moveTo>
                  <a:pt x="6500" y="16000"/>
                </a:moveTo>
                <a:cubicBezTo>
                  <a:pt x="4567" y="16000"/>
                  <a:pt x="3000" y="14433"/>
                  <a:pt x="3000" y="12500"/>
                </a:cubicBezTo>
                <a:cubicBezTo>
                  <a:pt x="3000" y="10567"/>
                  <a:pt x="4567" y="9000"/>
                  <a:pt x="6500" y="9000"/>
                </a:cubicBezTo>
                <a:lnTo>
                  <a:pt x="7000" y="9000"/>
                </a:lnTo>
              </a:path>
              <a:path w="24000" h="24000" fill="none">
                <a:moveTo>
                  <a:pt x="5000" y="9300"/>
                </a:moveTo>
                <a:lnTo>
                  <a:pt x="5000" y="6500"/>
                </a:lnTo>
                <a:cubicBezTo>
                  <a:pt x="5000" y="4567"/>
                  <a:pt x="6567" y="3000"/>
                  <a:pt x="8500" y="3000"/>
                </a:cubicBezTo>
                <a:cubicBezTo>
                  <a:pt x="10433" y="3000"/>
                  <a:pt x="12000" y="4567"/>
                  <a:pt x="12000" y="6500"/>
                </a:cubicBezTo>
                <a:lnTo>
                  <a:pt x="12000" y="16500"/>
                </a:lnTo>
              </a:path>
            </a:pathLst>
          </a:custGeom>
          <a:solidFill>
            <a:srgbClr val="1F3864"/>
          </a:solidFill>
          <a:ln w="12700">
            <a:solidFill>
              <a:srgbClr val="1F3864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9015984" y="2377440"/>
            <a:ext cx="2697480" cy="777240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/>
            <a:r>
              <a:rPr sz="950" b="1" i="0" lang="ko-KR" altLang="en-US">
                <a:solidFill>
                  <a:srgbClr val="1F3864"/>
                </a:solidFill>
                <a:latin typeface="LG스마트체 Regular"/>
                <a:ea typeface="LG스마트체 Regular"/>
                <a:cs typeface="LG스마트체 Regular"/>
              </a:rPr>
              <a:t>EXAONE API</a:t>
            </a:r>
            <a:r>
              <a:rPr sz="950" b="0" i="0" lang="ko-KR" altLang="en-US">
                <a:solidFill>
                  <a:srgbClr val="595959"/>
                </a:solidFill>
                <a:latin typeface="LG스마트체 Regular"/>
                <a:ea typeface="LG스마트체 Regular"/>
                <a:cs typeface="LG스마트체 Regular"/>
              </a:rPr>
              <a:t> (사내)</a:t>
            </a:r>
          </a:p>
          <a:p>
            <a:pPr algn="l"/>
            <a:r>
              <a:rPr sz="950" b="0" i="0" lang="ko-KR" altLang="en-US">
                <a:solidFill>
                  <a:srgbClr val="C55A11"/>
                </a:solidFill>
                <a:latin typeface="LG스마트체 Regular"/>
                <a:ea typeface="LG스마트체 Regular"/>
                <a:cs typeface="LG스마트체 Regular"/>
              </a:rPr>
              <a:t>HTTPS · 망 경로·방화벽 미정</a:t>
            </a:r>
          </a:p>
          <a:p>
            <a:pPr algn="l"/>
            <a:r>
              <a:rPr sz="950" b="0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키: config 파일 (GitHub 미포함)</a:t>
            </a:r>
          </a:p>
        </p:txBody>
      </p:sp>
      <p:cxnSp>
        <p:nvCxnSpPr>
          <p:cNvPr id="57" name="out-exaone"/>
          <p:cNvCxnSpPr/>
          <p:nvPr/>
        </p:nvCxnSpPr>
        <p:spPr>
          <a:xfrm>
            <a:off x="7863840" y="2770632"/>
            <a:ext cx="731520" cy="0"/>
          </a:xfrm>
          <a:prstGeom prst="line">
            <a:avLst/>
          </a:prstGeom>
          <a:ln w="19050">
            <a:solidFill>
              <a:srgbClr val="C55A11"/>
            </a:solidFill>
            <a:prstDash val="dash"/>
            <a:tailEnd type="triangle" w="med" len="med"/>
          </a:ln>
        </p:spPr>
      </p:cxnSp>
      <p:sp>
        <p:nvSpPr>
          <p:cNvPr id="58" name="badge-3"/>
          <p:cNvSpPr/>
          <p:nvPr/>
        </p:nvSpPr>
        <p:spPr>
          <a:xfrm>
            <a:off x="8298180" y="2656332"/>
            <a:ext cx="228600" cy="228600"/>
          </a:xfrm>
          <a:prstGeom prst="ellipse">
            <a:avLst/>
          </a:prstGeom>
          <a:solidFill>
            <a:srgbClr val="1F3864"/>
          </a:solidFill>
          <a:ln w="9525">
            <a:solidFill>
              <a:srgbClr val="FFFFFF"/>
            </a:solidFill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 b="1" i="0" lang="ko-KR" altLang="en-US">
                <a:solidFill>
                  <a:srgbClr val="FFFFFF"/>
                </a:solidFill>
                <a:latin typeface="LG스마트체 Regular"/>
                <a:ea typeface="LG스마트체 Regular"/>
                <a:cs typeface="LG스마트체 Regular"/>
              </a:rPr>
              <a:t>3</a:t>
            </a:r>
          </a:p>
        </p:txBody>
      </p:sp>
      <p:sp>
        <p:nvSpPr>
          <p:cNvPr id="59" name="flow-key"/>
          <p:cNvSpPr/>
          <p:nvPr/>
        </p:nvSpPr>
        <p:spPr>
          <a:xfrm>
            <a:off x="8595360" y="1188720"/>
            <a:ext cx="3182112" cy="960120"/>
          </a:xfrm>
          <a:prstGeom prst="roundRect">
            <a:avLst>
              <a:gd name="adj" fmla="val 7619"/>
            </a:avLst>
          </a:prstGeom>
          <a:solidFill>
            <a:srgbClr val="FAFAFA"/>
          </a:solidFill>
          <a:ln w="9525">
            <a:solidFill>
              <a:srgbClr val="D9D9D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8686800" y="1216152"/>
            <a:ext cx="3017520" cy="9052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/>
            <a:r>
              <a:rPr sz="900" b="1" i="0" lang="ko-KR" altLang="en-US">
                <a:solidFill>
                  <a:srgbClr val="1F3864"/>
                </a:solidFill>
                <a:latin typeface="LG스마트체 Regular"/>
                <a:ea typeface="LG스마트체 Regular"/>
                <a:cs typeface="LG스마트체 Regular"/>
              </a:rPr>
              <a:t>흐름 번호 </a:t>
            </a:r>
            <a:r>
              <a:rPr sz="900" b="0" i="0" lang="ko-KR" altLang="en-US">
                <a:solidFill>
                  <a:srgbClr val="595959"/>
                </a:solidFill>
                <a:latin typeface="LG스마트체 Regular"/>
                <a:ea typeface="LG스마트체 Regular"/>
                <a:cs typeface="LG스마트체 Regular"/>
              </a:rPr>
              <a:t>(본문과 동일)</a:t>
            </a:r>
          </a:p>
          <a:p>
            <a:pPr algn="l"/>
            <a:r>
              <a:rPr sz="900" b="0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① 사내망 → TCP 8000 </a:t>
            </a:r>
            <a:r>
              <a:rPr sz="900" b="0" i="0" lang="ko-KR" altLang="en-US">
                <a:solidFill>
                  <a:srgbClr val="C55A11"/>
                </a:solidFill>
                <a:latin typeface="LG스마트체 Regular"/>
                <a:ea typeface="LG스마트체 Regular"/>
                <a:cs typeface="LG스마트체 Regular"/>
              </a:rPr>
              <a:t>(미정)</a:t>
            </a:r>
          </a:p>
          <a:p>
            <a:pPr algn="l"/>
            <a:r>
              <a:rPr sz="900" b="0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② 컨테이너 → /data 로컬 볼륨 </a:t>
            </a:r>
            <a:r>
              <a:rPr sz="900" b="0" i="0" lang="ko-KR" altLang="en-US">
                <a:solidFill>
                  <a:srgbClr val="1F3864"/>
                </a:solidFill>
                <a:latin typeface="LG스마트체 Regular"/>
                <a:ea typeface="LG스마트체 Regular"/>
                <a:cs typeface="LG스마트체 Regular"/>
              </a:rPr>
              <a:t>(구현)</a:t>
            </a:r>
          </a:p>
          <a:p>
            <a:pPr algn="l"/>
            <a:r>
              <a:rPr sz="900" b="0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③ EXAONE 호출 </a:t>
            </a:r>
            <a:r>
              <a:rPr sz="900" b="0" i="0" lang="ko-KR" altLang="en-US">
                <a:solidFill>
                  <a:srgbClr val="C55A11"/>
                </a:solidFill>
                <a:latin typeface="LG스마트체 Regular"/>
                <a:ea typeface="LG스마트체 Regular"/>
                <a:cs typeface="LG스마트체 Regular"/>
              </a:rPr>
              <a:t>(망 경로 미정)</a:t>
            </a:r>
          </a:p>
          <a:p>
            <a:pPr algn="l"/>
            <a:r>
              <a:rPr sz="900" b="0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⑤ 백업 → NAS </a:t>
            </a:r>
            <a:r>
              <a:rPr sz="900" b="0" i="0" lang="ko-KR" altLang="en-US">
                <a:solidFill>
                  <a:srgbClr val="C55A11"/>
                </a:solidFill>
                <a:latin typeface="LG스마트체 Regular"/>
                <a:ea typeface="LG스마트체 Regular"/>
                <a:cs typeface="LG스마트체 Regular"/>
              </a:rPr>
              <a:t>(검증 전)</a:t>
            </a:r>
          </a:p>
        </p:txBody>
      </p:sp>
      <p:sp>
        <p:nvSpPr>
          <p:cNvPr id="61" name="backup-scope"/>
          <p:cNvSpPr/>
          <p:nvPr/>
        </p:nvSpPr>
        <p:spPr>
          <a:xfrm>
            <a:off x="8595360" y="3429000"/>
            <a:ext cx="3182112" cy="1371600"/>
          </a:xfrm>
          <a:prstGeom prst="roundRect">
            <a:avLst>
              <a:gd name="adj" fmla="val 5333"/>
            </a:avLst>
          </a:prstGeom>
          <a:solidFill>
            <a:srgbClr val="EEF2F8"/>
          </a:solidFill>
          <a:ln w="15875">
            <a:solidFill>
              <a:srgbClr val="1F3864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62" name="icon-backup"/>
          <p:cNvSpPr/>
          <p:nvPr/>
        </p:nvSpPr>
        <p:spPr>
          <a:xfrm>
            <a:off x="8686800" y="3511296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4000" h="24000" stroke="0">
                <a:moveTo>
                  <a:pt x="19350" y="10040"/>
                </a:moveTo>
                <a:cubicBezTo>
                  <a:pt x="18657" y="6529"/>
                  <a:pt x="15578" y="3999"/>
                  <a:pt x="12000" y="4000"/>
                </a:cubicBezTo>
                <a:cubicBezTo>
                  <a:pt x="9110" y="4000"/>
                  <a:pt x="6600" y="5640"/>
                  <a:pt x="5350" y="8040"/>
                </a:cubicBezTo>
                <a:cubicBezTo>
                  <a:pt x="2306" y="8369"/>
                  <a:pt x="0" y="10939"/>
                  <a:pt x="0" y="14000"/>
                </a:cubicBezTo>
                <a:cubicBezTo>
                  <a:pt x="0" y="17310"/>
                  <a:pt x="2690" y="20000"/>
                  <a:pt x="6000" y="20000"/>
                </a:cubicBezTo>
                <a:lnTo>
                  <a:pt x="19000" y="20000"/>
                </a:lnTo>
                <a:cubicBezTo>
                  <a:pt x="21760" y="20000"/>
                  <a:pt x="24000" y="17760"/>
                  <a:pt x="24000" y="15000"/>
                </a:cubicBezTo>
                <a:cubicBezTo>
                  <a:pt x="24000" y="12360"/>
                  <a:pt x="21950" y="10220"/>
                  <a:pt x="19350" y="10040"/>
                </a:cubicBezTo>
                <a:close/>
                <a:moveTo>
                  <a:pt x="14000" y="13000"/>
                </a:moveTo>
                <a:lnTo>
                  <a:pt x="14000" y="17000"/>
                </a:lnTo>
                <a:lnTo>
                  <a:pt x="10000" y="17000"/>
                </a:lnTo>
                <a:lnTo>
                  <a:pt x="10000" y="13000"/>
                </a:lnTo>
                <a:lnTo>
                  <a:pt x="7000" y="13000"/>
                </a:lnTo>
                <a:lnTo>
                  <a:pt x="12000" y="8000"/>
                </a:lnTo>
                <a:lnTo>
                  <a:pt x="17000" y="13000"/>
                </a:lnTo>
                <a:lnTo>
                  <a:pt x="14000" y="13000"/>
                </a:lnTo>
                <a:close/>
              </a:path>
            </a:pathLst>
          </a:custGeom>
          <a:solidFill>
            <a:srgbClr val="1F386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8997696" y="3511296"/>
            <a:ext cx="2697480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/>
            <a:r>
              <a:rPr sz="1100" b="1" i="0" lang="ko-KR" altLang="en-US">
                <a:solidFill>
                  <a:srgbClr val="1F3864"/>
                </a:solidFill>
                <a:latin typeface="LG스마트체 Regular"/>
                <a:ea typeface="LG스마트체 Regular"/>
                <a:cs typeface="LG스마트체 Regular"/>
              </a:rPr>
              <a:t>백업 범위</a:t>
            </a:r>
            <a:r>
              <a:rPr sz="900" b="0" i="0" lang="ko-KR" altLang="en-US">
                <a:solidFill>
                  <a:srgbClr val="595959"/>
                </a:solidFill>
                <a:latin typeface="LG스마트체 Regular"/>
                <a:ea typeface="LG스마트체 Regular"/>
                <a:cs typeface="LG스마트체 Regular"/>
              </a:rPr>
              <a:t> (backups.py · 구현)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705088" y="3822192"/>
            <a:ext cx="2999232" cy="9326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950" b="1" i="0" lang="ko-KR" altLang="en-US">
                <a:solidFill>
                  <a:srgbClr val="1F3864"/>
                </a:solidFill>
                <a:latin typeface="LG스마트체 Regular"/>
                <a:ea typeface="LG스마트체 Regular"/>
                <a:cs typeface="LG스마트체 Regular"/>
              </a:rPr>
              <a:t>포함  </a:t>
            </a:r>
            <a:r>
              <a:rPr sz="950" b="0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SQLite 사본 + 첨부 (manifest sha256)</a:t>
            </a:r>
          </a:p>
          <a:p>
            <a:pPr algn="l">
              <a:spcBef>
                <a:spcPts val="200"/>
              </a:spcBef>
            </a:pPr>
            <a:r>
              <a:rPr sz="950" b="1" i="0" lang="ko-KR" altLang="en-US">
                <a:solidFill>
                  <a:srgbClr val="1F3864"/>
                </a:solidFill>
                <a:latin typeface="LG스마트체 Regular"/>
                <a:ea typeface="LG스마트체 Regular"/>
                <a:cs typeface="LG스마트체 Regular"/>
              </a:rPr>
              <a:t>미포함  </a:t>
            </a:r>
            <a:r>
              <a:rPr sz="950" b="0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reports/ · voe/</a:t>
            </a:r>
            <a:r>
              <a:rPr sz="950" b="0" i="0" lang="ko-KR" altLang="en-US">
                <a:solidFill>
                  <a:srgbClr val="C55A11"/>
                </a:solidFill>
                <a:latin typeface="LG스마트체 Regular"/>
                <a:ea typeface="LG스마트체 Regular"/>
                <a:cs typeface="LG스마트체 Regular"/>
              </a:rPr>
              <a:t> → 별도 복사 규칙 필요</a:t>
            </a:r>
          </a:p>
          <a:p>
            <a:pPr algn="l">
              <a:spcBef>
                <a:spcPts val="200"/>
              </a:spcBef>
            </a:pPr>
            <a:r>
              <a:rPr sz="950" b="1" i="0" lang="ko-KR" altLang="en-US">
                <a:solidFill>
                  <a:srgbClr val="1F3864"/>
                </a:solidFill>
                <a:latin typeface="LG스마트체 Regular"/>
                <a:ea typeface="LG스마트체 Regular"/>
                <a:cs typeface="LG스마트체 Regular"/>
              </a:rPr>
              <a:t>보관  </a:t>
            </a:r>
            <a:r>
              <a:rPr sz="950" b="0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최근 14개 · 매회 전체 복사</a:t>
            </a:r>
          </a:p>
          <a:p>
            <a:pPr algn="l">
              <a:spcBef>
                <a:spcPts val="200"/>
              </a:spcBef>
            </a:pPr>
            <a:r>
              <a:rPr sz="950" b="1" i="0" lang="ko-KR" altLang="en-US">
                <a:solidFill>
                  <a:srgbClr val="1F3864"/>
                </a:solidFill>
                <a:latin typeface="LG스마트체 Regular"/>
                <a:ea typeface="LG스마트체 Regular"/>
                <a:cs typeface="LG스마트체 Regular"/>
              </a:rPr>
              <a:t>복원  </a:t>
            </a:r>
            <a:r>
              <a:rPr sz="950" b="0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복원 시 스키마 확인</a:t>
            </a:r>
          </a:p>
        </p:txBody>
      </p:sp>
      <p:sp>
        <p:nvSpPr>
          <p:cNvPr id="65" name="nas"/>
          <p:cNvSpPr/>
          <p:nvPr/>
        </p:nvSpPr>
        <p:spPr>
          <a:xfrm>
            <a:off x="8595360" y="5029200"/>
            <a:ext cx="3182112" cy="1051560"/>
          </a:xfrm>
          <a:prstGeom prst="roundRect">
            <a:avLst>
              <a:gd name="adj" fmla="val 6956"/>
            </a:avLst>
          </a:prstGeom>
          <a:solidFill>
            <a:srgbClr val="FFF5EB"/>
          </a:solidFill>
          <a:ln w="15875">
            <a:solidFill>
              <a:srgbClr val="C55A11"/>
            </a:solidFill>
            <a:prstDash val="dash"/>
          </a:ln>
          <a:effectLst/>
        </p:spPr>
        <p:txBody>
          <a:bodyPr rtlCol="0" anchor="ctr"/>
          <a:lstStyle/>
          <a:p/>
        </p:txBody>
      </p:sp>
      <p:sp>
        <p:nvSpPr>
          <p:cNvPr id="66" name="icon-nas"/>
          <p:cNvSpPr/>
          <p:nvPr/>
        </p:nvSpPr>
        <p:spPr>
          <a:xfrm>
            <a:off x="8686800" y="5120640"/>
            <a:ext cx="256032" cy="256032"/>
          </a:xfrm>
          <a:custGeom>
            <a:avLst/>
            <a:gdLst/>
            <a:ahLst/>
            <a:cxnLst/>
            <a:rect l="0" t="0" r="r" b="b"/>
            <a:pathLst>
              <a:path w="24000" h="24000" stroke="0">
                <a:moveTo>
                  <a:pt x="2000" y="20000"/>
                </a:moveTo>
                <a:lnTo>
                  <a:pt x="22000" y="20000"/>
                </a:lnTo>
                <a:lnTo>
                  <a:pt x="22000" y="16000"/>
                </a:lnTo>
                <a:lnTo>
                  <a:pt x="2000" y="16000"/>
                </a:lnTo>
                <a:lnTo>
                  <a:pt x="2000" y="20000"/>
                </a:lnTo>
                <a:close/>
                <a:moveTo>
                  <a:pt x="4000" y="17000"/>
                </a:moveTo>
                <a:lnTo>
                  <a:pt x="6000" y="17000"/>
                </a:lnTo>
                <a:lnTo>
                  <a:pt x="6000" y="19000"/>
                </a:lnTo>
                <a:lnTo>
                  <a:pt x="4000" y="19000"/>
                </a:lnTo>
                <a:lnTo>
                  <a:pt x="4000" y="17000"/>
                </a:lnTo>
                <a:close/>
                <a:moveTo>
                  <a:pt x="2000" y="4000"/>
                </a:moveTo>
                <a:lnTo>
                  <a:pt x="2000" y="8000"/>
                </a:lnTo>
                <a:lnTo>
                  <a:pt x="22000" y="8000"/>
                </a:lnTo>
                <a:lnTo>
                  <a:pt x="22000" y="4000"/>
                </a:lnTo>
                <a:lnTo>
                  <a:pt x="2000" y="4000"/>
                </a:lnTo>
                <a:close/>
                <a:moveTo>
                  <a:pt x="6000" y="7000"/>
                </a:moveTo>
                <a:lnTo>
                  <a:pt x="4000" y="7000"/>
                </a:lnTo>
                <a:lnTo>
                  <a:pt x="4000" y="5000"/>
                </a:lnTo>
                <a:lnTo>
                  <a:pt x="6000" y="5000"/>
                </a:lnTo>
                <a:lnTo>
                  <a:pt x="6000" y="7000"/>
                </a:lnTo>
                <a:close/>
                <a:moveTo>
                  <a:pt x="2000" y="14000"/>
                </a:moveTo>
                <a:lnTo>
                  <a:pt x="22000" y="14000"/>
                </a:lnTo>
                <a:lnTo>
                  <a:pt x="22000" y="10000"/>
                </a:lnTo>
                <a:lnTo>
                  <a:pt x="2000" y="10000"/>
                </a:lnTo>
                <a:lnTo>
                  <a:pt x="2000" y="14000"/>
                </a:lnTo>
                <a:close/>
                <a:moveTo>
                  <a:pt x="4000" y="11000"/>
                </a:moveTo>
                <a:lnTo>
                  <a:pt x="6000" y="11000"/>
                </a:lnTo>
                <a:lnTo>
                  <a:pt x="6000" y="13000"/>
                </a:lnTo>
                <a:lnTo>
                  <a:pt x="4000" y="13000"/>
                </a:lnTo>
                <a:lnTo>
                  <a:pt x="4000" y="11000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9015984" y="5084064"/>
            <a:ext cx="2697480" cy="950976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950" b="1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NAS</a:t>
            </a:r>
            <a:r>
              <a:rPr sz="950" b="0" i="0" lang="ko-KR" altLang="en-US">
                <a:solidFill>
                  <a:srgbClr val="C55A11"/>
                </a:solidFill>
                <a:latin typeface="LG스마트체 Regular"/>
                <a:ea typeface="LG스마트체 Regular"/>
                <a:cs typeface="LG스마트체 Regular"/>
              </a:rPr>
              <a:t> (Sandbox 마운트)</a:t>
            </a:r>
          </a:p>
          <a:p>
            <a:pPr algn="l">
              <a:spcBef>
                <a:spcPts val="200"/>
              </a:spcBef>
            </a:pPr>
            <a:r>
              <a:rPr sz="950" b="0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NFS/SMB · 권한 미정</a:t>
            </a:r>
          </a:p>
          <a:p>
            <a:pPr algn="l">
              <a:spcBef>
                <a:spcPts val="200"/>
              </a:spcBef>
            </a:pPr>
            <a:r>
              <a:rPr sz="950" b="0" i="0" lang="ko-KR" altLang="en-US">
                <a:solidFill>
                  <a:srgbClr val="262626"/>
                </a:solidFill>
                <a:latin typeface="LG스마트체 Regular"/>
                <a:ea typeface="LG스마트체 Regular"/>
                <a:cs typeface="LG스마트체 Regular"/>
              </a:rPr>
              <a:t>2TB · 1년 요청 — DAVINCI 미회신</a:t>
            </a:r>
          </a:p>
        </p:txBody>
      </p:sp>
      <p:cxnSp>
        <p:nvCxnSpPr>
          <p:cNvPr id="68" name="out-nas"/>
          <p:cNvCxnSpPr/>
          <p:nvPr/>
        </p:nvCxnSpPr>
        <p:spPr>
          <a:xfrm>
            <a:off x="8138160" y="5632704"/>
            <a:ext cx="457200" cy="0"/>
          </a:xfrm>
          <a:prstGeom prst="line">
            <a:avLst/>
          </a:prstGeom>
          <a:ln w="19050">
            <a:solidFill>
              <a:srgbClr val="C55A11"/>
            </a:solidFill>
            <a:prstDash val="dash"/>
            <a:tailEnd type="triangle" w="med" len="med"/>
          </a:ln>
        </p:spPr>
      </p:cxnSp>
      <p:sp>
        <p:nvSpPr>
          <p:cNvPr id="69" name="badge-5"/>
          <p:cNvSpPr/>
          <p:nvPr/>
        </p:nvSpPr>
        <p:spPr>
          <a:xfrm>
            <a:off x="8252460" y="5518404"/>
            <a:ext cx="228600" cy="228600"/>
          </a:xfrm>
          <a:prstGeom prst="ellipse">
            <a:avLst/>
          </a:prstGeom>
          <a:solidFill>
            <a:srgbClr val="1F3864"/>
          </a:solidFill>
          <a:ln w="9525">
            <a:solidFill>
              <a:srgbClr val="FFFFFF"/>
            </a:solidFill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 b="1" i="0" lang="ko-KR" altLang="en-US">
                <a:solidFill>
                  <a:srgbClr val="FFFFFF"/>
                </a:solidFill>
                <a:latin typeface="LG스마트체 Regular"/>
                <a:ea typeface="LG스마트체 Regular"/>
                <a:cs typeface="LG스마트체 Regular"/>
              </a:rPr>
              <a:t>5</a:t>
            </a:r>
          </a:p>
        </p:txBody>
      </p:sp>
      <p:cxnSp>
        <p:nvCxnSpPr>
          <p:cNvPr id="70" name="legend-solid"/>
          <p:cNvCxnSpPr/>
          <p:nvPr/>
        </p:nvCxnSpPr>
        <p:spPr>
          <a:xfrm>
            <a:off x="4023360" y="6446520"/>
            <a:ext cx="384048" cy="0"/>
          </a:xfrm>
          <a:prstGeom prst="line">
            <a:avLst/>
          </a:prstGeom>
          <a:ln w="19050">
            <a:solidFill>
              <a:srgbClr val="1F3864"/>
            </a:solidFill>
          </a:ln>
        </p:spPr>
      </p:cxnSp>
      <p:sp>
        <p:nvSpPr>
          <p:cNvPr id="71" name="TextBox 70"/>
          <p:cNvSpPr txBox="1"/>
          <p:nvPr/>
        </p:nvSpPr>
        <p:spPr>
          <a:xfrm>
            <a:off x="4462272" y="6345936"/>
            <a:ext cx="2011680" cy="201168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/>
            <a:r>
              <a:rPr sz="900" b="0" i="0" lang="ko-KR" altLang="en-US">
                <a:solidFill>
                  <a:srgbClr val="595959"/>
                </a:solidFill>
                <a:latin typeface="LG스마트체 Regular"/>
                <a:ea typeface="LG스마트체 Regular"/>
                <a:cs typeface="LG스마트체 Regular"/>
              </a:rPr>
              <a:t>실선 = 확정(메일 합의·저장소 구현)</a:t>
            </a:r>
          </a:p>
        </p:txBody>
      </p:sp>
      <p:cxnSp>
        <p:nvCxnSpPr>
          <p:cNvPr id="72" name="legend-dash"/>
          <p:cNvCxnSpPr/>
          <p:nvPr/>
        </p:nvCxnSpPr>
        <p:spPr>
          <a:xfrm>
            <a:off x="6537960" y="6446520"/>
            <a:ext cx="384048" cy="0"/>
          </a:xfrm>
          <a:prstGeom prst="line">
            <a:avLst/>
          </a:prstGeom>
          <a:ln w="19050">
            <a:solidFill>
              <a:srgbClr val="C55A11"/>
            </a:solidFill>
            <a:prstDash val="dash"/>
          </a:ln>
        </p:spPr>
      </p:cxnSp>
      <p:sp>
        <p:nvSpPr>
          <p:cNvPr id="73" name="TextBox 72"/>
          <p:cNvSpPr txBox="1"/>
          <p:nvPr/>
        </p:nvSpPr>
        <p:spPr>
          <a:xfrm>
            <a:off x="6976872" y="6345936"/>
            <a:ext cx="960120" cy="201168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/>
            <a:r>
              <a:rPr sz="900" b="0" i="0" lang="ko-KR" altLang="en-US">
                <a:solidFill>
                  <a:srgbClr val="595959"/>
                </a:solidFill>
                <a:latin typeface="LG스마트체 Regular"/>
                <a:ea typeface="LG스마트체 Regular"/>
                <a:cs typeface="LG스마트체 Regular"/>
              </a:rPr>
              <a:t>점선 = 계획·미정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001000" y="6345936"/>
            <a:ext cx="1965960" cy="201168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/>
            <a:r>
              <a:rPr sz="900" b="1" i="0" lang="ko-KR" altLang="en-US">
                <a:solidFill>
                  <a:srgbClr val="C00000"/>
                </a:solidFill>
                <a:latin typeface="LG스마트체 Regular"/>
                <a:ea typeface="LG스마트체 Regular"/>
                <a:cs typeface="LG스마트체 Regular"/>
              </a:rPr>
              <a:t>◆ 충돌</a:t>
            </a:r>
            <a:r>
              <a:rPr sz="900" b="0" i="0" lang="ko-KR" altLang="en-US">
                <a:solidFill>
                  <a:srgbClr val="595959"/>
                </a:solidFill>
                <a:latin typeface="LG스마트체 Regular"/>
                <a:ea typeface="LG스마트체 Regular"/>
                <a:cs typeface="LG스마트체 Regular"/>
              </a:rPr>
              <a:t> = 메일↔코드 불일치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0012680" y="6355080"/>
            <a:ext cx="384048" cy="182880"/>
          </a:xfrm>
          <a:prstGeom prst="roundRect">
            <a:avLst>
              <a:gd name="adj" fmla="val 25000"/>
            </a:avLst>
          </a:prstGeom>
          <a:solidFill>
            <a:srgbClr val="FFF5EB"/>
          </a:solidFill>
          <a:ln w="9525">
            <a:solidFill>
              <a:srgbClr val="C55A11"/>
            </a:solidFill>
          </a:ln>
          <a:effectLst/>
        </p:spPr>
        <p:txBody>
          <a:bodyPr rtlCol="0" anchor="ctr" wrap="square" lIns="0" rIns="0" tIns="18288" bIns="18288">
            <a:noAutofit/>
          </a:bodyPr>
          <a:lstStyle/>
          <a:p>
            <a:pPr algn="ctr"/>
            <a:r>
              <a:rPr sz="900" b="1" i="0" lang="ko-KR" altLang="en-US">
                <a:solidFill>
                  <a:srgbClr val="C55A11"/>
                </a:solidFill>
                <a:latin typeface="LG스마트체 Regular"/>
                <a:ea typeface="LG스마트체 Regular"/>
                <a:cs typeface="LG스마트체 Regular"/>
              </a:rPr>
              <a:t>가정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451592" y="6345936"/>
            <a:ext cx="1097280" cy="201168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/>
            <a:r>
              <a:rPr sz="900" b="0" i="0" lang="ko-KR" altLang="en-US">
                <a:solidFill>
                  <a:srgbClr val="595959"/>
                </a:solidFill>
                <a:latin typeface="LG스마트체 Regular"/>
                <a:ea typeface="LG스마트체 Regular"/>
                <a:cs typeface="LG스마트체 Regular"/>
              </a:rPr>
              <a:t>= 실측 전 추정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365 Copilot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