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i="0" lang="ko-KR" altLang="en-US">
                <a:solidFill>
                  <a:srgbClr val="262626"/>
                </a:solidFill>
                <a:latin typeface="LG스마트체 Regular"/>
                <a:ea typeface="LG스마트체 Regular"/>
                <a:cs typeface="LG스마트체 Regular"/>
              </a:rPr>
              <a:t>[분류 기준]</a:t>
            </a:r>
          </a:p>
          <a:p>
            <a:r>
              <a:rPr sz="1100" b="0" i="0" lang="ko-KR" altLang="en-US">
                <a:solidFill>
                  <a:srgbClr val="262626"/>
                </a:solidFill>
                <a:latin typeface="LG스마트체 Regular"/>
                <a:ea typeface="LG스마트체 Regular"/>
                <a:cs typeface="LG스마트체 Regular"/>
              </a:rPr>
              <a:t>확정 = 양측이 메일로 합의한 것. 제안 = 한쪽이 제시하고 상대가 확인하지 않은 것(제안 주체 표기). 미정 = 언급이 없거나 조사 예정. Docker와 NAS 마운트는 10-20 18:10 메일에서 이재후가 답한 내용이므로 DAVINCI 제안이 아니라 우리 측 제안임. SSD 4TB는 DAVINCI 회신이지만 '가능할 것 같으므로'라는 전망 표현이라 확정으로 쓰지 않음. 박정환 책임의 '총 4TB(SSD 2TB, NAS 2TB)' 질문에 대해 10-21 회신은 SSD만 언급 → NAS 할당은 미회신.</a:t>
            </a:r>
          </a:p>
          <a:p>
            <a:r>
              <a:rPr sz="1100" b="1" i="0" lang="ko-KR" altLang="en-US">
                <a:solidFill>
                  <a:srgbClr val="262626"/>
                </a:solidFill>
                <a:latin typeface="LG스마트체 Regular"/>
                <a:ea typeface="LG스마트체 Regular"/>
                <a:cs typeface="LG스마트체 Regular"/>
              </a:rPr>
              <a:t>[DAVINCI 확인 질문]</a:t>
            </a:r>
          </a:p>
          <a:p>
            <a:r>
              <a:rPr sz="1100" b="0" i="0" lang="ko-KR" altLang="en-US">
                <a:solidFill>
                  <a:srgbClr val="262626"/>
                </a:solidFill>
                <a:latin typeface="LG스마트체 Regular"/>
                <a:ea typeface="LG스마트체 Regular"/>
                <a:cs typeface="LG스마트체 Regular"/>
              </a:rPr>
              <a:t>1) Sandbox OS와 버전, Docker(엔진·compose) 사용 허용 여부와 베이스 이미지 제약</a:t>
            </a:r>
          </a:p>
          <a:p>
            <a:r>
              <a:rPr sz="1100" b="0" i="0" lang="ko-KR" altLang="en-US">
                <a:solidFill>
                  <a:srgbClr val="262626"/>
                </a:solidFill>
                <a:latin typeface="LG스마트체 Regular"/>
                <a:ea typeface="LG스마트체 Regular"/>
                <a:cs typeface="LG스마트체 Regular"/>
              </a:rPr>
              <a:t>2) NAS 할당 여부·용량·보관 정책, 마운트 방식(NFS/SMB)·권한, 용도를 백업 저장으로 한정해도 되는지</a:t>
            </a:r>
          </a:p>
          <a:p>
            <a:r>
              <a:rPr sz="1100" b="0" i="0" lang="ko-KR" altLang="en-US">
                <a:solidFill>
                  <a:srgbClr val="262626"/>
                </a:solidFill>
                <a:latin typeface="LG스마트체 Regular"/>
                <a:ea typeface="LG스마트체 Regular"/>
                <a:cs typeface="LG스마트체 Regular"/>
              </a:rPr>
              <a:t>3) SSD 1TB가 VM 로컬 디스크인지, 4TB 확장 시 절차(IP·계정 정보)</a:t>
            </a:r>
          </a:p>
          <a:p>
            <a:r>
              <a:rPr sz="1100" b="0" i="0" lang="ko-KR" altLang="en-US">
                <a:solidFill>
                  <a:srgbClr val="262626"/>
                </a:solidFill>
                <a:latin typeface="LG스마트체 Regular"/>
                <a:ea typeface="LG스마트체 Regular"/>
                <a:cs typeface="LG스마트체 Regular"/>
              </a:rPr>
              <a:t>4) Sandbox에서 EXAONE API까지 망 경로·방화벽·인증 방식</a:t>
            </a:r>
          </a:p>
          <a:p>
            <a:r>
              <a:rPr sz="1100" b="0" i="0" lang="ko-KR" altLang="en-US">
                <a:solidFill>
                  <a:srgbClr val="262626"/>
                </a:solidFill>
                <a:latin typeface="LG스마트체 Regular"/>
                <a:ea typeface="LG스마트체 Regular"/>
                <a:cs typeface="LG스마트체 Regular"/>
              </a:rPr>
              <a:t>5) 사내망 사용자 접속 포트·방화벽 인바운드 규칙</a:t>
            </a:r>
          </a:p>
          <a:p>
            <a:r>
              <a:rPr sz="1100" b="0" i="0" lang="ko-KR" altLang="en-US">
                <a:solidFill>
                  <a:srgbClr val="262626"/>
                </a:solidFill>
                <a:latin typeface="LG스마트체 Regular"/>
                <a:ea typeface="LG스마트체 Regular"/>
                <a:cs typeface="LG스마트체 Regular"/>
              </a:rPr>
              <a:t>6) 로그인 없는 사내 웹서비스 운영 허용 여부와 필요한 접근 통제(SSO·IP 제한 등)</a:t>
            </a:r>
          </a:p>
          <a:p>
            <a:r>
              <a:rPr sz="1100" b="0" i="0" lang="ko-KR" altLang="en-US">
                <a:solidFill>
                  <a:srgbClr val="262626"/>
                </a:solidFill>
                <a:latin typeface="LG스마트체 Regular"/>
                <a:ea typeface="LG스마트체 Regular"/>
                <a:cs typeface="LG스마트체 Regular"/>
              </a:rPr>
              <a:t>7) VM 재시작·스냅샷·모니터링 지원 범위</a:t>
            </a:r>
          </a:p>
          <a:p>
            <a:r>
              <a:rPr sz="1100" b="0" i="0" lang="ko-KR" altLang="en-US">
                <a:solidFill>
                  <a:srgbClr val="262626"/>
                </a:solidFill>
                <a:latin typeface="LG스마트체 Regular"/>
                <a:ea typeface="LG스마트체 Regular"/>
                <a:cs typeface="LG스마트체 Regular"/>
              </a:rPr>
              <a:t>8) SSD 4TB 상한이 SSD만 말하는지, NAS를 포함한 총량인지</a:t>
            </a:r>
          </a:p>
          <a:p>
            <a:r>
              <a:rPr sz="1100" b="0" i="0" lang="ko-KR" altLang="en-US">
                <a:solidFill>
                  <a:srgbClr val="262626"/>
                </a:solidFill>
                <a:latin typeface="LG스마트체 Regular"/>
                <a:ea typeface="LG스마트체 Regular"/>
                <a:cs typeface="LG스마트체 Regular"/>
              </a:rPr>
              <a:t>9) NAS에 스냅샷·중복 제거(같은 파일 한 번만 저장) 기능이 있는지</a:t>
            </a:r>
          </a:p>
          <a:p>
            <a:r>
              <a:rPr sz="1100" b="0" i="0" lang="ko-KR" altLang="en-US">
                <a:solidFill>
                  <a:srgbClr val="262626"/>
                </a:solidFill>
                <a:latin typeface="LG스마트체 Regular"/>
                <a:ea typeface="LG스마트체 Regular"/>
                <a:cs typeface="LG스마트체 Regular"/>
              </a:rPr>
              <a:t>10) NAS 보관 1년이 다빈치 정책(필수)인지, 우리 요청값인지</a:t>
            </a:r>
          </a:p>
          <a:p>
            <a:r>
              <a:rPr sz="1100" b="0" i="0" lang="ko-KR" altLang="en-US">
                <a:solidFill>
                  <a:srgbClr val="262626"/>
                </a:solidFill>
                <a:latin typeface="LG스마트체 Regular"/>
                <a:ea typeface="LG스마트체 Regular"/>
                <a:cs typeface="LG스마트체 Regular"/>
              </a:rPr>
              <a:t>11) 변경분만 저장하는 백업(증분·스냅샷)을 운영 측에서 지원하는지</a:t>
            </a:r>
          </a:p>
          <a:p>
            <a:r>
              <a:rPr sz="1100" b="1" i="0" lang="ko-KR" altLang="en-US">
                <a:solidFill>
                  <a:srgbClr val="262626"/>
                </a:solidFill>
                <a:latin typeface="LG스마트체 Regular"/>
                <a:ea typeface="LG스마트체 Regular"/>
                <a:cs typeface="LG스마트체 Regular"/>
              </a:rPr>
              <a:t>[용량 산정 — 가정(실측 전)]</a:t>
            </a:r>
          </a:p>
          <a:p>
            <a:r>
              <a:rPr sz="1100" b="0" i="0" lang="ko-KR" altLang="en-US">
                <a:solidFill>
                  <a:srgbClr val="262626"/>
                </a:solidFill>
                <a:latin typeface="LG스마트체 Regular"/>
                <a:ea typeface="LG스마트체 Regular"/>
                <a:cs typeface="LG스마트체 Regular"/>
              </a:rPr>
              <a:t>사용자 가정(2026-10-26): 인당 월 기록 본문 300KB + 이미지 5MB + CSV 200MB = 205.3MB → 200명 월 약 41GB, 연 약 493GB. 백업 1회 = DB + 첨부 전체 복사(backups.py, 하드링크 기본 꺼짐), 최근 14개 보관(config.py) → 1년 말 약 6.8TB(6,775GB). NAS 2TB ÷ 14 = 데이터 약 143GB까지 → 월 41GB 기준 약 3.5개월. 상세·대안 비교는 부록 C.</a:t>
            </a:r>
          </a:p>
          <a:p>
            <a:r>
              <a:rPr sz="1100" b="0" i="0" lang="ko-KR" altLang="en-US">
                <a:solidFill>
                  <a:srgbClr val="262626"/>
                </a:solidFill>
                <a:latin typeface="LG스마트체 Regular"/>
                <a:ea typeface="LG스마트체 Regular"/>
                <a:cs typeface="LG스마트체 Regular"/>
              </a:rPr>
              <a:t>이전 가정(메일, 5GB/인·년)은 사용자 가정으로 대체.</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lang="ko-KR" altLang="en-US">
                <a:solidFill>
                  <a:srgbClr val="262626"/>
                </a:solidFill>
                <a:latin typeface="LG스마트체 Regular"/>
                <a:ea typeface="LG스마트체 Regular"/>
                <a:cs typeface="LG스마트체 Regular"/>
              </a:rPr>
              <a:t>"초안입니다. 컨테이너 구성은 저장소에 Dockerfile이 없어 아직 만들지 않았고, DAVINCI 확인 후 작성·검증합니다. DATA_DIR은 로컬 볼륨으로만, NAS는 BACKUP_DIR로만 연결합니다. 백업에 reports/와 voe/가 포함되지 않으므로 필요하면 별도 복사 규칙을 정해야 합니다. 포트 8000은 config 기본값 예시입니다."</a:t>
            </a:r>
          </a:p>
          <a:p>
            <a:r>
              <a:rPr sz="1100" b="0" i="0" lang="ko-KR" altLang="en-US">
                <a:solidFill>
                  <a:srgbClr val="262626"/>
                </a:solidFill>
                <a:latin typeface="LG스마트체 Regular"/>
                <a:ea typeface="LG스마트체 Regular"/>
                <a:cs typeface="LG스마트체 Regular"/>
              </a:rPr>
              <a:t>근거: backend/run.py, backend/app/config.py, backend/app/db.py, backend/app/services/backups.py, docs/03_ARCHITECTURE.md, docs/09_OPERATIONS.md §3·§5, README(실행.bat·초기설정.bat).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i="0" lang="ko-KR" altLang="en-US">
                <a:solidFill>
                  <a:srgbClr val="262626"/>
                </a:solidFill>
                <a:latin typeface="LG스마트체 Regular"/>
                <a:ea typeface="LG스마트체 Regular"/>
                <a:cs typeface="LG스마트체 Regular"/>
              </a:rPr>
              <a:t>[계산식 — 모두 가정(실측 전), 사용자 가정 2026-10-26]</a:t>
            </a:r>
          </a:p>
          <a:p>
            <a:r>
              <a:rPr sz="1100" b="0" i="0" lang="ko-KR" altLang="en-US">
                <a:solidFill>
                  <a:srgbClr val="262626"/>
                </a:solidFill>
                <a:latin typeface="LG스마트체 Regular"/>
                <a:ea typeface="LG스마트체 Regular"/>
                <a:cs typeface="LG스마트체 Regular"/>
              </a:rPr>
              <a:t>1) 인당 월 사용량 = 기록 본문(JSON) 300KB + 이미지 5MB + CSV(표) 200MB = 205.3MB/인·월 ≈ 2.46GB/인·년 (CSV가 98%).</a:t>
            </a:r>
          </a:p>
          <a:p>
            <a:r>
              <a:rPr sz="1100" b="0" i="0" lang="ko-KR" altLang="en-US">
                <a:solidFill>
                  <a:srgbClr val="262626"/>
                </a:solidFill>
                <a:latin typeface="LG스마트체 Regular"/>
                <a:ea typeface="LG스마트체 Regular"/>
                <a:cs typeface="LG스마트체 Regular"/>
              </a:rPr>
              <a:t>2) 200명 → 월 약 41GB(41.06GB), 연 약 493GB(492.7GB).</a:t>
            </a:r>
          </a:p>
          <a:p>
            <a:r>
              <a:rPr sz="1100" b="0" i="0" lang="ko-KR" altLang="en-US">
                <a:solidFill>
                  <a:srgbClr val="262626"/>
                </a:solidFill>
                <a:latin typeface="LG스마트체 Regular"/>
                <a:ea typeface="LG스마트체 Regular"/>
                <a:cs typeface="LG스마트체 Regular"/>
              </a:rPr>
              <a:t>3) 저장 위치(models.py): 기록 본문 → DB(content_doc JSON), 이미지·CSV 파일 → 첨부 파일. 가정: CSV는 첨부 파일로 올림.</a:t>
            </a:r>
          </a:p>
          <a:p>
            <a:r>
              <a:rPr sz="1100" b="0" i="0" lang="ko-KR" altLang="en-US">
                <a:solidFill>
                  <a:srgbClr val="262626"/>
                </a:solidFill>
                <a:latin typeface="LG스마트체 Regular"/>
                <a:ea typeface="LG스마트체 Regular"/>
                <a:cs typeface="LG스마트체 Regular"/>
              </a:rPr>
              <a:t>4) SSD 4TB, 데이터만: 4,000GB ÷ 493GB/년 ≈ 8.1년 (1년 12%, 2년 25%, 4년 49%) → 4TB 상한 안에서 업무 기록 삭제 불필요.</a:t>
            </a:r>
          </a:p>
          <a:p>
            <a:r>
              <a:rPr sz="1100" b="0" i="0" lang="ko-KR" altLang="en-US">
                <a:solidFill>
                  <a:srgbClr val="262626"/>
                </a:solidFill>
                <a:latin typeface="LG스마트체 Regular"/>
                <a:ea typeface="LG스마트체 Regular"/>
                <a:cs typeface="LG스마트체 Regular"/>
              </a:rPr>
              <a:t>5) 백업 1회 = DB + 첨부 전체 복사(backups.py, BACKUP_HARDLINK 기본 false) → 최근 14개 보관(config.py backup_retention_count=14).</a:t>
            </a:r>
          </a:p>
          <a:p>
            <a:r>
              <a:rPr sz="1100" b="0" i="0" lang="ko-KR" altLang="en-US">
                <a:solidFill>
                  <a:srgbClr val="262626"/>
                </a:solidFill>
                <a:latin typeface="LG스마트체 Regular"/>
                <a:ea typeface="LG스마트체 Regular"/>
                <a:cs typeface="LG스마트체 Regular"/>
              </a:rPr>
              <a:t>6) 1년 말 백업 14개 합계 ≈ 493GB × 14 ≈ 6.8TB (날짜별 데이터 차이 반영 6,775GB). 2년 13,673GB, 4년 27,469GB.</a:t>
            </a:r>
          </a:p>
          <a:p>
            <a:r>
              <a:rPr sz="1100" b="0" i="0" lang="ko-KR" altLang="en-US">
                <a:solidFill>
                  <a:srgbClr val="262626"/>
                </a:solidFill>
                <a:latin typeface="LG스마트체 Regular"/>
                <a:ea typeface="LG스마트체 Regular"/>
                <a:cs typeface="LG스마트체 Regular"/>
              </a:rPr>
              <a:t>7) NAS 2TB ÷ 14 = 데이터 약 143GB까지 → 월 41GB 기준 약 3.5개월에 NAS가 참.</a:t>
            </a:r>
          </a:p>
          <a:p>
            <a:r>
              <a:rPr sz="1100" b="0" i="0" lang="ko-KR" altLang="en-US">
                <a:solidFill>
                  <a:srgbClr val="262626"/>
                </a:solidFill>
                <a:latin typeface="LG스마트체 Regular"/>
                <a:ea typeface="LG스마트체 Regular"/>
                <a:cs typeface="LG스마트체 Regular"/>
              </a:rPr>
              <a:t>8) 백업을 같은 SSD에 둘 경우(BACKUP_DIR 미지정 기본값): 데이터 + 전체본 14개 → SSD 4TB 약 6.5개월에 참.</a:t>
            </a:r>
          </a:p>
          <a:p>
            <a:r>
              <a:rPr sz="1100" b="0" i="0" lang="ko-KR" altLang="en-US">
                <a:solidFill>
                  <a:srgbClr val="262626"/>
                </a:solidFill>
                <a:latin typeface="LG스마트체 Regular"/>
                <a:ea typeface="LG스마트체 Regular"/>
                <a:cs typeface="LG스마트체 Regular"/>
              </a:rPr>
              <a:t>9) 대안 비교(NAS 필요 GB, 1년/2년/4년): (a) 현행 14개 6,775/13,673/27,469 · (b) 2TB에 들어가는 전체본 수 4.1/2.0/1.0개 · (c) GFS(일 7 + 주 4 + 월 12 = 23개) 전체 복사 8,007/19,340/42,005 · (d) 첨부 한 번만 보관 + DB 사본 14개 502/1,004/2,008 (GFS 23개면 504/1,012/2,029) → NAS 2TB로 약 4년.</a:t>
            </a:r>
          </a:p>
          <a:p>
            <a:r>
              <a:rPr sz="1100" b="0" i="0" lang="ko-KR" altLang="en-US">
                <a:solidFill>
                  <a:srgbClr val="262626"/>
                </a:solidFill>
                <a:latin typeface="LG스마트체 Regular"/>
                <a:ea typeface="LG스마트체 Regular"/>
                <a:cs typeface="LG스마트체 Regular"/>
              </a:rPr>
              <a:t>(d)는 코드 변경(첨부 중복 저장 제거) 또는 다빈치 운영 방식(변경분만 저장하는 스냅샷)이 필요 → 검토 대상이며 확정 아님.</a:t>
            </a:r>
          </a:p>
          <a:p>
            <a:r>
              <a:rPr sz="1100" b="1" i="0" lang="ko-KR" altLang="en-US">
                <a:solidFill>
                  <a:srgbClr val="262626"/>
                </a:solidFill>
                <a:latin typeface="LG스마트체 Regular"/>
                <a:ea typeface="LG스마트체 Regular"/>
                <a:cs typeface="LG스마트체 Regular"/>
              </a:rPr>
              <a:t>[사례 2 — CSV를 기록 본문 표로 넣는 경우]</a:t>
            </a:r>
          </a:p>
          <a:p>
            <a:r>
              <a:rPr sz="1100" b="0" i="0" lang="ko-KR" altLang="en-US">
                <a:solidFill>
                  <a:srgbClr val="262626"/>
                </a:solidFill>
                <a:latin typeface="LG스마트체 Regular"/>
                <a:ea typeface="LG스마트체 Regular"/>
                <a:cs typeface="LG스마트체 Regular"/>
              </a:rPr>
              <a:t>CSV를 첨부 파일이 아니라 기록 본문 표로 붙여 넣으면 CSV가 DB 안으로 들어가 DB가 연 약 481GB가 됨. (d)는 'DB 사본 14개'를 보관하므로 DB가 크면 효과가 없음: 1년 6,622GB, 2년 13,364GB, 4년 26,848GB → CSV는 첨부 파일로 올리는 규칙이 전제.</a:t>
            </a:r>
          </a:p>
          <a:p>
            <a:r>
              <a:rPr sz="1100" b="1" i="0" lang="ko-KR" altLang="en-US">
                <a:solidFill>
                  <a:srgbClr val="262626"/>
                </a:solidFill>
                <a:latin typeface="LG스마트체 Regular"/>
                <a:ea typeface="LG스마트체 Regular"/>
                <a:cs typeface="LG스마트체 Regular"/>
              </a:rPr>
              <a:t>[민감도 읽는 법]</a:t>
            </a:r>
          </a:p>
          <a:p>
            <a:r>
              <a:rPr sz="1100" b="0" i="0" lang="ko-KR" altLang="en-US">
                <a:solidFill>
                  <a:srgbClr val="262626"/>
                </a:solidFill>
                <a:latin typeface="LG스마트체 Regular"/>
                <a:ea typeface="LG스마트체 Regular"/>
                <a:cs typeface="LG스마트체 Regular"/>
              </a:rPr>
              <a:t>칸 = NAS 2TB가 현행 방식(전체본 14개)으로 차는 개월 / SSD 4TB가 데이터만으로 차는 연수. 기준 가정은 200명 · 인당 월 CSV 200MB(3.5개월 / 8.1년).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i="0" lang="ko-KR" altLang="en-US">
                <a:solidFill>
                  <a:srgbClr val="262626"/>
                </a:solidFill>
                <a:latin typeface="LG스마트체 Regular"/>
                <a:ea typeface="LG스마트체 Regular"/>
                <a:cs typeface="LG스마트체 Regular"/>
              </a:rPr>
              <a:t>[보존 판단 근거]</a:t>
            </a:r>
          </a:p>
          <a:p>
            <a:r>
              <a:rPr sz="1100" b="0" i="0" lang="ko-KR" altLang="en-US">
                <a:solidFill>
                  <a:srgbClr val="262626"/>
                </a:solidFill>
                <a:latin typeface="LG스마트체 Regular"/>
                <a:ea typeface="LG스마트체 Regular"/>
                <a:cs typeface="LG스마트체 Regular"/>
              </a:rPr>
              <a:t>업무 기록(DB)·첨부는 현재 코드에서 자동 삭제가 없고(휴지통도 자동으로 비우지 않음), 누적 요약은 과거 기록을 처음부터 읽기 때문에 지우면 과거 보고 재생성 결과가 바뀜. 첨부가 없으면 기록의 이미지·표가 깨지고, 참조 첨부가 없으면 백업 자체가 실패(BACKUP_INCOMPLETE). → 업무 기록·첨부는 삭제 대상 아님. 4TB 상한으로 약 8년 여유(가정).</a:t>
            </a:r>
          </a:p>
          <a:p>
            <a:r>
              <a:rPr sz="1100" b="0" i="0" lang="ko-KR" altLang="en-US">
                <a:solidFill>
                  <a:srgbClr val="262626"/>
                </a:solidFill>
                <a:latin typeface="LG스마트체 Regular"/>
                <a:ea typeface="LG스마트체 Regular"/>
                <a:cs typeface="LG스마트체 Regular"/>
              </a:rPr>
              <a:t>정리 주기는 이미 자동 정리되는 항목(보고 결과 작업 최근 200개, 임시 업로드 7일, 내보내기 ZIP 1일, 로그 30일)과 백업에만 적용.</a:t>
            </a:r>
          </a:p>
          <a:p>
            <a:r>
              <a:rPr sz="1100" b="1" i="0" lang="ko-KR" altLang="en-US">
                <a:solidFill>
                  <a:srgbClr val="262626"/>
                </a:solidFill>
                <a:latin typeface="LG스마트체 Regular"/>
                <a:ea typeface="LG스마트체 Regular"/>
                <a:cs typeface="LG스마트체 Regular"/>
              </a:rPr>
              <a:t>[실측 항목·방법]</a:t>
            </a:r>
          </a:p>
          <a:p>
            <a:r>
              <a:rPr sz="1100" b="0" i="0" lang="ko-KR" altLang="en-US">
                <a:solidFill>
                  <a:srgbClr val="262626"/>
                </a:solidFill>
                <a:latin typeface="LG스마트체 Regular"/>
                <a:ea typeface="LG스마트체 Regular"/>
                <a:cs typeface="LG스마트체 Regular"/>
              </a:rPr>
              <a:t>- DB 파일 크기: data/db/worklog.sqlite3 크기(+WAL·SHM)를 주 1회 기록</a:t>
            </a:r>
          </a:p>
          <a:p>
            <a:r>
              <a:rPr sz="1100" b="0" i="0" lang="ko-KR" altLang="en-US">
                <a:solidFill>
                  <a:srgbClr val="262626"/>
                </a:solidFill>
                <a:latin typeface="LG스마트체 Regular"/>
                <a:ea typeface="LG스마트체 Regular"/>
                <a:cs typeface="LG스마트체 Regular"/>
              </a:rPr>
              <a:t>- 첨부 총량·건수·평균 크기: data/attachments 폴더 합계, 파일 수, 평균</a:t>
            </a:r>
          </a:p>
          <a:p>
            <a:r>
              <a:rPr sz="1100" b="0" i="0" lang="ko-KR" altLang="en-US">
                <a:solidFill>
                  <a:srgbClr val="262626"/>
                </a:solidFill>
                <a:latin typeface="LG스마트체 Regular"/>
                <a:ea typeface="LG스마트체 Regular"/>
                <a:cs typeface="LG스마트체 Regular"/>
              </a:rPr>
              <a:t>- 백업 1회 크기: data/backups/&lt;백업ID&gt; 폴더 크기, manifest의 첨부 수·크기</a:t>
            </a:r>
          </a:p>
          <a:p>
            <a:r>
              <a:rPr sz="1100" b="0" i="0" lang="ko-KR" altLang="en-US">
                <a:solidFill>
                  <a:srgbClr val="262626"/>
                </a:solidFill>
                <a:latin typeface="LG스마트체 Regular"/>
                <a:ea typeface="LG스마트체 Regular"/>
                <a:cs typeface="LG스마트체 Regular"/>
              </a:rPr>
              <a:t>- 주 단위 증가량 ÷ 작성자 수 → 인당 월 사용량을 가정(205.3MB)과 비교</a:t>
            </a:r>
          </a:p>
          <a:p>
            <a:r>
              <a:rPr sz="1100" b="0" i="0" lang="ko-KR" altLang="en-US">
                <a:solidFill>
                  <a:srgbClr val="262626"/>
                </a:solidFill>
                <a:latin typeface="LG스마트체 Regular"/>
                <a:ea typeface="LG스마트체 Regular"/>
                <a:cs typeface="LG스마트체 Regular"/>
              </a:rPr>
              <a:t>- CSV를 파일로 올리는지, 기록 본문 표로 넣는지 실제 사용 확인(사례 2 판정)</a:t>
            </a:r>
          </a:p>
          <a:p>
            <a:r>
              <a:rPr sz="1100" b="1" i="0" lang="ko-KR" altLang="en-US">
                <a:solidFill>
                  <a:srgbClr val="262626"/>
                </a:solidFill>
                <a:latin typeface="LG스마트체 Regular"/>
                <a:ea typeface="LG스마트체 Regular"/>
                <a:cs typeface="LG스마트체 Regular"/>
              </a:rPr>
              <a:t>[검증]</a:t>
            </a:r>
          </a:p>
          <a:p>
            <a:r>
              <a:rPr sz="1100" b="0" i="0" lang="ko-KR" altLang="en-US">
                <a:solidFill>
                  <a:srgbClr val="262626"/>
                </a:solidFill>
                <a:latin typeface="LG스마트체 Regular"/>
                <a:ea typeface="LG스마트체 Regular"/>
                <a:cs typeface="LG스마트체 Regular"/>
              </a:rPr>
              <a:t>- 정리 주기 적용 후 백업 복원 시험: 복원된 DB·첨부로 앱이 정상 동작하는지, 복구 소요 시간 측정</a:t>
            </a:r>
          </a:p>
          <a:p>
            <a:r>
              <a:rPr sz="1100" b="0" i="0" lang="ko-KR" altLang="en-US">
                <a:solidFill>
                  <a:srgbClr val="262626"/>
                </a:solidFill>
                <a:latin typeface="LG스마트체 Regular"/>
                <a:ea typeface="LG스마트체 Regular"/>
                <a:cs typeface="LG스마트체 Regular"/>
              </a:rPr>
              <a:t>- 같은 기간 보고서 재생성 결과를 정리 전과 비교(누적 요약이 바뀌지 않는지)</a:t>
            </a:r>
          </a:p>
          <a:p>
            <a:r>
              <a:rPr sz="1100" b="1" i="0" lang="ko-KR" altLang="en-US">
                <a:solidFill>
                  <a:srgbClr val="262626"/>
                </a:solidFill>
                <a:latin typeface="LG스마트체 Regular"/>
                <a:ea typeface="LG스마트체 Regular"/>
                <a:cs typeface="LG스마트체 Regular"/>
              </a:rPr>
              <a:t>[다빈치 추가 질문]</a:t>
            </a:r>
          </a:p>
          <a:p>
            <a:r>
              <a:rPr sz="1100" b="0" i="0" lang="ko-KR" altLang="en-US">
                <a:solidFill>
                  <a:srgbClr val="262626"/>
                </a:solidFill>
                <a:latin typeface="LG스마트체 Regular"/>
                <a:ea typeface="LG스마트체 Regular"/>
                <a:cs typeface="LG스마트체 Regular"/>
              </a:rPr>
              <a:t>1) 4TB 상한이 SSD만인지, NAS를 포함한 총량인지</a:t>
            </a:r>
          </a:p>
          <a:p>
            <a:r>
              <a:rPr sz="1100" b="0" i="0" lang="ko-KR" altLang="en-US">
                <a:solidFill>
                  <a:srgbClr val="262626"/>
                </a:solidFill>
                <a:latin typeface="LG스마트체 Regular"/>
                <a:ea typeface="LG스마트체 Regular"/>
                <a:cs typeface="LG스마트체 Regular"/>
              </a:rPr>
              <a:t>2) NAS 스냅샷·중복 제거 기능이 있는지</a:t>
            </a:r>
          </a:p>
          <a:p>
            <a:r>
              <a:rPr sz="1100" b="0" i="0" lang="ko-KR" altLang="en-US">
                <a:solidFill>
                  <a:srgbClr val="262626"/>
                </a:solidFill>
                <a:latin typeface="LG스마트체 Regular"/>
                <a:ea typeface="LG스마트체 Regular"/>
                <a:cs typeface="LG스마트체 Regular"/>
              </a:rPr>
              <a:t>3) NAS 보관 1년이 다빈치 정책인지(우리 요청값인지)</a:t>
            </a:r>
          </a:p>
          <a:p>
            <a:r>
              <a:rPr sz="1100" b="0" i="0" lang="ko-KR" altLang="en-US">
                <a:solidFill>
                  <a:srgbClr val="262626"/>
                </a:solidFill>
                <a:latin typeface="LG스마트체 Regular"/>
                <a:ea typeface="LG스마트체 Regular"/>
                <a:cs typeface="LG스마트체 Regular"/>
              </a:rPr>
              <a:t>4) 변경분만 저장하는 백업을 운영 측에서 지원하는지</a:t>
            </a:r>
          </a:p>
          <a:p>
            <a:r>
              <a:rPr sz="1100" b="1" i="0" lang="ko-KR" altLang="en-US">
                <a:solidFill>
                  <a:srgbClr val="262626"/>
                </a:solidFill>
                <a:latin typeface="LG스마트체 Regular"/>
                <a:ea typeface="LG스마트체 Regular"/>
                <a:cs typeface="LG스마트체 Regular"/>
              </a:rPr>
              <a:t>[운영 기준 — 제안값, 실측 아님]</a:t>
            </a:r>
          </a:p>
          <a:p>
            <a:r>
              <a:rPr sz="1100" b="0" i="0" lang="ko-KR" altLang="en-US">
                <a:solidFill>
                  <a:srgbClr val="262626"/>
                </a:solidFill>
                <a:latin typeface="LG스마트체 Regular"/>
                <a:ea typeface="LG스마트체 Regular"/>
                <a:cs typeface="LG스마트체 Regular"/>
              </a:rPr>
              <a:t>복구 목표 = 하루 전 시점까지(현행 일일 백업과 일치). 복구 소요 시간은 복원 시험으로 측정 후 결정. 경보: 사용률 70% 점검(증가 추세 확인), 85% 조치(백업 보관 축소 또는 증설 요청, 담당 이재후 ↔ 다빈치팀).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i="0" lang="ko-KR" altLang="en-US">
                <a:solidFill>
                  <a:srgbClr val="262626"/>
                </a:solidFill>
                <a:latin typeface="LG스마트체 Regular"/>
                <a:ea typeface="LG스마트체 Regular"/>
                <a:cs typeface="LG스마트체 Regular"/>
              </a:rPr>
              <a:t>[30초 멘트]</a:t>
            </a:r>
          </a:p>
          <a:p>
            <a:r>
              <a:rPr sz="1100" b="0" i="0" lang="ko-KR" altLang="en-US">
                <a:solidFill>
                  <a:srgbClr val="262626"/>
                </a:solidFill>
                <a:latin typeface="LG스마트체 Regular"/>
                <a:ea typeface="LG스마트체 Regular"/>
                <a:cs typeface="LG스마트체 Regular"/>
              </a:rPr>
              <a:t>"업무 기록 시스템을 지금은 제 PC에서 시범 운영하고 있고, 회사 서버인 다빈치 Sandbox로 옮기고 있습니다. 법인(OC)과 과제 신청 방식은 다빈치팀과 정했고, 서버 사양과 백업 보관함, 사내 AI 연결은 확인 중입니다. 착수 전에 네 가지를 확인해야 합니다. 업무 기록은 서버 디스크에 두고 NAS는 백업에만 쓰는 것, 현재 검증된 규모가 약 20명이라는 것, 지금 백업 방식이면 NAS가 약 3.5개월에 차서 보관 방식을 바꿔야 한다는 것(가정), 회사 서버용 실행 패키지가 아직 없다는 것입니다. 현재 결정이 필요한 사항은 없고 다빈치팀과 실무로 협의하겠습니다."</a:t>
            </a:r>
          </a:p>
          <a:p>
            <a:r>
              <a:rPr sz="1100" b="1" i="0" lang="ko-KR" altLang="en-US">
                <a:solidFill>
                  <a:srgbClr val="262626"/>
                </a:solidFill>
                <a:latin typeface="LG스마트체 Regular"/>
                <a:ea typeface="LG스마트체 Regular"/>
                <a:cs typeface="LG스마트체 Regular"/>
              </a:rPr>
              <a:t>[용어 대응표]</a:t>
            </a:r>
          </a:p>
          <a:p>
            <a:r>
              <a:rPr sz="1100" b="0" i="0" lang="ko-KR" altLang="en-US">
                <a:solidFill>
                  <a:srgbClr val="262626"/>
                </a:solidFill>
                <a:latin typeface="LG스마트체 Regular"/>
                <a:ea typeface="LG스마트체 Regular"/>
                <a:cs typeface="LG스마트체 Regular"/>
              </a:rPr>
              <a:t>SQLite DB·WAL → 업무 기록 저장소 / DATA_DIR → 서버 안 저장소 / BACKUP_DIR → 백업 보관함 / NAS 마운트 → 백업 보관함 연결 / Docker 컨테이너·Dockerfile → 회사 서버용 실행 패키지 / Uvicorn worker 1 → 현재 검증 규모 약 20명 / VM → 회사 서버 / OC 분석과제 → 회사 서버 사용 신청(OC 법인) / EXAONE API → 사내 AI / 포트·방화벽 → 접속 경로 / 백업 14개 전체 복사 → 지금 백업 방식 / reports/ → 보고서.</a:t>
            </a:r>
          </a:p>
          <a:p>
            <a:r>
              <a:rPr sz="1100" b="1" i="0" lang="ko-KR" altLang="en-US">
                <a:solidFill>
                  <a:srgbClr val="262626"/>
                </a:solidFill>
                <a:latin typeface="LG스마트체 Regular"/>
                <a:ea typeface="LG스마트체 Regular"/>
                <a:cs typeface="LG스마트체 Regular"/>
              </a:rPr>
              <a:t>[문장별 근거]</a:t>
            </a:r>
          </a:p>
          <a:p>
            <a:r>
              <a:rPr sz="1100" b="0" i="0" lang="ko-KR" altLang="en-US">
                <a:solidFill>
                  <a:srgbClr val="262626"/>
                </a:solidFill>
                <a:latin typeface="LG스마트체 Regular"/>
                <a:ea typeface="LG스마트체 Regular"/>
                <a:cs typeface="LG스마트체 Regular"/>
              </a:rPr>
              <a:t>- 개인 PC 시범 운영 — 메일 10-20 이재후 "현재 PoC 단계에서는 실행 배치파일로 돌리고 있으며"</a:t>
            </a:r>
          </a:p>
          <a:p>
            <a:r>
              <a:rPr sz="1100" b="0" i="0" lang="ko-KR" altLang="en-US">
                <a:solidFill>
                  <a:srgbClr val="262626"/>
                </a:solidFill>
                <a:latin typeface="LG스마트체 Regular"/>
                <a:ea typeface="LG스마트체 Regular"/>
                <a:cs typeface="LG스마트체 Regular"/>
              </a:rPr>
              <a:t>- 회사 서버 DAVINCI Sandbox·OC·분석과제 — 부록 A 1·2행; 메일 10-20 이재후 회신 "OC로 진행", 10-21 박정환 "분석 과제는 신청 주시고"</a:t>
            </a:r>
          </a:p>
          <a:p>
            <a:r>
              <a:rPr sz="1100" b="0" i="0" lang="ko-KR" altLang="en-US">
                <a:solidFill>
                  <a:srgbClr val="262626"/>
                </a:solidFill>
                <a:latin typeface="LG스마트체 Regular"/>
                <a:ea typeface="LG스마트체 Regular"/>
                <a:cs typeface="LG스마트체 Regular"/>
              </a:rPr>
              <a:t>- 서버 사양 확인 중 — 부록 A 3행; 메일 10-20 이정원 "할당 가능한지 확인"</a:t>
            </a:r>
          </a:p>
          <a:p>
            <a:r>
              <a:rPr sz="1100" b="0" i="0" lang="ko-KR" altLang="en-US">
                <a:solidFill>
                  <a:srgbClr val="262626"/>
                </a:solidFill>
                <a:latin typeface="LG스마트체 Regular"/>
                <a:ea typeface="LG스마트체 Regular"/>
                <a:cs typeface="LG스마트체 Regular"/>
              </a:rPr>
              <a:t>- 1TB→최대 4TB — 부록 A 4행; 메일 10-21 박정환 "이후 SSD 4TB까지 할당 가능할 것 같으므로"</a:t>
            </a:r>
          </a:p>
          <a:p>
            <a:r>
              <a:rPr sz="1100" b="0" i="0" lang="ko-KR" altLang="en-US">
                <a:solidFill>
                  <a:srgbClr val="262626"/>
                </a:solidFill>
                <a:latin typeface="LG스마트체 Regular"/>
                <a:ea typeface="LG스마트체 Regular"/>
                <a:cs typeface="LG스마트체 Regular"/>
              </a:rPr>
              <a:t>- 사내 AI 개인 PC 연결 정상 — 사용자 제공 운영 사실(이전 보고); 회사 서버 경로 미정 — 부록 A 9행, 메일 10-20 박정환 "엑사원과 통신이 필요할 것 같고"</a:t>
            </a:r>
          </a:p>
          <a:p>
            <a:r>
              <a:rPr sz="1100" b="0" i="0" lang="ko-KR" altLang="en-US">
                <a:solidFill>
                  <a:srgbClr val="262626"/>
                </a:solidFill>
                <a:latin typeface="LG스마트체 Regular"/>
                <a:ea typeface="LG스마트체 Regular"/>
                <a:cs typeface="LG스마트체 Regular"/>
              </a:rPr>
              <a:t>- NAS 2TB·1년 미회신 — 부록 A 5행</a:t>
            </a:r>
          </a:p>
          <a:p>
            <a:r>
              <a:rPr sz="1100" b="0" i="0" lang="ko-KR" altLang="en-US">
                <a:solidFill>
                  <a:srgbClr val="262626"/>
                </a:solidFill>
                <a:latin typeface="LG스마트체 Regular"/>
                <a:ea typeface="LG스마트체 Regular"/>
                <a:cs typeface="LG스마트체 Regular"/>
              </a:rPr>
              <a:t>- 확인1 저장 위치 — 부록 A 7행, 부록 B 'DATA_DIR 네트워크 공유 금지'(docs/09 §3)</a:t>
            </a:r>
          </a:p>
          <a:p>
            <a:r>
              <a:rPr sz="1100" b="0" i="0" lang="ko-KR" altLang="en-US">
                <a:solidFill>
                  <a:srgbClr val="262626"/>
                </a:solidFill>
                <a:latin typeface="LG스마트체 Regular"/>
                <a:ea typeface="LG스마트체 Regular"/>
                <a:cs typeface="LG스마트체 Regular"/>
              </a:rPr>
              <a:t>- 확인2 약 20명 — 부록 B 프로세스(workers=1), README 동시 작성 목표 약 20명; 100명 — 메일 10-20 이재후 가정</a:t>
            </a:r>
          </a:p>
          <a:p>
            <a:r>
              <a:rPr sz="1100" b="0" i="0" lang="ko-KR" altLang="en-US">
                <a:solidFill>
                  <a:srgbClr val="262626"/>
                </a:solidFill>
                <a:latin typeface="LG스마트체 Regular"/>
                <a:ea typeface="LG스마트체 Regular"/>
                <a:cs typeface="LG스마트체 Regular"/>
              </a:rPr>
              <a:t>- 확인3 약 3.5개월 — 부록 A·C 용량 산정(인당 월 205.3MB 가정, 200명, 전체본 14개)</a:t>
            </a:r>
          </a:p>
          <a:p>
            <a:r>
              <a:rPr sz="1100" b="0" i="0" lang="ko-KR" altLang="en-US">
                <a:solidFill>
                  <a:srgbClr val="262626"/>
                </a:solidFill>
                <a:latin typeface="LG스마트체 Regular"/>
                <a:ea typeface="LG스마트체 Regular"/>
                <a:cs typeface="LG스마트체 Regular"/>
              </a:rPr>
              <a:t>- 확인4 실행 패키지 없음 — 부록 A 6·8행(Dockerfile 없음, OS 미정)</a:t>
            </a:r>
          </a:p>
          <a:p>
            <a:r>
              <a:rPr sz="1100" b="1" i="0" lang="ko-KR" altLang="en-US">
                <a:solidFill>
                  <a:srgbClr val="262626"/>
                </a:solidFill>
                <a:latin typeface="LG스마트체 Regular"/>
                <a:ea typeface="LG스마트체 Regular"/>
                <a:cs typeface="LG스마트체 Regular"/>
              </a:rPr>
              <a:t>[예상 질문]</a:t>
            </a:r>
          </a:p>
          <a:p>
            <a:r>
              <a:rPr sz="1100" b="0" i="0" lang="ko-KR" altLang="en-US">
                <a:solidFill>
                  <a:srgbClr val="262626"/>
                </a:solidFill>
                <a:latin typeface="LG스마트체 Regular"/>
                <a:ea typeface="LG스마트체 Regular"/>
                <a:cs typeface="LG스마트체 Regular"/>
              </a:rPr>
              <a:t>Q1 보안: "로그인이 없는데 괜찮나?" → 현재 로그인·권한 기능 없음(부록 A 10행). 회사 서버에서 필요한 접근 통제는 다빈치팀에 확인할 항목. API 키는 GitHub에 올리지 않고 사내망 설정 파일로 관리(사용자 제공). 보안 검토 완료라고 말하지 않음.</a:t>
            </a:r>
          </a:p>
          <a:p>
            <a:r>
              <a:rPr sz="1100" b="0" i="0" lang="ko-KR" altLang="en-US">
                <a:solidFill>
                  <a:srgbClr val="262626"/>
                </a:solidFill>
                <a:latin typeface="LG스마트체 Regular"/>
                <a:ea typeface="LG스마트체 Regular"/>
                <a:cs typeface="LG스마트체 Regular"/>
              </a:rPr>
              <a:t>Q2 비용·자원: "서버 자원은 얼마나 드나?" → 요청 사양 8코어·32GB·SSD 1TB(최대 4TB 가능 회신)·NAS 2TB. 비용 정보는 메일에 없어 답변 범위 밖 — 다빈치팀 확인 필요.</a:t>
            </a:r>
          </a:p>
          <a:p>
            <a:r>
              <a:rPr sz="1100" b="0" i="0" lang="ko-KR" altLang="en-US">
                <a:solidFill>
                  <a:srgbClr val="262626"/>
                </a:solidFill>
                <a:latin typeface="LG스마트체 Regular"/>
                <a:ea typeface="LG스마트체 Regular"/>
                <a:cs typeface="LG스마트체 Regular"/>
              </a:rPr>
              <a:t>Q3 운영 책임: "운영은 누가 하나?" → 앱 개발·실행 패키지·백업 방식은 우리(이재후), 서버 자원·OS·NAS·망은 다빈치팀 협조. 다빈치 인원 지원 범위는 10-19 요청 메일 기준 협의 중이며 확정 아님.</a:t>
            </a:r>
          </a:p>
          <a:p>
            <a:r>
              <a:rPr sz="1100" b="1" i="0" lang="ko-KR" altLang="en-US">
                <a:solidFill>
                  <a:srgbClr val="262626"/>
                </a:solidFill>
                <a:latin typeface="LG스마트체 Regular"/>
                <a:ea typeface="LG스마트체 Regular"/>
                <a:cs typeface="LG스마트체 Regular"/>
              </a:rPr>
              <a:t>[5초 테스트 점검 결과]</a:t>
            </a:r>
          </a:p>
          <a:p>
            <a:r>
              <a:rPr sz="1100" b="0" i="0" lang="ko-KR" altLang="en-US">
                <a:solidFill>
                  <a:srgbClr val="262626"/>
                </a:solidFill>
                <a:latin typeface="LG스마트체 Regular"/>
                <a:ea typeface="LG스마트체 Regular"/>
                <a:cs typeface="LG스마트체 Regular"/>
              </a:rPr>
              <a:t>제목에서 "회사 서버(DAVINCI)로 옮기는 중 · 확인 4건"이 먼저 읽힘 → 다이어그램 중앙의 가장 큰 상자 "회사 서버"와 그 안의 "서버 안 저장소"가 다음으로 보임 → 오른쪽 "④ 착수 전 확인 사항" 표 4행과 담당이 보임. 실선(✓ 확정)과 점선(… 확인 중)이 범례와 같은 색·선으로 구분됨. 슬라이드 1 본문에 기술 용어(Docker·WAL·worker·포트·FastAPI·SQLite·Uvicorn·DATA_DIR·BACKUP_DIR) 없음.</a:t>
            </a:r>
          </a:p>
          <a:p>
            <a:r>
              <a:rPr sz="1100" b="1" i="0" lang="ko-KR" altLang="en-US">
                <a:solidFill>
                  <a:srgbClr val="262626"/>
                </a:solidFill>
                <a:latin typeface="LG스마트체 Regular"/>
                <a:ea typeface="LG스마트체 Regular"/>
                <a:cs typeface="LG스마트체 Regular"/>
              </a:rPr>
              <a:t>[비전문가 확인 질문 4개 — 동료에게 장표를 보여준 뒤 30초 안에 답하게 함]</a:t>
            </a:r>
          </a:p>
          <a:p>
            <a:r>
              <a:rPr sz="1100" b="0" i="0" lang="ko-KR" altLang="en-US">
                <a:solidFill>
                  <a:srgbClr val="262626"/>
                </a:solidFill>
                <a:latin typeface="LG스마트체 Regular"/>
                <a:ea typeface="LG스마트체 Regular"/>
                <a:cs typeface="LG스마트체 Regular"/>
              </a:rPr>
              <a:t>1. 이 시스템은 지금 어디서 돌아가고, 앞으로 어디로 옮기나?</a:t>
            </a:r>
          </a:p>
          <a:p>
            <a:r>
              <a:rPr sz="1100" b="0" i="0" lang="ko-KR" altLang="en-US">
                <a:solidFill>
                  <a:srgbClr val="262626"/>
                </a:solidFill>
                <a:latin typeface="LG스마트체 Regular"/>
                <a:ea typeface="LG스마트체 Regular"/>
                <a:cs typeface="LG스마트체 Regular"/>
              </a:rPr>
              <a:t>2. 업무 기록은 어디에 저장되고, NAS는 무슨 용도인가?</a:t>
            </a:r>
          </a:p>
          <a:p>
            <a:r>
              <a:rPr sz="1100" b="0" i="0" lang="ko-KR" altLang="en-US">
                <a:solidFill>
                  <a:srgbClr val="262626"/>
                </a:solidFill>
                <a:latin typeface="LG스마트체 Regular"/>
                <a:ea typeface="LG스마트체 Regular"/>
                <a:cs typeface="LG스마트체 Regular"/>
              </a:rPr>
              <a:t>3. 현재 몇 명 규모까지 확인됐고, 언제부터 쓸 수 있나?</a:t>
            </a:r>
          </a:p>
          <a:p>
            <a:r>
              <a:rPr sz="1100" b="0" i="0" lang="ko-KR" altLang="en-US">
                <a:solidFill>
                  <a:srgbClr val="262626"/>
                </a:solidFill>
                <a:latin typeface="LG스마트체 Regular"/>
                <a:ea typeface="LG스마트체 Regular"/>
                <a:cs typeface="LG스마트체 Regular"/>
              </a:rPr>
              <a:t>4. 착수 전에 확인할 것은 무엇이고, 누가 하나?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56032"/>
            <a:ext cx="11365992" cy="310896"/>
          </a:xfrm>
          <a:prstGeom prst="rect">
            <a:avLst/>
          </a:prstGeom>
          <a:noFill/>
        </p:spPr>
        <p:txBody>
          <a:bodyPr wrap="square" lIns="0" rIns="0" tIns="18288" bIns="18288" anchor="t">
            <a:noAutofit/>
          </a:bodyPr>
          <a:lstStyle/>
          <a:p>
            <a:pPr algn="l"/>
            <a:r>
              <a:rPr sz="1600" b="1" i="0" lang="ko-KR" altLang="en-US">
                <a:solidFill>
                  <a:srgbClr val="1F3864"/>
                </a:solidFill>
                <a:latin typeface="LG스마트체 Regular"/>
                <a:ea typeface="LG스마트체 Regular"/>
                <a:cs typeface="LG스마트체 Regular"/>
              </a:rPr>
              <a:t>업무 기록 시스템을 회사 서버(DAVINCI)로 옮기는 중 — 착수 전 확인 4건, 현재는 다빈치팀과 실무 협의로 진행</a:t>
            </a:r>
          </a:p>
        </p:txBody>
      </p:sp>
      <p:sp>
        <p:nvSpPr>
          <p:cNvPr id="3" name="subtitle"/>
          <p:cNvSpPr txBox="1"/>
          <p:nvPr/>
        </p:nvSpPr>
        <p:spPr>
          <a:xfrm>
            <a:off x="411480" y="640080"/>
            <a:ext cx="11365992" cy="219456"/>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정보 공유 · 근거: DAVINCI팀 메일(2026-10-19~21), 저장소 점검 결과(부록 A·B) · 기술 상세는 부록 B</a:t>
            </a:r>
          </a:p>
        </p:txBody>
      </p:sp>
      <p:sp>
        <p:nvSpPr>
          <p:cNvPr id="4" name="now-tag"/>
          <p:cNvSpPr/>
          <p:nvPr/>
        </p:nvSpPr>
        <p:spPr>
          <a:xfrm>
            <a:off x="411480" y="1097280"/>
            <a:ext cx="1600200" cy="777240"/>
          </a:xfrm>
          <a:prstGeom prst="roundRect">
            <a:avLst>
              <a:gd name="adj" fmla="val 7058"/>
            </a:avLst>
          </a:prstGeom>
          <a:solidFill>
            <a:srgbClr val="F2F2F2"/>
          </a:solidFill>
          <a:ln w="12700">
            <a:solidFill>
              <a:srgbClr val="595959"/>
            </a:solidFill>
          </a:ln>
          <a:effectLst/>
        </p:spPr>
        <p:txBody>
          <a:bodyPr rtlCol="0" anchor="ctr" wrap="square" lIns="73152" rIns="73152" tIns="18288" bIns="18288">
            <a:noAutofit/>
          </a:bodyPr>
          <a:lstStyle/>
          <a:p>
            <a:pPr algn="l"/>
            <a:r>
              <a:rPr sz="1100" b="1" i="0" lang="ko-KR" altLang="en-US">
                <a:solidFill>
                  <a:srgbClr val="262626"/>
                </a:solidFill>
                <a:latin typeface="LG스마트체 Regular"/>
                <a:ea typeface="LG스마트체 Regular"/>
                <a:cs typeface="LG스마트체 Regular"/>
              </a:rPr>
              <a:t>지금</a:t>
            </a:r>
          </a:p>
          <a:p>
            <a:pPr algn="l"/>
            <a:r>
              <a:rPr sz="1000" b="0" i="0" lang="ko-KR" altLang="en-US">
                <a:solidFill>
                  <a:srgbClr val="595959"/>
                </a:solidFill>
                <a:latin typeface="LG스마트체 Regular"/>
                <a:ea typeface="LG스마트체 Regular"/>
                <a:cs typeface="LG스마트체 Regular"/>
              </a:rPr>
              <a:t>개인 PC에서 시범 운영 (배치파일 실행)</a:t>
            </a:r>
          </a:p>
        </p:txBody>
      </p:sp>
      <p:sp>
        <p:nvSpPr>
          <p:cNvPr id="5" name="box1-users"/>
          <p:cNvSpPr/>
          <p:nvPr/>
        </p:nvSpPr>
        <p:spPr>
          <a:xfrm>
            <a:off x="411480" y="2057400"/>
            <a:ext cx="1600200" cy="1600200"/>
          </a:xfrm>
          <a:prstGeom prst="roundRect">
            <a:avLst>
              <a:gd name="adj" fmla="val 4571"/>
            </a:avLst>
          </a:prstGeom>
          <a:solidFill>
            <a:srgbClr val="F7F7F7"/>
          </a:solidFill>
          <a:ln w="15875">
            <a:solidFill>
              <a:srgbClr val="595959"/>
            </a:solidFill>
          </a:ln>
          <a:effectLst/>
        </p:spPr>
        <p:txBody>
          <a:bodyPr rtlCol="0" anchor="ctr"/>
          <a:lstStyle/>
          <a:p/>
        </p:txBody>
      </p:sp>
      <p:sp>
        <p:nvSpPr>
          <p:cNvPr id="6" name="icon-users"/>
          <p:cNvSpPr/>
          <p:nvPr/>
        </p:nvSpPr>
        <p:spPr>
          <a:xfrm>
            <a:off x="914400" y="2176272"/>
            <a:ext cx="594360" cy="594360"/>
          </a:xfrm>
          <a:custGeom>
            <a:avLst/>
            <a:gdLst/>
            <a:ahLst/>
            <a:cxnLst/>
            <a:rect l="0" t="0" r="r" b="b"/>
            <a:pathLst>
              <a:path w="24000" h="24000" stroke="0">
                <a:moveTo>
                  <a:pt x="12000" y="12750"/>
                </a:moveTo>
                <a:cubicBezTo>
                  <a:pt x="13630" y="12750"/>
                  <a:pt x="15070" y="13140"/>
                  <a:pt x="16240" y="13650"/>
                </a:cubicBezTo>
                <a:cubicBezTo>
                  <a:pt x="17320" y="14130"/>
                  <a:pt x="18000" y="15210"/>
                  <a:pt x="18000" y="16380"/>
                </a:cubicBezTo>
                <a:lnTo>
                  <a:pt x="18000" y="18000"/>
                </a:lnTo>
                <a:lnTo>
                  <a:pt x="6000" y="18000"/>
                </a:lnTo>
                <a:lnTo>
                  <a:pt x="6000" y="16390"/>
                </a:lnTo>
                <a:cubicBezTo>
                  <a:pt x="6000" y="15210"/>
                  <a:pt x="6680" y="14130"/>
                  <a:pt x="7760" y="13660"/>
                </a:cubicBezTo>
                <a:cubicBezTo>
                  <a:pt x="8930" y="13140"/>
                  <a:pt x="10370" y="12750"/>
                  <a:pt x="12000" y="12750"/>
                </a:cubicBezTo>
                <a:close/>
                <a:moveTo>
                  <a:pt x="4000" y="13000"/>
                </a:moveTo>
                <a:cubicBezTo>
                  <a:pt x="5100" y="13000"/>
                  <a:pt x="6000" y="12100"/>
                  <a:pt x="6000" y="11000"/>
                </a:cubicBezTo>
                <a:cubicBezTo>
                  <a:pt x="6000" y="9900"/>
                  <a:pt x="5100" y="9000"/>
                  <a:pt x="4000" y="9000"/>
                </a:cubicBezTo>
                <a:cubicBezTo>
                  <a:pt x="2900" y="9000"/>
                  <a:pt x="2000" y="9900"/>
                  <a:pt x="2000" y="11000"/>
                </a:cubicBezTo>
                <a:cubicBezTo>
                  <a:pt x="2000" y="12100"/>
                  <a:pt x="2900" y="13000"/>
                  <a:pt x="4000" y="13000"/>
                </a:cubicBezTo>
                <a:close/>
                <a:moveTo>
                  <a:pt x="5130" y="14100"/>
                </a:moveTo>
                <a:cubicBezTo>
                  <a:pt x="4760" y="14040"/>
                  <a:pt x="4390" y="14000"/>
                  <a:pt x="4000" y="14000"/>
                </a:cubicBezTo>
                <a:cubicBezTo>
                  <a:pt x="3010" y="14000"/>
                  <a:pt x="2070" y="14210"/>
                  <a:pt x="1220" y="14580"/>
                </a:cubicBezTo>
                <a:cubicBezTo>
                  <a:pt x="479" y="14897"/>
                  <a:pt x="-1" y="15625"/>
                  <a:pt x="0" y="16430"/>
                </a:cubicBezTo>
                <a:lnTo>
                  <a:pt x="0" y="18000"/>
                </a:lnTo>
                <a:lnTo>
                  <a:pt x="4500" y="18000"/>
                </a:lnTo>
                <a:lnTo>
                  <a:pt x="4500" y="16390"/>
                </a:lnTo>
                <a:cubicBezTo>
                  <a:pt x="4500" y="15560"/>
                  <a:pt x="4730" y="14780"/>
                  <a:pt x="5130" y="14100"/>
                </a:cubicBezTo>
                <a:close/>
                <a:moveTo>
                  <a:pt x="20000" y="13000"/>
                </a:moveTo>
                <a:cubicBezTo>
                  <a:pt x="21100" y="13000"/>
                  <a:pt x="22000" y="12100"/>
                  <a:pt x="22000" y="11000"/>
                </a:cubicBezTo>
                <a:cubicBezTo>
                  <a:pt x="22000" y="9900"/>
                  <a:pt x="21100" y="9000"/>
                  <a:pt x="20000" y="9000"/>
                </a:cubicBezTo>
                <a:cubicBezTo>
                  <a:pt x="18900" y="9000"/>
                  <a:pt x="18000" y="9900"/>
                  <a:pt x="18000" y="11000"/>
                </a:cubicBezTo>
                <a:cubicBezTo>
                  <a:pt x="18000" y="12100"/>
                  <a:pt x="18900" y="13000"/>
                  <a:pt x="20000" y="13000"/>
                </a:cubicBezTo>
                <a:close/>
                <a:moveTo>
                  <a:pt x="24000" y="16430"/>
                </a:moveTo>
                <a:cubicBezTo>
                  <a:pt x="24000" y="15620"/>
                  <a:pt x="23520" y="14900"/>
                  <a:pt x="22780" y="14580"/>
                </a:cubicBezTo>
                <a:cubicBezTo>
                  <a:pt x="21903" y="14197"/>
                  <a:pt x="20957" y="14000"/>
                  <a:pt x="20000" y="14000"/>
                </a:cubicBezTo>
                <a:cubicBezTo>
                  <a:pt x="19610" y="14000"/>
                  <a:pt x="19240" y="14040"/>
                  <a:pt x="18870" y="14100"/>
                </a:cubicBezTo>
                <a:cubicBezTo>
                  <a:pt x="19270" y="14780"/>
                  <a:pt x="19500" y="15560"/>
                  <a:pt x="19500" y="16390"/>
                </a:cubicBezTo>
                <a:lnTo>
                  <a:pt x="19500" y="18000"/>
                </a:lnTo>
                <a:lnTo>
                  <a:pt x="24000" y="18000"/>
                </a:lnTo>
                <a:lnTo>
                  <a:pt x="24000" y="16430"/>
                </a:lnTo>
                <a:close/>
                <a:moveTo>
                  <a:pt x="12000" y="6000"/>
                </a:moveTo>
                <a:cubicBezTo>
                  <a:pt x="13660" y="6000"/>
                  <a:pt x="15000" y="7340"/>
                  <a:pt x="15000" y="9000"/>
                </a:cubicBezTo>
                <a:cubicBezTo>
                  <a:pt x="15000" y="10660"/>
                  <a:pt x="13660" y="12000"/>
                  <a:pt x="12000" y="12000"/>
                </a:cubicBezTo>
                <a:cubicBezTo>
                  <a:pt x="10340" y="12000"/>
                  <a:pt x="9000" y="10660"/>
                  <a:pt x="9000" y="9000"/>
                </a:cubicBezTo>
                <a:cubicBezTo>
                  <a:pt x="9000" y="7340"/>
                  <a:pt x="10340" y="6000"/>
                  <a:pt x="12000" y="6000"/>
                </a:cubicBezTo>
                <a:close/>
              </a:path>
            </a:pathLst>
          </a:custGeom>
          <a:solidFill>
            <a:srgbClr val="595959"/>
          </a:solidFill>
          <a:ln>
            <a:noFill/>
          </a:ln>
          <a:effectLst/>
        </p:spPr>
        <p:txBody>
          <a:bodyPr rtlCol="0" anchor="ctr"/>
          <a:lstStyle/>
          <a:p/>
        </p:txBody>
      </p:sp>
      <p:sp>
        <p:nvSpPr>
          <p:cNvPr id="7" name="TextBox 6"/>
          <p:cNvSpPr txBox="1"/>
          <p:nvPr/>
        </p:nvSpPr>
        <p:spPr>
          <a:xfrm>
            <a:off x="457200" y="2788920"/>
            <a:ext cx="1508760" cy="777240"/>
          </a:xfrm>
          <a:prstGeom prst="rect">
            <a:avLst/>
          </a:prstGeom>
          <a:noFill/>
        </p:spPr>
        <p:txBody>
          <a:bodyPr wrap="square" lIns="0" rIns="0" tIns="18288" bIns="18288" anchor="t">
            <a:noAutofit/>
          </a:bodyPr>
          <a:lstStyle/>
          <a:p>
            <a:pPr algn="ctr"/>
            <a:r>
              <a:rPr sz="1200" b="1" i="0" lang="ko-KR" altLang="en-US">
                <a:solidFill>
                  <a:srgbClr val="262626"/>
                </a:solidFill>
                <a:latin typeface="LG스마트체 Regular"/>
                <a:ea typeface="LG스마트체 Regular"/>
                <a:cs typeface="LG스마트체 Regular"/>
              </a:rPr>
              <a:t>구성원</a:t>
            </a:r>
          </a:p>
          <a:p>
            <a:pPr algn="ctr"/>
            <a:r>
              <a:rPr sz="1200" b="1" i="0" lang="ko-KR" altLang="en-US">
                <a:solidFill>
                  <a:srgbClr val="262626"/>
                </a:solidFill>
                <a:latin typeface="LG스마트체 Regular"/>
                <a:ea typeface="LG스마트체 Regular"/>
                <a:cs typeface="LG스마트체 Regular"/>
              </a:rPr>
              <a:t>(사내망)</a:t>
            </a:r>
          </a:p>
          <a:p>
            <a:pPr algn="ctr"/>
            <a:r>
              <a:rPr sz="1000" b="0" i="0" lang="ko-KR" altLang="en-US">
                <a:solidFill>
                  <a:srgbClr val="595959"/>
                </a:solidFill>
                <a:latin typeface="LG스마트체 Regular"/>
                <a:ea typeface="LG스마트체 Regular"/>
                <a:cs typeface="LG스마트체 Regular"/>
              </a:rPr>
              <a:t>브라우저로 접속</a:t>
            </a:r>
          </a:p>
        </p:txBody>
      </p:sp>
      <p:sp>
        <p:nvSpPr>
          <p:cNvPr id="8" name="box2-server"/>
          <p:cNvSpPr/>
          <p:nvPr/>
        </p:nvSpPr>
        <p:spPr>
          <a:xfrm>
            <a:off x="2880360" y="1097280"/>
            <a:ext cx="2606040" cy="3657600"/>
          </a:xfrm>
          <a:prstGeom prst="roundRect">
            <a:avLst>
              <a:gd name="adj" fmla="val 4210"/>
            </a:avLst>
          </a:prstGeom>
          <a:noFill/>
          <a:ln w="22225">
            <a:solidFill>
              <a:srgbClr val="1F3864"/>
            </a:solidFill>
          </a:ln>
          <a:effectLst/>
        </p:spPr>
        <p:txBody>
          <a:bodyPr rtlCol="0" anchor="ctr"/>
          <a:lstStyle/>
          <a:p/>
        </p:txBody>
      </p:sp>
      <p:sp>
        <p:nvSpPr>
          <p:cNvPr id="9" name="icon-building"/>
          <p:cNvSpPr/>
          <p:nvPr/>
        </p:nvSpPr>
        <p:spPr>
          <a:xfrm>
            <a:off x="2999232" y="1207008"/>
            <a:ext cx="384048" cy="384048"/>
          </a:xfrm>
          <a:custGeom>
            <a:avLst/>
            <a:gdLst/>
            <a:ahLst/>
            <a:cxnLst/>
            <a:rect l="0" t="0" r="r" b="b"/>
            <a:pathLst>
              <a:path w="24000" h="24000" fill="none">
                <a:moveTo>
                  <a:pt x="3000" y="21000"/>
                </a:moveTo>
                <a:lnTo>
                  <a:pt x="21000" y="21000"/>
                </a:lnTo>
              </a:path>
              <a:path w="24000" h="24000" fill="none">
                <a:moveTo>
                  <a:pt x="5000" y="21000"/>
                </a:moveTo>
                <a:lnTo>
                  <a:pt x="5000" y="9000"/>
                </a:lnTo>
                <a:lnTo>
                  <a:pt x="10000" y="13000"/>
                </a:lnTo>
                <a:lnTo>
                  <a:pt x="10000" y="9000"/>
                </a:lnTo>
                <a:lnTo>
                  <a:pt x="15000" y="13000"/>
                </a:lnTo>
                <a:lnTo>
                  <a:pt x="19000" y="13000"/>
                </a:lnTo>
              </a:path>
              <a:path w="24000" h="24000" fill="none">
                <a:moveTo>
                  <a:pt x="19000" y="21000"/>
                </a:moveTo>
                <a:lnTo>
                  <a:pt x="19000" y="13000"/>
                </a:lnTo>
                <a:lnTo>
                  <a:pt x="17564" y="3426"/>
                </a:lnTo>
                <a:cubicBezTo>
                  <a:pt x="17527" y="3181"/>
                  <a:pt x="17317" y="3000"/>
                  <a:pt x="17069" y="3000"/>
                </a:cubicBezTo>
                <a:lnTo>
                  <a:pt x="15924" y="3000"/>
                </a:lnTo>
                <a:cubicBezTo>
                  <a:pt x="15679" y="3000"/>
                  <a:pt x="15470" y="3177"/>
                  <a:pt x="15430" y="3418"/>
                </a:cubicBezTo>
                <a:lnTo>
                  <a:pt x="14000" y="12000"/>
                </a:lnTo>
              </a:path>
              <a:path w="24000" h="24000" fill="none">
                <a:moveTo>
                  <a:pt x="9000" y="17000"/>
                </a:moveTo>
                <a:lnTo>
                  <a:pt x="10000" y="17000"/>
                </a:lnTo>
              </a:path>
              <a:path w="24000" h="24000" fill="none">
                <a:moveTo>
                  <a:pt x="14000" y="17000"/>
                </a:moveTo>
                <a:lnTo>
                  <a:pt x="15000" y="17000"/>
                </a:lnTo>
              </a:path>
            </a:pathLst>
          </a:custGeom>
          <a:solidFill>
            <a:srgbClr val="1F3864"/>
          </a:solidFill>
          <a:ln w="12700">
            <a:solidFill>
              <a:srgbClr val="1F3864"/>
            </a:solidFill>
          </a:ln>
          <a:effectLst/>
        </p:spPr>
        <p:txBody>
          <a:bodyPr rtlCol="0" anchor="ctr"/>
          <a:lstStyle/>
          <a:p/>
        </p:txBody>
      </p:sp>
      <p:sp>
        <p:nvSpPr>
          <p:cNvPr id="10" name="TextBox 9"/>
          <p:cNvSpPr txBox="1"/>
          <p:nvPr/>
        </p:nvSpPr>
        <p:spPr>
          <a:xfrm>
            <a:off x="3474720" y="1188720"/>
            <a:ext cx="1965960" cy="457200"/>
          </a:xfrm>
          <a:prstGeom prst="rect">
            <a:avLst/>
          </a:prstGeom>
          <a:noFill/>
        </p:spPr>
        <p:txBody>
          <a:bodyPr wrap="square" lIns="0" rIns="0" tIns="18288" bIns="18288" anchor="t">
            <a:noAutofit/>
          </a:bodyPr>
          <a:lstStyle/>
          <a:p>
            <a:pPr algn="l"/>
            <a:r>
              <a:rPr sz="1200" b="1" i="0" lang="ko-KR" altLang="en-US">
                <a:solidFill>
                  <a:srgbClr val="1F3864"/>
                </a:solidFill>
                <a:latin typeface="LG스마트체 Regular"/>
                <a:ea typeface="LG스마트체 Regular"/>
                <a:cs typeface="LG스마트체 Regular"/>
              </a:rPr>
              <a:t>회사 서버</a:t>
            </a:r>
          </a:p>
          <a:p>
            <a:pPr algn="l"/>
            <a:r>
              <a:rPr sz="1000" b="0" i="0" lang="ko-KR" altLang="en-US">
                <a:solidFill>
                  <a:srgbClr val="595959"/>
                </a:solidFill>
                <a:latin typeface="LG스마트체 Regular"/>
                <a:ea typeface="LG스마트체 Regular"/>
                <a:cs typeface="LG스마트체 Regular"/>
              </a:rPr>
              <a:t>DAVINCI Sandbox (OC 분석과제)</a:t>
            </a:r>
          </a:p>
        </p:txBody>
      </p:sp>
      <p:sp>
        <p:nvSpPr>
          <p:cNvPr id="11" name="qtag-① 어디서?"/>
          <p:cNvSpPr/>
          <p:nvPr/>
        </p:nvSpPr>
        <p:spPr>
          <a:xfrm>
            <a:off x="4526280" y="969264"/>
            <a:ext cx="914400" cy="256032"/>
          </a:xfrm>
          <a:prstGeom prst="roundRect">
            <a:avLst>
              <a:gd name="adj" fmla="val 50000"/>
            </a:avLst>
          </a:prstGeom>
          <a:solidFill>
            <a:srgbClr val="1F3864"/>
          </a:solidFill>
          <a:ln>
            <a:noFill/>
          </a:ln>
          <a:effectLst/>
        </p:spPr>
        <p:txBody>
          <a:bodyPr rtlCol="0" anchor="ctr" wrap="square" lIns="18288" rIns="18288" tIns="18288" bIns="18288">
            <a:noAutofit/>
          </a:bodyPr>
          <a:lstStyle/>
          <a:p>
            <a:pPr algn="ctr"/>
            <a:r>
              <a:rPr sz="1000" b="1" i="0" lang="ko-KR" altLang="en-US">
                <a:solidFill>
                  <a:srgbClr val="FFFFFF"/>
                </a:solidFill>
                <a:latin typeface="LG스마트체 Regular"/>
                <a:ea typeface="LG스마트체 Regular"/>
                <a:cs typeface="LG스마트체 Regular"/>
              </a:rPr>
              <a:t>① 어디서?</a:t>
            </a:r>
          </a:p>
        </p:txBody>
      </p:sp>
      <p:sp>
        <p:nvSpPr>
          <p:cNvPr id="12" name="chip-confirmed"/>
          <p:cNvSpPr/>
          <p:nvPr/>
        </p:nvSpPr>
        <p:spPr>
          <a:xfrm>
            <a:off x="2999232" y="1737360"/>
            <a:ext cx="2377440" cy="438912"/>
          </a:xfrm>
          <a:prstGeom prst="roundRect">
            <a:avLst>
              <a:gd name="adj" fmla="val 10416"/>
            </a:avLst>
          </a:prstGeom>
          <a:solidFill>
            <a:srgbClr val="EEF2F8"/>
          </a:solidFill>
          <a:ln w="12700">
            <a:solidFill>
              <a:srgbClr val="1F3864"/>
            </a:solidFill>
          </a:ln>
          <a:effectLst/>
        </p:spPr>
        <p:txBody>
          <a:bodyPr rtlCol="0" anchor="ctr" wrap="square" lIns="64008" rIns="64008" tIns="18288" bIns="18288">
            <a:noAutofit/>
          </a:bodyPr>
          <a:lstStyle/>
          <a:p>
            <a:pPr algn="l"/>
            <a:r>
              <a:rPr sz="1000" b="1" i="0" lang="ko-KR" altLang="en-US">
                <a:solidFill>
                  <a:srgbClr val="1F3864"/>
                </a:solidFill>
                <a:latin typeface="LG스마트체 Regular"/>
                <a:ea typeface="LG스마트체 Regular"/>
                <a:cs typeface="LG스마트체 Regular"/>
              </a:rPr>
              <a:t>✓ 확정: </a:t>
            </a:r>
            <a:r>
              <a:rPr sz="1000" b="0" i="0" lang="ko-KR" altLang="en-US">
                <a:solidFill>
                  <a:srgbClr val="262626"/>
                </a:solidFill>
                <a:latin typeface="LG스마트체 Regular"/>
                <a:ea typeface="LG스마트체 Regular"/>
                <a:cs typeface="LG스마트체 Regular"/>
              </a:rPr>
              <a:t>OC 법인 · 분석과제 신청</a:t>
            </a:r>
          </a:p>
        </p:txBody>
      </p:sp>
      <p:sp>
        <p:nvSpPr>
          <p:cNvPr id="13" name="chip-server-alloc"/>
          <p:cNvSpPr/>
          <p:nvPr/>
        </p:nvSpPr>
        <p:spPr>
          <a:xfrm>
            <a:off x="2999232" y="2249424"/>
            <a:ext cx="2377440" cy="438912"/>
          </a:xfrm>
          <a:prstGeom prst="roundRect">
            <a:avLst>
              <a:gd name="adj" fmla="val 10416"/>
            </a:avLst>
          </a:prstGeom>
          <a:solidFill>
            <a:srgbClr val="FFF5EB"/>
          </a:solidFill>
          <a:ln w="12700">
            <a:solidFill>
              <a:srgbClr val="C55A11"/>
            </a:solidFill>
            <a:prstDash val="dash"/>
          </a:ln>
          <a:effectLst/>
        </p:spPr>
        <p:txBody>
          <a:bodyPr rtlCol="0" anchor="ctr" wrap="square" lIns="64008" rIns="64008" tIns="18288" bIns="18288">
            <a:noAutofit/>
          </a:bodyPr>
          <a:lstStyle/>
          <a:p>
            <a:pPr algn="l"/>
            <a:r>
              <a:rPr sz="1000" b="1" i="0" lang="ko-KR" altLang="en-US">
                <a:solidFill>
                  <a:srgbClr val="C55A11"/>
                </a:solidFill>
                <a:latin typeface="LG스마트체 Regular"/>
                <a:ea typeface="LG스마트체 Regular"/>
                <a:cs typeface="LG스마트체 Regular"/>
              </a:rPr>
              <a:t>… 확인 중: </a:t>
            </a:r>
            <a:r>
              <a:rPr sz="1000" b="0" i="0" lang="ko-KR" altLang="en-US">
                <a:solidFill>
                  <a:srgbClr val="262626"/>
                </a:solidFill>
                <a:latin typeface="LG스마트체 Regular"/>
                <a:ea typeface="LG스마트체 Regular"/>
                <a:cs typeface="LG스마트체 Regular"/>
              </a:rPr>
              <a:t>서버 사양 할당 (8코어·32GB 요청)</a:t>
            </a:r>
          </a:p>
        </p:txBody>
      </p:sp>
      <p:sp>
        <p:nvSpPr>
          <p:cNvPr id="14" name="box3-storage"/>
          <p:cNvSpPr/>
          <p:nvPr/>
        </p:nvSpPr>
        <p:spPr>
          <a:xfrm>
            <a:off x="2999232" y="2852928"/>
            <a:ext cx="2377440" cy="1783080"/>
          </a:xfrm>
          <a:prstGeom prst="roundRect">
            <a:avLst>
              <a:gd name="adj" fmla="val 4102"/>
            </a:avLst>
          </a:prstGeom>
          <a:solidFill>
            <a:srgbClr val="EEF2F8"/>
          </a:solidFill>
          <a:ln w="15875">
            <a:solidFill>
              <a:srgbClr val="1F3864"/>
            </a:solidFill>
          </a:ln>
          <a:effectLst/>
        </p:spPr>
        <p:txBody>
          <a:bodyPr rtlCol="0" anchor="ctr"/>
          <a:lstStyle/>
          <a:p/>
        </p:txBody>
      </p:sp>
      <p:sp>
        <p:nvSpPr>
          <p:cNvPr id="15" name="icon-database"/>
          <p:cNvSpPr/>
          <p:nvPr/>
        </p:nvSpPr>
        <p:spPr>
          <a:xfrm>
            <a:off x="3108960" y="2971800"/>
            <a:ext cx="347472" cy="347472"/>
          </a:xfrm>
          <a:custGeom>
            <a:avLst/>
            <a:gdLst/>
            <a:ahLst/>
            <a:cxnLst/>
            <a:rect l="0" t="0" r="r" b="b"/>
            <a:pathLst>
              <a:path w="24000" h="24000" fill="none">
                <a:moveTo>
                  <a:pt x="12000" y="6000"/>
                </a:moveTo>
                <a:moveTo>
                  <a:pt x="4000" y="6000"/>
                </a:moveTo>
                <a:cubicBezTo>
                  <a:pt x="4000" y="7657"/>
                  <a:pt x="7582" y="9000"/>
                  <a:pt x="12000" y="9000"/>
                </a:cubicBezTo>
                <a:cubicBezTo>
                  <a:pt x="16418" y="9000"/>
                  <a:pt x="20000" y="7657"/>
                  <a:pt x="20000" y="6000"/>
                </a:cubicBezTo>
                <a:cubicBezTo>
                  <a:pt x="20000" y="4343"/>
                  <a:pt x="16418" y="3000"/>
                  <a:pt x="12000" y="3000"/>
                </a:cubicBezTo>
                <a:cubicBezTo>
                  <a:pt x="7582" y="3000"/>
                  <a:pt x="4000" y="4343"/>
                  <a:pt x="4000" y="6000"/>
                </a:cubicBezTo>
              </a:path>
              <a:path w="24000" h="24000" fill="none">
                <a:moveTo>
                  <a:pt x="4000" y="6000"/>
                </a:moveTo>
                <a:lnTo>
                  <a:pt x="4000" y="12000"/>
                </a:lnTo>
                <a:cubicBezTo>
                  <a:pt x="4000" y="13657"/>
                  <a:pt x="7582" y="15000"/>
                  <a:pt x="12000" y="15000"/>
                </a:cubicBezTo>
                <a:cubicBezTo>
                  <a:pt x="16418" y="15000"/>
                  <a:pt x="20000" y="13657"/>
                  <a:pt x="20000" y="12000"/>
                </a:cubicBezTo>
                <a:lnTo>
                  <a:pt x="20000" y="6000"/>
                </a:lnTo>
              </a:path>
              <a:path w="24000" h="24000" fill="none">
                <a:moveTo>
                  <a:pt x="4000" y="12000"/>
                </a:moveTo>
                <a:lnTo>
                  <a:pt x="4000" y="18000"/>
                </a:lnTo>
                <a:cubicBezTo>
                  <a:pt x="4000" y="19657"/>
                  <a:pt x="7582" y="21000"/>
                  <a:pt x="12000" y="21000"/>
                </a:cubicBezTo>
                <a:cubicBezTo>
                  <a:pt x="16418" y="21000"/>
                  <a:pt x="20000" y="19657"/>
                  <a:pt x="20000" y="18000"/>
                </a:cubicBezTo>
                <a:lnTo>
                  <a:pt x="20000" y="12000"/>
                </a:lnTo>
              </a:path>
            </a:pathLst>
          </a:custGeom>
          <a:solidFill>
            <a:srgbClr val="1F3864"/>
          </a:solidFill>
          <a:ln w="12700">
            <a:solidFill>
              <a:srgbClr val="1F3864"/>
            </a:solidFill>
          </a:ln>
          <a:effectLst/>
        </p:spPr>
        <p:txBody>
          <a:bodyPr rtlCol="0" anchor="ctr"/>
          <a:lstStyle/>
          <a:p/>
        </p:txBody>
      </p:sp>
      <p:sp>
        <p:nvSpPr>
          <p:cNvPr id="16" name="TextBox 15"/>
          <p:cNvSpPr txBox="1"/>
          <p:nvPr/>
        </p:nvSpPr>
        <p:spPr>
          <a:xfrm>
            <a:off x="3529584" y="2944368"/>
            <a:ext cx="1810512" cy="475488"/>
          </a:xfrm>
          <a:prstGeom prst="rect">
            <a:avLst/>
          </a:prstGeom>
          <a:noFill/>
        </p:spPr>
        <p:txBody>
          <a:bodyPr wrap="square" lIns="0" rIns="0" tIns="18288" bIns="18288" anchor="t">
            <a:noAutofit/>
          </a:bodyPr>
          <a:lstStyle/>
          <a:p>
            <a:pPr algn="l"/>
            <a:r>
              <a:rPr sz="1200" b="1" i="0" lang="ko-KR" altLang="en-US">
                <a:solidFill>
                  <a:srgbClr val="1F3864"/>
                </a:solidFill>
                <a:latin typeface="LG스마트체 Regular"/>
                <a:ea typeface="LG스마트체 Regular"/>
                <a:cs typeface="LG스마트체 Regular"/>
              </a:rPr>
              <a:t>서버 안 저장소</a:t>
            </a:r>
          </a:p>
          <a:p>
            <a:pPr algn="l"/>
            <a:r>
              <a:rPr sz="1000" b="0" i="0" lang="ko-KR" altLang="en-US">
                <a:solidFill>
                  <a:srgbClr val="262626"/>
                </a:solidFill>
                <a:latin typeface="LG스마트체 Regular"/>
                <a:ea typeface="LG스마트체 Regular"/>
                <a:cs typeface="LG스마트체 Regular"/>
              </a:rPr>
              <a:t>업무 기록 · 첨부 · 보고서</a:t>
            </a:r>
          </a:p>
        </p:txBody>
      </p:sp>
      <p:sp>
        <p:nvSpPr>
          <p:cNvPr id="17" name="qtag-② 데이터는?"/>
          <p:cNvSpPr/>
          <p:nvPr/>
        </p:nvSpPr>
        <p:spPr>
          <a:xfrm>
            <a:off x="4343400" y="2734056"/>
            <a:ext cx="987552" cy="256032"/>
          </a:xfrm>
          <a:prstGeom prst="roundRect">
            <a:avLst>
              <a:gd name="adj" fmla="val 50000"/>
            </a:avLst>
          </a:prstGeom>
          <a:solidFill>
            <a:srgbClr val="1F3864"/>
          </a:solidFill>
          <a:ln>
            <a:noFill/>
          </a:ln>
          <a:effectLst/>
        </p:spPr>
        <p:txBody>
          <a:bodyPr rtlCol="0" anchor="ctr" wrap="square" lIns="18288" rIns="18288" tIns="18288" bIns="18288">
            <a:noAutofit/>
          </a:bodyPr>
          <a:lstStyle/>
          <a:p>
            <a:pPr algn="ctr"/>
            <a:r>
              <a:rPr sz="1000" b="1" i="0" lang="ko-KR" altLang="en-US">
                <a:solidFill>
                  <a:srgbClr val="FFFFFF"/>
                </a:solidFill>
                <a:latin typeface="LG스마트체 Regular"/>
                <a:ea typeface="LG스마트체 Regular"/>
                <a:cs typeface="LG스마트체 Regular"/>
              </a:rPr>
              <a:t>② 데이터는?</a:t>
            </a:r>
          </a:p>
        </p:txBody>
      </p:sp>
      <p:sp>
        <p:nvSpPr>
          <p:cNvPr id="18" name="chip-disk"/>
          <p:cNvSpPr/>
          <p:nvPr/>
        </p:nvSpPr>
        <p:spPr>
          <a:xfrm>
            <a:off x="3108960" y="3657600"/>
            <a:ext cx="2157984" cy="603504"/>
          </a:xfrm>
          <a:prstGeom prst="roundRect">
            <a:avLst>
              <a:gd name="adj" fmla="val 7575"/>
            </a:avLst>
          </a:prstGeom>
          <a:solidFill>
            <a:srgbClr val="FFF5EB"/>
          </a:solidFill>
          <a:ln w="12700">
            <a:solidFill>
              <a:srgbClr val="C55A11"/>
            </a:solidFill>
            <a:prstDash val="dash"/>
          </a:ln>
          <a:effectLst/>
        </p:spPr>
        <p:txBody>
          <a:bodyPr rtlCol="0" anchor="ctr" wrap="square" lIns="64008" rIns="64008" tIns="18288" bIns="18288">
            <a:noAutofit/>
          </a:bodyPr>
          <a:lstStyle/>
          <a:p>
            <a:pPr algn="l"/>
            <a:r>
              <a:rPr sz="1000" b="1" i="0" lang="ko-KR" altLang="en-US">
                <a:solidFill>
                  <a:srgbClr val="C55A11"/>
                </a:solidFill>
                <a:latin typeface="LG스마트체 Regular"/>
                <a:ea typeface="LG스마트체 Regular"/>
                <a:cs typeface="LG스마트체 Regular"/>
              </a:rPr>
              <a:t>… 확인 중: </a:t>
            </a:r>
            <a:r>
              <a:rPr sz="1000" b="0" i="0" lang="ko-KR" altLang="en-US">
                <a:solidFill>
                  <a:srgbClr val="262626"/>
                </a:solidFill>
                <a:latin typeface="LG스마트체 Regular"/>
                <a:ea typeface="LG스마트체 Regular"/>
                <a:cs typeface="LG스마트체 Regular"/>
              </a:rPr>
              <a:t>1TB로 시작, 최대 4TB (다빈치 회신 '가능할 것')</a:t>
            </a:r>
          </a:p>
        </p:txBody>
      </p:sp>
      <p:sp>
        <p:nvSpPr>
          <p:cNvPr id="19" name="box4-ai"/>
          <p:cNvSpPr/>
          <p:nvPr/>
        </p:nvSpPr>
        <p:spPr>
          <a:xfrm>
            <a:off x="6217920" y="1097280"/>
            <a:ext cx="1737360" cy="1828800"/>
          </a:xfrm>
          <a:prstGeom prst="roundRect">
            <a:avLst>
              <a:gd name="adj" fmla="val 5263"/>
            </a:avLst>
          </a:prstGeom>
          <a:noFill/>
          <a:ln w="15875">
            <a:solidFill>
              <a:srgbClr val="C55A11"/>
            </a:solidFill>
            <a:prstDash val="dash"/>
          </a:ln>
          <a:effectLst/>
        </p:spPr>
        <p:txBody>
          <a:bodyPr rtlCol="0" anchor="ctr"/>
          <a:lstStyle/>
          <a:p/>
        </p:txBody>
      </p:sp>
      <p:sp>
        <p:nvSpPr>
          <p:cNvPr id="20" name="icon-ai"/>
          <p:cNvSpPr/>
          <p:nvPr/>
        </p:nvSpPr>
        <p:spPr>
          <a:xfrm>
            <a:off x="6327648" y="1197864"/>
            <a:ext cx="365760" cy="365760"/>
          </a:xfrm>
          <a:custGeom>
            <a:avLst/>
            <a:gdLst/>
            <a:ahLst/>
            <a:cxnLst/>
            <a:rect l="0" t="0" r="r" b="b"/>
            <a:pathLst>
              <a:path w="24000" h="24000" fill="none">
                <a:moveTo>
                  <a:pt x="15500" y="13000"/>
                </a:moveTo>
                <a:cubicBezTo>
                  <a:pt x="13567" y="13000"/>
                  <a:pt x="12000" y="14567"/>
                  <a:pt x="12000" y="16500"/>
                </a:cubicBezTo>
                <a:lnTo>
                  <a:pt x="12000" y="17500"/>
                </a:lnTo>
                <a:cubicBezTo>
                  <a:pt x="12000" y="19433"/>
                  <a:pt x="13567" y="21000"/>
                  <a:pt x="15500" y="21000"/>
                </a:cubicBezTo>
                <a:cubicBezTo>
                  <a:pt x="17433" y="21000"/>
                  <a:pt x="19000" y="19433"/>
                  <a:pt x="19000" y="17500"/>
                </a:cubicBezTo>
                <a:lnTo>
                  <a:pt x="19000" y="15700"/>
                </a:lnTo>
              </a:path>
              <a:path w="24000" h="24000" fill="none">
                <a:moveTo>
                  <a:pt x="8500" y="13000"/>
                </a:moveTo>
                <a:cubicBezTo>
                  <a:pt x="10433" y="13000"/>
                  <a:pt x="12000" y="14567"/>
                  <a:pt x="12000" y="16500"/>
                </a:cubicBezTo>
                <a:lnTo>
                  <a:pt x="12000" y="17500"/>
                </a:lnTo>
                <a:cubicBezTo>
                  <a:pt x="12000" y="19433"/>
                  <a:pt x="10433" y="21000"/>
                  <a:pt x="8500" y="21000"/>
                </a:cubicBezTo>
                <a:cubicBezTo>
                  <a:pt x="6567" y="21000"/>
                  <a:pt x="5000" y="19433"/>
                  <a:pt x="5000" y="17500"/>
                </a:cubicBezTo>
                <a:lnTo>
                  <a:pt x="5000" y="15700"/>
                </a:lnTo>
              </a:path>
              <a:path w="24000" h="24000" fill="none">
                <a:moveTo>
                  <a:pt x="17500" y="16000"/>
                </a:moveTo>
                <a:cubicBezTo>
                  <a:pt x="19433" y="16000"/>
                  <a:pt x="21000" y="14433"/>
                  <a:pt x="21000" y="12500"/>
                </a:cubicBezTo>
                <a:cubicBezTo>
                  <a:pt x="21000" y="10567"/>
                  <a:pt x="19433" y="9000"/>
                  <a:pt x="17500" y="9000"/>
                </a:cubicBezTo>
                <a:lnTo>
                  <a:pt x="17000" y="9000"/>
                </a:lnTo>
              </a:path>
              <a:path w="24000" h="24000" fill="none">
                <a:moveTo>
                  <a:pt x="19000" y="9300"/>
                </a:moveTo>
                <a:lnTo>
                  <a:pt x="19000" y="6500"/>
                </a:lnTo>
                <a:cubicBezTo>
                  <a:pt x="19000" y="4567"/>
                  <a:pt x="17433" y="3000"/>
                  <a:pt x="15500" y="3000"/>
                </a:cubicBezTo>
                <a:cubicBezTo>
                  <a:pt x="13567" y="3000"/>
                  <a:pt x="12000" y="4567"/>
                  <a:pt x="12000" y="6500"/>
                </a:cubicBezTo>
              </a:path>
              <a:path w="24000" h="24000" fill="none">
                <a:moveTo>
                  <a:pt x="6500" y="16000"/>
                </a:moveTo>
                <a:cubicBezTo>
                  <a:pt x="4567" y="16000"/>
                  <a:pt x="3000" y="14433"/>
                  <a:pt x="3000" y="12500"/>
                </a:cubicBezTo>
                <a:cubicBezTo>
                  <a:pt x="3000" y="10567"/>
                  <a:pt x="4567" y="9000"/>
                  <a:pt x="6500" y="9000"/>
                </a:cubicBezTo>
                <a:lnTo>
                  <a:pt x="7000" y="9000"/>
                </a:lnTo>
              </a:path>
              <a:path w="24000" h="24000" fill="none">
                <a:moveTo>
                  <a:pt x="5000" y="9300"/>
                </a:moveTo>
                <a:lnTo>
                  <a:pt x="5000" y="6500"/>
                </a:lnTo>
                <a:cubicBezTo>
                  <a:pt x="5000" y="4567"/>
                  <a:pt x="6567" y="3000"/>
                  <a:pt x="8500" y="3000"/>
                </a:cubicBezTo>
                <a:cubicBezTo>
                  <a:pt x="10433" y="3000"/>
                  <a:pt x="12000" y="4567"/>
                  <a:pt x="12000" y="6500"/>
                </a:cubicBezTo>
                <a:lnTo>
                  <a:pt x="12000" y="16500"/>
                </a:lnTo>
              </a:path>
            </a:pathLst>
          </a:custGeom>
          <a:solidFill>
            <a:srgbClr val="1F3864"/>
          </a:solidFill>
          <a:ln w="12700">
            <a:solidFill>
              <a:srgbClr val="1F3864"/>
            </a:solidFill>
          </a:ln>
          <a:effectLst/>
        </p:spPr>
        <p:txBody>
          <a:bodyPr rtlCol="0" anchor="ctr"/>
          <a:lstStyle/>
          <a:p/>
        </p:txBody>
      </p:sp>
      <p:sp>
        <p:nvSpPr>
          <p:cNvPr id="21" name="TextBox 20"/>
          <p:cNvSpPr txBox="1"/>
          <p:nvPr/>
        </p:nvSpPr>
        <p:spPr>
          <a:xfrm>
            <a:off x="6748272" y="1179576"/>
            <a:ext cx="1188720" cy="438912"/>
          </a:xfrm>
          <a:prstGeom prst="rect">
            <a:avLst/>
          </a:prstGeom>
          <a:noFill/>
        </p:spPr>
        <p:txBody>
          <a:bodyPr wrap="square" lIns="0" rIns="0" tIns="18288" bIns="18288" anchor="t">
            <a:noAutofit/>
          </a:bodyPr>
          <a:lstStyle/>
          <a:p>
            <a:pPr algn="l"/>
            <a:r>
              <a:rPr sz="1200" b="1" i="0" lang="ko-KR" altLang="en-US">
                <a:solidFill>
                  <a:srgbClr val="262626"/>
                </a:solidFill>
                <a:latin typeface="LG스마트체 Regular"/>
                <a:ea typeface="LG스마트체 Regular"/>
                <a:cs typeface="LG스마트체 Regular"/>
              </a:rPr>
              <a:t>사내 AI</a:t>
            </a:r>
          </a:p>
          <a:p>
            <a:pPr algn="l"/>
            <a:r>
              <a:rPr sz="1000" b="0" i="0" lang="ko-KR" altLang="en-US">
                <a:solidFill>
                  <a:srgbClr val="595959"/>
                </a:solidFill>
                <a:latin typeface="LG스마트체 Regular"/>
                <a:ea typeface="LG스마트체 Regular"/>
                <a:cs typeface="LG스마트체 Regular"/>
              </a:rPr>
              <a:t>(EXAONE)</a:t>
            </a:r>
          </a:p>
        </p:txBody>
      </p:sp>
      <p:sp>
        <p:nvSpPr>
          <p:cNvPr id="22" name="chip-ai-ok"/>
          <p:cNvSpPr/>
          <p:nvPr/>
        </p:nvSpPr>
        <p:spPr>
          <a:xfrm>
            <a:off x="6309360" y="1700784"/>
            <a:ext cx="1554480" cy="512064"/>
          </a:xfrm>
          <a:prstGeom prst="roundRect">
            <a:avLst>
              <a:gd name="adj" fmla="val 8928"/>
            </a:avLst>
          </a:prstGeom>
          <a:solidFill>
            <a:srgbClr val="EAF4EA"/>
          </a:solidFill>
          <a:ln w="12700">
            <a:solidFill>
              <a:srgbClr val="2E7D32"/>
            </a:solidFill>
          </a:ln>
          <a:effectLst/>
        </p:spPr>
        <p:txBody>
          <a:bodyPr rtlCol="0" anchor="ctr" wrap="square" lIns="64008" rIns="64008" tIns="18288" bIns="18288">
            <a:noAutofit/>
          </a:bodyPr>
          <a:lstStyle/>
          <a:p>
            <a:pPr algn="l"/>
            <a:r>
              <a:rPr sz="1000" b="1" i="0" lang="ko-KR" altLang="en-US">
                <a:solidFill>
                  <a:srgbClr val="2E7D32"/>
                </a:solidFill>
                <a:latin typeface="LG스마트체 Regular"/>
                <a:ea typeface="LG스마트체 Regular"/>
                <a:cs typeface="LG스마트체 Regular"/>
              </a:rPr>
              <a:t>✓ 개인 PC 연결 정상</a:t>
            </a:r>
            <a:r>
              <a:rPr sz="1000" b="0" i="0" lang="ko-KR" altLang="en-US">
                <a:solidFill>
                  <a:srgbClr val="262626"/>
                </a:solidFill>
                <a:latin typeface="LG스마트체 Regular"/>
                <a:ea typeface="LG스마트체 Regular"/>
                <a:cs typeface="LG스마트체 Regular"/>
              </a:rPr>
              <a:t> (사용자 확인)</a:t>
            </a:r>
          </a:p>
        </p:txBody>
      </p:sp>
      <p:sp>
        <p:nvSpPr>
          <p:cNvPr id="23" name="chip-ai-path"/>
          <p:cNvSpPr/>
          <p:nvPr/>
        </p:nvSpPr>
        <p:spPr>
          <a:xfrm>
            <a:off x="6309360" y="2286000"/>
            <a:ext cx="1554480" cy="548640"/>
          </a:xfrm>
          <a:prstGeom prst="roundRect">
            <a:avLst>
              <a:gd name="adj" fmla="val 8333"/>
            </a:avLst>
          </a:prstGeom>
          <a:solidFill>
            <a:srgbClr val="FFF5EB"/>
          </a:solidFill>
          <a:ln w="12700">
            <a:solidFill>
              <a:srgbClr val="C55A11"/>
            </a:solidFill>
            <a:prstDash val="dash"/>
          </a:ln>
          <a:effectLst/>
        </p:spPr>
        <p:txBody>
          <a:bodyPr rtlCol="0" anchor="ctr" wrap="square" lIns="64008" rIns="64008" tIns="18288" bIns="18288">
            <a:noAutofit/>
          </a:bodyPr>
          <a:lstStyle/>
          <a:p>
            <a:pPr algn="l"/>
            <a:r>
              <a:rPr sz="1000" b="1" i="0" lang="ko-KR" altLang="en-US">
                <a:solidFill>
                  <a:srgbClr val="C55A11"/>
                </a:solidFill>
                <a:latin typeface="LG스마트체 Regular"/>
                <a:ea typeface="LG스마트체 Regular"/>
                <a:cs typeface="LG스마트체 Regular"/>
              </a:rPr>
              <a:t>… 확인 중: </a:t>
            </a:r>
            <a:r>
              <a:rPr sz="1000" b="0" i="0" lang="ko-KR" altLang="en-US">
                <a:solidFill>
                  <a:srgbClr val="262626"/>
                </a:solidFill>
                <a:latin typeface="LG스마트체 Regular"/>
                <a:ea typeface="LG스마트체 Regular"/>
                <a:cs typeface="LG스마트체 Regular"/>
              </a:rPr>
              <a:t>회사 서버에서의 연결 경로</a:t>
            </a:r>
          </a:p>
        </p:txBody>
      </p:sp>
      <p:sp>
        <p:nvSpPr>
          <p:cNvPr id="24" name="box5-backup"/>
          <p:cNvSpPr/>
          <p:nvPr/>
        </p:nvSpPr>
        <p:spPr>
          <a:xfrm>
            <a:off x="6217920" y="3154680"/>
            <a:ext cx="1737360" cy="1600200"/>
          </a:xfrm>
          <a:prstGeom prst="roundRect">
            <a:avLst>
              <a:gd name="adj" fmla="val 5714"/>
            </a:avLst>
          </a:prstGeom>
          <a:solidFill>
            <a:srgbClr val="FFF5EB"/>
          </a:solidFill>
          <a:ln w="15875">
            <a:solidFill>
              <a:srgbClr val="C55A11"/>
            </a:solidFill>
            <a:prstDash val="dash"/>
          </a:ln>
          <a:effectLst/>
        </p:spPr>
        <p:txBody>
          <a:bodyPr rtlCol="0" anchor="ctr"/>
          <a:lstStyle/>
          <a:p/>
        </p:txBody>
      </p:sp>
      <p:sp>
        <p:nvSpPr>
          <p:cNvPr id="25" name="icon-backup"/>
          <p:cNvSpPr/>
          <p:nvPr/>
        </p:nvSpPr>
        <p:spPr>
          <a:xfrm>
            <a:off x="6327648" y="3255264"/>
            <a:ext cx="365760" cy="365760"/>
          </a:xfrm>
          <a:custGeom>
            <a:avLst/>
            <a:gdLst/>
            <a:ahLst/>
            <a:cxnLst/>
            <a:rect l="0" t="0" r="r" b="b"/>
            <a:pathLst>
              <a:path w="24000" h="24000" stroke="0">
                <a:moveTo>
                  <a:pt x="19350" y="10040"/>
                </a:moveTo>
                <a:cubicBezTo>
                  <a:pt x="18657" y="6529"/>
                  <a:pt x="15578" y="3999"/>
                  <a:pt x="12000" y="4000"/>
                </a:cubicBezTo>
                <a:cubicBezTo>
                  <a:pt x="9110" y="4000"/>
                  <a:pt x="6600" y="5640"/>
                  <a:pt x="5350" y="8040"/>
                </a:cubicBezTo>
                <a:cubicBezTo>
                  <a:pt x="2306" y="8369"/>
                  <a:pt x="0" y="10939"/>
                  <a:pt x="0" y="14000"/>
                </a:cubicBezTo>
                <a:cubicBezTo>
                  <a:pt x="0" y="17310"/>
                  <a:pt x="2690" y="20000"/>
                  <a:pt x="6000" y="20000"/>
                </a:cubicBezTo>
                <a:lnTo>
                  <a:pt x="19000" y="20000"/>
                </a:lnTo>
                <a:cubicBezTo>
                  <a:pt x="21760" y="20000"/>
                  <a:pt x="24000" y="17760"/>
                  <a:pt x="24000" y="15000"/>
                </a:cubicBezTo>
                <a:cubicBezTo>
                  <a:pt x="24000" y="12360"/>
                  <a:pt x="21950" y="10220"/>
                  <a:pt x="19350" y="10040"/>
                </a:cubicBezTo>
                <a:close/>
                <a:moveTo>
                  <a:pt x="14000" y="13000"/>
                </a:moveTo>
                <a:lnTo>
                  <a:pt x="14000" y="17000"/>
                </a:lnTo>
                <a:lnTo>
                  <a:pt x="10000" y="17000"/>
                </a:lnTo>
                <a:lnTo>
                  <a:pt x="10000" y="13000"/>
                </a:lnTo>
                <a:lnTo>
                  <a:pt x="7000" y="13000"/>
                </a:lnTo>
                <a:lnTo>
                  <a:pt x="12000" y="8000"/>
                </a:lnTo>
                <a:lnTo>
                  <a:pt x="17000" y="13000"/>
                </a:lnTo>
                <a:lnTo>
                  <a:pt x="14000" y="13000"/>
                </a:lnTo>
                <a:close/>
              </a:path>
            </a:pathLst>
          </a:custGeom>
          <a:solidFill>
            <a:srgbClr val="595959"/>
          </a:solidFill>
          <a:ln>
            <a:noFill/>
          </a:ln>
          <a:effectLst/>
        </p:spPr>
        <p:txBody>
          <a:bodyPr rtlCol="0" anchor="ctr"/>
          <a:lstStyle/>
          <a:p/>
        </p:txBody>
      </p:sp>
      <p:sp>
        <p:nvSpPr>
          <p:cNvPr id="26" name="TextBox 25"/>
          <p:cNvSpPr txBox="1"/>
          <p:nvPr/>
        </p:nvSpPr>
        <p:spPr>
          <a:xfrm>
            <a:off x="6748272" y="3236976"/>
            <a:ext cx="1188720" cy="438912"/>
          </a:xfrm>
          <a:prstGeom prst="rect">
            <a:avLst/>
          </a:prstGeom>
          <a:noFill/>
        </p:spPr>
        <p:txBody>
          <a:bodyPr wrap="square" lIns="0" rIns="0" tIns="18288" bIns="18288" anchor="t">
            <a:noAutofit/>
          </a:bodyPr>
          <a:lstStyle/>
          <a:p>
            <a:pPr algn="l"/>
            <a:r>
              <a:rPr sz="1200" b="1" i="0" lang="ko-KR" altLang="en-US">
                <a:solidFill>
                  <a:srgbClr val="262626"/>
                </a:solidFill>
                <a:latin typeface="LG스마트체 Regular"/>
                <a:ea typeface="LG스마트체 Regular"/>
                <a:cs typeface="LG스마트체 Regular"/>
              </a:rPr>
              <a:t>백업 보관함</a:t>
            </a:r>
          </a:p>
          <a:p>
            <a:pPr algn="l"/>
            <a:r>
              <a:rPr sz="1000" b="0" i="0" lang="ko-KR" altLang="en-US">
                <a:solidFill>
                  <a:srgbClr val="595959"/>
                </a:solidFill>
                <a:latin typeface="LG스마트체 Regular"/>
                <a:ea typeface="LG스마트체 Regular"/>
                <a:cs typeface="LG스마트체 Regular"/>
              </a:rPr>
              <a:t>(NAS)</a:t>
            </a:r>
          </a:p>
        </p:txBody>
      </p:sp>
      <p:sp>
        <p:nvSpPr>
          <p:cNvPr id="27" name="chip-nas"/>
          <p:cNvSpPr/>
          <p:nvPr/>
        </p:nvSpPr>
        <p:spPr>
          <a:xfrm>
            <a:off x="6309360" y="3767328"/>
            <a:ext cx="1554480" cy="896112"/>
          </a:xfrm>
          <a:prstGeom prst="roundRect">
            <a:avLst>
              <a:gd name="adj" fmla="val 5102"/>
            </a:avLst>
          </a:prstGeom>
          <a:solidFill>
            <a:srgbClr val="FFF5EB"/>
          </a:solidFill>
          <a:ln w="12700">
            <a:solidFill>
              <a:srgbClr val="C55A11"/>
            </a:solidFill>
            <a:prstDash val="dash"/>
          </a:ln>
          <a:effectLst/>
        </p:spPr>
        <p:txBody>
          <a:bodyPr rtlCol="0" anchor="ctr" wrap="square" lIns="64008" rIns="64008" tIns="18288" bIns="18288">
            <a:noAutofit/>
          </a:bodyPr>
          <a:lstStyle/>
          <a:p>
            <a:pPr algn="l"/>
            <a:r>
              <a:rPr sz="1000" b="1" i="0" lang="ko-KR" altLang="en-US">
                <a:solidFill>
                  <a:srgbClr val="C55A11"/>
                </a:solidFill>
                <a:latin typeface="LG스마트체 Regular"/>
                <a:ea typeface="LG스마트체 Regular"/>
                <a:cs typeface="LG스마트체 Regular"/>
              </a:rPr>
              <a:t>… 확인 중: </a:t>
            </a:r>
            <a:r>
              <a:rPr sz="1000" b="0" i="0" lang="ko-KR" altLang="en-US">
                <a:solidFill>
                  <a:srgbClr val="262626"/>
                </a:solidFill>
                <a:latin typeface="LG스마트체 Regular"/>
                <a:ea typeface="LG스마트체 Regular"/>
                <a:cs typeface="LG스마트체 Regular"/>
              </a:rPr>
              <a:t>2TB · 1년 보관 요청, 다빈치 미회신</a:t>
            </a:r>
          </a:p>
        </p:txBody>
      </p:sp>
      <p:cxnSp>
        <p:nvCxnSpPr>
          <p:cNvPr id="28" name="flow1-input"/>
          <p:cNvCxnSpPr/>
          <p:nvPr/>
        </p:nvCxnSpPr>
        <p:spPr>
          <a:xfrm>
            <a:off x="2011680" y="2468880"/>
            <a:ext cx="868680" cy="0"/>
          </a:xfrm>
          <a:prstGeom prst="line">
            <a:avLst/>
          </a:prstGeom>
          <a:ln w="19050">
            <a:solidFill>
              <a:srgbClr val="C55A11"/>
            </a:solidFill>
            <a:prstDash val="dash"/>
            <a:tailEnd type="triangle" w="med" len="med"/>
          </a:ln>
        </p:spPr>
      </p:cxnSp>
      <p:sp>
        <p:nvSpPr>
          <p:cNvPr id="29" name="badge-1"/>
          <p:cNvSpPr/>
          <p:nvPr/>
        </p:nvSpPr>
        <p:spPr>
          <a:xfrm>
            <a:off x="2308860" y="2331720"/>
            <a:ext cx="274320" cy="27432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1000" b="1" i="0" lang="ko-KR" altLang="en-US">
                <a:solidFill>
                  <a:srgbClr val="FFFFFF"/>
                </a:solidFill>
                <a:latin typeface="LG스마트체 Regular"/>
                <a:ea typeface="LG스마트체 Regular"/>
                <a:cs typeface="LG스마트체 Regular"/>
              </a:rPr>
              <a:t>1</a:t>
            </a:r>
          </a:p>
        </p:txBody>
      </p:sp>
      <p:sp>
        <p:nvSpPr>
          <p:cNvPr id="30" name="TextBox 29"/>
          <p:cNvSpPr txBox="1"/>
          <p:nvPr/>
        </p:nvSpPr>
        <p:spPr>
          <a:xfrm>
            <a:off x="2029968" y="2075688"/>
            <a:ext cx="832104" cy="219456"/>
          </a:xfrm>
          <a:prstGeom prst="rect">
            <a:avLst/>
          </a:prstGeom>
          <a:noFill/>
        </p:spPr>
        <p:txBody>
          <a:bodyPr wrap="square" lIns="0" rIns="0" tIns="18288" bIns="18288" anchor="t">
            <a:noAutofit/>
          </a:bodyPr>
          <a:lstStyle/>
          <a:p>
            <a:pPr algn="ctr"/>
            <a:r>
              <a:rPr sz="1000" b="1" i="0" lang="ko-KR" altLang="en-US">
                <a:solidFill>
                  <a:srgbClr val="1F3864"/>
                </a:solidFill>
                <a:latin typeface="LG스마트체 Regular"/>
                <a:ea typeface="LG스마트체 Regular"/>
                <a:cs typeface="LG스마트체 Regular"/>
              </a:rPr>
              <a:t>기록 입력</a:t>
            </a:r>
          </a:p>
        </p:txBody>
      </p:sp>
      <p:sp>
        <p:nvSpPr>
          <p:cNvPr id="31" name="TextBox 30"/>
          <p:cNvSpPr txBox="1"/>
          <p:nvPr/>
        </p:nvSpPr>
        <p:spPr>
          <a:xfrm>
            <a:off x="2029968" y="2633472"/>
            <a:ext cx="832104" cy="384048"/>
          </a:xfrm>
          <a:prstGeom prst="rect">
            <a:avLst/>
          </a:prstGeom>
          <a:noFill/>
        </p:spPr>
        <p:txBody>
          <a:bodyPr wrap="square" lIns="0" rIns="0" tIns="18288" bIns="18288" anchor="t">
            <a:noAutofit/>
          </a:bodyPr>
          <a:lstStyle/>
          <a:p>
            <a:pPr algn="ctr"/>
            <a:r>
              <a:rPr sz="1000" b="0" i="0" lang="ko-KR" altLang="en-US">
                <a:solidFill>
                  <a:srgbClr val="C55A11"/>
                </a:solidFill>
                <a:latin typeface="LG스마트체 Regular"/>
                <a:ea typeface="LG스마트체 Regular"/>
                <a:cs typeface="LG스마트체 Regular"/>
              </a:rPr>
              <a:t>접속 경로</a:t>
            </a:r>
          </a:p>
          <a:p>
            <a:pPr algn="ctr"/>
            <a:r>
              <a:rPr sz="1000" b="0" i="0" lang="ko-KR" altLang="en-US">
                <a:solidFill>
                  <a:srgbClr val="C55A11"/>
                </a:solidFill>
                <a:latin typeface="LG스마트체 Regular"/>
                <a:ea typeface="LG스마트체 Regular"/>
                <a:cs typeface="LG스마트체 Regular"/>
              </a:rPr>
              <a:t>확인 중</a:t>
            </a:r>
          </a:p>
        </p:txBody>
      </p:sp>
      <p:cxnSp>
        <p:nvCxnSpPr>
          <p:cNvPr id="32" name="flow3-report"/>
          <p:cNvCxnSpPr/>
          <p:nvPr/>
        </p:nvCxnSpPr>
        <p:spPr>
          <a:xfrm flipH="1">
            <a:off x="2011680" y="3337560"/>
            <a:ext cx="868680" cy="0"/>
          </a:xfrm>
          <a:prstGeom prst="line">
            <a:avLst/>
          </a:prstGeom>
          <a:ln w="19050">
            <a:solidFill>
              <a:srgbClr val="1F3864"/>
            </a:solidFill>
            <a:tailEnd type="triangle" w="med" len="med"/>
          </a:ln>
        </p:spPr>
      </p:cxnSp>
      <p:sp>
        <p:nvSpPr>
          <p:cNvPr id="33" name="badge-3"/>
          <p:cNvSpPr/>
          <p:nvPr/>
        </p:nvSpPr>
        <p:spPr>
          <a:xfrm>
            <a:off x="2308860" y="3200400"/>
            <a:ext cx="274320" cy="27432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1000" b="1" i="0" lang="ko-KR" altLang="en-US">
                <a:solidFill>
                  <a:srgbClr val="FFFFFF"/>
                </a:solidFill>
                <a:latin typeface="LG스마트체 Regular"/>
                <a:ea typeface="LG스마트체 Regular"/>
                <a:cs typeface="LG스마트체 Regular"/>
              </a:rPr>
              <a:t>3</a:t>
            </a:r>
          </a:p>
        </p:txBody>
      </p:sp>
      <p:sp>
        <p:nvSpPr>
          <p:cNvPr id="34" name="TextBox 33"/>
          <p:cNvSpPr txBox="1"/>
          <p:nvPr/>
        </p:nvSpPr>
        <p:spPr>
          <a:xfrm>
            <a:off x="2029968" y="3493008"/>
            <a:ext cx="832104" cy="384048"/>
          </a:xfrm>
          <a:prstGeom prst="rect">
            <a:avLst/>
          </a:prstGeom>
          <a:noFill/>
        </p:spPr>
        <p:txBody>
          <a:bodyPr wrap="square" lIns="0" rIns="0" tIns="18288" bIns="18288" anchor="t">
            <a:noAutofit/>
          </a:bodyPr>
          <a:lstStyle/>
          <a:p>
            <a:pPr algn="ctr"/>
            <a:r>
              <a:rPr sz="1000" b="1" i="0" lang="ko-KR" altLang="en-US">
                <a:solidFill>
                  <a:srgbClr val="1F3864"/>
                </a:solidFill>
                <a:latin typeface="LG스마트체 Regular"/>
                <a:ea typeface="LG스마트체 Regular"/>
                <a:cs typeface="LG스마트체 Regular"/>
              </a:rPr>
              <a:t>보고서</a:t>
            </a:r>
          </a:p>
          <a:p>
            <a:pPr algn="ctr"/>
            <a:r>
              <a:rPr sz="1000" b="1" i="0" lang="ko-KR" altLang="en-US">
                <a:solidFill>
                  <a:srgbClr val="1F3864"/>
                </a:solidFill>
                <a:latin typeface="LG스마트체 Regular"/>
                <a:ea typeface="LG스마트체 Regular"/>
                <a:cs typeface="LG스마트체 Regular"/>
              </a:rPr>
              <a:t>내려받기(PPT)</a:t>
            </a:r>
          </a:p>
        </p:txBody>
      </p:sp>
      <p:cxnSp>
        <p:nvCxnSpPr>
          <p:cNvPr id="35" name="flow2-ai"/>
          <p:cNvCxnSpPr/>
          <p:nvPr/>
        </p:nvCxnSpPr>
        <p:spPr>
          <a:xfrm>
            <a:off x="5486400" y="2011680"/>
            <a:ext cx="731520" cy="0"/>
          </a:xfrm>
          <a:prstGeom prst="line">
            <a:avLst/>
          </a:prstGeom>
          <a:ln w="19050">
            <a:solidFill>
              <a:srgbClr val="C55A11"/>
            </a:solidFill>
            <a:prstDash val="dash"/>
            <a:tailEnd type="triangle" w="med" len="med"/>
          </a:ln>
        </p:spPr>
      </p:cxnSp>
      <p:sp>
        <p:nvSpPr>
          <p:cNvPr id="36" name="badge-2"/>
          <p:cNvSpPr/>
          <p:nvPr/>
        </p:nvSpPr>
        <p:spPr>
          <a:xfrm>
            <a:off x="5715000" y="1874520"/>
            <a:ext cx="274320" cy="27432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1000" b="1" i="0" lang="ko-KR" altLang="en-US">
                <a:solidFill>
                  <a:srgbClr val="FFFFFF"/>
                </a:solidFill>
                <a:latin typeface="LG스마트체 Regular"/>
                <a:ea typeface="LG스마트체 Regular"/>
                <a:cs typeface="LG스마트체 Regular"/>
              </a:rPr>
              <a:t>2</a:t>
            </a:r>
          </a:p>
        </p:txBody>
      </p:sp>
      <p:sp>
        <p:nvSpPr>
          <p:cNvPr id="37" name="TextBox 36"/>
          <p:cNvSpPr txBox="1"/>
          <p:nvPr/>
        </p:nvSpPr>
        <p:spPr>
          <a:xfrm>
            <a:off x="5504688" y="1536192"/>
            <a:ext cx="694944" cy="384048"/>
          </a:xfrm>
          <a:prstGeom prst="rect">
            <a:avLst/>
          </a:prstGeom>
          <a:noFill/>
        </p:spPr>
        <p:txBody>
          <a:bodyPr wrap="square" lIns="0" rIns="0" tIns="18288" bIns="18288" anchor="t">
            <a:noAutofit/>
          </a:bodyPr>
          <a:lstStyle/>
          <a:p>
            <a:pPr algn="ctr"/>
            <a:r>
              <a:rPr sz="1000" b="1" i="0" lang="ko-KR" altLang="en-US">
                <a:solidFill>
                  <a:srgbClr val="1F3864"/>
                </a:solidFill>
                <a:latin typeface="LG스마트체 Regular"/>
                <a:ea typeface="LG스마트체 Regular"/>
                <a:cs typeface="LG스마트체 Regular"/>
              </a:rPr>
              <a:t>AI 요약</a:t>
            </a:r>
          </a:p>
          <a:p>
            <a:pPr algn="ctr"/>
            <a:r>
              <a:rPr sz="1000" b="1" i="0" lang="ko-KR" altLang="en-US">
                <a:solidFill>
                  <a:srgbClr val="1F3864"/>
                </a:solidFill>
                <a:latin typeface="LG스마트체 Regular"/>
                <a:ea typeface="LG스마트체 Regular"/>
                <a:cs typeface="LG스마트체 Regular"/>
              </a:rPr>
              <a:t>요청</a:t>
            </a:r>
          </a:p>
        </p:txBody>
      </p:sp>
      <p:cxnSp>
        <p:nvCxnSpPr>
          <p:cNvPr id="38" name="flow4-backup"/>
          <p:cNvCxnSpPr/>
          <p:nvPr/>
        </p:nvCxnSpPr>
        <p:spPr>
          <a:xfrm>
            <a:off x="5376672" y="4069080"/>
            <a:ext cx="841248" cy="0"/>
          </a:xfrm>
          <a:prstGeom prst="line">
            <a:avLst/>
          </a:prstGeom>
          <a:ln w="19050">
            <a:solidFill>
              <a:srgbClr val="C55A11"/>
            </a:solidFill>
            <a:prstDash val="dash"/>
            <a:tailEnd type="triangle" w="med" len="med"/>
          </a:ln>
        </p:spPr>
      </p:cxnSp>
      <p:sp>
        <p:nvSpPr>
          <p:cNvPr id="39" name="badge-4"/>
          <p:cNvSpPr/>
          <p:nvPr/>
        </p:nvSpPr>
        <p:spPr>
          <a:xfrm>
            <a:off x="5715000" y="3931920"/>
            <a:ext cx="274320" cy="27432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1000" b="1" i="0" lang="ko-KR" altLang="en-US">
                <a:solidFill>
                  <a:srgbClr val="FFFFFF"/>
                </a:solidFill>
                <a:latin typeface="LG스마트체 Regular"/>
                <a:ea typeface="LG스마트체 Regular"/>
                <a:cs typeface="LG스마트체 Regular"/>
              </a:rPr>
              <a:t>4</a:t>
            </a:r>
          </a:p>
        </p:txBody>
      </p:sp>
      <p:sp>
        <p:nvSpPr>
          <p:cNvPr id="40" name="TextBox 39"/>
          <p:cNvSpPr txBox="1"/>
          <p:nvPr/>
        </p:nvSpPr>
        <p:spPr>
          <a:xfrm>
            <a:off x="5504688" y="4242816"/>
            <a:ext cx="694944" cy="219456"/>
          </a:xfrm>
          <a:prstGeom prst="rect">
            <a:avLst/>
          </a:prstGeom>
          <a:noFill/>
        </p:spPr>
        <p:txBody>
          <a:bodyPr wrap="square" lIns="0" rIns="0" tIns="18288" bIns="18288" anchor="t">
            <a:noAutofit/>
          </a:bodyPr>
          <a:lstStyle/>
          <a:p>
            <a:pPr algn="ctr"/>
            <a:r>
              <a:rPr sz="1000" b="1" i="0" lang="ko-KR" altLang="en-US">
                <a:solidFill>
                  <a:srgbClr val="1F3864"/>
                </a:solidFill>
                <a:latin typeface="LG스마트체 Regular"/>
                <a:ea typeface="LG스마트체 Regular"/>
                <a:cs typeface="LG스마트체 Regular"/>
              </a:rPr>
              <a:t>매일 백업</a:t>
            </a:r>
          </a:p>
        </p:txBody>
      </p:sp>
      <p:sp>
        <p:nvSpPr>
          <p:cNvPr id="41" name="box-scale-when"/>
          <p:cNvSpPr/>
          <p:nvPr/>
        </p:nvSpPr>
        <p:spPr>
          <a:xfrm>
            <a:off x="411480" y="4983480"/>
            <a:ext cx="7543800" cy="822960"/>
          </a:xfrm>
          <a:prstGeom prst="roundRect">
            <a:avLst>
              <a:gd name="adj" fmla="val 8888"/>
            </a:avLst>
          </a:prstGeom>
          <a:solidFill>
            <a:srgbClr val="FAFAFA"/>
          </a:solidFill>
          <a:ln w="12700">
            <a:solidFill>
              <a:srgbClr val="D9D9D9"/>
            </a:solidFill>
          </a:ln>
          <a:effectLst/>
        </p:spPr>
        <p:txBody>
          <a:bodyPr rtlCol="0" anchor="ctr"/>
          <a:lstStyle/>
          <a:p/>
        </p:txBody>
      </p:sp>
      <p:sp>
        <p:nvSpPr>
          <p:cNvPr id="42" name="qtag-③ 몇 명·언제?"/>
          <p:cNvSpPr/>
          <p:nvPr/>
        </p:nvSpPr>
        <p:spPr>
          <a:xfrm>
            <a:off x="548640" y="5266944"/>
            <a:ext cx="1188720" cy="256032"/>
          </a:xfrm>
          <a:prstGeom prst="roundRect">
            <a:avLst>
              <a:gd name="adj" fmla="val 50000"/>
            </a:avLst>
          </a:prstGeom>
          <a:solidFill>
            <a:srgbClr val="1F3864"/>
          </a:solidFill>
          <a:ln>
            <a:noFill/>
          </a:ln>
          <a:effectLst/>
        </p:spPr>
        <p:txBody>
          <a:bodyPr rtlCol="0" anchor="ctr" wrap="square" lIns="18288" rIns="18288" tIns="18288" bIns="18288">
            <a:noAutofit/>
          </a:bodyPr>
          <a:lstStyle/>
          <a:p>
            <a:pPr algn="ctr"/>
            <a:r>
              <a:rPr sz="1000" b="1" i="0" lang="ko-KR" altLang="en-US">
                <a:solidFill>
                  <a:srgbClr val="FFFFFF"/>
                </a:solidFill>
                <a:latin typeface="LG스마트체 Regular"/>
                <a:ea typeface="LG스마트체 Regular"/>
                <a:cs typeface="LG스마트체 Regular"/>
              </a:rPr>
              <a:t>③ 몇 명·언제?</a:t>
            </a:r>
          </a:p>
        </p:txBody>
      </p:sp>
      <p:sp>
        <p:nvSpPr>
          <p:cNvPr id="43" name="TextBox 42"/>
          <p:cNvSpPr txBox="1"/>
          <p:nvPr/>
        </p:nvSpPr>
        <p:spPr>
          <a:xfrm>
            <a:off x="1874520" y="5029200"/>
            <a:ext cx="5989320" cy="731520"/>
          </a:xfrm>
          <a:prstGeom prst="rect">
            <a:avLst/>
          </a:prstGeom>
          <a:noFill/>
        </p:spPr>
        <p:txBody>
          <a:bodyPr wrap="square" lIns="18288" rIns="18288" tIns="18288" bIns="18288" anchor="ctr">
            <a:noAutofit/>
          </a:bodyPr>
          <a:lstStyle/>
          <a:p>
            <a:pPr algn="l">
              <a:spcBef>
                <a:spcPts val="0"/>
              </a:spcBef>
            </a:pPr>
            <a:r>
              <a:rPr sz="1050" b="1" i="0" lang="ko-KR" altLang="en-US">
                <a:solidFill>
                  <a:srgbClr val="1F3864"/>
                </a:solidFill>
                <a:latin typeface="LG스마트체 Regular"/>
                <a:ea typeface="LG스마트체 Regular"/>
                <a:cs typeface="LG스마트체 Regular"/>
              </a:rPr>
              <a:t>현재 검증된 규모: </a:t>
            </a:r>
            <a:r>
              <a:rPr sz="1050" b="1" i="0" lang="ko-KR" altLang="en-US">
                <a:solidFill>
                  <a:srgbClr val="262626"/>
                </a:solidFill>
                <a:latin typeface="LG스마트체 Regular"/>
                <a:ea typeface="LG스마트체 Regular"/>
                <a:cs typeface="LG스마트체 Regular"/>
              </a:rPr>
              <a:t>약 20명 (설계 기준)</a:t>
            </a:r>
            <a:r>
              <a:rPr sz="1050" b="0" i="0" lang="ko-KR" altLang="en-US">
                <a:solidFill>
                  <a:srgbClr val="262626"/>
                </a:solidFill>
                <a:latin typeface="LG스마트체 Regular"/>
                <a:ea typeface="LG스마트체 Regular"/>
                <a:cs typeface="LG스마트체 Regular"/>
              </a:rPr>
              <a:t> · 메일의 100명 동시 사용은 측정 후 판단</a:t>
            </a:r>
          </a:p>
          <a:p>
            <a:pPr algn="l">
              <a:spcBef>
                <a:spcPts val="400"/>
              </a:spcBef>
            </a:pPr>
            <a:r>
              <a:rPr sz="1050" b="1" i="0" lang="ko-KR" altLang="en-US">
                <a:solidFill>
                  <a:srgbClr val="1F3864"/>
                </a:solidFill>
                <a:latin typeface="LG스마트체 Regular"/>
                <a:ea typeface="LG스마트체 Regular"/>
                <a:cs typeface="LG스마트체 Regular"/>
              </a:rPr>
              <a:t>사용 시작 시점: </a:t>
            </a:r>
            <a:r>
              <a:rPr sz="1050" b="0" i="0" lang="ko-KR" altLang="en-US">
                <a:solidFill>
                  <a:srgbClr val="262626"/>
                </a:solidFill>
                <a:latin typeface="LG스마트체 Regular"/>
                <a:ea typeface="LG스마트체 Regular"/>
                <a:cs typeface="LG스마트체 Regular"/>
              </a:rPr>
              <a:t>서버 할당과 ④ 확인 후 결정 (날짜 미정)</a:t>
            </a:r>
          </a:p>
        </p:txBody>
      </p:sp>
      <p:sp>
        <p:nvSpPr>
          <p:cNvPr id="44" name="qtag-④ 확인할 것"/>
          <p:cNvSpPr/>
          <p:nvPr/>
        </p:nvSpPr>
        <p:spPr>
          <a:xfrm>
            <a:off x="8183880" y="1024128"/>
            <a:ext cx="1051560" cy="256032"/>
          </a:xfrm>
          <a:prstGeom prst="roundRect">
            <a:avLst>
              <a:gd name="adj" fmla="val 50000"/>
            </a:avLst>
          </a:prstGeom>
          <a:solidFill>
            <a:srgbClr val="1F3864"/>
          </a:solidFill>
          <a:ln>
            <a:noFill/>
          </a:ln>
          <a:effectLst/>
        </p:spPr>
        <p:txBody>
          <a:bodyPr rtlCol="0" anchor="ctr" wrap="square" lIns="18288" rIns="18288" tIns="18288" bIns="18288">
            <a:noAutofit/>
          </a:bodyPr>
          <a:lstStyle/>
          <a:p>
            <a:pPr algn="ctr"/>
            <a:r>
              <a:rPr sz="1000" b="1" i="0" lang="ko-KR" altLang="en-US">
                <a:solidFill>
                  <a:srgbClr val="FFFFFF"/>
                </a:solidFill>
                <a:latin typeface="LG스마트체 Regular"/>
                <a:ea typeface="LG스마트체 Regular"/>
                <a:cs typeface="LG스마트체 Regular"/>
              </a:rPr>
              <a:t>④ 확인할 것</a:t>
            </a:r>
          </a:p>
        </p:txBody>
      </p:sp>
      <p:sp>
        <p:nvSpPr>
          <p:cNvPr id="45" name="TextBox 44"/>
          <p:cNvSpPr txBox="1"/>
          <p:nvPr/>
        </p:nvSpPr>
        <p:spPr>
          <a:xfrm>
            <a:off x="9308592" y="1014984"/>
            <a:ext cx="2468880" cy="274320"/>
          </a:xfrm>
          <a:prstGeom prst="rect">
            <a:avLst/>
          </a:prstGeom>
          <a:noFill/>
        </p:spPr>
        <p:txBody>
          <a:bodyPr wrap="square" lIns="0" rIns="0" tIns="18288" bIns="18288" anchor="t">
            <a:noAutofit/>
          </a:bodyPr>
          <a:lstStyle/>
          <a:p>
            <a:pPr algn="l"/>
            <a:r>
              <a:rPr sz="1200" b="1" i="0" lang="ko-KR" altLang="en-US">
                <a:solidFill>
                  <a:srgbClr val="1F3864"/>
                </a:solidFill>
                <a:latin typeface="LG스마트체 Regular"/>
                <a:ea typeface="LG스마트체 Regular"/>
                <a:cs typeface="LG스마트체 Regular"/>
              </a:rPr>
              <a:t>착수 전 확인 사항 — 누가</a:t>
            </a:r>
          </a:p>
        </p:txBody>
      </p:sp>
      <p:graphicFrame>
        <p:nvGraphicFramePr>
          <p:cNvPr id="46" name="check-table"/>
          <p:cNvGraphicFramePr>
            <a:graphicFrameLocks noGrp="1"/>
          </p:cNvGraphicFramePr>
          <p:nvPr/>
        </p:nvGraphicFramePr>
        <p:xfrm>
          <a:off x="8183880" y="1417320"/>
          <a:ext cx="3593592" cy="3383280"/>
        </p:xfrm>
        <a:graphic>
          <a:graphicData uri="http://schemas.openxmlformats.org/drawingml/2006/table">
            <a:tbl>
              <a:tblPr firstRow="1">
                <a:tableStyleId>{5C22544A-7EE6-4342-B048-85BDC9FD1C3A}</a:tableStyleId>
              </a:tblPr>
              <a:tblGrid>
                <a:gridCol w="822960"/>
                <a:gridCol w="1645920"/>
                <a:gridCol w="1124712"/>
              </a:tblGrid>
              <a:tr h="292608">
                <a:tc>
                  <a:txBody>
                    <a:bodyPr wrap="square" lIns="45720" rIns="45720" tIns="18288" bIns="18288" anchor="ctr">
                      <a:noAutofit/>
                    </a:bodyPr>
                    <a:lstStyle/>
                    <a:p>
                      <a:pPr algn="l"/>
                      <a:r>
                        <a:rPr sz="1000" b="1" i="0" lang="ko-KR" altLang="en-US">
                          <a:solidFill>
                            <a:srgbClr val="FFFFFF"/>
                          </a:solidFill>
                          <a:latin typeface="LG스마트체 Regular"/>
                          <a:ea typeface="LG스마트체 Regular"/>
                          <a:cs typeface="LG스마트체 Regular"/>
                        </a:rPr>
                        <a:t>확인할 것</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1000" b="1" i="0" lang="ko-KR" altLang="en-US">
                          <a:solidFill>
                            <a:srgbClr val="FFFFFF"/>
                          </a:solidFill>
                          <a:latin typeface="LG스마트체 Regular"/>
                          <a:ea typeface="LG스마트체 Regular"/>
                          <a:cs typeface="LG스마트체 Regular"/>
                        </a:rPr>
                        <a:t>쉬운 설명</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1000" b="1" i="0" lang="ko-KR" altLang="en-US">
                          <a:solidFill>
                            <a:srgbClr val="FFFFFF"/>
                          </a:solidFill>
                          <a:latin typeface="LG스마트체 Regular"/>
                          <a:ea typeface="LG스마트체 Regular"/>
                          <a:cs typeface="LG스마트체 Regular"/>
                        </a:rPr>
                        <a:t>담당</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r>
              <a:tr h="731520">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1. </a:t>
                      </a:r>
                      <a:r>
                        <a:rPr sz="1000" b="1" i="0" lang="ko-KR" altLang="en-US">
                          <a:solidFill>
                            <a:srgbClr val="1F3864"/>
                          </a:solidFill>
                          <a:latin typeface="LG스마트체 Regular"/>
                          <a:ea typeface="LG스마트체 Regular"/>
                          <a:cs typeface="LG스마트체 Regular"/>
                        </a:rPr>
                        <a:t>저장 위치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업무 기록은 서버 디스크에 두고, NAS는 백업에만 사용 (NAS에 직접 저장 불가)</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이재후 ↔</a:t>
                      </a:r>
                    </a:p>
                    <a:p>
                      <a:pPr algn="l"/>
                      <a:r>
                        <a:rPr sz="1000" b="0" i="0" lang="ko-KR" altLang="en-US">
                          <a:solidFill>
                            <a:srgbClr val="262626"/>
                          </a:solidFill>
                          <a:latin typeface="LG스마트체 Regular"/>
                          <a:ea typeface="LG스마트체 Regular"/>
                          <a:cs typeface="LG스마트체 Regular"/>
                        </a:rPr>
                        <a:t>다빈치팀</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r>
              <a:tr h="566928">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2. </a:t>
                      </a:r>
                      <a:r>
                        <a:rPr sz="1000" b="1" i="0" lang="ko-KR" altLang="en-US">
                          <a:solidFill>
                            <a:srgbClr val="1F3864"/>
                          </a:solidFill>
                          <a:latin typeface="LG스마트체 Regular"/>
                          <a:ea typeface="LG스마트체 Regular"/>
                          <a:cs typeface="LG스마트체 Regular"/>
                        </a:rPr>
                        <a:t>사용 규모</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현재 검증 규모 약 20명, 100명은 측정 후 판단</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이재후</a:t>
                      </a:r>
                    </a:p>
                    <a:p>
                      <a:pPr algn="l"/>
                      <a:r>
                        <a:rPr sz="1000" b="0" i="0" lang="ko-KR" altLang="en-US">
                          <a:solidFill>
                            <a:srgbClr val="262626"/>
                          </a:solidFill>
                          <a:latin typeface="LG스마트체 Regular"/>
                          <a:ea typeface="LG스마트체 Regular"/>
                          <a:cs typeface="LG스마트체 Regular"/>
                        </a:rPr>
                        <a:t>(부하 측정)</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r>
              <a:tr h="896112">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3. </a:t>
                      </a:r>
                      <a:r>
                        <a:rPr sz="1000" b="1" i="0" lang="ko-KR" altLang="en-US">
                          <a:solidFill>
                            <a:srgbClr val="1F3864"/>
                          </a:solidFill>
                          <a:latin typeface="LG스마트체 Regular"/>
                          <a:ea typeface="LG스마트체 Regular"/>
                          <a:cs typeface="LG스마트체 Regular"/>
                        </a:rPr>
                        <a:t>백업 용량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지금 백업 방식(매회 전체 복사)이면 NAS 2TB가 약 3.5개월에 참(가정) → 백업 방식·보관 정책을 정한 뒤 4TB 내 운영 판단</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이재후 (재설계)</a:t>
                      </a:r>
                    </a:p>
                    <a:p>
                      <a:pPr algn="l"/>
                      <a:r>
                        <a:rPr sz="1000" b="0" i="0" lang="ko-KR" altLang="en-US">
                          <a:solidFill>
                            <a:srgbClr val="262626"/>
                          </a:solidFill>
                          <a:latin typeface="LG스마트체 Regular"/>
                          <a:ea typeface="LG스마트체 Regular"/>
                          <a:cs typeface="LG스마트체 Regular"/>
                        </a:rPr>
                        <a:t>다빈치팀</a:t>
                      </a:r>
                    </a:p>
                    <a:p>
                      <a:pPr algn="l"/>
                      <a:r>
                        <a:rPr sz="1000" b="0" i="0" lang="ko-KR" altLang="en-US">
                          <a:solidFill>
                            <a:srgbClr val="262626"/>
                          </a:solidFill>
                          <a:latin typeface="LG스마트체 Regular"/>
                          <a:ea typeface="LG스마트체 Regular"/>
                          <a:cs typeface="LG스마트체 Regular"/>
                        </a:rPr>
                        <a:t>(NAS 정책)</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r>
              <a:tr h="896112">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4. </a:t>
                      </a:r>
                      <a:r>
                        <a:rPr sz="1000" b="1" i="0" lang="ko-KR" altLang="en-US">
                          <a:solidFill>
                            <a:srgbClr val="1F3864"/>
                          </a:solidFill>
                          <a:latin typeface="LG스마트체 Regular"/>
                          <a:ea typeface="LG스마트체 Regular"/>
                          <a:cs typeface="LG스마트체 Regular"/>
                        </a:rPr>
                        <a:t>서버 실행 준비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회사 서버용 실행 패키지 아직 없음, 서버 환경(OS·실행 방식) 확인 필요</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이재후 (패키지)</a:t>
                      </a:r>
                    </a:p>
                    <a:p>
                      <a:pPr algn="l"/>
                      <a:r>
                        <a:rPr sz="1000" b="0" i="0" lang="ko-KR" altLang="en-US">
                          <a:solidFill>
                            <a:srgbClr val="262626"/>
                          </a:solidFill>
                          <a:latin typeface="LG스마트체 Regular"/>
                          <a:ea typeface="LG스마트체 Regular"/>
                          <a:cs typeface="LG스마트체 Regular"/>
                        </a:rPr>
                        <a:t>다빈치팀</a:t>
                      </a:r>
                    </a:p>
                    <a:p>
                      <a:pPr algn="l"/>
                      <a:r>
                        <a:rPr sz="1000" b="0" i="0" lang="ko-KR" altLang="en-US">
                          <a:solidFill>
                            <a:srgbClr val="262626"/>
                          </a:solidFill>
                          <a:latin typeface="LG스마트체 Regular"/>
                          <a:ea typeface="LG스마트체 Regular"/>
                          <a:cs typeface="LG스마트체 Regular"/>
                        </a:rPr>
                        <a:t>(환경 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r>
            </a:tbl>
          </a:graphicData>
        </a:graphic>
      </p:graphicFrame>
      <p:sp>
        <p:nvSpPr>
          <p:cNvPr id="47" name="TextBox 46"/>
          <p:cNvSpPr txBox="1"/>
          <p:nvPr/>
        </p:nvSpPr>
        <p:spPr>
          <a:xfrm>
            <a:off x="8183880" y="4983480"/>
            <a:ext cx="3593592" cy="457200"/>
          </a:xfrm>
          <a:prstGeom prst="rect">
            <a:avLst/>
          </a:prstGeom>
          <a:noFill/>
        </p:spPr>
        <p:txBody>
          <a:bodyPr wrap="square" lIns="18288" rIns="18288" tIns="18288" bIns="18288" anchor="t">
            <a:noAutofit/>
          </a:bodyPr>
          <a:lstStyle/>
          <a:p>
            <a:pPr algn="l"/>
            <a:r>
              <a:rPr sz="1000" b="1" i="0" lang="ko-KR" altLang="en-US">
                <a:solidFill>
                  <a:srgbClr val="1F3864"/>
                </a:solidFill>
                <a:latin typeface="LG스마트체 Regular"/>
                <a:ea typeface="LG스마트체 Regular"/>
                <a:cs typeface="LG스마트체 Regular"/>
              </a:rPr>
              <a:t>진행 방식: </a:t>
            </a:r>
            <a:r>
              <a:rPr sz="1000" b="0" i="0" lang="ko-KR" altLang="en-US">
                <a:solidFill>
                  <a:srgbClr val="262626"/>
                </a:solidFill>
                <a:latin typeface="LG스마트체 Regular"/>
                <a:ea typeface="LG스마트체 Regular"/>
                <a:cs typeface="LG스마트체 Regular"/>
              </a:rPr>
              <a:t>다빈치팀(박정환 책임)에 검토 요청 예정 · </a:t>
            </a:r>
            <a:r>
              <a:rPr sz="1000" b="1" i="0" lang="ko-KR" altLang="en-US">
                <a:solidFill>
                  <a:srgbClr val="262626"/>
                </a:solidFill>
                <a:latin typeface="LG스마트체 Regular"/>
                <a:ea typeface="LG스마트체 Regular"/>
                <a:cs typeface="LG스마트체 Regular"/>
              </a:rPr>
              <a:t>현재 그룹장님 결정 필요 사항 없음</a:t>
            </a:r>
          </a:p>
        </p:txBody>
      </p:sp>
      <p:cxnSp>
        <p:nvCxnSpPr>
          <p:cNvPr id="48" name="legend-solid"/>
          <p:cNvCxnSpPr/>
          <p:nvPr/>
        </p:nvCxnSpPr>
        <p:spPr>
          <a:xfrm>
            <a:off x="3931920" y="6382512"/>
            <a:ext cx="411480" cy="0"/>
          </a:xfrm>
          <a:prstGeom prst="line">
            <a:avLst/>
          </a:prstGeom>
          <a:ln w="19050">
            <a:solidFill>
              <a:srgbClr val="1F3864"/>
            </a:solidFill>
          </a:ln>
        </p:spPr>
      </p:cxnSp>
      <p:sp>
        <p:nvSpPr>
          <p:cNvPr id="49" name="TextBox 48"/>
          <p:cNvSpPr txBox="1"/>
          <p:nvPr/>
        </p:nvSpPr>
        <p:spPr>
          <a:xfrm>
            <a:off x="4407408" y="6272784"/>
            <a:ext cx="1371600" cy="228600"/>
          </a:xfrm>
          <a:prstGeom prst="rect">
            <a:avLst/>
          </a:prstGeom>
          <a:noFill/>
        </p:spPr>
        <p:txBody>
          <a:bodyPr wrap="square" lIns="0" rIns="0" tIns="18288" bIns="18288" anchor="t">
            <a:noAutofit/>
          </a:bodyPr>
          <a:lstStyle/>
          <a:p>
            <a:pPr algn="l"/>
            <a:r>
              <a:rPr sz="1000" b="1" i="0" lang="ko-KR" altLang="en-US">
                <a:solidFill>
                  <a:srgbClr val="1F3864"/>
                </a:solidFill>
                <a:latin typeface="LG스마트체 Regular"/>
                <a:ea typeface="LG스마트체 Regular"/>
                <a:cs typeface="LG스마트체 Regular"/>
              </a:rPr>
              <a:t>✓ 확정</a:t>
            </a:r>
            <a:r>
              <a:rPr sz="1000" b="0" i="0" lang="ko-KR" altLang="en-US">
                <a:solidFill>
                  <a:srgbClr val="595959"/>
                </a:solidFill>
                <a:latin typeface="LG스마트체 Regular"/>
                <a:ea typeface="LG스마트체 Regular"/>
                <a:cs typeface="LG스마트체 Regular"/>
              </a:rPr>
              <a:t> (실선)</a:t>
            </a:r>
          </a:p>
        </p:txBody>
      </p:sp>
      <p:cxnSp>
        <p:nvCxnSpPr>
          <p:cNvPr id="50" name="legend-dash"/>
          <p:cNvCxnSpPr/>
          <p:nvPr/>
        </p:nvCxnSpPr>
        <p:spPr>
          <a:xfrm>
            <a:off x="5897880" y="6382512"/>
            <a:ext cx="411480" cy="0"/>
          </a:xfrm>
          <a:prstGeom prst="line">
            <a:avLst/>
          </a:prstGeom>
          <a:ln w="19050">
            <a:solidFill>
              <a:srgbClr val="C55A11"/>
            </a:solidFill>
            <a:prstDash val="dash"/>
          </a:ln>
        </p:spPr>
      </p:cxnSp>
      <p:sp>
        <p:nvSpPr>
          <p:cNvPr id="51" name="TextBox 50"/>
          <p:cNvSpPr txBox="1"/>
          <p:nvPr/>
        </p:nvSpPr>
        <p:spPr>
          <a:xfrm>
            <a:off x="6373368" y="6272784"/>
            <a:ext cx="1554480" cy="228600"/>
          </a:xfrm>
          <a:prstGeom prst="rect">
            <a:avLst/>
          </a:prstGeom>
          <a:noFill/>
        </p:spPr>
        <p:txBody>
          <a:bodyPr wrap="square" lIns="0" rIns="0" tIns="18288" bIns="18288" anchor="t">
            <a:noAutofit/>
          </a:bodyPr>
          <a:lstStyle/>
          <a:p>
            <a:pPr algn="l"/>
            <a:r>
              <a:rPr sz="1000" b="1" i="0" lang="ko-KR" altLang="en-US">
                <a:solidFill>
                  <a:srgbClr val="C55A11"/>
                </a:solidFill>
                <a:latin typeface="LG스마트체 Regular"/>
                <a:ea typeface="LG스마트체 Regular"/>
                <a:cs typeface="LG스마트체 Regular"/>
              </a:rPr>
              <a:t>… 확인 중</a:t>
            </a:r>
            <a:r>
              <a:rPr sz="1000" b="0" i="0" lang="ko-KR" altLang="en-US">
                <a:solidFill>
                  <a:srgbClr val="595959"/>
                </a:solidFill>
                <a:latin typeface="LG스마트체 Regular"/>
                <a:ea typeface="LG스마트체 Regular"/>
                <a:cs typeface="LG스마트체 Regular"/>
              </a:rPr>
              <a:t> (점선)</a:t>
            </a:r>
          </a:p>
        </p:txBody>
      </p:sp>
      <p:sp>
        <p:nvSpPr>
          <p:cNvPr id="52" name="Rounded Rectangle 51"/>
          <p:cNvSpPr/>
          <p:nvPr/>
        </p:nvSpPr>
        <p:spPr>
          <a:xfrm>
            <a:off x="8046720" y="6281928"/>
            <a:ext cx="438912" cy="210312"/>
          </a:xfrm>
          <a:prstGeom prst="roundRect">
            <a:avLst>
              <a:gd name="adj" fmla="val 21739"/>
            </a:avLst>
          </a:prstGeom>
          <a:solidFill>
            <a:srgbClr val="FFF5EB"/>
          </a:solidFill>
          <a:ln w="9525">
            <a:solidFill>
              <a:srgbClr val="C55A11"/>
            </a:solidFill>
          </a:ln>
          <a:effectLst/>
        </p:spPr>
        <p:txBody>
          <a:bodyPr rtlCol="0" anchor="ctr" wrap="square" lIns="0" rIns="0" tIns="18288" bIns="18288">
            <a:noAutofit/>
          </a:bodyPr>
          <a:lstStyle/>
          <a:p>
            <a:pPr algn="ctr"/>
            <a:r>
              <a:rPr sz="1000" b="1" i="0" lang="ko-KR" altLang="en-US">
                <a:solidFill>
                  <a:srgbClr val="C55A11"/>
                </a:solidFill>
                <a:latin typeface="LG스마트체 Regular"/>
                <a:ea typeface="LG스마트체 Regular"/>
                <a:cs typeface="LG스마트체 Regular"/>
              </a:rPr>
              <a:t>가정</a:t>
            </a:r>
          </a:p>
        </p:txBody>
      </p:sp>
      <p:sp>
        <p:nvSpPr>
          <p:cNvPr id="53" name="TextBox 52"/>
          <p:cNvSpPr txBox="1"/>
          <p:nvPr/>
        </p:nvSpPr>
        <p:spPr>
          <a:xfrm>
            <a:off x="8549640" y="6272784"/>
            <a:ext cx="1463040" cy="228600"/>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 실측 전 추정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56032"/>
            <a:ext cx="11365992" cy="530352"/>
          </a:xfrm>
          <a:prstGeom prst="rect">
            <a:avLst/>
          </a:prstGeom>
          <a:noFill/>
        </p:spPr>
        <p:txBody>
          <a:bodyPr wrap="square" lIns="0" rIns="0" tIns="18288" bIns="18288" anchor="t">
            <a:noAutofit/>
          </a:bodyPr>
          <a:lstStyle/>
          <a:p>
            <a:pPr algn="l"/>
            <a:r>
              <a:rPr sz="1600" b="1" i="0" lang="ko-KR" altLang="en-US">
                <a:solidFill>
                  <a:srgbClr val="1F3864"/>
                </a:solidFill>
                <a:latin typeface="LG스마트체 Regular"/>
                <a:ea typeface="LG스마트체 Regular"/>
                <a:cs typeface="LG스마트체 Regular"/>
              </a:rPr>
              <a:t>부록 A. 사실 대조 — 확정 2 · 제안 4 · 미정 4, Docker·NAS 마운트는 DAVINCI가 아닌 우리 측 제안</a:t>
            </a:r>
          </a:p>
        </p:txBody>
      </p:sp>
      <p:sp>
        <p:nvSpPr>
          <p:cNvPr id="3" name="subtitle"/>
          <p:cNvSpPr txBox="1"/>
          <p:nvPr/>
        </p:nvSpPr>
        <p:spPr>
          <a:xfrm>
            <a:off x="411480" y="621792"/>
            <a:ext cx="11365992" cy="219456"/>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분류 기준: 확정 = 양측 메일 합의 · 제안 = 한쪽 제시, 상대 미확인(제안 주체 표기) · 미정 = 언급 없음/조사 예정</a:t>
            </a:r>
          </a:p>
        </p:txBody>
      </p:sp>
      <p:graphicFrame>
        <p:nvGraphicFramePr>
          <p:cNvPr id="4" name="fact-table"/>
          <p:cNvGraphicFramePr>
            <a:graphicFrameLocks noGrp="1"/>
          </p:cNvGraphicFramePr>
          <p:nvPr/>
        </p:nvGraphicFramePr>
        <p:xfrm>
          <a:off x="411480" y="1188720"/>
          <a:ext cx="11365992" cy="3108960"/>
        </p:xfrm>
        <a:graphic>
          <a:graphicData uri="http://schemas.openxmlformats.org/drawingml/2006/table">
            <a:tbl>
              <a:tblPr firstRow="1">
                <a:tableStyleId>{5C22544A-7EE6-4342-B048-85BDC9FD1C3A}</a:tableStyleId>
              </a:tblPr>
              <a:tblGrid>
                <a:gridCol w="1371600"/>
                <a:gridCol w="1920240"/>
                <a:gridCol w="3931920"/>
                <a:gridCol w="2377440"/>
                <a:gridCol w="1764792"/>
              </a:tblGrid>
              <a:tr h="274320">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항목</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분류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메일 근거 (날짜·발신)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저장소 대조</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다음 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OC 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확정</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EEF2F8"/>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박정환 "OC라고 생각하면 될지" → 이재후 회신 "OC로 진행"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595959"/>
                          </a:solidFill>
                          <a:latin typeface="LG스마트체 Regular"/>
                          <a:ea typeface="LG스마트체 Regular"/>
                          <a:cs typeface="LG스마트체 Regular"/>
                        </a:rPr>
                        <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595959"/>
                          </a:solidFill>
                          <a:latin typeface="LG스마트체 Regular"/>
                          <a:ea typeface="LG스마트체 Regular"/>
                          <a:cs typeface="LG스마트체 Regular"/>
                        </a:rPr>
                        <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분석과제 신청</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확정</a:t>
                      </a:r>
                      <a:r>
                        <a:rPr sz="900" b="0" i="0" lang="ko-KR" altLang="en-US">
                          <a:solidFill>
                            <a:srgbClr val="1F3864"/>
                          </a:solidFill>
                          <a:latin typeface="LG스마트체 Regular"/>
                          <a:ea typeface="LG스마트체 Regular"/>
                          <a:cs typeface="LG스마트체 Regular"/>
                        </a:rPr>
                        <a:t> (접수 여부 미확인)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EEF2F8"/>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10-21 박정환 "분석 과제는 신청 주시고"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595959"/>
                          </a:solidFill>
                          <a:latin typeface="LG스마트체 Regular"/>
                          <a:ea typeface="LG스마트체 Regular"/>
                          <a:cs typeface="LG스마트체 Regular"/>
                        </a:rPr>
                        <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신청 완료·과제 정보</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VM 8 Core · 32GB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제안</a:t>
                      </a:r>
                      <a:r>
                        <a:rPr sz="900" b="0" i="0" lang="ko-KR" altLang="en-US">
                          <a:solidFill>
                            <a:srgbClr val="C55A11"/>
                          </a:solidFill>
                          <a:latin typeface="LG스마트체 Regular"/>
                          <a:ea typeface="LG스마트체 Regular"/>
                          <a:cs typeface="LG스마트체 Regular"/>
                        </a:rPr>
                        <a:t> (이재후 · 할당 미회신)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이재후 요청 / 이정원 "할당 가능한지 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worker 1개 → 코어 활용 제한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할당 회신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SSD 1TB → 최대 4TB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제안</a:t>
                      </a:r>
                      <a:r>
                        <a:rPr sz="900" b="0" i="0" lang="ko-KR" altLang="en-US">
                          <a:solidFill>
                            <a:srgbClr val="C55A11"/>
                          </a:solidFill>
                          <a:latin typeface="LG스마트체 Regular"/>
                          <a:ea typeface="LG스마트체 Regular"/>
                          <a:cs typeface="LG스마트체 Regular"/>
                        </a:rPr>
                        <a:t> (DAVINCI · "가능할 것 같음")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10-21 박정환 "1TB 수준으로 신청… 이후 SSD 4TB까지 할당 가능할 것 같으므로"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DB·첨부·보고 결과는 SSD</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IP·계정 정보 메일 → 확장</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36576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NAS 2TB · 1년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미정</a:t>
                      </a:r>
                      <a:r>
                        <a:rPr sz="900" b="0" i="0" lang="ko-KR" altLang="en-US">
                          <a:solidFill>
                            <a:srgbClr val="595959"/>
                          </a:solidFill>
                          <a:latin typeface="LG스마트체 Regular"/>
                          <a:ea typeface="LG스마트체 Regular"/>
                          <a:cs typeface="LG스마트체 Regular"/>
                        </a:rPr>
                        <a:t> (DAVINCI 미회신)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이재후 요청 / 박정환 "4TB(SSD 2TB, NAS 2TB)?" 질문, 10-21 회신은 SSD만 언급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백업 14개 전체 복사(backups.py)</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NAS 할당·보관 정책</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Docker 실행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제안</a:t>
                      </a:r>
                      <a:r>
                        <a:rPr sz="900" b="0" i="0" lang="ko-KR" altLang="en-US">
                          <a:solidFill>
                            <a:srgbClr val="C55A11"/>
                          </a:solidFill>
                          <a:latin typeface="LG스마트체 Regular"/>
                          <a:ea typeface="LG스마트체 Regular"/>
                          <a:cs typeface="LG스마트체 Regular"/>
                        </a:rPr>
                        <a:t> (이재후)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이재후 회신 "실행하는 환경 자체는 도커 컨테이너로"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Dockerfile 없음, 실행.bat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허용 여부·베이스 이미지</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NAS 마운트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제안</a:t>
                      </a:r>
                      <a:r>
                        <a:rPr sz="900" b="0" i="0" lang="ko-KR" altLang="en-US">
                          <a:solidFill>
                            <a:srgbClr val="C55A11"/>
                          </a:solidFill>
                          <a:latin typeface="LG스마트체 Regular"/>
                          <a:ea typeface="LG스마트체 Regular"/>
                          <a:cs typeface="LG스마트체 Regular"/>
                        </a:rPr>
                        <a:t> (이재후)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이재후 회신 "NAS는 샌드박스에서 마운트하는 방식"</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DB 불가, BACKUP_DIR만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NFS/SMB·권한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OS</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미정</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이정원 "샌드박스의 OS…요청 파일"</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Windows 전용 스크립트(.bat·.ps1)</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요청 파일 수령</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EXAONE 경로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미정</a:t>
                      </a:r>
                      <a:r>
                        <a:rPr sz="900" b="0" i="0" lang="ko-KR" altLang="en-US">
                          <a:solidFill>
                            <a:srgbClr val="595959"/>
                          </a:solidFill>
                          <a:latin typeface="LG스마트체 Regular"/>
                          <a:ea typeface="LG스마트체 Regular"/>
                          <a:cs typeface="LG스마트체 Regular"/>
                        </a:rPr>
                        <a:t> (필요성만 합의)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박정환 "엑사원과 통신이 필요할 것 같고"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config AI_API_URL·KEY (저장소 값 비어 있음)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Sandbox→EXAONE 허용</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접근 통제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미정</a:t>
                      </a:r>
                      <a:r>
                        <a:rPr sz="900" b="0" i="0" lang="ko-KR" altLang="en-US">
                          <a:solidFill>
                            <a:srgbClr val="595959"/>
                          </a:solidFill>
                          <a:latin typeface="LG스마트체 Regular"/>
                          <a:ea typeface="LG스마트체 Regular"/>
                          <a:cs typeface="LG스마트체 Regular"/>
                        </a:rPr>
                        <a:t> (메일 언급 없음)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로그인·권한 없음(docs/01)</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사내 정책상 허용·보완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bl>
          </a:graphicData>
        </a:graphic>
      </p:graphicFrame>
      <p:sp>
        <p:nvSpPr>
          <p:cNvPr id="5" name="Rounded Rectangle 4"/>
          <p:cNvSpPr/>
          <p:nvPr/>
        </p:nvSpPr>
        <p:spPr>
          <a:xfrm>
            <a:off x="411480" y="4572000"/>
            <a:ext cx="960120" cy="201168"/>
          </a:xfrm>
          <a:prstGeom prst="roundRect">
            <a:avLst>
              <a:gd name="adj" fmla="val 22727"/>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가정(실측 전)</a:t>
            </a:r>
          </a:p>
        </p:txBody>
      </p:sp>
      <p:sp>
        <p:nvSpPr>
          <p:cNvPr id="6" name="TextBox 5"/>
          <p:cNvSpPr txBox="1"/>
          <p:nvPr/>
        </p:nvSpPr>
        <p:spPr>
          <a:xfrm>
            <a:off x="1444752" y="4553712"/>
            <a:ext cx="5394960" cy="237744"/>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용량 산정 — 단계별</a:t>
            </a:r>
            <a:r>
              <a:rPr sz="900" b="0" i="0" lang="ko-KR" altLang="en-US">
                <a:solidFill>
                  <a:srgbClr val="595959"/>
                </a:solidFill>
                <a:latin typeface="LG스마트체 Regular"/>
                <a:ea typeface="LG스마트체 Regular"/>
                <a:cs typeface="LG스마트체 Regular"/>
              </a:rPr>
              <a:t>  사용자 가정(2026-10-26) · 상세는 부록 C</a:t>
            </a:r>
          </a:p>
        </p:txBody>
      </p:sp>
      <p:graphicFrame>
        <p:nvGraphicFramePr>
          <p:cNvPr id="7" name="capacity-table"/>
          <p:cNvGraphicFramePr>
            <a:graphicFrameLocks noGrp="1"/>
          </p:cNvGraphicFramePr>
          <p:nvPr/>
        </p:nvGraphicFramePr>
        <p:xfrm>
          <a:off x="411480" y="4828032"/>
          <a:ext cx="6446520" cy="1234440"/>
        </p:xfrm>
        <a:graphic>
          <a:graphicData uri="http://schemas.openxmlformats.org/drawingml/2006/table">
            <a:tbl>
              <a:tblPr>
                <a:tableStyleId>{5C22544A-7EE6-4342-B048-85BDC9FD1C3A}</a:tableStyleId>
              </a:tblPr>
              <a:tblGrid>
                <a:gridCol w="1417320"/>
                <a:gridCol w="5029200"/>
              </a:tblGrid>
              <a:tr h="205740">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① 인당 월 사용량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기록 본문 300KB + 이미지 5MB + CSV 200MB = 205.3MB (CSV 98%)</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05740">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② 200명 월·연</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월 약 41GB · 연 약 493GB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05740">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③ 백업 1회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DB + 첨부 전체 복사 (backups.py, 하드링크 기본 꺼짐)</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05740">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④ 보관 개수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최근 14개 보관 (config.py)</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05740">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⑤ 1년 말 백업 총량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493GB × 14 ≈ 6.8TB (날짜별 차이 반영 6,775GB)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r>
              <a:tr h="205740">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⑥ NAS 2TB 한계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2TB ÷ 14개 = 데이터 약 143GB까지 → 월 41GB 기준 약 3.5개월</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r>
            </a:tbl>
          </a:graphicData>
        </a:graphic>
      </p:graphicFrame>
      <p:sp>
        <p:nvSpPr>
          <p:cNvPr id="8" name="measure-box"/>
          <p:cNvSpPr/>
          <p:nvPr/>
        </p:nvSpPr>
        <p:spPr>
          <a:xfrm>
            <a:off x="7086600" y="4553712"/>
            <a:ext cx="4690872" cy="1536192"/>
          </a:xfrm>
          <a:prstGeom prst="roundRect">
            <a:avLst>
              <a:gd name="adj" fmla="val 4761"/>
            </a:avLst>
          </a:prstGeom>
          <a:solidFill>
            <a:srgbClr val="EEF2F8"/>
          </a:solidFill>
          <a:ln w="12700">
            <a:solidFill>
              <a:srgbClr val="1F3864"/>
            </a:solidFill>
          </a:ln>
          <a:effectLst/>
        </p:spPr>
        <p:txBody>
          <a:bodyPr rtlCol="0" anchor="ctr"/>
          <a:lstStyle/>
          <a:p/>
        </p:txBody>
      </p:sp>
      <p:sp>
        <p:nvSpPr>
          <p:cNvPr id="9" name="icon-clock"/>
          <p:cNvSpPr/>
          <p:nvPr/>
        </p:nvSpPr>
        <p:spPr>
          <a:xfrm>
            <a:off x="7196328" y="4645152"/>
            <a:ext cx="219456" cy="219456"/>
          </a:xfrm>
          <a:custGeom>
            <a:avLst/>
            <a:gdLst/>
            <a:ahLst/>
            <a:cxnLst/>
            <a:rect l="0" t="0" r="r" b="b"/>
            <a:pathLst>
              <a:path w="24000" h="24000" fill="none">
                <a:moveTo>
                  <a:pt x="12000" y="12000"/>
                </a:moveTo>
                <a:moveTo>
                  <a:pt x="3000" y="12000"/>
                </a:moveTo>
                <a:cubicBezTo>
                  <a:pt x="3000" y="16971"/>
                  <a:pt x="7029" y="21000"/>
                  <a:pt x="12000" y="21000"/>
                </a:cubicBezTo>
                <a:cubicBezTo>
                  <a:pt x="16971" y="21000"/>
                  <a:pt x="21000" y="16971"/>
                  <a:pt x="21000" y="12000"/>
                </a:cubicBezTo>
                <a:cubicBezTo>
                  <a:pt x="21000" y="7029"/>
                  <a:pt x="16971" y="3000"/>
                  <a:pt x="12000" y="3000"/>
                </a:cubicBezTo>
                <a:cubicBezTo>
                  <a:pt x="7029" y="3000"/>
                  <a:pt x="3000" y="7029"/>
                  <a:pt x="3000" y="12000"/>
                </a:cubicBezTo>
              </a:path>
              <a:path w="24000" h="24000" fill="none">
                <a:moveTo>
                  <a:pt x="12000" y="12000"/>
                </a:moveTo>
                <a:lnTo>
                  <a:pt x="15000" y="14000"/>
                </a:lnTo>
              </a:path>
              <a:path w="24000" h="24000" fill="none">
                <a:moveTo>
                  <a:pt x="12000" y="7000"/>
                </a:moveTo>
                <a:lnTo>
                  <a:pt x="12000" y="12000"/>
                </a:lnTo>
              </a:path>
            </a:pathLst>
          </a:custGeom>
          <a:solidFill>
            <a:srgbClr val="1F3864"/>
          </a:solidFill>
          <a:ln w="12700">
            <a:solidFill>
              <a:srgbClr val="1F3864"/>
            </a:solidFill>
          </a:ln>
          <a:effectLst/>
        </p:spPr>
        <p:txBody>
          <a:bodyPr rtlCol="0" anchor="ctr"/>
          <a:lstStyle/>
          <a:p/>
        </p:txBody>
      </p:sp>
      <p:sp>
        <p:nvSpPr>
          <p:cNvPr id="10" name="TextBox 9"/>
          <p:cNvSpPr txBox="1"/>
          <p:nvPr/>
        </p:nvSpPr>
        <p:spPr>
          <a:xfrm>
            <a:off x="7488936" y="4626864"/>
            <a:ext cx="4206240" cy="256032"/>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실측 항목 </a:t>
            </a:r>
            <a:r>
              <a:rPr sz="900" b="0" i="0" lang="ko-KR" altLang="en-US">
                <a:solidFill>
                  <a:srgbClr val="595959"/>
                </a:solidFill>
                <a:latin typeface="LG스마트체 Regular"/>
                <a:ea typeface="LG스마트체 Regular"/>
                <a:cs typeface="LG스마트체 Regular"/>
              </a:rPr>
              <a:t>(개인 서버)</a:t>
            </a:r>
          </a:p>
        </p:txBody>
      </p:sp>
      <p:sp>
        <p:nvSpPr>
          <p:cNvPr id="11" name="TextBox 10"/>
          <p:cNvSpPr txBox="1"/>
          <p:nvPr/>
        </p:nvSpPr>
        <p:spPr>
          <a:xfrm>
            <a:off x="7214616" y="4937760"/>
            <a:ext cx="4480560" cy="1097280"/>
          </a:xfrm>
          <a:prstGeom prst="rect">
            <a:avLst/>
          </a:prstGeom>
          <a:noFill/>
        </p:spPr>
        <p:txBody>
          <a:bodyPr wrap="square" lIns="18288" rIns="18288" tIns="18288" bIns="18288" anchor="t">
            <a:noAutofit/>
          </a:bodyPr>
          <a:lstStyle/>
          <a:p>
            <a:pPr algn="l">
              <a:spcBef>
                <a:spcPts val="0"/>
              </a:spcBef>
            </a:pPr>
            <a:r>
              <a:rPr sz="950" b="1" i="0" lang="ko-KR" altLang="en-US">
                <a:solidFill>
                  <a:srgbClr val="1F3864"/>
                </a:solidFill>
                <a:latin typeface="LG스마트체 Regular"/>
                <a:ea typeface="LG스마트체 Regular"/>
                <a:cs typeface="LG스마트체 Regular"/>
              </a:rPr>
              <a:t>1  </a:t>
            </a:r>
            <a:r>
              <a:rPr sz="950" b="0" i="0" lang="ko-KR" altLang="en-US">
                <a:solidFill>
                  <a:srgbClr val="262626"/>
                </a:solidFill>
                <a:latin typeface="LG스마트체 Regular"/>
                <a:ea typeface="LG스마트체 Regular"/>
                <a:cs typeface="LG스마트체 Regular"/>
              </a:rPr>
              <a:t>DATA_DIR 크기 · 월 증가량</a:t>
            </a:r>
          </a:p>
          <a:p>
            <a:pPr algn="l">
              <a:spcBef>
                <a:spcPts val="600"/>
              </a:spcBef>
            </a:pPr>
            <a:r>
              <a:rPr sz="950" b="1" i="0" lang="ko-KR" altLang="en-US">
                <a:solidFill>
                  <a:srgbClr val="1F3864"/>
                </a:solidFill>
                <a:latin typeface="LG스마트체 Regular"/>
                <a:ea typeface="LG스마트체 Regular"/>
                <a:cs typeface="LG스마트체 Regular"/>
              </a:rPr>
              <a:t>2  </a:t>
            </a:r>
            <a:r>
              <a:rPr sz="950" b="0" i="0" lang="ko-KR" altLang="en-US">
                <a:solidFill>
                  <a:srgbClr val="262626"/>
                </a:solidFill>
                <a:latin typeface="LG스마트체 Regular"/>
                <a:ea typeface="LG스마트체 Regular"/>
                <a:cs typeface="LG스마트체 Regular"/>
              </a:rPr>
              <a:t>백업 1회 크기 </a:t>
            </a:r>
            <a:r>
              <a:rPr sz="950" b="0" i="0" lang="ko-KR" altLang="en-US">
                <a:solidFill>
                  <a:srgbClr val="595959"/>
                </a:solidFill>
                <a:latin typeface="LG스마트체 Regular"/>
                <a:ea typeface="LG스마트체 Regular"/>
                <a:cs typeface="LG스마트체 Regular"/>
              </a:rPr>
              <a:t>(backups/&lt;ID&gt;)</a:t>
            </a:r>
          </a:p>
          <a:p>
            <a:pPr algn="l">
              <a:spcBef>
                <a:spcPts val="600"/>
              </a:spcBef>
            </a:pPr>
            <a:r>
              <a:rPr sz="950" b="1" i="0" lang="ko-KR" altLang="en-US">
                <a:solidFill>
                  <a:srgbClr val="1F3864"/>
                </a:solidFill>
                <a:latin typeface="LG스마트체 Regular"/>
                <a:ea typeface="LG스마트체 Regular"/>
                <a:cs typeface="LG스마트체 Regular"/>
              </a:rPr>
              <a:t>3  </a:t>
            </a:r>
            <a:r>
              <a:rPr sz="950" b="0" i="0" lang="ko-KR" altLang="en-US">
                <a:solidFill>
                  <a:srgbClr val="262626"/>
                </a:solidFill>
                <a:latin typeface="LG스마트체 Regular"/>
                <a:ea typeface="LG스마트체 Regular"/>
                <a:cs typeface="LG스마트체 Regular"/>
              </a:rPr>
              <a:t>보고서 생성 1건 소요 시간 · AI 호출 수 </a:t>
            </a:r>
            <a:r>
              <a:rPr sz="950" b="0" i="0" lang="ko-KR" altLang="en-US">
                <a:solidFill>
                  <a:srgbClr val="595959"/>
                </a:solidFill>
                <a:latin typeface="LG스마트체 Regular"/>
                <a:ea typeface="LG스마트체 Regular"/>
                <a:cs typeface="LG스마트체 Regular"/>
              </a:rPr>
              <a:t>(작업 완료 내역)</a:t>
            </a:r>
          </a:p>
          <a:p>
            <a:pPr algn="l">
              <a:spcBef>
                <a:spcPts val="600"/>
              </a:spcBef>
            </a:pPr>
            <a:r>
              <a:rPr sz="950" b="1" i="0" lang="ko-KR" altLang="en-US">
                <a:solidFill>
                  <a:srgbClr val="1F3864"/>
                </a:solidFill>
                <a:latin typeface="LG스마트체 Regular"/>
                <a:ea typeface="LG스마트체 Regular"/>
                <a:cs typeface="LG스마트체 Regular"/>
              </a:rPr>
              <a:t>4  </a:t>
            </a:r>
            <a:r>
              <a:rPr sz="950" b="0" i="0" lang="ko-KR" altLang="en-US">
                <a:solidFill>
                  <a:srgbClr val="262626"/>
                </a:solidFill>
                <a:latin typeface="LG스마트체 Regular"/>
                <a:ea typeface="LG스마트체 Regular"/>
                <a:cs typeface="LG스마트체 Regular"/>
              </a:rPr>
              <a:t>동시 사용자 부하 </a:t>
            </a:r>
            <a:r>
              <a:rPr sz="950" b="0" i="0" lang="ko-KR" altLang="en-US">
                <a:solidFill>
                  <a:srgbClr val="595959"/>
                </a:solidFill>
                <a:latin typeface="LG스마트체 Regular"/>
                <a:ea typeface="LG스마트체 Regular"/>
                <a:cs typeface="LG스마트체 Regular"/>
              </a:rPr>
              <a:t>(scripts/loadtest.py)</a:t>
            </a:r>
          </a:p>
        </p:txBody>
      </p:sp>
      <p:cxnSp>
        <p:nvCxnSpPr>
          <p:cNvPr id="12" name="legend-solid"/>
          <p:cNvCxnSpPr/>
          <p:nvPr/>
        </p:nvCxnSpPr>
        <p:spPr>
          <a:xfrm>
            <a:off x="4023360" y="6446520"/>
            <a:ext cx="384048" cy="0"/>
          </a:xfrm>
          <a:prstGeom prst="line">
            <a:avLst/>
          </a:prstGeom>
          <a:ln w="19050">
            <a:solidFill>
              <a:srgbClr val="1F3864"/>
            </a:solidFill>
          </a:ln>
        </p:spPr>
      </p:cxnSp>
      <p:sp>
        <p:nvSpPr>
          <p:cNvPr id="13" name="TextBox 12"/>
          <p:cNvSpPr txBox="1"/>
          <p:nvPr/>
        </p:nvSpPr>
        <p:spPr>
          <a:xfrm>
            <a:off x="4462272" y="6345936"/>
            <a:ext cx="20116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실선 = 확정(메일 합의·저장소 구현)</a:t>
            </a:r>
          </a:p>
        </p:txBody>
      </p:sp>
      <p:cxnSp>
        <p:nvCxnSpPr>
          <p:cNvPr id="14" name="legend-dash"/>
          <p:cNvCxnSpPr/>
          <p:nvPr/>
        </p:nvCxnSpPr>
        <p:spPr>
          <a:xfrm>
            <a:off x="6537960" y="6446520"/>
            <a:ext cx="384048" cy="0"/>
          </a:xfrm>
          <a:prstGeom prst="line">
            <a:avLst/>
          </a:prstGeom>
          <a:ln w="19050">
            <a:solidFill>
              <a:srgbClr val="C55A11"/>
            </a:solidFill>
            <a:prstDash val="dash"/>
          </a:ln>
        </p:spPr>
      </p:cxnSp>
      <p:sp>
        <p:nvSpPr>
          <p:cNvPr id="15" name="TextBox 14"/>
          <p:cNvSpPr txBox="1"/>
          <p:nvPr/>
        </p:nvSpPr>
        <p:spPr>
          <a:xfrm>
            <a:off x="6976872" y="6345936"/>
            <a:ext cx="96012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점선 = 계획·미정</a:t>
            </a:r>
          </a:p>
        </p:txBody>
      </p:sp>
      <p:sp>
        <p:nvSpPr>
          <p:cNvPr id="16" name="TextBox 15"/>
          <p:cNvSpPr txBox="1"/>
          <p:nvPr/>
        </p:nvSpPr>
        <p:spPr>
          <a:xfrm>
            <a:off x="8001000" y="6345936"/>
            <a:ext cx="1965960" cy="201168"/>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 충돌</a:t>
            </a:r>
            <a:r>
              <a:rPr sz="900" b="0" i="0" lang="ko-KR" altLang="en-US">
                <a:solidFill>
                  <a:srgbClr val="595959"/>
                </a:solidFill>
                <a:latin typeface="LG스마트체 Regular"/>
                <a:ea typeface="LG스마트체 Regular"/>
                <a:cs typeface="LG스마트체 Regular"/>
              </a:rPr>
              <a:t> = 메일↔코드 불일치</a:t>
            </a:r>
          </a:p>
        </p:txBody>
      </p:sp>
      <p:sp>
        <p:nvSpPr>
          <p:cNvPr id="17" name="Rounded Rectangle 16"/>
          <p:cNvSpPr/>
          <p:nvPr/>
        </p:nvSpPr>
        <p:spPr>
          <a:xfrm>
            <a:off x="10012680" y="6355080"/>
            <a:ext cx="384048" cy="182880"/>
          </a:xfrm>
          <a:prstGeom prst="roundRect">
            <a:avLst>
              <a:gd name="adj" fmla="val 25000"/>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18" name="TextBox 17"/>
          <p:cNvSpPr txBox="1"/>
          <p:nvPr/>
        </p:nvSpPr>
        <p:spPr>
          <a:xfrm>
            <a:off x="10451592" y="6345936"/>
            <a:ext cx="10972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 실측 전 추정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56032"/>
            <a:ext cx="8961120" cy="310896"/>
          </a:xfrm>
          <a:prstGeom prst="rect">
            <a:avLst/>
          </a:prstGeom>
          <a:noFill/>
        </p:spPr>
        <p:txBody>
          <a:bodyPr wrap="square" lIns="0" rIns="0" tIns="18288" bIns="18288" anchor="t">
            <a:noAutofit/>
          </a:bodyPr>
          <a:lstStyle/>
          <a:p>
            <a:pPr algn="l"/>
            <a:r>
              <a:rPr sz="1600" b="1" i="0" lang="ko-KR" altLang="en-US">
                <a:solidFill>
                  <a:srgbClr val="1F3864"/>
                </a:solidFill>
                <a:latin typeface="LG스마트체 Regular"/>
                <a:ea typeface="LG스마트체 Regular"/>
                <a:cs typeface="LG스마트체 Regular"/>
              </a:rPr>
              <a:t>부록 B. 상세 배치도 (초안 · DAVINCI 검토용) — 컨테이너 · 볼륨 · 포트 · 마운트</a:t>
            </a:r>
          </a:p>
        </p:txBody>
      </p:sp>
      <p:sp>
        <p:nvSpPr>
          <p:cNvPr id="3" name="TextBox 2"/>
          <p:cNvSpPr txBox="1"/>
          <p:nvPr/>
        </p:nvSpPr>
        <p:spPr>
          <a:xfrm>
            <a:off x="411480" y="621792"/>
            <a:ext cx="8961120" cy="219456"/>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근거: backend/run.py · app/config.py · app/db.py · services/backups.py · docs/03_ARCHITECTURE · docs/09_OPERATIONS §3·§5</a:t>
            </a:r>
          </a:p>
        </p:txBody>
      </p:sp>
      <p:sp>
        <p:nvSpPr>
          <p:cNvPr id="4" name="draft-tag"/>
          <p:cNvSpPr/>
          <p:nvPr/>
        </p:nvSpPr>
        <p:spPr>
          <a:xfrm>
            <a:off x="9628632" y="274320"/>
            <a:ext cx="2148840" cy="329184"/>
          </a:xfrm>
          <a:prstGeom prst="roundRect">
            <a:avLst>
              <a:gd name="adj" fmla="val 16666"/>
            </a:avLst>
          </a:prstGeom>
          <a:solidFill>
            <a:srgbClr val="FFF5EB"/>
          </a:solidFill>
          <a:ln w="15875">
            <a:solidFill>
              <a:srgbClr val="C55A11"/>
            </a:solidFill>
            <a:prstDash val="dash"/>
          </a:ln>
          <a:effectLst/>
        </p:spPr>
        <p:txBody>
          <a:bodyPr rtlCol="0" anchor="ctr" wrap="square" lIns="36576" rIns="36576" tIns="18288" bIns="18288">
            <a:noAutofit/>
          </a:bodyPr>
          <a:lstStyle/>
          <a:p>
            <a:pPr algn="ctr"/>
            <a:r>
              <a:rPr sz="1100" b="1" i="0" lang="ko-KR" altLang="en-US">
                <a:solidFill>
                  <a:srgbClr val="C55A11"/>
                </a:solidFill>
                <a:latin typeface="LG스마트체 Regular"/>
                <a:ea typeface="LG스마트체 Regular"/>
                <a:cs typeface="LG스마트체 Regular"/>
              </a:rPr>
              <a:t>초안 — DAVINCI 확인 전</a:t>
            </a:r>
          </a:p>
        </p:txBody>
      </p:sp>
      <p:sp>
        <p:nvSpPr>
          <p:cNvPr id="5" name="users"/>
          <p:cNvSpPr/>
          <p:nvPr/>
        </p:nvSpPr>
        <p:spPr>
          <a:xfrm>
            <a:off x="411480" y="1463040"/>
            <a:ext cx="1783080" cy="731520"/>
          </a:xfrm>
          <a:prstGeom prst="roundRect">
            <a:avLst>
              <a:gd name="adj" fmla="val 7500"/>
            </a:avLst>
          </a:prstGeom>
          <a:solidFill>
            <a:srgbClr val="F7F7F7"/>
          </a:solidFill>
          <a:ln w="12700">
            <a:solidFill>
              <a:srgbClr val="595959"/>
            </a:solidFill>
          </a:ln>
          <a:effectLst/>
        </p:spPr>
        <p:txBody>
          <a:bodyPr rtlCol="0" anchor="ctr"/>
          <a:lstStyle/>
          <a:p/>
        </p:txBody>
      </p:sp>
      <p:sp>
        <p:nvSpPr>
          <p:cNvPr id="6" name="icon-users"/>
          <p:cNvSpPr/>
          <p:nvPr/>
        </p:nvSpPr>
        <p:spPr>
          <a:xfrm>
            <a:off x="502920" y="1627632"/>
            <a:ext cx="365760" cy="365760"/>
          </a:xfrm>
          <a:custGeom>
            <a:avLst/>
            <a:gdLst/>
            <a:ahLst/>
            <a:cxnLst/>
            <a:rect l="0" t="0" r="r" b="b"/>
            <a:pathLst>
              <a:path w="24000" h="24000" stroke="0">
                <a:moveTo>
                  <a:pt x="12000" y="12750"/>
                </a:moveTo>
                <a:cubicBezTo>
                  <a:pt x="13630" y="12750"/>
                  <a:pt x="15070" y="13140"/>
                  <a:pt x="16240" y="13650"/>
                </a:cubicBezTo>
                <a:cubicBezTo>
                  <a:pt x="17320" y="14130"/>
                  <a:pt x="18000" y="15210"/>
                  <a:pt x="18000" y="16380"/>
                </a:cubicBezTo>
                <a:lnTo>
                  <a:pt x="18000" y="18000"/>
                </a:lnTo>
                <a:lnTo>
                  <a:pt x="6000" y="18000"/>
                </a:lnTo>
                <a:lnTo>
                  <a:pt x="6000" y="16390"/>
                </a:lnTo>
                <a:cubicBezTo>
                  <a:pt x="6000" y="15210"/>
                  <a:pt x="6680" y="14130"/>
                  <a:pt x="7760" y="13660"/>
                </a:cubicBezTo>
                <a:cubicBezTo>
                  <a:pt x="8930" y="13140"/>
                  <a:pt x="10370" y="12750"/>
                  <a:pt x="12000" y="12750"/>
                </a:cubicBezTo>
                <a:close/>
                <a:moveTo>
                  <a:pt x="4000" y="13000"/>
                </a:moveTo>
                <a:cubicBezTo>
                  <a:pt x="5100" y="13000"/>
                  <a:pt x="6000" y="12100"/>
                  <a:pt x="6000" y="11000"/>
                </a:cubicBezTo>
                <a:cubicBezTo>
                  <a:pt x="6000" y="9900"/>
                  <a:pt x="5100" y="9000"/>
                  <a:pt x="4000" y="9000"/>
                </a:cubicBezTo>
                <a:cubicBezTo>
                  <a:pt x="2900" y="9000"/>
                  <a:pt x="2000" y="9900"/>
                  <a:pt x="2000" y="11000"/>
                </a:cubicBezTo>
                <a:cubicBezTo>
                  <a:pt x="2000" y="12100"/>
                  <a:pt x="2900" y="13000"/>
                  <a:pt x="4000" y="13000"/>
                </a:cubicBezTo>
                <a:close/>
                <a:moveTo>
                  <a:pt x="5130" y="14100"/>
                </a:moveTo>
                <a:cubicBezTo>
                  <a:pt x="4760" y="14040"/>
                  <a:pt x="4390" y="14000"/>
                  <a:pt x="4000" y="14000"/>
                </a:cubicBezTo>
                <a:cubicBezTo>
                  <a:pt x="3010" y="14000"/>
                  <a:pt x="2070" y="14210"/>
                  <a:pt x="1220" y="14580"/>
                </a:cubicBezTo>
                <a:cubicBezTo>
                  <a:pt x="479" y="14897"/>
                  <a:pt x="-1" y="15625"/>
                  <a:pt x="0" y="16430"/>
                </a:cubicBezTo>
                <a:lnTo>
                  <a:pt x="0" y="18000"/>
                </a:lnTo>
                <a:lnTo>
                  <a:pt x="4500" y="18000"/>
                </a:lnTo>
                <a:lnTo>
                  <a:pt x="4500" y="16390"/>
                </a:lnTo>
                <a:cubicBezTo>
                  <a:pt x="4500" y="15560"/>
                  <a:pt x="4730" y="14780"/>
                  <a:pt x="5130" y="14100"/>
                </a:cubicBezTo>
                <a:close/>
                <a:moveTo>
                  <a:pt x="20000" y="13000"/>
                </a:moveTo>
                <a:cubicBezTo>
                  <a:pt x="21100" y="13000"/>
                  <a:pt x="22000" y="12100"/>
                  <a:pt x="22000" y="11000"/>
                </a:cubicBezTo>
                <a:cubicBezTo>
                  <a:pt x="22000" y="9900"/>
                  <a:pt x="21100" y="9000"/>
                  <a:pt x="20000" y="9000"/>
                </a:cubicBezTo>
                <a:cubicBezTo>
                  <a:pt x="18900" y="9000"/>
                  <a:pt x="18000" y="9900"/>
                  <a:pt x="18000" y="11000"/>
                </a:cubicBezTo>
                <a:cubicBezTo>
                  <a:pt x="18000" y="12100"/>
                  <a:pt x="18900" y="13000"/>
                  <a:pt x="20000" y="13000"/>
                </a:cubicBezTo>
                <a:close/>
                <a:moveTo>
                  <a:pt x="24000" y="16430"/>
                </a:moveTo>
                <a:cubicBezTo>
                  <a:pt x="24000" y="15620"/>
                  <a:pt x="23520" y="14900"/>
                  <a:pt x="22780" y="14580"/>
                </a:cubicBezTo>
                <a:cubicBezTo>
                  <a:pt x="21903" y="14197"/>
                  <a:pt x="20957" y="14000"/>
                  <a:pt x="20000" y="14000"/>
                </a:cubicBezTo>
                <a:cubicBezTo>
                  <a:pt x="19610" y="14000"/>
                  <a:pt x="19240" y="14040"/>
                  <a:pt x="18870" y="14100"/>
                </a:cubicBezTo>
                <a:cubicBezTo>
                  <a:pt x="19270" y="14780"/>
                  <a:pt x="19500" y="15560"/>
                  <a:pt x="19500" y="16390"/>
                </a:cubicBezTo>
                <a:lnTo>
                  <a:pt x="19500" y="18000"/>
                </a:lnTo>
                <a:lnTo>
                  <a:pt x="24000" y="18000"/>
                </a:lnTo>
                <a:lnTo>
                  <a:pt x="24000" y="16430"/>
                </a:lnTo>
                <a:close/>
                <a:moveTo>
                  <a:pt x="12000" y="6000"/>
                </a:moveTo>
                <a:cubicBezTo>
                  <a:pt x="13660" y="6000"/>
                  <a:pt x="15000" y="7340"/>
                  <a:pt x="15000" y="9000"/>
                </a:cubicBezTo>
                <a:cubicBezTo>
                  <a:pt x="15000" y="10660"/>
                  <a:pt x="13660" y="12000"/>
                  <a:pt x="12000" y="12000"/>
                </a:cubicBezTo>
                <a:cubicBezTo>
                  <a:pt x="10340" y="12000"/>
                  <a:pt x="9000" y="10660"/>
                  <a:pt x="9000" y="9000"/>
                </a:cubicBezTo>
                <a:cubicBezTo>
                  <a:pt x="9000" y="7340"/>
                  <a:pt x="10340" y="6000"/>
                  <a:pt x="12000" y="6000"/>
                </a:cubicBezTo>
                <a:close/>
              </a:path>
            </a:pathLst>
          </a:custGeom>
          <a:solidFill>
            <a:srgbClr val="595959"/>
          </a:solidFill>
          <a:ln>
            <a:noFill/>
          </a:ln>
          <a:effectLst/>
        </p:spPr>
        <p:txBody>
          <a:bodyPr rtlCol="0" anchor="ctr"/>
          <a:lstStyle/>
          <a:p/>
        </p:txBody>
      </p:sp>
      <p:sp>
        <p:nvSpPr>
          <p:cNvPr id="7" name="TextBox 6"/>
          <p:cNvSpPr txBox="1"/>
          <p:nvPr/>
        </p:nvSpPr>
        <p:spPr>
          <a:xfrm>
            <a:off x="932688" y="1517904"/>
            <a:ext cx="1216152" cy="621792"/>
          </a:xfrm>
          <a:prstGeom prst="rect">
            <a:avLst/>
          </a:prstGeom>
          <a:noFill/>
        </p:spPr>
        <p:txBody>
          <a:bodyPr wrap="square" lIns="0" rIns="0" tIns="18288" bIns="18288" anchor="ctr">
            <a:noAutofit/>
          </a:bodyPr>
          <a:lstStyle/>
          <a:p>
            <a:pPr algn="l"/>
            <a:r>
              <a:rPr sz="950" b="1" i="0" lang="ko-KR" altLang="en-US">
                <a:solidFill>
                  <a:srgbClr val="262626"/>
                </a:solidFill>
                <a:latin typeface="LG스마트체 Regular"/>
                <a:ea typeface="LG스마트체 Regular"/>
                <a:cs typeface="LG스마트체 Regular"/>
              </a:rPr>
              <a:t>사내망 사용자</a:t>
            </a:r>
          </a:p>
          <a:p>
            <a:pPr algn="l"/>
            <a:r>
              <a:rPr sz="950" b="0" i="0" lang="ko-KR" altLang="en-US">
                <a:solidFill>
                  <a:srgbClr val="595959"/>
                </a:solidFill>
                <a:latin typeface="LG스마트체 Regular"/>
                <a:ea typeface="LG스마트체 Regular"/>
                <a:cs typeface="LG스마트체 Regular"/>
              </a:rPr>
              <a:t>브라우저</a:t>
            </a:r>
          </a:p>
        </p:txBody>
      </p:sp>
      <p:cxnSp>
        <p:nvCxnSpPr>
          <p:cNvPr id="8" name="in-1"/>
          <p:cNvCxnSpPr/>
          <p:nvPr/>
        </p:nvCxnSpPr>
        <p:spPr>
          <a:xfrm>
            <a:off x="1303020" y="2194560"/>
            <a:ext cx="0" cy="411480"/>
          </a:xfrm>
          <a:prstGeom prst="line">
            <a:avLst/>
          </a:prstGeom>
          <a:ln w="19050">
            <a:solidFill>
              <a:srgbClr val="C55A11"/>
            </a:solidFill>
            <a:prstDash val="dash"/>
            <a:tailEnd type="triangle" w="med" len="med"/>
          </a:ln>
        </p:spPr>
      </p:cxnSp>
      <p:sp>
        <p:nvSpPr>
          <p:cNvPr id="9" name="firewall"/>
          <p:cNvSpPr/>
          <p:nvPr/>
        </p:nvSpPr>
        <p:spPr>
          <a:xfrm>
            <a:off x="411480" y="2606040"/>
            <a:ext cx="1783080" cy="731520"/>
          </a:xfrm>
          <a:prstGeom prst="roundRect">
            <a:avLst>
              <a:gd name="adj" fmla="val 7500"/>
            </a:avLst>
          </a:prstGeom>
          <a:solidFill>
            <a:srgbClr val="FFF5EB"/>
          </a:solidFill>
          <a:ln w="12700">
            <a:solidFill>
              <a:srgbClr val="C55A11"/>
            </a:solidFill>
            <a:prstDash val="dash"/>
          </a:ln>
          <a:effectLst/>
        </p:spPr>
        <p:txBody>
          <a:bodyPr rtlCol="0" anchor="ctr"/>
          <a:lstStyle/>
          <a:p/>
        </p:txBody>
      </p:sp>
      <p:sp>
        <p:nvSpPr>
          <p:cNvPr id="10" name="icon-firewall"/>
          <p:cNvSpPr/>
          <p:nvPr/>
        </p:nvSpPr>
        <p:spPr>
          <a:xfrm>
            <a:off x="502920" y="2770632"/>
            <a:ext cx="365760" cy="365760"/>
          </a:xfrm>
          <a:custGeom>
            <a:avLst/>
            <a:gdLst/>
            <a:ahLst/>
            <a:cxnLst/>
            <a:rect l="0" t="0" r="r" b="b"/>
            <a:pathLst>
              <a:path w="24000" h="24000" fill="none">
                <a:moveTo>
                  <a:pt x="12000" y="3000"/>
                </a:moveTo>
                <a:cubicBezTo>
                  <a:pt x="14336" y="5067"/>
                  <a:pt x="17384" y="6143"/>
                  <a:pt x="20500" y="6000"/>
                </a:cubicBezTo>
                <a:cubicBezTo>
                  <a:pt x="21416" y="9118"/>
                  <a:pt x="21029" y="12473"/>
                  <a:pt x="19427" y="15301"/>
                </a:cubicBezTo>
                <a:cubicBezTo>
                  <a:pt x="17825" y="18128"/>
                  <a:pt x="15145" y="20184"/>
                  <a:pt x="12000" y="21000"/>
                </a:cubicBezTo>
                <a:cubicBezTo>
                  <a:pt x="8855" y="20184"/>
                  <a:pt x="6175" y="18128"/>
                  <a:pt x="4573" y="15301"/>
                </a:cubicBezTo>
                <a:cubicBezTo>
                  <a:pt x="2971" y="12473"/>
                  <a:pt x="2584" y="9118"/>
                  <a:pt x="3500" y="6000"/>
                </a:cubicBezTo>
                <a:cubicBezTo>
                  <a:pt x="6616" y="6143"/>
                  <a:pt x="9664" y="5067"/>
                  <a:pt x="12000" y="3000"/>
                </a:cubicBezTo>
              </a:path>
              <a:path w="24000" h="24000" fill="none">
                <a:moveTo>
                  <a:pt x="12000" y="11000"/>
                </a:moveTo>
                <a:moveTo>
                  <a:pt x="11000" y="11000"/>
                </a:moveTo>
                <a:cubicBezTo>
                  <a:pt x="11000" y="11552"/>
                  <a:pt x="11448" y="12000"/>
                  <a:pt x="12000" y="12000"/>
                </a:cubicBezTo>
                <a:cubicBezTo>
                  <a:pt x="12552" y="12000"/>
                  <a:pt x="13000" y="11552"/>
                  <a:pt x="13000" y="11000"/>
                </a:cubicBezTo>
                <a:cubicBezTo>
                  <a:pt x="13000" y="10448"/>
                  <a:pt x="12552" y="10000"/>
                  <a:pt x="12000" y="10000"/>
                </a:cubicBezTo>
                <a:cubicBezTo>
                  <a:pt x="11448" y="10000"/>
                  <a:pt x="11000" y="10448"/>
                  <a:pt x="11000" y="11000"/>
                </a:cubicBezTo>
              </a:path>
              <a:path w="24000" h="24000" fill="none">
                <a:moveTo>
                  <a:pt x="12000" y="12000"/>
                </a:moveTo>
                <a:lnTo>
                  <a:pt x="12000" y="14500"/>
                </a:lnTo>
              </a:path>
            </a:pathLst>
          </a:custGeom>
          <a:solidFill>
            <a:srgbClr val="595959"/>
          </a:solidFill>
          <a:ln w="12700">
            <a:solidFill>
              <a:srgbClr val="595959"/>
            </a:solidFill>
          </a:ln>
          <a:effectLst/>
        </p:spPr>
        <p:txBody>
          <a:bodyPr rtlCol="0" anchor="ctr"/>
          <a:lstStyle/>
          <a:p/>
        </p:txBody>
      </p:sp>
      <p:sp>
        <p:nvSpPr>
          <p:cNvPr id="11" name="TextBox 10"/>
          <p:cNvSpPr txBox="1"/>
          <p:nvPr/>
        </p:nvSpPr>
        <p:spPr>
          <a:xfrm>
            <a:off x="932688" y="2660904"/>
            <a:ext cx="1216152" cy="621792"/>
          </a:xfrm>
          <a:prstGeom prst="rect">
            <a:avLst/>
          </a:prstGeom>
          <a:noFill/>
        </p:spPr>
        <p:txBody>
          <a:bodyPr wrap="square" lIns="0" rIns="0" tIns="18288" bIns="18288" anchor="ctr">
            <a:noAutofit/>
          </a:bodyPr>
          <a:lstStyle/>
          <a:p>
            <a:pPr algn="l"/>
            <a:r>
              <a:rPr sz="950" b="1" i="0" lang="ko-KR" altLang="en-US">
                <a:solidFill>
                  <a:srgbClr val="262626"/>
                </a:solidFill>
                <a:latin typeface="LG스마트체 Regular"/>
                <a:ea typeface="LG스마트체 Regular"/>
                <a:cs typeface="LG스마트체 Regular"/>
              </a:rPr>
              <a:t>방화벽</a:t>
            </a:r>
          </a:p>
          <a:p>
            <a:pPr algn="l"/>
            <a:r>
              <a:rPr sz="950" b="0" i="0" lang="ko-KR" altLang="en-US">
                <a:solidFill>
                  <a:srgbClr val="C55A11"/>
                </a:solidFill>
                <a:latin typeface="LG스마트체 Regular"/>
                <a:ea typeface="LG스마트체 Regular"/>
                <a:cs typeface="LG스마트체 Regular"/>
              </a:rPr>
              <a:t>인바운드 규칙 미정</a:t>
            </a:r>
          </a:p>
        </p:txBody>
      </p:sp>
      <p:cxnSp>
        <p:nvCxnSpPr>
          <p:cNvPr id="12" name="in-2"/>
          <p:cNvCxnSpPr/>
          <p:nvPr/>
        </p:nvCxnSpPr>
        <p:spPr>
          <a:xfrm>
            <a:off x="2194560" y="2971800"/>
            <a:ext cx="777240" cy="0"/>
          </a:xfrm>
          <a:prstGeom prst="line">
            <a:avLst/>
          </a:prstGeom>
          <a:ln w="19050">
            <a:solidFill>
              <a:srgbClr val="C55A11"/>
            </a:solidFill>
            <a:prstDash val="dash"/>
            <a:tailEnd type="triangle" w="med" len="med"/>
          </a:ln>
        </p:spPr>
      </p:cxnSp>
      <p:sp>
        <p:nvSpPr>
          <p:cNvPr id="13" name="badge-1"/>
          <p:cNvSpPr/>
          <p:nvPr/>
        </p:nvSpPr>
        <p:spPr>
          <a:xfrm>
            <a:off x="2327148" y="2857500"/>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1</a:t>
            </a:r>
          </a:p>
        </p:txBody>
      </p:sp>
      <p:sp>
        <p:nvSpPr>
          <p:cNvPr id="14" name="TextBox 13"/>
          <p:cNvSpPr txBox="1"/>
          <p:nvPr/>
        </p:nvSpPr>
        <p:spPr>
          <a:xfrm>
            <a:off x="411480" y="3429000"/>
            <a:ext cx="1783080" cy="384048"/>
          </a:xfrm>
          <a:prstGeom prst="rect">
            <a:avLst/>
          </a:prstGeom>
          <a:noFill/>
        </p:spPr>
        <p:txBody>
          <a:bodyPr wrap="square" lIns="0" rIns="0" tIns="18288" bIns="18288" anchor="t">
            <a:noAutofit/>
          </a:bodyPr>
          <a:lstStyle/>
          <a:p>
            <a:pPr algn="ctr"/>
            <a:r>
              <a:rPr sz="900" b="1" i="0" lang="ko-KR" altLang="en-US">
                <a:solidFill>
                  <a:srgbClr val="C55A11"/>
                </a:solidFill>
                <a:latin typeface="LG스마트체 Regular"/>
                <a:ea typeface="LG스마트체 Regular"/>
                <a:cs typeface="LG스마트체 Regular"/>
              </a:rPr>
              <a:t>TCP 8000</a:t>
            </a:r>
          </a:p>
          <a:p>
            <a:pPr algn="ctr"/>
            <a:r>
              <a:rPr sz="900" b="0" i="0" lang="ko-KR" altLang="en-US">
                <a:solidFill>
                  <a:srgbClr val="C55A11"/>
                </a:solidFill>
                <a:latin typeface="LG스마트체 Regular"/>
                <a:ea typeface="LG스마트체 Regular"/>
                <a:cs typeface="LG스마트체 Regular"/>
              </a:rPr>
              <a:t>(config 기본값 예시, 미정)</a:t>
            </a:r>
          </a:p>
        </p:txBody>
      </p:sp>
      <p:sp>
        <p:nvSpPr>
          <p:cNvPr id="15" name="vm"/>
          <p:cNvSpPr/>
          <p:nvPr/>
        </p:nvSpPr>
        <p:spPr>
          <a:xfrm>
            <a:off x="2697480" y="1188720"/>
            <a:ext cx="5577840" cy="4892040"/>
          </a:xfrm>
          <a:prstGeom prst="roundRect">
            <a:avLst>
              <a:gd name="adj" fmla="val 1869"/>
            </a:avLst>
          </a:prstGeom>
          <a:solidFill>
            <a:srgbClr val="FFFBF7"/>
          </a:solidFill>
          <a:ln w="15875">
            <a:solidFill>
              <a:srgbClr val="C55A11"/>
            </a:solidFill>
            <a:prstDash val="dash"/>
          </a:ln>
          <a:effectLst/>
        </p:spPr>
        <p:txBody>
          <a:bodyPr rtlCol="0" anchor="ctr"/>
          <a:lstStyle/>
          <a:p/>
        </p:txBody>
      </p:sp>
      <p:sp>
        <p:nvSpPr>
          <p:cNvPr id="16" name="icon-vm"/>
          <p:cNvSpPr/>
          <p:nvPr/>
        </p:nvSpPr>
        <p:spPr>
          <a:xfrm>
            <a:off x="2788920" y="1261872"/>
            <a:ext cx="237744" cy="237744"/>
          </a:xfrm>
          <a:custGeom>
            <a:avLst/>
            <a:gdLst/>
            <a:ahLst/>
            <a:cxnLst/>
            <a:rect l="0" t="0" r="r" b="b"/>
            <a:pathLst>
              <a:path w="24000" h="24000" fill="none">
                <a:moveTo>
                  <a:pt x="3000" y="4000"/>
                </a:moveTo>
                <a:moveTo>
                  <a:pt x="3000" y="7000"/>
                </a:moveTo>
                <a:cubicBezTo>
                  <a:pt x="3000" y="5343"/>
                  <a:pt x="4343" y="4000"/>
                  <a:pt x="6000" y="4000"/>
                </a:cubicBezTo>
                <a:lnTo>
                  <a:pt x="18000" y="4000"/>
                </a:lnTo>
                <a:cubicBezTo>
                  <a:pt x="19657" y="4000"/>
                  <a:pt x="21000" y="5343"/>
                  <a:pt x="21000" y="7000"/>
                </a:cubicBezTo>
                <a:lnTo>
                  <a:pt x="21000" y="9000"/>
                </a:lnTo>
                <a:cubicBezTo>
                  <a:pt x="21000" y="10657"/>
                  <a:pt x="19657" y="12000"/>
                  <a:pt x="18000" y="12000"/>
                </a:cubicBezTo>
                <a:lnTo>
                  <a:pt x="6000" y="12000"/>
                </a:lnTo>
                <a:cubicBezTo>
                  <a:pt x="4343" y="12000"/>
                  <a:pt x="3000" y="10657"/>
                  <a:pt x="3000" y="9000"/>
                </a:cubicBezTo>
                <a:close/>
              </a:path>
              <a:path w="24000" h="24000" fill="none">
                <a:moveTo>
                  <a:pt x="3000" y="12000"/>
                </a:moveTo>
                <a:moveTo>
                  <a:pt x="3000" y="15000"/>
                </a:moveTo>
                <a:cubicBezTo>
                  <a:pt x="3000" y="13343"/>
                  <a:pt x="4343" y="12000"/>
                  <a:pt x="6000" y="12000"/>
                </a:cubicBezTo>
                <a:lnTo>
                  <a:pt x="18000" y="12000"/>
                </a:lnTo>
                <a:cubicBezTo>
                  <a:pt x="19657" y="12000"/>
                  <a:pt x="21000" y="13343"/>
                  <a:pt x="21000" y="15000"/>
                </a:cubicBezTo>
                <a:lnTo>
                  <a:pt x="21000" y="17000"/>
                </a:lnTo>
                <a:cubicBezTo>
                  <a:pt x="21000" y="18657"/>
                  <a:pt x="19657" y="20000"/>
                  <a:pt x="18000" y="20000"/>
                </a:cubicBezTo>
                <a:lnTo>
                  <a:pt x="6000" y="20000"/>
                </a:lnTo>
                <a:cubicBezTo>
                  <a:pt x="4343" y="20000"/>
                  <a:pt x="3000" y="18657"/>
                  <a:pt x="3000" y="17000"/>
                </a:cubicBezTo>
                <a:close/>
              </a:path>
              <a:path w="24000" h="24000" fill="none">
                <a:moveTo>
                  <a:pt x="7000" y="8000"/>
                </a:moveTo>
                <a:lnTo>
                  <a:pt x="7000" y="8010"/>
                </a:lnTo>
              </a:path>
              <a:path w="24000" h="24000" fill="none">
                <a:moveTo>
                  <a:pt x="7000" y="16000"/>
                </a:moveTo>
                <a:lnTo>
                  <a:pt x="7000" y="16010"/>
                </a:lnTo>
              </a:path>
              <a:path w="24000" h="24000" fill="none">
                <a:moveTo>
                  <a:pt x="11000" y="8000"/>
                </a:moveTo>
                <a:lnTo>
                  <a:pt x="17000" y="8000"/>
                </a:lnTo>
              </a:path>
              <a:path w="24000" h="24000" fill="none">
                <a:moveTo>
                  <a:pt x="11000" y="16000"/>
                </a:moveTo>
                <a:lnTo>
                  <a:pt x="17000" y="16000"/>
                </a:lnTo>
              </a:path>
            </a:pathLst>
          </a:custGeom>
          <a:solidFill>
            <a:srgbClr val="595959"/>
          </a:solidFill>
          <a:ln w="12700">
            <a:solidFill>
              <a:srgbClr val="595959"/>
            </a:solidFill>
          </a:ln>
          <a:effectLst/>
        </p:spPr>
        <p:txBody>
          <a:bodyPr rtlCol="0" anchor="ctr"/>
          <a:lstStyle/>
          <a:p/>
        </p:txBody>
      </p:sp>
      <p:sp>
        <p:nvSpPr>
          <p:cNvPr id="17" name="TextBox 16"/>
          <p:cNvSpPr txBox="1"/>
          <p:nvPr/>
        </p:nvSpPr>
        <p:spPr>
          <a:xfrm>
            <a:off x="3090672" y="1261872"/>
            <a:ext cx="5029200" cy="256032"/>
          </a:xfrm>
          <a:prstGeom prst="rect">
            <a:avLst/>
          </a:prstGeom>
          <a:noFill/>
        </p:spPr>
        <p:txBody>
          <a:bodyPr wrap="square" lIns="0" rIns="0" tIns="18288" bIns="18288" anchor="t">
            <a:noAutofit/>
          </a:bodyPr>
          <a:lstStyle/>
          <a:p>
            <a:pPr algn="l"/>
            <a:r>
              <a:rPr sz="1100" b="1" i="0" lang="ko-KR" altLang="en-US">
                <a:solidFill>
                  <a:srgbClr val="262626"/>
                </a:solidFill>
                <a:latin typeface="LG스마트체 Regular"/>
                <a:ea typeface="LG스마트체 Regular"/>
                <a:cs typeface="LG스마트체 Regular"/>
              </a:rPr>
              <a:t>Sandbox VM</a:t>
            </a:r>
            <a:r>
              <a:rPr sz="950" b="0" i="0" lang="ko-KR" altLang="en-US">
                <a:solidFill>
                  <a:srgbClr val="C55A11"/>
                </a:solidFill>
                <a:latin typeface="LG스마트체 Regular"/>
                <a:ea typeface="LG스마트체 Regular"/>
                <a:cs typeface="LG스마트체 Regular"/>
              </a:rPr>
              <a:t>  OS 미정 · 8 Core · 32GB 요청</a:t>
            </a:r>
          </a:p>
        </p:txBody>
      </p:sp>
      <p:sp>
        <p:nvSpPr>
          <p:cNvPr id="18" name="docker-engine"/>
          <p:cNvSpPr/>
          <p:nvPr/>
        </p:nvSpPr>
        <p:spPr>
          <a:xfrm>
            <a:off x="2834640" y="1627632"/>
            <a:ext cx="5303520" cy="2514600"/>
          </a:xfrm>
          <a:prstGeom prst="roundRect">
            <a:avLst>
              <a:gd name="adj" fmla="val 2909"/>
            </a:avLst>
          </a:prstGeom>
          <a:solidFill>
            <a:srgbClr val="FFF5EB"/>
          </a:solidFill>
          <a:ln w="15875">
            <a:solidFill>
              <a:srgbClr val="C55A11"/>
            </a:solidFill>
            <a:prstDash val="dash"/>
          </a:ln>
          <a:effectLst/>
        </p:spPr>
        <p:txBody>
          <a:bodyPr rtlCol="0" anchor="ctr"/>
          <a:lstStyle/>
          <a:p/>
        </p:txBody>
      </p:sp>
      <p:sp>
        <p:nvSpPr>
          <p:cNvPr id="19" name="icon-docker"/>
          <p:cNvSpPr/>
          <p:nvPr/>
        </p:nvSpPr>
        <p:spPr>
          <a:xfrm>
            <a:off x="2916936" y="1691640"/>
            <a:ext cx="237744" cy="237744"/>
          </a:xfrm>
          <a:custGeom>
            <a:avLst/>
            <a:gdLst/>
            <a:ahLst/>
            <a:cxnLst/>
            <a:rect l="0" t="0" r="r" b="b"/>
            <a:pathLst>
              <a:path w="24000" h="24000" stroke="0">
                <a:moveTo>
                  <a:pt x="13983" y="11078"/>
                </a:moveTo>
                <a:lnTo>
                  <a:pt x="16102" y="11078"/>
                </a:lnTo>
                <a:cubicBezTo>
                  <a:pt x="16204" y="11078"/>
                  <a:pt x="16287" y="10995"/>
                  <a:pt x="16288" y="10893"/>
                </a:cubicBezTo>
                <a:lnTo>
                  <a:pt x="16288" y="9006"/>
                </a:lnTo>
                <a:cubicBezTo>
                  <a:pt x="16288" y="8903"/>
                  <a:pt x="16205" y="8820"/>
                  <a:pt x="16102" y="8820"/>
                </a:cubicBezTo>
                <a:lnTo>
                  <a:pt x="13983" y="8820"/>
                </a:lnTo>
                <a:cubicBezTo>
                  <a:pt x="13934" y="8820"/>
                  <a:pt x="13887" y="8839"/>
                  <a:pt x="13852" y="8874"/>
                </a:cubicBezTo>
                <a:cubicBezTo>
                  <a:pt x="13817" y="8909"/>
                  <a:pt x="13798" y="8956"/>
                  <a:pt x="13798" y="9005"/>
                </a:cubicBezTo>
                <a:lnTo>
                  <a:pt x="13798" y="10893"/>
                </a:lnTo>
                <a:cubicBezTo>
                  <a:pt x="13798" y="10995"/>
                  <a:pt x="13881" y="11078"/>
                  <a:pt x="13983" y="11078"/>
                </a:cubicBezTo>
                <a:moveTo>
                  <a:pt x="11029" y="5648"/>
                </a:moveTo>
                <a:lnTo>
                  <a:pt x="13147" y="5648"/>
                </a:lnTo>
                <a:cubicBezTo>
                  <a:pt x="13250" y="5648"/>
                  <a:pt x="13333" y="5565"/>
                  <a:pt x="13333" y="5462"/>
                </a:cubicBezTo>
                <a:lnTo>
                  <a:pt x="13333" y="3574"/>
                </a:lnTo>
                <a:cubicBezTo>
                  <a:pt x="13332" y="3472"/>
                  <a:pt x="13249" y="3389"/>
                  <a:pt x="13147" y="3389"/>
                </a:cubicBezTo>
                <a:lnTo>
                  <a:pt x="11029" y="3389"/>
                </a:lnTo>
                <a:cubicBezTo>
                  <a:pt x="10980" y="3389"/>
                  <a:pt x="10933" y="3408"/>
                  <a:pt x="10898" y="3443"/>
                </a:cubicBezTo>
                <a:cubicBezTo>
                  <a:pt x="10863" y="3478"/>
                  <a:pt x="10844" y="3525"/>
                  <a:pt x="10844" y="3574"/>
                </a:cubicBezTo>
                <a:lnTo>
                  <a:pt x="10844" y="5462"/>
                </a:lnTo>
                <a:cubicBezTo>
                  <a:pt x="10844" y="5564"/>
                  <a:pt x="10926" y="5647"/>
                  <a:pt x="11029" y="5647"/>
                </a:cubicBezTo>
                <a:moveTo>
                  <a:pt x="11029" y="8363"/>
                </a:moveTo>
                <a:lnTo>
                  <a:pt x="13147" y="8363"/>
                </a:lnTo>
                <a:cubicBezTo>
                  <a:pt x="13249" y="8362"/>
                  <a:pt x="13332" y="8279"/>
                  <a:pt x="13333" y="8177"/>
                </a:cubicBezTo>
                <a:lnTo>
                  <a:pt x="13333" y="6290"/>
                </a:lnTo>
                <a:cubicBezTo>
                  <a:pt x="13332" y="6188"/>
                  <a:pt x="13249" y="6105"/>
                  <a:pt x="13147" y="6105"/>
                </a:cubicBezTo>
                <a:lnTo>
                  <a:pt x="11029" y="6105"/>
                </a:lnTo>
                <a:cubicBezTo>
                  <a:pt x="10980" y="6105"/>
                  <a:pt x="10933" y="6124"/>
                  <a:pt x="10898" y="6159"/>
                </a:cubicBezTo>
                <a:cubicBezTo>
                  <a:pt x="10863" y="6194"/>
                  <a:pt x="10844" y="6241"/>
                  <a:pt x="10844" y="6290"/>
                </a:cubicBezTo>
                <a:lnTo>
                  <a:pt x="10844" y="8177"/>
                </a:lnTo>
                <a:cubicBezTo>
                  <a:pt x="10844" y="8279"/>
                  <a:pt x="10926" y="8362"/>
                  <a:pt x="11029" y="8363"/>
                </a:cubicBezTo>
                <a:moveTo>
                  <a:pt x="8099" y="8363"/>
                </a:moveTo>
                <a:lnTo>
                  <a:pt x="10219" y="8363"/>
                </a:lnTo>
                <a:cubicBezTo>
                  <a:pt x="10321" y="8362"/>
                  <a:pt x="10403" y="8279"/>
                  <a:pt x="10403" y="8177"/>
                </a:cubicBezTo>
                <a:lnTo>
                  <a:pt x="10403" y="6290"/>
                </a:lnTo>
                <a:cubicBezTo>
                  <a:pt x="10403" y="6241"/>
                  <a:pt x="10384" y="6194"/>
                  <a:pt x="10349" y="6159"/>
                </a:cubicBezTo>
                <a:cubicBezTo>
                  <a:pt x="10314" y="6124"/>
                  <a:pt x="10267" y="6105"/>
                  <a:pt x="10218" y="6105"/>
                </a:cubicBezTo>
                <a:lnTo>
                  <a:pt x="8100" y="6105"/>
                </a:lnTo>
                <a:cubicBezTo>
                  <a:pt x="7998" y="6105"/>
                  <a:pt x="7915" y="6188"/>
                  <a:pt x="7915" y="6290"/>
                </a:cubicBezTo>
                <a:lnTo>
                  <a:pt x="7915" y="8177"/>
                </a:lnTo>
                <a:cubicBezTo>
                  <a:pt x="7915" y="8279"/>
                  <a:pt x="7998" y="8362"/>
                  <a:pt x="8100" y="8363"/>
                </a:cubicBezTo>
                <a:moveTo>
                  <a:pt x="5136" y="8363"/>
                </a:moveTo>
                <a:lnTo>
                  <a:pt x="7255" y="8363"/>
                </a:lnTo>
                <a:cubicBezTo>
                  <a:pt x="7357" y="8362"/>
                  <a:pt x="7440" y="8279"/>
                  <a:pt x="7440" y="8177"/>
                </a:cubicBezTo>
                <a:lnTo>
                  <a:pt x="7440" y="6290"/>
                </a:lnTo>
                <a:cubicBezTo>
                  <a:pt x="7440" y="6188"/>
                  <a:pt x="7357" y="6105"/>
                  <a:pt x="7255" y="6105"/>
                </a:cubicBezTo>
                <a:lnTo>
                  <a:pt x="5136" y="6105"/>
                </a:lnTo>
                <a:cubicBezTo>
                  <a:pt x="5034" y="6105"/>
                  <a:pt x="4951" y="6188"/>
                  <a:pt x="4950" y="6290"/>
                </a:cubicBezTo>
                <a:lnTo>
                  <a:pt x="4950" y="8177"/>
                </a:lnTo>
                <a:cubicBezTo>
                  <a:pt x="4950" y="8279"/>
                  <a:pt x="5034" y="8362"/>
                  <a:pt x="5136" y="8363"/>
                </a:cubicBezTo>
                <a:moveTo>
                  <a:pt x="11029" y="11078"/>
                </a:moveTo>
                <a:lnTo>
                  <a:pt x="13147" y="11078"/>
                </a:lnTo>
                <a:cubicBezTo>
                  <a:pt x="13249" y="11078"/>
                  <a:pt x="13332" y="10995"/>
                  <a:pt x="13333" y="10893"/>
                </a:cubicBezTo>
                <a:lnTo>
                  <a:pt x="13333" y="9006"/>
                </a:lnTo>
                <a:cubicBezTo>
                  <a:pt x="13333" y="8903"/>
                  <a:pt x="13250" y="8820"/>
                  <a:pt x="13147" y="8820"/>
                </a:cubicBezTo>
                <a:lnTo>
                  <a:pt x="11029" y="8820"/>
                </a:lnTo>
                <a:cubicBezTo>
                  <a:pt x="10980" y="8820"/>
                  <a:pt x="10933" y="8839"/>
                  <a:pt x="10898" y="8874"/>
                </a:cubicBezTo>
                <a:cubicBezTo>
                  <a:pt x="10863" y="8909"/>
                  <a:pt x="10844" y="8956"/>
                  <a:pt x="10844" y="9005"/>
                </a:cubicBezTo>
                <a:lnTo>
                  <a:pt x="10844" y="10893"/>
                </a:lnTo>
                <a:cubicBezTo>
                  <a:pt x="10844" y="10995"/>
                  <a:pt x="10926" y="11078"/>
                  <a:pt x="11029" y="11078"/>
                </a:cubicBezTo>
                <a:moveTo>
                  <a:pt x="8099" y="11078"/>
                </a:moveTo>
                <a:lnTo>
                  <a:pt x="10219" y="11078"/>
                </a:lnTo>
                <a:cubicBezTo>
                  <a:pt x="10321" y="11077"/>
                  <a:pt x="10403" y="10995"/>
                  <a:pt x="10403" y="10893"/>
                </a:cubicBezTo>
                <a:lnTo>
                  <a:pt x="10403" y="9006"/>
                </a:lnTo>
                <a:cubicBezTo>
                  <a:pt x="10403" y="8957"/>
                  <a:pt x="10384" y="8910"/>
                  <a:pt x="10350" y="8875"/>
                </a:cubicBezTo>
                <a:cubicBezTo>
                  <a:pt x="10315" y="8840"/>
                  <a:pt x="10268" y="8820"/>
                  <a:pt x="10219" y="8820"/>
                </a:cubicBezTo>
                <a:lnTo>
                  <a:pt x="8099" y="8820"/>
                </a:lnTo>
                <a:cubicBezTo>
                  <a:pt x="7997" y="8821"/>
                  <a:pt x="7915" y="8903"/>
                  <a:pt x="7915" y="9005"/>
                </a:cubicBezTo>
                <a:lnTo>
                  <a:pt x="7915" y="10893"/>
                </a:lnTo>
                <a:cubicBezTo>
                  <a:pt x="7915" y="10995"/>
                  <a:pt x="7998" y="11078"/>
                  <a:pt x="8100" y="11078"/>
                </a:cubicBezTo>
                <a:moveTo>
                  <a:pt x="5136" y="11078"/>
                </a:moveTo>
                <a:lnTo>
                  <a:pt x="7255" y="11078"/>
                </a:lnTo>
                <a:cubicBezTo>
                  <a:pt x="7304" y="11078"/>
                  <a:pt x="7351" y="11059"/>
                  <a:pt x="7386" y="11024"/>
                </a:cubicBezTo>
                <a:cubicBezTo>
                  <a:pt x="7421" y="10989"/>
                  <a:pt x="7440" y="10942"/>
                  <a:pt x="7440" y="10893"/>
                </a:cubicBezTo>
                <a:lnTo>
                  <a:pt x="7440" y="9006"/>
                </a:lnTo>
                <a:cubicBezTo>
                  <a:pt x="7440" y="8957"/>
                  <a:pt x="7421" y="8910"/>
                  <a:pt x="7387" y="8875"/>
                </a:cubicBezTo>
                <a:cubicBezTo>
                  <a:pt x="7352" y="8840"/>
                  <a:pt x="7305" y="8820"/>
                  <a:pt x="7256" y="8820"/>
                </a:cubicBezTo>
                <a:lnTo>
                  <a:pt x="5136" y="8820"/>
                </a:lnTo>
                <a:cubicBezTo>
                  <a:pt x="5033" y="8820"/>
                  <a:pt x="4950" y="8903"/>
                  <a:pt x="4950" y="9006"/>
                </a:cubicBezTo>
                <a:lnTo>
                  <a:pt x="4950" y="10893"/>
                </a:lnTo>
                <a:cubicBezTo>
                  <a:pt x="4950" y="10995"/>
                  <a:pt x="5034" y="11078"/>
                  <a:pt x="5136" y="11078"/>
                </a:cubicBezTo>
                <a:moveTo>
                  <a:pt x="2216" y="11078"/>
                </a:moveTo>
                <a:lnTo>
                  <a:pt x="4336" y="11078"/>
                </a:lnTo>
                <a:cubicBezTo>
                  <a:pt x="4438" y="11077"/>
                  <a:pt x="4520" y="10995"/>
                  <a:pt x="4520" y="10893"/>
                </a:cubicBezTo>
                <a:lnTo>
                  <a:pt x="4520" y="9006"/>
                </a:lnTo>
                <a:cubicBezTo>
                  <a:pt x="4520" y="8957"/>
                  <a:pt x="4501" y="8910"/>
                  <a:pt x="4467" y="8875"/>
                </a:cubicBezTo>
                <a:cubicBezTo>
                  <a:pt x="4432" y="8840"/>
                  <a:pt x="4385" y="8820"/>
                  <a:pt x="4336" y="8820"/>
                </a:cubicBezTo>
                <a:lnTo>
                  <a:pt x="2216" y="8820"/>
                </a:lnTo>
                <a:cubicBezTo>
                  <a:pt x="2114" y="8821"/>
                  <a:pt x="2032" y="8903"/>
                  <a:pt x="2032" y="9005"/>
                </a:cubicBezTo>
                <a:lnTo>
                  <a:pt x="2032" y="10893"/>
                </a:lnTo>
                <a:cubicBezTo>
                  <a:pt x="2032" y="10995"/>
                  <a:pt x="2114" y="11078"/>
                  <a:pt x="2217" y="11078"/>
                </a:cubicBezTo>
                <a:moveTo>
                  <a:pt x="23763" y="9890"/>
                </a:moveTo>
                <a:cubicBezTo>
                  <a:pt x="23698" y="9839"/>
                  <a:pt x="23091" y="9380"/>
                  <a:pt x="21809" y="9380"/>
                </a:cubicBezTo>
                <a:cubicBezTo>
                  <a:pt x="21471" y="9381"/>
                  <a:pt x="21133" y="9410"/>
                  <a:pt x="20799" y="9467"/>
                </a:cubicBezTo>
                <a:cubicBezTo>
                  <a:pt x="20551" y="7767"/>
                  <a:pt x="19146" y="6937"/>
                  <a:pt x="19083" y="6901"/>
                </a:cubicBezTo>
                <a:lnTo>
                  <a:pt x="18739" y="6702"/>
                </a:lnTo>
                <a:lnTo>
                  <a:pt x="18513" y="7029"/>
                </a:lnTo>
                <a:cubicBezTo>
                  <a:pt x="18229" y="7467"/>
                  <a:pt x="18023" y="7951"/>
                  <a:pt x="17901" y="8459"/>
                </a:cubicBezTo>
                <a:cubicBezTo>
                  <a:pt x="17671" y="9429"/>
                  <a:pt x="17811" y="10341"/>
                  <a:pt x="18304" y="11120"/>
                </a:cubicBezTo>
                <a:cubicBezTo>
                  <a:pt x="17709" y="11452"/>
                  <a:pt x="16754" y="11533"/>
                  <a:pt x="16560" y="11540"/>
                </a:cubicBezTo>
                <a:lnTo>
                  <a:pt x="751" y="11540"/>
                </a:lnTo>
                <a:cubicBezTo>
                  <a:pt x="338" y="11541"/>
                  <a:pt x="3" y="11875"/>
                  <a:pt x="1" y="12288"/>
                </a:cubicBezTo>
                <a:cubicBezTo>
                  <a:pt x="-18" y="13673"/>
                  <a:pt x="217" y="15049"/>
                  <a:pt x="693" y="16350"/>
                </a:cubicBezTo>
                <a:cubicBezTo>
                  <a:pt x="1238" y="17778"/>
                  <a:pt x="2048" y="18830"/>
                  <a:pt x="3103" y="19474"/>
                </a:cubicBezTo>
                <a:cubicBezTo>
                  <a:pt x="4283" y="20197"/>
                  <a:pt x="6203" y="20611"/>
                  <a:pt x="8378" y="20611"/>
                </a:cubicBezTo>
                <a:cubicBezTo>
                  <a:pt x="9361" y="20614"/>
                  <a:pt x="10341" y="20525"/>
                  <a:pt x="11308" y="20345"/>
                </a:cubicBezTo>
                <a:cubicBezTo>
                  <a:pt x="12651" y="20098"/>
                  <a:pt x="13943" y="19629"/>
                  <a:pt x="15131" y="18956"/>
                </a:cubicBezTo>
                <a:cubicBezTo>
                  <a:pt x="16111" y="18389"/>
                  <a:pt x="16991" y="17668"/>
                  <a:pt x="17741" y="16820"/>
                </a:cubicBezTo>
                <a:cubicBezTo>
                  <a:pt x="18993" y="15402"/>
                  <a:pt x="19739" y="13823"/>
                  <a:pt x="20294" y="12420"/>
                </a:cubicBezTo>
                <a:lnTo>
                  <a:pt x="20515" y="12420"/>
                </a:lnTo>
                <a:cubicBezTo>
                  <a:pt x="21887" y="12420"/>
                  <a:pt x="22730" y="11871"/>
                  <a:pt x="23195" y="11411"/>
                </a:cubicBezTo>
                <a:cubicBezTo>
                  <a:pt x="23504" y="11118"/>
                  <a:pt x="23745" y="10761"/>
                  <a:pt x="23902" y="10365"/>
                </a:cubicBezTo>
                <a:lnTo>
                  <a:pt x="24000" y="10077"/>
                </a:lnTo>
                <a:close/>
              </a:path>
            </a:pathLst>
          </a:custGeom>
          <a:solidFill>
            <a:srgbClr val="2496ED"/>
          </a:solidFill>
          <a:ln>
            <a:noFill/>
          </a:ln>
          <a:effectLst/>
        </p:spPr>
        <p:txBody>
          <a:bodyPr rtlCol="0" anchor="ctr"/>
          <a:lstStyle/>
          <a:p/>
        </p:txBody>
      </p:sp>
      <p:sp>
        <p:nvSpPr>
          <p:cNvPr id="20" name="TextBox 19"/>
          <p:cNvSpPr txBox="1"/>
          <p:nvPr/>
        </p:nvSpPr>
        <p:spPr>
          <a:xfrm>
            <a:off x="3218688" y="1700784"/>
            <a:ext cx="4572000" cy="237744"/>
          </a:xfrm>
          <a:prstGeom prst="rect">
            <a:avLst/>
          </a:prstGeom>
          <a:noFill/>
        </p:spPr>
        <p:txBody>
          <a:bodyPr wrap="square" lIns="0" rIns="0" tIns="18288" bIns="18288" anchor="t">
            <a:noAutofit/>
          </a:bodyPr>
          <a:lstStyle/>
          <a:p>
            <a:pPr algn="l"/>
            <a:r>
              <a:rPr sz="1000" b="1" i="0" lang="ko-KR" altLang="en-US">
                <a:solidFill>
                  <a:srgbClr val="262626"/>
                </a:solidFill>
                <a:latin typeface="LG스마트체 Regular"/>
                <a:ea typeface="LG스마트체 Regular"/>
                <a:cs typeface="LG스마트체 Regular"/>
              </a:rPr>
              <a:t>Docker 엔진</a:t>
            </a:r>
            <a:r>
              <a:rPr sz="900" b="0" i="0" lang="ko-KR" altLang="en-US">
                <a:solidFill>
                  <a:srgbClr val="C55A11"/>
                </a:solidFill>
                <a:latin typeface="LG스마트체 Regular"/>
                <a:ea typeface="LG스마트체 Regular"/>
                <a:cs typeface="LG스마트체 Regular"/>
              </a:rPr>
              <a:t>  허용 여부·베이스 이미지 미정</a:t>
            </a:r>
          </a:p>
        </p:txBody>
      </p:sp>
      <p:sp>
        <p:nvSpPr>
          <p:cNvPr id="21" name="container-worklog"/>
          <p:cNvSpPr/>
          <p:nvPr/>
        </p:nvSpPr>
        <p:spPr>
          <a:xfrm>
            <a:off x="2971800" y="2011680"/>
            <a:ext cx="5029200" cy="2011680"/>
          </a:xfrm>
          <a:prstGeom prst="roundRect">
            <a:avLst>
              <a:gd name="adj" fmla="val 3181"/>
            </a:avLst>
          </a:prstGeom>
          <a:solidFill>
            <a:srgbClr val="FFFFFF"/>
          </a:solidFill>
          <a:ln w="15875">
            <a:solidFill>
              <a:srgbClr val="C55A11"/>
            </a:solidFill>
            <a:prstDash val="dash"/>
          </a:ln>
          <a:effectLst/>
        </p:spPr>
        <p:txBody>
          <a:bodyPr rtlCol="0" anchor="ctr"/>
          <a:lstStyle/>
          <a:p/>
        </p:txBody>
      </p:sp>
      <p:sp>
        <p:nvSpPr>
          <p:cNvPr id="22" name="icon-container"/>
          <p:cNvSpPr/>
          <p:nvPr/>
        </p:nvSpPr>
        <p:spPr>
          <a:xfrm>
            <a:off x="3044952" y="2075688"/>
            <a:ext cx="219456" cy="219456"/>
          </a:xfrm>
          <a:custGeom>
            <a:avLst/>
            <a:gdLst/>
            <a:ahLst/>
            <a:cxnLst/>
            <a:rect l="0" t="0" r="r" b="b"/>
            <a:pathLst>
              <a:path w="24000" h="24000" fill="none">
                <a:moveTo>
                  <a:pt x="12000" y="3000"/>
                </a:moveTo>
                <a:lnTo>
                  <a:pt x="20000" y="7500"/>
                </a:lnTo>
                <a:lnTo>
                  <a:pt x="20000" y="16500"/>
                </a:lnTo>
                <a:lnTo>
                  <a:pt x="12000" y="21000"/>
                </a:lnTo>
                <a:lnTo>
                  <a:pt x="4000" y="16500"/>
                </a:lnTo>
                <a:lnTo>
                  <a:pt x="4000" y="7500"/>
                </a:lnTo>
                <a:lnTo>
                  <a:pt x="12000" y="3000"/>
                </a:lnTo>
              </a:path>
              <a:path w="24000" h="24000" fill="none">
                <a:moveTo>
                  <a:pt x="12000" y="12000"/>
                </a:moveTo>
                <a:lnTo>
                  <a:pt x="20000" y="7500"/>
                </a:lnTo>
              </a:path>
              <a:path w="24000" h="24000" fill="none">
                <a:moveTo>
                  <a:pt x="12000" y="12000"/>
                </a:moveTo>
                <a:lnTo>
                  <a:pt x="12000" y="21000"/>
                </a:lnTo>
              </a:path>
              <a:path w="24000" h="24000" fill="none">
                <a:moveTo>
                  <a:pt x="12000" y="12000"/>
                </a:moveTo>
                <a:lnTo>
                  <a:pt x="4000" y="7500"/>
                </a:lnTo>
              </a:path>
            </a:pathLst>
          </a:custGeom>
          <a:solidFill>
            <a:srgbClr val="595959"/>
          </a:solidFill>
          <a:ln w="12700">
            <a:solidFill>
              <a:srgbClr val="595959"/>
            </a:solidFill>
          </a:ln>
          <a:effectLst/>
        </p:spPr>
        <p:txBody>
          <a:bodyPr rtlCol="0" anchor="ctr"/>
          <a:lstStyle/>
          <a:p/>
        </p:txBody>
      </p:sp>
      <p:sp>
        <p:nvSpPr>
          <p:cNvPr id="23" name="TextBox 22"/>
          <p:cNvSpPr txBox="1"/>
          <p:nvPr/>
        </p:nvSpPr>
        <p:spPr>
          <a:xfrm>
            <a:off x="3328416" y="2075688"/>
            <a:ext cx="4572000" cy="237744"/>
          </a:xfrm>
          <a:prstGeom prst="rect">
            <a:avLst/>
          </a:prstGeom>
          <a:noFill/>
        </p:spPr>
        <p:txBody>
          <a:bodyPr wrap="square" lIns="0" rIns="0" tIns="18288" bIns="18288" anchor="t">
            <a:noAutofit/>
          </a:bodyPr>
          <a:lstStyle/>
          <a:p>
            <a:pPr algn="l"/>
            <a:r>
              <a:rPr sz="1000" b="1" i="0" lang="ko-KR" altLang="en-US">
                <a:solidFill>
                  <a:srgbClr val="262626"/>
                </a:solidFill>
                <a:latin typeface="LG스마트체 Regular"/>
                <a:ea typeface="LG스마트체 Regular"/>
                <a:cs typeface="LG스마트체 Regular"/>
              </a:rPr>
              <a:t>컨테이너 </a:t>
            </a:r>
            <a:r>
              <a:rPr sz="1000" b="1" i="0" lang="ko-KR" altLang="en-US">
                <a:solidFill>
                  <a:srgbClr val="1F3864"/>
                </a:solidFill>
                <a:latin typeface="LG스마트체 Regular"/>
                <a:ea typeface="LG스마트체 Regular"/>
                <a:cs typeface="LG스마트체 Regular"/>
              </a:rPr>
              <a:t>worklog</a:t>
            </a:r>
            <a:r>
              <a:rPr sz="900" b="0" i="0" lang="ko-KR" altLang="en-US">
                <a:solidFill>
                  <a:srgbClr val="C55A11"/>
                </a:solidFill>
                <a:latin typeface="LG스마트체 Regular"/>
                <a:ea typeface="LG스마트체 Regular"/>
                <a:cs typeface="LG스마트체 Regular"/>
              </a:rPr>
              <a:t>  Dockerfile 미작성</a:t>
            </a:r>
          </a:p>
        </p:txBody>
      </p:sp>
      <p:sp>
        <p:nvSpPr>
          <p:cNvPr id="24" name="frontend"/>
          <p:cNvSpPr/>
          <p:nvPr/>
        </p:nvSpPr>
        <p:spPr>
          <a:xfrm>
            <a:off x="3108960" y="2395728"/>
            <a:ext cx="1828800" cy="777240"/>
          </a:xfrm>
          <a:prstGeom prst="roundRect">
            <a:avLst>
              <a:gd name="adj" fmla="val 7058"/>
            </a:avLst>
          </a:prstGeom>
          <a:solidFill>
            <a:srgbClr val="EEF2F8"/>
          </a:solidFill>
          <a:ln w="15875">
            <a:solidFill>
              <a:srgbClr val="1F3864"/>
            </a:solidFill>
          </a:ln>
          <a:effectLst/>
        </p:spPr>
        <p:txBody>
          <a:bodyPr rtlCol="0" anchor="ctr"/>
          <a:lstStyle/>
          <a:p/>
        </p:txBody>
      </p:sp>
      <p:sp>
        <p:nvSpPr>
          <p:cNvPr id="25" name="icon-react"/>
          <p:cNvSpPr/>
          <p:nvPr/>
        </p:nvSpPr>
        <p:spPr>
          <a:xfrm>
            <a:off x="3182112" y="2468880"/>
            <a:ext cx="201168" cy="201168"/>
          </a:xfrm>
          <a:custGeom>
            <a:avLst/>
            <a:gdLst/>
            <a:ahLst/>
            <a:cxnLst/>
            <a:rect l="0" t="0" r="r" b="b"/>
            <a:pathLst>
              <a:path w="24000" h="24000" stroke="0">
                <a:moveTo>
                  <a:pt x="14230" y="12004"/>
                </a:moveTo>
                <a:cubicBezTo>
                  <a:pt x="14230" y="13239"/>
                  <a:pt x="13230" y="14239"/>
                  <a:pt x="11995" y="14240"/>
                </a:cubicBezTo>
                <a:cubicBezTo>
                  <a:pt x="11402" y="14240"/>
                  <a:pt x="10833" y="14004"/>
                  <a:pt x="10414" y="13585"/>
                </a:cubicBezTo>
                <a:cubicBezTo>
                  <a:pt x="9995" y="13166"/>
                  <a:pt x="9759" y="12597"/>
                  <a:pt x="9759" y="12004"/>
                </a:cubicBezTo>
                <a:cubicBezTo>
                  <a:pt x="9759" y="10769"/>
                  <a:pt x="10759" y="9769"/>
                  <a:pt x="11994" y="9768"/>
                </a:cubicBezTo>
                <a:cubicBezTo>
                  <a:pt x="12587" y="9768"/>
                  <a:pt x="13156" y="10004"/>
                  <a:pt x="13575" y="10423"/>
                </a:cubicBezTo>
                <a:cubicBezTo>
                  <a:pt x="13994" y="10842"/>
                  <a:pt x="14230" y="11411"/>
                  <a:pt x="14230" y="12004"/>
                </a:cubicBezTo>
                <a:close/>
                <a:moveTo>
                  <a:pt x="16878" y="1314"/>
                </a:moveTo>
                <a:cubicBezTo>
                  <a:pt x="15532" y="1314"/>
                  <a:pt x="13771" y="2274"/>
                  <a:pt x="11990" y="3936"/>
                </a:cubicBezTo>
                <a:cubicBezTo>
                  <a:pt x="10210" y="2283"/>
                  <a:pt x="8448" y="1334"/>
                  <a:pt x="7103" y="1334"/>
                </a:cubicBezTo>
                <a:cubicBezTo>
                  <a:pt x="6693" y="1334"/>
                  <a:pt x="6320" y="1427"/>
                  <a:pt x="5997" y="1612"/>
                </a:cubicBezTo>
                <a:cubicBezTo>
                  <a:pt x="4622" y="2405"/>
                  <a:pt x="4314" y="4876"/>
                  <a:pt x="5024" y="7977"/>
                </a:cubicBezTo>
                <a:cubicBezTo>
                  <a:pt x="1980" y="8917"/>
                  <a:pt x="0" y="10420"/>
                  <a:pt x="0" y="12004"/>
                </a:cubicBezTo>
                <a:cubicBezTo>
                  <a:pt x="0" y="13594"/>
                  <a:pt x="1990" y="15101"/>
                  <a:pt x="5043" y="16034"/>
                </a:cubicBezTo>
                <a:cubicBezTo>
                  <a:pt x="4339" y="19147"/>
                  <a:pt x="4653" y="21622"/>
                  <a:pt x="6031" y="22414"/>
                </a:cubicBezTo>
                <a:cubicBezTo>
                  <a:pt x="6351" y="22601"/>
                  <a:pt x="6721" y="22689"/>
                  <a:pt x="7133" y="22689"/>
                </a:cubicBezTo>
                <a:cubicBezTo>
                  <a:pt x="8478" y="22689"/>
                  <a:pt x="10240" y="21729"/>
                  <a:pt x="12021" y="20065"/>
                </a:cubicBezTo>
                <a:cubicBezTo>
                  <a:pt x="13801" y="21719"/>
                  <a:pt x="15563" y="22668"/>
                  <a:pt x="16908" y="22668"/>
                </a:cubicBezTo>
                <a:cubicBezTo>
                  <a:pt x="17318" y="22668"/>
                  <a:pt x="17691" y="22578"/>
                  <a:pt x="18014" y="22393"/>
                </a:cubicBezTo>
                <a:cubicBezTo>
                  <a:pt x="19388" y="21601"/>
                  <a:pt x="19697" y="19130"/>
                  <a:pt x="18987" y="16028"/>
                </a:cubicBezTo>
                <a:cubicBezTo>
                  <a:pt x="22020" y="15096"/>
                  <a:pt x="24000" y="13590"/>
                  <a:pt x="24000" y="12004"/>
                </a:cubicBezTo>
                <a:cubicBezTo>
                  <a:pt x="24000" y="10414"/>
                  <a:pt x="22010" y="8907"/>
                  <a:pt x="18957" y="7972"/>
                </a:cubicBezTo>
                <a:cubicBezTo>
                  <a:pt x="19661" y="4862"/>
                  <a:pt x="19347" y="2385"/>
                  <a:pt x="17969" y="1592"/>
                </a:cubicBezTo>
                <a:cubicBezTo>
                  <a:pt x="17651" y="1408"/>
                  <a:pt x="17281" y="1315"/>
                  <a:pt x="16877" y="1314"/>
                </a:cubicBezTo>
                <a:close/>
                <a:moveTo>
                  <a:pt x="16873" y="2404"/>
                </a:moveTo>
                <a:lnTo>
                  <a:pt x="16873" y="2410"/>
                </a:lnTo>
                <a:cubicBezTo>
                  <a:pt x="17098" y="2410"/>
                  <a:pt x="17279" y="2454"/>
                  <a:pt x="17431" y="2537"/>
                </a:cubicBezTo>
                <a:cubicBezTo>
                  <a:pt x="18097" y="2919"/>
                  <a:pt x="18386" y="4372"/>
                  <a:pt x="18161" y="6241"/>
                </a:cubicBezTo>
                <a:cubicBezTo>
                  <a:pt x="18107" y="6701"/>
                  <a:pt x="18019" y="7186"/>
                  <a:pt x="17911" y="7681"/>
                </a:cubicBezTo>
                <a:cubicBezTo>
                  <a:pt x="16951" y="7445"/>
                  <a:pt x="15905" y="7264"/>
                  <a:pt x="14804" y="7147"/>
                </a:cubicBezTo>
                <a:cubicBezTo>
                  <a:pt x="14144" y="6242"/>
                  <a:pt x="13459" y="5420"/>
                  <a:pt x="12769" y="4700"/>
                </a:cubicBezTo>
                <a:cubicBezTo>
                  <a:pt x="14361" y="3220"/>
                  <a:pt x="15856" y="2408"/>
                  <a:pt x="16874" y="2405"/>
                </a:cubicBezTo>
                <a:close/>
                <a:moveTo>
                  <a:pt x="7103" y="2424"/>
                </a:moveTo>
                <a:cubicBezTo>
                  <a:pt x="8115" y="2424"/>
                  <a:pt x="9617" y="3232"/>
                  <a:pt x="11213" y="4704"/>
                </a:cubicBezTo>
                <a:cubicBezTo>
                  <a:pt x="10527" y="5424"/>
                  <a:pt x="9843" y="6241"/>
                  <a:pt x="9193" y="7146"/>
                </a:cubicBezTo>
                <a:cubicBezTo>
                  <a:pt x="8086" y="7263"/>
                  <a:pt x="7039" y="7444"/>
                  <a:pt x="6080" y="7684"/>
                </a:cubicBezTo>
                <a:cubicBezTo>
                  <a:pt x="5968" y="7194"/>
                  <a:pt x="5885" y="6720"/>
                  <a:pt x="5826" y="6264"/>
                </a:cubicBezTo>
                <a:cubicBezTo>
                  <a:pt x="5596" y="4396"/>
                  <a:pt x="5880" y="2944"/>
                  <a:pt x="6540" y="2557"/>
                </a:cubicBezTo>
                <a:cubicBezTo>
                  <a:pt x="6730" y="2467"/>
                  <a:pt x="6940" y="2430"/>
                  <a:pt x="7103" y="2425"/>
                </a:cubicBezTo>
                <a:close/>
                <a:moveTo>
                  <a:pt x="11985" y="5474"/>
                </a:moveTo>
                <a:cubicBezTo>
                  <a:pt x="12440" y="5942"/>
                  <a:pt x="12895" y="6466"/>
                  <a:pt x="13345" y="7038"/>
                </a:cubicBezTo>
                <a:cubicBezTo>
                  <a:pt x="12905" y="7018"/>
                  <a:pt x="12455" y="7004"/>
                  <a:pt x="12000" y="7004"/>
                </a:cubicBezTo>
                <a:cubicBezTo>
                  <a:pt x="11540" y="7004"/>
                  <a:pt x="11085" y="7014"/>
                  <a:pt x="10640" y="7038"/>
                </a:cubicBezTo>
                <a:cubicBezTo>
                  <a:pt x="11080" y="6466"/>
                  <a:pt x="11535" y="5942"/>
                  <a:pt x="11985" y="5473"/>
                </a:cubicBezTo>
                <a:close/>
                <a:moveTo>
                  <a:pt x="12000" y="8100"/>
                </a:moveTo>
                <a:cubicBezTo>
                  <a:pt x="12740" y="8100"/>
                  <a:pt x="13477" y="8134"/>
                  <a:pt x="14202" y="8193"/>
                </a:cubicBezTo>
                <a:cubicBezTo>
                  <a:pt x="14608" y="8775"/>
                  <a:pt x="15004" y="9396"/>
                  <a:pt x="15385" y="10053"/>
                </a:cubicBezTo>
                <a:cubicBezTo>
                  <a:pt x="15757" y="10693"/>
                  <a:pt x="16095" y="11343"/>
                  <a:pt x="16403" y="11999"/>
                </a:cubicBezTo>
                <a:cubicBezTo>
                  <a:pt x="16095" y="12654"/>
                  <a:pt x="15757" y="13309"/>
                  <a:pt x="15390" y="13949"/>
                </a:cubicBezTo>
                <a:cubicBezTo>
                  <a:pt x="15010" y="14609"/>
                  <a:pt x="14617" y="15237"/>
                  <a:pt x="14210" y="15819"/>
                </a:cubicBezTo>
                <a:cubicBezTo>
                  <a:pt x="13482" y="15882"/>
                  <a:pt x="12744" y="15917"/>
                  <a:pt x="12000" y="15917"/>
                </a:cubicBezTo>
                <a:cubicBezTo>
                  <a:pt x="11260" y="15917"/>
                  <a:pt x="10523" y="15882"/>
                  <a:pt x="9798" y="15824"/>
                </a:cubicBezTo>
                <a:cubicBezTo>
                  <a:pt x="9392" y="15242"/>
                  <a:pt x="8996" y="14620"/>
                  <a:pt x="8615" y="13964"/>
                </a:cubicBezTo>
                <a:cubicBezTo>
                  <a:pt x="8243" y="13324"/>
                  <a:pt x="7905" y="12674"/>
                  <a:pt x="7597" y="12018"/>
                </a:cubicBezTo>
                <a:cubicBezTo>
                  <a:pt x="7900" y="11361"/>
                  <a:pt x="8243" y="10705"/>
                  <a:pt x="8610" y="10064"/>
                </a:cubicBezTo>
                <a:cubicBezTo>
                  <a:pt x="8990" y="9404"/>
                  <a:pt x="9383" y="8778"/>
                  <a:pt x="9790" y="8196"/>
                </a:cubicBezTo>
                <a:cubicBezTo>
                  <a:pt x="10518" y="8132"/>
                  <a:pt x="11256" y="8098"/>
                  <a:pt x="12000" y="8098"/>
                </a:cubicBezTo>
                <a:close/>
                <a:moveTo>
                  <a:pt x="8365" y="8354"/>
                </a:moveTo>
                <a:cubicBezTo>
                  <a:pt x="8125" y="8731"/>
                  <a:pt x="7885" y="9117"/>
                  <a:pt x="7661" y="9514"/>
                </a:cubicBezTo>
                <a:cubicBezTo>
                  <a:pt x="7436" y="9904"/>
                  <a:pt x="7226" y="10296"/>
                  <a:pt x="7026" y="10688"/>
                </a:cubicBezTo>
                <a:cubicBezTo>
                  <a:pt x="6761" y="10032"/>
                  <a:pt x="6536" y="9378"/>
                  <a:pt x="6350" y="8741"/>
                </a:cubicBezTo>
                <a:cubicBezTo>
                  <a:pt x="6990" y="8591"/>
                  <a:pt x="7665" y="8458"/>
                  <a:pt x="8365" y="8355"/>
                </a:cubicBezTo>
                <a:close/>
                <a:moveTo>
                  <a:pt x="15625" y="8354"/>
                </a:moveTo>
                <a:cubicBezTo>
                  <a:pt x="16320" y="8457"/>
                  <a:pt x="16990" y="8584"/>
                  <a:pt x="17631" y="8741"/>
                </a:cubicBezTo>
                <a:cubicBezTo>
                  <a:pt x="17451" y="9373"/>
                  <a:pt x="17226" y="10023"/>
                  <a:pt x="16971" y="10674"/>
                </a:cubicBezTo>
                <a:cubicBezTo>
                  <a:pt x="16771" y="10284"/>
                  <a:pt x="16561" y="9891"/>
                  <a:pt x="16331" y="9500"/>
                </a:cubicBezTo>
                <a:cubicBezTo>
                  <a:pt x="16106" y="9108"/>
                  <a:pt x="15866" y="8726"/>
                  <a:pt x="15626" y="8354"/>
                </a:cubicBezTo>
                <a:close/>
                <a:moveTo>
                  <a:pt x="18688" y="9029"/>
                </a:moveTo>
                <a:cubicBezTo>
                  <a:pt x="19172" y="9179"/>
                  <a:pt x="19632" y="9346"/>
                  <a:pt x="20063" y="9527"/>
                </a:cubicBezTo>
                <a:cubicBezTo>
                  <a:pt x="21795" y="10267"/>
                  <a:pt x="22915" y="11235"/>
                  <a:pt x="22915" y="12003"/>
                </a:cubicBezTo>
                <a:cubicBezTo>
                  <a:pt x="22910" y="12771"/>
                  <a:pt x="21790" y="13743"/>
                  <a:pt x="20058" y="14478"/>
                </a:cubicBezTo>
                <a:cubicBezTo>
                  <a:pt x="19638" y="14658"/>
                  <a:pt x="19178" y="14820"/>
                  <a:pt x="18703" y="14971"/>
                </a:cubicBezTo>
                <a:cubicBezTo>
                  <a:pt x="18423" y="14013"/>
                  <a:pt x="18057" y="13015"/>
                  <a:pt x="17603" y="11991"/>
                </a:cubicBezTo>
                <a:cubicBezTo>
                  <a:pt x="18053" y="10974"/>
                  <a:pt x="18413" y="9981"/>
                  <a:pt x="18688" y="9027"/>
                </a:cubicBezTo>
                <a:close/>
                <a:moveTo>
                  <a:pt x="5293" y="9033"/>
                </a:moveTo>
                <a:cubicBezTo>
                  <a:pt x="5571" y="9993"/>
                  <a:pt x="5938" y="10990"/>
                  <a:pt x="6393" y="12013"/>
                </a:cubicBezTo>
                <a:cubicBezTo>
                  <a:pt x="5943" y="13030"/>
                  <a:pt x="5581" y="14023"/>
                  <a:pt x="5307" y="14977"/>
                </a:cubicBezTo>
                <a:cubicBezTo>
                  <a:pt x="4823" y="14827"/>
                  <a:pt x="4363" y="14659"/>
                  <a:pt x="3937" y="14477"/>
                </a:cubicBezTo>
                <a:cubicBezTo>
                  <a:pt x="2205" y="13740"/>
                  <a:pt x="1085" y="12771"/>
                  <a:pt x="1085" y="12003"/>
                </a:cubicBezTo>
                <a:cubicBezTo>
                  <a:pt x="1085" y="11235"/>
                  <a:pt x="2205" y="10261"/>
                  <a:pt x="3937" y="9527"/>
                </a:cubicBezTo>
                <a:cubicBezTo>
                  <a:pt x="4357" y="9347"/>
                  <a:pt x="4817" y="9185"/>
                  <a:pt x="5293" y="9033"/>
                </a:cubicBezTo>
                <a:close/>
                <a:moveTo>
                  <a:pt x="16971" y="13313"/>
                </a:moveTo>
                <a:cubicBezTo>
                  <a:pt x="17236" y="13970"/>
                  <a:pt x="17461" y="14625"/>
                  <a:pt x="17647" y="15261"/>
                </a:cubicBezTo>
                <a:cubicBezTo>
                  <a:pt x="17007" y="15418"/>
                  <a:pt x="16331" y="15551"/>
                  <a:pt x="15631" y="15651"/>
                </a:cubicBezTo>
                <a:cubicBezTo>
                  <a:pt x="15871" y="15276"/>
                  <a:pt x="16111" y="14889"/>
                  <a:pt x="16336" y="14493"/>
                </a:cubicBezTo>
                <a:cubicBezTo>
                  <a:pt x="16561" y="14103"/>
                  <a:pt x="16771" y="13705"/>
                  <a:pt x="16972" y="13313"/>
                </a:cubicBezTo>
                <a:close/>
                <a:moveTo>
                  <a:pt x="7026" y="13333"/>
                </a:moveTo>
                <a:cubicBezTo>
                  <a:pt x="7226" y="13725"/>
                  <a:pt x="7436" y="14116"/>
                  <a:pt x="7666" y="14508"/>
                </a:cubicBezTo>
                <a:cubicBezTo>
                  <a:pt x="7896" y="14898"/>
                  <a:pt x="8131" y="15280"/>
                  <a:pt x="8371" y="15651"/>
                </a:cubicBezTo>
                <a:cubicBezTo>
                  <a:pt x="7676" y="15549"/>
                  <a:pt x="7006" y="15421"/>
                  <a:pt x="6365" y="15265"/>
                </a:cubicBezTo>
                <a:cubicBezTo>
                  <a:pt x="6545" y="14635"/>
                  <a:pt x="6771" y="13983"/>
                  <a:pt x="7025" y="13332"/>
                </a:cubicBezTo>
                <a:close/>
                <a:moveTo>
                  <a:pt x="17920" y="16320"/>
                </a:moveTo>
                <a:cubicBezTo>
                  <a:pt x="18032" y="16813"/>
                  <a:pt x="18120" y="17288"/>
                  <a:pt x="18174" y="17743"/>
                </a:cubicBezTo>
                <a:cubicBezTo>
                  <a:pt x="18404" y="19611"/>
                  <a:pt x="18120" y="21063"/>
                  <a:pt x="17460" y="21451"/>
                </a:cubicBezTo>
                <a:cubicBezTo>
                  <a:pt x="17313" y="21541"/>
                  <a:pt x="17122" y="21579"/>
                  <a:pt x="16897" y="21579"/>
                </a:cubicBezTo>
                <a:cubicBezTo>
                  <a:pt x="15885" y="21579"/>
                  <a:pt x="14383" y="20772"/>
                  <a:pt x="12787" y="19299"/>
                </a:cubicBezTo>
                <a:cubicBezTo>
                  <a:pt x="13473" y="18579"/>
                  <a:pt x="14157" y="17763"/>
                  <a:pt x="14807" y="16859"/>
                </a:cubicBezTo>
                <a:cubicBezTo>
                  <a:pt x="15914" y="16741"/>
                  <a:pt x="16961" y="16559"/>
                  <a:pt x="17920" y="16319"/>
                </a:cubicBezTo>
                <a:close/>
                <a:moveTo>
                  <a:pt x="6090" y="16330"/>
                </a:moveTo>
                <a:cubicBezTo>
                  <a:pt x="7050" y="16564"/>
                  <a:pt x="8096" y="16745"/>
                  <a:pt x="9197" y="16862"/>
                </a:cubicBezTo>
                <a:cubicBezTo>
                  <a:pt x="9857" y="17767"/>
                  <a:pt x="10542" y="18589"/>
                  <a:pt x="11232" y="19308"/>
                </a:cubicBezTo>
                <a:cubicBezTo>
                  <a:pt x="9637" y="20791"/>
                  <a:pt x="8140" y="21603"/>
                  <a:pt x="7122" y="21603"/>
                </a:cubicBezTo>
                <a:cubicBezTo>
                  <a:pt x="6902" y="21598"/>
                  <a:pt x="6716" y="21553"/>
                  <a:pt x="6569" y="21471"/>
                </a:cubicBezTo>
                <a:cubicBezTo>
                  <a:pt x="5903" y="21091"/>
                  <a:pt x="5614" y="19637"/>
                  <a:pt x="5839" y="17768"/>
                </a:cubicBezTo>
                <a:cubicBezTo>
                  <a:pt x="5893" y="17308"/>
                  <a:pt x="5981" y="16824"/>
                  <a:pt x="6089" y="16330"/>
                </a:cubicBezTo>
                <a:close/>
                <a:moveTo>
                  <a:pt x="10650" y="16970"/>
                </a:moveTo>
                <a:cubicBezTo>
                  <a:pt x="11090" y="16990"/>
                  <a:pt x="11540" y="17004"/>
                  <a:pt x="11995" y="17004"/>
                </a:cubicBezTo>
                <a:cubicBezTo>
                  <a:pt x="12455" y="17004"/>
                  <a:pt x="12910" y="16994"/>
                  <a:pt x="13355" y="16970"/>
                </a:cubicBezTo>
                <a:cubicBezTo>
                  <a:pt x="12915" y="17542"/>
                  <a:pt x="12460" y="18065"/>
                  <a:pt x="12010" y="18535"/>
                </a:cubicBezTo>
                <a:cubicBezTo>
                  <a:pt x="11555" y="18065"/>
                  <a:pt x="11100" y="17542"/>
                  <a:pt x="10650" y="16970"/>
                </a:cubicBezTo>
                <a:close/>
              </a:path>
            </a:pathLst>
          </a:custGeom>
          <a:solidFill>
            <a:srgbClr val="61DAFB"/>
          </a:solidFill>
          <a:ln>
            <a:noFill/>
          </a:ln>
          <a:effectLst/>
        </p:spPr>
        <p:txBody>
          <a:bodyPr rtlCol="0" anchor="ctr"/>
          <a:lstStyle/>
          <a:p/>
        </p:txBody>
      </p:sp>
      <p:sp>
        <p:nvSpPr>
          <p:cNvPr id="26" name="icon-vite"/>
          <p:cNvSpPr/>
          <p:nvPr/>
        </p:nvSpPr>
        <p:spPr>
          <a:xfrm>
            <a:off x="3419856" y="2468880"/>
            <a:ext cx="201168" cy="201168"/>
          </a:xfrm>
          <a:custGeom>
            <a:avLst/>
            <a:gdLst/>
            <a:ahLst/>
            <a:cxnLst/>
            <a:rect l="0" t="0" r="r" b="b"/>
            <a:pathLst>
              <a:path w="24000" h="24000" stroke="0">
                <a:moveTo>
                  <a:pt x="8286" y="10578"/>
                </a:moveTo>
                <a:lnTo>
                  <a:pt x="8798" y="1921"/>
                </a:lnTo>
                <a:cubicBezTo>
                  <a:pt x="8806" y="1782"/>
                  <a:pt x="8908" y="1666"/>
                  <a:pt x="9045" y="1639"/>
                </a:cubicBezTo>
                <a:lnTo>
                  <a:pt x="17377" y="6"/>
                </a:lnTo>
                <a:cubicBezTo>
                  <a:pt x="17482" y="-15"/>
                  <a:pt x="17589" y="21"/>
                  <a:pt x="17662" y="99"/>
                </a:cubicBezTo>
                <a:cubicBezTo>
                  <a:pt x="17734" y="178"/>
                  <a:pt x="17760" y="289"/>
                  <a:pt x="17730" y="391"/>
                </a:cubicBezTo>
                <a:lnTo>
                  <a:pt x="16172" y="5794"/>
                </a:lnTo>
                <a:cubicBezTo>
                  <a:pt x="16143" y="5896"/>
                  <a:pt x="16168" y="6006"/>
                  <a:pt x="16240" y="6085"/>
                </a:cubicBezTo>
                <a:cubicBezTo>
                  <a:pt x="16312" y="6164"/>
                  <a:pt x="16420" y="6199"/>
                  <a:pt x="16524" y="6179"/>
                </a:cubicBezTo>
                <a:lnTo>
                  <a:pt x="18912" y="5719"/>
                </a:lnTo>
                <a:cubicBezTo>
                  <a:pt x="19027" y="5697"/>
                  <a:pt x="19144" y="5741"/>
                  <a:pt x="19215" y="5834"/>
                </a:cubicBezTo>
                <a:cubicBezTo>
                  <a:pt x="19285" y="5928"/>
                  <a:pt x="19297" y="6053"/>
                  <a:pt x="19244" y="6157"/>
                </a:cubicBezTo>
                <a:lnTo>
                  <a:pt x="12454" y="19707"/>
                </a:lnTo>
                <a:lnTo>
                  <a:pt x="12331" y="19897"/>
                </a:lnTo>
                <a:cubicBezTo>
                  <a:pt x="12277" y="19984"/>
                  <a:pt x="12182" y="20038"/>
                  <a:pt x="12079" y="20037"/>
                </a:cubicBezTo>
                <a:cubicBezTo>
                  <a:pt x="11902" y="20037"/>
                  <a:pt x="11729" y="19885"/>
                  <a:pt x="11774" y="19668"/>
                </a:cubicBezTo>
                <a:lnTo>
                  <a:pt x="12869" y="14367"/>
                </a:lnTo>
                <a:cubicBezTo>
                  <a:pt x="12891" y="14261"/>
                  <a:pt x="12856" y="14152"/>
                  <a:pt x="12776" y="14079"/>
                </a:cubicBezTo>
                <a:cubicBezTo>
                  <a:pt x="12696" y="14006"/>
                  <a:pt x="12584" y="13981"/>
                  <a:pt x="12481" y="14012"/>
                </a:cubicBezTo>
                <a:lnTo>
                  <a:pt x="11048" y="14447"/>
                </a:lnTo>
                <a:cubicBezTo>
                  <a:pt x="10945" y="14478"/>
                  <a:pt x="10833" y="14453"/>
                  <a:pt x="10753" y="14381"/>
                </a:cubicBezTo>
                <a:cubicBezTo>
                  <a:pt x="10673" y="14308"/>
                  <a:pt x="10637" y="14199"/>
                  <a:pt x="10659" y="14093"/>
                </a:cubicBezTo>
                <a:lnTo>
                  <a:pt x="11349" y="10718"/>
                </a:lnTo>
                <a:cubicBezTo>
                  <a:pt x="11370" y="10616"/>
                  <a:pt x="11338" y="10509"/>
                  <a:pt x="11263" y="10436"/>
                </a:cubicBezTo>
                <a:cubicBezTo>
                  <a:pt x="11188" y="10364"/>
                  <a:pt x="11081" y="10334"/>
                  <a:pt x="10979" y="10358"/>
                </a:cubicBezTo>
                <a:lnTo>
                  <a:pt x="8659" y="10894"/>
                </a:lnTo>
                <a:cubicBezTo>
                  <a:pt x="8565" y="10916"/>
                  <a:pt x="8467" y="10892"/>
                  <a:pt x="8393" y="10830"/>
                </a:cubicBezTo>
                <a:cubicBezTo>
                  <a:pt x="8319" y="10767"/>
                  <a:pt x="8279" y="10674"/>
                  <a:pt x="8285" y="10578"/>
                </a:cubicBezTo>
                <a:close/>
                <a:moveTo>
                  <a:pt x="23262" y="2652"/>
                </a:moveTo>
                <a:lnTo>
                  <a:pt x="17284" y="3740"/>
                </a:lnTo>
                <a:lnTo>
                  <a:pt x="16740" y="5627"/>
                </a:lnTo>
                <a:lnTo>
                  <a:pt x="18817" y="5227"/>
                </a:lnTo>
                <a:cubicBezTo>
                  <a:pt x="19147" y="5161"/>
                  <a:pt x="19482" y="5309"/>
                  <a:pt x="19657" y="5596"/>
                </a:cubicBezTo>
                <a:cubicBezTo>
                  <a:pt x="19804" y="5833"/>
                  <a:pt x="19817" y="6130"/>
                  <a:pt x="19691" y="6379"/>
                </a:cubicBezTo>
                <a:lnTo>
                  <a:pt x="12900" y="19930"/>
                </a:lnTo>
                <a:lnTo>
                  <a:pt x="12887" y="19955"/>
                </a:lnTo>
                <a:lnTo>
                  <a:pt x="12872" y="19978"/>
                </a:lnTo>
                <a:lnTo>
                  <a:pt x="12750" y="20168"/>
                </a:lnTo>
                <a:cubicBezTo>
                  <a:pt x="12603" y="20398"/>
                  <a:pt x="12350" y="20537"/>
                  <a:pt x="12078" y="20538"/>
                </a:cubicBezTo>
                <a:cubicBezTo>
                  <a:pt x="11832" y="20537"/>
                  <a:pt x="11600" y="20426"/>
                  <a:pt x="11444" y="20236"/>
                </a:cubicBezTo>
                <a:cubicBezTo>
                  <a:pt x="11292" y="20048"/>
                  <a:pt x="11234" y="19802"/>
                  <a:pt x="11284" y="19566"/>
                </a:cubicBezTo>
                <a:lnTo>
                  <a:pt x="12313" y="14585"/>
                </a:lnTo>
                <a:lnTo>
                  <a:pt x="11193" y="14925"/>
                </a:lnTo>
                <a:cubicBezTo>
                  <a:pt x="10880" y="15019"/>
                  <a:pt x="10540" y="14916"/>
                  <a:pt x="10333" y="14663"/>
                </a:cubicBezTo>
                <a:cubicBezTo>
                  <a:pt x="10180" y="14476"/>
                  <a:pt x="10119" y="14230"/>
                  <a:pt x="10168" y="13993"/>
                </a:cubicBezTo>
                <a:lnTo>
                  <a:pt x="10798" y="10913"/>
                </a:lnTo>
                <a:lnTo>
                  <a:pt x="8771" y="11381"/>
                </a:lnTo>
                <a:cubicBezTo>
                  <a:pt x="8492" y="11445"/>
                  <a:pt x="8200" y="11356"/>
                  <a:pt x="8003" y="11148"/>
                </a:cubicBezTo>
                <a:cubicBezTo>
                  <a:pt x="7852" y="10986"/>
                  <a:pt x="7773" y="10769"/>
                  <a:pt x="7786" y="10548"/>
                </a:cubicBezTo>
                <a:lnTo>
                  <a:pt x="8175" y="3978"/>
                </a:lnTo>
                <a:lnTo>
                  <a:pt x="735" y="2648"/>
                </a:lnTo>
                <a:cubicBezTo>
                  <a:pt x="501" y="2606"/>
                  <a:pt x="264" y="2703"/>
                  <a:pt x="126" y="2897"/>
                </a:cubicBezTo>
                <a:cubicBezTo>
                  <a:pt x="-11" y="3091"/>
                  <a:pt x="-23" y="3348"/>
                  <a:pt x="95" y="3554"/>
                </a:cubicBezTo>
                <a:lnTo>
                  <a:pt x="11580" y="23691"/>
                </a:lnTo>
                <a:cubicBezTo>
                  <a:pt x="11689" y="23883"/>
                  <a:pt x="11893" y="24001"/>
                  <a:pt x="12114" y="24000"/>
                </a:cubicBezTo>
                <a:cubicBezTo>
                  <a:pt x="12335" y="23999"/>
                  <a:pt x="12538" y="23880"/>
                  <a:pt x="12646" y="23687"/>
                </a:cubicBezTo>
                <a:lnTo>
                  <a:pt x="23906" y="3552"/>
                </a:lnTo>
                <a:cubicBezTo>
                  <a:pt x="24021" y="3345"/>
                  <a:pt x="24007" y="3091"/>
                  <a:pt x="23869" y="2898"/>
                </a:cubicBezTo>
                <a:cubicBezTo>
                  <a:pt x="23731" y="2706"/>
                  <a:pt x="23495" y="2610"/>
                  <a:pt x="23262" y="2652"/>
                </a:cubicBezTo>
                <a:close/>
              </a:path>
            </a:pathLst>
          </a:custGeom>
          <a:solidFill>
            <a:srgbClr val="646CFF"/>
          </a:solidFill>
          <a:ln>
            <a:noFill/>
          </a:ln>
          <a:effectLst/>
        </p:spPr>
        <p:txBody>
          <a:bodyPr rtlCol="0" anchor="ctr"/>
          <a:lstStyle/>
          <a:p/>
        </p:txBody>
      </p:sp>
      <p:sp>
        <p:nvSpPr>
          <p:cNvPr id="27" name="TextBox 26"/>
          <p:cNvSpPr txBox="1"/>
          <p:nvPr/>
        </p:nvSpPr>
        <p:spPr>
          <a:xfrm>
            <a:off x="3182112" y="2706624"/>
            <a:ext cx="1719072" cy="438912"/>
          </a:xfrm>
          <a:prstGeom prst="rect">
            <a:avLst/>
          </a:prstGeom>
          <a:noFill/>
        </p:spPr>
        <p:txBody>
          <a:bodyPr wrap="square" lIns="0" rIns="0" tIns="18288" bIns="18288" anchor="ctr">
            <a:noAutofit/>
          </a:bodyPr>
          <a:lstStyle/>
          <a:p>
            <a:pPr algn="l"/>
            <a:r>
              <a:rPr sz="900" b="1" i="0" lang="ko-KR" altLang="en-US">
                <a:solidFill>
                  <a:srgbClr val="1F3864"/>
                </a:solidFill>
                <a:latin typeface="LG스마트체 Regular"/>
                <a:ea typeface="LG스마트체 Regular"/>
                <a:cs typeface="LG스마트체 Regular"/>
              </a:rPr>
              <a:t>frontend/dist</a:t>
            </a:r>
          </a:p>
          <a:p>
            <a:pPr algn="l"/>
            <a:r>
              <a:rPr sz="900" b="0" i="0" lang="ko-KR" altLang="en-US">
                <a:solidFill>
                  <a:srgbClr val="262626"/>
                </a:solidFill>
                <a:latin typeface="LG스마트체 Regular"/>
                <a:ea typeface="LG스마트체 Regular"/>
                <a:cs typeface="LG스마트체 Regular"/>
              </a:rPr>
              <a:t>정적 화면 (앱이 함께 제공)</a:t>
            </a:r>
          </a:p>
        </p:txBody>
      </p:sp>
      <p:sp>
        <p:nvSpPr>
          <p:cNvPr id="28" name="process"/>
          <p:cNvSpPr/>
          <p:nvPr/>
        </p:nvSpPr>
        <p:spPr>
          <a:xfrm>
            <a:off x="5074920" y="2395728"/>
            <a:ext cx="2788920" cy="777240"/>
          </a:xfrm>
          <a:prstGeom prst="roundRect">
            <a:avLst>
              <a:gd name="adj" fmla="val 7058"/>
            </a:avLst>
          </a:prstGeom>
          <a:solidFill>
            <a:srgbClr val="EEF2F8"/>
          </a:solidFill>
          <a:ln w="15875">
            <a:solidFill>
              <a:srgbClr val="1F3864"/>
            </a:solidFill>
          </a:ln>
          <a:effectLst/>
        </p:spPr>
        <p:txBody>
          <a:bodyPr rtlCol="0" anchor="ctr"/>
          <a:lstStyle/>
          <a:p/>
        </p:txBody>
      </p:sp>
      <p:sp>
        <p:nvSpPr>
          <p:cNvPr id="29" name="icon-fastapi"/>
          <p:cNvSpPr/>
          <p:nvPr/>
        </p:nvSpPr>
        <p:spPr>
          <a:xfrm>
            <a:off x="5148072" y="2468880"/>
            <a:ext cx="219456" cy="219456"/>
          </a:xfrm>
          <a:custGeom>
            <a:avLst/>
            <a:gdLst/>
            <a:ahLst/>
            <a:cxnLst/>
            <a:rect l="0" t="0" r="r" b="b"/>
            <a:pathLst>
              <a:path w="24000" h="24000" stroke="0">
                <a:moveTo>
                  <a:pt x="12000" y="39"/>
                </a:moveTo>
                <a:cubicBezTo>
                  <a:pt x="5373" y="38"/>
                  <a:pt x="0" y="5393"/>
                  <a:pt x="0" y="11999"/>
                </a:cubicBezTo>
                <a:cubicBezTo>
                  <a:pt x="-1" y="18605"/>
                  <a:pt x="5372" y="23962"/>
                  <a:pt x="12000" y="23961"/>
                </a:cubicBezTo>
                <a:cubicBezTo>
                  <a:pt x="18628" y="23962"/>
                  <a:pt x="24001" y="18605"/>
                  <a:pt x="24000" y="11999"/>
                </a:cubicBezTo>
                <a:cubicBezTo>
                  <a:pt x="24000" y="5393"/>
                  <a:pt x="18627" y="38"/>
                  <a:pt x="12000" y="39"/>
                </a:cubicBezTo>
                <a:moveTo>
                  <a:pt x="11171" y="5454"/>
                </a:moveTo>
                <a:lnTo>
                  <a:pt x="18721" y="5454"/>
                </a:lnTo>
                <a:lnTo>
                  <a:pt x="11140" y="10782"/>
                </a:lnTo>
                <a:lnTo>
                  <a:pt x="16323" y="10782"/>
                </a:lnTo>
                <a:lnTo>
                  <a:pt x="5279" y="18544"/>
                </a:lnTo>
                <a:cubicBezTo>
                  <a:pt x="7243" y="14181"/>
                  <a:pt x="9207" y="9817"/>
                  <a:pt x="11171" y="5454"/>
                </a:cubicBezTo>
              </a:path>
            </a:pathLst>
          </a:custGeom>
          <a:solidFill>
            <a:srgbClr val="009688"/>
          </a:solidFill>
          <a:ln>
            <a:noFill/>
          </a:ln>
          <a:effectLst/>
        </p:spPr>
        <p:txBody>
          <a:bodyPr rtlCol="0" anchor="ctr"/>
          <a:lstStyle/>
          <a:p/>
        </p:txBody>
      </p:sp>
      <p:sp>
        <p:nvSpPr>
          <p:cNvPr id="30" name="TextBox 29"/>
          <p:cNvSpPr txBox="1"/>
          <p:nvPr/>
        </p:nvSpPr>
        <p:spPr>
          <a:xfrm>
            <a:off x="5440680" y="2432304"/>
            <a:ext cx="2377440" cy="713232"/>
          </a:xfrm>
          <a:prstGeom prst="rect">
            <a:avLst/>
          </a:prstGeom>
          <a:noFill/>
        </p:spPr>
        <p:txBody>
          <a:bodyPr wrap="square" lIns="0" rIns="0" tIns="18288" bIns="18288" anchor="ctr">
            <a:noAutofit/>
          </a:bodyPr>
          <a:lstStyle/>
          <a:p>
            <a:pPr algn="l"/>
            <a:r>
              <a:rPr sz="900" b="1" i="0" lang="ko-KR" altLang="en-US">
                <a:solidFill>
                  <a:srgbClr val="1F3864"/>
                </a:solidFill>
                <a:latin typeface="LG스마트체 Regular"/>
                <a:ea typeface="LG스마트체 Regular"/>
                <a:cs typeface="LG스마트체 Regular"/>
              </a:rPr>
              <a:t>프로세스 </a:t>
            </a:r>
            <a:r>
              <a:rPr sz="900" b="0" i="0" lang="ko-KR" altLang="en-US">
                <a:solidFill>
                  <a:srgbClr val="595959"/>
                </a:solidFill>
                <a:latin typeface="LG스마트체 Regular"/>
                <a:ea typeface="LG스마트체 Regular"/>
                <a:cs typeface="LG스마트체 Regular"/>
              </a:rPr>
              <a:t>(구현)</a:t>
            </a:r>
          </a:p>
          <a:p>
            <a:pPr algn="l"/>
            <a:r>
              <a:rPr sz="900" b="0" i="0" lang="ko-KR" altLang="en-US">
                <a:solidFill>
                  <a:srgbClr val="262626"/>
                </a:solidFill>
                <a:latin typeface="LG스마트체 Regular"/>
                <a:ea typeface="LG스마트체 Regular"/>
                <a:cs typeface="LG스마트체 Regular"/>
              </a:rPr>
              <a:t>uvicorn app.main:app_factory</a:t>
            </a:r>
          </a:p>
          <a:p>
            <a:pPr algn="l"/>
            <a:r>
              <a:rPr sz="900" b="0" i="0" lang="ko-KR" altLang="en-US">
                <a:solidFill>
                  <a:srgbClr val="262626"/>
                </a:solidFill>
                <a:latin typeface="LG스마트체 Regular"/>
                <a:ea typeface="LG스마트체 Regular"/>
                <a:cs typeface="LG스마트체 Regular"/>
              </a:rPr>
              <a:t>workers=1 · PORT 8000 (config)</a:t>
            </a:r>
          </a:p>
        </p:txBody>
      </p:sp>
      <p:sp>
        <p:nvSpPr>
          <p:cNvPr id="31" name="libreoffice"/>
          <p:cNvSpPr/>
          <p:nvPr/>
        </p:nvSpPr>
        <p:spPr>
          <a:xfrm>
            <a:off x="3108960" y="3273552"/>
            <a:ext cx="2331720" cy="640080"/>
          </a:xfrm>
          <a:prstGeom prst="roundRect">
            <a:avLst>
              <a:gd name="adj" fmla="val 8571"/>
            </a:avLst>
          </a:prstGeom>
          <a:solidFill>
            <a:srgbClr val="FFF5EB"/>
          </a:solidFill>
          <a:ln w="12700">
            <a:solidFill>
              <a:srgbClr val="C55A11"/>
            </a:solidFill>
            <a:prstDash val="dash"/>
          </a:ln>
          <a:effectLst/>
        </p:spPr>
        <p:txBody>
          <a:bodyPr rtlCol="0" anchor="ctr"/>
          <a:lstStyle/>
          <a:p/>
        </p:txBody>
      </p:sp>
      <p:sp>
        <p:nvSpPr>
          <p:cNvPr id="32" name="icon-ppt"/>
          <p:cNvSpPr/>
          <p:nvPr/>
        </p:nvSpPr>
        <p:spPr>
          <a:xfrm>
            <a:off x="3182112" y="3364992"/>
            <a:ext cx="201168" cy="201168"/>
          </a:xfrm>
          <a:custGeom>
            <a:avLst/>
            <a:gdLst/>
            <a:ahLst/>
            <a:cxnLst/>
            <a:rect l="0" t="0" r="r" b="b"/>
            <a:pathLst>
              <a:path w="24000" h="24000" fill="none">
                <a:moveTo>
                  <a:pt x="3000" y="4000"/>
                </a:moveTo>
                <a:lnTo>
                  <a:pt x="21000" y="4000"/>
                </a:lnTo>
              </a:path>
              <a:path w="24000" h="24000" fill="none">
                <a:moveTo>
                  <a:pt x="4000" y="4000"/>
                </a:moveTo>
                <a:lnTo>
                  <a:pt x="4000" y="14000"/>
                </a:lnTo>
                <a:cubicBezTo>
                  <a:pt x="4000" y="15105"/>
                  <a:pt x="4895" y="16000"/>
                  <a:pt x="6000" y="16000"/>
                </a:cubicBezTo>
                <a:lnTo>
                  <a:pt x="18000" y="16000"/>
                </a:lnTo>
                <a:cubicBezTo>
                  <a:pt x="19105" y="16000"/>
                  <a:pt x="20000" y="15105"/>
                  <a:pt x="20000" y="14000"/>
                </a:cubicBezTo>
                <a:lnTo>
                  <a:pt x="20000" y="4000"/>
                </a:lnTo>
              </a:path>
              <a:path w="24000" h="24000" fill="none">
                <a:moveTo>
                  <a:pt x="12000" y="16000"/>
                </a:moveTo>
                <a:lnTo>
                  <a:pt x="12000" y="20000"/>
                </a:lnTo>
              </a:path>
              <a:path w="24000" h="24000" fill="none">
                <a:moveTo>
                  <a:pt x="9000" y="20000"/>
                </a:moveTo>
                <a:lnTo>
                  <a:pt x="15000" y="20000"/>
                </a:lnTo>
              </a:path>
              <a:path w="24000" h="24000" fill="none">
                <a:moveTo>
                  <a:pt x="8000" y="12000"/>
                </a:moveTo>
                <a:lnTo>
                  <a:pt x="11000" y="9000"/>
                </a:lnTo>
                <a:lnTo>
                  <a:pt x="13000" y="11000"/>
                </a:lnTo>
                <a:lnTo>
                  <a:pt x="16000" y="8000"/>
                </a:lnTo>
              </a:path>
            </a:pathLst>
          </a:custGeom>
          <a:solidFill>
            <a:srgbClr val="595959"/>
          </a:solidFill>
          <a:ln w="12700">
            <a:solidFill>
              <a:srgbClr val="595959"/>
            </a:solidFill>
          </a:ln>
          <a:effectLst/>
        </p:spPr>
        <p:txBody>
          <a:bodyPr rtlCol="0" anchor="ctr"/>
          <a:lstStyle/>
          <a:p/>
        </p:txBody>
      </p:sp>
      <p:sp>
        <p:nvSpPr>
          <p:cNvPr id="33" name="TextBox 32"/>
          <p:cNvSpPr txBox="1"/>
          <p:nvPr/>
        </p:nvSpPr>
        <p:spPr>
          <a:xfrm>
            <a:off x="3456432" y="3310128"/>
            <a:ext cx="1938528" cy="566928"/>
          </a:xfrm>
          <a:prstGeom prst="rect">
            <a:avLst/>
          </a:prstGeom>
          <a:noFill/>
        </p:spPr>
        <p:txBody>
          <a:bodyPr wrap="square" lIns="0" rIns="0" tIns="18288" bIns="18288" anchor="ctr">
            <a:noAutofit/>
          </a:bodyPr>
          <a:lstStyle/>
          <a:p>
            <a:pPr algn="l"/>
            <a:r>
              <a:rPr sz="900" b="1" i="0" lang="ko-KR" altLang="en-US">
                <a:solidFill>
                  <a:srgbClr val="262626"/>
                </a:solidFill>
                <a:latin typeface="LG스마트체 Regular"/>
                <a:ea typeface="LG스마트체 Regular"/>
                <a:cs typeface="LG스마트체 Regular"/>
              </a:rPr>
              <a:t>LibreOffice</a:t>
            </a:r>
            <a:r>
              <a:rPr sz="900" b="0" i="0" lang="ko-KR" altLang="en-US">
                <a:solidFill>
                  <a:srgbClr val="262626"/>
                </a:solidFill>
                <a:latin typeface="LG스마트체 Regular"/>
                <a:ea typeface="LG스마트체 Regular"/>
                <a:cs typeface="LG스마트체 Regular"/>
              </a:rPr>
              <a:t> (미리보기)</a:t>
            </a:r>
          </a:p>
          <a:p>
            <a:pPr algn="l"/>
            <a:r>
              <a:rPr sz="900" b="0" i="0" lang="ko-KR" altLang="en-US">
                <a:solidFill>
                  <a:srgbClr val="C55A11"/>
                </a:solidFill>
                <a:latin typeface="LG스마트체 Regular"/>
                <a:ea typeface="LG스마트체 Regular"/>
                <a:cs typeface="LG스마트체 Regular"/>
              </a:rPr>
              <a:t>이미지에 설치 · 한글 글꼴 포함</a:t>
            </a:r>
          </a:p>
        </p:txBody>
      </p:sp>
      <p:sp>
        <p:nvSpPr>
          <p:cNvPr id="34" name="alembic"/>
          <p:cNvSpPr/>
          <p:nvPr/>
        </p:nvSpPr>
        <p:spPr>
          <a:xfrm>
            <a:off x="5577840" y="3273552"/>
            <a:ext cx="2286000" cy="640080"/>
          </a:xfrm>
          <a:prstGeom prst="roundRect">
            <a:avLst>
              <a:gd name="adj" fmla="val 8571"/>
            </a:avLst>
          </a:prstGeom>
          <a:solidFill>
            <a:srgbClr val="EEF2F8"/>
          </a:solidFill>
          <a:ln w="15875">
            <a:solidFill>
              <a:srgbClr val="1F3864"/>
            </a:solidFill>
          </a:ln>
          <a:effectLst/>
        </p:spPr>
        <p:txBody>
          <a:bodyPr rtlCol="0" anchor="ctr"/>
          <a:lstStyle/>
          <a:p/>
        </p:txBody>
      </p:sp>
      <p:sp>
        <p:nvSpPr>
          <p:cNvPr id="35" name="icon-database"/>
          <p:cNvSpPr/>
          <p:nvPr/>
        </p:nvSpPr>
        <p:spPr>
          <a:xfrm>
            <a:off x="5650992" y="3364992"/>
            <a:ext cx="201168" cy="201168"/>
          </a:xfrm>
          <a:custGeom>
            <a:avLst/>
            <a:gdLst/>
            <a:ahLst/>
            <a:cxnLst/>
            <a:rect l="0" t="0" r="r" b="b"/>
            <a:pathLst>
              <a:path w="24000" h="24000" fill="none">
                <a:moveTo>
                  <a:pt x="12000" y="6000"/>
                </a:moveTo>
                <a:moveTo>
                  <a:pt x="4000" y="6000"/>
                </a:moveTo>
                <a:cubicBezTo>
                  <a:pt x="4000" y="7657"/>
                  <a:pt x="7582" y="9000"/>
                  <a:pt x="12000" y="9000"/>
                </a:cubicBezTo>
                <a:cubicBezTo>
                  <a:pt x="16418" y="9000"/>
                  <a:pt x="20000" y="7657"/>
                  <a:pt x="20000" y="6000"/>
                </a:cubicBezTo>
                <a:cubicBezTo>
                  <a:pt x="20000" y="4343"/>
                  <a:pt x="16418" y="3000"/>
                  <a:pt x="12000" y="3000"/>
                </a:cubicBezTo>
                <a:cubicBezTo>
                  <a:pt x="7582" y="3000"/>
                  <a:pt x="4000" y="4343"/>
                  <a:pt x="4000" y="6000"/>
                </a:cubicBezTo>
              </a:path>
              <a:path w="24000" h="24000" fill="none">
                <a:moveTo>
                  <a:pt x="4000" y="6000"/>
                </a:moveTo>
                <a:lnTo>
                  <a:pt x="4000" y="12000"/>
                </a:lnTo>
                <a:cubicBezTo>
                  <a:pt x="4000" y="13657"/>
                  <a:pt x="7582" y="15000"/>
                  <a:pt x="12000" y="15000"/>
                </a:cubicBezTo>
                <a:cubicBezTo>
                  <a:pt x="16418" y="15000"/>
                  <a:pt x="20000" y="13657"/>
                  <a:pt x="20000" y="12000"/>
                </a:cubicBezTo>
                <a:lnTo>
                  <a:pt x="20000" y="6000"/>
                </a:lnTo>
              </a:path>
              <a:path w="24000" h="24000" fill="none">
                <a:moveTo>
                  <a:pt x="4000" y="12000"/>
                </a:moveTo>
                <a:lnTo>
                  <a:pt x="4000" y="18000"/>
                </a:lnTo>
                <a:cubicBezTo>
                  <a:pt x="4000" y="19657"/>
                  <a:pt x="7582" y="21000"/>
                  <a:pt x="12000" y="21000"/>
                </a:cubicBezTo>
                <a:cubicBezTo>
                  <a:pt x="16418" y="21000"/>
                  <a:pt x="20000" y="19657"/>
                  <a:pt x="20000" y="18000"/>
                </a:cubicBezTo>
                <a:lnTo>
                  <a:pt x="20000" y="12000"/>
                </a:lnTo>
              </a:path>
            </a:pathLst>
          </a:custGeom>
          <a:solidFill>
            <a:srgbClr val="1F3864"/>
          </a:solidFill>
          <a:ln w="12700">
            <a:solidFill>
              <a:srgbClr val="1F3864"/>
            </a:solidFill>
          </a:ln>
          <a:effectLst/>
        </p:spPr>
        <p:txBody>
          <a:bodyPr rtlCol="0" anchor="ctr"/>
          <a:lstStyle/>
          <a:p/>
        </p:txBody>
      </p:sp>
      <p:sp>
        <p:nvSpPr>
          <p:cNvPr id="36" name="TextBox 35"/>
          <p:cNvSpPr txBox="1"/>
          <p:nvPr/>
        </p:nvSpPr>
        <p:spPr>
          <a:xfrm>
            <a:off x="5925312" y="3310128"/>
            <a:ext cx="1901952" cy="566928"/>
          </a:xfrm>
          <a:prstGeom prst="rect">
            <a:avLst/>
          </a:prstGeom>
          <a:noFill/>
        </p:spPr>
        <p:txBody>
          <a:bodyPr wrap="square" lIns="0" rIns="0" tIns="18288" bIns="18288" anchor="ctr">
            <a:noAutofit/>
          </a:bodyPr>
          <a:lstStyle/>
          <a:p>
            <a:pPr algn="l"/>
            <a:r>
              <a:rPr sz="900" b="1" i="0" lang="ko-KR" altLang="en-US">
                <a:solidFill>
                  <a:srgbClr val="1F3864"/>
                </a:solidFill>
                <a:latin typeface="LG스마트체 Regular"/>
                <a:ea typeface="LG스마트체 Regular"/>
                <a:cs typeface="LG스마트체 Regular"/>
              </a:rPr>
              <a:t>Alembic</a:t>
            </a:r>
            <a:r>
              <a:rPr sz="900" b="0" i="0" lang="ko-KR" altLang="en-US">
                <a:solidFill>
                  <a:srgbClr val="262626"/>
                </a:solidFill>
                <a:latin typeface="LG스마트체 Regular"/>
                <a:ea typeface="LG스마트체 Regular"/>
                <a:cs typeface="LG스마트체 Regular"/>
              </a:rPr>
              <a:t> 자동 마이그레이션</a:t>
            </a:r>
          </a:p>
          <a:p>
            <a:pPr algn="l"/>
            <a:r>
              <a:rPr sz="900" b="0" i="0" lang="ko-KR" altLang="en-US">
                <a:solidFill>
                  <a:srgbClr val="595959"/>
                </a:solidFill>
                <a:latin typeface="LG스마트체 Regular"/>
                <a:ea typeface="LG스마트체 Regular"/>
                <a:cs typeface="LG스마트체 Regular"/>
              </a:rPr>
              <a:t>(앱 시작 시 실행)</a:t>
            </a:r>
          </a:p>
        </p:txBody>
      </p:sp>
      <p:cxnSp>
        <p:nvCxnSpPr>
          <p:cNvPr id="37" name="vol-data"/>
          <p:cNvCxnSpPr/>
          <p:nvPr/>
        </p:nvCxnSpPr>
        <p:spPr>
          <a:xfrm>
            <a:off x="4297680" y="4023360"/>
            <a:ext cx="0" cy="502920"/>
          </a:xfrm>
          <a:prstGeom prst="line">
            <a:avLst/>
          </a:prstGeom>
          <a:ln w="19050">
            <a:solidFill>
              <a:srgbClr val="1F3864"/>
            </a:solidFill>
            <a:tailEnd type="triangle" w="med" len="med"/>
          </a:ln>
        </p:spPr>
      </p:cxnSp>
      <p:sp>
        <p:nvSpPr>
          <p:cNvPr id="38" name="badge-2"/>
          <p:cNvSpPr/>
          <p:nvPr/>
        </p:nvSpPr>
        <p:spPr>
          <a:xfrm>
            <a:off x="4183380" y="4201668"/>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2</a:t>
            </a:r>
          </a:p>
        </p:txBody>
      </p:sp>
      <p:sp>
        <p:nvSpPr>
          <p:cNvPr id="39" name="TextBox 38"/>
          <p:cNvSpPr txBox="1"/>
          <p:nvPr/>
        </p:nvSpPr>
        <p:spPr>
          <a:xfrm>
            <a:off x="4462272" y="4206240"/>
            <a:ext cx="914400" cy="201168"/>
          </a:xfrm>
          <a:prstGeom prst="rect">
            <a:avLst/>
          </a:prstGeom>
          <a:noFill/>
        </p:spPr>
        <p:txBody>
          <a:bodyPr wrap="square" lIns="0" rIns="0" tIns="18288" bIns="18288" anchor="t">
            <a:noAutofit/>
          </a:bodyPr>
          <a:lstStyle/>
          <a:p>
            <a:pPr algn="l"/>
            <a:r>
              <a:rPr sz="900" b="0" i="0" lang="ko-KR" altLang="en-US">
                <a:solidFill>
                  <a:srgbClr val="1F3864"/>
                </a:solidFill>
                <a:latin typeface="LG스마트체 Regular"/>
                <a:ea typeface="LG스마트체 Regular"/>
                <a:cs typeface="LG스마트체 Regular"/>
              </a:rPr>
              <a:t>볼륨 /data</a:t>
            </a:r>
          </a:p>
        </p:txBody>
      </p:sp>
      <p:sp>
        <p:nvSpPr>
          <p:cNvPr id="40" name="vol-data-ssd"/>
          <p:cNvSpPr/>
          <p:nvPr/>
        </p:nvSpPr>
        <p:spPr>
          <a:xfrm>
            <a:off x="2834640" y="4526280"/>
            <a:ext cx="2926080" cy="1417320"/>
          </a:xfrm>
          <a:prstGeom prst="roundRect">
            <a:avLst>
              <a:gd name="adj" fmla="val 4516"/>
            </a:avLst>
          </a:prstGeom>
          <a:solidFill>
            <a:srgbClr val="EEF2F8"/>
          </a:solidFill>
          <a:ln w="15875">
            <a:solidFill>
              <a:srgbClr val="1F3864"/>
            </a:solidFill>
          </a:ln>
          <a:effectLst/>
        </p:spPr>
        <p:txBody>
          <a:bodyPr rtlCol="0" anchor="ctr"/>
          <a:lstStyle/>
          <a:p/>
        </p:txBody>
      </p:sp>
      <p:sp>
        <p:nvSpPr>
          <p:cNvPr id="41" name="icon-ssd"/>
          <p:cNvSpPr/>
          <p:nvPr/>
        </p:nvSpPr>
        <p:spPr>
          <a:xfrm>
            <a:off x="2907792" y="4599432"/>
            <a:ext cx="219456" cy="219456"/>
          </a:xfrm>
          <a:custGeom>
            <a:avLst/>
            <a:gdLst/>
            <a:ahLst/>
            <a:cxnLst/>
            <a:rect l="0" t="0" r="r" b="b"/>
            <a:pathLst>
              <a:path w="24000" h="24000" fill="none">
                <a:moveTo>
                  <a:pt x="7000" y="21000"/>
                </a:moveTo>
                <a:lnTo>
                  <a:pt x="17000" y="21000"/>
                </a:lnTo>
                <a:cubicBezTo>
                  <a:pt x="18105" y="21000"/>
                  <a:pt x="19000" y="20105"/>
                  <a:pt x="19000" y="19000"/>
                </a:cubicBezTo>
                <a:lnTo>
                  <a:pt x="19000" y="5000"/>
                </a:lnTo>
                <a:cubicBezTo>
                  <a:pt x="19000" y="3895"/>
                  <a:pt x="18105" y="3000"/>
                  <a:pt x="17000" y="3000"/>
                </a:cubicBezTo>
                <a:lnTo>
                  <a:pt x="10828" y="3000"/>
                </a:lnTo>
                <a:cubicBezTo>
                  <a:pt x="10298" y="3000"/>
                  <a:pt x="9789" y="3211"/>
                  <a:pt x="9414" y="3586"/>
                </a:cubicBezTo>
                <a:lnTo>
                  <a:pt x="5586" y="7414"/>
                </a:lnTo>
                <a:cubicBezTo>
                  <a:pt x="5211" y="7789"/>
                  <a:pt x="5000" y="8298"/>
                  <a:pt x="5000" y="8828"/>
                </a:cubicBezTo>
                <a:lnTo>
                  <a:pt x="5000" y="19000"/>
                </a:lnTo>
                <a:cubicBezTo>
                  <a:pt x="5000" y="20105"/>
                  <a:pt x="5895" y="21000"/>
                  <a:pt x="7000" y="21000"/>
                </a:cubicBezTo>
                <a:close/>
              </a:path>
              <a:path w="24000" h="24000" fill="none">
                <a:moveTo>
                  <a:pt x="13000" y="6000"/>
                </a:moveTo>
                <a:lnTo>
                  <a:pt x="13000" y="8000"/>
                </a:lnTo>
              </a:path>
              <a:path w="24000" h="24000" fill="none">
                <a:moveTo>
                  <a:pt x="16000" y="6000"/>
                </a:moveTo>
                <a:lnTo>
                  <a:pt x="16000" y="8000"/>
                </a:lnTo>
              </a:path>
              <a:path w="24000" h="24000" fill="none">
                <a:moveTo>
                  <a:pt x="10000" y="7000"/>
                </a:moveTo>
                <a:lnTo>
                  <a:pt x="10000" y="8000"/>
                </a:lnTo>
              </a:path>
            </a:pathLst>
          </a:custGeom>
          <a:solidFill>
            <a:srgbClr val="1F3864"/>
          </a:solidFill>
          <a:ln w="12700">
            <a:solidFill>
              <a:srgbClr val="1F3864"/>
            </a:solidFill>
          </a:ln>
          <a:effectLst/>
        </p:spPr>
        <p:txBody>
          <a:bodyPr rtlCol="0" anchor="ctr"/>
          <a:lstStyle/>
          <a:p/>
        </p:txBody>
      </p:sp>
      <p:sp>
        <p:nvSpPr>
          <p:cNvPr id="42" name="TextBox 41"/>
          <p:cNvSpPr txBox="1"/>
          <p:nvPr/>
        </p:nvSpPr>
        <p:spPr>
          <a:xfrm>
            <a:off x="3182112" y="4590288"/>
            <a:ext cx="2542032" cy="237744"/>
          </a:xfrm>
          <a:prstGeom prst="rect">
            <a:avLst/>
          </a:prstGeom>
          <a:noFill/>
        </p:spPr>
        <p:txBody>
          <a:bodyPr wrap="square" lIns="0" rIns="0" tIns="18288" bIns="18288" anchor="t">
            <a:noAutofit/>
          </a:bodyPr>
          <a:lstStyle/>
          <a:p>
            <a:pPr algn="l"/>
            <a:r>
              <a:rPr sz="950" b="1" i="0" lang="ko-KR" altLang="en-US">
                <a:solidFill>
                  <a:srgbClr val="1F3864"/>
                </a:solidFill>
                <a:latin typeface="LG스마트체 Regular"/>
                <a:ea typeface="LG스마트체 Regular"/>
                <a:cs typeface="LG스마트체 Regular"/>
              </a:rPr>
              <a:t>/data → VM 로컬 SSD</a:t>
            </a:r>
            <a:r>
              <a:rPr sz="950" b="0" i="0" lang="ko-KR" altLang="en-US">
                <a:solidFill>
                  <a:srgbClr val="595959"/>
                </a:solidFill>
                <a:latin typeface="LG스마트체 Regular"/>
                <a:ea typeface="LG스마트체 Regular"/>
                <a:cs typeface="LG스마트체 Regular"/>
              </a:rPr>
              <a:t> (DATA_DIR)</a:t>
            </a:r>
          </a:p>
        </p:txBody>
      </p:sp>
      <p:sp>
        <p:nvSpPr>
          <p:cNvPr id="43" name="TextBox 42"/>
          <p:cNvSpPr txBox="1"/>
          <p:nvPr/>
        </p:nvSpPr>
        <p:spPr>
          <a:xfrm>
            <a:off x="2926080" y="4864608"/>
            <a:ext cx="2788920" cy="731520"/>
          </a:xfrm>
          <a:prstGeom prst="rect">
            <a:avLst/>
          </a:prstGeom>
          <a:noFill/>
        </p:spPr>
        <p:txBody>
          <a:bodyPr wrap="square" lIns="18288" rIns="18288" tIns="18288" bIns="18288" anchor="t">
            <a:noAutofit/>
          </a:bodyPr>
          <a:lstStyle/>
          <a:p>
            <a:pPr algn="l">
              <a:spcBef>
                <a:spcPts val="0"/>
              </a:spcBef>
            </a:pPr>
            <a:r>
              <a:rPr sz="900" b="0" i="0" lang="ko-KR" altLang="en-US">
                <a:solidFill>
                  <a:srgbClr val="262626"/>
                </a:solidFill>
                <a:latin typeface="LG스마트체 Regular"/>
                <a:ea typeface="LG스마트체 Regular"/>
                <a:cs typeface="LG스마트체 Regular"/>
              </a:rPr>
              <a:t>db/worklog.sqlite3 (+WAL·SHM)</a:t>
            </a:r>
          </a:p>
          <a:p>
            <a:pPr algn="l">
              <a:spcBef>
                <a:spcPts val="200"/>
              </a:spcBef>
            </a:pPr>
            <a:r>
              <a:rPr sz="900" b="0" i="0" lang="ko-KR" altLang="en-US">
                <a:solidFill>
                  <a:srgbClr val="262626"/>
                </a:solidFill>
                <a:latin typeface="LG스마트체 Regular"/>
                <a:ea typeface="LG스마트체 Regular"/>
                <a:cs typeface="LG스마트체 Regular"/>
              </a:rPr>
              <a:t>attachments/ · reports/ · json/</a:t>
            </a:r>
          </a:p>
          <a:p>
            <a:pPr algn="l">
              <a:spcBef>
                <a:spcPts val="200"/>
              </a:spcBef>
            </a:pPr>
            <a:r>
              <a:rPr sz="900" b="0" i="0" lang="ko-KR" altLang="en-US">
                <a:solidFill>
                  <a:srgbClr val="262626"/>
                </a:solidFill>
                <a:latin typeface="LG스마트체 Regular"/>
                <a:ea typeface="LG스마트체 Regular"/>
                <a:cs typeface="LG스마트체 Regular"/>
              </a:rPr>
              <a:t>exports/ · temp/ · logs/ · voe/posts/</a:t>
            </a:r>
          </a:p>
        </p:txBody>
      </p:sp>
      <p:sp>
        <p:nvSpPr>
          <p:cNvPr id="44" name="TextBox 43"/>
          <p:cNvSpPr txBox="1"/>
          <p:nvPr/>
        </p:nvSpPr>
        <p:spPr>
          <a:xfrm>
            <a:off x="2926080" y="5641848"/>
            <a:ext cx="2788920" cy="219456"/>
          </a:xfrm>
          <a:prstGeom prst="rect">
            <a:avLst/>
          </a:prstGeom>
          <a:noFill/>
        </p:spPr>
        <p:txBody>
          <a:bodyPr wrap="square" lIns="18288" rIns="18288" tIns="18288" bIns="18288" anchor="t">
            <a:noAutofit/>
          </a:bodyPr>
          <a:lstStyle/>
          <a:p>
            <a:pPr algn="l"/>
            <a:r>
              <a:rPr sz="900" b="1" i="0" lang="ko-KR" altLang="en-US">
                <a:solidFill>
                  <a:srgbClr val="1F3864"/>
                </a:solidFill>
                <a:latin typeface="LG스마트체 Regular"/>
                <a:ea typeface="LG스마트체 Regular"/>
                <a:cs typeface="LG스마트체 Regular"/>
              </a:rPr>
              <a:t>※ 네트워크 공유 금지</a:t>
            </a:r>
            <a:r>
              <a:rPr sz="900" b="0" i="0" lang="ko-KR" altLang="en-US">
                <a:solidFill>
                  <a:srgbClr val="595959"/>
                </a:solidFill>
                <a:latin typeface="LG스마트체 Regular"/>
                <a:ea typeface="LG스마트체 Regular"/>
                <a:cs typeface="LG스마트체 Regular"/>
              </a:rPr>
              <a:t> (docs/09 §3)</a:t>
            </a:r>
          </a:p>
        </p:txBody>
      </p:sp>
      <p:cxnSp>
        <p:nvCxnSpPr>
          <p:cNvPr id="45" name="vol-config"/>
          <p:cNvCxnSpPr/>
          <p:nvPr/>
        </p:nvCxnSpPr>
        <p:spPr>
          <a:xfrm>
            <a:off x="7132320" y="4023360"/>
            <a:ext cx="0" cy="502920"/>
          </a:xfrm>
          <a:prstGeom prst="line">
            <a:avLst/>
          </a:prstGeom>
          <a:ln w="19050">
            <a:solidFill>
              <a:srgbClr val="C55A11"/>
            </a:solidFill>
            <a:prstDash val="dash"/>
            <a:tailEnd type="triangle" w="med" len="med"/>
          </a:ln>
        </p:spPr>
      </p:cxnSp>
      <p:sp>
        <p:nvSpPr>
          <p:cNvPr id="46" name="TextBox 45"/>
          <p:cNvSpPr txBox="1"/>
          <p:nvPr/>
        </p:nvSpPr>
        <p:spPr>
          <a:xfrm>
            <a:off x="7278624" y="4206240"/>
            <a:ext cx="868680" cy="201168"/>
          </a:xfrm>
          <a:prstGeom prst="rect">
            <a:avLst/>
          </a:prstGeom>
          <a:noFill/>
        </p:spPr>
        <p:txBody>
          <a:bodyPr wrap="square" lIns="0" rIns="0" tIns="18288" bIns="18288" anchor="t">
            <a:noAutofit/>
          </a:bodyPr>
          <a:lstStyle/>
          <a:p>
            <a:pPr algn="l"/>
            <a:r>
              <a:rPr sz="900" b="0" i="0" lang="ko-KR" altLang="en-US">
                <a:solidFill>
                  <a:srgbClr val="C55A11"/>
                </a:solidFill>
                <a:latin typeface="LG스마트체 Regular"/>
                <a:ea typeface="LG스마트체 Regular"/>
                <a:cs typeface="LG스마트체 Regular"/>
              </a:rPr>
              <a:t>읽기 전용</a:t>
            </a:r>
          </a:p>
        </p:txBody>
      </p:sp>
      <p:sp>
        <p:nvSpPr>
          <p:cNvPr id="47" name="vol-config-box"/>
          <p:cNvSpPr/>
          <p:nvPr/>
        </p:nvSpPr>
        <p:spPr>
          <a:xfrm>
            <a:off x="6172200" y="4526280"/>
            <a:ext cx="1965960" cy="658368"/>
          </a:xfrm>
          <a:prstGeom prst="roundRect">
            <a:avLst>
              <a:gd name="adj" fmla="val 8333"/>
            </a:avLst>
          </a:prstGeom>
          <a:solidFill>
            <a:srgbClr val="FFF5EB"/>
          </a:solidFill>
          <a:ln w="12700">
            <a:solidFill>
              <a:srgbClr val="C55A11"/>
            </a:solidFill>
            <a:prstDash val="dash"/>
          </a:ln>
          <a:effectLst/>
        </p:spPr>
        <p:txBody>
          <a:bodyPr rtlCol="0" anchor="ctr"/>
          <a:lstStyle/>
          <a:p/>
        </p:txBody>
      </p:sp>
      <p:sp>
        <p:nvSpPr>
          <p:cNvPr id="48" name="icon-key"/>
          <p:cNvSpPr/>
          <p:nvPr/>
        </p:nvSpPr>
        <p:spPr>
          <a:xfrm>
            <a:off x="6245352" y="4599432"/>
            <a:ext cx="201168" cy="201168"/>
          </a:xfrm>
          <a:custGeom>
            <a:avLst/>
            <a:gdLst/>
            <a:ahLst/>
            <a:cxnLst/>
            <a:rect l="0" t="0" r="r" b="b"/>
            <a:pathLst>
              <a:path w="24000" h="24000" stroke="0">
                <a:moveTo>
                  <a:pt x="21000" y="10000"/>
                </a:moveTo>
                <a:lnTo>
                  <a:pt x="12650" y="10000"/>
                </a:lnTo>
                <a:cubicBezTo>
                  <a:pt x="11806" y="7603"/>
                  <a:pt x="9541" y="6000"/>
                  <a:pt x="7000" y="6000"/>
                </a:cubicBezTo>
                <a:cubicBezTo>
                  <a:pt x="3690" y="6000"/>
                  <a:pt x="1000" y="8690"/>
                  <a:pt x="1000" y="12000"/>
                </a:cubicBezTo>
                <a:cubicBezTo>
                  <a:pt x="1000" y="15310"/>
                  <a:pt x="3690" y="18000"/>
                  <a:pt x="7000" y="18000"/>
                </a:cubicBezTo>
                <a:cubicBezTo>
                  <a:pt x="9541" y="18000"/>
                  <a:pt x="11806" y="16397"/>
                  <a:pt x="12650" y="14000"/>
                </a:cubicBezTo>
                <a:lnTo>
                  <a:pt x="13000" y="14000"/>
                </a:lnTo>
                <a:lnTo>
                  <a:pt x="15000" y="16000"/>
                </a:lnTo>
                <a:lnTo>
                  <a:pt x="17000" y="14000"/>
                </a:lnTo>
                <a:lnTo>
                  <a:pt x="19000" y="16000"/>
                </a:lnTo>
                <a:lnTo>
                  <a:pt x="23000" y="11960"/>
                </a:lnTo>
                <a:lnTo>
                  <a:pt x="21000" y="10000"/>
                </a:lnTo>
                <a:close/>
                <a:moveTo>
                  <a:pt x="7000" y="15000"/>
                </a:moveTo>
                <a:cubicBezTo>
                  <a:pt x="5350" y="15000"/>
                  <a:pt x="4000" y="13650"/>
                  <a:pt x="4000" y="12000"/>
                </a:cubicBezTo>
                <a:cubicBezTo>
                  <a:pt x="4000" y="10350"/>
                  <a:pt x="5350" y="9000"/>
                  <a:pt x="7000" y="9000"/>
                </a:cubicBezTo>
                <a:cubicBezTo>
                  <a:pt x="8650" y="9000"/>
                  <a:pt x="10000" y="10350"/>
                  <a:pt x="10000" y="12000"/>
                </a:cubicBezTo>
                <a:cubicBezTo>
                  <a:pt x="10000" y="13650"/>
                  <a:pt x="8650" y="15000"/>
                  <a:pt x="7000" y="15000"/>
                </a:cubicBezTo>
                <a:close/>
              </a:path>
            </a:pathLst>
          </a:custGeom>
          <a:solidFill>
            <a:srgbClr val="595959"/>
          </a:solidFill>
          <a:ln>
            <a:noFill/>
          </a:ln>
          <a:effectLst/>
        </p:spPr>
        <p:txBody>
          <a:bodyPr rtlCol="0" anchor="ctr"/>
          <a:lstStyle/>
          <a:p/>
        </p:txBody>
      </p:sp>
      <p:sp>
        <p:nvSpPr>
          <p:cNvPr id="49" name="TextBox 48"/>
          <p:cNvSpPr txBox="1"/>
          <p:nvPr/>
        </p:nvSpPr>
        <p:spPr>
          <a:xfrm>
            <a:off x="6492240" y="4562856"/>
            <a:ext cx="1618488" cy="603504"/>
          </a:xfrm>
          <a:prstGeom prst="rect">
            <a:avLst/>
          </a:prstGeom>
          <a:noFill/>
        </p:spPr>
        <p:txBody>
          <a:bodyPr wrap="square" lIns="0" rIns="0" tIns="18288" bIns="18288" anchor="t">
            <a:noAutofit/>
          </a:bodyPr>
          <a:lstStyle/>
          <a:p>
            <a:pPr algn="l"/>
            <a:r>
              <a:rPr sz="900" b="1" i="0" lang="ko-KR" altLang="en-US">
                <a:solidFill>
                  <a:srgbClr val="262626"/>
                </a:solidFill>
                <a:latin typeface="LG스마트체 Regular"/>
                <a:ea typeface="LG스마트체 Regular"/>
                <a:cs typeface="LG스마트체 Regular"/>
              </a:rPr>
              <a:t>/config/config.json</a:t>
            </a:r>
          </a:p>
          <a:p>
            <a:pPr algn="l"/>
            <a:r>
              <a:rPr sz="850" b="0" i="0" lang="ko-KR" altLang="en-US">
                <a:solidFill>
                  <a:srgbClr val="262626"/>
                </a:solidFill>
                <a:latin typeface="LG스마트체 Regular"/>
                <a:ea typeface="LG스마트체 Regular"/>
                <a:cs typeface="LG스마트체 Regular"/>
              </a:rPr>
              <a:t>비밀 값: AI_API_URL · AI_API_KEY</a:t>
            </a:r>
          </a:p>
        </p:txBody>
      </p:sp>
      <p:sp>
        <p:nvSpPr>
          <p:cNvPr id="50" name="vol-backup-box"/>
          <p:cNvSpPr/>
          <p:nvPr/>
        </p:nvSpPr>
        <p:spPr>
          <a:xfrm>
            <a:off x="6172200" y="5303520"/>
            <a:ext cx="1965960" cy="658368"/>
          </a:xfrm>
          <a:prstGeom prst="roundRect">
            <a:avLst>
              <a:gd name="adj" fmla="val 8333"/>
            </a:avLst>
          </a:prstGeom>
          <a:solidFill>
            <a:srgbClr val="FFF5EB"/>
          </a:solidFill>
          <a:ln w="12700">
            <a:solidFill>
              <a:srgbClr val="C55A11"/>
            </a:solidFill>
            <a:prstDash val="dash"/>
          </a:ln>
          <a:effectLst/>
        </p:spPr>
        <p:txBody>
          <a:bodyPr rtlCol="0" anchor="ctr"/>
          <a:lstStyle/>
          <a:p/>
        </p:txBody>
      </p:sp>
      <p:sp>
        <p:nvSpPr>
          <p:cNvPr id="51" name="icon-nas"/>
          <p:cNvSpPr/>
          <p:nvPr/>
        </p:nvSpPr>
        <p:spPr>
          <a:xfrm>
            <a:off x="6245352" y="5376672"/>
            <a:ext cx="201168" cy="201168"/>
          </a:xfrm>
          <a:custGeom>
            <a:avLst/>
            <a:gdLst/>
            <a:ahLst/>
            <a:cxnLst/>
            <a:rect l="0" t="0" r="r" b="b"/>
            <a:pathLst>
              <a:path w="24000" h="24000" stroke="0">
                <a:moveTo>
                  <a:pt x="2000" y="20000"/>
                </a:moveTo>
                <a:lnTo>
                  <a:pt x="22000" y="20000"/>
                </a:lnTo>
                <a:lnTo>
                  <a:pt x="22000" y="16000"/>
                </a:lnTo>
                <a:lnTo>
                  <a:pt x="2000" y="16000"/>
                </a:lnTo>
                <a:lnTo>
                  <a:pt x="2000" y="20000"/>
                </a:lnTo>
                <a:close/>
                <a:moveTo>
                  <a:pt x="4000" y="17000"/>
                </a:moveTo>
                <a:lnTo>
                  <a:pt x="6000" y="17000"/>
                </a:lnTo>
                <a:lnTo>
                  <a:pt x="6000" y="19000"/>
                </a:lnTo>
                <a:lnTo>
                  <a:pt x="4000" y="19000"/>
                </a:lnTo>
                <a:lnTo>
                  <a:pt x="4000" y="17000"/>
                </a:lnTo>
                <a:close/>
                <a:moveTo>
                  <a:pt x="2000" y="4000"/>
                </a:moveTo>
                <a:lnTo>
                  <a:pt x="2000" y="8000"/>
                </a:lnTo>
                <a:lnTo>
                  <a:pt x="22000" y="8000"/>
                </a:lnTo>
                <a:lnTo>
                  <a:pt x="22000" y="4000"/>
                </a:lnTo>
                <a:lnTo>
                  <a:pt x="2000" y="4000"/>
                </a:lnTo>
                <a:close/>
                <a:moveTo>
                  <a:pt x="6000" y="7000"/>
                </a:moveTo>
                <a:lnTo>
                  <a:pt x="4000" y="7000"/>
                </a:lnTo>
                <a:lnTo>
                  <a:pt x="4000" y="5000"/>
                </a:lnTo>
                <a:lnTo>
                  <a:pt x="6000" y="5000"/>
                </a:lnTo>
                <a:lnTo>
                  <a:pt x="6000" y="7000"/>
                </a:lnTo>
                <a:close/>
                <a:moveTo>
                  <a:pt x="2000" y="14000"/>
                </a:moveTo>
                <a:lnTo>
                  <a:pt x="22000" y="14000"/>
                </a:lnTo>
                <a:lnTo>
                  <a:pt x="22000" y="10000"/>
                </a:lnTo>
                <a:lnTo>
                  <a:pt x="2000" y="10000"/>
                </a:lnTo>
                <a:lnTo>
                  <a:pt x="2000" y="14000"/>
                </a:lnTo>
                <a:close/>
                <a:moveTo>
                  <a:pt x="4000" y="11000"/>
                </a:moveTo>
                <a:lnTo>
                  <a:pt x="6000" y="11000"/>
                </a:lnTo>
                <a:lnTo>
                  <a:pt x="6000" y="13000"/>
                </a:lnTo>
                <a:lnTo>
                  <a:pt x="4000" y="13000"/>
                </a:lnTo>
                <a:lnTo>
                  <a:pt x="4000" y="11000"/>
                </a:lnTo>
                <a:close/>
              </a:path>
            </a:pathLst>
          </a:custGeom>
          <a:solidFill>
            <a:srgbClr val="595959"/>
          </a:solidFill>
          <a:ln>
            <a:noFill/>
          </a:ln>
          <a:effectLst/>
        </p:spPr>
        <p:txBody>
          <a:bodyPr rtlCol="0" anchor="ctr"/>
          <a:lstStyle/>
          <a:p/>
        </p:txBody>
      </p:sp>
      <p:sp>
        <p:nvSpPr>
          <p:cNvPr id="52" name="TextBox 51"/>
          <p:cNvSpPr txBox="1"/>
          <p:nvPr/>
        </p:nvSpPr>
        <p:spPr>
          <a:xfrm>
            <a:off x="6492240" y="5340096"/>
            <a:ext cx="1618488" cy="603504"/>
          </a:xfrm>
          <a:prstGeom prst="rect">
            <a:avLst/>
          </a:prstGeom>
          <a:noFill/>
        </p:spPr>
        <p:txBody>
          <a:bodyPr wrap="square" lIns="0" rIns="0" tIns="18288" bIns="18288" anchor="t">
            <a:noAutofit/>
          </a:bodyPr>
          <a:lstStyle/>
          <a:p>
            <a:pPr algn="l"/>
            <a:r>
              <a:rPr sz="900" b="1" i="0" lang="ko-KR" altLang="en-US">
                <a:solidFill>
                  <a:srgbClr val="262626"/>
                </a:solidFill>
                <a:latin typeface="LG스마트체 Regular"/>
                <a:ea typeface="LG스마트체 Regular"/>
                <a:cs typeface="LG스마트체 Regular"/>
              </a:rPr>
              <a:t>BACKUP_DIR</a:t>
            </a:r>
            <a:r>
              <a:rPr sz="900" b="0" i="0" lang="ko-KR" altLang="en-US">
                <a:solidFill>
                  <a:srgbClr val="262626"/>
                </a:solidFill>
                <a:latin typeface="LG스마트체 Regular"/>
                <a:ea typeface="LG스마트체 Regular"/>
                <a:cs typeface="LG스마트체 Regular"/>
              </a:rPr>
              <a:t> 마운트</a:t>
            </a:r>
          </a:p>
          <a:p>
            <a:pPr algn="l"/>
            <a:r>
              <a:rPr sz="850" b="0" i="0" lang="ko-KR" altLang="en-US">
                <a:solidFill>
                  <a:srgbClr val="262626"/>
                </a:solidFill>
                <a:latin typeface="LG스마트체 Regular"/>
                <a:ea typeface="LG스마트체 Regular"/>
                <a:cs typeface="LG스마트체 Regular"/>
              </a:rPr>
              <a:t>/mnt/nas/worklog-backup</a:t>
            </a:r>
          </a:p>
        </p:txBody>
      </p:sp>
      <p:cxnSp>
        <p:nvCxnSpPr>
          <p:cNvPr id="53" name="backup-copy"/>
          <p:cNvCxnSpPr/>
          <p:nvPr/>
        </p:nvCxnSpPr>
        <p:spPr>
          <a:xfrm>
            <a:off x="5760720" y="5632704"/>
            <a:ext cx="411480" cy="0"/>
          </a:xfrm>
          <a:prstGeom prst="line">
            <a:avLst/>
          </a:prstGeom>
          <a:ln w="19050">
            <a:solidFill>
              <a:srgbClr val="C55A11"/>
            </a:solidFill>
            <a:prstDash val="dash"/>
            <a:tailEnd type="triangle" w="med" len="med"/>
          </a:ln>
        </p:spPr>
      </p:cxnSp>
      <p:sp>
        <p:nvSpPr>
          <p:cNvPr id="54" name="exaone"/>
          <p:cNvSpPr/>
          <p:nvPr/>
        </p:nvSpPr>
        <p:spPr>
          <a:xfrm>
            <a:off x="8595360" y="2331720"/>
            <a:ext cx="3182112" cy="868680"/>
          </a:xfrm>
          <a:prstGeom prst="roundRect">
            <a:avLst>
              <a:gd name="adj" fmla="val 8421"/>
            </a:avLst>
          </a:prstGeom>
          <a:noFill/>
          <a:ln w="15875">
            <a:solidFill>
              <a:srgbClr val="C55A11"/>
            </a:solidFill>
            <a:prstDash val="dash"/>
          </a:ln>
          <a:effectLst/>
        </p:spPr>
        <p:txBody>
          <a:bodyPr rtlCol="0" anchor="ctr"/>
          <a:lstStyle/>
          <a:p/>
        </p:txBody>
      </p:sp>
      <p:sp>
        <p:nvSpPr>
          <p:cNvPr id="55" name="icon-ai"/>
          <p:cNvSpPr/>
          <p:nvPr/>
        </p:nvSpPr>
        <p:spPr>
          <a:xfrm>
            <a:off x="8686800" y="2423160"/>
            <a:ext cx="256032" cy="256032"/>
          </a:xfrm>
          <a:custGeom>
            <a:avLst/>
            <a:gdLst/>
            <a:ahLst/>
            <a:cxnLst/>
            <a:rect l="0" t="0" r="r" b="b"/>
            <a:pathLst>
              <a:path w="24000" h="24000" fill="none">
                <a:moveTo>
                  <a:pt x="15500" y="13000"/>
                </a:moveTo>
                <a:cubicBezTo>
                  <a:pt x="13567" y="13000"/>
                  <a:pt x="12000" y="14567"/>
                  <a:pt x="12000" y="16500"/>
                </a:cubicBezTo>
                <a:lnTo>
                  <a:pt x="12000" y="17500"/>
                </a:lnTo>
                <a:cubicBezTo>
                  <a:pt x="12000" y="19433"/>
                  <a:pt x="13567" y="21000"/>
                  <a:pt x="15500" y="21000"/>
                </a:cubicBezTo>
                <a:cubicBezTo>
                  <a:pt x="17433" y="21000"/>
                  <a:pt x="19000" y="19433"/>
                  <a:pt x="19000" y="17500"/>
                </a:cubicBezTo>
                <a:lnTo>
                  <a:pt x="19000" y="15700"/>
                </a:lnTo>
              </a:path>
              <a:path w="24000" h="24000" fill="none">
                <a:moveTo>
                  <a:pt x="8500" y="13000"/>
                </a:moveTo>
                <a:cubicBezTo>
                  <a:pt x="10433" y="13000"/>
                  <a:pt x="12000" y="14567"/>
                  <a:pt x="12000" y="16500"/>
                </a:cubicBezTo>
                <a:lnTo>
                  <a:pt x="12000" y="17500"/>
                </a:lnTo>
                <a:cubicBezTo>
                  <a:pt x="12000" y="19433"/>
                  <a:pt x="10433" y="21000"/>
                  <a:pt x="8500" y="21000"/>
                </a:cubicBezTo>
                <a:cubicBezTo>
                  <a:pt x="6567" y="21000"/>
                  <a:pt x="5000" y="19433"/>
                  <a:pt x="5000" y="17500"/>
                </a:cubicBezTo>
                <a:lnTo>
                  <a:pt x="5000" y="15700"/>
                </a:lnTo>
              </a:path>
              <a:path w="24000" h="24000" fill="none">
                <a:moveTo>
                  <a:pt x="17500" y="16000"/>
                </a:moveTo>
                <a:cubicBezTo>
                  <a:pt x="19433" y="16000"/>
                  <a:pt x="21000" y="14433"/>
                  <a:pt x="21000" y="12500"/>
                </a:cubicBezTo>
                <a:cubicBezTo>
                  <a:pt x="21000" y="10567"/>
                  <a:pt x="19433" y="9000"/>
                  <a:pt x="17500" y="9000"/>
                </a:cubicBezTo>
                <a:lnTo>
                  <a:pt x="17000" y="9000"/>
                </a:lnTo>
              </a:path>
              <a:path w="24000" h="24000" fill="none">
                <a:moveTo>
                  <a:pt x="19000" y="9300"/>
                </a:moveTo>
                <a:lnTo>
                  <a:pt x="19000" y="6500"/>
                </a:lnTo>
                <a:cubicBezTo>
                  <a:pt x="19000" y="4567"/>
                  <a:pt x="17433" y="3000"/>
                  <a:pt x="15500" y="3000"/>
                </a:cubicBezTo>
                <a:cubicBezTo>
                  <a:pt x="13567" y="3000"/>
                  <a:pt x="12000" y="4567"/>
                  <a:pt x="12000" y="6500"/>
                </a:cubicBezTo>
              </a:path>
              <a:path w="24000" h="24000" fill="none">
                <a:moveTo>
                  <a:pt x="6500" y="16000"/>
                </a:moveTo>
                <a:cubicBezTo>
                  <a:pt x="4567" y="16000"/>
                  <a:pt x="3000" y="14433"/>
                  <a:pt x="3000" y="12500"/>
                </a:cubicBezTo>
                <a:cubicBezTo>
                  <a:pt x="3000" y="10567"/>
                  <a:pt x="4567" y="9000"/>
                  <a:pt x="6500" y="9000"/>
                </a:cubicBezTo>
                <a:lnTo>
                  <a:pt x="7000" y="9000"/>
                </a:lnTo>
              </a:path>
              <a:path w="24000" h="24000" fill="none">
                <a:moveTo>
                  <a:pt x="5000" y="9300"/>
                </a:moveTo>
                <a:lnTo>
                  <a:pt x="5000" y="6500"/>
                </a:lnTo>
                <a:cubicBezTo>
                  <a:pt x="5000" y="4567"/>
                  <a:pt x="6567" y="3000"/>
                  <a:pt x="8500" y="3000"/>
                </a:cubicBezTo>
                <a:cubicBezTo>
                  <a:pt x="10433" y="3000"/>
                  <a:pt x="12000" y="4567"/>
                  <a:pt x="12000" y="6500"/>
                </a:cubicBezTo>
                <a:lnTo>
                  <a:pt x="12000" y="16500"/>
                </a:lnTo>
              </a:path>
            </a:pathLst>
          </a:custGeom>
          <a:solidFill>
            <a:srgbClr val="1F3864"/>
          </a:solidFill>
          <a:ln w="12700">
            <a:solidFill>
              <a:srgbClr val="1F3864"/>
            </a:solidFill>
          </a:ln>
          <a:effectLst/>
        </p:spPr>
        <p:txBody>
          <a:bodyPr rtlCol="0" anchor="ctr"/>
          <a:lstStyle/>
          <a:p/>
        </p:txBody>
      </p:sp>
      <p:sp>
        <p:nvSpPr>
          <p:cNvPr id="56" name="TextBox 55"/>
          <p:cNvSpPr txBox="1"/>
          <p:nvPr/>
        </p:nvSpPr>
        <p:spPr>
          <a:xfrm>
            <a:off x="9015984" y="2377440"/>
            <a:ext cx="2697480" cy="777240"/>
          </a:xfrm>
          <a:prstGeom prst="rect">
            <a:avLst/>
          </a:prstGeom>
          <a:noFill/>
        </p:spPr>
        <p:txBody>
          <a:bodyPr wrap="square" lIns="0" rIns="0" tIns="18288" bIns="18288" anchor="t">
            <a:noAutofit/>
          </a:bodyPr>
          <a:lstStyle/>
          <a:p>
            <a:pPr algn="l"/>
            <a:r>
              <a:rPr sz="950" b="1" i="0" lang="ko-KR" altLang="en-US">
                <a:solidFill>
                  <a:srgbClr val="1F3864"/>
                </a:solidFill>
                <a:latin typeface="LG스마트체 Regular"/>
                <a:ea typeface="LG스마트체 Regular"/>
                <a:cs typeface="LG스마트체 Regular"/>
              </a:rPr>
              <a:t>EXAONE API</a:t>
            </a:r>
            <a:r>
              <a:rPr sz="950" b="0" i="0" lang="ko-KR" altLang="en-US">
                <a:solidFill>
                  <a:srgbClr val="595959"/>
                </a:solidFill>
                <a:latin typeface="LG스마트체 Regular"/>
                <a:ea typeface="LG스마트체 Regular"/>
                <a:cs typeface="LG스마트체 Regular"/>
              </a:rPr>
              <a:t> (사내)</a:t>
            </a:r>
          </a:p>
          <a:p>
            <a:pPr algn="l"/>
            <a:r>
              <a:rPr sz="950" b="0" i="0" lang="ko-KR" altLang="en-US">
                <a:solidFill>
                  <a:srgbClr val="C55A11"/>
                </a:solidFill>
                <a:latin typeface="LG스마트체 Regular"/>
                <a:ea typeface="LG스마트체 Regular"/>
                <a:cs typeface="LG스마트체 Regular"/>
              </a:rPr>
              <a:t>HTTPS · 망 경로·방화벽 미정</a:t>
            </a:r>
          </a:p>
          <a:p>
            <a:pPr algn="l"/>
            <a:r>
              <a:rPr sz="950" b="0" i="0" lang="ko-KR" altLang="en-US">
                <a:solidFill>
                  <a:srgbClr val="262626"/>
                </a:solidFill>
                <a:latin typeface="LG스마트체 Regular"/>
                <a:ea typeface="LG스마트체 Regular"/>
                <a:cs typeface="LG스마트체 Regular"/>
              </a:rPr>
              <a:t>키: config 파일 (GitHub 미포함)</a:t>
            </a:r>
          </a:p>
        </p:txBody>
      </p:sp>
      <p:cxnSp>
        <p:nvCxnSpPr>
          <p:cNvPr id="57" name="out-exaone"/>
          <p:cNvCxnSpPr/>
          <p:nvPr/>
        </p:nvCxnSpPr>
        <p:spPr>
          <a:xfrm>
            <a:off x="7863840" y="2770632"/>
            <a:ext cx="731520" cy="0"/>
          </a:xfrm>
          <a:prstGeom prst="line">
            <a:avLst/>
          </a:prstGeom>
          <a:ln w="19050">
            <a:solidFill>
              <a:srgbClr val="C55A11"/>
            </a:solidFill>
            <a:prstDash val="dash"/>
            <a:tailEnd type="triangle" w="med" len="med"/>
          </a:ln>
        </p:spPr>
      </p:cxnSp>
      <p:sp>
        <p:nvSpPr>
          <p:cNvPr id="58" name="badge-3"/>
          <p:cNvSpPr/>
          <p:nvPr/>
        </p:nvSpPr>
        <p:spPr>
          <a:xfrm>
            <a:off x="8298180" y="2656332"/>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3</a:t>
            </a:r>
          </a:p>
        </p:txBody>
      </p:sp>
      <p:sp>
        <p:nvSpPr>
          <p:cNvPr id="59" name="flow-key"/>
          <p:cNvSpPr/>
          <p:nvPr/>
        </p:nvSpPr>
        <p:spPr>
          <a:xfrm>
            <a:off x="8595360" y="1188720"/>
            <a:ext cx="3182112" cy="960120"/>
          </a:xfrm>
          <a:prstGeom prst="roundRect">
            <a:avLst>
              <a:gd name="adj" fmla="val 7619"/>
            </a:avLst>
          </a:prstGeom>
          <a:solidFill>
            <a:srgbClr val="FAFAFA"/>
          </a:solidFill>
          <a:ln w="9525">
            <a:solidFill>
              <a:srgbClr val="D9D9D9"/>
            </a:solidFill>
          </a:ln>
          <a:effectLst/>
        </p:spPr>
        <p:txBody>
          <a:bodyPr rtlCol="0" anchor="ctr"/>
          <a:lstStyle/>
          <a:p/>
        </p:txBody>
      </p:sp>
      <p:sp>
        <p:nvSpPr>
          <p:cNvPr id="60" name="TextBox 59"/>
          <p:cNvSpPr txBox="1"/>
          <p:nvPr/>
        </p:nvSpPr>
        <p:spPr>
          <a:xfrm>
            <a:off x="8686800" y="1216152"/>
            <a:ext cx="3017520" cy="905256"/>
          </a:xfrm>
          <a:prstGeom prst="rect">
            <a:avLst/>
          </a:prstGeom>
          <a:noFill/>
        </p:spPr>
        <p:txBody>
          <a:bodyPr wrap="square" lIns="18288" rIns="18288" tIns="18288" bIns="18288" anchor="ctr">
            <a:noAutofit/>
          </a:bodyPr>
          <a:lstStyle/>
          <a:p>
            <a:pPr algn="l"/>
            <a:r>
              <a:rPr sz="900" b="1" i="0" lang="ko-KR" altLang="en-US">
                <a:solidFill>
                  <a:srgbClr val="1F3864"/>
                </a:solidFill>
                <a:latin typeface="LG스마트체 Regular"/>
                <a:ea typeface="LG스마트체 Regular"/>
                <a:cs typeface="LG스마트체 Regular"/>
              </a:rPr>
              <a:t>흐름 번호 </a:t>
            </a:r>
            <a:r>
              <a:rPr sz="900" b="0" i="0" lang="ko-KR" altLang="en-US">
                <a:solidFill>
                  <a:srgbClr val="595959"/>
                </a:solidFill>
                <a:latin typeface="LG스마트체 Regular"/>
                <a:ea typeface="LG스마트체 Regular"/>
                <a:cs typeface="LG스마트체 Regular"/>
              </a:rPr>
              <a:t>(본문과 동일)</a:t>
            </a:r>
          </a:p>
          <a:p>
            <a:pPr algn="l"/>
            <a:r>
              <a:rPr sz="900" b="0" i="0" lang="ko-KR" altLang="en-US">
                <a:solidFill>
                  <a:srgbClr val="262626"/>
                </a:solidFill>
                <a:latin typeface="LG스마트체 Regular"/>
                <a:ea typeface="LG스마트체 Regular"/>
                <a:cs typeface="LG스마트체 Regular"/>
              </a:rPr>
              <a:t>① 사내망 → TCP 8000 </a:t>
            </a:r>
            <a:r>
              <a:rPr sz="900" b="0" i="0" lang="ko-KR" altLang="en-US">
                <a:solidFill>
                  <a:srgbClr val="C55A11"/>
                </a:solidFill>
                <a:latin typeface="LG스마트체 Regular"/>
                <a:ea typeface="LG스마트체 Regular"/>
                <a:cs typeface="LG스마트체 Regular"/>
              </a:rPr>
              <a:t>(미정)</a:t>
            </a:r>
          </a:p>
          <a:p>
            <a:pPr algn="l"/>
            <a:r>
              <a:rPr sz="900" b="0" i="0" lang="ko-KR" altLang="en-US">
                <a:solidFill>
                  <a:srgbClr val="262626"/>
                </a:solidFill>
                <a:latin typeface="LG스마트체 Regular"/>
                <a:ea typeface="LG스마트체 Regular"/>
                <a:cs typeface="LG스마트체 Regular"/>
              </a:rPr>
              <a:t>② 컨테이너 → /data 로컬 볼륨 </a:t>
            </a:r>
            <a:r>
              <a:rPr sz="900" b="0" i="0" lang="ko-KR" altLang="en-US">
                <a:solidFill>
                  <a:srgbClr val="1F3864"/>
                </a:solidFill>
                <a:latin typeface="LG스마트체 Regular"/>
                <a:ea typeface="LG스마트체 Regular"/>
                <a:cs typeface="LG스마트체 Regular"/>
              </a:rPr>
              <a:t>(구현)</a:t>
            </a:r>
          </a:p>
          <a:p>
            <a:pPr algn="l"/>
            <a:r>
              <a:rPr sz="900" b="0" i="0" lang="ko-KR" altLang="en-US">
                <a:solidFill>
                  <a:srgbClr val="262626"/>
                </a:solidFill>
                <a:latin typeface="LG스마트체 Regular"/>
                <a:ea typeface="LG스마트체 Regular"/>
                <a:cs typeface="LG스마트체 Regular"/>
              </a:rPr>
              <a:t>③ EXAONE 호출 </a:t>
            </a:r>
            <a:r>
              <a:rPr sz="900" b="0" i="0" lang="ko-KR" altLang="en-US">
                <a:solidFill>
                  <a:srgbClr val="C55A11"/>
                </a:solidFill>
                <a:latin typeface="LG스마트체 Regular"/>
                <a:ea typeface="LG스마트체 Regular"/>
                <a:cs typeface="LG스마트체 Regular"/>
              </a:rPr>
              <a:t>(망 경로 미정)</a:t>
            </a:r>
          </a:p>
          <a:p>
            <a:pPr algn="l"/>
            <a:r>
              <a:rPr sz="900" b="0" i="0" lang="ko-KR" altLang="en-US">
                <a:solidFill>
                  <a:srgbClr val="262626"/>
                </a:solidFill>
                <a:latin typeface="LG스마트체 Regular"/>
                <a:ea typeface="LG스마트체 Regular"/>
                <a:cs typeface="LG스마트체 Regular"/>
              </a:rPr>
              <a:t>⑤ 백업 → NAS </a:t>
            </a:r>
            <a:r>
              <a:rPr sz="900" b="0" i="0" lang="ko-KR" altLang="en-US">
                <a:solidFill>
                  <a:srgbClr val="C55A11"/>
                </a:solidFill>
                <a:latin typeface="LG스마트체 Regular"/>
                <a:ea typeface="LG스마트체 Regular"/>
                <a:cs typeface="LG스마트체 Regular"/>
              </a:rPr>
              <a:t>(검증 전)</a:t>
            </a:r>
          </a:p>
        </p:txBody>
      </p:sp>
      <p:sp>
        <p:nvSpPr>
          <p:cNvPr id="61" name="backup-scope"/>
          <p:cNvSpPr/>
          <p:nvPr/>
        </p:nvSpPr>
        <p:spPr>
          <a:xfrm>
            <a:off x="8595360" y="3429000"/>
            <a:ext cx="3182112" cy="1371600"/>
          </a:xfrm>
          <a:prstGeom prst="roundRect">
            <a:avLst>
              <a:gd name="adj" fmla="val 5333"/>
            </a:avLst>
          </a:prstGeom>
          <a:solidFill>
            <a:srgbClr val="EEF2F8"/>
          </a:solidFill>
          <a:ln w="15875">
            <a:solidFill>
              <a:srgbClr val="1F3864"/>
            </a:solidFill>
          </a:ln>
          <a:effectLst/>
        </p:spPr>
        <p:txBody>
          <a:bodyPr rtlCol="0" anchor="ctr"/>
          <a:lstStyle/>
          <a:p/>
        </p:txBody>
      </p:sp>
      <p:sp>
        <p:nvSpPr>
          <p:cNvPr id="62" name="icon-backup"/>
          <p:cNvSpPr/>
          <p:nvPr/>
        </p:nvSpPr>
        <p:spPr>
          <a:xfrm>
            <a:off x="8686800" y="3511296"/>
            <a:ext cx="237744" cy="237744"/>
          </a:xfrm>
          <a:custGeom>
            <a:avLst/>
            <a:gdLst/>
            <a:ahLst/>
            <a:cxnLst/>
            <a:rect l="0" t="0" r="r" b="b"/>
            <a:pathLst>
              <a:path w="24000" h="24000" stroke="0">
                <a:moveTo>
                  <a:pt x="19350" y="10040"/>
                </a:moveTo>
                <a:cubicBezTo>
                  <a:pt x="18657" y="6529"/>
                  <a:pt x="15578" y="3999"/>
                  <a:pt x="12000" y="4000"/>
                </a:cubicBezTo>
                <a:cubicBezTo>
                  <a:pt x="9110" y="4000"/>
                  <a:pt x="6600" y="5640"/>
                  <a:pt x="5350" y="8040"/>
                </a:cubicBezTo>
                <a:cubicBezTo>
                  <a:pt x="2306" y="8369"/>
                  <a:pt x="0" y="10939"/>
                  <a:pt x="0" y="14000"/>
                </a:cubicBezTo>
                <a:cubicBezTo>
                  <a:pt x="0" y="17310"/>
                  <a:pt x="2690" y="20000"/>
                  <a:pt x="6000" y="20000"/>
                </a:cubicBezTo>
                <a:lnTo>
                  <a:pt x="19000" y="20000"/>
                </a:lnTo>
                <a:cubicBezTo>
                  <a:pt x="21760" y="20000"/>
                  <a:pt x="24000" y="17760"/>
                  <a:pt x="24000" y="15000"/>
                </a:cubicBezTo>
                <a:cubicBezTo>
                  <a:pt x="24000" y="12360"/>
                  <a:pt x="21950" y="10220"/>
                  <a:pt x="19350" y="10040"/>
                </a:cubicBezTo>
                <a:close/>
                <a:moveTo>
                  <a:pt x="14000" y="13000"/>
                </a:moveTo>
                <a:lnTo>
                  <a:pt x="14000" y="17000"/>
                </a:lnTo>
                <a:lnTo>
                  <a:pt x="10000" y="17000"/>
                </a:lnTo>
                <a:lnTo>
                  <a:pt x="10000" y="13000"/>
                </a:lnTo>
                <a:lnTo>
                  <a:pt x="7000" y="13000"/>
                </a:lnTo>
                <a:lnTo>
                  <a:pt x="12000" y="8000"/>
                </a:lnTo>
                <a:lnTo>
                  <a:pt x="17000" y="13000"/>
                </a:lnTo>
                <a:lnTo>
                  <a:pt x="14000" y="13000"/>
                </a:lnTo>
                <a:close/>
              </a:path>
            </a:pathLst>
          </a:custGeom>
          <a:solidFill>
            <a:srgbClr val="1F3864"/>
          </a:solidFill>
          <a:ln>
            <a:noFill/>
          </a:ln>
          <a:effectLst/>
        </p:spPr>
        <p:txBody>
          <a:bodyPr rtlCol="0" anchor="ctr"/>
          <a:lstStyle/>
          <a:p/>
        </p:txBody>
      </p:sp>
      <p:sp>
        <p:nvSpPr>
          <p:cNvPr id="63" name="TextBox 62"/>
          <p:cNvSpPr txBox="1"/>
          <p:nvPr/>
        </p:nvSpPr>
        <p:spPr>
          <a:xfrm>
            <a:off x="8997696" y="3511296"/>
            <a:ext cx="2697480" cy="256032"/>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백업 범위</a:t>
            </a:r>
            <a:r>
              <a:rPr sz="900" b="0" i="0" lang="ko-KR" altLang="en-US">
                <a:solidFill>
                  <a:srgbClr val="595959"/>
                </a:solidFill>
                <a:latin typeface="LG스마트체 Regular"/>
                <a:ea typeface="LG스마트체 Regular"/>
                <a:cs typeface="LG스마트체 Regular"/>
              </a:rPr>
              <a:t> (backups.py · 구현)</a:t>
            </a:r>
          </a:p>
        </p:txBody>
      </p:sp>
      <p:sp>
        <p:nvSpPr>
          <p:cNvPr id="64" name="TextBox 63"/>
          <p:cNvSpPr txBox="1"/>
          <p:nvPr/>
        </p:nvSpPr>
        <p:spPr>
          <a:xfrm>
            <a:off x="8705088" y="3822192"/>
            <a:ext cx="2999232" cy="932688"/>
          </a:xfrm>
          <a:prstGeom prst="rect">
            <a:avLst/>
          </a:prstGeom>
          <a:noFill/>
        </p:spPr>
        <p:txBody>
          <a:bodyPr wrap="square" lIns="18288" rIns="18288" tIns="18288" bIns="18288" anchor="t">
            <a:noAutofit/>
          </a:bodyPr>
          <a:lstStyle/>
          <a:p>
            <a:pPr algn="l">
              <a:spcBef>
                <a:spcPts val="0"/>
              </a:spcBef>
            </a:pPr>
            <a:r>
              <a:rPr sz="950" b="1" i="0" lang="ko-KR" altLang="en-US">
                <a:solidFill>
                  <a:srgbClr val="1F3864"/>
                </a:solidFill>
                <a:latin typeface="LG스마트체 Regular"/>
                <a:ea typeface="LG스마트체 Regular"/>
                <a:cs typeface="LG스마트체 Regular"/>
              </a:rPr>
              <a:t>포함  </a:t>
            </a:r>
            <a:r>
              <a:rPr sz="950" b="0" i="0" lang="ko-KR" altLang="en-US">
                <a:solidFill>
                  <a:srgbClr val="262626"/>
                </a:solidFill>
                <a:latin typeface="LG스마트체 Regular"/>
                <a:ea typeface="LG스마트체 Regular"/>
                <a:cs typeface="LG스마트체 Regular"/>
              </a:rPr>
              <a:t>SQLite 사본 + 첨부 (manifest sha256)</a:t>
            </a:r>
          </a:p>
          <a:p>
            <a:pPr algn="l">
              <a:spcBef>
                <a:spcPts val="200"/>
              </a:spcBef>
            </a:pPr>
            <a:r>
              <a:rPr sz="950" b="1" i="0" lang="ko-KR" altLang="en-US">
                <a:solidFill>
                  <a:srgbClr val="1F3864"/>
                </a:solidFill>
                <a:latin typeface="LG스마트체 Regular"/>
                <a:ea typeface="LG스마트체 Regular"/>
                <a:cs typeface="LG스마트체 Regular"/>
              </a:rPr>
              <a:t>미포함  </a:t>
            </a:r>
            <a:r>
              <a:rPr sz="950" b="0" i="0" lang="ko-KR" altLang="en-US">
                <a:solidFill>
                  <a:srgbClr val="262626"/>
                </a:solidFill>
                <a:latin typeface="LG스마트체 Regular"/>
                <a:ea typeface="LG스마트체 Regular"/>
                <a:cs typeface="LG스마트체 Regular"/>
              </a:rPr>
              <a:t>reports/ · voe/</a:t>
            </a:r>
            <a:r>
              <a:rPr sz="950" b="0" i="0" lang="ko-KR" altLang="en-US">
                <a:solidFill>
                  <a:srgbClr val="C55A11"/>
                </a:solidFill>
                <a:latin typeface="LG스마트체 Regular"/>
                <a:ea typeface="LG스마트체 Regular"/>
                <a:cs typeface="LG스마트체 Regular"/>
              </a:rPr>
              <a:t> → 별도 복사 규칙 필요</a:t>
            </a:r>
          </a:p>
          <a:p>
            <a:pPr algn="l">
              <a:spcBef>
                <a:spcPts val="200"/>
              </a:spcBef>
            </a:pPr>
            <a:r>
              <a:rPr sz="950" b="1" i="0" lang="ko-KR" altLang="en-US">
                <a:solidFill>
                  <a:srgbClr val="1F3864"/>
                </a:solidFill>
                <a:latin typeface="LG스마트체 Regular"/>
                <a:ea typeface="LG스마트체 Regular"/>
                <a:cs typeface="LG스마트체 Regular"/>
              </a:rPr>
              <a:t>보관  </a:t>
            </a:r>
            <a:r>
              <a:rPr sz="950" b="0" i="0" lang="ko-KR" altLang="en-US">
                <a:solidFill>
                  <a:srgbClr val="262626"/>
                </a:solidFill>
                <a:latin typeface="LG스마트체 Regular"/>
                <a:ea typeface="LG스마트체 Regular"/>
                <a:cs typeface="LG스마트체 Regular"/>
              </a:rPr>
              <a:t>최근 14개 · 매회 전체 복사</a:t>
            </a:r>
          </a:p>
          <a:p>
            <a:pPr algn="l">
              <a:spcBef>
                <a:spcPts val="200"/>
              </a:spcBef>
            </a:pPr>
            <a:r>
              <a:rPr sz="950" b="1" i="0" lang="ko-KR" altLang="en-US">
                <a:solidFill>
                  <a:srgbClr val="1F3864"/>
                </a:solidFill>
                <a:latin typeface="LG스마트체 Regular"/>
                <a:ea typeface="LG스마트체 Regular"/>
                <a:cs typeface="LG스마트체 Regular"/>
              </a:rPr>
              <a:t>복원  </a:t>
            </a:r>
            <a:r>
              <a:rPr sz="950" b="0" i="0" lang="ko-KR" altLang="en-US">
                <a:solidFill>
                  <a:srgbClr val="262626"/>
                </a:solidFill>
                <a:latin typeface="LG스마트체 Regular"/>
                <a:ea typeface="LG스마트체 Regular"/>
                <a:cs typeface="LG스마트체 Regular"/>
              </a:rPr>
              <a:t>복원 시 스키마 확인</a:t>
            </a:r>
          </a:p>
        </p:txBody>
      </p:sp>
      <p:sp>
        <p:nvSpPr>
          <p:cNvPr id="65" name="nas"/>
          <p:cNvSpPr/>
          <p:nvPr/>
        </p:nvSpPr>
        <p:spPr>
          <a:xfrm>
            <a:off x="8595360" y="5029200"/>
            <a:ext cx="3182112" cy="1051560"/>
          </a:xfrm>
          <a:prstGeom prst="roundRect">
            <a:avLst>
              <a:gd name="adj" fmla="val 6956"/>
            </a:avLst>
          </a:prstGeom>
          <a:solidFill>
            <a:srgbClr val="FFF5EB"/>
          </a:solidFill>
          <a:ln w="15875">
            <a:solidFill>
              <a:srgbClr val="C55A11"/>
            </a:solidFill>
            <a:prstDash val="dash"/>
          </a:ln>
          <a:effectLst/>
        </p:spPr>
        <p:txBody>
          <a:bodyPr rtlCol="0" anchor="ctr"/>
          <a:lstStyle/>
          <a:p/>
        </p:txBody>
      </p:sp>
      <p:sp>
        <p:nvSpPr>
          <p:cNvPr id="66" name="icon-nas"/>
          <p:cNvSpPr/>
          <p:nvPr/>
        </p:nvSpPr>
        <p:spPr>
          <a:xfrm>
            <a:off x="8686800" y="5120640"/>
            <a:ext cx="256032" cy="256032"/>
          </a:xfrm>
          <a:custGeom>
            <a:avLst/>
            <a:gdLst/>
            <a:ahLst/>
            <a:cxnLst/>
            <a:rect l="0" t="0" r="r" b="b"/>
            <a:pathLst>
              <a:path w="24000" h="24000" stroke="0">
                <a:moveTo>
                  <a:pt x="2000" y="20000"/>
                </a:moveTo>
                <a:lnTo>
                  <a:pt x="22000" y="20000"/>
                </a:lnTo>
                <a:lnTo>
                  <a:pt x="22000" y="16000"/>
                </a:lnTo>
                <a:lnTo>
                  <a:pt x="2000" y="16000"/>
                </a:lnTo>
                <a:lnTo>
                  <a:pt x="2000" y="20000"/>
                </a:lnTo>
                <a:close/>
                <a:moveTo>
                  <a:pt x="4000" y="17000"/>
                </a:moveTo>
                <a:lnTo>
                  <a:pt x="6000" y="17000"/>
                </a:lnTo>
                <a:lnTo>
                  <a:pt x="6000" y="19000"/>
                </a:lnTo>
                <a:lnTo>
                  <a:pt x="4000" y="19000"/>
                </a:lnTo>
                <a:lnTo>
                  <a:pt x="4000" y="17000"/>
                </a:lnTo>
                <a:close/>
                <a:moveTo>
                  <a:pt x="2000" y="4000"/>
                </a:moveTo>
                <a:lnTo>
                  <a:pt x="2000" y="8000"/>
                </a:lnTo>
                <a:lnTo>
                  <a:pt x="22000" y="8000"/>
                </a:lnTo>
                <a:lnTo>
                  <a:pt x="22000" y="4000"/>
                </a:lnTo>
                <a:lnTo>
                  <a:pt x="2000" y="4000"/>
                </a:lnTo>
                <a:close/>
                <a:moveTo>
                  <a:pt x="6000" y="7000"/>
                </a:moveTo>
                <a:lnTo>
                  <a:pt x="4000" y="7000"/>
                </a:lnTo>
                <a:lnTo>
                  <a:pt x="4000" y="5000"/>
                </a:lnTo>
                <a:lnTo>
                  <a:pt x="6000" y="5000"/>
                </a:lnTo>
                <a:lnTo>
                  <a:pt x="6000" y="7000"/>
                </a:lnTo>
                <a:close/>
                <a:moveTo>
                  <a:pt x="2000" y="14000"/>
                </a:moveTo>
                <a:lnTo>
                  <a:pt x="22000" y="14000"/>
                </a:lnTo>
                <a:lnTo>
                  <a:pt x="22000" y="10000"/>
                </a:lnTo>
                <a:lnTo>
                  <a:pt x="2000" y="10000"/>
                </a:lnTo>
                <a:lnTo>
                  <a:pt x="2000" y="14000"/>
                </a:lnTo>
                <a:close/>
                <a:moveTo>
                  <a:pt x="4000" y="11000"/>
                </a:moveTo>
                <a:lnTo>
                  <a:pt x="6000" y="11000"/>
                </a:lnTo>
                <a:lnTo>
                  <a:pt x="6000" y="13000"/>
                </a:lnTo>
                <a:lnTo>
                  <a:pt x="4000" y="13000"/>
                </a:lnTo>
                <a:lnTo>
                  <a:pt x="4000" y="11000"/>
                </a:lnTo>
                <a:close/>
              </a:path>
            </a:pathLst>
          </a:custGeom>
          <a:solidFill>
            <a:srgbClr val="595959"/>
          </a:solidFill>
          <a:ln>
            <a:noFill/>
          </a:ln>
          <a:effectLst/>
        </p:spPr>
        <p:txBody>
          <a:bodyPr rtlCol="0" anchor="ctr"/>
          <a:lstStyle/>
          <a:p/>
        </p:txBody>
      </p:sp>
      <p:sp>
        <p:nvSpPr>
          <p:cNvPr id="67" name="TextBox 66"/>
          <p:cNvSpPr txBox="1"/>
          <p:nvPr/>
        </p:nvSpPr>
        <p:spPr>
          <a:xfrm>
            <a:off x="9015984" y="5084064"/>
            <a:ext cx="2697480" cy="950976"/>
          </a:xfrm>
          <a:prstGeom prst="rect">
            <a:avLst/>
          </a:prstGeom>
          <a:noFill/>
        </p:spPr>
        <p:txBody>
          <a:bodyPr wrap="square" lIns="0" rIns="0" tIns="18288" bIns="18288" anchor="t">
            <a:noAutofit/>
          </a:bodyPr>
          <a:lstStyle/>
          <a:p>
            <a:pPr algn="l">
              <a:spcBef>
                <a:spcPts val="0"/>
              </a:spcBef>
            </a:pPr>
            <a:r>
              <a:rPr sz="950" b="1" i="0" lang="ko-KR" altLang="en-US">
                <a:solidFill>
                  <a:srgbClr val="262626"/>
                </a:solidFill>
                <a:latin typeface="LG스마트체 Regular"/>
                <a:ea typeface="LG스마트체 Regular"/>
                <a:cs typeface="LG스마트체 Regular"/>
              </a:rPr>
              <a:t>NAS</a:t>
            </a:r>
            <a:r>
              <a:rPr sz="950" b="0" i="0" lang="ko-KR" altLang="en-US">
                <a:solidFill>
                  <a:srgbClr val="C55A11"/>
                </a:solidFill>
                <a:latin typeface="LG스마트체 Regular"/>
                <a:ea typeface="LG스마트체 Regular"/>
                <a:cs typeface="LG스마트체 Regular"/>
              </a:rPr>
              <a:t> (Sandbox 마운트)</a:t>
            </a:r>
          </a:p>
          <a:p>
            <a:pPr algn="l">
              <a:spcBef>
                <a:spcPts val="200"/>
              </a:spcBef>
            </a:pPr>
            <a:r>
              <a:rPr sz="950" b="0" i="0" lang="ko-KR" altLang="en-US">
                <a:solidFill>
                  <a:srgbClr val="262626"/>
                </a:solidFill>
                <a:latin typeface="LG스마트체 Regular"/>
                <a:ea typeface="LG스마트체 Regular"/>
                <a:cs typeface="LG스마트체 Regular"/>
              </a:rPr>
              <a:t>NFS/SMB · 권한 미정</a:t>
            </a:r>
          </a:p>
          <a:p>
            <a:pPr algn="l">
              <a:spcBef>
                <a:spcPts val="200"/>
              </a:spcBef>
            </a:pPr>
            <a:r>
              <a:rPr sz="950" b="0" i="0" lang="ko-KR" altLang="en-US">
                <a:solidFill>
                  <a:srgbClr val="262626"/>
                </a:solidFill>
                <a:latin typeface="LG스마트체 Regular"/>
                <a:ea typeface="LG스마트체 Regular"/>
                <a:cs typeface="LG스마트체 Regular"/>
              </a:rPr>
              <a:t>2TB · 1년 요청 — DAVINCI 미회신</a:t>
            </a:r>
          </a:p>
        </p:txBody>
      </p:sp>
      <p:cxnSp>
        <p:nvCxnSpPr>
          <p:cNvPr id="68" name="out-nas"/>
          <p:cNvCxnSpPr/>
          <p:nvPr/>
        </p:nvCxnSpPr>
        <p:spPr>
          <a:xfrm>
            <a:off x="8138160" y="5632704"/>
            <a:ext cx="457200" cy="0"/>
          </a:xfrm>
          <a:prstGeom prst="line">
            <a:avLst/>
          </a:prstGeom>
          <a:ln w="19050">
            <a:solidFill>
              <a:srgbClr val="C55A11"/>
            </a:solidFill>
            <a:prstDash val="dash"/>
            <a:tailEnd type="triangle" w="med" len="med"/>
          </a:ln>
        </p:spPr>
      </p:cxnSp>
      <p:sp>
        <p:nvSpPr>
          <p:cNvPr id="69" name="badge-5"/>
          <p:cNvSpPr/>
          <p:nvPr/>
        </p:nvSpPr>
        <p:spPr>
          <a:xfrm>
            <a:off x="8252460" y="5518404"/>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5</a:t>
            </a:r>
          </a:p>
        </p:txBody>
      </p:sp>
      <p:cxnSp>
        <p:nvCxnSpPr>
          <p:cNvPr id="70" name="legend-solid"/>
          <p:cNvCxnSpPr/>
          <p:nvPr/>
        </p:nvCxnSpPr>
        <p:spPr>
          <a:xfrm>
            <a:off x="4023360" y="6446520"/>
            <a:ext cx="384048" cy="0"/>
          </a:xfrm>
          <a:prstGeom prst="line">
            <a:avLst/>
          </a:prstGeom>
          <a:ln w="19050">
            <a:solidFill>
              <a:srgbClr val="1F3864"/>
            </a:solidFill>
          </a:ln>
        </p:spPr>
      </p:cxnSp>
      <p:sp>
        <p:nvSpPr>
          <p:cNvPr id="71" name="TextBox 70"/>
          <p:cNvSpPr txBox="1"/>
          <p:nvPr/>
        </p:nvSpPr>
        <p:spPr>
          <a:xfrm>
            <a:off x="4462272" y="6345936"/>
            <a:ext cx="20116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실선 = 확정(메일 합의·저장소 구현)</a:t>
            </a:r>
          </a:p>
        </p:txBody>
      </p:sp>
      <p:cxnSp>
        <p:nvCxnSpPr>
          <p:cNvPr id="72" name="legend-dash"/>
          <p:cNvCxnSpPr/>
          <p:nvPr/>
        </p:nvCxnSpPr>
        <p:spPr>
          <a:xfrm>
            <a:off x="6537960" y="6446520"/>
            <a:ext cx="384048" cy="0"/>
          </a:xfrm>
          <a:prstGeom prst="line">
            <a:avLst/>
          </a:prstGeom>
          <a:ln w="19050">
            <a:solidFill>
              <a:srgbClr val="C55A11"/>
            </a:solidFill>
            <a:prstDash val="dash"/>
          </a:ln>
        </p:spPr>
      </p:cxnSp>
      <p:sp>
        <p:nvSpPr>
          <p:cNvPr id="73" name="TextBox 72"/>
          <p:cNvSpPr txBox="1"/>
          <p:nvPr/>
        </p:nvSpPr>
        <p:spPr>
          <a:xfrm>
            <a:off x="6976872" y="6345936"/>
            <a:ext cx="96012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점선 = 계획·미정</a:t>
            </a:r>
          </a:p>
        </p:txBody>
      </p:sp>
      <p:sp>
        <p:nvSpPr>
          <p:cNvPr id="74" name="TextBox 73"/>
          <p:cNvSpPr txBox="1"/>
          <p:nvPr/>
        </p:nvSpPr>
        <p:spPr>
          <a:xfrm>
            <a:off x="8001000" y="6345936"/>
            <a:ext cx="1965960" cy="201168"/>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 충돌</a:t>
            </a:r>
            <a:r>
              <a:rPr sz="900" b="0" i="0" lang="ko-KR" altLang="en-US">
                <a:solidFill>
                  <a:srgbClr val="595959"/>
                </a:solidFill>
                <a:latin typeface="LG스마트체 Regular"/>
                <a:ea typeface="LG스마트체 Regular"/>
                <a:cs typeface="LG스마트체 Regular"/>
              </a:rPr>
              <a:t> = 메일↔코드 불일치</a:t>
            </a:r>
          </a:p>
        </p:txBody>
      </p:sp>
      <p:sp>
        <p:nvSpPr>
          <p:cNvPr id="75" name="Rounded Rectangle 74"/>
          <p:cNvSpPr/>
          <p:nvPr/>
        </p:nvSpPr>
        <p:spPr>
          <a:xfrm>
            <a:off x="10012680" y="6355080"/>
            <a:ext cx="384048" cy="182880"/>
          </a:xfrm>
          <a:prstGeom prst="roundRect">
            <a:avLst>
              <a:gd name="adj" fmla="val 25000"/>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76" name="TextBox 75"/>
          <p:cNvSpPr txBox="1"/>
          <p:nvPr/>
        </p:nvSpPr>
        <p:spPr>
          <a:xfrm>
            <a:off x="10451592" y="6345936"/>
            <a:ext cx="10972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 실측 전 추정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56032"/>
            <a:ext cx="11365992" cy="530352"/>
          </a:xfrm>
          <a:prstGeom prst="rect">
            <a:avLst/>
          </a:prstGeom>
          <a:noFill/>
        </p:spPr>
        <p:txBody>
          <a:bodyPr wrap="square" lIns="0" rIns="0" tIns="18288" bIns="18288" anchor="t">
            <a:noAutofit/>
          </a:bodyPr>
          <a:lstStyle/>
          <a:p>
            <a:pPr algn="l"/>
            <a:r>
              <a:rPr sz="1600" b="1" i="0" lang="ko-KR" altLang="en-US">
                <a:solidFill>
                  <a:srgbClr val="1F3864"/>
                </a:solidFill>
                <a:latin typeface="LG스마트체 Regular"/>
                <a:ea typeface="LG스마트체 Regular"/>
                <a:cs typeface="LG스마트체 Regular"/>
              </a:rPr>
              <a:t>부록 C. 용량·보관 정책 검토 — 4TB면 업무 기록은 약 8년 여유, 병목은 백업 방식(가정)</a:t>
            </a:r>
          </a:p>
        </p:txBody>
      </p:sp>
      <p:sp>
        <p:nvSpPr>
          <p:cNvPr id="3" name="subtitle"/>
          <p:cNvSpPr txBox="1"/>
          <p:nvPr/>
        </p:nvSpPr>
        <p:spPr>
          <a:xfrm>
            <a:off x="411480" y="621792"/>
            <a:ext cx="11365992" cy="219456"/>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C-1 · 사용자 가정(2026-10-26): 인당 월 205.3MB (기록 본문 300KB + 이미지 5MB + CSV 200MB) · 200명 · CSV는 첨부 파일 · 모든 수치 가정(실측 전)</a:t>
            </a:r>
          </a:p>
        </p:txBody>
      </p:sp>
      <p:sp>
        <p:nvSpPr>
          <p:cNvPr id="4" name="judgment"/>
          <p:cNvSpPr/>
          <p:nvPr/>
        </p:nvSpPr>
        <p:spPr>
          <a:xfrm>
            <a:off x="411480" y="960120"/>
            <a:ext cx="11365992" cy="749808"/>
          </a:xfrm>
          <a:prstGeom prst="roundRect">
            <a:avLst>
              <a:gd name="adj" fmla="val 9756"/>
            </a:avLst>
          </a:prstGeom>
          <a:solidFill>
            <a:srgbClr val="EEF2F8"/>
          </a:solidFill>
          <a:ln w="19050">
            <a:solidFill>
              <a:srgbClr val="1F3864"/>
            </a:solidFill>
          </a:ln>
          <a:effectLst/>
        </p:spPr>
        <p:txBody>
          <a:bodyPr rtlCol="0" anchor="ctr"/>
          <a:lstStyle/>
          <a:p/>
        </p:txBody>
      </p:sp>
      <p:sp>
        <p:nvSpPr>
          <p:cNvPr id="5" name="Rounded Rectangle 4"/>
          <p:cNvSpPr/>
          <p:nvPr/>
        </p:nvSpPr>
        <p:spPr>
          <a:xfrm>
            <a:off x="548640" y="1188720"/>
            <a:ext cx="566928" cy="292608"/>
          </a:xfrm>
          <a:prstGeom prst="roundRect">
            <a:avLst>
              <a:gd name="adj" fmla="val 18750"/>
            </a:avLst>
          </a:prstGeom>
          <a:solidFill>
            <a:srgbClr val="1F3864"/>
          </a:solidFill>
          <a:ln>
            <a:noFill/>
          </a:ln>
          <a:effectLst/>
        </p:spPr>
        <p:txBody>
          <a:bodyPr rtlCol="0" anchor="ctr" wrap="square" lIns="0" rIns="0" tIns="18288" bIns="18288">
            <a:noAutofit/>
          </a:bodyPr>
          <a:lstStyle/>
          <a:p>
            <a:pPr algn="ctr"/>
            <a:r>
              <a:rPr sz="1100" b="1" i="0" lang="ko-KR" altLang="en-US">
                <a:solidFill>
                  <a:srgbClr val="FFFFFF"/>
                </a:solidFill>
                <a:latin typeface="LG스마트체 Regular"/>
                <a:ea typeface="LG스마트체 Regular"/>
                <a:cs typeface="LG스마트체 Regular"/>
              </a:rPr>
              <a:t>판단</a:t>
            </a:r>
          </a:p>
        </p:txBody>
      </p:sp>
      <p:sp>
        <p:nvSpPr>
          <p:cNvPr id="6" name="TextBox 5"/>
          <p:cNvSpPr txBox="1"/>
          <p:nvPr/>
        </p:nvSpPr>
        <p:spPr>
          <a:xfrm>
            <a:off x="1234440" y="987552"/>
            <a:ext cx="10469880" cy="694944"/>
          </a:xfrm>
          <a:prstGeom prst="rect">
            <a:avLst/>
          </a:prstGeom>
          <a:noFill/>
        </p:spPr>
        <p:txBody>
          <a:bodyPr wrap="square" lIns="18288" rIns="18288" tIns="18288" bIns="18288" anchor="ctr">
            <a:noAutofit/>
          </a:bodyPr>
          <a:lstStyle/>
          <a:p>
            <a:pPr algn="l">
              <a:spcBef>
                <a:spcPts val="0"/>
              </a:spcBef>
            </a:pPr>
            <a:r>
              <a:rPr sz="1100" b="0" i="0" lang="ko-KR" altLang="en-US">
                <a:solidFill>
                  <a:srgbClr val="262626"/>
                </a:solidFill>
                <a:latin typeface="LG스마트체 Regular"/>
                <a:ea typeface="LG스마트체 Regular"/>
                <a:cs typeface="LG스마트체 Regular"/>
              </a:rPr>
              <a:t>4TB 상한은 업무 기록 기준 약 8년 여유(가정) → </a:t>
            </a:r>
            <a:r>
              <a:rPr sz="1100" b="1" i="0" lang="ko-KR" altLang="en-US">
                <a:solidFill>
                  <a:srgbClr val="1F3864"/>
                </a:solidFill>
                <a:latin typeface="LG스마트체 Regular"/>
                <a:ea typeface="LG스마트체 Regular"/>
                <a:cs typeface="LG스마트체 Regular"/>
              </a:rPr>
              <a:t>업무 기록·첨부는 지우지 않는다. </a:t>
            </a:r>
            <a:r>
              <a:rPr sz="1100" b="0" i="0" lang="ko-KR" altLang="en-US">
                <a:solidFill>
                  <a:srgbClr val="262626"/>
                </a:solidFill>
                <a:latin typeface="LG스마트체 Regular"/>
                <a:ea typeface="LG스마트체 Regular"/>
                <a:cs typeface="LG스마트체 Regular"/>
              </a:rPr>
              <a:t>정리 주기는 백업·임시 파일에만 적용.</a:t>
            </a:r>
          </a:p>
          <a:p>
            <a:pPr algn="l">
              <a:spcBef>
                <a:spcPts val="200"/>
              </a:spcBef>
            </a:pPr>
            <a:r>
              <a:rPr sz="1100" b="0" i="0" lang="ko-KR" altLang="en-US">
                <a:solidFill>
                  <a:srgbClr val="262626"/>
                </a:solidFill>
                <a:latin typeface="LG스마트체 Regular"/>
                <a:ea typeface="LG스마트체 Regular"/>
                <a:cs typeface="LG스마트체 Regular"/>
              </a:rPr>
              <a:t>실제 병목은 </a:t>
            </a:r>
            <a:r>
              <a:rPr sz="1100" b="1" i="0" lang="ko-KR" altLang="en-US">
                <a:solidFill>
                  <a:srgbClr val="C55A11"/>
                </a:solidFill>
                <a:latin typeface="LG스마트체 Regular"/>
                <a:ea typeface="LG스마트체 Regular"/>
                <a:cs typeface="LG스마트체 Regular"/>
              </a:rPr>
              <a:t>'매회 전체 복사' 백업 방식과 NAS 2TB</a:t>
            </a:r>
            <a:r>
              <a:rPr sz="1100" b="0" i="0" lang="ko-KR" altLang="en-US">
                <a:solidFill>
                  <a:srgbClr val="262626"/>
                </a:solidFill>
                <a:latin typeface="LG스마트체 Regular"/>
                <a:ea typeface="LG스마트체 Regular"/>
                <a:cs typeface="LG스마트체 Regular"/>
              </a:rPr>
              <a:t> → 백업 방식 (d) 검토 + CSV는 첨부 파일로 올리는 규칙이 전제.</a:t>
            </a:r>
          </a:p>
        </p:txBody>
      </p:sp>
      <p:sp>
        <p:nvSpPr>
          <p:cNvPr id="7" name="kpi-0"/>
          <p:cNvSpPr/>
          <p:nvPr/>
        </p:nvSpPr>
        <p:spPr>
          <a:xfrm>
            <a:off x="411480" y="1847088"/>
            <a:ext cx="3703320" cy="749808"/>
          </a:xfrm>
          <a:prstGeom prst="roundRect">
            <a:avLst>
              <a:gd name="adj" fmla="val 7317"/>
            </a:avLst>
          </a:prstGeom>
          <a:solidFill>
            <a:srgbClr val="EEF2F8"/>
          </a:solidFill>
          <a:ln w="12700">
            <a:solidFill>
              <a:srgbClr val="1F3864"/>
            </a:solidFill>
          </a:ln>
          <a:effectLst/>
        </p:spPr>
        <p:txBody>
          <a:bodyPr rtlCol="0" anchor="ctr"/>
          <a:lstStyle/>
          <a:p/>
        </p:txBody>
      </p:sp>
      <p:sp>
        <p:nvSpPr>
          <p:cNvPr id="8" name="TextBox 7"/>
          <p:cNvSpPr txBox="1"/>
          <p:nvPr/>
        </p:nvSpPr>
        <p:spPr>
          <a:xfrm>
            <a:off x="521208" y="1883664"/>
            <a:ext cx="3520440" cy="676656"/>
          </a:xfrm>
          <a:prstGeom prst="rect">
            <a:avLst/>
          </a:prstGeom>
          <a:noFill/>
        </p:spPr>
        <p:txBody>
          <a:bodyPr wrap="square" lIns="0" rIns="0" tIns="18288" bIns="18288" anchor="ctr">
            <a:noAutofit/>
          </a:bodyPr>
          <a:lstStyle/>
          <a:p>
            <a:pPr algn="l"/>
            <a:r>
              <a:rPr sz="950" b="1" i="0" lang="ko-KR" altLang="en-US">
                <a:solidFill>
                  <a:srgbClr val="595959"/>
                </a:solidFill>
                <a:latin typeface="LG스마트체 Regular"/>
                <a:ea typeface="LG스마트체 Regular"/>
                <a:cs typeface="LG스마트체 Regular"/>
              </a:rPr>
              <a:t>SSD 4TB · 데이터만</a:t>
            </a:r>
          </a:p>
          <a:p>
            <a:pPr algn="l"/>
            <a:r>
              <a:rPr sz="1400" b="1" i="0" lang="ko-KR" altLang="en-US">
                <a:solidFill>
                  <a:srgbClr val="1F3864"/>
                </a:solidFill>
                <a:latin typeface="LG스마트체 Regular"/>
                <a:ea typeface="LG스마트체 Regular"/>
                <a:cs typeface="LG스마트체 Regular"/>
              </a:rPr>
              <a:t>약 8.1년</a:t>
            </a:r>
          </a:p>
          <a:p>
            <a:pPr algn="l"/>
            <a:r>
              <a:rPr sz="950" b="0" i="0" lang="ko-KR" altLang="en-US">
                <a:solidFill>
                  <a:srgbClr val="262626"/>
                </a:solidFill>
                <a:latin typeface="LG스마트체 Regular"/>
                <a:ea typeface="LG스마트체 Regular"/>
                <a:cs typeface="LG스마트체 Regular"/>
              </a:rPr>
              <a:t>1년 12% · 2년 25% · 4년 49%</a:t>
            </a:r>
          </a:p>
        </p:txBody>
      </p:sp>
      <p:sp>
        <p:nvSpPr>
          <p:cNvPr id="9" name="kpi-1"/>
          <p:cNvSpPr/>
          <p:nvPr/>
        </p:nvSpPr>
        <p:spPr>
          <a:xfrm>
            <a:off x="4242816" y="1847088"/>
            <a:ext cx="3703320" cy="749808"/>
          </a:xfrm>
          <a:prstGeom prst="roundRect">
            <a:avLst>
              <a:gd name="adj" fmla="val 7317"/>
            </a:avLst>
          </a:prstGeom>
          <a:solidFill>
            <a:srgbClr val="FFF5EB"/>
          </a:solidFill>
          <a:ln w="12700">
            <a:solidFill>
              <a:srgbClr val="C55A11"/>
            </a:solidFill>
            <a:prstDash val="dash"/>
          </a:ln>
          <a:effectLst/>
        </p:spPr>
        <p:txBody>
          <a:bodyPr rtlCol="0" anchor="ctr"/>
          <a:lstStyle/>
          <a:p/>
        </p:txBody>
      </p:sp>
      <p:sp>
        <p:nvSpPr>
          <p:cNvPr id="10" name="TextBox 9"/>
          <p:cNvSpPr txBox="1"/>
          <p:nvPr/>
        </p:nvSpPr>
        <p:spPr>
          <a:xfrm>
            <a:off x="4352544" y="1883664"/>
            <a:ext cx="3520440" cy="676656"/>
          </a:xfrm>
          <a:prstGeom prst="rect">
            <a:avLst/>
          </a:prstGeom>
          <a:noFill/>
        </p:spPr>
        <p:txBody>
          <a:bodyPr wrap="square" lIns="0" rIns="0" tIns="18288" bIns="18288" anchor="ctr">
            <a:noAutofit/>
          </a:bodyPr>
          <a:lstStyle/>
          <a:p>
            <a:pPr algn="l"/>
            <a:r>
              <a:rPr sz="950" b="1" i="0" lang="ko-KR" altLang="en-US">
                <a:solidFill>
                  <a:srgbClr val="595959"/>
                </a:solidFill>
                <a:latin typeface="LG스마트체 Regular"/>
                <a:ea typeface="LG스마트체 Regular"/>
                <a:cs typeface="LG스마트체 Regular"/>
              </a:rPr>
              <a:t>같은 SSD에 백업 14개 (기본값)</a:t>
            </a:r>
          </a:p>
          <a:p>
            <a:pPr algn="l"/>
            <a:r>
              <a:rPr sz="1400" b="1" i="0" lang="ko-KR" altLang="en-US">
                <a:solidFill>
                  <a:srgbClr val="C55A11"/>
                </a:solidFill>
                <a:latin typeface="LG스마트체 Regular"/>
                <a:ea typeface="LG스마트체 Regular"/>
                <a:cs typeface="LG스마트체 Regular"/>
              </a:rPr>
              <a:t>약 6.5개월에 참</a:t>
            </a:r>
          </a:p>
          <a:p>
            <a:pPr algn="l"/>
            <a:r>
              <a:rPr sz="950" b="0" i="0" lang="ko-KR" altLang="en-US">
                <a:solidFill>
                  <a:srgbClr val="262626"/>
                </a:solidFill>
                <a:latin typeface="LG스마트체 Regular"/>
                <a:ea typeface="LG스마트체 Regular"/>
                <a:cs typeface="LG스마트체 Regular"/>
              </a:rPr>
              <a:t>BACKUP_DIR 미지정 시 데이터와 같은 디스크</a:t>
            </a:r>
          </a:p>
        </p:txBody>
      </p:sp>
      <p:sp>
        <p:nvSpPr>
          <p:cNvPr id="11" name="kpi-2"/>
          <p:cNvSpPr/>
          <p:nvPr/>
        </p:nvSpPr>
        <p:spPr>
          <a:xfrm>
            <a:off x="8074152" y="1847088"/>
            <a:ext cx="3703320" cy="749808"/>
          </a:xfrm>
          <a:prstGeom prst="roundRect">
            <a:avLst>
              <a:gd name="adj" fmla="val 7317"/>
            </a:avLst>
          </a:prstGeom>
          <a:solidFill>
            <a:srgbClr val="FFF5EB"/>
          </a:solidFill>
          <a:ln w="12700">
            <a:solidFill>
              <a:srgbClr val="C55A11"/>
            </a:solidFill>
            <a:prstDash val="dash"/>
          </a:ln>
          <a:effectLst/>
        </p:spPr>
        <p:txBody>
          <a:bodyPr rtlCol="0" anchor="ctr"/>
          <a:lstStyle/>
          <a:p/>
        </p:txBody>
      </p:sp>
      <p:sp>
        <p:nvSpPr>
          <p:cNvPr id="12" name="TextBox 11"/>
          <p:cNvSpPr txBox="1"/>
          <p:nvPr/>
        </p:nvSpPr>
        <p:spPr>
          <a:xfrm>
            <a:off x="8183880" y="1883664"/>
            <a:ext cx="3520440" cy="676656"/>
          </a:xfrm>
          <a:prstGeom prst="rect">
            <a:avLst/>
          </a:prstGeom>
          <a:noFill/>
        </p:spPr>
        <p:txBody>
          <a:bodyPr wrap="square" lIns="0" rIns="0" tIns="18288" bIns="18288" anchor="ctr">
            <a:noAutofit/>
          </a:bodyPr>
          <a:lstStyle/>
          <a:p>
            <a:pPr algn="l"/>
            <a:r>
              <a:rPr sz="950" b="1" i="0" lang="ko-KR" altLang="en-US">
                <a:solidFill>
                  <a:srgbClr val="595959"/>
                </a:solidFill>
                <a:latin typeface="LG스마트체 Regular"/>
                <a:ea typeface="LG스마트체 Regular"/>
                <a:cs typeface="LG스마트체 Regular"/>
              </a:rPr>
              <a:t>NAS 2TB · 전체본 14개</a:t>
            </a:r>
          </a:p>
          <a:p>
            <a:pPr algn="l"/>
            <a:r>
              <a:rPr sz="1400" b="1" i="0" lang="ko-KR" altLang="en-US">
                <a:solidFill>
                  <a:srgbClr val="C55A11"/>
                </a:solidFill>
                <a:latin typeface="LG스마트체 Regular"/>
                <a:ea typeface="LG스마트체 Regular"/>
                <a:cs typeface="LG스마트체 Regular"/>
              </a:rPr>
              <a:t>약 3.5개월에 참</a:t>
            </a:r>
          </a:p>
          <a:p>
            <a:pPr algn="l"/>
            <a:r>
              <a:rPr sz="950" b="0" i="0" lang="ko-KR" altLang="en-US">
                <a:solidFill>
                  <a:srgbClr val="262626"/>
                </a:solidFill>
                <a:latin typeface="LG스마트체 Regular"/>
                <a:ea typeface="LG스마트체 Regular"/>
                <a:cs typeface="LG스마트체 Regular"/>
              </a:rPr>
              <a:t>1년 말 ≈ 6.8TB · 2년 13.7TB · 4년 27.5TB</a:t>
            </a:r>
          </a:p>
        </p:txBody>
      </p:sp>
      <p:sp>
        <p:nvSpPr>
          <p:cNvPr id="13" name="TextBox 12"/>
          <p:cNvSpPr txBox="1"/>
          <p:nvPr/>
        </p:nvSpPr>
        <p:spPr>
          <a:xfrm>
            <a:off x="411480" y="2743200"/>
            <a:ext cx="5669280" cy="237744"/>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백업 방식별 NAS 필요 용량 (GB)</a:t>
            </a:r>
          </a:p>
        </p:txBody>
      </p:sp>
      <p:sp>
        <p:nvSpPr>
          <p:cNvPr id="14" name="Rounded Rectangle 13"/>
          <p:cNvSpPr/>
          <p:nvPr/>
        </p:nvSpPr>
        <p:spPr>
          <a:xfrm>
            <a:off x="3703320" y="2761488"/>
            <a:ext cx="960120" cy="201168"/>
          </a:xfrm>
          <a:prstGeom prst="roundRect">
            <a:avLst>
              <a:gd name="adj" fmla="val 22727"/>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가정(실측 전)</a:t>
            </a:r>
          </a:p>
        </p:txBody>
      </p:sp>
      <p:sp>
        <p:nvSpPr>
          <p:cNvPr id="15" name="TextBox 14"/>
          <p:cNvSpPr txBox="1"/>
          <p:nvPr/>
        </p:nvSpPr>
        <p:spPr>
          <a:xfrm>
            <a:off x="4754880" y="2743200"/>
            <a:ext cx="2651760" cy="237744"/>
          </a:xfrm>
          <a:prstGeom prst="rect">
            <a:avLst/>
          </a:prstGeom>
          <a:noFill/>
        </p:spPr>
        <p:txBody>
          <a:bodyPr wrap="square" lIns="0" rIns="0" tIns="18288" bIns="18288" anchor="t">
            <a:noAutofit/>
          </a:bodyPr>
          <a:lstStyle/>
          <a:p>
            <a:pPr algn="r"/>
            <a:r>
              <a:rPr sz="900" b="0" i="0" lang="ko-KR" altLang="en-US">
                <a:solidFill>
                  <a:srgbClr val="F4B183"/>
                </a:solidFill>
                <a:latin typeface="LG스마트체 Regular"/>
                <a:ea typeface="LG스마트체 Regular"/>
                <a:cs typeface="LG스마트체 Regular"/>
              </a:rPr>
              <a:t>■</a:t>
            </a:r>
            <a:r>
              <a:rPr sz="900" b="0" i="0" lang="ko-KR" altLang="en-US">
                <a:solidFill>
                  <a:srgbClr val="595959"/>
                </a:solidFill>
                <a:latin typeface="LG스마트체 Regular"/>
                <a:ea typeface="LG스마트체 Regular"/>
                <a:cs typeface="LG스마트체 Regular"/>
              </a:rPr>
              <a:t> NAS 2TB(2,000GB) 초과</a:t>
            </a:r>
          </a:p>
        </p:txBody>
      </p:sp>
      <p:graphicFrame>
        <p:nvGraphicFramePr>
          <p:cNvPr id="16" name="option-table"/>
          <p:cNvGraphicFramePr>
            <a:graphicFrameLocks noGrp="1"/>
          </p:cNvGraphicFramePr>
          <p:nvPr/>
        </p:nvGraphicFramePr>
        <p:xfrm>
          <a:off x="411480" y="3035808"/>
          <a:ext cx="6995160" cy="2121408"/>
        </p:xfrm>
        <a:graphic>
          <a:graphicData uri="http://schemas.openxmlformats.org/drawingml/2006/table">
            <a:tbl>
              <a:tblPr firstRow="1">
                <a:tableStyleId>{5C22544A-7EE6-4342-B048-85BDC9FD1C3A}</a:tableStyleId>
              </a:tblPr>
              <a:tblGrid>
                <a:gridCol w="2377440"/>
                <a:gridCol w="777240"/>
                <a:gridCol w="914400"/>
                <a:gridCol w="1051560"/>
                <a:gridCol w="1874520"/>
              </a:tblGrid>
              <a:tr h="274320">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방식</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r"/>
                      <a:r>
                        <a:rPr sz="950" b="1" i="0" lang="ko-KR" altLang="en-US">
                          <a:solidFill>
                            <a:srgbClr val="FFFFFF"/>
                          </a:solidFill>
                          <a:latin typeface="LG스마트체 Regular"/>
                          <a:ea typeface="LG스마트체 Regular"/>
                          <a:cs typeface="LG스마트체 Regular"/>
                        </a:rPr>
                        <a:t>1년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r"/>
                      <a:r>
                        <a:rPr sz="950" b="1" i="0" lang="ko-KR" altLang="en-US">
                          <a:solidFill>
                            <a:srgbClr val="FFFFFF"/>
                          </a:solidFill>
                          <a:latin typeface="LG스마트체 Regular"/>
                          <a:ea typeface="LG스마트체 Regular"/>
                          <a:cs typeface="LG스마트체 Regular"/>
                        </a:rPr>
                        <a:t>2년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r"/>
                      <a:r>
                        <a:rPr sz="950" b="1" i="0" lang="ko-KR" altLang="en-US">
                          <a:solidFill>
                            <a:srgbClr val="FFFFFF"/>
                          </a:solidFill>
                          <a:latin typeface="LG스마트체 Regular"/>
                          <a:ea typeface="LG스마트체 Regular"/>
                          <a:cs typeface="LG스마트체 Regular"/>
                        </a:rPr>
                        <a:t>4년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판단</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r>
              <a:tr h="274320">
                <a:tc>
                  <a:txBody>
                    <a:bodyPr wrap="square" lIns="45720" rIns="45720" tIns="18288" bIns="18288" anchor="ctr">
                      <a:noAutofit/>
                    </a:bodyPr>
                    <a:lstStyle/>
                    <a:p>
                      <a:pPr algn="l"/>
                      <a:r>
                        <a:rPr sz="950" b="1" i="0" lang="ko-KR" altLang="en-US">
                          <a:solidFill>
                            <a:srgbClr val="C55A11"/>
                          </a:solidFill>
                          <a:latin typeface="LG스마트체 Regular"/>
                          <a:ea typeface="LG스마트체 Regular"/>
                          <a:cs typeface="LG스마트체 Regular"/>
                        </a:rPr>
                        <a:t>NAS 2TB 기준선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2,000</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2,000</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2,000</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C55A11"/>
                          </a:solidFill>
                          <a:latin typeface="LG스마트체 Regular"/>
                          <a:ea typeface="LG스마트체 Regular"/>
                          <a:cs typeface="LG스마트체 Regular"/>
                        </a:rPr>
                        <a:t>— 이 값을 넘으면 NAS 2TB 부족</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384048">
                <a:tc>
                  <a:txBody>
                    <a:bodyPr wrap="square" lIns="45720" rIns="45720" tIns="18288" bIns="18288" anchor="ctr">
                      <a:noAutofit/>
                    </a:bodyPr>
                    <a:lstStyle/>
                    <a:p>
                      <a:pPr algn="l"/>
                      <a:r>
                        <a:rPr sz="950" b="1" i="0" lang="ko-KR" altLang="en-US">
                          <a:solidFill>
                            <a:srgbClr val="1F3864"/>
                          </a:solidFill>
                          <a:latin typeface="LG스마트체 Regular"/>
                          <a:ea typeface="LG스마트체 Regular"/>
                          <a:cs typeface="LG스마트체 Regular"/>
                        </a:rPr>
                        <a:t>(a) 현행: 매회 전체 복사 · 14개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6,775</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BE5D6"/>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13,673</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BE5D6"/>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27,469</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BE5D6"/>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약 3.5개월에 2TB 초과</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384048">
                <a:tc>
                  <a:txBody>
                    <a:bodyPr wrap="square" lIns="45720" rIns="45720" tIns="18288" bIns="18288" anchor="ctr">
                      <a:noAutofit/>
                    </a:bodyPr>
                    <a:lstStyle/>
                    <a:p>
                      <a:pPr algn="l"/>
                      <a:r>
                        <a:rPr sz="950" b="1" i="0" lang="ko-KR" altLang="en-US">
                          <a:solidFill>
                            <a:srgbClr val="1F3864"/>
                          </a:solidFill>
                          <a:latin typeface="LG스마트체 Regular"/>
                          <a:ea typeface="LG스마트체 Regular"/>
                          <a:cs typeface="LG스마트체 Regular"/>
                        </a:rPr>
                        <a:t>(b) 보관 개수 축소</a:t>
                      </a:r>
                    </a:p>
                    <a:p>
                      <a:pPr algn="l"/>
                      <a:r>
                        <a:rPr sz="950" b="0" i="0" lang="ko-KR" altLang="en-US">
                          <a:solidFill>
                            <a:srgbClr val="595959"/>
                          </a:solidFill>
                          <a:latin typeface="LG스마트체 Regular"/>
                          <a:ea typeface="LG스마트체 Regular"/>
                          <a:cs typeface="LG스마트체 Regular"/>
                        </a:rPr>
                        <a:t>(2TB에 들어가는 전체본 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0" i="0" lang="ko-KR" altLang="en-US">
                          <a:solidFill>
                            <a:srgbClr val="262626"/>
                          </a:solidFill>
                          <a:latin typeface="LG스마트체 Regular"/>
                          <a:ea typeface="LG스마트체 Regular"/>
                          <a:cs typeface="LG스마트체 Regular"/>
                        </a:rPr>
                        <a:t>4.1개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0" i="0" lang="ko-KR" altLang="en-US">
                          <a:solidFill>
                            <a:srgbClr val="262626"/>
                          </a:solidFill>
                          <a:latin typeface="LG스마트체 Regular"/>
                          <a:ea typeface="LG스마트체 Regular"/>
                          <a:cs typeface="LG스마트체 Regular"/>
                        </a:rPr>
                        <a:t>2.0개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0" i="0" lang="ko-KR" altLang="en-US">
                          <a:solidFill>
                            <a:srgbClr val="262626"/>
                          </a:solidFill>
                          <a:latin typeface="LG스마트체 Regular"/>
                          <a:ea typeface="LG스마트체 Regular"/>
                          <a:cs typeface="LG스마트체 Regular"/>
                        </a:rPr>
                        <a:t>1.0개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시간이 갈수록 백업 1개도 어려움</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384048">
                <a:tc>
                  <a:txBody>
                    <a:bodyPr wrap="square" lIns="45720" rIns="45720" tIns="18288" bIns="18288" anchor="ctr">
                      <a:noAutofit/>
                    </a:bodyPr>
                    <a:lstStyle/>
                    <a:p>
                      <a:pPr algn="l"/>
                      <a:r>
                        <a:rPr sz="950" b="1" i="0" lang="ko-KR" altLang="en-US">
                          <a:solidFill>
                            <a:srgbClr val="1F3864"/>
                          </a:solidFill>
                          <a:latin typeface="LG스마트체 Regular"/>
                          <a:ea typeface="LG스마트체 Regular"/>
                          <a:cs typeface="LG스마트체 Regular"/>
                        </a:rPr>
                        <a:t>(c) 일·주·월 보관 GFS 23개</a:t>
                      </a:r>
                    </a:p>
                    <a:p>
                      <a:pPr algn="l"/>
                      <a:r>
                        <a:rPr sz="950" b="0" i="0" lang="ko-KR" altLang="en-US">
                          <a:solidFill>
                            <a:srgbClr val="595959"/>
                          </a:solidFill>
                          <a:latin typeface="LG스마트체 Regular"/>
                          <a:ea typeface="LG스마트체 Regular"/>
                          <a:cs typeface="LG스마트체 Regular"/>
                        </a:rPr>
                        <a:t>(일 7 + 주 4 + 월 12) 전체 복사</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8,007</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BE5D6"/>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19,340</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BE5D6"/>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42,005</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BE5D6"/>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더 나빠짐</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420624">
                <a:tc>
                  <a:txBody>
                    <a:bodyPr wrap="square" lIns="45720" rIns="45720" tIns="18288" bIns="18288" anchor="ctr">
                      <a:noAutofit/>
                    </a:bodyPr>
                    <a:lstStyle/>
                    <a:p>
                      <a:pPr algn="l"/>
                      <a:r>
                        <a:rPr sz="950" b="1" i="0" lang="ko-KR" altLang="en-US">
                          <a:solidFill>
                            <a:srgbClr val="1F3864"/>
                          </a:solidFill>
                          <a:latin typeface="LG스마트체 Regular"/>
                          <a:ea typeface="LG스마트체 Regular"/>
                          <a:cs typeface="LG스마트체 Regular"/>
                        </a:rPr>
                        <a:t>(d) 첨부 한 번만 보관 + DB 사본 14개</a:t>
                      </a:r>
                    </a:p>
                    <a:p>
                      <a:pPr algn="l"/>
                      <a:r>
                        <a:rPr sz="950" b="0" i="0" lang="ko-KR" altLang="en-US">
                          <a:solidFill>
                            <a:srgbClr val="595959"/>
                          </a:solidFill>
                          <a:latin typeface="LG스마트체 Regular"/>
                          <a:ea typeface="LG스마트체 Regular"/>
                          <a:cs typeface="LG스마트체 Regular"/>
                        </a:rPr>
                        <a:t>(괄호: GFS 23개)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0" i="0" lang="ko-KR" altLang="en-US">
                          <a:solidFill>
                            <a:srgbClr val="262626"/>
                          </a:solidFill>
                          <a:latin typeface="LG스마트체 Regular"/>
                          <a:ea typeface="LG스마트체 Regular"/>
                          <a:cs typeface="LG스마트체 Regular"/>
                        </a:rPr>
                        <a:t>502 (504)</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0" i="0" lang="ko-KR" altLang="en-US">
                          <a:solidFill>
                            <a:srgbClr val="262626"/>
                          </a:solidFill>
                          <a:latin typeface="LG스마트체 Regular"/>
                          <a:ea typeface="LG스마트체 Regular"/>
                          <a:cs typeface="LG스마트체 Regular"/>
                        </a:rPr>
                        <a:t>1,004 (1,012)</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r"/>
                      <a:r>
                        <a:rPr sz="950" b="1" i="0" lang="ko-KR" altLang="en-US">
                          <a:solidFill>
                            <a:srgbClr val="C55A11"/>
                          </a:solidFill>
                          <a:latin typeface="LG스마트체 Regular"/>
                          <a:ea typeface="LG스마트체 Regular"/>
                          <a:cs typeface="LG스마트체 Regular"/>
                        </a:rPr>
                        <a:t>2,008 (2,029)</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BE5D6"/>
                    </a:solidFill>
                  </a:tcPr>
                </a:tc>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NAS 2TB로 약 4년 · 검토 대상</a:t>
                      </a:r>
                    </a:p>
                    <a:p>
                      <a:pPr algn="l"/>
                      <a:r>
                        <a:rPr sz="900" b="0" i="0" lang="ko-KR" altLang="en-US">
                          <a:solidFill>
                            <a:srgbClr val="1F3864"/>
                          </a:solidFill>
                          <a:latin typeface="LG스마트체 Regular"/>
                          <a:ea typeface="LG스마트체 Regular"/>
                          <a:cs typeface="LG스마트체 Regular"/>
                        </a:rPr>
                        <a:t>(코드 변경 또는 다빈치 스냅샷)</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EEF2F8"/>
                    </a:solidFill>
                  </a:tcPr>
                </a:tc>
              </a:tr>
            </a:tbl>
          </a:graphicData>
        </a:graphic>
      </p:graphicFrame>
      <p:sp>
        <p:nvSpPr>
          <p:cNvPr id="17" name="case2"/>
          <p:cNvSpPr/>
          <p:nvPr/>
        </p:nvSpPr>
        <p:spPr>
          <a:xfrm>
            <a:off x="411480" y="5440680"/>
            <a:ext cx="6995160" cy="566928"/>
          </a:xfrm>
          <a:prstGeom prst="roundRect">
            <a:avLst>
              <a:gd name="adj" fmla="val 9677"/>
            </a:avLst>
          </a:prstGeom>
          <a:solidFill>
            <a:srgbClr val="FFF5EB"/>
          </a:solidFill>
          <a:ln w="12700">
            <a:solidFill>
              <a:srgbClr val="C55A11"/>
            </a:solidFill>
            <a:prstDash val="dash"/>
          </a:ln>
          <a:effectLst/>
        </p:spPr>
        <p:txBody>
          <a:bodyPr rtlCol="0" anchor="ctr" wrap="square" tIns="18288" bIns="18288">
            <a:noAutofit/>
          </a:bodyPr>
          <a:lstStyle/>
          <a:p>
            <a:pPr algn="l"/>
            <a:r>
              <a:rPr sz="950" b="1" i="0" lang="ko-KR" altLang="en-US">
                <a:solidFill>
                  <a:srgbClr val="C55A11"/>
                </a:solidFill>
                <a:latin typeface="LG스마트체 Regular"/>
                <a:ea typeface="LG스마트체 Regular"/>
                <a:cs typeface="LG스마트체 Regular"/>
              </a:rPr>
              <a:t>사례 2 · CSV를 기록 본문 표로 넣으면 </a:t>
            </a:r>
            <a:r>
              <a:rPr sz="950" b="0" i="0" lang="ko-KR" altLang="en-US">
                <a:solidFill>
                  <a:srgbClr val="262626"/>
                </a:solidFill>
                <a:latin typeface="LG스마트체 Regular"/>
                <a:ea typeface="LG스마트체 Regular"/>
                <a:cs typeface="LG스마트체 Regular"/>
              </a:rPr>
              <a:t>DB가 연 약 481GB → (d)도 1년 6,622GB로 효과 없음</a:t>
            </a:r>
            <a:r>
              <a:rPr sz="950" b="1" i="0" lang="ko-KR" altLang="en-US">
                <a:solidFill>
                  <a:srgbClr val="1F3864"/>
                </a:solidFill>
                <a:latin typeface="LG스마트체 Regular"/>
                <a:ea typeface="LG스마트체 Regular"/>
                <a:cs typeface="LG스마트체 Regular"/>
              </a:rPr>
              <a:t> → CSV는 첨부 파일로 올리는 규칙이 전제</a:t>
            </a:r>
          </a:p>
        </p:txBody>
      </p:sp>
      <p:sp>
        <p:nvSpPr>
          <p:cNvPr id="18" name="TextBox 17"/>
          <p:cNvSpPr txBox="1"/>
          <p:nvPr/>
        </p:nvSpPr>
        <p:spPr>
          <a:xfrm>
            <a:off x="7635240" y="2743200"/>
            <a:ext cx="4142232" cy="237744"/>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민감도</a:t>
            </a:r>
          </a:p>
        </p:txBody>
      </p:sp>
      <p:sp>
        <p:nvSpPr>
          <p:cNvPr id="19" name="Rounded Rectangle 18"/>
          <p:cNvSpPr/>
          <p:nvPr/>
        </p:nvSpPr>
        <p:spPr>
          <a:xfrm>
            <a:off x="8321040" y="2761488"/>
            <a:ext cx="960120" cy="201168"/>
          </a:xfrm>
          <a:prstGeom prst="roundRect">
            <a:avLst>
              <a:gd name="adj" fmla="val 22727"/>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가정(실측 전)</a:t>
            </a:r>
          </a:p>
        </p:txBody>
      </p:sp>
      <p:sp>
        <p:nvSpPr>
          <p:cNvPr id="20" name="TextBox 19"/>
          <p:cNvSpPr txBox="1"/>
          <p:nvPr/>
        </p:nvSpPr>
        <p:spPr>
          <a:xfrm>
            <a:off x="7635240" y="2990088"/>
            <a:ext cx="4142232" cy="38404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칸 = NAS 2TB가 현행 방식으로 차는 </a:t>
            </a:r>
            <a:r>
              <a:rPr sz="900" b="1" i="0" lang="ko-KR" altLang="en-US">
                <a:solidFill>
                  <a:srgbClr val="1F3864"/>
                </a:solidFill>
                <a:latin typeface="LG스마트체 Regular"/>
                <a:ea typeface="LG스마트체 Regular"/>
                <a:cs typeface="LG스마트체 Regular"/>
              </a:rPr>
              <a:t>개월</a:t>
            </a:r>
            <a:r>
              <a:rPr sz="900" b="0" i="0" lang="ko-KR" altLang="en-US">
                <a:solidFill>
                  <a:srgbClr val="595959"/>
                </a:solidFill>
                <a:latin typeface="LG스마트체 Regular"/>
                <a:ea typeface="LG스마트체 Regular"/>
                <a:cs typeface="LG스마트체 Regular"/>
              </a:rPr>
              <a:t> / SSD 4TB 데이터만 </a:t>
            </a:r>
            <a:r>
              <a:rPr sz="900" b="1" i="0" lang="ko-KR" altLang="en-US">
                <a:solidFill>
                  <a:srgbClr val="1F3864"/>
                </a:solidFill>
                <a:latin typeface="LG스마트체 Regular"/>
                <a:ea typeface="LG스마트체 Regular"/>
                <a:cs typeface="LG스마트체 Regular"/>
              </a:rPr>
              <a:t>연수</a:t>
            </a:r>
          </a:p>
        </p:txBody>
      </p:sp>
      <p:graphicFrame>
        <p:nvGraphicFramePr>
          <p:cNvPr id="21" name="sensitivity-table"/>
          <p:cNvGraphicFramePr>
            <a:graphicFrameLocks noGrp="1"/>
          </p:cNvGraphicFramePr>
          <p:nvPr/>
        </p:nvGraphicFramePr>
        <p:xfrm>
          <a:off x="7635240" y="3401568"/>
          <a:ext cx="4142232" cy="1591056"/>
        </p:xfrm>
        <a:graphic>
          <a:graphicData uri="http://schemas.openxmlformats.org/drawingml/2006/table">
            <a:tbl>
              <a:tblPr firstRow="1">
                <a:tableStyleId>{5C22544A-7EE6-4342-B048-85BDC9FD1C3A}</a:tableStyleId>
              </a:tblPr>
              <a:tblGrid>
                <a:gridCol w="1143000"/>
                <a:gridCol w="1005840"/>
                <a:gridCol w="1005840"/>
                <a:gridCol w="987552"/>
              </a:tblGrid>
              <a:tr h="274320">
                <a:tc>
                  <a:txBody>
                    <a:bodyPr wrap="square" lIns="45720" rIns="45720" tIns="18288" bIns="18288" anchor="ctr">
                      <a:noAutofit/>
                    </a:bodyPr>
                    <a:lstStyle/>
                    <a:p>
                      <a:pPr algn="l"/>
                      <a:r>
                        <a:rPr sz="900" b="1" i="0" lang="ko-KR" altLang="en-US">
                          <a:solidFill>
                            <a:srgbClr val="FFFFFF"/>
                          </a:solidFill>
                          <a:latin typeface="LG스마트체 Regular"/>
                          <a:ea typeface="LG스마트체 Regular"/>
                          <a:cs typeface="LG스마트체 Regular"/>
                        </a:rPr>
                        <a:t>인원 ↓ · 월 CSV →</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ctr"/>
                      <a:r>
                        <a:rPr sz="950" b="1" i="0" lang="ko-KR" altLang="en-US">
                          <a:solidFill>
                            <a:srgbClr val="FFFFFF"/>
                          </a:solidFill>
                          <a:latin typeface="LG스마트체 Regular"/>
                          <a:ea typeface="LG스마트체 Regular"/>
                          <a:cs typeface="LG스마트체 Regular"/>
                        </a:rPr>
                        <a:t>100MB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ctr"/>
                      <a:r>
                        <a:rPr sz="950" b="1" i="0" lang="ko-KR" altLang="en-US">
                          <a:solidFill>
                            <a:srgbClr val="FFFFFF"/>
                          </a:solidFill>
                          <a:latin typeface="LG스마트체 Regular"/>
                          <a:ea typeface="LG스마트체 Regular"/>
                          <a:cs typeface="LG스마트체 Regular"/>
                        </a:rPr>
                        <a:t>200MB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ctr"/>
                      <a:r>
                        <a:rPr sz="950" b="1" i="0" lang="ko-KR" altLang="en-US">
                          <a:solidFill>
                            <a:srgbClr val="FFFFFF"/>
                          </a:solidFill>
                          <a:latin typeface="LG스마트체 Regular"/>
                          <a:ea typeface="LG스마트체 Regular"/>
                          <a:cs typeface="LG스마트체 Regular"/>
                        </a:rPr>
                        <a:t>400MB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r>
              <a:tr h="438912">
                <a:tc>
                  <a:txBody>
                    <a:bodyPr wrap="square" lIns="45720" rIns="45720" tIns="18288" bIns="18288" anchor="ctr">
                      <a:noAutofit/>
                    </a:bodyPr>
                    <a:lstStyle/>
                    <a:p>
                      <a:pPr algn="l"/>
                      <a:r>
                        <a:rPr sz="950" b="1" i="0" lang="ko-KR" altLang="en-US">
                          <a:solidFill>
                            <a:srgbClr val="1F3864"/>
                          </a:solidFill>
                          <a:latin typeface="LG스마트체 Regular"/>
                          <a:ea typeface="LG스마트체 Regular"/>
                          <a:cs typeface="LG스마트체 Regular"/>
                        </a:rPr>
                        <a:t>50명</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ctr"/>
                      <a:r>
                        <a:rPr sz="950" b="1" i="0" lang="ko-KR" altLang="en-US">
                          <a:solidFill>
                            <a:srgbClr val="262626"/>
                          </a:solidFill>
                          <a:latin typeface="LG스마트체 Regular"/>
                          <a:ea typeface="LG스마트체 Regular"/>
                          <a:cs typeface="LG스마트체 Regular"/>
                        </a:rPr>
                        <a:t>27.1개월</a:t>
                      </a:r>
                    </a:p>
                    <a:p>
                      <a:pPr algn="ctr"/>
                      <a:r>
                        <a:rPr sz="950" b="0" i="0" lang="ko-KR" altLang="en-US">
                          <a:solidFill>
                            <a:srgbClr val="595959"/>
                          </a:solidFill>
                          <a:latin typeface="LG스마트체 Regular"/>
                          <a:ea typeface="LG스마트체 Regular"/>
                          <a:cs typeface="LG스마트체 Regular"/>
                        </a:rPr>
                        <a:t>63년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ctr"/>
                      <a:r>
                        <a:rPr sz="950" b="1" i="0" lang="ko-KR" altLang="en-US">
                          <a:solidFill>
                            <a:srgbClr val="262626"/>
                          </a:solidFill>
                          <a:latin typeface="LG스마트체 Regular"/>
                          <a:ea typeface="LG스마트체 Regular"/>
                          <a:cs typeface="LG스마트체 Regular"/>
                        </a:rPr>
                        <a:t>13.9개월</a:t>
                      </a:r>
                    </a:p>
                    <a:p>
                      <a:pPr algn="ctr"/>
                      <a:r>
                        <a:rPr sz="950" b="0" i="0" lang="ko-KR" altLang="en-US">
                          <a:solidFill>
                            <a:srgbClr val="595959"/>
                          </a:solidFill>
                          <a:latin typeface="LG스마트체 Regular"/>
                          <a:ea typeface="LG스마트체 Regular"/>
                          <a:cs typeface="LG스마트체 Regular"/>
                        </a:rPr>
                        <a:t>32.5년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ctr"/>
                      <a:r>
                        <a:rPr sz="950" b="1" i="0" lang="ko-KR" altLang="en-US">
                          <a:solidFill>
                            <a:srgbClr val="262626"/>
                          </a:solidFill>
                          <a:latin typeface="LG스마트체 Regular"/>
                          <a:ea typeface="LG스마트체 Regular"/>
                          <a:cs typeface="LG스마트체 Regular"/>
                        </a:rPr>
                        <a:t>7.0개월</a:t>
                      </a:r>
                    </a:p>
                    <a:p>
                      <a:pPr algn="ctr"/>
                      <a:r>
                        <a:rPr sz="950" b="0" i="0" lang="ko-KR" altLang="en-US">
                          <a:solidFill>
                            <a:srgbClr val="595959"/>
                          </a:solidFill>
                          <a:latin typeface="LG스마트체 Regular"/>
                          <a:ea typeface="LG스마트체 Regular"/>
                          <a:cs typeface="LG스마트체 Regular"/>
                        </a:rPr>
                        <a:t>16.4년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438912">
                <a:tc>
                  <a:txBody>
                    <a:bodyPr wrap="square" lIns="45720" rIns="45720" tIns="18288" bIns="18288" anchor="ctr">
                      <a:noAutofit/>
                    </a:bodyPr>
                    <a:lstStyle/>
                    <a:p>
                      <a:pPr algn="l"/>
                      <a:r>
                        <a:rPr sz="950" b="1" i="0" lang="ko-KR" altLang="en-US">
                          <a:solidFill>
                            <a:srgbClr val="1F3864"/>
                          </a:solidFill>
                          <a:latin typeface="LG스마트체 Regular"/>
                          <a:ea typeface="LG스마트체 Regular"/>
                          <a:cs typeface="LG스마트체 Regular"/>
                        </a:rPr>
                        <a:t>100명</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ctr"/>
                      <a:r>
                        <a:rPr sz="950" b="1" i="0" lang="ko-KR" altLang="en-US">
                          <a:solidFill>
                            <a:srgbClr val="262626"/>
                          </a:solidFill>
                          <a:latin typeface="LG스마트체 Regular"/>
                          <a:ea typeface="LG스마트체 Regular"/>
                          <a:cs typeface="LG스마트체 Regular"/>
                        </a:rPr>
                        <a:t>13.6개월</a:t>
                      </a:r>
                    </a:p>
                    <a:p>
                      <a:pPr algn="ctr"/>
                      <a:r>
                        <a:rPr sz="950" b="0" i="0" lang="ko-KR" altLang="en-US">
                          <a:solidFill>
                            <a:srgbClr val="595959"/>
                          </a:solidFill>
                          <a:latin typeface="LG스마트체 Regular"/>
                          <a:ea typeface="LG스마트체 Regular"/>
                          <a:cs typeface="LG스마트체 Regular"/>
                        </a:rPr>
                        <a:t>31.7년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ctr"/>
                      <a:r>
                        <a:rPr sz="950" b="1" i="0" lang="ko-KR" altLang="en-US">
                          <a:solidFill>
                            <a:srgbClr val="262626"/>
                          </a:solidFill>
                          <a:latin typeface="LG스마트체 Regular"/>
                          <a:ea typeface="LG스마트체 Regular"/>
                          <a:cs typeface="LG스마트체 Regular"/>
                        </a:rPr>
                        <a:t>7.0개월</a:t>
                      </a:r>
                    </a:p>
                    <a:p>
                      <a:pPr algn="ctr"/>
                      <a:r>
                        <a:rPr sz="950" b="0" i="0" lang="ko-KR" altLang="en-US">
                          <a:solidFill>
                            <a:srgbClr val="595959"/>
                          </a:solidFill>
                          <a:latin typeface="LG스마트체 Regular"/>
                          <a:ea typeface="LG스마트체 Regular"/>
                          <a:cs typeface="LG스마트체 Regular"/>
                        </a:rPr>
                        <a:t>16.2년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ctr"/>
                      <a:r>
                        <a:rPr sz="950" b="1" i="0" lang="ko-KR" altLang="en-US">
                          <a:solidFill>
                            <a:srgbClr val="262626"/>
                          </a:solidFill>
                          <a:latin typeface="LG스마트체 Regular"/>
                          <a:ea typeface="LG스마트체 Regular"/>
                          <a:cs typeface="LG스마트체 Regular"/>
                        </a:rPr>
                        <a:t>3.5개월</a:t>
                      </a:r>
                    </a:p>
                    <a:p>
                      <a:pPr algn="ctr"/>
                      <a:r>
                        <a:rPr sz="950" b="0" i="0" lang="ko-KR" altLang="en-US">
                          <a:solidFill>
                            <a:srgbClr val="595959"/>
                          </a:solidFill>
                          <a:latin typeface="LG스마트체 Regular"/>
                          <a:ea typeface="LG스마트체 Regular"/>
                          <a:cs typeface="LG스마트체 Regular"/>
                        </a:rPr>
                        <a:t>8.2년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438912">
                <a:tc>
                  <a:txBody>
                    <a:bodyPr wrap="square" lIns="45720" rIns="45720" tIns="18288" bIns="18288" anchor="ctr">
                      <a:noAutofit/>
                    </a:bodyPr>
                    <a:lstStyle/>
                    <a:p>
                      <a:pPr algn="l"/>
                      <a:r>
                        <a:rPr sz="950" b="1" i="0" lang="ko-KR" altLang="en-US">
                          <a:solidFill>
                            <a:srgbClr val="1F3864"/>
                          </a:solidFill>
                          <a:latin typeface="LG스마트체 Regular"/>
                          <a:ea typeface="LG스마트체 Regular"/>
                          <a:cs typeface="LG스마트체 Regular"/>
                        </a:rPr>
                        <a:t>200명</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ctr"/>
                      <a:r>
                        <a:rPr sz="950" b="1" i="0" lang="ko-KR" altLang="en-US">
                          <a:solidFill>
                            <a:srgbClr val="262626"/>
                          </a:solidFill>
                          <a:latin typeface="LG스마트체 Regular"/>
                          <a:ea typeface="LG스마트체 Regular"/>
                          <a:cs typeface="LG스마트체 Regular"/>
                        </a:rPr>
                        <a:t>6.8개월</a:t>
                      </a:r>
                    </a:p>
                    <a:p>
                      <a:pPr algn="ctr"/>
                      <a:r>
                        <a:rPr sz="950" b="0" i="0" lang="ko-KR" altLang="en-US">
                          <a:solidFill>
                            <a:srgbClr val="595959"/>
                          </a:solidFill>
                          <a:latin typeface="LG스마트체 Regular"/>
                          <a:ea typeface="LG스마트체 Regular"/>
                          <a:cs typeface="LG스마트체 Regular"/>
                        </a:rPr>
                        <a:t>15.8년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ctr"/>
                      <a:r>
                        <a:rPr sz="950" b="1" i="0" lang="ko-KR" altLang="en-US">
                          <a:solidFill>
                            <a:srgbClr val="1F3864"/>
                          </a:solidFill>
                          <a:latin typeface="LG스마트체 Regular"/>
                          <a:ea typeface="LG스마트체 Regular"/>
                          <a:cs typeface="LG스마트체 Regular"/>
                        </a:rPr>
                        <a:t>3.5개월</a:t>
                      </a:r>
                    </a:p>
                    <a:p>
                      <a:pPr algn="ctr"/>
                      <a:r>
                        <a:rPr sz="950" b="1" i="0" lang="ko-KR" altLang="en-US">
                          <a:solidFill>
                            <a:srgbClr val="1F3864"/>
                          </a:solidFill>
                          <a:latin typeface="LG스마트체 Regular"/>
                          <a:ea typeface="LG스마트체 Regular"/>
                          <a:cs typeface="LG스마트체 Regular"/>
                        </a:rPr>
                        <a:t>8.1년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EEF2F8"/>
                    </a:solidFill>
                  </a:tcPr>
                </a:tc>
                <a:tc>
                  <a:txBody>
                    <a:bodyPr wrap="square" lIns="45720" rIns="45720" tIns="18288" bIns="18288" anchor="ctr">
                      <a:noAutofit/>
                    </a:bodyPr>
                    <a:lstStyle/>
                    <a:p>
                      <a:pPr algn="ctr"/>
                      <a:r>
                        <a:rPr sz="950" b="1" i="0" lang="ko-KR" altLang="en-US">
                          <a:solidFill>
                            <a:srgbClr val="262626"/>
                          </a:solidFill>
                          <a:latin typeface="LG스마트체 Regular"/>
                          <a:ea typeface="LG스마트체 Regular"/>
                          <a:cs typeface="LG스마트체 Regular"/>
                        </a:rPr>
                        <a:t>1.8개월</a:t>
                      </a:r>
                    </a:p>
                    <a:p>
                      <a:pPr algn="ctr"/>
                      <a:r>
                        <a:rPr sz="950" b="0" i="0" lang="ko-KR" altLang="en-US">
                          <a:solidFill>
                            <a:srgbClr val="595959"/>
                          </a:solidFill>
                          <a:latin typeface="LG스마트체 Regular"/>
                          <a:ea typeface="LG스마트체 Regular"/>
                          <a:cs typeface="LG스마트체 Regular"/>
                        </a:rPr>
                        <a:t>4.1년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bl>
          </a:graphicData>
        </a:graphic>
      </p:graphicFrame>
      <p:sp>
        <p:nvSpPr>
          <p:cNvPr id="22" name="TextBox 21"/>
          <p:cNvSpPr txBox="1"/>
          <p:nvPr/>
        </p:nvSpPr>
        <p:spPr>
          <a:xfrm>
            <a:off x="7635240" y="5120640"/>
            <a:ext cx="4142232" cy="274320"/>
          </a:xfrm>
          <a:prstGeom prst="rect">
            <a:avLst/>
          </a:prstGeom>
          <a:noFill/>
        </p:spPr>
        <p:txBody>
          <a:bodyPr wrap="square" lIns="0" rIns="0" tIns="18288" bIns="18288" anchor="t">
            <a:noAutofit/>
          </a:bodyPr>
          <a:lstStyle/>
          <a:p>
            <a:pPr algn="l"/>
            <a:r>
              <a:rPr sz="900" b="1" i="0" lang="ko-KR" altLang="en-US">
                <a:solidFill>
                  <a:srgbClr val="1F3864"/>
                </a:solidFill>
                <a:latin typeface="LG스마트체 Regular"/>
                <a:ea typeface="LG스마트체 Regular"/>
                <a:cs typeface="LG스마트체 Regular"/>
              </a:rPr>
              <a:t>기준 가정 = 200명 · 200MB</a:t>
            </a:r>
            <a:r>
              <a:rPr sz="900" b="0" i="0" lang="ko-KR" altLang="en-US">
                <a:solidFill>
                  <a:srgbClr val="595959"/>
                </a:solidFill>
                <a:latin typeface="LG스마트체 Regular"/>
                <a:ea typeface="LG스마트체 Regular"/>
                <a:cs typeface="LG스마트체 Regular"/>
              </a:rPr>
              <a:t> (강조 칸) — 인원·CSV가 2배면 기간은 약 절반</a:t>
            </a:r>
          </a:p>
        </p:txBody>
      </p:sp>
      <p:sp>
        <p:nvSpPr>
          <p:cNvPr id="23" name="c1-next"/>
          <p:cNvSpPr/>
          <p:nvPr/>
        </p:nvSpPr>
        <p:spPr>
          <a:xfrm>
            <a:off x="7635240" y="5440680"/>
            <a:ext cx="4142232" cy="566928"/>
          </a:xfrm>
          <a:prstGeom prst="roundRect">
            <a:avLst>
              <a:gd name="adj" fmla="val 9677"/>
            </a:avLst>
          </a:prstGeom>
          <a:solidFill>
            <a:srgbClr val="FAFAFA"/>
          </a:solidFill>
          <a:ln w="9525">
            <a:solidFill>
              <a:srgbClr val="D9D9D9"/>
            </a:solidFill>
          </a:ln>
          <a:effectLst/>
        </p:spPr>
        <p:txBody>
          <a:bodyPr rtlCol="0" anchor="ctr" wrap="square" tIns="18288" bIns="18288">
            <a:noAutofit/>
          </a:bodyPr>
          <a:lstStyle/>
          <a:p>
            <a:pPr algn="l"/>
            <a:r>
              <a:rPr sz="950" b="1" i="0" lang="ko-KR" altLang="en-US">
                <a:solidFill>
                  <a:srgbClr val="1F3864"/>
                </a:solidFill>
                <a:latin typeface="LG스마트체 Regular"/>
                <a:ea typeface="LG스마트체 Regular"/>
                <a:cs typeface="LG스마트체 Regular"/>
              </a:rPr>
              <a:t>보존 매트릭스 · 운영 기준(제안값)</a:t>
            </a:r>
            <a:r>
              <a:rPr sz="950" b="0" i="0" lang="ko-KR" altLang="en-US">
                <a:solidFill>
                  <a:srgbClr val="262626"/>
                </a:solidFill>
                <a:latin typeface="LG스마트체 Regular"/>
                <a:ea typeface="LG스마트체 Regular"/>
                <a:cs typeface="LG스마트체 Regular"/>
              </a:rPr>
              <a:t>은 다음 장(C-2)</a:t>
            </a:r>
          </a:p>
        </p:txBody>
      </p:sp>
      <p:cxnSp>
        <p:nvCxnSpPr>
          <p:cNvPr id="24" name="legend-solid"/>
          <p:cNvCxnSpPr/>
          <p:nvPr/>
        </p:nvCxnSpPr>
        <p:spPr>
          <a:xfrm>
            <a:off x="4023360" y="6446520"/>
            <a:ext cx="384048" cy="0"/>
          </a:xfrm>
          <a:prstGeom prst="line">
            <a:avLst/>
          </a:prstGeom>
          <a:ln w="19050">
            <a:solidFill>
              <a:srgbClr val="1F3864"/>
            </a:solidFill>
          </a:ln>
        </p:spPr>
      </p:cxnSp>
      <p:sp>
        <p:nvSpPr>
          <p:cNvPr id="25" name="TextBox 24"/>
          <p:cNvSpPr txBox="1"/>
          <p:nvPr/>
        </p:nvSpPr>
        <p:spPr>
          <a:xfrm>
            <a:off x="4462272" y="6345936"/>
            <a:ext cx="20116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실선 = 확정(메일 합의·저장소 구현)</a:t>
            </a:r>
          </a:p>
        </p:txBody>
      </p:sp>
      <p:cxnSp>
        <p:nvCxnSpPr>
          <p:cNvPr id="26" name="legend-dash"/>
          <p:cNvCxnSpPr/>
          <p:nvPr/>
        </p:nvCxnSpPr>
        <p:spPr>
          <a:xfrm>
            <a:off x="6537960" y="6446520"/>
            <a:ext cx="384048" cy="0"/>
          </a:xfrm>
          <a:prstGeom prst="line">
            <a:avLst/>
          </a:prstGeom>
          <a:ln w="19050">
            <a:solidFill>
              <a:srgbClr val="C55A11"/>
            </a:solidFill>
            <a:prstDash val="dash"/>
          </a:ln>
        </p:spPr>
      </p:cxnSp>
      <p:sp>
        <p:nvSpPr>
          <p:cNvPr id="27" name="TextBox 26"/>
          <p:cNvSpPr txBox="1"/>
          <p:nvPr/>
        </p:nvSpPr>
        <p:spPr>
          <a:xfrm>
            <a:off x="6976872" y="6345936"/>
            <a:ext cx="96012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점선 = 계획·미정</a:t>
            </a:r>
          </a:p>
        </p:txBody>
      </p:sp>
      <p:sp>
        <p:nvSpPr>
          <p:cNvPr id="28" name="TextBox 27"/>
          <p:cNvSpPr txBox="1"/>
          <p:nvPr/>
        </p:nvSpPr>
        <p:spPr>
          <a:xfrm>
            <a:off x="8001000" y="6345936"/>
            <a:ext cx="1965960" cy="201168"/>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 충돌</a:t>
            </a:r>
            <a:r>
              <a:rPr sz="900" b="0" i="0" lang="ko-KR" altLang="en-US">
                <a:solidFill>
                  <a:srgbClr val="595959"/>
                </a:solidFill>
                <a:latin typeface="LG스마트체 Regular"/>
                <a:ea typeface="LG스마트체 Regular"/>
                <a:cs typeface="LG스마트체 Regular"/>
              </a:rPr>
              <a:t> = 메일↔코드 불일치</a:t>
            </a:r>
          </a:p>
        </p:txBody>
      </p:sp>
      <p:sp>
        <p:nvSpPr>
          <p:cNvPr id="29" name="Rounded Rectangle 28"/>
          <p:cNvSpPr/>
          <p:nvPr/>
        </p:nvSpPr>
        <p:spPr>
          <a:xfrm>
            <a:off x="10012680" y="6355080"/>
            <a:ext cx="384048" cy="182880"/>
          </a:xfrm>
          <a:prstGeom prst="roundRect">
            <a:avLst>
              <a:gd name="adj" fmla="val 25000"/>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30" name="TextBox 29"/>
          <p:cNvSpPr txBox="1"/>
          <p:nvPr/>
        </p:nvSpPr>
        <p:spPr>
          <a:xfrm>
            <a:off x="10451592" y="6345936"/>
            <a:ext cx="10972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 실측 전 추정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56032"/>
            <a:ext cx="11365992" cy="530352"/>
          </a:xfrm>
          <a:prstGeom prst="rect">
            <a:avLst/>
          </a:prstGeom>
          <a:noFill/>
        </p:spPr>
        <p:txBody>
          <a:bodyPr wrap="square" lIns="0" rIns="0" tIns="18288" bIns="18288" anchor="t">
            <a:noAutofit/>
          </a:bodyPr>
          <a:lstStyle/>
          <a:p>
            <a:pPr algn="l"/>
            <a:r>
              <a:rPr sz="1600" b="1" i="0" lang="ko-KR" altLang="en-US">
                <a:solidFill>
                  <a:srgbClr val="1F3864"/>
                </a:solidFill>
                <a:latin typeface="LG스마트체 Regular"/>
                <a:ea typeface="LG스마트체 Regular"/>
                <a:cs typeface="LG스마트체 Regular"/>
              </a:rPr>
              <a:t>부록 C-2. 보존 매트릭스 — 업무 기록·첨부는 지우지 않고, 정리 주기는 백업·임시 파일에만 적용</a:t>
            </a:r>
          </a:p>
        </p:txBody>
      </p:sp>
      <p:sp>
        <p:nvSpPr>
          <p:cNvPr id="3" name="subtitle"/>
          <p:cNvSpPr txBox="1"/>
          <p:nvPr/>
        </p:nvSpPr>
        <p:spPr>
          <a:xfrm>
            <a:off x="411480" y="621792"/>
            <a:ext cx="11365992" cy="219456"/>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현재 코드 규칙 기준(models.py · backups.py · config.py) · 운영 기준은 제안값(실측 아님)</a:t>
            </a:r>
          </a:p>
        </p:txBody>
      </p:sp>
      <p:graphicFrame>
        <p:nvGraphicFramePr>
          <p:cNvPr id="4" name="retention-matrix"/>
          <p:cNvGraphicFramePr>
            <a:graphicFrameLocks noGrp="1"/>
          </p:cNvGraphicFramePr>
          <p:nvPr/>
        </p:nvGraphicFramePr>
        <p:xfrm>
          <a:off x="411480" y="1051560"/>
          <a:ext cx="11365992" cy="2871216"/>
        </p:xfrm>
        <a:graphic>
          <a:graphicData uri="http://schemas.openxmlformats.org/drawingml/2006/table">
            <a:tbl>
              <a:tblPr firstRow="1">
                <a:tableStyleId>{5C22544A-7EE6-4342-B048-85BDC9FD1C3A}</a:tableStyleId>
              </a:tblPr>
              <a:tblGrid>
                <a:gridCol w="2011680"/>
                <a:gridCol w="2331720"/>
                <a:gridCol w="1234440"/>
                <a:gridCol w="4142232"/>
                <a:gridCol w="1645920"/>
              </a:tblGrid>
              <a:tr h="310896">
                <a:tc>
                  <a:txBody>
                    <a:bodyPr wrap="square" lIns="45720" rIns="45720" tIns="18288" bIns="18288" anchor="ctr">
                      <a:noAutofit/>
                    </a:bodyPr>
                    <a:lstStyle/>
                    <a:p>
                      <a:pPr algn="l"/>
                      <a:r>
                        <a:rPr sz="1000" b="1" i="0" lang="ko-KR" altLang="en-US">
                          <a:solidFill>
                            <a:srgbClr val="FFFFFF"/>
                          </a:solidFill>
                          <a:latin typeface="LG스마트체 Regular"/>
                          <a:ea typeface="LG스마트체 Regular"/>
                          <a:cs typeface="LG스마트체 Regular"/>
                        </a:rPr>
                        <a:t>대상</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1000" b="1" i="0" lang="ko-KR" altLang="en-US">
                          <a:solidFill>
                            <a:srgbClr val="FFFFFF"/>
                          </a:solidFill>
                          <a:latin typeface="LG스마트체 Regular"/>
                          <a:ea typeface="LG스마트체 Regular"/>
                          <a:cs typeface="LG스마트체 Regular"/>
                        </a:rPr>
                        <a:t>현재 코드 규칙</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1000" b="1" i="0" lang="ko-KR" altLang="en-US">
                          <a:solidFill>
                            <a:srgbClr val="FFFFFF"/>
                          </a:solidFill>
                          <a:latin typeface="LG스마트체 Regular"/>
                          <a:ea typeface="LG스마트체 Regular"/>
                          <a:cs typeface="LG스마트체 Regular"/>
                        </a:rPr>
                        <a:t>위치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1000" b="1" i="0" lang="ko-KR" altLang="en-US">
                          <a:solidFill>
                            <a:srgbClr val="FFFFFF"/>
                          </a:solidFill>
                          <a:latin typeface="LG스마트체 Regular"/>
                          <a:ea typeface="LG스마트체 Regular"/>
                          <a:cs typeface="LG스마트체 Regular"/>
                        </a:rPr>
                        <a:t>지우면 깨지는 것</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1000" b="1" i="0" lang="ko-KR" altLang="en-US">
                          <a:solidFill>
                            <a:srgbClr val="FFFFFF"/>
                          </a:solidFill>
                          <a:latin typeface="LG스마트체 Regular"/>
                          <a:ea typeface="LG스마트체 Regular"/>
                          <a:cs typeface="LG스마트체 Regular"/>
                        </a:rPr>
                        <a:t>판단</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r>
              <a:tr h="512064">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업무 기록 (DB)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자동 삭제 없음</a:t>
                      </a:r>
                    </a:p>
                    <a:p>
                      <a:pPr algn="l"/>
                      <a:r>
                        <a:rPr sz="1000" b="0" i="0" lang="ko-KR" altLang="en-US">
                          <a:solidFill>
                            <a:srgbClr val="262626"/>
                          </a:solidFill>
                          <a:latin typeface="LG스마트체 Regular"/>
                          <a:ea typeface="LG스마트체 Regular"/>
                          <a:cs typeface="LG스마트체 Regular"/>
                        </a:rPr>
                        <a:t>(휴지통도 자동으로 비우지 않음)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595959"/>
                          </a:solidFill>
                          <a:latin typeface="LG스마트체 Regular"/>
                          <a:ea typeface="LG스마트체 Regular"/>
                          <a:cs typeface="LG스마트체 Regular"/>
                        </a:rPr>
                        <a:t>SSD</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누적 요약은 과거 기록을 처음부터 읽음 → 과거 보고 재생성 결과가 바뀜, 이력 관리 목적 상실</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삭제 대상 아님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EEF2F8"/>
                    </a:solidFill>
                  </a:tcPr>
                </a:tc>
              </a:tr>
              <a:tr h="512064">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첨부 (이미지·CSV)</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자동 삭제 없음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595959"/>
                          </a:solidFill>
                          <a:latin typeface="LG스마트체 Regular"/>
                          <a:ea typeface="LG스마트체 Regular"/>
                          <a:cs typeface="LG스마트체 Regular"/>
                        </a:rPr>
                        <a:t>SSD</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기록의 이미지·표 깨짐, 참조 첨부가 없으면 백업 자체가 실패 (BACKUP_INCOMPLETE)</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삭제 대상 아님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EEF2F8"/>
                    </a:solidFill>
                  </a:tcPr>
                </a:tc>
              </a:tr>
              <a:tr h="512064">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보고 결과 (reports/)</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작업 최근 200개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595959"/>
                          </a:solidFill>
                          <a:latin typeface="LG스마트체 Regular"/>
                          <a:ea typeface="LG스마트체 Regular"/>
                          <a:cs typeface="LG스마트체 Regular"/>
                        </a:rPr>
                        <a:t>SSD</a:t>
                      </a:r>
                    </a:p>
                    <a:p>
                      <a:pPr algn="l"/>
                      <a:r>
                        <a:rPr sz="1000" b="0" i="0" lang="ko-KR" altLang="en-US">
                          <a:solidFill>
                            <a:srgbClr val="595959"/>
                          </a:solidFill>
                          <a:latin typeface="LG스마트체 Regular"/>
                          <a:ea typeface="LG스마트체 Regular"/>
                          <a:cs typeface="LG스마트체 Regular"/>
                        </a:rPr>
                        <a:t>(백업 미포함)</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지난 보고 파일 재다운로드 불가 (재생성은 가능)</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1" i="0" lang="ko-KR" altLang="en-US">
                          <a:solidFill>
                            <a:srgbClr val="595959"/>
                          </a:solidFill>
                          <a:latin typeface="LG스마트체 Regular"/>
                          <a:ea typeface="LG스마트체 Regular"/>
                          <a:cs typeface="LG스마트체 Regular"/>
                        </a:rPr>
                        <a:t>정리 가능 (현행 유지)</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r>
              <a:tr h="512064">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임시 업로드 · 내보내기 ZIP · 로그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7일 · 1일 · 30일</a:t>
                      </a:r>
                    </a:p>
                    <a:p>
                      <a:pPr algn="l"/>
                      <a:r>
                        <a:rPr sz="1000" b="0" i="0" lang="ko-KR" altLang="en-US">
                          <a:solidFill>
                            <a:srgbClr val="262626"/>
                          </a:solidFill>
                          <a:latin typeface="LG스마트체 Regular"/>
                          <a:ea typeface="LG스마트체 Regular"/>
                          <a:cs typeface="LG스마트체 Regular"/>
                        </a:rPr>
                        <a:t>(이미 자동 정리)</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595959"/>
                          </a:solidFill>
                          <a:latin typeface="LG스마트체 Regular"/>
                          <a:ea typeface="LG스마트체 Regular"/>
                          <a:cs typeface="LG스마트체 Regular"/>
                        </a:rPr>
                        <a:t>SSD</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영향 작음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1" i="0" lang="ko-KR" altLang="en-US">
                          <a:solidFill>
                            <a:srgbClr val="595959"/>
                          </a:solidFill>
                          <a:latin typeface="LG스마트체 Regular"/>
                          <a:ea typeface="LG스마트체 Regular"/>
                          <a:cs typeface="LG스마트체 Regular"/>
                        </a:rPr>
                        <a:t>현행 유지</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r>
              <a:tr h="512064">
                <a:tc>
                  <a:txBody>
                    <a:bodyPr wrap="square" lIns="45720" rIns="45720" tIns="18288" bIns="18288" anchor="ctr">
                      <a:noAutofit/>
                    </a:bodyPr>
                    <a:lstStyle/>
                    <a:p>
                      <a:pPr algn="l"/>
                      <a:r>
                        <a:rPr sz="1000" b="1" i="0" lang="ko-KR" altLang="en-US">
                          <a:solidFill>
                            <a:srgbClr val="1F3864"/>
                          </a:solidFill>
                          <a:latin typeface="LG스마트체 Regular"/>
                          <a:ea typeface="LG스마트체 Regular"/>
                          <a:cs typeface="LG스마트체 Regular"/>
                        </a:rPr>
                        <a:t>백업</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최근 14개, 매회 전체 복사</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595959"/>
                          </a:solidFill>
                          <a:latin typeface="LG스마트체 Regular"/>
                          <a:ea typeface="LG스마트체 Regular"/>
                          <a:cs typeface="LG스마트체 Regular"/>
                        </a:rPr>
                        <a:t>BACKUP_DIR</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0" i="0" lang="ko-KR" altLang="en-US">
                          <a:solidFill>
                            <a:srgbClr val="262626"/>
                          </a:solidFill>
                          <a:latin typeface="LG스마트체 Regular"/>
                          <a:ea typeface="LG스마트체 Regular"/>
                          <a:cs typeface="LG스마트체 Regular"/>
                        </a:rPr>
                        <a:t>보관 개수·방식이 용량을 결정</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1000" b="1" i="0" lang="ko-KR" altLang="en-US">
                          <a:solidFill>
                            <a:srgbClr val="C55A11"/>
                          </a:solidFill>
                          <a:latin typeface="LG스마트체 Regular"/>
                          <a:ea typeface="LG스마트체 Regular"/>
                          <a:cs typeface="LG스마트체 Regular"/>
                        </a:rPr>
                        <a:t>정책 결정 대상</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r>
            </a:tbl>
          </a:graphicData>
        </a:graphic>
      </p:graphicFrame>
      <p:sp>
        <p:nvSpPr>
          <p:cNvPr id="5" name="TextBox 4"/>
          <p:cNvSpPr txBox="1"/>
          <p:nvPr/>
        </p:nvSpPr>
        <p:spPr>
          <a:xfrm>
            <a:off x="411480" y="4206240"/>
            <a:ext cx="3657600" cy="256032"/>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운영 기준</a:t>
            </a:r>
          </a:p>
        </p:txBody>
      </p:sp>
      <p:sp>
        <p:nvSpPr>
          <p:cNvPr id="6" name="Rounded Rectangle 5"/>
          <p:cNvSpPr/>
          <p:nvPr/>
        </p:nvSpPr>
        <p:spPr>
          <a:xfrm>
            <a:off x="1325880" y="4233672"/>
            <a:ext cx="1234440" cy="201168"/>
          </a:xfrm>
          <a:prstGeom prst="roundRect">
            <a:avLst>
              <a:gd name="adj" fmla="val 22727"/>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제안값 · 실측 아님</a:t>
            </a:r>
          </a:p>
        </p:txBody>
      </p:sp>
      <p:sp>
        <p:nvSpPr>
          <p:cNvPr id="7" name="rpo-card"/>
          <p:cNvSpPr/>
          <p:nvPr/>
        </p:nvSpPr>
        <p:spPr>
          <a:xfrm>
            <a:off x="411480" y="4553712"/>
            <a:ext cx="5577840" cy="1097280"/>
          </a:xfrm>
          <a:prstGeom prst="roundRect">
            <a:avLst>
              <a:gd name="adj" fmla="val 6666"/>
            </a:avLst>
          </a:prstGeom>
          <a:solidFill>
            <a:srgbClr val="FFF5EB"/>
          </a:solidFill>
          <a:ln w="12700">
            <a:solidFill>
              <a:srgbClr val="C55A11"/>
            </a:solidFill>
            <a:prstDash val="dash"/>
          </a:ln>
          <a:effectLst/>
        </p:spPr>
        <p:txBody>
          <a:bodyPr rtlCol="0" anchor="ctr"/>
          <a:lstStyle/>
          <a:p/>
        </p:txBody>
      </p:sp>
      <p:sp>
        <p:nvSpPr>
          <p:cNvPr id="8" name="icon-clock"/>
          <p:cNvSpPr/>
          <p:nvPr/>
        </p:nvSpPr>
        <p:spPr>
          <a:xfrm>
            <a:off x="548640" y="4681728"/>
            <a:ext cx="292608" cy="292608"/>
          </a:xfrm>
          <a:custGeom>
            <a:avLst/>
            <a:gdLst/>
            <a:ahLst/>
            <a:cxnLst/>
            <a:rect l="0" t="0" r="r" b="b"/>
            <a:pathLst>
              <a:path w="24000" h="24000" fill="none">
                <a:moveTo>
                  <a:pt x="12000" y="12000"/>
                </a:moveTo>
                <a:moveTo>
                  <a:pt x="3000" y="12000"/>
                </a:moveTo>
                <a:cubicBezTo>
                  <a:pt x="3000" y="16971"/>
                  <a:pt x="7029" y="21000"/>
                  <a:pt x="12000" y="21000"/>
                </a:cubicBezTo>
                <a:cubicBezTo>
                  <a:pt x="16971" y="21000"/>
                  <a:pt x="21000" y="16971"/>
                  <a:pt x="21000" y="12000"/>
                </a:cubicBezTo>
                <a:cubicBezTo>
                  <a:pt x="21000" y="7029"/>
                  <a:pt x="16971" y="3000"/>
                  <a:pt x="12000" y="3000"/>
                </a:cubicBezTo>
                <a:cubicBezTo>
                  <a:pt x="7029" y="3000"/>
                  <a:pt x="3000" y="7029"/>
                  <a:pt x="3000" y="12000"/>
                </a:cubicBezTo>
              </a:path>
              <a:path w="24000" h="24000" fill="none">
                <a:moveTo>
                  <a:pt x="12000" y="12000"/>
                </a:moveTo>
                <a:lnTo>
                  <a:pt x="15000" y="14000"/>
                </a:lnTo>
              </a:path>
              <a:path w="24000" h="24000" fill="none">
                <a:moveTo>
                  <a:pt x="12000" y="7000"/>
                </a:moveTo>
                <a:lnTo>
                  <a:pt x="12000" y="12000"/>
                </a:lnTo>
              </a:path>
            </a:pathLst>
          </a:custGeom>
          <a:solidFill>
            <a:srgbClr val="595959"/>
          </a:solidFill>
          <a:ln w="12700">
            <a:solidFill>
              <a:srgbClr val="595959"/>
            </a:solidFill>
          </a:ln>
          <a:effectLst/>
        </p:spPr>
        <p:txBody>
          <a:bodyPr rtlCol="0" anchor="ctr"/>
          <a:lstStyle/>
          <a:p/>
        </p:txBody>
      </p:sp>
      <p:sp>
        <p:nvSpPr>
          <p:cNvPr id="9" name="TextBox 8"/>
          <p:cNvSpPr txBox="1"/>
          <p:nvPr/>
        </p:nvSpPr>
        <p:spPr>
          <a:xfrm>
            <a:off x="960120" y="4626864"/>
            <a:ext cx="4937760" cy="987552"/>
          </a:xfrm>
          <a:prstGeom prst="rect">
            <a:avLst/>
          </a:prstGeom>
          <a:noFill/>
        </p:spPr>
        <p:txBody>
          <a:bodyPr wrap="square" lIns="0" rIns="0" tIns="18288" bIns="18288" anchor="t">
            <a:noAutofit/>
          </a:bodyPr>
          <a:lstStyle/>
          <a:p>
            <a:pPr algn="l">
              <a:spcBef>
                <a:spcPts val="0"/>
              </a:spcBef>
            </a:pPr>
            <a:r>
              <a:rPr sz="1100" b="1" i="0" lang="ko-KR" altLang="en-US">
                <a:solidFill>
                  <a:srgbClr val="262626"/>
                </a:solidFill>
                <a:latin typeface="LG스마트체 Regular"/>
                <a:ea typeface="LG스마트체 Regular"/>
                <a:cs typeface="LG스마트체 Regular"/>
              </a:rPr>
              <a:t>복구 목표</a:t>
            </a:r>
          </a:p>
          <a:p>
            <a:pPr algn="l">
              <a:spcBef>
                <a:spcPts val="400"/>
              </a:spcBef>
            </a:pPr>
            <a:r>
              <a:rPr sz="1000" b="1" i="0" lang="ko-KR" altLang="en-US">
                <a:solidFill>
                  <a:srgbClr val="1F3864"/>
                </a:solidFill>
                <a:latin typeface="LG스마트체 Regular"/>
                <a:ea typeface="LG스마트체 Regular"/>
                <a:cs typeface="LG스마트체 Regular"/>
              </a:rPr>
              <a:t>하루 전 시점까지</a:t>
            </a:r>
            <a:r>
              <a:rPr sz="1000" b="0" i="0" lang="ko-KR" altLang="en-US">
                <a:solidFill>
                  <a:srgbClr val="262626"/>
                </a:solidFill>
                <a:latin typeface="LG스마트체 Regular"/>
                <a:ea typeface="LG스마트체 Regular"/>
                <a:cs typeface="LG스마트체 Regular"/>
              </a:rPr>
              <a:t> (현행 일일 백업과 일치)</a:t>
            </a:r>
          </a:p>
          <a:p>
            <a:pPr algn="l">
              <a:spcBef>
                <a:spcPts val="400"/>
              </a:spcBef>
            </a:pPr>
            <a:r>
              <a:rPr sz="1000" b="1" i="0" lang="ko-KR" altLang="en-US">
                <a:solidFill>
                  <a:srgbClr val="262626"/>
                </a:solidFill>
                <a:latin typeface="LG스마트체 Regular"/>
                <a:ea typeface="LG스마트체 Regular"/>
                <a:cs typeface="LG스마트체 Regular"/>
              </a:rPr>
              <a:t>복구 소요 시간</a:t>
            </a:r>
            <a:r>
              <a:rPr sz="1000" b="0" i="0" lang="ko-KR" altLang="en-US">
                <a:solidFill>
                  <a:srgbClr val="262626"/>
                </a:solidFill>
                <a:latin typeface="LG스마트체 Regular"/>
                <a:ea typeface="LG스마트체 Regular"/>
                <a:cs typeface="LG스마트체 Regular"/>
              </a:rPr>
              <a:t>: 복원 시험으로 측정 후 결정</a:t>
            </a:r>
          </a:p>
        </p:txBody>
      </p:sp>
      <p:sp>
        <p:nvSpPr>
          <p:cNvPr id="10" name="alert-card"/>
          <p:cNvSpPr/>
          <p:nvPr/>
        </p:nvSpPr>
        <p:spPr>
          <a:xfrm>
            <a:off x="6199632" y="4553712"/>
            <a:ext cx="5577840" cy="1097280"/>
          </a:xfrm>
          <a:prstGeom prst="roundRect">
            <a:avLst>
              <a:gd name="adj" fmla="val 6666"/>
            </a:avLst>
          </a:prstGeom>
          <a:solidFill>
            <a:srgbClr val="FFF5EB"/>
          </a:solidFill>
          <a:ln w="12700">
            <a:solidFill>
              <a:srgbClr val="C55A11"/>
            </a:solidFill>
            <a:prstDash val="dash"/>
          </a:ln>
          <a:effectLst/>
        </p:spPr>
        <p:txBody>
          <a:bodyPr rtlCol="0" anchor="ctr"/>
          <a:lstStyle/>
          <a:p/>
        </p:txBody>
      </p:sp>
      <p:sp>
        <p:nvSpPr>
          <p:cNvPr id="11" name="icon-alert"/>
          <p:cNvSpPr/>
          <p:nvPr/>
        </p:nvSpPr>
        <p:spPr>
          <a:xfrm>
            <a:off x="6336792" y="4681728"/>
            <a:ext cx="292608" cy="292608"/>
          </a:xfrm>
          <a:custGeom>
            <a:avLst/>
            <a:gdLst/>
            <a:ahLst/>
            <a:cxnLst/>
            <a:rect l="0" t="0" r="r" b="b"/>
            <a:pathLst>
              <a:path w="24000" h="24000" fill="none">
                <a:moveTo>
                  <a:pt x="12000" y="9000"/>
                </a:moveTo>
                <a:lnTo>
                  <a:pt x="12000" y="13000"/>
                </a:lnTo>
              </a:path>
              <a:path w="24000" h="24000" fill="none">
                <a:moveTo>
                  <a:pt x="10363" y="3591"/>
                </a:moveTo>
                <a:lnTo>
                  <a:pt x="2257" y="17125"/>
                </a:lnTo>
                <a:cubicBezTo>
                  <a:pt x="1917" y="17714"/>
                  <a:pt x="1915" y="18439"/>
                  <a:pt x="2252" y="19030"/>
                </a:cubicBezTo>
                <a:cubicBezTo>
                  <a:pt x="2588" y="19621"/>
                  <a:pt x="3213" y="19988"/>
                  <a:pt x="3893" y="19996"/>
                </a:cubicBezTo>
                <a:lnTo>
                  <a:pt x="20107" y="19996"/>
                </a:lnTo>
                <a:cubicBezTo>
                  <a:pt x="20787" y="19988"/>
                  <a:pt x="21411" y="19620"/>
                  <a:pt x="21748" y="19030"/>
                </a:cubicBezTo>
                <a:cubicBezTo>
                  <a:pt x="22084" y="18440"/>
                  <a:pt x="22083" y="17715"/>
                  <a:pt x="21743" y="17126"/>
                </a:cubicBezTo>
                <a:lnTo>
                  <a:pt x="13637" y="3590"/>
                </a:lnTo>
                <a:cubicBezTo>
                  <a:pt x="13290" y="3017"/>
                  <a:pt x="12669" y="2668"/>
                  <a:pt x="12000" y="2668"/>
                </a:cubicBezTo>
                <a:cubicBezTo>
                  <a:pt x="11331" y="2668"/>
                  <a:pt x="10710" y="3017"/>
                  <a:pt x="10363" y="3590"/>
                </a:cubicBezTo>
                <a:close/>
              </a:path>
              <a:path w="24000" h="24000" fill="none">
                <a:moveTo>
                  <a:pt x="12000" y="16000"/>
                </a:moveTo>
                <a:lnTo>
                  <a:pt x="12010" y="16000"/>
                </a:lnTo>
              </a:path>
            </a:pathLst>
          </a:custGeom>
          <a:solidFill>
            <a:srgbClr val="595959"/>
          </a:solidFill>
          <a:ln w="12700">
            <a:solidFill>
              <a:srgbClr val="595959"/>
            </a:solidFill>
          </a:ln>
          <a:effectLst/>
        </p:spPr>
        <p:txBody>
          <a:bodyPr rtlCol="0" anchor="ctr"/>
          <a:lstStyle/>
          <a:p/>
        </p:txBody>
      </p:sp>
      <p:sp>
        <p:nvSpPr>
          <p:cNvPr id="12" name="TextBox 11"/>
          <p:cNvSpPr txBox="1"/>
          <p:nvPr/>
        </p:nvSpPr>
        <p:spPr>
          <a:xfrm>
            <a:off x="6748272" y="4626864"/>
            <a:ext cx="4937760" cy="1005840"/>
          </a:xfrm>
          <a:prstGeom prst="rect">
            <a:avLst/>
          </a:prstGeom>
          <a:noFill/>
        </p:spPr>
        <p:txBody>
          <a:bodyPr wrap="square" lIns="0" rIns="0" tIns="18288" bIns="18288" anchor="t">
            <a:noAutofit/>
          </a:bodyPr>
          <a:lstStyle/>
          <a:p>
            <a:pPr algn="l">
              <a:spcBef>
                <a:spcPts val="0"/>
              </a:spcBef>
            </a:pPr>
            <a:r>
              <a:rPr sz="1100" b="1" i="0" lang="ko-KR" altLang="en-US">
                <a:solidFill>
                  <a:srgbClr val="262626"/>
                </a:solidFill>
                <a:latin typeface="LG스마트체 Regular"/>
                <a:ea typeface="LG스마트체 Regular"/>
                <a:cs typeface="LG스마트체 Regular"/>
              </a:rPr>
              <a:t>디스크 사용률 경보</a:t>
            </a:r>
          </a:p>
          <a:p>
            <a:pPr algn="l">
              <a:spcBef>
                <a:spcPts val="300"/>
              </a:spcBef>
            </a:pPr>
            <a:r>
              <a:rPr sz="1000" b="1" i="0" lang="ko-KR" altLang="en-US">
                <a:solidFill>
                  <a:srgbClr val="1F3864"/>
                </a:solidFill>
                <a:latin typeface="LG스마트체 Regular"/>
                <a:ea typeface="LG스마트체 Regular"/>
                <a:cs typeface="LG스마트체 Regular"/>
              </a:rPr>
              <a:t>70% 점검</a:t>
            </a:r>
            <a:r>
              <a:rPr sz="1000" b="0" i="0" lang="ko-KR" altLang="en-US">
                <a:solidFill>
                  <a:srgbClr val="262626"/>
                </a:solidFill>
                <a:latin typeface="LG스마트체 Regular"/>
                <a:ea typeface="LG스마트체 Regular"/>
                <a:cs typeface="LG스마트체 Regular"/>
              </a:rPr>
              <a:t> — 증가 추세 확인</a:t>
            </a:r>
          </a:p>
          <a:p>
            <a:pPr algn="l">
              <a:spcBef>
                <a:spcPts val="300"/>
              </a:spcBef>
            </a:pPr>
            <a:r>
              <a:rPr sz="1000" b="1" i="0" lang="ko-KR" altLang="en-US">
                <a:solidFill>
                  <a:srgbClr val="C55A11"/>
                </a:solidFill>
                <a:latin typeface="LG스마트체 Regular"/>
                <a:ea typeface="LG스마트체 Regular"/>
                <a:cs typeface="LG스마트체 Regular"/>
              </a:rPr>
              <a:t>85% 조치</a:t>
            </a:r>
            <a:r>
              <a:rPr sz="1000" b="0" i="0" lang="ko-KR" altLang="en-US">
                <a:solidFill>
                  <a:srgbClr val="262626"/>
                </a:solidFill>
                <a:latin typeface="LG스마트체 Regular"/>
                <a:ea typeface="LG스마트체 Regular"/>
                <a:cs typeface="LG스마트체 Regular"/>
              </a:rPr>
              <a:t> — 백업 보관 축소 또는 증설 요청</a:t>
            </a:r>
          </a:p>
          <a:p>
            <a:pPr algn="l">
              <a:spcBef>
                <a:spcPts val="300"/>
              </a:spcBef>
            </a:pPr>
            <a:r>
              <a:rPr sz="1000" b="0" i="0" lang="ko-KR" altLang="en-US">
                <a:solidFill>
                  <a:srgbClr val="595959"/>
                </a:solidFill>
                <a:latin typeface="LG스마트체 Regular"/>
                <a:ea typeface="LG스마트체 Regular"/>
                <a:cs typeface="LG스마트체 Regular"/>
              </a:rPr>
              <a:t>담당: 이재후 ↔ 다빈치팀</a:t>
            </a:r>
          </a:p>
        </p:txBody>
      </p:sp>
      <p:cxnSp>
        <p:nvCxnSpPr>
          <p:cNvPr id="13" name="legend-solid"/>
          <p:cNvCxnSpPr/>
          <p:nvPr/>
        </p:nvCxnSpPr>
        <p:spPr>
          <a:xfrm>
            <a:off x="4023360" y="6446520"/>
            <a:ext cx="384048" cy="0"/>
          </a:xfrm>
          <a:prstGeom prst="line">
            <a:avLst/>
          </a:prstGeom>
          <a:ln w="19050">
            <a:solidFill>
              <a:srgbClr val="1F3864"/>
            </a:solidFill>
          </a:ln>
        </p:spPr>
      </p:cxnSp>
      <p:sp>
        <p:nvSpPr>
          <p:cNvPr id="14" name="TextBox 13"/>
          <p:cNvSpPr txBox="1"/>
          <p:nvPr/>
        </p:nvSpPr>
        <p:spPr>
          <a:xfrm>
            <a:off x="4462272" y="6345936"/>
            <a:ext cx="20116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실선 = 확정(메일 합의·저장소 구현)</a:t>
            </a:r>
          </a:p>
        </p:txBody>
      </p:sp>
      <p:cxnSp>
        <p:nvCxnSpPr>
          <p:cNvPr id="15" name="legend-dash"/>
          <p:cNvCxnSpPr/>
          <p:nvPr/>
        </p:nvCxnSpPr>
        <p:spPr>
          <a:xfrm>
            <a:off x="6537960" y="6446520"/>
            <a:ext cx="384048" cy="0"/>
          </a:xfrm>
          <a:prstGeom prst="line">
            <a:avLst/>
          </a:prstGeom>
          <a:ln w="19050">
            <a:solidFill>
              <a:srgbClr val="C55A11"/>
            </a:solidFill>
            <a:prstDash val="dash"/>
          </a:ln>
        </p:spPr>
      </p:cxnSp>
      <p:sp>
        <p:nvSpPr>
          <p:cNvPr id="16" name="TextBox 15"/>
          <p:cNvSpPr txBox="1"/>
          <p:nvPr/>
        </p:nvSpPr>
        <p:spPr>
          <a:xfrm>
            <a:off x="6976872" y="6345936"/>
            <a:ext cx="96012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점선 = 계획·미정</a:t>
            </a:r>
          </a:p>
        </p:txBody>
      </p:sp>
      <p:sp>
        <p:nvSpPr>
          <p:cNvPr id="17" name="TextBox 16"/>
          <p:cNvSpPr txBox="1"/>
          <p:nvPr/>
        </p:nvSpPr>
        <p:spPr>
          <a:xfrm>
            <a:off x="8001000" y="6345936"/>
            <a:ext cx="1965960" cy="201168"/>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 충돌</a:t>
            </a:r>
            <a:r>
              <a:rPr sz="900" b="0" i="0" lang="ko-KR" altLang="en-US">
                <a:solidFill>
                  <a:srgbClr val="595959"/>
                </a:solidFill>
                <a:latin typeface="LG스마트체 Regular"/>
                <a:ea typeface="LG스마트체 Regular"/>
                <a:cs typeface="LG스마트체 Regular"/>
              </a:rPr>
              <a:t> = 메일↔코드 불일치</a:t>
            </a:r>
          </a:p>
        </p:txBody>
      </p:sp>
      <p:sp>
        <p:nvSpPr>
          <p:cNvPr id="18" name="Rounded Rectangle 17"/>
          <p:cNvSpPr/>
          <p:nvPr/>
        </p:nvSpPr>
        <p:spPr>
          <a:xfrm>
            <a:off x="10012680" y="6355080"/>
            <a:ext cx="384048" cy="182880"/>
          </a:xfrm>
          <a:prstGeom prst="roundRect">
            <a:avLst>
              <a:gd name="adj" fmla="val 25000"/>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19" name="TextBox 18"/>
          <p:cNvSpPr txBox="1"/>
          <p:nvPr/>
        </p:nvSpPr>
        <p:spPr>
          <a:xfrm>
            <a:off x="10451592" y="6345936"/>
            <a:ext cx="10972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 실측 전 추정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365 Copilot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