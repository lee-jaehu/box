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4"/>
    <p:sldMasterId id="2147483750" r:id="rId5"/>
    <p:sldMasterId id="2147483801" r:id="rId6"/>
    <p:sldMasterId id="2147483816" r:id="rId7"/>
  </p:sldMasterIdLst>
  <p:notesMasterIdLst>
    <p:notesMasterId r:id="rId13"/>
  </p:notesMasterIdLst>
  <p:handoutMasterIdLst>
    <p:handoutMasterId r:id="rId14"/>
  </p:handoutMasterIdLst>
  <p:sldIdLst>
    <p:sldId id="2147483646" r:id="rId11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8E98E05-D9BA-4219-A162-FB96285AA324}">
          <p14:sldIdLst>
            <p14:sldId id="2147483398"/>
            <p14:sldId id="2147483642"/>
            <p14:sldId id="2147483645"/>
            <p14:sldId id="2147483646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330" userDrawn="1">
          <p15:clr>
            <a:srgbClr val="A4A3A4"/>
          </p15:clr>
        </p15:guide>
        <p15:guide id="3" pos="19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FFCC"/>
    <a:srgbClr val="FFEBF1"/>
    <a:srgbClr val="FFE5ED"/>
    <a:srgbClr val="A50034"/>
    <a:srgbClr val="008000"/>
    <a:srgbClr val="FFF2CC"/>
    <a:srgbClr val="336600"/>
    <a:srgbClr val="00D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FF2B4-5C1D-4331-A7F1-685F66DAB3D4}" v="2583" dt="2026-10-07T11:15:29.115"/>
    <p1510:client id="{9DD473E9-E79E-4613-9FE5-637133150767}" v="3639" dt="2026-10-07T11:12:38.821"/>
    <p1510:client id="{E1BFB65E-8464-481E-81FB-867E9C9498A8}" v="2767" dt="2026-10-07T11:10:01.779"/>
    <p1510:client id="{E6EEE7BC-6626-48FA-BB6F-A68266CBE550}" v="60" dt="2026-10-08T01:04:14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95220" autoAdjust="0"/>
  </p:normalViewPr>
  <p:slideViewPr>
    <p:cSldViewPr snapToGrid="0">
      <p:cViewPr varScale="1">
        <p:scale>
          <a:sx n="102" d="100"/>
          <a:sy n="102" d="100"/>
        </p:scale>
        <p:origin x="1854" y="96"/>
      </p:cViewPr>
      <p:guideLst>
        <p:guide orient="horz" pos="414"/>
        <p:guide pos="330"/>
        <p:guide pos="19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1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재후(JAEHU LEE)[jaehu]/사원/제조DX.기획팀" userId="ba3706c8-877b-448c-835e-ccf5ef4fa863" providerId="ADAL" clId="{EB0AC694-04CC-4715-A9D6-D6F8023D52E7}"/>
    <pc:docChg chg="undo custSel modSld">
      <pc:chgData name="이재후(JAEHU LEE)[jaehu]/사원/제조DX.기획팀" userId="ba3706c8-877b-448c-835e-ccf5ef4fa863" providerId="ADAL" clId="{EB0AC694-04CC-4715-A9D6-D6F8023D52E7}" dt="2026-10-08T01:04:15.134" v="738" actId="20577"/>
      <pc:docMkLst>
        <pc:docMk/>
      </pc:docMkLst>
      <pc:sldChg chg="delSp modSp mod">
        <pc:chgData name="이재후(JAEHU LEE)[jaehu]/사원/제조DX.기획팀" userId="ba3706c8-877b-448c-835e-ccf5ef4fa863" providerId="ADAL" clId="{EB0AC694-04CC-4715-A9D6-D6F8023D52E7}" dt="2026-10-08T00:45:41.936" v="476" actId="1037"/>
        <pc:sldMkLst>
          <pc:docMk/>
          <pc:sldMk cId="2895833311" sldId="258"/>
        </pc:sldMkLst>
        <pc:spChg chg="mod">
          <ac:chgData name="이재후(JAEHU LEE)[jaehu]/사원/제조DX.기획팀" userId="ba3706c8-877b-448c-835e-ccf5ef4fa863" providerId="ADAL" clId="{EB0AC694-04CC-4715-A9D6-D6F8023D52E7}" dt="2026-10-08T00:37:20.615" v="123" actId="207"/>
          <ac:spMkLst>
            <pc:docMk/>
            <pc:sldMk cId="2895833311" sldId="258"/>
            <ac:spMk id="3" creationId="{DF101946-A843-E09E-AD49-091C2E9242F5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9" creationId="{432E5ADC-E855-7B42-D5F5-E7D6B2941F3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0" creationId="{A0F8D4EB-B845-ABA7-4467-14BCAAF9186A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7" creationId="{44BE1377-264F-4D2A-387C-7755F4238FCE}"/>
          </ac:spMkLst>
        </pc:spChg>
        <pc:spChg chg="mod topLvl">
          <ac:chgData name="이재후(JAEHU LEE)[jaehu]/사원/제조DX.기획팀" userId="ba3706c8-877b-448c-835e-ccf5ef4fa863" providerId="ADAL" clId="{EB0AC694-04CC-4715-A9D6-D6F8023D52E7}" dt="2026-10-08T00:45:29.787" v="459" actId="20577"/>
          <ac:spMkLst>
            <pc:docMk/>
            <pc:sldMk cId="2895833311" sldId="258"/>
            <ac:spMk id="19" creationId="{C37EA0FD-A7EA-288D-C609-89DF632450B4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20" creationId="{C7E4FAA0-A9F2-FE5E-3143-3B93C11779A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9:07.666" v="137"/>
          <ac:spMkLst>
            <pc:docMk/>
            <pc:sldMk cId="2895833311" sldId="258"/>
            <ac:spMk id="25" creationId="{2B5CFD60-32C7-DD4C-5E9E-4FD0209139D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26" creationId="{CA00C00D-364F-20F7-F1B2-10ABA6ECFF8E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35" creationId="{C36FEFC8-00D8-73E5-7401-F9E50C0DCEDE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37" creationId="{8205D06E-5E03-7D23-4F87-3711FBE80ADF}"/>
          </ac:spMkLst>
        </pc:spChg>
        <pc:spChg chg="mod topLvl">
          <ac:chgData name="이재후(JAEHU LEE)[jaehu]/사원/제조DX.기획팀" userId="ba3706c8-877b-448c-835e-ccf5ef4fa863" providerId="ADAL" clId="{EB0AC694-04CC-4715-A9D6-D6F8023D52E7}" dt="2026-10-08T00:43:40.018" v="429" actId="1076"/>
          <ac:spMkLst>
            <pc:docMk/>
            <pc:sldMk cId="2895833311" sldId="258"/>
            <ac:spMk id="39" creationId="{796D4B54-5565-DCDD-AE1A-28C1FAB8386F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47" creationId="{94B7EC40-8739-4E66-4CC3-5C80CCE6F72C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51" creationId="{3989C759-AF2A-5E29-287A-2981F449CAC8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040" creationId="{EA5B31CE-9B96-34C4-00E5-C8AA03E03790}"/>
          </ac:spMkLst>
        </pc:spChg>
        <pc:grpChg chg="del mod">
          <ac:chgData name="이재후(JAEHU LEE)[jaehu]/사원/제조DX.기획팀" userId="ba3706c8-877b-448c-835e-ccf5ef4fa863" providerId="ADAL" clId="{EB0AC694-04CC-4715-A9D6-D6F8023D52E7}" dt="2026-10-08T00:43:32.493" v="428" actId="165"/>
          <ac:grpSpMkLst>
            <pc:docMk/>
            <pc:sldMk cId="2895833311" sldId="258"/>
            <ac:grpSpMk id="38" creationId="{D14FDFA3-7D62-5DFC-0E08-48D203005E96}"/>
          </ac:grpSpMkLst>
        </pc:grpChg>
        <pc:graphicFrameChg chg="mod">
          <ac:chgData name="이재후(JAEHU LEE)[jaehu]/사원/제조DX.기획팀" userId="ba3706c8-877b-448c-835e-ccf5ef4fa863" providerId="ADAL" clId="{EB0AC694-04CC-4715-A9D6-D6F8023D52E7}" dt="2026-10-08T00:45:41.936" v="476" actId="1037"/>
          <ac:graphicFrameMkLst>
            <pc:docMk/>
            <pc:sldMk cId="2895833311" sldId="258"/>
            <ac:graphicFrameMk id="40" creationId="{AD3498EB-85A9-A32E-AB5D-7FB9CB313611}"/>
          </ac:graphicFrameMkLst>
        </pc:graphicFrameChg>
      </pc:sldChg>
      <pc:sldChg chg="modSp mod">
        <pc:chgData name="이재후(JAEHU LEE)[jaehu]/사원/제조DX.기획팀" userId="ba3706c8-877b-448c-835e-ccf5ef4fa863" providerId="ADAL" clId="{EB0AC694-04CC-4715-A9D6-D6F8023D52E7}" dt="2026-10-08T00:58:06.718" v="697" actId="20577"/>
        <pc:sldMkLst>
          <pc:docMk/>
          <pc:sldMk cId="55638452" sldId="2147483398"/>
        </pc:sldMkLst>
        <pc:spChg chg="mod">
          <ac:chgData name="이재후(JAEHU LEE)[jaehu]/사원/제조DX.기획팀" userId="ba3706c8-877b-448c-835e-ccf5ef4fa863" providerId="ADAL" clId="{EB0AC694-04CC-4715-A9D6-D6F8023D52E7}" dt="2026-10-08T00:58:06.718" v="697" actId="20577"/>
          <ac:spMkLst>
            <pc:docMk/>
            <pc:sldMk cId="55638452" sldId="2147483398"/>
            <ac:spMk id="5" creationId="{4722EFD3-4DD4-B898-90AF-8C881647D3A4}"/>
          </ac:spMkLst>
        </pc:spChg>
      </pc:sldChg>
      <pc:sldChg chg="addSp delSp modSp mod">
        <pc:chgData name="이재후(JAEHU LEE)[jaehu]/사원/제조DX.기획팀" userId="ba3706c8-877b-448c-835e-ccf5ef4fa863" providerId="ADAL" clId="{EB0AC694-04CC-4715-A9D6-D6F8023D52E7}" dt="2026-10-08T00:34:25.909" v="63"/>
        <pc:sldMkLst>
          <pc:docMk/>
          <pc:sldMk cId="957553680" sldId="2147483642"/>
        </pc:sldMkLst>
        <pc:spChg chg="add del">
          <ac:chgData name="이재후(JAEHU LEE)[jaehu]/사원/제조DX.기획팀" userId="ba3706c8-877b-448c-835e-ccf5ef4fa863" providerId="ADAL" clId="{EB0AC694-04CC-4715-A9D6-D6F8023D52E7}" dt="2026-10-08T00:33:55.267" v="28" actId="478"/>
          <ac:spMkLst>
            <pc:docMk/>
            <pc:sldMk cId="957553680" sldId="2147483642"/>
            <ac:spMk id="2" creationId="{91E1AA19-DD5E-92DE-FB4A-ADBDAE0ED093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4:25.909" v="63"/>
          <ac:spMkLst>
            <pc:docMk/>
            <pc:sldMk cId="957553680" sldId="2147483642"/>
            <ac:spMk id="3" creationId="{8BDEB447-6F86-E577-85AA-C75CCDB14A1C}"/>
          </ac:spMkLst>
        </pc:spChg>
        <pc:spChg chg="del">
          <ac:chgData name="이재후(JAEHU LEE)[jaehu]/사원/제조DX.기획팀" userId="ba3706c8-877b-448c-835e-ccf5ef4fa863" providerId="ADAL" clId="{EB0AC694-04CC-4715-A9D6-D6F8023D52E7}" dt="2026-10-08T00:33:52.549" v="27" actId="478"/>
          <ac:spMkLst>
            <pc:docMk/>
            <pc:sldMk cId="957553680" sldId="2147483642"/>
            <ac:spMk id="4" creationId="{E8422D62-EC65-ADBE-DB96-0BB48D35BB45}"/>
          </ac:spMkLst>
        </pc:spChg>
        <pc:spChg chg="del">
          <ac:chgData name="이재후(JAEHU LEE)[jaehu]/사원/제조DX.기획팀" userId="ba3706c8-877b-448c-835e-ccf5ef4fa863" providerId="ADAL" clId="{EB0AC694-04CC-4715-A9D6-D6F8023D52E7}" dt="2026-10-08T00:34:07.154" v="44" actId="478"/>
          <ac:spMkLst>
            <pc:docMk/>
            <pc:sldMk cId="957553680" sldId="2147483642"/>
            <ac:spMk id="5" creationId="{003F8B83-BF00-2F8A-41AB-A8B5BBEB95BE}"/>
          </ac:spMkLst>
        </pc:spChg>
      </pc:sldChg>
      <pc:sldChg chg="addSp delSp modSp mod">
        <pc:chgData name="이재후(JAEHU LEE)[jaehu]/사원/제조DX.기획팀" userId="ba3706c8-877b-448c-835e-ccf5ef4fa863" providerId="ADAL" clId="{EB0AC694-04CC-4715-A9D6-D6F8023D52E7}" dt="2026-10-08T00:58:42.484" v="724" actId="20577"/>
        <pc:sldMkLst>
          <pc:docMk/>
          <pc:sldMk cId="938288430" sldId="2147483645"/>
        </pc:sldMkLst>
        <pc:spChg chg="del">
          <ac:chgData name="이재후(JAEHU LEE)[jaehu]/사원/제조DX.기획팀" userId="ba3706c8-877b-448c-835e-ccf5ef4fa863" providerId="ADAL" clId="{EB0AC694-04CC-4715-A9D6-D6F8023D52E7}" dt="2026-10-08T00:34:51.306" v="95" actId="478"/>
          <ac:spMkLst>
            <pc:docMk/>
            <pc:sldMk cId="938288430" sldId="2147483645"/>
            <ac:spMk id="4" creationId="{B2F7A1C3-73D7-1B09-3CD2-3555CBF6A24D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54:58.885" v="695" actId="20577"/>
          <ac:spMkLst>
            <pc:docMk/>
            <pc:sldMk cId="938288430" sldId="2147483645"/>
            <ac:spMk id="5" creationId="{99D6EFEB-27F4-B1D8-C658-DBAD55D399C4}"/>
          </ac:spMkLst>
        </pc:spChg>
        <pc:spChg chg="del">
          <ac:chgData name="이재후(JAEHU LEE)[jaehu]/사원/제조DX.기획팀" userId="ba3706c8-877b-448c-835e-ccf5ef4fa863" providerId="ADAL" clId="{EB0AC694-04CC-4715-A9D6-D6F8023D52E7}" dt="2026-10-08T00:34:51.306" v="95" actId="478"/>
          <ac:spMkLst>
            <pc:docMk/>
            <pc:sldMk cId="938288430" sldId="2147483645"/>
            <ac:spMk id="7" creationId="{7B0145A3-4F02-097B-EAB4-D6C2F8FA3A34}"/>
          </ac:spMkLst>
        </pc:spChg>
        <pc:spChg chg="add mod">
          <ac:chgData name="이재후(JAEHU LEE)[jaehu]/사원/제조DX.기획팀" userId="ba3706c8-877b-448c-835e-ccf5ef4fa863" providerId="ADAL" clId="{EB0AC694-04CC-4715-A9D6-D6F8023D52E7}" dt="2026-10-08T00:53:09.656" v="666" actId="5793"/>
          <ac:spMkLst>
            <pc:docMk/>
            <pc:sldMk cId="938288430" sldId="2147483645"/>
            <ac:spMk id="8" creationId="{DFF94DD4-6EE0-13BA-2ACB-BCD169DCE37F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7:58.953" v="479"/>
          <ac:spMkLst>
            <pc:docMk/>
            <pc:sldMk cId="938288430" sldId="2147483645"/>
            <ac:spMk id="81" creationId="{04B2EA46-57FB-AEA6-894E-6A90B5186BB3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58:42.484" v="724" actId="20577"/>
          <ac:spMkLst>
            <pc:docMk/>
            <pc:sldMk cId="938288430" sldId="2147483645"/>
            <ac:spMk id="89" creationId="{B564B28B-F453-7C3E-8EC3-F474F468058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5:51.701" v="98" actId="207"/>
          <ac:spMkLst>
            <pc:docMk/>
            <pc:sldMk cId="938288430" sldId="2147483645"/>
            <ac:spMk id="101" creationId="{DFAE9C43-D00F-16A2-5C36-E263024D0B97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5:51.701" v="98" actId="207"/>
          <ac:spMkLst>
            <pc:docMk/>
            <pc:sldMk cId="938288430" sldId="2147483645"/>
            <ac:spMk id="103" creationId="{F26EE14F-E023-7386-D812-FA20B814C0E9}"/>
          </ac:spMkLst>
        </pc:spChg>
        <pc:cxnChg chg="mod">
          <ac:chgData name="이재후(JAEHU LEE)[jaehu]/사원/제조DX.기획팀" userId="ba3706c8-877b-448c-835e-ccf5ef4fa863" providerId="ADAL" clId="{EB0AC694-04CC-4715-A9D6-D6F8023D52E7}" dt="2026-10-08T00:49:40.383" v="480" actId="14100"/>
          <ac:cxnSpMkLst>
            <pc:docMk/>
            <pc:sldMk cId="938288430" sldId="2147483645"/>
            <ac:cxnSpMk id="24" creationId="{1EF63E34-58C7-8570-EA00-50107C760358}"/>
          </ac:cxnSpMkLst>
        </pc:cxnChg>
      </pc:sldChg>
      <pc:sldChg chg="modSp mod">
        <pc:chgData name="이재후(JAEHU LEE)[jaehu]/사원/제조DX.기획팀" userId="ba3706c8-877b-448c-835e-ccf5ef4fa863" providerId="ADAL" clId="{EB0AC694-04CC-4715-A9D6-D6F8023D52E7}" dt="2026-10-08T01:04:15.134" v="738" actId="20577"/>
        <pc:sldMkLst>
          <pc:docMk/>
          <pc:sldMk cId="3317206041" sldId="2147483646"/>
        </pc:sldMkLst>
        <pc:spChg chg="mod">
          <ac:chgData name="이재후(JAEHU LEE)[jaehu]/사원/제조DX.기획팀" userId="ba3706c8-877b-448c-835e-ccf5ef4fa863" providerId="ADAL" clId="{EB0AC694-04CC-4715-A9D6-D6F8023D52E7}" dt="2026-10-08T00:36:44.775" v="110" actId="20577"/>
          <ac:spMkLst>
            <pc:docMk/>
            <pc:sldMk cId="3317206041" sldId="2147483646"/>
            <ac:spMk id="5" creationId="{0C2942AF-7EDF-7ABA-D99D-C54C20DA9DF0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6:56.824" v="119" actId="13926"/>
          <ac:spMkLst>
            <pc:docMk/>
            <pc:sldMk cId="3317206041" sldId="2147483646"/>
            <ac:spMk id="18" creationId="{0DFA092C-D24C-A3A7-287D-0F9B893A6973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6:56.824" v="119" actId="13926"/>
          <ac:spMkLst>
            <pc:docMk/>
            <pc:sldMk cId="3317206041" sldId="2147483646"/>
            <ac:spMk id="34" creationId="{7D59F9BB-954E-5081-7CB1-BE18B03CAB89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6:56.824" v="119" actId="13926"/>
          <ac:spMkLst>
            <pc:docMk/>
            <pc:sldMk cId="3317206041" sldId="2147483646"/>
            <ac:spMk id="37" creationId="{838D591E-27FE-1D09-70F6-6030A70B49D9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7:09.747" v="121" actId="207"/>
          <ac:spMkLst>
            <pc:docMk/>
            <pc:sldMk cId="3317206041" sldId="2147483646"/>
            <ac:spMk id="40" creationId="{D7D01F44-1F3E-9FAB-58E8-FF3864E4B527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1:04:15.134" v="738" actId="20577"/>
          <ac:spMkLst>
            <pc:docMk/>
            <pc:sldMk cId="3317206041" sldId="2147483646"/>
            <ac:spMk id="89" creationId="{B23408D3-1844-806D-837F-5BC907726D42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7947D6C-E730-4DCE-9BA2-6911D36B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976F7F-AB9B-473C-8D1C-0F5C0AB6A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4491C-D25C-44EA-895B-6873C2D79C61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A95FF-0203-467F-8B6F-BB06FA4046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A3EB66-47F0-41FE-AFAB-9571FD7058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7264-A99F-45E6-B047-FB899C323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95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27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[30초 멘트] "10/8에는 '웹에 쓰면 주간보고 PPT가 나오는 구조'를 보고드렸습니다. 지금은 한 번 기록하면 할 일·이슈 추적, 주간보고·팀장 요약, 완료·분석 보고까지 같은 기록에서 나옵니다. 10/15부터 4개 팀 17명이 쓰고 있고 의견 17건을 받아 반영했습니다. 다만 완료·분석 같은 새 보고서는 가상 데이터로만 확인했고, 반영한 수정도 사용자 재확인 전입니다. 다음은 실제 주간보고 한 사이클로 효과를 확인하고, 회사 서버로 옮겨 운영하는 것입니다."</a:t>
            </a:r>
          </a:p>
          <a:p/>
          <a:p>
            <a:r>
              <a:t>[숫자별 정의·출처]</a:t>
            </a:r>
          </a:p>
          <a:p>
            <a:r>
              <a:t>- 17명: Teams【AI 활용 보고서 작성 PoC】 채팅방 멤버 19명(2026-10-26 조회) 중 개발자 2명(이재후·우정주) 제외. 4개 팀 = 공정DX·설비DX·DAVINCI·품질DX. 시작 10-15(채팅방 개설·접속 안내). 실제 기록 작성 인원은 운영 DB 미확보로 미확인.</a:t>
            </a:r>
          </a:p>
          <a:p>
            <a:r>
              <a:t>- 17건: VoE 등록부 = 참여자 Teams 직접 의견 9 + 우정주 경유 3 + 10-19 설명회 정리 5. 사용자 확인 2, 구현·재확인 전 12, 조치 기록 미확인 1, 검토 전 1, 해당 없음 1. 개발자 발견 6건 제외. VoE 게시판 0건.</a:t>
            </a:r>
          </a:p>
          <a:p>
            <a:r>
              <a:t>- 1→8종: 10/8 장표 '3. 구현 방안'에서 주간업무만 구현, CDO·완료 보고는 '추후 구현'. 현재 PoC에서 쓰는 4종 = 주간·월간(기간)·팀장 요약·경영진 1장(docs/06). 구현 4종 = 완료(I50·담당별 I56)·분석(I76)·성과 Summary(F03)·투자제안(docs/26, I78). 구현 4종은 가상 데이터·자동 테스트로만 확인. '종' 구분은 이 장표의 정의이며 담당별 양식(F01~F09)은 묶어서 셈.</a:t>
            </a:r>
          </a:p>
          <a:p>
            <a:r>
              <a:t>- DB 기반 숫자(기록 건수·활성 작성자·보고서 생성 건수)는 운영 서버 DB 미확보로 넣지 않음.</a:t>
            </a:r>
          </a:p>
          <a:p/>
          <a:p>
            <a:r>
              <a:t>[화면별 출처·캡처 시점] 모두 저장소 docs/presentation/images (커밋 20cf073 압축본, 파일 시각 2026-10-22), 가상 조직·프로젝트 데이터. 운영 서버(8000) 현재 화면과 같은지는 미확인.</a:t>
            </a:r>
          </a:p>
          <a:p>
            <a:r>
              <a:t> ① day_16.png (기록 화면, 상단 일부 자름) ② trackers_new.png (To-Do·Issue) ③ ppt_weekly.png (주간보고 PPT) ④ ppt_image_1.png (완료 보고 PPT 1쪽).</a:t>
            </a:r>
          </a:p>
          <a:p>
            <a:r>
              <a:t> 주석 근거: ① I45·I60 ② I64·I65·I67 ③ docs/06(AI는 문장, 코드가 수치·일정·분량 검사) ④ I50·I56·I76.</a:t>
            </a:r>
          </a:p>
          <a:p/>
          <a:p>
            <a:r>
              <a:t>[길(로드맵) 근거] 10/8 = 첨부 10/8 장표. 현재 = PoC 10-15~. 실제 주간보고 1사이클 = 기존 장표의 결정 요청. 회사 서버 = DAVINCI 메일(10-19~21) 협의, 미구축. 그룹 확대 = 효과·운영 근거 확보 후 판단. 날짜는 근거 없어 표시하지 않음.</a:t>
            </a:r>
          </a:p>
          <a:p>
            <a:r>
              <a:t>[막힌 것] 운영 인력: 이정원 팀장 통화(10-20, 구두). 회사 서버: Sandbox 할당·NAS 역할 미회신. 실데이터 품질·업무 시간 효과: 측정 자료 없음.</a:t>
            </a:r>
          </a:p>
          <a:p/>
          <a:p>
            <a:r>
              <a:t>[예상 질문]</a:t>
            </a:r>
          </a:p>
          <a:p>
            <a:r>
              <a:t>Q 언제 끝나나? → 확정 일정 없음. 11월 이후 진행은 팀장님과 협의 중. 회사 서버는 DAVINCI 할당 회신 후.</a:t>
            </a:r>
          </a:p>
          <a:p>
            <a:r>
              <a:t>Q 실제로 쓰나? → 4개 팀 17명이 PoC에 참여, 직접 의견 3명·17건. 주별 실제 작성 인원은 DB 집계 전이라 답하지 않음.</a:t>
            </a:r>
          </a:p>
          <a:p>
            <a:r>
              <a:t>Q 효과는? → 측정 전. 실제 주간보고 1사이클에서 작성자·검토자 시간과 원문 대비 품질을 측정할 계획. 수치 추정은 하지 않음.</a:t>
            </a:r>
          </a:p>
          <a:p/>
          <a:p>
            <a:r>
              <a:t>[다른 장표와 일치] VoE 장표: 17건·재확인 전 12건·사용자 확인 2건 동일. 아키텍처 장표: 회사 서버 미구축·운영 인력 지원 불가(구두) 동일.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15414478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slideMaster" Target="../slideMasters/slideMaster4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표지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2504660" y="5517290"/>
            <a:ext cx="5087031" cy="64809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 baseline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2" name="텍스트 개체 틀 13"/>
          <p:cNvSpPr>
            <a:spLocks noGrp="1"/>
          </p:cNvSpPr>
          <p:nvPr>
            <p:ph type="body" sz="quarter" idx="15"/>
          </p:nvPr>
        </p:nvSpPr>
        <p:spPr>
          <a:xfrm>
            <a:off x="2777100" y="2492870"/>
            <a:ext cx="4381830" cy="28804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342900" indent="-342900" algn="ctr">
              <a:lnSpc>
                <a:spcPct val="150000"/>
              </a:lnSpc>
              <a:buFont typeface="+mj-lt"/>
              <a:buAutoNum type="arabicPeriod"/>
              <a:defRPr kumimoji="1" lang="ko-KR" altLang="en-US" sz="2000" b="1" smtClean="0"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defRPr>
            </a:lvl1pPr>
            <a:lvl2pPr marL="355600" indent="-177800" algn="ctr">
              <a:defRPr lang="ko-KR" altLang="en-US" sz="1400" smtClean="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3" name="제목 1"/>
          <p:cNvSpPr>
            <a:spLocks noGrp="1"/>
          </p:cNvSpPr>
          <p:nvPr>
            <p:ph type="ctrTitle"/>
          </p:nvPr>
        </p:nvSpPr>
        <p:spPr>
          <a:xfrm>
            <a:off x="1439525" y="1174425"/>
            <a:ext cx="7056980" cy="8143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ctr">
              <a:defRPr kumimoji="1" lang="ko-KR" altLang="en-US" sz="4000" baseline="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1784560" y="2132820"/>
            <a:ext cx="635814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09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44488" y="836712"/>
            <a:ext cx="9217024" cy="720080"/>
          </a:xfrm>
          <a:prstGeom prst="rect">
            <a:avLst/>
          </a:prstGeom>
        </p:spPr>
        <p:txBody>
          <a:bodyPr>
            <a:normAutofit/>
          </a:bodyPr>
          <a:lstStyle>
            <a:lvl1pPr marL="174625" indent="-174625">
              <a:buNone/>
              <a:defRPr lang="ko-KR" altLang="en-US" sz="1800" b="0" baseline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lvl="0" indent="0" defTabSz="180000">
              <a:tabLst>
                <a:tab pos="90000" algn="l"/>
              </a:tabLst>
            </a:pPr>
            <a:r>
              <a:rPr lang="en-US" altLang="ko-KR"/>
              <a:t>Header Message </a:t>
            </a:r>
            <a:r>
              <a:rPr lang="ko-KR" altLang="en-US"/>
              <a:t>입력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7150" y="95252"/>
            <a:ext cx="7348538" cy="431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슬라이드 주제</a:t>
            </a:r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6" hasCustomPrompt="1"/>
          </p:nvPr>
        </p:nvSpPr>
        <p:spPr>
          <a:xfrm>
            <a:off x="344488" y="1844675"/>
            <a:ext cx="9217025" cy="15843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  <a:lvl2pPr marL="363538" indent="-192088">
              <a:buFont typeface="맑은 고딕" panose="020B0503020000020004" pitchFamily="50" charset="-127"/>
              <a:buChar char="－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 marL="631825" indent="-185738">
              <a:buFont typeface="맑은 고딕" panose="020B0503020000020004" pitchFamily="50" charset="-127"/>
              <a:buChar char=".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 marL="714375" indent="-173038">
              <a:buFontTx/>
              <a:buNone/>
              <a:tabLst>
                <a:tab pos="266700" algn="l"/>
              </a:tabLst>
              <a:defRPr/>
            </a:lvl4pPr>
            <a:lvl5pPr marL="896938" indent="-174625">
              <a:defRPr/>
            </a:lvl5pPr>
          </a:lstStyle>
          <a:p>
            <a:pPr lvl="0"/>
            <a:r>
              <a:rPr lang="ko-KR" altLang="en-US"/>
              <a:t>첫째 수준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8" name="Rectangle 504"/>
          <p:cNvSpPr>
            <a:spLocks noChangeArrowheads="1"/>
          </p:cNvSpPr>
          <p:nvPr/>
        </p:nvSpPr>
        <p:spPr bwMode="auto">
          <a:xfrm>
            <a:off x="4583113" y="6628130"/>
            <a:ext cx="730250" cy="204641"/>
          </a:xfrm>
          <a:prstGeom prst="rect">
            <a:avLst/>
          </a:prstGeom>
          <a:noFill/>
          <a:ln>
            <a:noFill/>
          </a:ln>
        </p:spPr>
        <p:txBody>
          <a:bodyPr lIns="59131" tIns="25131" rIns="59131" bIns="25131" anchor="b">
            <a:spAutoFit/>
          </a:bodyPr>
          <a:lstStyle/>
          <a:p>
            <a:pPr marL="0" marR="0" lvl="0" indent="0" algn="ctr" defTabSz="860425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B0C5C4-9219-4906-8237-00BF209BDA3C}" type="slidenum">
              <a:rPr kumimoji="0" lang="en-GB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rPr>
              <a:pPr marL="0" marR="0" lvl="0" indent="0" algn="ctr" defTabSz="860425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GB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rPr>
              <a:t>/11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0610"/>
            <a:ext cx="990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2427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첨부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344488" y="836712"/>
            <a:ext cx="9217024" cy="72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ko-KR" altLang="en-US" sz="1800" b="0" baseline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lvl="0" indent="0" defTabSz="180000">
              <a:buNone/>
              <a:tabLst>
                <a:tab pos="90000" algn="l"/>
              </a:tabLst>
            </a:pPr>
            <a:endParaRPr lang="ko-KR" altLang="en-US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6" hasCustomPrompt="1"/>
          </p:nvPr>
        </p:nvSpPr>
        <p:spPr>
          <a:xfrm>
            <a:off x="344488" y="1844675"/>
            <a:ext cx="9217025" cy="15843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  <a:lvl2pPr marL="363538" indent="-192088">
              <a:buFont typeface="맑은 고딕" panose="020B0503020000020004" pitchFamily="50" charset="-127"/>
              <a:buChar char="－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 marL="631825" indent="-185738">
              <a:buFont typeface="맑은 고딕" panose="020B0503020000020004" pitchFamily="50" charset="-127"/>
              <a:buChar char=".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 marL="714375" indent="-173038">
              <a:buFontTx/>
              <a:buNone/>
              <a:tabLst>
                <a:tab pos="266700" algn="l"/>
              </a:tabLst>
              <a:defRPr/>
            </a:lvl4pPr>
            <a:lvl5pPr marL="896938" indent="-174625">
              <a:defRPr/>
            </a:lvl5pPr>
          </a:lstStyle>
          <a:p>
            <a:pPr lvl="0"/>
            <a:r>
              <a:rPr lang="ko-KR" altLang="en-US"/>
              <a:t>첫째 수준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57150" y="95252"/>
            <a:ext cx="7348538" cy="431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슬라이드 주제</a:t>
            </a:r>
          </a:p>
        </p:txBody>
      </p:sp>
    </p:spTree>
    <p:extLst>
      <p:ext uri="{BB962C8B-B14F-4D97-AF65-F5344CB8AC3E}">
        <p14:creationId xmlns:p14="http://schemas.microsoft.com/office/powerpoint/2010/main" val="4121569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50751" y="1863715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</p:nvPr>
        </p:nvSpPr>
        <p:spPr>
          <a:xfrm>
            <a:off x="1208088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</p:nvPr>
        </p:nvSpPr>
        <p:spPr>
          <a:xfrm>
            <a:off x="1208088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6531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5213" y="1917166"/>
            <a:ext cx="7848227" cy="523220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 algn="l"/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1208088" y="2564904"/>
            <a:ext cx="7705725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42168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  <p:sp>
        <p:nvSpPr>
          <p:cNvPr id="9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chemeClr val="tx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chemeClr val="tx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5" name="직사각형 14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9384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9765" y="170929"/>
            <a:ext cx="9516209" cy="3693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800" b="1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 algn="l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0026" y="620713"/>
            <a:ext cx="9303872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  <p:sp>
        <p:nvSpPr>
          <p:cNvPr id="12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595959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595959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200025" y="544512"/>
            <a:ext cx="950595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200026" y="6654879"/>
            <a:ext cx="950594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81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82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운영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98445" y="126934"/>
            <a:ext cx="3922267" cy="276999"/>
          </a:xfrm>
        </p:spPr>
        <p:txBody>
          <a:bodyPr/>
          <a:lstStyle>
            <a:lvl1pPr>
              <a:defRPr kumimoji="1" lang="ko-KR" altLang="en-US" b="1" baseline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57223" rtl="0" eaLnBrk="0" fontAlgn="base" latinLnBrk="1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556956" y="6547624"/>
            <a:ext cx="1103611" cy="301756"/>
          </a:xfrm>
          <a:prstGeom prst="rect">
            <a:avLst/>
          </a:prstGeom>
        </p:spPr>
        <p:txBody>
          <a:bodyPr anchor="ctr"/>
          <a:lstStyle>
            <a:lvl1pPr algn="ctr">
              <a:defRPr sz="105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362048-7B1C-4B55-8A37-79D9EC7A1060}" type="slidenum"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66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000" y="134866"/>
            <a:ext cx="2513830" cy="346377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algn="l">
              <a:defRPr sz="1834" b="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37313" y="6620032"/>
            <a:ext cx="554960" cy="23346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sz="917"/>
            </a:lvl1pPr>
          </a:lstStyle>
          <a:p>
            <a:fld id="{ACAB217B-35B1-4471-9515-6F5B701085CD}" type="slidenum">
              <a:rPr lang="ko-KR" altLang="en-US" b="1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10</a:t>
            </a:r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2701" y="581025"/>
            <a:ext cx="9864725" cy="57150"/>
          </a:xfrm>
          <a:prstGeom prst="rect">
            <a:avLst/>
          </a:prstGeom>
          <a:gradFill rotWithShape="1">
            <a:gsLst>
              <a:gs pos="0">
                <a:srgbClr val="CC0066"/>
              </a:gs>
              <a:gs pos="100000">
                <a:srgbClr val="FF9933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Tx/>
              <a:buChar char="•"/>
              <a:defRPr/>
            </a:pPr>
            <a:endParaRPr lang="ko-KR" altLang="en-US" sz="1468">
              <a:solidFill>
                <a:srgbClr val="000000"/>
              </a:solidFill>
              <a:latin typeface="LG스마트체 Light" pitchFamily="50" charset="-127"/>
              <a:ea typeface="LG스마트체 Light" pitchFamily="50" charset="-127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1136579" y="6616168"/>
            <a:ext cx="85693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buFontTx/>
              <a:buChar char="•"/>
              <a:defRPr/>
            </a:pPr>
            <a:endParaRPr lang="ko-KR" altLang="en-US" sz="1468">
              <a:solidFill>
                <a:srgbClr val="000000"/>
              </a:solidFill>
              <a:latin typeface="LG스마트체 Light" pitchFamily="50" charset="-127"/>
              <a:ea typeface="LG스마트체 Light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1" y="6472168"/>
            <a:ext cx="1494373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0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레이아웃-넓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C5BCFE-DAD4-4E0D-9DDF-89EFA9796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30871" y="6527741"/>
            <a:ext cx="436907" cy="295352"/>
          </a:xfrm>
          <a:prstGeom prst="rect">
            <a:avLst/>
          </a:prstGeom>
        </p:spPr>
        <p:txBody>
          <a:bodyPr/>
          <a:lstStyle>
            <a:lvl1pPr>
              <a:defRPr sz="96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D381A16-2548-442C-AEBC-79FF11B79076}" type="slidenum">
              <a:rPr lang="ko-KR" altLang="en-US" smtClean="0"/>
              <a:pPr/>
              <a:t>‹#›</a:t>
            </a:fld>
            <a:r>
              <a:rPr lang="en-US" altLang="ko-KR"/>
              <a:t>/3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71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72848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8F9AC-8204-46FA-B808-449C59A80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91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43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35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22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070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303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219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091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441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219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370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26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7"/>
            <a:ext cx="7189342" cy="535531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5" y="6660776"/>
            <a:ext cx="1015013" cy="2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799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799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799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799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91" y="2565402"/>
            <a:ext cx="6961187" cy="2862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79" indent="0">
              <a:buNone/>
              <a:defRPr lang="ko-KR" altLang="en-US" smtClean="0"/>
            </a:lvl2pPr>
            <a:lvl3pPr marL="914356" indent="0">
              <a:buNone/>
              <a:defRPr lang="ko-KR" altLang="en-US" smtClean="0"/>
            </a:lvl3pPr>
            <a:lvl4pPr marL="1371535" indent="0">
              <a:buNone/>
              <a:defRPr lang="ko-KR" altLang="en-US" smtClean="0"/>
            </a:lvl4pPr>
            <a:lvl5pPr marL="1828713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90" y="5176205"/>
            <a:ext cx="6960333" cy="2862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79" indent="0">
              <a:buNone/>
              <a:defRPr lang="ko-KR" altLang="en-US" smtClean="0"/>
            </a:lvl2pPr>
            <a:lvl3pPr marL="914356" indent="0">
              <a:buNone/>
              <a:defRPr lang="ko-KR" altLang="en-US" smtClean="0"/>
            </a:lvl3pPr>
            <a:lvl4pPr marL="1371535" indent="0">
              <a:buNone/>
              <a:defRPr lang="ko-KR" altLang="en-US" smtClean="0"/>
            </a:lvl4pPr>
            <a:lvl5pPr marL="1828713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6" y="188916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2" y="6677893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5224831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291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4406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5301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650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72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575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067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93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356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454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7362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83013" y="6356352"/>
            <a:ext cx="2228850" cy="365125"/>
          </a:xfrm>
        </p:spPr>
        <p:txBody>
          <a:bodyPr/>
          <a:lstStyle>
            <a:lvl1pPr algn="ctr">
              <a:defRPr/>
            </a:lvl1pPr>
          </a:lstStyle>
          <a:p>
            <a:fld id="{CCA55350-D3D9-4460-888F-3541010D2F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333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0941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5571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013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839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5901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397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803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726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0734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865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2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386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2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5748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60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</p:sldLayoutIdLst>
  <p:hf sldNum="0"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lang="ko-KR" altLang="en-US" sz="2000" b="1" kern="1200" baseline="0">
          <a:solidFill>
            <a:schemeClr val="bg1"/>
          </a:solidFill>
          <a:latin typeface="Arial" pitchFamily="34" charset="0"/>
          <a:ea typeface="돋움" pitchFamily="50" charset="-127"/>
          <a:cs typeface="Arial" pitchFamily="34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9pPr>
    </p:titleStyle>
    <p:bodyStyle>
      <a:lvl1pPr marL="174625" indent="-174625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ko-KR" alt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192088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AutoNum type="arabicPeriod"/>
        <a:tabLst>
          <a:tab pos="93663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3538" indent="-188913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tabLst>
          <a:tab pos="174625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444500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tabLst>
          <a:tab pos="26828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538163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tabLst>
          <a:tab pos="36353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7135" y="6633855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9" r:id="rId6"/>
    <p:sldLayoutId id="2147483761" r:id="rId7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2CE39-3A3D-47C9-8337-D19B89C86E93}" type="datetimeFigureOut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2026-10-08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8F9AC-8204-46FA-B808-449C59A80C80}" type="slidenum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42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FAC7D-4F72-4E9B-8650-020751DE0B7B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46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microsoft.com/office/2007/relationships/hdphoto" Target="../media/hdphoto1.wdp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82EE-741C-3ADC-F299-8D53C4ED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C2942AF-7EDF-7ABA-D99D-C54C20DA9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6473081" cy="369332"/>
          </a:xfrm>
        </p:spPr>
        <p:txBody>
          <a:bodyPr/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 프로젝트 진행 현황 (10/8 보고 대비)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7AD72-5ADF-BBD9-76AE-297B5292F0DC}"/>
              </a:ext>
            </a:extLst>
          </p:cNvPr>
          <p:cNvSpPr txBox="1"/>
          <p:nvPr/>
        </p:nvSpPr>
        <p:spPr>
          <a:xfrm>
            <a:off x="7905328" y="228806"/>
            <a:ext cx="1827110" cy="2796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</a:t>
            </a:r>
            <a:endParaRPr kumimoji="1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23408D3-1844-806D-837F-5BC907726D42}"/>
              </a:ext>
            </a:extLst>
          </p:cNvPr>
          <p:cNvSpPr txBox="1"/>
          <p:nvPr/>
        </p:nvSpPr>
        <p:spPr>
          <a:xfrm>
            <a:off x="175719" y="566928"/>
            <a:ext cx="9610172" cy="56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 b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10/8 ‘주간보고 1종’ 구상 → 현재 </a:t>
            </a:r>
            <a:r>
              <a:rPr kumimoji="0" lang="ko-KR" altLang="en-US" sz="1400" i="0" u="none" strike="noStrike" kern="1200" cap="none" spc="0" normalizeH="0" baseline="0" noProof="0" dirty="0" b="1">
                <a:solidFill>
                  <a:srgbClr val="1F3864"/>
                </a:solidFill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한 번의 기록으로 8종 보고서</a:t>
            </a:r>
            <a:r>
              <a:rPr kumimoji="0" lang="ko-KR" altLang="en-US" sz="1400" i="0" u="none" strike="noStrike" kern="1200" cap="none" spc="0" normalizeH="0" baseline="0" noProof="0" dirty="0" b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400" i="0" u="none" strike="noStrike" kern="1200" cap="none" spc="0" normalizeH="0" baseline="0" noProof="0" dirty="0" b="1">
                <a:solidFill>
                  <a:srgbClr val="1F3864"/>
                </a:solidFill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PoC 4개 팀 17명 사용 중</a:t>
            </a:r>
            <a:br/>
            <a:r>
              <a:rPr kumimoji="0" lang="ko-KR" altLang="en-US" sz="1400" i="0" u="none" strike="noStrike" kern="1200" cap="none" spc="0" normalizeH="0" baseline="0" noProof="0" dirty="0" b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남은 것은 </a:t>
            </a:r>
            <a:r>
              <a:rPr kumimoji="0" lang="ko-KR" altLang="en-US" sz="1400" i="0" u="none" strike="noStrike" kern="1200" cap="none" spc="0" normalizeH="0" baseline="0" noProof="0" dirty="0" b="1">
                <a:solidFill>
                  <a:srgbClr val="C55A11"/>
                </a:solidFill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실제 업무에서의 효과 확인</a:t>
            </a:r>
            <a:r>
              <a:rPr kumimoji="0" lang="ko-KR" altLang="en-US" sz="1400" i="0" u="none" strike="noStrike" kern="1200" cap="none" spc="0" normalizeH="0" baseline="0" noProof="0" dirty="0" b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 </a:t>
            </a:r>
            <a:r>
              <a:rPr kumimoji="0" lang="ko-KR" altLang="en-US" sz="1400" i="0" u="none" strike="noStrike" kern="1200" cap="none" spc="0" normalizeH="0" baseline="0" noProof="0" dirty="0" b="1">
                <a:solidFill>
                  <a:srgbClr val="C55A11"/>
                </a:solidFill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회사 서버 운영</a:t>
            </a: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421D5D-AF33-67E9-9379-DC93DCEA9DC2}"/>
              </a:ext>
            </a:extLst>
          </p:cNvPr>
          <p:cNvSpPr txBox="1"/>
          <p:nvPr/>
        </p:nvSpPr>
        <p:spPr>
          <a:xfrm>
            <a:off x="9427339" y="6707797"/>
            <a:ext cx="419432" cy="11094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1/1</a:t>
            </a:r>
            <a:endParaRPr kumimoji="0" lang="ko-KR" alt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0" name="섹션_허브"/>
          <p:cNvSpPr/>
          <p:nvPr/>
        </p:nvSpPr>
        <p:spPr>
          <a:xfrm>
            <a:off x="228600" y="1207008"/>
            <a:ext cx="52578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한 번 기록하면, 여러 화면과 보고서에 자동 반영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0" y="12344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화면 예시 (저장소 캡처, 가상 데이터)</a:t>
            </a:r>
          </a:p>
        </p:txBody>
      </p:sp>
      <p:sp>
        <p:nvSpPr>
          <p:cNvPr id="92" name="카드1"/>
          <p:cNvSpPr/>
          <p:nvPr/>
        </p:nvSpPr>
        <p:spPr>
          <a:xfrm>
            <a:off x="228600" y="1517904"/>
            <a:ext cx="2340864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1752" y="1563624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① 업무 기록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" y="1828800"/>
            <a:ext cx="2194560" cy="126187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pic>
        <p:nvPicPr>
          <p:cNvPr id="95" name="화면1" descr="s1_reco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1" y="1828800"/>
            <a:ext cx="1901821" cy="1261872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96" name="상태"/>
          <p:cNvSpPr/>
          <p:nvPr/>
        </p:nvSpPr>
        <p:spPr>
          <a:xfrm>
            <a:off x="1600200" y="1874519"/>
            <a:ext cx="841248" cy="182880"/>
          </a:xfrm>
          <a:prstGeom prst="roundRect">
            <a:avLst/>
          </a:prstGeom>
          <a:solidFill>
            <a:srgbClr val="E8F3EA"/>
          </a:solidFill>
          <a:ln w="9525">
            <a:solidFill>
              <a:srgbClr val="2E7D32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PoC 사용 중</a:t>
            </a:r>
          </a:p>
        </p:txBody>
      </p:sp>
      <p:sp>
        <p:nvSpPr>
          <p:cNvPr id="97" name="번호1"/>
          <p:cNvSpPr/>
          <p:nvPr/>
        </p:nvSpPr>
        <p:spPr>
          <a:xfrm>
            <a:off x="320040" y="3163824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39496" y="3145536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과제별로 날짜순 이어 쓰기</a:t>
            </a:r>
          </a:p>
        </p:txBody>
      </p:sp>
      <p:sp>
        <p:nvSpPr>
          <p:cNvPr id="99" name="번호2"/>
          <p:cNvSpPr/>
          <p:nvPr/>
        </p:nvSpPr>
        <p:spPr>
          <a:xfrm>
            <a:off x="320040" y="3401568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9496" y="3383280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할 일·이슈·표를 한 곳에 기록</a:t>
            </a:r>
          </a:p>
        </p:txBody>
      </p:sp>
      <p:sp>
        <p:nvSpPr>
          <p:cNvPr id="101" name="카드2"/>
          <p:cNvSpPr/>
          <p:nvPr/>
        </p:nvSpPr>
        <p:spPr>
          <a:xfrm>
            <a:off x="3145536" y="1517904"/>
            <a:ext cx="2340864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18688" y="1563624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② 할 일·이슈 추적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18688" y="1828800"/>
            <a:ext cx="2194560" cy="126187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pic>
        <p:nvPicPr>
          <p:cNvPr id="104" name="화면2" descr="s2_tra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8688" y="2162185"/>
            <a:ext cx="2194560" cy="595101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105" name="상태"/>
          <p:cNvSpPr/>
          <p:nvPr/>
        </p:nvSpPr>
        <p:spPr>
          <a:xfrm>
            <a:off x="4517136" y="1874519"/>
            <a:ext cx="841248" cy="182880"/>
          </a:xfrm>
          <a:prstGeom prst="roundRect">
            <a:avLst/>
          </a:prstGeom>
          <a:solidFill>
            <a:srgbClr val="E8F3EA"/>
          </a:solidFill>
          <a:ln w="9525">
            <a:solidFill>
              <a:srgbClr val="2E7D32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PoC 사용 중</a:t>
            </a:r>
          </a:p>
        </p:txBody>
      </p:sp>
      <p:sp>
        <p:nvSpPr>
          <p:cNvPr id="106" name="번호1"/>
          <p:cNvSpPr/>
          <p:nvPr/>
        </p:nvSpPr>
        <p:spPr>
          <a:xfrm>
            <a:off x="3474720" y="3163824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94176" y="3145536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이슈 → 대응 할 일 → 완료까지 연결</a:t>
            </a:r>
          </a:p>
        </p:txBody>
      </p:sp>
      <p:sp>
        <p:nvSpPr>
          <p:cNvPr id="108" name="번호2"/>
          <p:cNvSpPr/>
          <p:nvPr/>
        </p:nvSpPr>
        <p:spPr>
          <a:xfrm>
            <a:off x="3474720" y="3401568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94176" y="338328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완료하면 그날 업무 기록 자동 생성</a:t>
            </a:r>
          </a:p>
        </p:txBody>
      </p:sp>
      <p:sp>
        <p:nvSpPr>
          <p:cNvPr id="110" name="카드3"/>
          <p:cNvSpPr/>
          <p:nvPr/>
        </p:nvSpPr>
        <p:spPr>
          <a:xfrm>
            <a:off x="228600" y="3950207"/>
            <a:ext cx="2340864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01752" y="3995927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③ 주간보고·팀장 요약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01752" y="4261103"/>
            <a:ext cx="2194560" cy="126187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pic>
        <p:nvPicPr>
          <p:cNvPr id="113" name="화면3" descr="s3_weekl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110" y="4261103"/>
            <a:ext cx="1823843" cy="1261872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114" name="상태"/>
          <p:cNvSpPr/>
          <p:nvPr/>
        </p:nvSpPr>
        <p:spPr>
          <a:xfrm>
            <a:off x="1380744" y="4306823"/>
            <a:ext cx="841248" cy="182880"/>
          </a:xfrm>
          <a:prstGeom prst="roundRect">
            <a:avLst/>
          </a:prstGeom>
          <a:solidFill>
            <a:srgbClr val="E8F3EA"/>
          </a:solidFill>
          <a:ln w="9525">
            <a:solidFill>
              <a:srgbClr val="2E7D32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PoC 사용 중</a:t>
            </a:r>
          </a:p>
        </p:txBody>
      </p:sp>
      <p:sp>
        <p:nvSpPr>
          <p:cNvPr id="115" name="번호1"/>
          <p:cNvSpPr/>
          <p:nvPr/>
        </p:nvSpPr>
        <p:spPr>
          <a:xfrm>
            <a:off x="320040" y="5596127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9496" y="5577840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기간의 기록을 AI가 요약해 PPT 작성</a:t>
            </a:r>
          </a:p>
        </p:txBody>
      </p:sp>
      <p:sp>
        <p:nvSpPr>
          <p:cNvPr id="117" name="번호2"/>
          <p:cNvSpPr/>
          <p:nvPr/>
        </p:nvSpPr>
        <p:spPr>
          <a:xfrm>
            <a:off x="320040" y="5833871"/>
            <a:ext cx="173736" cy="17373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39496" y="5815583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수치·일정·지연은 규칙으로 검사</a:t>
            </a:r>
          </a:p>
        </p:txBody>
      </p:sp>
      <p:sp>
        <p:nvSpPr>
          <p:cNvPr id="119" name="카드4"/>
          <p:cNvSpPr/>
          <p:nvPr/>
        </p:nvSpPr>
        <p:spPr>
          <a:xfrm>
            <a:off x="3145536" y="3950207"/>
            <a:ext cx="2340864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456432" y="3995927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④ 완료·분석 보고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18688" y="4261103"/>
            <a:ext cx="2194560" cy="1261872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pic>
        <p:nvPicPr>
          <p:cNvPr id="122" name="화면4" descr="s4_comple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4046" y="4261103"/>
            <a:ext cx="1823843" cy="1261872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123" name="상태"/>
          <p:cNvSpPr/>
          <p:nvPr/>
        </p:nvSpPr>
        <p:spPr>
          <a:xfrm>
            <a:off x="4242816" y="4306823"/>
            <a:ext cx="1115568" cy="1828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구현 (가상 데이터)</a:t>
            </a:r>
          </a:p>
        </p:txBody>
      </p:sp>
      <p:sp>
        <p:nvSpPr>
          <p:cNvPr id="124" name="번호1"/>
          <p:cNvSpPr/>
          <p:nvPr/>
        </p:nvSpPr>
        <p:spPr>
          <a:xfrm>
            <a:off x="3236976" y="5596127"/>
            <a:ext cx="173736" cy="1737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56432" y="5577840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같은 기록에서 완료·분석 보고 생성</a:t>
            </a:r>
          </a:p>
        </p:txBody>
      </p:sp>
      <p:sp>
        <p:nvSpPr>
          <p:cNvPr id="126" name="번호2"/>
          <p:cNvSpPr/>
          <p:nvPr/>
        </p:nvSpPr>
        <p:spPr>
          <a:xfrm>
            <a:off x="3236976" y="5833871"/>
            <a:ext cx="173736" cy="1737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456432" y="5815583"/>
            <a:ext cx="1975104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실데이터 품질은 미확인</a:t>
            </a:r>
          </a:p>
        </p:txBody>
      </p:sp>
      <p:sp>
        <p:nvSpPr>
          <p:cNvPr id="128" name="순환화살표1"/>
          <p:cNvSpPr/>
          <p:nvPr/>
        </p:nvSpPr>
        <p:spPr>
          <a:xfrm>
            <a:off x="2372868" y="3328415"/>
            <a:ext cx="969264" cy="969264"/>
          </a:xfrm>
          <a:prstGeom prst="circularArrow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순환화살표2"/>
          <p:cNvSpPr/>
          <p:nvPr/>
        </p:nvSpPr>
        <p:spPr>
          <a:xfrm rot="10800000">
            <a:off x="2372868" y="3328415"/>
            <a:ext cx="969264" cy="969264"/>
          </a:xfrm>
          <a:prstGeom prst="circularArrow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허브"/>
          <p:cNvSpPr/>
          <p:nvPr/>
        </p:nvSpPr>
        <p:spPr>
          <a:xfrm>
            <a:off x="2473452" y="342900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한 번 기록</a:t>
            </a:r>
          </a:p>
          <a:p>
            <a:pPr algn="ctr">
              <a:lnSpc>
                <a:spcPct val="100000"/>
              </a:lnSpc>
            </a:pPr>
            <a:r>
              <a:rPr sz="600" b="1" lang="ko-KR">
                <a:solidFill>
                  <a:srgbClr val="2F5597"/>
                </a:solidFill>
                <a:latin typeface="LG스마트체 Regular"/>
                <a:ea typeface="LG스마트체 Regular"/>
                <a:cs typeface="LG스마트체 Regular"/>
              </a:rPr>
              <a:t>▼</a:t>
            </a:r>
          </a:p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여러 보고서</a:t>
            </a:r>
          </a:p>
        </p:txBody>
      </p:sp>
      <p:sp>
        <p:nvSpPr>
          <p:cNvPr id="131" name="섹션_숫자"/>
          <p:cNvSpPr/>
          <p:nvPr/>
        </p:nvSpPr>
        <p:spPr>
          <a:xfrm>
            <a:off x="5669280" y="1207008"/>
            <a:ext cx="4050791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10/8 이후 달라진 것</a:t>
            </a:r>
          </a:p>
        </p:txBody>
      </p:sp>
      <p:sp>
        <p:nvSpPr>
          <p:cNvPr id="132" name="숫자카드1"/>
          <p:cNvSpPr/>
          <p:nvPr/>
        </p:nvSpPr>
        <p:spPr>
          <a:xfrm>
            <a:off x="5669280" y="1517904"/>
            <a:ext cx="1301495" cy="157276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760720" y="160934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12750"/>
                </a:moveTo>
                <a:cubicBezTo>
                  <a:pt x="13630" y="12750"/>
                  <a:pt x="15070" y="13140"/>
                  <a:pt x="16240" y="13650"/>
                </a:cubicBezTo>
                <a:cubicBezTo>
                  <a:pt x="17320" y="14130"/>
                  <a:pt x="18000" y="15210"/>
                  <a:pt x="18000" y="16380"/>
                </a:cubicBezTo>
                <a:lnTo>
                  <a:pt x="18000" y="18000"/>
                </a:lnTo>
                <a:lnTo>
                  <a:pt x="6000" y="18000"/>
                </a:lnTo>
                <a:lnTo>
                  <a:pt x="6000" y="16390"/>
                </a:lnTo>
                <a:cubicBezTo>
                  <a:pt x="6000" y="15210"/>
                  <a:pt x="6680" y="14130"/>
                  <a:pt x="7760" y="13660"/>
                </a:cubicBezTo>
                <a:cubicBezTo>
                  <a:pt x="8930" y="13140"/>
                  <a:pt x="10370" y="12750"/>
                  <a:pt x="12000" y="12750"/>
                </a:cubicBezTo>
                <a:close/>
                <a:moveTo>
                  <a:pt x="4000" y="13000"/>
                </a:moveTo>
                <a:cubicBezTo>
                  <a:pt x="5100" y="13000"/>
                  <a:pt x="6000" y="12100"/>
                  <a:pt x="6000" y="11000"/>
                </a:cubicBezTo>
                <a:cubicBezTo>
                  <a:pt x="6000" y="9900"/>
                  <a:pt x="5100" y="9000"/>
                  <a:pt x="4000" y="9000"/>
                </a:cubicBezTo>
                <a:cubicBezTo>
                  <a:pt x="2900" y="9000"/>
                  <a:pt x="2000" y="9900"/>
                  <a:pt x="2000" y="11000"/>
                </a:cubicBezTo>
                <a:cubicBezTo>
                  <a:pt x="2000" y="12100"/>
                  <a:pt x="2900" y="13000"/>
                  <a:pt x="4000" y="13000"/>
                </a:cubicBezTo>
                <a:close/>
                <a:moveTo>
                  <a:pt x="5130" y="14100"/>
                </a:moveTo>
                <a:cubicBezTo>
                  <a:pt x="4760" y="14040"/>
                  <a:pt x="4390" y="14000"/>
                  <a:pt x="4000" y="14000"/>
                </a:cubicBezTo>
                <a:cubicBezTo>
                  <a:pt x="3010" y="14000"/>
                  <a:pt x="2070" y="14210"/>
                  <a:pt x="1220" y="14580"/>
                </a:cubicBezTo>
                <a:cubicBezTo>
                  <a:pt x="479" y="14897"/>
                  <a:pt x="-1" y="15625"/>
                  <a:pt x="0" y="16430"/>
                </a:cubicBezTo>
                <a:lnTo>
                  <a:pt x="0" y="18000"/>
                </a:lnTo>
                <a:lnTo>
                  <a:pt x="4500" y="18000"/>
                </a:lnTo>
                <a:lnTo>
                  <a:pt x="4500" y="16390"/>
                </a:lnTo>
                <a:cubicBezTo>
                  <a:pt x="4500" y="15560"/>
                  <a:pt x="4730" y="14780"/>
                  <a:pt x="5130" y="14100"/>
                </a:cubicBezTo>
                <a:close/>
                <a:moveTo>
                  <a:pt x="20000" y="13000"/>
                </a:moveTo>
                <a:cubicBezTo>
                  <a:pt x="21100" y="13000"/>
                  <a:pt x="22000" y="12100"/>
                  <a:pt x="22000" y="11000"/>
                </a:cubicBezTo>
                <a:cubicBezTo>
                  <a:pt x="22000" y="9900"/>
                  <a:pt x="21100" y="9000"/>
                  <a:pt x="20000" y="9000"/>
                </a:cubicBezTo>
                <a:cubicBezTo>
                  <a:pt x="18900" y="9000"/>
                  <a:pt x="18000" y="9900"/>
                  <a:pt x="18000" y="11000"/>
                </a:cubicBezTo>
                <a:cubicBezTo>
                  <a:pt x="18000" y="12100"/>
                  <a:pt x="18900" y="13000"/>
                  <a:pt x="20000" y="13000"/>
                </a:cubicBezTo>
                <a:close/>
                <a:moveTo>
                  <a:pt x="24000" y="16430"/>
                </a:moveTo>
                <a:cubicBezTo>
                  <a:pt x="24000" y="15620"/>
                  <a:pt x="23520" y="14900"/>
                  <a:pt x="22780" y="14580"/>
                </a:cubicBezTo>
                <a:cubicBezTo>
                  <a:pt x="21903" y="14197"/>
                  <a:pt x="20957" y="14000"/>
                  <a:pt x="20000" y="14000"/>
                </a:cubicBezTo>
                <a:cubicBezTo>
                  <a:pt x="19610" y="14000"/>
                  <a:pt x="19240" y="14040"/>
                  <a:pt x="18870" y="14100"/>
                </a:cubicBezTo>
                <a:cubicBezTo>
                  <a:pt x="19270" y="14780"/>
                  <a:pt x="19500" y="15560"/>
                  <a:pt x="19500" y="16390"/>
                </a:cubicBezTo>
                <a:lnTo>
                  <a:pt x="19500" y="18000"/>
                </a:lnTo>
                <a:lnTo>
                  <a:pt x="24000" y="18000"/>
                </a:lnTo>
                <a:lnTo>
                  <a:pt x="24000" y="16430"/>
                </a:lnTo>
                <a:close/>
                <a:moveTo>
                  <a:pt x="12000" y="6000"/>
                </a:moveTo>
                <a:cubicBezTo>
                  <a:pt x="13660" y="6000"/>
                  <a:pt x="15000" y="7340"/>
                  <a:pt x="15000" y="9000"/>
                </a:cubicBezTo>
                <a:cubicBezTo>
                  <a:pt x="15000" y="10660"/>
                  <a:pt x="13660" y="12000"/>
                  <a:pt x="12000" y="12000"/>
                </a:cubicBezTo>
                <a:cubicBezTo>
                  <a:pt x="10340" y="12000"/>
                  <a:pt x="9000" y="10660"/>
                  <a:pt x="9000" y="9000"/>
                </a:cubicBezTo>
                <a:cubicBezTo>
                  <a:pt x="9000" y="7340"/>
                  <a:pt x="10340" y="6000"/>
                  <a:pt x="12000" y="600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6035040" y="1591056"/>
            <a:ext cx="890015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PoC 참여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715000" y="1901952"/>
            <a:ext cx="1210055" cy="4389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17</a:t>
            </a:r>
            <a:r>
              <a:rPr sz="120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명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724144" y="2340864"/>
            <a:ext cx="1191768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4개 팀 · 10/15~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24144" y="2587752"/>
            <a:ext cx="1191768" cy="47548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Teams PoC 방 19명 중
개발 2명 제외</a:t>
            </a:r>
          </a:p>
        </p:txBody>
      </p:sp>
      <p:sp>
        <p:nvSpPr>
          <p:cNvPr id="138" name="숫자카드2"/>
          <p:cNvSpPr/>
          <p:nvPr/>
        </p:nvSpPr>
        <p:spPr>
          <a:xfrm>
            <a:off x="7043928" y="1517904"/>
            <a:ext cx="1301495" cy="15727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135367" y="160934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9000"/>
                </a:moveTo>
                <a:lnTo>
                  <a:pt x="12000" y="13000"/>
                </a:lnTo>
              </a:path>
              <a:path w="24000" h="24000" fill="none">
                <a:moveTo>
                  <a:pt x="10363" y="3591"/>
                </a:moveTo>
                <a:lnTo>
                  <a:pt x="2257" y="17125"/>
                </a:lnTo>
                <a:cubicBezTo>
                  <a:pt x="1917" y="17714"/>
                  <a:pt x="1915" y="18439"/>
                  <a:pt x="2252" y="19030"/>
                </a:cubicBezTo>
                <a:cubicBezTo>
                  <a:pt x="2588" y="19621"/>
                  <a:pt x="3213" y="19988"/>
                  <a:pt x="3893" y="19996"/>
                </a:cubicBezTo>
                <a:lnTo>
                  <a:pt x="20107" y="19996"/>
                </a:lnTo>
                <a:cubicBezTo>
                  <a:pt x="20787" y="19988"/>
                  <a:pt x="21411" y="19620"/>
                  <a:pt x="21748" y="19030"/>
                </a:cubicBezTo>
                <a:cubicBezTo>
                  <a:pt x="22084" y="18440"/>
                  <a:pt x="22083" y="17715"/>
                  <a:pt x="21743" y="17126"/>
                </a:cubicBezTo>
                <a:lnTo>
                  <a:pt x="13637" y="3590"/>
                </a:lnTo>
                <a:cubicBezTo>
                  <a:pt x="13290" y="3017"/>
                  <a:pt x="12669" y="2668"/>
                  <a:pt x="12000" y="2668"/>
                </a:cubicBezTo>
                <a:cubicBezTo>
                  <a:pt x="11331" y="2668"/>
                  <a:pt x="10710" y="3017"/>
                  <a:pt x="10363" y="3590"/>
                </a:cubicBezTo>
                <a:close/>
              </a:path>
              <a:path w="24000" h="24000" fill="none"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solidFill>
            <a:srgbClr val="1F3864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7409688" y="1591056"/>
            <a:ext cx="890015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사용자 의견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089648" y="1901952"/>
            <a:ext cx="1210055" cy="4389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17</a:t>
            </a:r>
            <a:r>
              <a:rPr sz="12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098791" y="2340864"/>
            <a:ext cx="1191768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수정 배포 · 재확인 전 12건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98791" y="2587752"/>
            <a:ext cx="1191768" cy="47548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VoE 등록부
(Teams·전달·설명회)</a:t>
            </a:r>
          </a:p>
        </p:txBody>
      </p:sp>
      <p:sp>
        <p:nvSpPr>
          <p:cNvPr id="144" name="숫자카드3"/>
          <p:cNvSpPr/>
          <p:nvPr/>
        </p:nvSpPr>
        <p:spPr>
          <a:xfrm>
            <a:off x="8418576" y="1517904"/>
            <a:ext cx="1301495" cy="15727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10016" y="160934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4000"/>
                </a:moveTo>
                <a:lnTo>
                  <a:pt x="21000" y="4000"/>
                </a:lnTo>
              </a:path>
              <a:path w="24000" h="24000" fill="none">
                <a:moveTo>
                  <a:pt x="4000" y="4000"/>
                </a:moveTo>
                <a:lnTo>
                  <a:pt x="4000" y="14000"/>
                </a:lnTo>
                <a:cubicBezTo>
                  <a:pt x="4000" y="15105"/>
                  <a:pt x="4895" y="16000"/>
                  <a:pt x="6000" y="16000"/>
                </a:cubicBezTo>
                <a:lnTo>
                  <a:pt x="18000" y="16000"/>
                </a:lnTo>
                <a:cubicBezTo>
                  <a:pt x="19105" y="16000"/>
                  <a:pt x="20000" y="15105"/>
                  <a:pt x="20000" y="14000"/>
                </a:cubicBezTo>
                <a:lnTo>
                  <a:pt x="20000" y="4000"/>
                </a:lnTo>
              </a:path>
              <a:path w="24000" h="24000" fill="none">
                <a:moveTo>
                  <a:pt x="12000" y="16000"/>
                </a:moveTo>
                <a:lnTo>
                  <a:pt x="12000" y="20000"/>
                </a:lnTo>
              </a:path>
              <a:path w="24000" h="24000" fill="none">
                <a:moveTo>
                  <a:pt x="9000" y="20000"/>
                </a:moveTo>
                <a:lnTo>
                  <a:pt x="15000" y="20000"/>
                </a:lnTo>
              </a:path>
              <a:path w="24000" h="24000" fill="none">
                <a:moveTo>
                  <a:pt x="8000" y="12000"/>
                </a:moveTo>
                <a:lnTo>
                  <a:pt x="11000" y="9000"/>
                </a:lnTo>
                <a:lnTo>
                  <a:pt x="13000" y="11000"/>
                </a:lnTo>
                <a:lnTo>
                  <a:pt x="16000" y="8000"/>
                </a:lnTo>
              </a:path>
            </a:pathLst>
          </a:custGeom>
          <a:solidFill>
            <a:srgbClr val="1F3864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8784336" y="1591056"/>
            <a:ext cx="890015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보고서 종류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464296" y="1901952"/>
            <a:ext cx="1210055" cy="4389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1→8</a:t>
            </a:r>
            <a:r>
              <a:rPr sz="12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종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473440" y="2340864"/>
            <a:ext cx="1191768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4종 사용 중 · 4종 구현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473440" y="2587752"/>
            <a:ext cx="1191768" cy="47548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10/8 주간 1종 →
주간·월간·팀장·경영진
+ 완료·분석·성과·투자</a:t>
            </a:r>
          </a:p>
        </p:txBody>
      </p:sp>
      <p:sp>
        <p:nvSpPr>
          <p:cNvPr id="150" name="섹션_길"/>
          <p:cNvSpPr/>
          <p:nvPr/>
        </p:nvSpPr>
        <p:spPr>
          <a:xfrm>
            <a:off x="5669280" y="3236976"/>
            <a:ext cx="4050791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최종 목표까지의 길</a:t>
            </a:r>
            <a:r>
              <a:rPr sz="85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  ※ 순서만 표시 (날짜 미정)</a:t>
            </a:r>
          </a:p>
        </p:txBody>
      </p:sp>
      <p:sp>
        <p:nvSpPr>
          <p:cNvPr id="151" name="단계_10/8"/>
          <p:cNvSpPr/>
          <p:nvPr/>
        </p:nvSpPr>
        <p:spPr>
          <a:xfrm>
            <a:off x="5669280" y="3675887"/>
            <a:ext cx="118872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txBody>
          <a:bodyPr rtlCol="0" anchor="ctr" wrap="square" lIns="27432" tIns="18288" rIns="27432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10/8 보고</a:t>
            </a:r>
          </a:p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주간보고 1종 구상</a:t>
            </a:r>
          </a:p>
        </p:txBody>
      </p:sp>
      <p:sp>
        <p:nvSpPr>
          <p:cNvPr id="152" name="단계_현재"/>
          <p:cNvSpPr/>
          <p:nvPr/>
        </p:nvSpPr>
        <p:spPr>
          <a:xfrm>
            <a:off x="7100316" y="3675887"/>
            <a:ext cx="1188720" cy="566928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1F3864"/>
            </a:solidFill>
          </a:ln>
        </p:spPr>
        <p:txBody>
          <a:bodyPr rtlCol="0" anchor="ctr" wrap="square" lIns="27432" tIns="18288" rIns="27432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현재 · PoC</a:t>
            </a:r>
          </a:p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4개 팀 사용 · 의견 반영</a:t>
            </a:r>
          </a:p>
        </p:txBody>
      </p:sp>
      <p:sp>
        <p:nvSpPr>
          <p:cNvPr id="153" name="단계_실제"/>
          <p:cNvSpPr/>
          <p:nvPr/>
        </p:nvSpPr>
        <p:spPr>
          <a:xfrm>
            <a:off x="8531351" y="3675887"/>
            <a:ext cx="1188720" cy="566928"/>
          </a:xfrm>
          <a:prstGeom prst="round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27432" tIns="18288" rIns="27432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lang="ko-KR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실제 주간보고
1사이클 검증</a:t>
            </a:r>
          </a:p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작성·검토 시간·품질</a:t>
            </a:r>
          </a:p>
        </p:txBody>
      </p:sp>
      <p:sp>
        <p:nvSpPr>
          <p:cNvPr id="154" name="단계_회사"/>
          <p:cNvSpPr/>
          <p:nvPr/>
        </p:nvSpPr>
        <p:spPr>
          <a:xfrm>
            <a:off x="8531351" y="4626864"/>
            <a:ext cx="1188720" cy="566928"/>
          </a:xfrm>
          <a:prstGeom prst="round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27432" tIns="18288" rIns="27432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lang="ko-KR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회사 서버 운영</a:t>
            </a:r>
          </a:p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DAVINCI Sandbox</a:t>
            </a:r>
          </a:p>
        </p:txBody>
      </p:sp>
      <p:sp>
        <p:nvSpPr>
          <p:cNvPr id="155" name="단계_그룹"/>
          <p:cNvSpPr/>
          <p:nvPr/>
        </p:nvSpPr>
        <p:spPr>
          <a:xfrm>
            <a:off x="7100316" y="4626864"/>
            <a:ext cx="1188720" cy="566928"/>
          </a:xfrm>
          <a:prstGeom prst="round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27432" tIns="18288" rIns="27432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lang="ko-KR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그룹 확대</a:t>
            </a:r>
          </a:p>
          <a:p>
            <a:pPr algn="ctr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효과·운영 근거 확보 후</a:t>
            </a:r>
          </a:p>
        </p:txBody>
      </p:sp>
      <p:sp>
        <p:nvSpPr>
          <p:cNvPr id="156" name="현재표시"/>
          <p:cNvSpPr/>
          <p:nvPr/>
        </p:nvSpPr>
        <p:spPr>
          <a:xfrm>
            <a:off x="7402068" y="3428999"/>
            <a:ext cx="585216" cy="201168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◀ 현재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6894576" y="3959351"/>
            <a:ext cx="169164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325612" y="3959351"/>
            <a:ext cx="169164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125711" y="4279392"/>
            <a:ext cx="0" cy="310896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8325612" y="4910327"/>
            <a:ext cx="169164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990588" y="4910327"/>
            <a:ext cx="73152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5705856" y="4608576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21000"/>
                </a:moveTo>
                <a:lnTo>
                  <a:pt x="21000" y="21000"/>
                </a:lnTo>
              </a:path>
              <a:path w="24000" h="24000" fill="none">
                <a:moveTo>
                  <a:pt x="5000" y="21000"/>
                </a:moveTo>
                <a:lnTo>
                  <a:pt x="5000" y="9000"/>
                </a:lnTo>
                <a:lnTo>
                  <a:pt x="10000" y="13000"/>
                </a:lnTo>
                <a:lnTo>
                  <a:pt x="10000" y="9000"/>
                </a:lnTo>
                <a:lnTo>
                  <a:pt x="15000" y="13000"/>
                </a:lnTo>
                <a:lnTo>
                  <a:pt x="19000" y="13000"/>
                </a:lnTo>
              </a:path>
              <a:path w="24000" h="24000" fill="none">
                <a:moveTo>
                  <a:pt x="19000" y="21000"/>
                </a:moveTo>
                <a:lnTo>
                  <a:pt x="19000" y="13000"/>
                </a:lnTo>
                <a:lnTo>
                  <a:pt x="17564" y="3426"/>
                </a:lnTo>
                <a:cubicBezTo>
                  <a:pt x="17527" y="3181"/>
                  <a:pt x="17317" y="3000"/>
                  <a:pt x="17069" y="3000"/>
                </a:cubicBezTo>
                <a:lnTo>
                  <a:pt x="15924" y="3000"/>
                </a:lnTo>
                <a:cubicBezTo>
                  <a:pt x="15679" y="3000"/>
                  <a:pt x="15470" y="3177"/>
                  <a:pt x="15430" y="3418"/>
                </a:cubicBezTo>
                <a:lnTo>
                  <a:pt x="14000" y="12000"/>
                </a:lnTo>
              </a:path>
              <a:path w="24000" h="24000" fill="none">
                <a:moveTo>
                  <a:pt x="9000" y="17000"/>
                </a:moveTo>
                <a:lnTo>
                  <a:pt x="10000" y="17000"/>
                </a:lnTo>
              </a:path>
              <a:path w="24000" h="24000" fill="none">
                <a:moveTo>
                  <a:pt x="14000" y="17000"/>
                </a:moveTo>
                <a:lnTo>
                  <a:pt x="15000" y="17000"/>
                </a:lnTo>
              </a:path>
            </a:pathLst>
          </a:custGeom>
          <a:solidFill>
            <a:srgbClr val="1F3864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3" name="최종목표"/>
          <p:cNvSpPr/>
          <p:nvPr/>
        </p:nvSpPr>
        <p:spPr>
          <a:xfrm>
            <a:off x="5669280" y="4581144"/>
            <a:ext cx="1284732" cy="658368"/>
          </a:xfrm>
          <a:prstGeom prst="roundRect">
            <a:avLst/>
          </a:prstGeom>
          <a:noFill/>
          <a:ln w="19050">
            <a:solidFill>
              <a:srgbClr val="1F3864"/>
            </a:solidFill>
          </a:ln>
        </p:spPr>
        <p:txBody>
          <a:bodyPr rtlCol="0" anchor="ctr" wrap="square" lIns="182880" tIns="18288" rIns="36576" bIns="18288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최종 목표</a:t>
            </a:r>
          </a:p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업무 정보를 일관된 구조로 쌓고, 다양한 보고자료에 재사용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669280" y="5321807"/>
            <a:ext cx="274320" cy="15544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998464" y="5294375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완료 · 진행 중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903720" y="5321807"/>
            <a:ext cx="274320" cy="155448"/>
          </a:xfrm>
          <a:prstGeom prst="roundRect">
            <a:avLst/>
          </a:prstGeom>
          <a:solidFill>
            <a:srgbClr val="FFF5EB"/>
          </a:solidFill>
          <a:ln w="9525">
            <a:solidFill>
              <a:srgbClr val="C55A11"/>
            </a:solidFill>
            <a:prstDash val="dash"/>
          </a:ln>
        </p:spPr>
        <p:txBody>
          <a:bodyPr rtlCol="0" anchor="t" wrap="square" lIns="36576" tIns="18288" rIns="36576" bIns="18288">
            <a:noAutofit/>
          </a:bodyPr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32904" y="5294375"/>
            <a:ext cx="146304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앞으로 할 일 (점선)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669280" y="5541264"/>
            <a:ext cx="68580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화면 상태</a:t>
            </a:r>
          </a:p>
        </p:txBody>
      </p:sp>
      <p:sp>
        <p:nvSpPr>
          <p:cNvPr id="169" name="상태"/>
          <p:cNvSpPr/>
          <p:nvPr/>
        </p:nvSpPr>
        <p:spPr>
          <a:xfrm>
            <a:off x="6236208" y="5559552"/>
            <a:ext cx="868680" cy="182880"/>
          </a:xfrm>
          <a:prstGeom prst="roundRect">
            <a:avLst/>
          </a:prstGeom>
          <a:solidFill>
            <a:srgbClr val="E8F3EA"/>
          </a:solidFill>
          <a:ln w="9525">
            <a:solidFill>
              <a:srgbClr val="2E7D32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PoC 사용 중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150608" y="5541264"/>
            <a:ext cx="91440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참여자가 사용</a:t>
            </a:r>
          </a:p>
        </p:txBody>
      </p:sp>
      <p:sp>
        <p:nvSpPr>
          <p:cNvPr id="171" name="상태"/>
          <p:cNvSpPr/>
          <p:nvPr/>
        </p:nvSpPr>
        <p:spPr>
          <a:xfrm>
            <a:off x="8001000" y="5559552"/>
            <a:ext cx="457200" cy="1828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lang="ko-KR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구현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503920" y="5541264"/>
            <a:ext cx="1280160" cy="21031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ko-KR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가상 데이터로만 확인</a:t>
            </a:r>
          </a:p>
        </p:txBody>
      </p:sp>
      <p:sp>
        <p:nvSpPr>
          <p:cNvPr id="173" name="막힌것"/>
          <p:cNvSpPr/>
          <p:nvPr/>
        </p:nvSpPr>
        <p:spPr>
          <a:xfrm>
            <a:off x="228600" y="6108192"/>
            <a:ext cx="9491472" cy="274320"/>
          </a:xfrm>
          <a:prstGeom prst="rect">
            <a:avLst/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</p:spPr>
        <p:txBody>
          <a:bodyPr rtlCol="0" anchor="ctr" wrap="square" lIns="109728" tIns="18288" bIns="18288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ko-KR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막힌 것  </a:t>
            </a:r>
            <a:r>
              <a:rPr sz="950" b="0" lang="ko-KR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운영 인력 2인 (DAVINCI 운영 인력 지원 불가, 구두)   ·   회사 서버(Sandbox) 준비 중   ·   실데이터 보고 품질·업무 시간 효과 미확인</a:t>
            </a:r>
          </a:p>
        </p:txBody>
      </p:sp>
    </p:spTree>
    <p:extLst>
      <p:ext uri="{BB962C8B-B14F-4D97-AF65-F5344CB8AC3E}">
        <p14:creationId xmlns:p14="http://schemas.microsoft.com/office/powerpoint/2010/main" val="33172060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heme/theme1.xml><?xml version="1.0" encoding="utf-8"?>
<a:theme xmlns:a="http://schemas.openxmlformats.org/drawingml/2006/main" name="Default Theme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G스마트체">
      <a:majorFont>
        <a:latin typeface="LG스마트체 Bold"/>
        <a:ea typeface="LG스마트체 Bold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400" dirty="0" smtClean="0">
            <a:latin typeface="LG스마트체2.0 Regular" panose="020B0600000101010101" pitchFamily="50" charset="-127"/>
            <a:ea typeface="LG스마트체2.0 Regular" panose="020B0600000101010101" pitchFamily="50" charset="-127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50000"/>
            </a:schemeClr>
          </a:solidFill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1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 Narrow"/>
            <a:ea typeface="LG스마트체 Regular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50bc5e-450a-452d-8e0f-e1a5c0e2899a">
      <Terms xmlns="http://schemas.microsoft.com/office/infopath/2007/PartnerControls"/>
    </lcf76f155ced4ddcb4097134ff3c332f>
    <TaxCatchAll xmlns="b9dbd815-4805-4d0b-97ac-b25becf802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C175E1B1E4DA499D09C0E9E6E7D980" ma:contentTypeVersion="13" ma:contentTypeDescription="새 문서를 만듭니다." ma:contentTypeScope="" ma:versionID="d75f87ea54011f65773ea07bd0d492c8">
  <xsd:schema xmlns:xsd="http://www.w3.org/2001/XMLSchema" xmlns:xs="http://www.w3.org/2001/XMLSchema" xmlns:p="http://schemas.microsoft.com/office/2006/metadata/properties" xmlns:ns2="7f50bc5e-450a-452d-8e0f-e1a5c0e2899a" xmlns:ns3="b9dbd815-4805-4d0b-97ac-b25becf8023f" targetNamespace="http://schemas.microsoft.com/office/2006/metadata/properties" ma:root="true" ma:fieldsID="4d5f165718a937e13a9ce6db98e61aeb" ns2:_="" ns3:_="">
    <xsd:import namespace="7f50bc5e-450a-452d-8e0f-e1a5c0e2899a"/>
    <xsd:import namespace="b9dbd815-4805-4d0b-97ac-b25becf80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0bc5e-450a-452d-8e0f-e1a5c0e289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bd815-4805-4d0b-97ac-b25becf8023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f1e237d-3ae0-4a2f-a7df-2dd06877e0a2}" ma:internalName="TaxCatchAll" ma:showField="CatchAllData" ma:web="b9dbd815-4805-4d0b-97ac-b25becf80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B8B978-3DEB-46A7-99FF-FEBC1A4C9132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b9dbd815-4805-4d0b-97ac-b25becf8023f"/>
    <ds:schemaRef ds:uri="http://schemas.microsoft.com/office/infopath/2007/PartnerControls"/>
    <ds:schemaRef ds:uri="http://purl.org/dc/terms/"/>
    <ds:schemaRef ds:uri="http://schemas.microsoft.com/office/2006/metadata/properties"/>
    <ds:schemaRef ds:uri="7f50bc5e-450a-452d-8e0f-e1a5c0e2899a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0598D5B-BEA9-4170-A6BA-A0087D813C94}">
  <ds:schemaRefs>
    <ds:schemaRef ds:uri="7f50bc5e-450a-452d-8e0f-e1a5c0e2899a"/>
    <ds:schemaRef ds:uri="b9dbd815-4805-4d0b-97ac-b25becf8023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714F2B2-A13D-4A3E-9738-48CCBD95B00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1101</Words>
  <Application>Microsoft Office PowerPoint</Application>
  <PresentationFormat>A4 용지(210x297mm)</PresentationFormat>
  <Paragraphs>140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23" baseType="lpstr">
      <vt:lpstr>LG스마트체 Bold</vt:lpstr>
      <vt:lpstr>LG스마트체 Light</vt:lpstr>
      <vt:lpstr>LG스마트체 Regular</vt:lpstr>
      <vt:lpstr>LG스마트체2.0 Bold</vt:lpstr>
      <vt:lpstr>LG스마트체2.0 Light</vt:lpstr>
      <vt:lpstr>LG스마트체2.0 Regular</vt:lpstr>
      <vt:lpstr>LG스마트체2.0 SemiBold</vt:lpstr>
      <vt:lpstr>맑은 고딕</vt:lpstr>
      <vt:lpstr>Aptos</vt:lpstr>
      <vt:lpstr>Aptos Display</vt:lpstr>
      <vt:lpstr>Arial</vt:lpstr>
      <vt:lpstr>Arial Narrow</vt:lpstr>
      <vt:lpstr>Wingdings</vt:lpstr>
      <vt:lpstr>Default Theme</vt:lpstr>
      <vt:lpstr>1_Office 테마</vt:lpstr>
      <vt:lpstr>23_디자인 사용자 지정</vt:lpstr>
      <vt:lpstr>2_Office 테마</vt:lpstr>
      <vt:lpstr>Microsoft PowerPoint 프레젠테이션</vt:lpstr>
      <vt:lpstr>PowerPoint 프레젠테이션</vt:lpstr>
      <vt:lpstr>1. 보고 Summary</vt:lpstr>
      <vt:lpstr>2. AI Readable 현상 파악</vt:lpstr>
      <vt:lpstr>3. 구현 방안</vt:lpstr>
      <vt:lpstr>4. Worklog 사용방법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윤동희(YOON CAROLINE)[caroline]/책임/브랜드팀</dc:creator>
  <cp:lastModifiedBy>이재후(JAEHU LEE)[jaehu]/사원/제조DX.기획팀</cp:lastModifiedBy>
  <cp:revision>28</cp:revision>
  <dcterms:created xsi:type="dcterms:W3CDTF">2022-07-11T00:07:02Z</dcterms:created>
  <dcterms:modified xsi:type="dcterms:W3CDTF">2026-10-08T04:26:49Z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0x010100A6C175E1B1E4DA499D09C0E9E6E7D980</vt:lpwstr>
  </property>
  <property fmtid="{D5CDD505-2E9C-101B-9397-08002B2CF9AE}" pid="3" name="MediaServiceImageTags">
    <vt:lpwstr/>
  </property>
</Properties>
</file>