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fa5d666354ec6" /><Relationship Type="http://schemas.openxmlformats.org/officeDocument/2006/relationships/extended-properties" Target="/docProps/app.xml" Id="Re97f125458634cdf" /><Relationship Type="http://schemas.openxmlformats.org/officeDocument/2006/relationships/officeDocument" Target="/ppt/presentation.xml" Id="Rb9c9a29f045942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3e5b891754100"/>
  </p:sldMasterIdLst>
  <p:notesMasterIdLst>
    <p:notesMasterId xmlns:r="http://schemas.openxmlformats.org/officeDocument/2006/relationships" r:id="R15a14b25e61c44fe"/>
  </p:notesMasterIdLst>
  <p:sldIdLst>
    <p:sldId xmlns:r="http://schemas.openxmlformats.org/officeDocument/2006/relationships" id="256" r:id="R54c967daeab84988"/>
    <p:sldId xmlns:r="http://schemas.openxmlformats.org/officeDocument/2006/relationships" id="257" r:id="Rc6cd988bf728438a"/>
    <p:sldId xmlns:r="http://schemas.openxmlformats.org/officeDocument/2006/relationships" id="258" r:id="R6eaec9f44fa0424e"/>
    <p:sldId xmlns:r="http://schemas.openxmlformats.org/officeDocument/2006/relationships" id="259" r:id="R85665d54acb540a7"/>
    <p:sldId xmlns:r="http://schemas.openxmlformats.org/officeDocument/2006/relationships" id="260" r:id="R263c52e4ecc041cf"/>
    <p:sldId xmlns:r="http://schemas.openxmlformats.org/officeDocument/2006/relationships" id="261" r:id="R7456a7cc32014bbd"/>
    <p:sldId xmlns:r="http://schemas.openxmlformats.org/officeDocument/2006/relationships" id="262" r:id="R06e49b3beaf84049"/>
    <p:sldId xmlns:r="http://schemas.openxmlformats.org/officeDocument/2006/relationships" id="263" r:id="R501e3617e4044d7a"/>
    <p:sldId xmlns:r="http://schemas.openxmlformats.org/officeDocument/2006/relationships" id="264" r:id="R6853b0723ca24ac9"/>
    <p:sldId xmlns:r="http://schemas.openxmlformats.org/officeDocument/2006/relationships" id="265" r:id="Rf57b8e60d801405c"/>
    <p:sldId xmlns:r="http://schemas.openxmlformats.org/officeDocument/2006/relationships" id="266" r:id="R183f12f9d894496a"/>
    <p:sldId xmlns:r="http://schemas.openxmlformats.org/officeDocument/2006/relationships" id="267" r:id="R280775e8eec2416b"/>
    <p:sldId xmlns:r="http://schemas.openxmlformats.org/officeDocument/2006/relationships" id="268" r:id="R2b232405c43f4755"/>
    <p:sldId xmlns:r="http://schemas.openxmlformats.org/officeDocument/2006/relationships" id="269" r:id="R571bc75b27aa4d81"/>
    <p:sldId xmlns:r="http://schemas.openxmlformats.org/officeDocument/2006/relationships" id="270" r:id="Rba1e2a8065ed4ac0"/>
    <p:sldId xmlns:r="http://schemas.openxmlformats.org/officeDocument/2006/relationships" id="271" r:id="Rd73b96febc6b4f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77ff05e5b40bf" /><Relationship Type="http://schemas.openxmlformats.org/officeDocument/2006/relationships/slideMaster" Target="/ppt/slideMasters/slideMaster1.xml" Id="R48b3e5b891754100" /><Relationship Type="http://schemas.openxmlformats.org/officeDocument/2006/relationships/notesMaster" Target="/ppt/notesMasters/notesMaster1.xml" Id="R15a14b25e61c44fe" /><Relationship Type="http://schemas.openxmlformats.org/officeDocument/2006/relationships/presProps" Target="/ppt/presProps.xml" Id="Rddc4ab539eb7487d" /><Relationship Type="http://schemas.openxmlformats.org/officeDocument/2006/relationships/viewProps" Target="/ppt/viewProps.xml" Id="Ra7718cc3a3594f4a" /><Relationship Type="http://schemas.openxmlformats.org/officeDocument/2006/relationships/tableStyles" Target="/ppt/tableStyles.xml" Id="Rba0d74238f324bff" /><Relationship Type="http://schemas.openxmlformats.org/officeDocument/2006/relationships/slide" Target="/ppt/slides/slide1.xml" Id="R54c967daeab84988" /><Relationship Type="http://schemas.openxmlformats.org/officeDocument/2006/relationships/slide" Target="/ppt/slides/slide2.xml" Id="Rc6cd988bf728438a" /><Relationship Type="http://schemas.openxmlformats.org/officeDocument/2006/relationships/slide" Target="/ppt/slides/slide3.xml" Id="R6eaec9f44fa0424e" /><Relationship Type="http://schemas.openxmlformats.org/officeDocument/2006/relationships/slide" Target="/ppt/slides/slide4.xml" Id="R85665d54acb540a7" /><Relationship Type="http://schemas.openxmlformats.org/officeDocument/2006/relationships/slide" Target="/ppt/slides/slide5.xml" Id="R263c52e4ecc041cf" /><Relationship Type="http://schemas.openxmlformats.org/officeDocument/2006/relationships/slide" Target="/ppt/slides/slide6.xml" Id="R7456a7cc32014bbd" /><Relationship Type="http://schemas.openxmlformats.org/officeDocument/2006/relationships/slide" Target="/ppt/slides/slide7.xml" Id="R06e49b3beaf84049" /><Relationship Type="http://schemas.openxmlformats.org/officeDocument/2006/relationships/slide" Target="/ppt/slides/slide8.xml" Id="R501e3617e4044d7a" /><Relationship Type="http://schemas.openxmlformats.org/officeDocument/2006/relationships/slide" Target="/ppt/slides/slide9.xml" Id="R6853b0723ca24ac9" /><Relationship Type="http://schemas.openxmlformats.org/officeDocument/2006/relationships/slide" Target="/ppt/slides/slide10.xml" Id="Rf57b8e60d801405c" /><Relationship Type="http://schemas.openxmlformats.org/officeDocument/2006/relationships/slide" Target="/ppt/slides/slide11.xml" Id="R183f12f9d894496a" /><Relationship Type="http://schemas.openxmlformats.org/officeDocument/2006/relationships/slide" Target="/ppt/slides/slide12.xml" Id="R280775e8eec2416b" /><Relationship Type="http://schemas.openxmlformats.org/officeDocument/2006/relationships/slide" Target="/ppt/slides/slide13.xml" Id="R2b232405c43f4755" /><Relationship Type="http://schemas.openxmlformats.org/officeDocument/2006/relationships/slide" Target="/ppt/slides/slide14.xml" Id="R571bc75b27aa4d81" /><Relationship Type="http://schemas.openxmlformats.org/officeDocument/2006/relationships/slide" Target="/ppt/slides/slide15.xml" Id="Rba1e2a8065ed4ac0" /><Relationship Type="http://schemas.openxmlformats.org/officeDocument/2006/relationships/slide" Target="/ppt/slides/slide16.xml" Id="Rd73b96febc6b4f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20f4f0b74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3ac6a3d3a54c78" /><Relationship Type="http://schemas.openxmlformats.org/officeDocument/2006/relationships/notesMaster" Target="/ppt/notesMasters/notesMaster1.xml" Id="Re8366ffd0b5f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eb0fc804a4bb0" /><Relationship Type="http://schemas.openxmlformats.org/officeDocument/2006/relationships/notesMaster" Target="/ppt/notesMasters/notesMaster1.xml" Id="R60dea37c23e3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1d1700fe454a8f" /><Relationship Type="http://schemas.openxmlformats.org/officeDocument/2006/relationships/notesMaster" Target="/ppt/notesMasters/notesMaster1.xml" Id="R7c36acf86e6641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d6c4338a84424" /><Relationship Type="http://schemas.openxmlformats.org/officeDocument/2006/relationships/notesMaster" Target="/ppt/notesMasters/notesMaster1.xml" Id="Re2d77b44a8ad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e647c3f944d71" /><Relationship Type="http://schemas.openxmlformats.org/officeDocument/2006/relationships/notesMaster" Target="/ppt/notesMasters/notesMaster1.xml" Id="R57c29b4936b0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7efe04d344fb2" /><Relationship Type="http://schemas.openxmlformats.org/officeDocument/2006/relationships/notesMaster" Target="/ppt/notesMasters/notesMaster1.xml" Id="R183948d680bf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e9b0bfcd024881" /><Relationship Type="http://schemas.openxmlformats.org/officeDocument/2006/relationships/notesMaster" Target="/ppt/notesMasters/notesMaster1.xml" Id="R1a2c8b2be19641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b10c33fd2f4ac8" /><Relationship Type="http://schemas.openxmlformats.org/officeDocument/2006/relationships/notesMaster" Target="/ppt/notesMasters/notesMaster1.xml" Id="Rf5e7abcf915f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882faa83dc4685" /><Relationship Type="http://schemas.openxmlformats.org/officeDocument/2006/relationships/notesMaster" Target="/ppt/notesMasters/notesMaster1.xml" Id="R4ce0b742888848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6b56d26c144483" /><Relationship Type="http://schemas.openxmlformats.org/officeDocument/2006/relationships/notesMaster" Target="/ppt/notesMasters/notesMaster1.xml" Id="R0f6362802eda47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6b33ef69c648a7" /><Relationship Type="http://schemas.openxmlformats.org/officeDocument/2006/relationships/notesMaster" Target="/ppt/notesMasters/notesMaster1.xml" Id="Rc105c368854b43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dfd600031841fa" /><Relationship Type="http://schemas.openxmlformats.org/officeDocument/2006/relationships/notesMaster" Target="/ppt/notesMasters/notesMaster1.xml" Id="R54abf3bcfeec4a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c2a2e822be4c27" /><Relationship Type="http://schemas.openxmlformats.org/officeDocument/2006/relationships/notesMaster" Target="/ppt/notesMasters/notesMaster1.xml" Id="R14db0192930a48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fe1d0eec04e6a" /><Relationship Type="http://schemas.openxmlformats.org/officeDocument/2006/relationships/notesMaster" Target="/ppt/notesMasters/notesMaster1.xml" Id="R06359519780a4c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42c42aa9b7427e" /><Relationship Type="http://schemas.openxmlformats.org/officeDocument/2006/relationships/notesMaster" Target="/ppt/notesMasters/notesMaster1.xml" Id="R01b50d9158874a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f397ee034b4b61" /><Relationship Type="http://schemas.openxmlformats.org/officeDocument/2006/relationships/notesMaster" Target="/ppt/notesMasters/notesMaster1.xml" Id="Re20adaba9402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기존 전체 흐름을 포털 입력 중심으로 보정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현재 운영 제약을 반영한 역할 기반 포털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협업 안건과 팀별 기여의 구조화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수동 업로드 기반 KPI Snapshot 운영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현 제약에 맞는 Manual-first 전략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포털 중심 목표 아키텍처와 저장소/LLM 경계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주간 마감·제출·승인·보고 운영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역할별 Agent 기능과 사람 승인 권한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Portal DB/Object Storage/GitHub 역할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MVP-확장-연계 단계와 운영 통제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현재 운영 제약 및 요구사항 (2026-08-21)</a:t>
            </a:r>
          </a:p>
          <a:p xmlns:a="http://schemas.openxmlformats.org/drawingml/2006/main">
            <a:r>
              <a:t>- 제조DX_주간업무_Agent_구축안_Compact.pptx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BP-WR-01 팀원 주간실적 작성·제출 프로세스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BP-WR-02 팀장 팀보고 작성·승인 프로세스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BP-WR-03 담당 종합보고 작성·승인 프로세스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BP-WR-04 기획팀 그룹보고 QA·상신 프로세스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BP-WR-05 그룹장 경영 리뷰·보고 확정 프로세스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purpose: 주간업무보고 Agent 포털의 5계층 논리 시스템 아키텍처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운영 제약 및 역할별 승인 요구사항 (2026-08-21~24)</a:t>
            </a:r>
          </a:p>
          <a:p xmlns:a="http://schemas.openxmlformats.org/drawingml/2006/main">
            <a:r>
              <a:t>- 제조DX_주간업무_Agent_구축안_Compact_포털운영구조.pptx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684157f21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e38b930fa4d3e" /><Relationship Type="http://schemas.openxmlformats.org/officeDocument/2006/relationships/slideLayout" Target="/ppt/slideLayouts/slideLayout1.xml" Id="R3198095d6e86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8095d6e86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0dc0fbab94e8e" /><Relationship Type="http://schemas.openxmlformats.org/officeDocument/2006/relationships/notesSlide" Target="/ppt/notesSlides/notesSlide1.xml" Id="Rd16fae894afa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681e4037c4bfc" /><Relationship Type="http://schemas.openxmlformats.org/officeDocument/2006/relationships/notesSlide" Target="/ppt/notesSlides/notesSlide2.xml" Id="R83c88adebbf4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4338685e24b2c" /><Relationship Type="http://schemas.openxmlformats.org/officeDocument/2006/relationships/notesSlide" Target="/ppt/notesSlides/notesSlide3.xml" Id="R7adbab5dc5124d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f17ff2ba4462" /><Relationship Type="http://schemas.openxmlformats.org/officeDocument/2006/relationships/notesSlide" Target="/ppt/notesSlides/notesSlide4.xml" Id="R29d701fb4b1f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936105c4c4513" /><Relationship Type="http://schemas.openxmlformats.org/officeDocument/2006/relationships/notesSlide" Target="/ppt/notesSlides/notesSlide5.xml" Id="R8b5cb7d97b1242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7b16baa2c4af4" /><Relationship Type="http://schemas.openxmlformats.org/officeDocument/2006/relationships/notesSlide" Target="/ppt/notesSlides/notesSlide6.xml" Id="R2bff34cc5c3741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2c05972954525" /><Relationship Type="http://schemas.openxmlformats.org/officeDocument/2006/relationships/notesSlide" Target="/ppt/notesSlides/notesSlide7.xml" Id="R43a6ba416a244b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31e01e9d4e87" /><Relationship Type="http://schemas.openxmlformats.org/officeDocument/2006/relationships/notesSlide" Target="/ppt/notesSlides/notesSlide8.xml" Id="R78ee773b2f5f4d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9072393c04296" /><Relationship Type="http://schemas.openxmlformats.org/officeDocument/2006/relationships/notesSlide" Target="/ppt/notesSlides/notesSlide9.xml" Id="Rbc97a29b2cee47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55e5bcb5442eb" /><Relationship Type="http://schemas.openxmlformats.org/officeDocument/2006/relationships/notesSlide" Target="/ppt/notesSlides/notesSlide10.xml" Id="R12211ff99aa4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cd40d59fb4202" /><Relationship Type="http://schemas.openxmlformats.org/officeDocument/2006/relationships/notesSlide" Target="/ppt/notesSlides/notesSlide11.xml" Id="R2d1f54f08f2645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cffbd38a5475f" /><Relationship Type="http://schemas.openxmlformats.org/officeDocument/2006/relationships/notesSlide" Target="/ppt/notesSlides/notesSlide12.xml" Id="R08f3167c6e274c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bf24368f740c8" /><Relationship Type="http://schemas.openxmlformats.org/officeDocument/2006/relationships/notesSlide" Target="/ppt/notesSlides/notesSlide13.xml" Id="Rf61bd60c0c954f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2fa8ee6094a3e" /><Relationship Type="http://schemas.openxmlformats.org/officeDocument/2006/relationships/notesSlide" Target="/ppt/notesSlides/notesSlide14.xml" Id="Rb087dc1632cf47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3f243acad492f" /><Relationship Type="http://schemas.openxmlformats.org/officeDocument/2006/relationships/notesSlide" Target="/ppt/notesSlides/notesSlide15.xml" Id="Rb74bea636ad547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50d3b10a4325" /><Relationship Type="http://schemas.openxmlformats.org/officeDocument/2006/relationships/notesSlide" Target="/ppt/notesSlides/notesSlide16.xml" Id="Rf6aa315d454b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1-kicker">
            <a:extLst xmlns:a="http://schemas.openxmlformats.org/drawingml/2006/main">
              <a:ext uri="{FF2B5EF4-FFF2-40B4-BE49-F238E27FC236}">
                <a16:creationId xmlns:a16="http://schemas.microsoft.com/office/drawing/2014/main" id="{B6247663-B1AE-4113-8615-5867F83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MANUFACTURING DX · WEEKLY REPORT AGENT</a:t>
            </a:r>
          </a:p>
        </p:txBody>
      </p:sp>
      <p:sp>
        <p:nvSpPr>
          <p:cNvPr id="2" name="s1-chip-bg">
            <a:extLst xmlns:a="http://schemas.openxmlformats.org/drawingml/2006/main">
              <a:ext uri="{FF2B5EF4-FFF2-40B4-BE49-F238E27FC236}">
                <a16:creationId xmlns:a16="http://schemas.microsoft.com/office/drawing/2014/main" id="{237D8155-A7F2-4E9D-9CC4-BBA8ACE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1-chip">
            <a:extLst xmlns:a="http://schemas.openxmlformats.org/drawingml/2006/main">
              <a:ext uri="{FF2B5EF4-FFF2-40B4-BE49-F238E27FC236}">
                <a16:creationId xmlns:a16="http://schemas.microsoft.com/office/drawing/2014/main" id="{82A0C235-9365-4491-8211-105584E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4 FILES · 662 PAGES ANALYZED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2768E233-859A-49CC-8726-F1DFB0D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주간업무 Agent로 작성–요약–승인–재활용을 연결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66E6FCB-7842-429D-A630-72627BD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PPT를 기준 데이터로 유지하지 않고, 승인된 구조화 데이터에서 목적별 보고서를 자동 생성</a:t>
            </a:r>
          </a:p>
        </p:txBody>
      </p:sp>
      <p:sp>
        <p:nvSpPr>
          <p:cNvPr id="6" name="s1-accent">
            <a:extLst xmlns:a="http://schemas.openxmlformats.org/drawingml/2006/main">
              <a:ext uri="{FF2B5EF4-FFF2-40B4-BE49-F238E27FC236}">
                <a16:creationId xmlns:a16="http://schemas.microsoft.com/office/drawing/2014/main" id="{4AC8EA77-B644-481C-9FA3-FCAE14E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0A0AB04-33B8-427A-B78F-421DCE3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D0D56C2-AD61-476D-A008-B097826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145A244-40A0-4EAD-90E1-205A2B8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BA42CF43-8DD0-4522-B7EF-D443051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tage-1-bg">
            <a:extLst xmlns:a="http://schemas.openxmlformats.org/drawingml/2006/main">
              <a:ext uri="{FF2B5EF4-FFF2-40B4-BE49-F238E27FC236}">
                <a16:creationId xmlns:a16="http://schemas.microsoft.com/office/drawing/2014/main" id="{D8D91CBA-46A6-4768-BB11-56F465C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age-1-num-bg">
            <a:extLst xmlns:a="http://schemas.openxmlformats.org/drawingml/2006/main">
              <a:ext uri="{FF2B5EF4-FFF2-40B4-BE49-F238E27FC236}">
                <a16:creationId xmlns:a16="http://schemas.microsoft.com/office/drawing/2014/main" id="{DA9E2CE1-E156-4702-ACCD-2DF42FA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age-1-num">
            <a:extLst xmlns:a="http://schemas.openxmlformats.org/drawingml/2006/main">
              <a:ext uri="{FF2B5EF4-FFF2-40B4-BE49-F238E27FC236}">
                <a16:creationId xmlns:a16="http://schemas.microsoft.com/office/drawing/2014/main" id="{42D62120-A7A0-49F5-BC76-174334C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53BC4618-F8E3-4F7D-B9F2-DC8A883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포털 입력</a:t>
            </a:r>
          </a:p>
        </p:txBody>
      </p:sp>
      <p:sp>
        <p:nvSpPr>
          <p:cNvPr id="15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8DB4B324-750F-49FB-9610-210AF03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업무 메모 · 파일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KPI Snapshot</a:t>
            </a:r>
          </a:p>
        </p:txBody>
      </p:sp>
      <p:sp>
        <p:nvSpPr>
          <p:cNvPr id="16" name="stage-2-bg">
            <a:extLst xmlns:a="http://schemas.openxmlformats.org/drawingml/2006/main">
              <a:ext uri="{FF2B5EF4-FFF2-40B4-BE49-F238E27FC236}">
                <a16:creationId xmlns:a16="http://schemas.microsoft.com/office/drawing/2014/main" id="{6CB6FF47-8592-4F7C-B983-CB9FAC0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age-2-num-bg">
            <a:extLst xmlns:a="http://schemas.openxmlformats.org/drawingml/2006/main">
              <a:ext uri="{FF2B5EF4-FFF2-40B4-BE49-F238E27FC236}">
                <a16:creationId xmlns:a16="http://schemas.microsoft.com/office/drawing/2014/main" id="{A3581172-1A5F-4C3D-8865-4FE0A99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tage-2-num">
            <a:extLst xmlns:a="http://schemas.openxmlformats.org/drawingml/2006/main">
              <a:ext uri="{FF2B5EF4-FFF2-40B4-BE49-F238E27FC236}">
                <a16:creationId xmlns:a16="http://schemas.microsoft.com/office/drawing/2014/main" id="{71321C42-396C-420C-8E87-3955957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362E08E-3F82-425D-A04E-A89FE95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확정</a:t>
            </a:r>
          </a:p>
        </p:txBody>
      </p:sp>
      <p:sp>
        <p:nvSpPr>
          <p:cNvPr id="20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5EACCFE9-2829-4A78-9E1A-37A2149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안건 선택 · 수정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본인 제출</a:t>
            </a:r>
          </a:p>
        </p:txBody>
      </p:sp>
      <p:sp>
        <p:nvSpPr>
          <p:cNvPr id="21" name="stage-3-bg">
            <a:extLst xmlns:a="http://schemas.openxmlformats.org/drawingml/2006/main">
              <a:ext uri="{FF2B5EF4-FFF2-40B4-BE49-F238E27FC236}">
                <a16:creationId xmlns:a16="http://schemas.microsoft.com/office/drawing/2014/main" id="{A89B227C-A0A3-4EB9-9C73-9F8053A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age-3-num-bg">
            <a:extLst xmlns:a="http://schemas.openxmlformats.org/drawingml/2006/main">
              <a:ext uri="{FF2B5EF4-FFF2-40B4-BE49-F238E27FC236}">
                <a16:creationId xmlns:a16="http://schemas.microsoft.com/office/drawing/2014/main" id="{55E78725-2BF9-42B7-92DD-DECB612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age-3-num">
            <a:extLst xmlns:a="http://schemas.openxmlformats.org/drawingml/2006/main">
              <a:ext uri="{FF2B5EF4-FFF2-40B4-BE49-F238E27FC236}">
                <a16:creationId xmlns:a16="http://schemas.microsoft.com/office/drawing/2014/main" id="{04B71FC5-4694-456C-BECF-7AB33F4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1F7619F-16BB-4959-B4C7-50E90BA5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 요약</a:t>
            </a:r>
          </a:p>
        </p:txBody>
      </p:sp>
      <p:sp>
        <p:nvSpPr>
          <p:cNvPr id="25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C5E17E0E-F1E7-4D42-B025-0A39308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KPI별 요약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1–3 pages</a:t>
            </a:r>
          </a:p>
        </p:txBody>
      </p:sp>
      <p:sp>
        <p:nvSpPr>
          <p:cNvPr id="26" name="stage-4-bg">
            <a:extLst xmlns:a="http://schemas.openxmlformats.org/drawingml/2006/main">
              <a:ext uri="{FF2B5EF4-FFF2-40B4-BE49-F238E27FC236}">
                <a16:creationId xmlns:a16="http://schemas.microsoft.com/office/drawing/2014/main" id="{89E0B0D8-8DAA-46DC-95ED-626AA6F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tage-4-num-bg">
            <a:extLst xmlns:a="http://schemas.openxmlformats.org/drawingml/2006/main">
              <a:ext uri="{FF2B5EF4-FFF2-40B4-BE49-F238E27FC236}">
                <a16:creationId xmlns:a16="http://schemas.microsoft.com/office/drawing/2014/main" id="{D8F9645D-E307-4CFF-AE18-0772A2C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tage-4-num">
            <a:extLst xmlns:a="http://schemas.openxmlformats.org/drawingml/2006/main">
              <a:ext uri="{FF2B5EF4-FFF2-40B4-BE49-F238E27FC236}">
                <a16:creationId xmlns:a16="http://schemas.microsoft.com/office/drawing/2014/main" id="{C2882113-E004-4F8B-89CF-165C9BB1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C70E2352-4C5B-4C46-A30D-87D08A4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담당·기획 승인</a:t>
            </a:r>
          </a:p>
        </p:txBody>
      </p:sp>
      <p:sp>
        <p:nvSpPr>
          <p:cNvPr id="30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6E30C6D0-DAE1-4CAD-8FF7-B4E7789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 승인본 종합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QA · 이슈 · 리스크</a:t>
            </a:r>
          </a:p>
        </p:txBody>
      </p:sp>
      <p:sp>
        <p:nvSpPr>
          <p:cNvPr id="31" name="stage-5-bg">
            <a:extLst xmlns:a="http://schemas.openxmlformats.org/drawingml/2006/main">
              <a:ext uri="{FF2B5EF4-FFF2-40B4-BE49-F238E27FC236}">
                <a16:creationId xmlns:a16="http://schemas.microsoft.com/office/drawing/2014/main" id="{0A9E5720-BE3A-4C98-95AF-438F569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tage-5-num-bg">
            <a:extLst xmlns:a="http://schemas.openxmlformats.org/drawingml/2006/main">
              <a:ext uri="{FF2B5EF4-FFF2-40B4-BE49-F238E27FC236}">
                <a16:creationId xmlns:a16="http://schemas.microsoft.com/office/drawing/2014/main" id="{861FC82A-EE54-4C26-BF4B-7189ACD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age-5-num">
            <a:extLst xmlns:a="http://schemas.openxmlformats.org/drawingml/2006/main">
              <a:ext uri="{FF2B5EF4-FFF2-40B4-BE49-F238E27FC236}">
                <a16:creationId xmlns:a16="http://schemas.microsoft.com/office/drawing/2014/main" id="{893A16BA-BF95-4E21-AD80-1E33B76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2263A"/>
                </a:solidFill>
              </a:defRPr>
            </a:pPr>
            <a:r>
              <a:rPr sz="863" b="1">
                <a:solidFill>
                  <a:srgbClr val="12263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D9B43ABA-93D9-4C67-9E87-F765B48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FFFFFF"/>
                </a:solidFill>
              </a:defRPr>
            </a:pPr>
            <a:r>
              <a:rPr sz="13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목적별 출력</a:t>
            </a:r>
          </a:p>
        </p:txBody>
      </p:sp>
      <p:sp>
        <p:nvSpPr>
          <p:cNvPr id="35" name="stage-5-detail">
            <a:extLst xmlns:a="http://schemas.openxmlformats.org/drawingml/2006/main">
              <a:ext uri="{FF2B5EF4-FFF2-40B4-BE49-F238E27FC236}">
                <a16:creationId xmlns:a16="http://schemas.microsoft.com/office/drawing/2014/main" id="{C28964D4-F88C-41CC-A227-5423966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내부 · 외부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PPT · PDF</a:t>
            </a:r>
          </a:p>
        </p:txBody>
      </p:sp>
      <p:sp>
        <p:nvSpPr>
          <p:cNvPr id="36" name="orchestrator-label">
            <a:extLst xmlns:a="http://schemas.openxmlformats.org/drawingml/2006/main">
              <a:ext uri="{FF2B5EF4-FFF2-40B4-BE49-F238E27FC236}">
                <a16:creationId xmlns:a16="http://schemas.microsoft.com/office/drawing/2014/main" id="{F64AC1B3-D88F-417B-8568-3B4F986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5588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ONE ORCHESTRATOR · ROLE-SPECIFIC FUNCTIONS</a:t>
            </a:r>
          </a:p>
        </p:txBody>
      </p:sp>
      <p:sp>
        <p:nvSpPr>
          <p:cNvPr id="37" name="orchestrator-title">
            <a:extLst xmlns:a="http://schemas.openxmlformats.org/drawingml/2006/main">
              <a:ext uri="{FF2B5EF4-FFF2-40B4-BE49-F238E27FC236}">
                <a16:creationId xmlns:a16="http://schemas.microsoft.com/office/drawing/2014/main" id="{3E743F80-6699-44E0-8912-5E7DA27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703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하나의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진입점에서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역할별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전문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기능을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호출</a:t>
            </a:r>
            <a:endParaRPr sz="1650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68B54597-5F25-49F4-8FEA-536B70D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636783DB-21DA-4E45-B9FC-692A18F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 · DRAFT</a:t>
            </a:r>
          </a:p>
        </p:txBody>
      </p:sp>
      <p:sp>
        <p:nvSpPr>
          <p:cNvPr id="40" name="role-1-title">
            <a:extLst xmlns:a="http://schemas.openxmlformats.org/drawingml/2006/main">
              <a:ext uri="{FF2B5EF4-FFF2-40B4-BE49-F238E27FC236}">
                <a16:creationId xmlns:a16="http://schemas.microsoft.com/office/drawing/2014/main" id="{776ACAA3-54B1-46F2-B7A0-5710D33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Agent</a:t>
            </a:r>
          </a:p>
        </p:txBody>
      </p:sp>
      <p:sp>
        <p:nvSpPr>
          <p:cNvPr id="41" name="role-1-bullet-1">
            <a:extLst xmlns:a="http://schemas.openxmlformats.org/drawingml/2006/main">
              <a:ext uri="{FF2B5EF4-FFF2-40B4-BE49-F238E27FC236}">
                <a16:creationId xmlns:a16="http://schemas.microsoft.com/office/drawing/2014/main" id="{B8ECFB2A-C303-492F-B8FF-1ED9716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업무 메모·파일에서 초안</a:t>
            </a:r>
          </a:p>
        </p:txBody>
      </p:sp>
      <p:sp>
        <p:nvSpPr>
          <p:cNvPr id="42" name="role-1-bullet-2">
            <a:extLst xmlns:a="http://schemas.openxmlformats.org/drawingml/2006/main">
              <a:ext uri="{FF2B5EF4-FFF2-40B4-BE49-F238E27FC236}">
                <a16:creationId xmlns:a16="http://schemas.microsoft.com/office/drawing/2014/main" id="{E6DC26A8-6F53-4691-BCB2-06583FA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지난주 대비 변경 식별</a:t>
            </a:r>
          </a:p>
        </p:txBody>
      </p:sp>
      <p:sp>
        <p:nvSpPr>
          <p:cNvPr id="43" name="role-1-bullet-3">
            <a:extLst xmlns:a="http://schemas.openxmlformats.org/drawingml/2006/main">
              <a:ext uri="{FF2B5EF4-FFF2-40B4-BE49-F238E27FC236}">
                <a16:creationId xmlns:a16="http://schemas.microsoft.com/office/drawing/2014/main" id="{DAEB42DD-012A-4DBC-98ED-6E75177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실적 선택·수정 후 제출</a:t>
            </a:r>
          </a:p>
        </p:txBody>
      </p:sp>
      <p:sp>
        <p:nvSpPr>
          <p:cNvPr id="44" name="role-2-divider">
            <a:extLst xmlns:a="http://schemas.openxmlformats.org/drawingml/2006/main">
              <a:ext uri="{FF2B5EF4-FFF2-40B4-BE49-F238E27FC236}">
                <a16:creationId xmlns:a16="http://schemas.microsoft.com/office/drawing/2014/main" id="{8BE79B7F-57E6-410B-AC87-896DDF7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3CC7C948-85E4-46CB-857F-185FB61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DFA9D208-D48E-498C-B278-16191FE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 · SUMMARIZE</a:t>
            </a:r>
          </a:p>
        </p:txBody>
      </p:sp>
      <p:sp>
        <p:nvSpPr>
          <p:cNvPr id="47" name="role-2-title">
            <a:extLst xmlns:a="http://schemas.openxmlformats.org/drawingml/2006/main">
              <a:ext uri="{FF2B5EF4-FFF2-40B4-BE49-F238E27FC236}">
                <a16:creationId xmlns:a16="http://schemas.microsoft.com/office/drawing/2014/main" id="{23733101-C0A9-482F-9104-AAE248B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 Agent</a:t>
            </a:r>
          </a:p>
        </p:txBody>
      </p:sp>
      <p:sp>
        <p:nvSpPr>
          <p:cNvPr id="48" name="role-2-bullet-1">
            <a:extLst xmlns:a="http://schemas.openxmlformats.org/drawingml/2006/main">
              <a:ext uri="{FF2B5EF4-FFF2-40B4-BE49-F238E27FC236}">
                <a16:creationId xmlns:a16="http://schemas.microsoft.com/office/drawing/2014/main" id="{22EE2E63-DBB8-4BA0-8FB0-EFDC332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누락·중복·KPI 점검</a:t>
            </a:r>
          </a:p>
        </p:txBody>
      </p:sp>
      <p:sp>
        <p:nvSpPr>
          <p:cNvPr id="49" name="role-2-bullet-2">
            <a:extLst xmlns:a="http://schemas.openxmlformats.org/drawingml/2006/main">
              <a:ext uri="{FF2B5EF4-FFF2-40B4-BE49-F238E27FC236}">
                <a16:creationId xmlns:a16="http://schemas.microsoft.com/office/drawing/2014/main" id="{A69287D0-B97B-4D18-B845-B9DB214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팀별</a:t>
            </a: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1–3p </a:t>
            </a: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role-2-bullet-3">
            <a:extLst xmlns:a="http://schemas.openxmlformats.org/drawingml/2006/main">
              <a:ext uri="{FF2B5EF4-FFF2-40B4-BE49-F238E27FC236}">
                <a16:creationId xmlns:a16="http://schemas.microsoft.com/office/drawing/2014/main" id="{C699C999-E82F-49BC-9702-FDA155F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코멘트·반려·승인</a:t>
            </a:r>
          </a:p>
        </p:txBody>
      </p:sp>
      <p:sp>
        <p:nvSpPr>
          <p:cNvPr id="51" name="role-3-divider">
            <a:extLst xmlns:a="http://schemas.openxmlformats.org/drawingml/2006/main">
              <a:ext uri="{FF2B5EF4-FFF2-40B4-BE49-F238E27FC236}">
                <a16:creationId xmlns:a16="http://schemas.microsoft.com/office/drawing/2014/main" id="{6EEEA205-8ABF-4C4A-8F94-788AD92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352E2F81-C1C9-4075-8C85-632EEB4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58E59911-153A-4754-BCF5-36C5094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 · SYNTHESIZE</a:t>
            </a:r>
          </a:p>
        </p:txBody>
      </p:sp>
      <p:sp>
        <p:nvSpPr>
          <p:cNvPr id="54" name="role-3-title">
            <a:extLst xmlns:a="http://schemas.openxmlformats.org/drawingml/2006/main">
              <a:ext uri="{FF2B5EF4-FFF2-40B4-BE49-F238E27FC236}">
                <a16:creationId xmlns:a16="http://schemas.microsoft.com/office/drawing/2014/main" id="{164DD642-053E-4A13-828B-EE815FF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 Agent</a:t>
            </a:r>
          </a:p>
        </p:txBody>
      </p:sp>
      <p:sp>
        <p:nvSpPr>
          <p:cNvPr id="55" name="role-3-bullet-1">
            <a:extLst xmlns:a="http://schemas.openxmlformats.org/drawingml/2006/main">
              <a:ext uri="{FF2B5EF4-FFF2-40B4-BE49-F238E27FC236}">
                <a16:creationId xmlns:a16="http://schemas.microsoft.com/office/drawing/2014/main" id="{956C0C25-764D-4EA5-B1B6-A1D54AC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승인된 팀 작성본 종합</a:t>
            </a:r>
          </a:p>
        </p:txBody>
      </p:sp>
      <p:sp>
        <p:nvSpPr>
          <p:cNvPr id="56" name="role-3-bullet-2">
            <a:extLst xmlns:a="http://schemas.openxmlformats.org/drawingml/2006/main">
              <a:ext uri="{FF2B5EF4-FFF2-40B4-BE49-F238E27FC236}">
                <a16:creationId xmlns:a16="http://schemas.microsoft.com/office/drawing/2014/main" id="{A23B07CA-73EF-4D0E-A0FA-776B0E3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핵심 이슈·리스크 점검</a:t>
            </a:r>
          </a:p>
        </p:txBody>
      </p:sp>
      <p:sp>
        <p:nvSpPr>
          <p:cNvPr id="57" name="role-3-bullet-3">
            <a:extLst xmlns:a="http://schemas.openxmlformats.org/drawingml/2006/main">
              <a:ext uri="{FF2B5EF4-FFF2-40B4-BE49-F238E27FC236}">
                <a16:creationId xmlns:a16="http://schemas.microsoft.com/office/drawing/2014/main" id="{4A643332-2200-419A-8A52-0B68907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담당 종합문 수정·승인</a:t>
            </a:r>
          </a:p>
        </p:txBody>
      </p:sp>
      <p:sp>
        <p:nvSpPr>
          <p:cNvPr id="58" name="role-4-divider">
            <a:extLst xmlns:a="http://schemas.openxmlformats.org/drawingml/2006/main">
              <a:ext uri="{FF2B5EF4-FFF2-40B4-BE49-F238E27FC236}">
                <a16:creationId xmlns:a16="http://schemas.microsoft.com/office/drawing/2014/main" id="{E1D5CD22-80C3-4146-A2BC-EA53746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98C9FE6C-0A7F-47B9-97C2-8F26EA77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80EB72C7-AAF5-4DB3-B6A6-EA2272B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 · PUBLISH</a:t>
            </a:r>
          </a:p>
        </p:txBody>
      </p:sp>
      <p:sp>
        <p:nvSpPr>
          <p:cNvPr id="61" name="role-4-title">
            <a:extLst xmlns:a="http://schemas.openxmlformats.org/drawingml/2006/main">
              <a:ext uri="{FF2B5EF4-FFF2-40B4-BE49-F238E27FC236}">
                <a16:creationId xmlns:a16="http://schemas.microsoft.com/office/drawing/2014/main" id="{669A40C4-F36B-48E7-9C9B-89DF69E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기획·그룹장 Agent</a:t>
            </a:r>
          </a:p>
        </p:txBody>
      </p:sp>
      <p:sp>
        <p:nvSpPr>
          <p:cNvPr id="62" name="role-4-bullet-1">
            <a:extLst xmlns:a="http://schemas.openxmlformats.org/drawingml/2006/main">
              <a:ext uri="{FF2B5EF4-FFF2-40B4-BE49-F238E27FC236}">
                <a16:creationId xmlns:a16="http://schemas.microsoft.com/office/drawing/2014/main" id="{4DFD1FFC-3153-4F19-A4BB-24FA861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보고본 QA·목적별 재구성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role-4-bullet-2">
            <a:extLst xmlns:a="http://schemas.openxmlformats.org/drawingml/2006/main">
              <a:ext uri="{FF2B5EF4-FFF2-40B4-BE49-F238E27FC236}">
                <a16:creationId xmlns:a16="http://schemas.microsoft.com/office/drawing/2014/main" id="{A8653DB0-CE20-48E4-8CAB-EFB1937C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보안·비식별 규칙 적용</a:t>
            </a:r>
          </a:p>
        </p:txBody>
      </p:sp>
      <p:sp>
        <p:nvSpPr>
          <p:cNvPr id="64" name="role-4-bullet-3">
            <a:extLst xmlns:a="http://schemas.openxmlformats.org/drawingml/2006/main">
              <a:ext uri="{FF2B5EF4-FFF2-40B4-BE49-F238E27FC236}">
                <a16:creationId xmlns:a16="http://schemas.microsoft.com/office/drawing/2014/main" id="{547E3EC6-FCE2-4E3A-84BC-31DFE80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그룹 리뷰·PPT/PDF 생성</a:t>
            </a:r>
          </a:p>
        </p:txBody>
      </p:sp>
      <p:sp>
        <p:nvSpPr>
          <p:cNvPr id="65" name="principle-bg">
            <a:extLst xmlns:a="http://schemas.openxmlformats.org/drawingml/2006/main">
              <a:ext uri="{FF2B5EF4-FFF2-40B4-BE49-F238E27FC236}">
                <a16:creationId xmlns:a16="http://schemas.microsoft.com/office/drawing/2014/main" id="{04C83869-8E0A-4378-88C6-D4576B6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781103C1-67EA-4C82-963D-18C1019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OPERATING PRINCIPLE</a:t>
            </a:r>
          </a:p>
        </p:txBody>
      </p:sp>
      <p:sp>
        <p:nvSpPr>
          <p:cNvPr id="67" name="principle-main">
            <a:extLst xmlns:a="http://schemas.openxmlformats.org/drawingml/2006/main">
              <a:ext uri="{FF2B5EF4-FFF2-40B4-BE49-F238E27FC236}">
                <a16:creationId xmlns:a16="http://schemas.microsoft.com/office/drawing/2014/main" id="{508B9715-27F5-4EAE-AFF2-22A586E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PPT는 산출물 · 구조화 DB는 기준 원본 · 파란색/완료 4주 규칙은 자동 적용</a:t>
            </a:r>
          </a:p>
        </p:txBody>
      </p:sp>
      <p:sp>
        <p:nvSpPr>
          <p:cNvPr id="68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4A145C5A-CF7F-4D39-BE21-09A0AD8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3212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ROLE-BASED OPERATING MODEL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RECOMMENDED TARGET MODEL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200명 운영은 역할·권한 기반 웹 포털로 시작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하나의 Agent 화면을 사용하되, 데이터 범위와 승인 권한은 백엔드에서 분리·강제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ROLE-BASED ACCESS &amp; APPROVAL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조회·작성 범위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승인·산출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본인 초안 · 이력 · 증빙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선택 · 수정 · 확정 · 제출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제출된 팀 안건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요약 · 반려 · 승인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승인된 팀 작성본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종합 · 결재 · 승인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기획팀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승인본 · 그룹 양식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QA · 보고본 승인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그룹장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기획 승인 보고본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리뷰 · 질의 · 의사결정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PERMISSION RULE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Role × Org Scope × Report State × Security Label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RECOMMENDED ARCHITECTURE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사내 웹 포털을 기준 시스템으로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사내</a:t>
            </a: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 웹 </a:t>
            </a: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포털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SSO · RBAC · 검토/승인 화면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구조화 DB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WorkItem · Update · Evidence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Orchestrator Agent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역할별 기능 호출 · 권한 재검증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보고서 Renderer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팀/조직 · 내부/외부 PPT·PDF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메일·API 연동 = 후속 단계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운영 기준 = 포털·DB·승인 로그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 1개 팀 · 2개 보고 주기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NEXT DECISION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PoC 대상 팀 선정 · 업무/IT Owner 지정 · 보안/보관 정책 확정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검증: 작성·요약시간 / 수정·반려율 / 출처 연결률 / 제출률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3-kicker">
            <a:extLst xmlns:a="http://schemas.openxmlformats.org/drawingml/2006/main">
              <a:ext uri="{FF2B5EF4-FFF2-40B4-BE49-F238E27FC236}">
                <a16:creationId xmlns:a16="http://schemas.microsoft.com/office/drawing/2014/main" id="{14E7ECE5-6060-4B51-8EAB-AC2B91E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CROSS-TEAM COLLABORATION MODEL</a:t>
            </a:r>
          </a:p>
        </p:txBody>
      </p:sp>
      <p:sp>
        <p:nvSpPr>
          <p:cNvPr id="2" name="s3-chip-bg">
            <a:extLst xmlns:a="http://schemas.openxmlformats.org/drawingml/2006/main">
              <a:ext uri="{FF2B5EF4-FFF2-40B4-BE49-F238E27FC236}">
                <a16:creationId xmlns:a16="http://schemas.microsoft.com/office/drawing/2014/main" id="{F75064C6-018D-46F6-9398-24FF336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3-chip">
            <a:extLst xmlns:a="http://schemas.openxmlformats.org/drawingml/2006/main">
              <a:ext uri="{FF2B5EF4-FFF2-40B4-BE49-F238E27FC236}">
                <a16:creationId xmlns:a16="http://schemas.microsoft.com/office/drawing/2014/main" id="{C3FEDD05-8718-48F7-889C-2AB71F7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0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COLLABORATION ID + WORKITEM</a:t>
            </a:r>
          </a:p>
        </p:txBody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9791AEA0-5A3C-4CD0-B3A8-7B74CFA7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협업 안건은 공통 사실 1회, 팀별 기여는 분리 관리</a:t>
            </a:r>
          </a:p>
        </p:txBody>
      </p:sp>
      <p:sp>
        <p:nvSpPr>
          <p:cNvPr id="5" name="s3-subtitle">
            <a:extLst xmlns:a="http://schemas.openxmlformats.org/drawingml/2006/main">
              <a:ext uri="{FF2B5EF4-FFF2-40B4-BE49-F238E27FC236}">
                <a16:creationId xmlns:a16="http://schemas.microsoft.com/office/drawing/2014/main" id="{613DA45D-E4C9-4AF2-8F45-439D905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Collaboration ID로 타팀·타담당 업무를 연결하고 공통 KPI·일정·결정사항을 동일하게 제공</a:t>
            </a:r>
          </a:p>
        </p:txBody>
      </p:sp>
      <p:sp>
        <p:nvSpPr>
          <p:cNvPr id="6" name="s3-accent">
            <a:extLst xmlns:a="http://schemas.openxmlformats.org/drawingml/2006/main">
              <a:ext uri="{FF2B5EF4-FFF2-40B4-BE49-F238E27FC236}">
                <a16:creationId xmlns:a16="http://schemas.microsoft.com/office/drawing/2014/main" id="{A8B23417-017C-43F3-BDBE-0EFCBF6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llab-down-arrow-1">
            <a:extLst xmlns:a="http://schemas.openxmlformats.org/drawingml/2006/main">
              <a:ext uri="{FF2B5EF4-FFF2-40B4-BE49-F238E27FC236}">
                <a16:creationId xmlns:a16="http://schemas.microsoft.com/office/drawing/2014/main" id="{83684ADE-055F-4F48-9043-467A881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llab-down-arrow-2">
            <a:extLst xmlns:a="http://schemas.openxmlformats.org/drawingml/2006/main">
              <a:ext uri="{FF2B5EF4-FFF2-40B4-BE49-F238E27FC236}">
                <a16:creationId xmlns:a16="http://schemas.microsoft.com/office/drawing/2014/main" id="{2C19DED0-0D1B-4386-BD61-82A9E25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05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ollab-master-bg">
            <a:extLst xmlns:a="http://schemas.openxmlformats.org/drawingml/2006/main">
              <a:ext uri="{FF2B5EF4-FFF2-40B4-BE49-F238E27FC236}">
                <a16:creationId xmlns:a16="http://schemas.microsoft.com/office/drawing/2014/main" id="{EC235826-1263-4B01-A33C-845CB2C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llab-master-label">
            <a:extLst xmlns:a="http://schemas.openxmlformats.org/drawingml/2006/main">
              <a:ext uri="{FF2B5EF4-FFF2-40B4-BE49-F238E27FC236}">
                <a16:creationId xmlns:a16="http://schemas.microsoft.com/office/drawing/2014/main" id="{9346FC94-0CF4-40C1-804F-7BCA3B2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SHARED COLLABORATION RECORD</a:t>
            </a:r>
          </a:p>
        </p:txBody>
      </p:sp>
      <p:sp>
        <p:nvSpPr>
          <p:cNvPr id="11" name="collab-master-title">
            <a:extLst xmlns:a="http://schemas.openxmlformats.org/drawingml/2006/main">
              <a:ext uri="{FF2B5EF4-FFF2-40B4-BE49-F238E27FC236}">
                <a16:creationId xmlns:a16="http://schemas.microsoft.com/office/drawing/2014/main" id="{3EC10ED1-FC7A-4F40-86A1-E15C9F73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COL-XXXX  ·  공동 협업 안건</a:t>
            </a:r>
          </a:p>
        </p:txBody>
      </p:sp>
      <p:sp>
        <p:nvSpPr>
          <p:cNvPr id="12" name="collab-master-detail">
            <a:extLst xmlns:a="http://schemas.openxmlformats.org/drawingml/2006/main">
              <a:ext uri="{FF2B5EF4-FFF2-40B4-BE49-F238E27FC236}">
                <a16:creationId xmlns:a16="http://schemas.microsoft.com/office/drawing/2014/main" id="{0A1C4F50-11BB-49C7-9210-89CA83A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E9F6"/>
                </a:solidFill>
              </a:defRPr>
            </a:pPr>
            <a:r>
              <a:rPr sz="1125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협업 목표 · 주관/참여 조직 · 완료 기준 · Milestone · Decision/Request</a:t>
            </a:r>
          </a:p>
        </p:txBody>
      </p:sp>
      <p:sp>
        <p:nvSpPr>
          <p:cNvPr id="13" name="collab-master-rule">
            <a:extLst xmlns:a="http://schemas.openxmlformats.org/drawingml/2006/main">
              <a:ext uri="{FF2B5EF4-FFF2-40B4-BE49-F238E27FC236}">
                <a16:creationId xmlns:a16="http://schemas.microsoft.com/office/drawing/2014/main" id="{02458385-36F7-4920-B0AD-8D47A0E5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764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9C7F2"/>
                </a:solidFill>
              </a:defRPr>
            </a:pPr>
            <a:r>
              <a:rPr sz="1350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모든 참여 조직에 동일한 기준정보 제공</a:t>
            </a:r>
          </a:p>
        </p:txBody>
      </p:sp>
      <p:sp>
        <p:nvSpPr>
          <p:cNvPr id="14" name="shared-zone-label">
            <a:extLst xmlns:a="http://schemas.openxmlformats.org/drawingml/2006/main">
              <a:ext uri="{FF2B5EF4-FFF2-40B4-BE49-F238E27FC236}">
                <a16:creationId xmlns:a16="http://schemas.microsoft.com/office/drawing/2014/main" id="{4199BBF2-EF0D-4CEE-8263-7949924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COMMON AREA · AUTO / LOCKED</a:t>
            </a:r>
          </a:p>
        </p:txBody>
      </p:sp>
      <p:sp>
        <p:nvSpPr>
          <p:cNvPr id="15" name="shared-zone-title">
            <a:extLst xmlns:a="http://schemas.openxmlformats.org/drawingml/2006/main">
              <a:ext uri="{FF2B5EF4-FFF2-40B4-BE49-F238E27FC236}">
                <a16:creationId xmlns:a16="http://schemas.microsoft.com/office/drawing/2014/main" id="{80011A8B-2728-4A7C-936D-700F3BA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공통 영역은 한 번만 등록</a:t>
            </a:r>
          </a:p>
        </p:txBody>
      </p:sp>
      <p:sp>
        <p:nvSpPr>
          <p:cNvPr id="16" name="shared-zone-bg">
            <a:extLst xmlns:a="http://schemas.openxmlformats.org/drawingml/2006/main">
              <a:ext uri="{FF2B5EF4-FFF2-40B4-BE49-F238E27FC236}">
                <a16:creationId xmlns:a16="http://schemas.microsoft.com/office/drawing/2014/main" id="{75BF08F1-0F09-4F3A-93C8-9246849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629150" cy="207645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red-row-0-label">
            <a:extLst xmlns:a="http://schemas.openxmlformats.org/drawingml/2006/main">
              <a:ext uri="{FF2B5EF4-FFF2-40B4-BE49-F238E27FC236}">
                <a16:creationId xmlns:a16="http://schemas.microsoft.com/office/drawing/2014/main" id="{A5C50A40-17AB-4F52-8BE2-081C7A2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협업 식별</a:t>
            </a:r>
          </a:p>
        </p:txBody>
      </p:sp>
      <p:sp>
        <p:nvSpPr>
          <p:cNvPr id="18" name="shared-row-0-value">
            <a:extLst xmlns:a="http://schemas.openxmlformats.org/drawingml/2006/main">
              <a:ext uri="{FF2B5EF4-FFF2-40B4-BE49-F238E27FC236}">
                <a16:creationId xmlns:a16="http://schemas.microsoft.com/office/drawing/2014/main" id="{D85866E0-B8B7-4B57-8BD0-0088DE54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Collaboration ID · 안건명</a:t>
            </a:r>
          </a:p>
        </p:txBody>
      </p:sp>
      <p:sp>
        <p:nvSpPr>
          <p:cNvPr id="19" name="shared-row-1-line">
            <a:extLst xmlns:a="http://schemas.openxmlformats.org/drawingml/2006/main">
              <a:ext uri="{FF2B5EF4-FFF2-40B4-BE49-F238E27FC236}">
                <a16:creationId xmlns:a16="http://schemas.microsoft.com/office/drawing/2014/main" id="{72662145-4EC1-485A-8909-53AA621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red-row-1-label">
            <a:extLst xmlns:a="http://schemas.openxmlformats.org/drawingml/2006/main">
              <a:ext uri="{FF2B5EF4-FFF2-40B4-BE49-F238E27FC236}">
                <a16:creationId xmlns:a16="http://schemas.microsoft.com/office/drawing/2014/main" id="{5E63D5FA-04FC-4C19-A9E2-8C9D421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조직·책임</a:t>
            </a:r>
          </a:p>
        </p:txBody>
      </p:sp>
      <p:sp>
        <p:nvSpPr>
          <p:cNvPr id="21" name="shared-row-1-value">
            <a:extLst xmlns:a="http://schemas.openxmlformats.org/drawingml/2006/main">
              <a:ext uri="{FF2B5EF4-FFF2-40B4-BE49-F238E27FC236}">
                <a16:creationId xmlns:a16="http://schemas.microsoft.com/office/drawing/2014/main" id="{1B14302F-E5D4-4EFD-89DB-DC77756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주관/참여 조직 · 역할 · Owner</a:t>
            </a:r>
          </a:p>
        </p:txBody>
      </p:sp>
      <p:sp>
        <p:nvSpPr>
          <p:cNvPr id="22" name="shared-row-2-line">
            <a:extLst xmlns:a="http://schemas.openxmlformats.org/drawingml/2006/main">
              <a:ext uri="{FF2B5EF4-FFF2-40B4-BE49-F238E27FC236}">
                <a16:creationId xmlns:a16="http://schemas.microsoft.com/office/drawing/2014/main" id="{F90D4122-2C92-4E8E-A9C4-0E819C6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red-row-2-label">
            <a:extLst xmlns:a="http://schemas.openxmlformats.org/drawingml/2006/main">
              <a:ext uri="{FF2B5EF4-FFF2-40B4-BE49-F238E27FC236}">
                <a16:creationId xmlns:a16="http://schemas.microsoft.com/office/drawing/2014/main" id="{F42EC52F-1FF9-4133-A1C9-6F00BE2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공통 근거</a:t>
            </a:r>
          </a:p>
        </p:txBody>
      </p:sp>
      <p:sp>
        <p:nvSpPr>
          <p:cNvPr id="24" name="shared-row-2-value">
            <a:extLst xmlns:a="http://schemas.openxmlformats.org/drawingml/2006/main">
              <a:ext uri="{FF2B5EF4-FFF2-40B4-BE49-F238E27FC236}">
                <a16:creationId xmlns:a16="http://schemas.microsoft.com/office/drawing/2014/main" id="{64BB0FFC-8DBA-45D7-B22A-80E4E5C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Metric Snapshot · 확정 사실 · Evidence</a:t>
            </a:r>
          </a:p>
        </p:txBody>
      </p:sp>
      <p:sp>
        <p:nvSpPr>
          <p:cNvPr id="25" name="shared-row-3-line">
            <a:extLst xmlns:a="http://schemas.openxmlformats.org/drawingml/2006/main">
              <a:ext uri="{FF2B5EF4-FFF2-40B4-BE49-F238E27FC236}">
                <a16:creationId xmlns:a16="http://schemas.microsoft.com/office/drawing/2014/main" id="{F1F9D9C0-B396-45E6-B2FA-A4CE926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red-row-3-label">
            <a:extLst xmlns:a="http://schemas.openxmlformats.org/drawingml/2006/main">
              <a:ext uri="{FF2B5EF4-FFF2-40B4-BE49-F238E27FC236}">
                <a16:creationId xmlns:a16="http://schemas.microsoft.com/office/drawing/2014/main" id="{065A103A-D147-4CEB-8EDE-F1FEC30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협업 관리</a:t>
            </a:r>
          </a:p>
        </p:txBody>
      </p:sp>
      <p:sp>
        <p:nvSpPr>
          <p:cNvPr id="27" name="shared-row-3-value">
            <a:extLst xmlns:a="http://schemas.openxmlformats.org/drawingml/2006/main">
              <a:ext uri="{FF2B5EF4-FFF2-40B4-BE49-F238E27FC236}">
                <a16:creationId xmlns:a16="http://schemas.microsoft.com/office/drawing/2014/main" id="{F83FB21A-772A-48D0-BBBA-83646B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339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일정 · 의존 관계 · Decision/Request</a:t>
            </a:r>
          </a:p>
        </p:txBody>
      </p:sp>
      <p:sp>
        <p:nvSpPr>
          <p:cNvPr id="28" name="collab-separator">
            <a:extLst xmlns:a="http://schemas.openxmlformats.org/drawingml/2006/main">
              <a:ext uri="{FF2B5EF4-FFF2-40B4-BE49-F238E27FC236}">
                <a16:creationId xmlns:a16="http://schemas.microsoft.com/office/drawing/2014/main" id="{BD52662D-4E36-407E-A83D-9D7F8BE3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95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am-zone-label">
            <a:extLst xmlns:a="http://schemas.openxmlformats.org/drawingml/2006/main">
              <a:ext uri="{FF2B5EF4-FFF2-40B4-BE49-F238E27FC236}">
                <a16:creationId xmlns:a16="http://schemas.microsoft.com/office/drawing/2014/main" id="{409AD290-ABC4-4F1C-9E44-8D21AE8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TEAM AREA · USER EDITABLE</a:t>
            </a:r>
          </a:p>
        </p:txBody>
      </p:sp>
      <p:sp>
        <p:nvSpPr>
          <p:cNvPr id="30" name="team-zone-title">
            <a:extLst xmlns:a="http://schemas.openxmlformats.org/drawingml/2006/main">
              <a:ext uri="{FF2B5EF4-FFF2-40B4-BE49-F238E27FC236}">
                <a16:creationId xmlns:a16="http://schemas.microsoft.com/office/drawing/2014/main" id="{45E4E3B9-E82B-4924-AEFC-1624F46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팀별 WorkItem에는 기여와 요청만 작성</a:t>
            </a:r>
          </a:p>
        </p:txBody>
      </p:sp>
      <p:sp>
        <p:nvSpPr>
          <p:cNvPr id="31" name="team-row-0-bg">
            <a:extLst xmlns:a="http://schemas.openxmlformats.org/drawingml/2006/main">
              <a:ext uri="{FF2B5EF4-FFF2-40B4-BE49-F238E27FC236}">
                <a16:creationId xmlns:a16="http://schemas.microsoft.com/office/drawing/2014/main" id="{ECE2CED3-E668-486B-B5E5-6D6B12A6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am-row-0-org">
            <a:extLst xmlns:a="http://schemas.openxmlformats.org/drawingml/2006/main">
              <a:ext uri="{FF2B5EF4-FFF2-40B4-BE49-F238E27FC236}">
                <a16:creationId xmlns:a16="http://schemas.microsoft.com/office/drawing/2014/main" id="{0C6FA42E-B78F-4FAD-9FF3-58F7DC7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FDC DX</a:t>
            </a:r>
          </a:p>
        </p:txBody>
      </p:sp>
      <p:sp>
        <p:nvSpPr>
          <p:cNvPr id="33" name="team-row-0-id">
            <a:extLst xmlns:a="http://schemas.openxmlformats.org/drawingml/2006/main">
              <a:ext uri="{FF2B5EF4-FFF2-40B4-BE49-F238E27FC236}">
                <a16:creationId xmlns:a16="http://schemas.microsoft.com/office/drawing/2014/main" id="{28F32211-3D14-43F4-B9A4-6F10DB4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567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WI-FDC-xxx</a:t>
            </a:r>
          </a:p>
        </p:txBody>
      </p:sp>
      <p:sp>
        <p:nvSpPr>
          <p:cNvPr id="34" name="team-row-0-value">
            <a:extLst xmlns:a="http://schemas.openxmlformats.org/drawingml/2006/main">
              <a:ext uri="{FF2B5EF4-FFF2-40B4-BE49-F238E27FC236}">
                <a16:creationId xmlns:a16="http://schemas.microsoft.com/office/drawing/2014/main" id="{48D537BD-E288-4003-B2AA-B295EDF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공정 조건 분석 · 결과 · 차주 검증</a:t>
            </a:r>
          </a:p>
        </p:txBody>
      </p:sp>
      <p:sp>
        <p:nvSpPr>
          <p:cNvPr id="35" name="team-row-1-bg">
            <a:extLst xmlns:a="http://schemas.openxmlformats.org/drawingml/2006/main">
              <a:ext uri="{FF2B5EF4-FFF2-40B4-BE49-F238E27FC236}">
                <a16:creationId xmlns:a16="http://schemas.microsoft.com/office/drawing/2014/main" id="{AFB606A8-EF96-4E61-BF68-9E3C88D0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71925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am-row-1-org">
            <a:extLst xmlns:a="http://schemas.openxmlformats.org/drawingml/2006/main">
              <a:ext uri="{FF2B5EF4-FFF2-40B4-BE49-F238E27FC236}">
                <a16:creationId xmlns:a16="http://schemas.microsoft.com/office/drawing/2014/main" id="{5377949A-A01B-4B0C-8B28-E56F0C6B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품질DX</a:t>
            </a:r>
          </a:p>
        </p:txBody>
      </p:sp>
      <p:sp>
        <p:nvSpPr>
          <p:cNvPr id="37" name="team-row-1-id">
            <a:extLst xmlns:a="http://schemas.openxmlformats.org/drawingml/2006/main">
              <a:ext uri="{FF2B5EF4-FFF2-40B4-BE49-F238E27FC236}">
                <a16:creationId xmlns:a16="http://schemas.microsoft.com/office/drawing/2014/main" id="{79240889-3717-491D-9296-919FF22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WI-QLT-xxx</a:t>
            </a:r>
          </a:p>
        </p:txBody>
      </p:sp>
      <p:sp>
        <p:nvSpPr>
          <p:cNvPr id="38" name="team-row-1-value">
            <a:extLst xmlns:a="http://schemas.openxmlformats.org/drawingml/2006/main">
              <a:ext uri="{FF2B5EF4-FFF2-40B4-BE49-F238E27FC236}">
                <a16:creationId xmlns:a16="http://schemas.microsoft.com/office/drawing/2014/main" id="{FFE355B0-8DBC-415E-9445-D874A34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불량 유형 분석 · 원인 가설 · 요청</a:t>
            </a:r>
          </a:p>
        </p:txBody>
      </p:sp>
      <p:sp>
        <p:nvSpPr>
          <p:cNvPr id="39" name="team-row-2-bg">
            <a:extLst xmlns:a="http://schemas.openxmlformats.org/drawingml/2006/main">
              <a:ext uri="{FF2B5EF4-FFF2-40B4-BE49-F238E27FC236}">
                <a16:creationId xmlns:a16="http://schemas.microsoft.com/office/drawing/2014/main" id="{43417172-0745-4233-A4BF-14B84E1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am-row-2-org">
            <a:extLst xmlns:a="http://schemas.openxmlformats.org/drawingml/2006/main">
              <a:ext uri="{FF2B5EF4-FFF2-40B4-BE49-F238E27FC236}">
                <a16:creationId xmlns:a16="http://schemas.microsoft.com/office/drawing/2014/main" id="{5A1E3706-8141-4959-8849-2B444FA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43425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자동보정</a:t>
            </a:r>
          </a:p>
        </p:txBody>
      </p:sp>
      <p:sp>
        <p:nvSpPr>
          <p:cNvPr id="41" name="team-row-2-id">
            <a:extLst xmlns:a="http://schemas.openxmlformats.org/drawingml/2006/main">
              <a:ext uri="{FF2B5EF4-FFF2-40B4-BE49-F238E27FC236}">
                <a16:creationId xmlns:a16="http://schemas.microsoft.com/office/drawing/2014/main" id="{F656D781-D760-4683-97DF-EF52D85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4342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WI-AUTO-xxx</a:t>
            </a:r>
          </a:p>
        </p:txBody>
      </p:sp>
      <p:sp>
        <p:nvSpPr>
          <p:cNvPr id="42" name="team-row-2-value">
            <a:extLst xmlns:a="http://schemas.openxmlformats.org/drawingml/2006/main">
              <a:ext uri="{FF2B5EF4-FFF2-40B4-BE49-F238E27FC236}">
                <a16:creationId xmlns:a16="http://schemas.microsoft.com/office/drawing/2014/main" id="{9FB7A833-9924-4436-BDC7-D681282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4342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보정 로직 검증 · 영향 · 일정</a:t>
            </a:r>
          </a:p>
        </p:txBody>
      </p:sp>
      <p:sp>
        <p:nvSpPr>
          <p:cNvPr id="43" name="team-row-3-bg">
            <a:extLst xmlns:a="http://schemas.openxmlformats.org/drawingml/2006/main">
              <a:ext uri="{FF2B5EF4-FFF2-40B4-BE49-F238E27FC236}">
                <a16:creationId xmlns:a16="http://schemas.microsoft.com/office/drawing/2014/main" id="{6DB9CE04-EF83-41F2-AA23-9396ACAB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9675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am-row-3-org">
            <a:extLst xmlns:a="http://schemas.openxmlformats.org/drawingml/2006/main">
              <a:ext uri="{FF2B5EF4-FFF2-40B4-BE49-F238E27FC236}">
                <a16:creationId xmlns:a16="http://schemas.microsoft.com/office/drawing/2014/main" id="{41585C12-9199-48CF-AE7B-2022434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솔루션</a:t>
            </a:r>
          </a:p>
        </p:txBody>
      </p:sp>
      <p:sp>
        <p:nvSpPr>
          <p:cNvPr id="45" name="team-row-3-id">
            <a:extLst xmlns:a="http://schemas.openxmlformats.org/drawingml/2006/main">
              <a:ext uri="{FF2B5EF4-FFF2-40B4-BE49-F238E27FC236}">
                <a16:creationId xmlns:a16="http://schemas.microsoft.com/office/drawing/2014/main" id="{F55D9A35-A5BB-4EA6-80E1-B703BAE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WI-SOL-xxx</a:t>
            </a:r>
          </a:p>
        </p:txBody>
      </p:sp>
      <p:sp>
        <p:nvSpPr>
          <p:cNvPr id="46" name="team-row-3-value">
            <a:extLst xmlns:a="http://schemas.openxmlformats.org/drawingml/2006/main">
              <a:ext uri="{FF2B5EF4-FFF2-40B4-BE49-F238E27FC236}">
                <a16:creationId xmlns:a16="http://schemas.microsoft.com/office/drawing/2014/main" id="{EFBB343E-2805-4865-A95E-7904370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673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모니터링/시스템 지원 · 전달사항</a:t>
            </a:r>
          </a:p>
        </p:txBody>
      </p:sp>
      <p:sp>
        <p:nvSpPr>
          <p:cNvPr id="47" name="collab-principle-bg">
            <a:extLst xmlns:a="http://schemas.openxmlformats.org/drawingml/2006/main">
              <a:ext uri="{FF2B5EF4-FFF2-40B4-BE49-F238E27FC236}">
                <a16:creationId xmlns:a16="http://schemas.microsoft.com/office/drawing/2014/main" id="{F182BF14-37E8-4A9E-88B2-D48408D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collab-principle-label">
            <a:extLst xmlns:a="http://schemas.openxmlformats.org/drawingml/2006/main">
              <a:ext uri="{FF2B5EF4-FFF2-40B4-BE49-F238E27FC236}">
                <a16:creationId xmlns:a16="http://schemas.microsoft.com/office/drawing/2014/main" id="{11525076-FAA5-44F4-A7B5-E6AF15F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REPORTING PRINCIPLE</a:t>
            </a:r>
          </a:p>
        </p:txBody>
      </p:sp>
      <p:sp>
        <p:nvSpPr>
          <p:cNvPr id="49" name="collab-principle-main">
            <a:extLst xmlns:a="http://schemas.openxmlformats.org/drawingml/2006/main">
              <a:ext uri="{FF2B5EF4-FFF2-40B4-BE49-F238E27FC236}">
                <a16:creationId xmlns:a16="http://schemas.microsoft.com/office/drawing/2014/main" id="{C201FB16-29C5-4931-BC91-F33C2E46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사실 1회 관리 · 팀별 기여 분리 · 상위 요약에는 협업 안건을 1회만 노출</a:t>
            </a:r>
          </a:p>
        </p:txBody>
      </p:sp>
      <p:sp>
        <p:nvSpPr>
          <p:cNvPr id="50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7AD7A7B-79F0-45BD-AA90-BB05E7A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404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4-kicker">
            <a:extLst xmlns:a="http://schemas.openxmlformats.org/drawingml/2006/main">
              <a:ext uri="{FF2B5EF4-FFF2-40B4-BE49-F238E27FC236}">
                <a16:creationId xmlns:a16="http://schemas.microsoft.com/office/drawing/2014/main" id="{3C2E8CA6-750E-46DE-A9CD-3FDE476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COMMON KPI DATA LAYER</a:t>
            </a:r>
          </a:p>
        </p:txBody>
      </p:sp>
      <p:sp>
        <p:nvSpPr>
          <p:cNvPr id="2" name="s4-chip-bg">
            <a:extLst xmlns:a="http://schemas.openxmlformats.org/drawingml/2006/main">
              <a:ext uri="{FF2B5EF4-FFF2-40B4-BE49-F238E27FC236}">
                <a16:creationId xmlns:a16="http://schemas.microsoft.com/office/drawing/2014/main" id="{2395179D-245D-43FF-8F7D-CC9143A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4-chip">
            <a:extLst xmlns:a="http://schemas.openxmlformats.org/drawingml/2006/main">
              <a:ext uri="{FF2B5EF4-FFF2-40B4-BE49-F238E27FC236}">
                <a16:creationId xmlns:a16="http://schemas.microsoft.com/office/drawing/2014/main" id="{67E2FE21-C3B8-4B6E-ADB5-C961D65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METRIC CATALOG + SNAPSHOT</a:t>
            </a:r>
          </a:p>
        </p:txBody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A246DD21-5BE9-40C3-BA60-EF7A0B4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공통 KPI는 승인된 Snapshot에서 자동 입력</a:t>
            </a:r>
          </a:p>
        </p:txBody>
      </p:sp>
      <p:sp>
        <p:nvSpPr>
          <p:cNvPr id="5" name="s4-subtitle">
            <a:extLst xmlns:a="http://schemas.openxmlformats.org/drawingml/2006/main">
              <a:ext uri="{FF2B5EF4-FFF2-40B4-BE49-F238E27FC236}">
                <a16:creationId xmlns:a16="http://schemas.microsoft.com/office/drawing/2014/main" id="{AB7F673D-887A-4C19-B4F7-D1C995A7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수율·BM·PD·불량률을 동일 정의·기준시각·원천으로 공급해 팀별 초안의 수치 불일치를 제거</a:t>
            </a:r>
          </a:p>
        </p:txBody>
      </p:sp>
      <p:sp>
        <p:nvSpPr>
          <p:cNvPr id="6" name="s4-accent">
            <a:extLst xmlns:a="http://schemas.openxmlformats.org/drawingml/2006/main">
              <a:ext uri="{FF2B5EF4-FFF2-40B4-BE49-F238E27FC236}">
                <a16:creationId xmlns:a16="http://schemas.microsoft.com/office/drawing/2014/main" id="{A5EEC850-6C0F-4061-A518-4E65CFD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etric-flow-arrow-1">
            <a:extLst xmlns:a="http://schemas.openxmlformats.org/drawingml/2006/main">
              <a:ext uri="{FF2B5EF4-FFF2-40B4-BE49-F238E27FC236}">
                <a16:creationId xmlns:a16="http://schemas.microsoft.com/office/drawing/2014/main" id="{6F6B3CFD-7B4D-4351-9324-CF9E6429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336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flow-arrow-2">
            <a:extLst xmlns:a="http://schemas.openxmlformats.org/drawingml/2006/main">
              <a:ext uri="{FF2B5EF4-FFF2-40B4-BE49-F238E27FC236}">
                <a16:creationId xmlns:a16="http://schemas.microsoft.com/office/drawing/2014/main" id="{EB540C4D-2950-4BC7-9DBC-13362B0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stage-0-bg">
            <a:extLst xmlns:a="http://schemas.openxmlformats.org/drawingml/2006/main">
              <a:ext uri="{FF2B5EF4-FFF2-40B4-BE49-F238E27FC236}">
                <a16:creationId xmlns:a16="http://schemas.microsoft.com/office/drawing/2014/main" id="{49D57EE4-D605-45AC-911D-9EA7EBE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metric-stage-0-label">
            <a:extLst xmlns:a="http://schemas.openxmlformats.org/drawingml/2006/main">
              <a:ext uri="{FF2B5EF4-FFF2-40B4-BE49-F238E27FC236}">
                <a16:creationId xmlns:a16="http://schemas.microsoft.com/office/drawing/2014/main" id="{FEA67DC6-B41F-4EC5-A7F7-9F799007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 · DEFINE</a:t>
            </a:r>
          </a:p>
        </p:txBody>
      </p:sp>
      <p:sp>
        <p:nvSpPr>
          <p:cNvPr id="11" name="metric-stage-0-title">
            <a:extLst xmlns:a="http://schemas.openxmlformats.org/drawingml/2006/main">
              <a:ext uri="{FF2B5EF4-FFF2-40B4-BE49-F238E27FC236}">
                <a16:creationId xmlns:a16="http://schemas.microsoft.com/office/drawing/2014/main" id="{AAE4D616-90E9-4925-ABE4-675F662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Metric Catalog</a:t>
            </a:r>
          </a:p>
        </p:txBody>
      </p:sp>
      <p:sp>
        <p:nvSpPr>
          <p:cNvPr id="12" name="metric-stage-0-detail">
            <a:extLst xmlns:a="http://schemas.openxmlformats.org/drawingml/2006/main">
              <a:ext uri="{FF2B5EF4-FFF2-40B4-BE49-F238E27FC236}">
                <a16:creationId xmlns:a16="http://schemas.microsoft.com/office/drawing/2014/main" id="{68B45231-A0C1-4068-9CA2-F588AA10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475467"/>
                </a:solidFill>
              </a:defRPr>
            </a:pPr>
            <a:r>
              <a:rPr sz="116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Metric ID · 공식 산식 · 단위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475467"/>
                </a:solidFill>
              </a:defRPr>
            </a:pPr>
            <a:r>
              <a:rPr sz="116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집계 차원 · Upload Owner</a:t>
            </a:r>
          </a:p>
        </p:txBody>
      </p:sp>
      <p:sp>
        <p:nvSpPr>
          <p:cNvPr id="13" name="metric-stage-1-bg">
            <a:extLst xmlns:a="http://schemas.openxmlformats.org/drawingml/2006/main">
              <a:ext uri="{FF2B5EF4-FFF2-40B4-BE49-F238E27FC236}">
                <a16:creationId xmlns:a16="http://schemas.microsoft.com/office/drawing/2014/main" id="{573A1D13-0E06-483E-8471-F8B2F5A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stage-1-label">
            <a:extLst xmlns:a="http://schemas.openxmlformats.org/drawingml/2006/main">
              <a:ext uri="{FF2B5EF4-FFF2-40B4-BE49-F238E27FC236}">
                <a16:creationId xmlns:a16="http://schemas.microsoft.com/office/drawing/2014/main" id="{F1441273-1F85-4E02-8DAC-4A04CE4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 · FREEZE</a:t>
            </a:r>
          </a:p>
        </p:txBody>
      </p:sp>
      <p:sp>
        <p:nvSpPr>
          <p:cNvPr id="15" name="metric-stage-1-title">
            <a:extLst xmlns:a="http://schemas.openxmlformats.org/drawingml/2006/main">
              <a:ext uri="{FF2B5EF4-FFF2-40B4-BE49-F238E27FC236}">
                <a16:creationId xmlns:a16="http://schemas.microsoft.com/office/drawing/2014/main" id="{DCAD054F-29E3-4EB7-BCBE-0E1C10DD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Weekly Snapshot</a:t>
            </a:r>
          </a:p>
        </p:txBody>
      </p:sp>
      <p:sp>
        <p:nvSpPr>
          <p:cNvPr id="16" name="metric-stage-1-detail">
            <a:extLst xmlns:a="http://schemas.openxmlformats.org/drawingml/2006/main">
              <a:ext uri="{FF2B5EF4-FFF2-40B4-BE49-F238E27FC236}">
                <a16:creationId xmlns:a16="http://schemas.microsoft.com/office/drawing/2014/main" id="{AC28AB68-9688-46AC-8064-791200A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목표 · 금주 · 전주 · Δ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Cut-off · 품질상태 · Record ID</a:t>
            </a:r>
          </a:p>
        </p:txBody>
      </p:sp>
      <p:sp>
        <p:nvSpPr>
          <p:cNvPr id="17" name="metric-stage-2-bg">
            <a:extLst xmlns:a="http://schemas.openxmlformats.org/drawingml/2006/main">
              <a:ext uri="{FF2B5EF4-FFF2-40B4-BE49-F238E27FC236}">
                <a16:creationId xmlns:a16="http://schemas.microsoft.com/office/drawing/2014/main" id="{E32F237C-B878-4CA5-A820-5D22D9D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metric-stage-2-label">
            <a:extLst xmlns:a="http://schemas.openxmlformats.org/drawingml/2006/main">
              <a:ext uri="{FF2B5EF4-FFF2-40B4-BE49-F238E27FC236}">
                <a16:creationId xmlns:a16="http://schemas.microsoft.com/office/drawing/2014/main" id="{ED5E3886-1592-4521-8D68-8D37B8B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03 · DRAFT</a:t>
            </a:r>
          </a:p>
        </p:txBody>
      </p:sp>
      <p:sp>
        <p:nvSpPr>
          <p:cNvPr id="19" name="metric-stage-2-title">
            <a:extLst xmlns:a="http://schemas.openxmlformats.org/drawingml/2006/main">
              <a:ext uri="{FF2B5EF4-FFF2-40B4-BE49-F238E27FC236}">
                <a16:creationId xmlns:a16="http://schemas.microsoft.com/office/drawing/2014/main" id="{F5EC5EF7-5064-49FB-ACE5-59AD6CB1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 Draft</a:t>
            </a:r>
          </a:p>
        </p:txBody>
      </p:sp>
      <p:sp>
        <p:nvSpPr>
          <p:cNvPr id="20" name="metric-stage-2-detail">
            <a:extLst xmlns:a="http://schemas.openxmlformats.org/drawingml/2006/main">
              <a:ext uri="{FF2B5EF4-FFF2-40B4-BE49-F238E27FC236}">
                <a16:creationId xmlns:a16="http://schemas.microsoft.com/office/drawing/2014/main" id="{36F177A0-ACB4-4F86-AA1D-92E52ED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DCE9F6"/>
                </a:solidFill>
              </a:defRPr>
            </a:pPr>
            <a:r>
              <a:rPr sz="116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공통 데이터 문장 자동·잠금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DCE9F6"/>
                </a:solidFill>
              </a:defRPr>
            </a:pPr>
            <a:r>
              <a:rPr sz="116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팀별 분석·실행은 사용자 작성</a:t>
            </a:r>
          </a:p>
        </p:txBody>
      </p:sp>
      <p:sp>
        <p:nvSpPr>
          <p:cNvPr id="21" name="metric-first-label">
            <a:extLst xmlns:a="http://schemas.openxmlformats.org/drawingml/2006/main">
              <a:ext uri="{FF2B5EF4-FFF2-40B4-BE49-F238E27FC236}">
                <a16:creationId xmlns:a16="http://schemas.microsoft.com/office/drawing/2014/main" id="{49F6C028-2813-4788-9B91-9E945A3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FIRST METRICS</a:t>
            </a:r>
          </a:p>
        </p:txBody>
      </p:sp>
      <p:sp>
        <p:nvSpPr>
          <p:cNvPr id="22" name="metric-first-title">
            <a:extLst xmlns:a="http://schemas.openxmlformats.org/drawingml/2006/main">
              <a:ext uri="{FF2B5EF4-FFF2-40B4-BE49-F238E27FC236}">
                <a16:creationId xmlns:a16="http://schemas.microsoft.com/office/drawing/2014/main" id="{F4DF070D-CEFB-4A0C-85A0-6F23593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수율 · BM · PD · 불량률</a:t>
            </a:r>
          </a:p>
        </p:txBody>
      </p:sp>
      <p:sp>
        <p:nvSpPr>
          <p:cNvPr id="23" name="metric-first-sub">
            <a:extLst xmlns:a="http://schemas.openxmlformats.org/drawingml/2006/main">
              <a:ext uri="{FF2B5EF4-FFF2-40B4-BE49-F238E27FC236}">
                <a16:creationId xmlns:a16="http://schemas.microsoft.com/office/drawing/2014/main" id="{98FA7CBB-B331-4379-A459-E64A2DB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Metric ID와 공식 정의를 확정하고 지정일 원천 파일을 업로드</a:t>
            </a:r>
          </a:p>
        </p:txBody>
      </p:sp>
      <p:sp>
        <p:nvSpPr>
          <p:cNvPr id="24" name="metric-left-rule">
            <a:extLst xmlns:a="http://schemas.openxmlformats.org/drawingml/2006/main">
              <a:ext uri="{FF2B5EF4-FFF2-40B4-BE49-F238E27FC236}">
                <a16:creationId xmlns:a16="http://schemas.microsoft.com/office/drawing/2014/main" id="{D229447E-662C-4576-9FC4-E36C411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tandard-col-0-title">
            <a:extLst xmlns:a="http://schemas.openxmlformats.org/drawingml/2006/main">
              <a:ext uri="{FF2B5EF4-FFF2-40B4-BE49-F238E27FC236}">
                <a16:creationId xmlns:a16="http://schemas.microsoft.com/office/drawing/2014/main" id="{B4AFF334-0DA4-487A-8F1D-79FB6A4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26" name="standard-col-0-body">
            <a:extLst xmlns:a="http://schemas.openxmlformats.org/drawingml/2006/main">
              <a:ext uri="{FF2B5EF4-FFF2-40B4-BE49-F238E27FC236}">
                <a16:creationId xmlns:a16="http://schemas.microsoft.com/office/drawing/2014/main" id="{8ED4CD94-906B-421B-BD1D-761F38B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Metric ID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공식 산식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단위·집계 차원</a:t>
            </a:r>
          </a:p>
        </p:txBody>
      </p:sp>
      <p:sp>
        <p:nvSpPr>
          <p:cNvPr id="27" name="standard-col-1-divider">
            <a:extLst xmlns:a="http://schemas.openxmlformats.org/drawingml/2006/main">
              <a:ext uri="{FF2B5EF4-FFF2-40B4-BE49-F238E27FC236}">
                <a16:creationId xmlns:a16="http://schemas.microsoft.com/office/drawing/2014/main" id="{D8BE63DD-ADBA-49CB-A50F-D94D03CB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4337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tandard-col-1-title">
            <a:extLst xmlns:a="http://schemas.openxmlformats.org/drawingml/2006/main">
              <a:ext uri="{FF2B5EF4-FFF2-40B4-BE49-F238E27FC236}">
                <a16:creationId xmlns:a16="http://schemas.microsoft.com/office/drawing/2014/main" id="{5211637A-DF87-4100-88A7-06986DA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29" name="standard-col-1-body">
            <a:extLst xmlns:a="http://schemas.openxmlformats.org/drawingml/2006/main">
              <a:ext uri="{FF2B5EF4-FFF2-40B4-BE49-F238E27FC236}">
                <a16:creationId xmlns:a16="http://schemas.microsoft.com/office/drawing/2014/main" id="{055C6470-054E-449E-880E-B37FC6A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원천 다운로드 파일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Cut-off·업로드 주기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Snapshot·File ID</a:t>
            </a:r>
          </a:p>
        </p:txBody>
      </p:sp>
      <p:sp>
        <p:nvSpPr>
          <p:cNvPr id="30" name="standard-col-2-divider">
            <a:extLst xmlns:a="http://schemas.openxmlformats.org/drawingml/2006/main">
              <a:ext uri="{FF2B5EF4-FFF2-40B4-BE49-F238E27FC236}">
                <a16:creationId xmlns:a16="http://schemas.microsoft.com/office/drawing/2014/main" id="{BCE090C0-8B57-4BAF-A107-3289A89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4337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tandard-col-2-title">
            <a:extLst xmlns:a="http://schemas.openxmlformats.org/drawingml/2006/main">
              <a:ext uri="{FF2B5EF4-FFF2-40B4-BE49-F238E27FC236}">
                <a16:creationId xmlns:a16="http://schemas.microsoft.com/office/drawing/2014/main" id="{B93C136C-A5C7-43F9-BB69-97A7E87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통제</a:t>
            </a:r>
          </a:p>
        </p:txBody>
      </p:sp>
      <p:sp>
        <p:nvSpPr>
          <p:cNvPr id="32" name="standard-col-2-body">
            <a:extLst xmlns:a="http://schemas.openxmlformats.org/drawingml/2006/main">
              <a:ext uri="{FF2B5EF4-FFF2-40B4-BE49-F238E27FC236}">
                <a16:creationId xmlns:a16="http://schemas.microsoft.com/office/drawing/2014/main" id="{7EABBE35-AA1A-45E6-8EE1-19F993C7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Metric Owner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품질 상태·확정/잠정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보안 등급</a:t>
            </a:r>
          </a:p>
        </p:txBody>
      </p:sp>
      <p:sp>
        <p:nvSpPr>
          <p:cNvPr id="33" name="draft-rule-bg">
            <a:extLst xmlns:a="http://schemas.openxmlformats.org/drawingml/2006/main">
              <a:ext uri="{FF2B5EF4-FFF2-40B4-BE49-F238E27FC236}">
                <a16:creationId xmlns:a16="http://schemas.microsoft.com/office/drawing/2014/main" id="{05B20564-BF3F-45E1-B089-1D8D7C5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5067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draft-rule-label">
            <a:extLst xmlns:a="http://schemas.openxmlformats.org/drawingml/2006/main">
              <a:ext uri="{FF2B5EF4-FFF2-40B4-BE49-F238E27FC236}">
                <a16:creationId xmlns:a16="http://schemas.microsoft.com/office/drawing/2014/main" id="{38BD8420-F6A5-4E76-B752-2BC34FF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AI DRAFTING RULE</a:t>
            </a:r>
          </a:p>
        </p:txBody>
      </p:sp>
      <p:sp>
        <p:nvSpPr>
          <p:cNvPr id="35" name="draft-rule-title">
            <a:extLst xmlns:a="http://schemas.openxmlformats.org/drawingml/2006/main">
              <a:ext uri="{FF2B5EF4-FFF2-40B4-BE49-F238E27FC236}">
                <a16:creationId xmlns:a16="http://schemas.microsoft.com/office/drawing/2014/main" id="{858C5E37-8B27-4EFF-B245-62062A8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공통 팩트와 팀별 해석을 분리</a:t>
            </a:r>
          </a:p>
        </p:txBody>
      </p:sp>
      <p:sp>
        <p:nvSpPr>
          <p:cNvPr id="36" name="draft-row-0-label">
            <a:extLst xmlns:a="http://schemas.openxmlformats.org/drawingml/2006/main">
              <a:ext uri="{FF2B5EF4-FFF2-40B4-BE49-F238E27FC236}">
                <a16:creationId xmlns:a16="http://schemas.microsoft.com/office/drawing/2014/main" id="{1BFC6341-0938-4C31-8C35-F3F991A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AUTO · LOCKED</a:t>
            </a:r>
          </a:p>
        </p:txBody>
      </p:sp>
      <p:sp>
        <p:nvSpPr>
          <p:cNvPr id="37" name="draft-row-0-value">
            <a:extLst xmlns:a="http://schemas.openxmlformats.org/drawingml/2006/main">
              <a:ext uri="{FF2B5EF4-FFF2-40B4-BE49-F238E27FC236}">
                <a16:creationId xmlns:a16="http://schemas.microsoft.com/office/drawing/2014/main" id="{C9938E38-F717-4EF2-AAEC-F5A306C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금주 [지표]는 [실적], 전주 대비 [Δ], 목표 대비 [Gap]</a:t>
            </a:r>
          </a:p>
        </p:txBody>
      </p:sp>
      <p:sp>
        <p:nvSpPr>
          <p:cNvPr id="38" name="draft-row-1-line">
            <a:extLst xmlns:a="http://schemas.openxmlformats.org/drawingml/2006/main">
              <a:ext uri="{FF2B5EF4-FFF2-40B4-BE49-F238E27FC236}">
                <a16:creationId xmlns:a16="http://schemas.microsoft.com/office/drawing/2014/main" id="{D15D6351-2DA1-46C5-BFA0-ED6D53A2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raft-row-1-label">
            <a:extLst xmlns:a="http://schemas.openxmlformats.org/drawingml/2006/main">
              <a:ext uri="{FF2B5EF4-FFF2-40B4-BE49-F238E27FC236}">
                <a16:creationId xmlns:a16="http://schemas.microsoft.com/office/drawing/2014/main" id="{041190C7-CB44-4CB6-BD9C-4C71163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4817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USER · EDITABLE</a:t>
            </a:r>
          </a:p>
        </p:txBody>
      </p:sp>
      <p:sp>
        <p:nvSpPr>
          <p:cNvPr id="40" name="draft-row-1-value">
            <a:extLst xmlns:a="http://schemas.openxmlformats.org/drawingml/2006/main">
              <a:ext uri="{FF2B5EF4-FFF2-40B4-BE49-F238E27FC236}">
                <a16:creationId xmlns:a16="http://schemas.microsoft.com/office/drawing/2014/main" id="{0BA0DF45-3A50-4B8A-BE32-00B0216D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48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우리 팀 원인 분석 · 수행 결과 · 타팀 요청 · 차주 계획</a:t>
            </a:r>
          </a:p>
        </p:txBody>
      </p:sp>
      <p:sp>
        <p:nvSpPr>
          <p:cNvPr id="41" name="draft-row-2-line">
            <a:extLst xmlns:a="http://schemas.openxmlformats.org/drawingml/2006/main">
              <a:ext uri="{FF2B5EF4-FFF2-40B4-BE49-F238E27FC236}">
                <a16:creationId xmlns:a16="http://schemas.microsoft.com/office/drawing/2014/main" id="{111BE4EF-AF45-4B1B-BC72-401AD51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86325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draft-row-2-label">
            <a:extLst xmlns:a="http://schemas.openxmlformats.org/drawingml/2006/main">
              <a:ext uri="{FF2B5EF4-FFF2-40B4-BE49-F238E27FC236}">
                <a16:creationId xmlns:a16="http://schemas.microsoft.com/office/drawing/2014/main" id="{C39A0169-C471-4792-AC86-01B6304B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3395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SOURCE</a:t>
            </a:r>
          </a:p>
        </p:txBody>
      </p:sp>
      <p:sp>
        <p:nvSpPr>
          <p:cNvPr id="43" name="draft-row-2-value">
            <a:extLst xmlns:a="http://schemas.openxmlformats.org/drawingml/2006/main">
              <a:ext uri="{FF2B5EF4-FFF2-40B4-BE49-F238E27FC236}">
                <a16:creationId xmlns:a16="http://schemas.microsoft.com/office/drawing/2014/main" id="{B52A6A8B-6493-49CE-8217-9423471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Metric Snapshot ID와 데이터 기준시각을 문장에 자동 연결</a:t>
            </a:r>
          </a:p>
        </p:txBody>
      </p:sp>
      <p:sp>
        <p:nvSpPr>
          <p:cNvPr id="44" name="metric-next-bg">
            <a:extLst xmlns:a="http://schemas.openxmlformats.org/drawingml/2006/main">
              <a:ext uri="{FF2B5EF4-FFF2-40B4-BE49-F238E27FC236}">
                <a16:creationId xmlns:a16="http://schemas.microsoft.com/office/drawing/2014/main" id="{90D7A6EA-A58D-4300-AE26-95882D1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metric-next-label">
            <a:extLst xmlns:a="http://schemas.openxmlformats.org/drawingml/2006/main">
              <a:ext uri="{FF2B5EF4-FFF2-40B4-BE49-F238E27FC236}">
                <a16:creationId xmlns:a16="http://schemas.microsoft.com/office/drawing/2014/main" id="{B746F596-51C7-4D55-A33E-09D8E9B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FIRST IMPLEMENTATION</a:t>
            </a:r>
          </a:p>
        </p:txBody>
      </p:sp>
      <p:sp>
        <p:nvSpPr>
          <p:cNvPr id="46" name="metric-next-main">
            <a:extLst xmlns:a="http://schemas.openxmlformats.org/drawingml/2006/main">
              <a:ext uri="{FF2B5EF4-FFF2-40B4-BE49-F238E27FC236}">
                <a16:creationId xmlns:a16="http://schemas.microsoft.com/office/drawing/2014/main" id="{B8521CB8-E3E5-45CB-AB87-C63174B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4개 지표 Catalog 확정 → 지정일 Download/Upload → Snapshot 검증·고정 → 1개 팀 MVP</a:t>
            </a:r>
          </a:p>
        </p:txBody>
      </p:sp>
      <p:sp>
        <p:nvSpPr>
          <p:cNvPr id="47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F4C2960-D209-419D-BD00-777A826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6900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CURRENT-STATE IMPLEMENTATION STRATEGY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MANUAL-FIRST · PORTAL-CENTERED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연동이 없어도 운영되는 포털을 먼저 만들고, 자동화는 후속 확장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지정일 수동 Snapshot 업로드와 사람 승인으로 기준 데이터를 고정한 뒤 API·메일 연계를 단계적으로 추가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CURRENT LIMITATION → OPERATING RESPONSE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제약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적용할 운영 방식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후속 확장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데이터 API 없음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지정일 KPI 파일 Download/Upload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검증 후 API 자동 수집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메일 연동 없음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포털 알림함 · 마감 현황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메일·메신저 알림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업무 기록 분산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개인 Worklog · 파일 업로드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업무시스템 자동 수집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LLM 수치 위험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Snapshot 잠금 · 출처 자동 연결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품질 규칙 고도화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단계 결재 필요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사람 승인·반려·이력 관리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전자결재 연동 검토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IMPLEMENTATION PRINCIPLE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Manual first × Portal canonical × Human approval × API-ready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BUILD NOW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현재 제약 안에서 완결되는 MVP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포털을 기준 시스템으로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입력·제출·승인·조회 단일화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Snapshot 수동 통제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Owner·Cut-off·Version·검증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사람 중심 승인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Agent는 초안·검사·추천만 수행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API-ready 데이터 모델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후속 자동 연계 시 구조 재사용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지금은 포털 Task/Inbox로 알림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메일·API는 연동 가능 시 추가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 1개 팀 · 2개 보고 주기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STARTING DECISION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포털·RDB·Object Storage 기반 MVP 승인 · KPI Owner와 Cut-off 지정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범위: Snapshot 업로드 / Worklog / 제출·승인 / 팀장 초안 / PPT 출력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1-kicker">
            <a:extLst xmlns:a="http://schemas.openxmlformats.org/drawingml/2006/main">
              <a:ext uri="{FF2B5EF4-FFF2-40B4-BE49-F238E27FC236}">
                <a16:creationId xmlns:a16="http://schemas.microsoft.com/office/drawing/2014/main" id="{B6247663-B1AE-4113-8615-5867F83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PORTAL-CENTERED TARGET ARCHITECTURE</a:t>
            </a:r>
          </a:p>
        </p:txBody>
      </p:sp>
      <p:sp>
        <p:nvSpPr>
          <p:cNvPr id="2" name="s1-chip-bg">
            <a:extLst xmlns:a="http://schemas.openxmlformats.org/drawingml/2006/main">
              <a:ext uri="{FF2B5EF4-FFF2-40B4-BE49-F238E27FC236}">
                <a16:creationId xmlns:a16="http://schemas.microsoft.com/office/drawing/2014/main" id="{237D8155-A7F2-4E9D-9CC4-BBA8ACE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1-chip">
            <a:extLst xmlns:a="http://schemas.openxmlformats.org/drawingml/2006/main">
              <a:ext uri="{FF2B5EF4-FFF2-40B4-BE49-F238E27FC236}">
                <a16:creationId xmlns:a16="http://schemas.microsoft.com/office/drawing/2014/main" id="{82A0C235-9365-4491-8211-105584E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2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CURRENT-STATE REFERENCE MODEL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2768E233-859A-49CC-8726-F1DFB0D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포털이 기준 시스템이 되고, Agent는 권한이 허용된 데이터만 사용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66E6FCB-7842-429D-A630-72627BD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외부 시스템은 지정일 파일 업로드로 시작하고, Portal Backend가 검색·워크플로·LLM 호출·감사로그를 통제</a:t>
            </a:r>
          </a:p>
        </p:txBody>
      </p:sp>
      <p:sp>
        <p:nvSpPr>
          <p:cNvPr id="6" name="s1-accent">
            <a:extLst xmlns:a="http://schemas.openxmlformats.org/drawingml/2006/main">
              <a:ext uri="{FF2B5EF4-FFF2-40B4-BE49-F238E27FC236}">
                <a16:creationId xmlns:a16="http://schemas.microsoft.com/office/drawing/2014/main" id="{4AC8EA77-B644-481C-9FA3-FCAE14E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0A0AB04-33B8-427A-B78F-421DCE3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D0D56C2-AD61-476D-A008-B097826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145A244-40A0-4EAD-90E1-205A2B8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BA42CF43-8DD0-4522-B7EF-D443051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tage-1-bg">
            <a:extLst xmlns:a="http://schemas.openxmlformats.org/drawingml/2006/main">
              <a:ext uri="{FF2B5EF4-FFF2-40B4-BE49-F238E27FC236}">
                <a16:creationId xmlns:a16="http://schemas.microsoft.com/office/drawing/2014/main" id="{D8D91CBA-46A6-4768-BB11-56F465C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age-1-num-bg">
            <a:extLst xmlns:a="http://schemas.openxmlformats.org/drawingml/2006/main">
              <a:ext uri="{FF2B5EF4-FFF2-40B4-BE49-F238E27FC236}">
                <a16:creationId xmlns:a16="http://schemas.microsoft.com/office/drawing/2014/main" id="{DA9E2CE1-E156-4702-ACCD-2DF42FA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age-1-num">
            <a:extLst xmlns:a="http://schemas.openxmlformats.org/drawingml/2006/main">
              <a:ext uri="{FF2B5EF4-FFF2-40B4-BE49-F238E27FC236}">
                <a16:creationId xmlns:a16="http://schemas.microsoft.com/office/drawing/2014/main" id="{42D62120-A7A0-49F5-BC76-174334C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53BC4618-F8E3-4F7D-B9F2-DC8A883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원천·파일</a:t>
            </a:r>
          </a:p>
        </p:txBody>
      </p:sp>
      <p:sp>
        <p:nvSpPr>
          <p:cNvPr id="15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8DB4B324-750F-49FB-9610-210AF03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MES·QMS·FDC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개인 업무파일</a:t>
            </a:r>
          </a:p>
        </p:txBody>
      </p:sp>
      <p:sp>
        <p:nvSpPr>
          <p:cNvPr id="16" name="stage-2-bg">
            <a:extLst xmlns:a="http://schemas.openxmlformats.org/drawingml/2006/main">
              <a:ext uri="{FF2B5EF4-FFF2-40B4-BE49-F238E27FC236}">
                <a16:creationId xmlns:a16="http://schemas.microsoft.com/office/drawing/2014/main" id="{6CB6FF47-8592-4F7C-B983-CB9FAC0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age-2-num-bg">
            <a:extLst xmlns:a="http://schemas.openxmlformats.org/drawingml/2006/main">
              <a:ext uri="{FF2B5EF4-FFF2-40B4-BE49-F238E27FC236}">
                <a16:creationId xmlns:a16="http://schemas.microsoft.com/office/drawing/2014/main" id="{A3581172-1A5F-4C3D-8865-4FE0A99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tage-2-num">
            <a:extLst xmlns:a="http://schemas.openxmlformats.org/drawingml/2006/main">
              <a:ext uri="{FF2B5EF4-FFF2-40B4-BE49-F238E27FC236}">
                <a16:creationId xmlns:a16="http://schemas.microsoft.com/office/drawing/2014/main" id="{71321C42-396C-420C-8E87-3955957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362E08E-3F82-425D-A04E-A89FE95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정기 업로드</a:t>
            </a:r>
          </a:p>
        </p:txBody>
      </p:sp>
      <p:sp>
        <p:nvSpPr>
          <p:cNvPr id="20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5EACCFE9-2829-4A78-9E1A-37A2149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KPI Snapshot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업무 메모·증빙</a:t>
            </a:r>
          </a:p>
        </p:txBody>
      </p:sp>
      <p:sp>
        <p:nvSpPr>
          <p:cNvPr id="21" name="stage-3-bg">
            <a:extLst xmlns:a="http://schemas.openxmlformats.org/drawingml/2006/main">
              <a:ext uri="{FF2B5EF4-FFF2-40B4-BE49-F238E27FC236}">
                <a16:creationId xmlns:a16="http://schemas.microsoft.com/office/drawing/2014/main" id="{A89B227C-A0A3-4EB9-9C73-9F8053A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age-3-num-bg">
            <a:extLst xmlns:a="http://schemas.openxmlformats.org/drawingml/2006/main">
              <a:ext uri="{FF2B5EF4-FFF2-40B4-BE49-F238E27FC236}">
                <a16:creationId xmlns:a16="http://schemas.microsoft.com/office/drawing/2014/main" id="{55E78725-2BF9-42B7-92DD-DECB612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age-3-num">
            <a:extLst xmlns:a="http://schemas.openxmlformats.org/drawingml/2006/main">
              <a:ext uri="{FF2B5EF4-FFF2-40B4-BE49-F238E27FC236}">
                <a16:creationId xmlns:a16="http://schemas.microsoft.com/office/drawing/2014/main" id="{04B71FC5-4694-456C-BECF-7AB33F4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1F7619F-16BB-4959-B4C7-50E90BA5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기준 포털</a:t>
            </a:r>
          </a:p>
        </p:txBody>
      </p:sp>
      <p:sp>
        <p:nvSpPr>
          <p:cNvPr id="25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C5E17E0E-F1E7-4D42-B025-0A39308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SSO·RBAC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제출·승인</a:t>
            </a:r>
          </a:p>
        </p:txBody>
      </p:sp>
      <p:sp>
        <p:nvSpPr>
          <p:cNvPr id="26" name="stage-4-bg">
            <a:extLst xmlns:a="http://schemas.openxmlformats.org/drawingml/2006/main">
              <a:ext uri="{FF2B5EF4-FFF2-40B4-BE49-F238E27FC236}">
                <a16:creationId xmlns:a16="http://schemas.microsoft.com/office/drawing/2014/main" id="{89E0B0D8-8DAA-46DC-95ED-626AA6F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tage-4-num-bg">
            <a:extLst xmlns:a="http://schemas.openxmlformats.org/drawingml/2006/main">
              <a:ext uri="{FF2B5EF4-FFF2-40B4-BE49-F238E27FC236}">
                <a16:creationId xmlns:a16="http://schemas.microsoft.com/office/drawing/2014/main" id="{D8F9645D-E307-4CFF-AE18-0772A2C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tage-4-num">
            <a:extLst xmlns:a="http://schemas.openxmlformats.org/drawingml/2006/main">
              <a:ext uri="{FF2B5EF4-FFF2-40B4-BE49-F238E27FC236}">
                <a16:creationId xmlns:a16="http://schemas.microsoft.com/office/drawing/2014/main" id="{C2882113-E004-4F8B-89CF-165C9BB1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C70E2352-4C5B-4C46-A30D-87D08A4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Agent·LLM</a:t>
            </a:r>
          </a:p>
        </p:txBody>
      </p:sp>
      <p:sp>
        <p:nvSpPr>
          <p:cNvPr id="30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6E30C6D0-DAE1-4CAD-8FF7-B4E7789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권한별 검색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초안·검증</a:t>
            </a:r>
          </a:p>
        </p:txBody>
      </p:sp>
      <p:sp>
        <p:nvSpPr>
          <p:cNvPr id="31" name="stage-5-bg">
            <a:extLst xmlns:a="http://schemas.openxmlformats.org/drawingml/2006/main">
              <a:ext uri="{FF2B5EF4-FFF2-40B4-BE49-F238E27FC236}">
                <a16:creationId xmlns:a16="http://schemas.microsoft.com/office/drawing/2014/main" id="{0A9E5720-BE3A-4C98-95AF-438F569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tage-5-num-bg">
            <a:extLst xmlns:a="http://schemas.openxmlformats.org/drawingml/2006/main">
              <a:ext uri="{FF2B5EF4-FFF2-40B4-BE49-F238E27FC236}">
                <a16:creationId xmlns:a16="http://schemas.microsoft.com/office/drawing/2014/main" id="{861FC82A-EE54-4C26-BF4B-7189ACD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age-5-num">
            <a:extLst xmlns:a="http://schemas.openxmlformats.org/drawingml/2006/main">
              <a:ext uri="{FF2B5EF4-FFF2-40B4-BE49-F238E27FC236}">
                <a16:creationId xmlns:a16="http://schemas.microsoft.com/office/drawing/2014/main" id="{893A16BA-BF95-4E21-AD80-1E33B76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2263A"/>
                </a:solidFill>
              </a:defRPr>
            </a:pPr>
            <a:r>
              <a:rPr sz="863" b="1">
                <a:solidFill>
                  <a:srgbClr val="12263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D9B43ABA-93D9-4C67-9E87-F765B48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FFFFFF"/>
                </a:solidFill>
              </a:defRPr>
            </a:pPr>
            <a:r>
              <a:rPr sz="13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역할별 산출</a:t>
            </a:r>
          </a:p>
        </p:txBody>
      </p:sp>
      <p:sp>
        <p:nvSpPr>
          <p:cNvPr id="35" name="stage-5-detail">
            <a:extLst xmlns:a="http://schemas.openxmlformats.org/drawingml/2006/main">
              <a:ext uri="{FF2B5EF4-FFF2-40B4-BE49-F238E27FC236}">
                <a16:creationId xmlns:a16="http://schemas.microsoft.com/office/drawing/2014/main" id="{C28964D4-F88C-41CC-A227-5423966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개인·팀·담당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그룹 보고</a:t>
            </a:r>
          </a:p>
        </p:txBody>
      </p:sp>
      <p:sp>
        <p:nvSpPr>
          <p:cNvPr id="36" name="orchestrator-label">
            <a:extLst xmlns:a="http://schemas.openxmlformats.org/drawingml/2006/main">
              <a:ext uri="{FF2B5EF4-FFF2-40B4-BE49-F238E27FC236}">
                <a16:creationId xmlns:a16="http://schemas.microsoft.com/office/drawing/2014/main" id="{F64AC1B3-D88F-417B-8568-3B4F986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5588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PORTAL BACKEND · CONTROLLED AGENT ACCESS</a:t>
            </a:r>
          </a:p>
        </p:txBody>
      </p:sp>
      <p:sp>
        <p:nvSpPr>
          <p:cNvPr id="37" name="orchestrator-title">
            <a:extLst xmlns:a="http://schemas.openxmlformats.org/drawingml/2006/main">
              <a:ext uri="{FF2B5EF4-FFF2-40B4-BE49-F238E27FC236}">
                <a16:creationId xmlns:a16="http://schemas.microsoft.com/office/drawing/2014/main" id="{3E743F80-6699-44E0-8912-5E7DA27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703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LLM은 저장소를 직접 읽지 않고, Orchestrator가 승인 범위만 전달</a:t>
            </a:r>
            <a:endParaRPr sz="1650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68B54597-5F25-49F4-8FEA-536B70D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636783DB-21DA-4E45-B9FC-692A18F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 · PORTAL SERVICES</a:t>
            </a:r>
          </a:p>
        </p:txBody>
      </p:sp>
      <p:sp>
        <p:nvSpPr>
          <p:cNvPr id="40" name="role-1-title">
            <a:extLst xmlns:a="http://schemas.openxmlformats.org/drawingml/2006/main">
              <a:ext uri="{FF2B5EF4-FFF2-40B4-BE49-F238E27FC236}">
                <a16:creationId xmlns:a16="http://schemas.microsoft.com/office/drawing/2014/main" id="{776ACAA3-54B1-46F2-B7A0-5710D33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웹 포털</a:t>
            </a:r>
          </a:p>
        </p:txBody>
      </p:sp>
      <p:sp>
        <p:nvSpPr>
          <p:cNvPr id="41" name="role-1-bullet-1">
            <a:extLst xmlns:a="http://schemas.openxmlformats.org/drawingml/2006/main">
              <a:ext uri="{FF2B5EF4-FFF2-40B4-BE49-F238E27FC236}">
                <a16:creationId xmlns:a16="http://schemas.microsoft.com/office/drawing/2014/main" id="{B8ECFB2A-C303-492F-B8FF-1ED9716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Upload Gateway·Snapshot 검증</a:t>
            </a:r>
          </a:p>
        </p:txBody>
      </p:sp>
      <p:sp>
        <p:nvSpPr>
          <p:cNvPr id="42" name="role-1-bullet-2">
            <a:extLst xmlns:a="http://schemas.openxmlformats.org/drawingml/2006/main">
              <a:ext uri="{FF2B5EF4-FFF2-40B4-BE49-F238E27FC236}">
                <a16:creationId xmlns:a16="http://schemas.microsoft.com/office/drawing/2014/main" id="{E6DC26A8-6F53-4691-BCB2-06583FA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파일 검사·OCR·Tag·DLP</a:t>
            </a:r>
          </a:p>
        </p:txBody>
      </p:sp>
      <p:sp>
        <p:nvSpPr>
          <p:cNvPr id="43" name="role-1-bullet-3">
            <a:extLst xmlns:a="http://schemas.openxmlformats.org/drawingml/2006/main">
              <a:ext uri="{FF2B5EF4-FFF2-40B4-BE49-F238E27FC236}">
                <a16:creationId xmlns:a16="http://schemas.microsoft.com/office/drawing/2014/main" id="{DAEB42DD-012A-4DBC-98ED-6E75177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Worklog·제출·반려·승인</a:t>
            </a:r>
          </a:p>
        </p:txBody>
      </p:sp>
      <p:sp>
        <p:nvSpPr>
          <p:cNvPr id="44" name="role-2-divider">
            <a:extLst xmlns:a="http://schemas.openxmlformats.org/drawingml/2006/main">
              <a:ext uri="{FF2B5EF4-FFF2-40B4-BE49-F238E27FC236}">
                <a16:creationId xmlns:a16="http://schemas.microsoft.com/office/drawing/2014/main" id="{8BE79B7F-57E6-410B-AC87-896DDF7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3CC7C948-85E4-46CB-857F-185FB61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DFA9D208-D48E-498C-B278-16191FE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 · OPERATIONAL DATA</a:t>
            </a:r>
          </a:p>
        </p:txBody>
      </p:sp>
      <p:sp>
        <p:nvSpPr>
          <p:cNvPr id="47" name="role-2-title">
            <a:extLst xmlns:a="http://schemas.openxmlformats.org/drawingml/2006/main">
              <a:ext uri="{FF2B5EF4-FFF2-40B4-BE49-F238E27FC236}">
                <a16:creationId xmlns:a16="http://schemas.microsoft.com/office/drawing/2014/main" id="{23733101-C0A9-482F-9104-AAE248B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RDB + Object Storage</a:t>
            </a:r>
          </a:p>
        </p:txBody>
      </p:sp>
      <p:sp>
        <p:nvSpPr>
          <p:cNvPr id="48" name="role-2-bullet-1">
            <a:extLst xmlns:a="http://schemas.openxmlformats.org/drawingml/2006/main">
              <a:ext uri="{FF2B5EF4-FFF2-40B4-BE49-F238E27FC236}">
                <a16:creationId xmlns:a16="http://schemas.microsoft.com/office/drawing/2014/main" id="{22EE2E63-DBB8-4BA0-8FB0-EFDC332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WorkItem·Report·Approval</a:t>
            </a:r>
          </a:p>
        </p:txBody>
      </p:sp>
      <p:sp>
        <p:nvSpPr>
          <p:cNvPr id="49" name="role-2-bullet-2">
            <a:extLst xmlns:a="http://schemas.openxmlformats.org/drawingml/2006/main">
              <a:ext uri="{FF2B5EF4-FFF2-40B4-BE49-F238E27FC236}">
                <a16:creationId xmlns:a16="http://schemas.microsoft.com/office/drawing/2014/main" id="{A69287D0-B97B-4D18-B845-B9DB214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KPI Snapshot·Version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role-2-bullet-3">
            <a:extLst xmlns:a="http://schemas.openxmlformats.org/drawingml/2006/main">
              <a:ext uri="{FF2B5EF4-FFF2-40B4-BE49-F238E27FC236}">
                <a16:creationId xmlns:a16="http://schemas.microsoft.com/office/drawing/2014/main" id="{C699C999-E82F-49BC-9702-FDA155F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Evidence 원본·접근권한</a:t>
            </a:r>
          </a:p>
        </p:txBody>
      </p:sp>
      <p:sp>
        <p:nvSpPr>
          <p:cNvPr id="51" name="role-3-divider">
            <a:extLst xmlns:a="http://schemas.openxmlformats.org/drawingml/2006/main">
              <a:ext uri="{FF2B5EF4-FFF2-40B4-BE49-F238E27FC236}">
                <a16:creationId xmlns:a16="http://schemas.microsoft.com/office/drawing/2014/main" id="{6EEEA205-8ABF-4C4A-8F94-788AD92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352E2F81-C1C9-4075-8C85-632EEB4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58E59911-153A-4754-BCF5-36C5094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 · AI SERVICES</a:t>
            </a:r>
          </a:p>
        </p:txBody>
      </p:sp>
      <p:sp>
        <p:nvSpPr>
          <p:cNvPr id="54" name="role-3-title">
            <a:extLst xmlns:a="http://schemas.openxmlformats.org/drawingml/2006/main">
              <a:ext uri="{FF2B5EF4-FFF2-40B4-BE49-F238E27FC236}">
                <a16:creationId xmlns:a16="http://schemas.microsoft.com/office/drawing/2014/main" id="{164DD642-053E-4A13-828B-EE815FF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Orchestrator</a:t>
            </a:r>
          </a:p>
        </p:txBody>
      </p:sp>
      <p:sp>
        <p:nvSpPr>
          <p:cNvPr id="55" name="role-3-bullet-1">
            <a:extLst xmlns:a="http://schemas.openxmlformats.org/drawingml/2006/main">
              <a:ext uri="{FF2B5EF4-FFF2-40B4-BE49-F238E27FC236}">
                <a16:creationId xmlns:a16="http://schemas.microsoft.com/office/drawing/2014/main" id="{956C0C25-764D-4EA5-B1B6-A1D54AC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역할·상태별 Context 구성</a:t>
            </a:r>
          </a:p>
        </p:txBody>
      </p:sp>
      <p:sp>
        <p:nvSpPr>
          <p:cNvPr id="56" name="role-3-bullet-2">
            <a:extLst xmlns:a="http://schemas.openxmlformats.org/drawingml/2006/main">
              <a:ext uri="{FF2B5EF4-FFF2-40B4-BE49-F238E27FC236}">
                <a16:creationId xmlns:a16="http://schemas.microsoft.com/office/drawing/2014/main" id="{A23B07CA-73EF-4D0E-A0FA-776B0E3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Enterprise LLM Gateway</a:t>
            </a:r>
          </a:p>
        </p:txBody>
      </p:sp>
      <p:sp>
        <p:nvSpPr>
          <p:cNvPr id="57" name="role-3-bullet-3">
            <a:extLst xmlns:a="http://schemas.openxmlformats.org/drawingml/2006/main">
              <a:ext uri="{FF2B5EF4-FFF2-40B4-BE49-F238E27FC236}">
                <a16:creationId xmlns:a16="http://schemas.microsoft.com/office/drawing/2014/main" id="{4A643332-2200-419A-8A52-0B68907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권한 Context·근거 연결</a:t>
            </a:r>
          </a:p>
        </p:txBody>
      </p:sp>
      <p:sp>
        <p:nvSpPr>
          <p:cNvPr id="58" name="role-4-divider">
            <a:extLst xmlns:a="http://schemas.openxmlformats.org/drawingml/2006/main">
              <a:ext uri="{FF2B5EF4-FFF2-40B4-BE49-F238E27FC236}">
                <a16:creationId xmlns:a16="http://schemas.microsoft.com/office/drawing/2014/main" id="{E1D5CD22-80C3-4146-A2BC-EA53746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98C9FE6C-0A7F-47B9-97C2-8F26EA77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80EB72C7-AAF5-4DB3-B6A6-EA2272B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 · OUTPUT &amp; AUDIT</a:t>
            </a:r>
          </a:p>
        </p:txBody>
      </p:sp>
      <p:sp>
        <p:nvSpPr>
          <p:cNvPr id="61" name="role-4-title">
            <a:extLst xmlns:a="http://schemas.openxmlformats.org/drawingml/2006/main">
              <a:ext uri="{FF2B5EF4-FFF2-40B4-BE49-F238E27FC236}">
                <a16:creationId xmlns:a16="http://schemas.microsoft.com/office/drawing/2014/main" id="{669A40C4-F36B-48E7-9C9B-89DF69E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Validator · Renderer</a:t>
            </a:r>
          </a:p>
        </p:txBody>
      </p:sp>
      <p:sp>
        <p:nvSpPr>
          <p:cNvPr id="62" name="role-4-bullet-1">
            <a:extLst xmlns:a="http://schemas.openxmlformats.org/drawingml/2006/main">
              <a:ext uri="{FF2B5EF4-FFF2-40B4-BE49-F238E27FC236}">
                <a16:creationId xmlns:a16="http://schemas.microsoft.com/office/drawing/2014/main" id="{4DFD1FFC-3153-4F19-A4BB-24FA861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웹 초안 수정·확정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role-4-bullet-2">
            <a:extLst xmlns:a="http://schemas.openxmlformats.org/drawingml/2006/main">
              <a:ext uri="{FF2B5EF4-FFF2-40B4-BE49-F238E27FC236}">
                <a16:creationId xmlns:a16="http://schemas.microsoft.com/office/drawing/2014/main" id="{A8653DB0-CE20-48E4-8CAB-EFB1937C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PPT·PDF·요약 생성</a:t>
            </a:r>
          </a:p>
        </p:txBody>
      </p:sp>
      <p:sp>
        <p:nvSpPr>
          <p:cNvPr id="64" name="role-4-bullet-3">
            <a:extLst xmlns:a="http://schemas.openxmlformats.org/drawingml/2006/main">
              <a:ext uri="{FF2B5EF4-FFF2-40B4-BE49-F238E27FC236}">
                <a16:creationId xmlns:a16="http://schemas.microsoft.com/office/drawing/2014/main" id="{547E3EC6-FCE2-4E3A-84BC-31DFE80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수치·누락·Prompt/응답 Audit</a:t>
            </a:r>
          </a:p>
        </p:txBody>
      </p:sp>
      <p:sp>
        <p:nvSpPr>
          <p:cNvPr id="65" name="principle-bg">
            <a:extLst xmlns:a="http://schemas.openxmlformats.org/drawingml/2006/main">
              <a:ext uri="{FF2B5EF4-FFF2-40B4-BE49-F238E27FC236}">
                <a16:creationId xmlns:a16="http://schemas.microsoft.com/office/drawing/2014/main" id="{04C83869-8E0A-4378-88C6-D4576B6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781103C1-67EA-4C82-963D-18C1019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SYSTEM OF RECORD</a:t>
            </a:r>
          </a:p>
        </p:txBody>
      </p:sp>
      <p:sp>
        <p:nvSpPr>
          <p:cNvPr id="67" name="principle-main">
            <a:extLst xmlns:a="http://schemas.openxmlformats.org/drawingml/2006/main">
              <a:ext uri="{FF2B5EF4-FFF2-40B4-BE49-F238E27FC236}">
                <a16:creationId xmlns:a16="http://schemas.microsoft.com/office/drawing/2014/main" id="{508B9715-27F5-4EAE-AFF2-22A586E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포털 = 기준 시스템 · RDB/Object Storage = 운영 원본 · GitHub = 스키마/프롬프트 버전관리</a:t>
            </a:r>
          </a:p>
        </p:txBody>
      </p:sp>
      <p:sp>
        <p:nvSpPr>
          <p:cNvPr id="68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4A145C5A-CF7F-4D39-BE21-09A0AD8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212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1-kicker">
            <a:extLst xmlns:a="http://schemas.openxmlformats.org/drawingml/2006/main">
              <a:ext uri="{FF2B5EF4-FFF2-40B4-BE49-F238E27FC236}">
                <a16:creationId xmlns:a16="http://schemas.microsoft.com/office/drawing/2014/main" id="{B6247663-B1AE-4113-8615-5867F83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WEEKLY OPERATING CADENCE</a:t>
            </a:r>
          </a:p>
        </p:txBody>
      </p:sp>
      <p:sp>
        <p:nvSpPr>
          <p:cNvPr id="2" name="s1-chip-bg">
            <a:extLst xmlns:a="http://schemas.openxmlformats.org/drawingml/2006/main">
              <a:ext uri="{FF2B5EF4-FFF2-40B4-BE49-F238E27FC236}">
                <a16:creationId xmlns:a16="http://schemas.microsoft.com/office/drawing/2014/main" id="{237D8155-A7F2-4E9D-9CC4-BBA8ACE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1-chip">
            <a:extLst xmlns:a="http://schemas.openxmlformats.org/drawingml/2006/main">
              <a:ext uri="{FF2B5EF4-FFF2-40B4-BE49-F238E27FC236}">
                <a16:creationId xmlns:a16="http://schemas.microsoft.com/office/drawing/2014/main" id="{82A0C235-9365-4491-8211-105584E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SNAPSHOT → REPORT → ARCHIVE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2768E233-859A-49CC-8726-F1DFB0D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정해진 마감과 상태 전환으로 수동 업로드도 재현 가능하게 운영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66E6FCB-7842-429D-A630-72627BD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Agent가 대신 결재하지 않고, 각 단계의 사용자 선택·수정·승인 결과를 다음 단계의 유일한 입력으로 사용</a:t>
            </a:r>
          </a:p>
        </p:txBody>
      </p:sp>
      <p:sp>
        <p:nvSpPr>
          <p:cNvPr id="6" name="s1-accent">
            <a:extLst xmlns:a="http://schemas.openxmlformats.org/drawingml/2006/main">
              <a:ext uri="{FF2B5EF4-FFF2-40B4-BE49-F238E27FC236}">
                <a16:creationId xmlns:a16="http://schemas.microsoft.com/office/drawing/2014/main" id="{4AC8EA77-B644-481C-9FA3-FCAE14E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0A0AB04-33B8-427A-B78F-421DCE3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D0D56C2-AD61-476D-A008-B097826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145A244-40A0-4EAD-90E1-205A2B8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BA42CF43-8DD0-4522-B7EF-D443051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193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tage-1-bg">
            <a:extLst xmlns:a="http://schemas.openxmlformats.org/drawingml/2006/main">
              <a:ext uri="{FF2B5EF4-FFF2-40B4-BE49-F238E27FC236}">
                <a16:creationId xmlns:a16="http://schemas.microsoft.com/office/drawing/2014/main" id="{D8D91CBA-46A6-4768-BB11-56F465C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age-1-num-bg">
            <a:extLst xmlns:a="http://schemas.openxmlformats.org/drawingml/2006/main">
              <a:ext uri="{FF2B5EF4-FFF2-40B4-BE49-F238E27FC236}">
                <a16:creationId xmlns:a16="http://schemas.microsoft.com/office/drawing/2014/main" id="{DA9E2CE1-E156-4702-ACCD-2DF42FA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age-1-num">
            <a:extLst xmlns:a="http://schemas.openxmlformats.org/drawingml/2006/main">
              <a:ext uri="{FF2B5EF4-FFF2-40B4-BE49-F238E27FC236}">
                <a16:creationId xmlns:a16="http://schemas.microsoft.com/office/drawing/2014/main" id="{42D62120-A7A0-49F5-BC76-174334C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53BC4618-F8E3-4F7D-B9F2-DC8A883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Snapshot 고정</a:t>
            </a:r>
          </a:p>
        </p:txBody>
      </p:sp>
      <p:sp>
        <p:nvSpPr>
          <p:cNvPr id="15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8DB4B324-750F-49FB-9610-210AF03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D-3 · KPI Owner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업로드·검증</a:t>
            </a:r>
          </a:p>
        </p:txBody>
      </p:sp>
      <p:sp>
        <p:nvSpPr>
          <p:cNvPr id="16" name="stage-2-bg">
            <a:extLst xmlns:a="http://schemas.openxmlformats.org/drawingml/2006/main">
              <a:ext uri="{FF2B5EF4-FFF2-40B4-BE49-F238E27FC236}">
                <a16:creationId xmlns:a16="http://schemas.microsoft.com/office/drawing/2014/main" id="{6CB6FF47-8592-4F7C-B983-CB9FAC0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age-2-num-bg">
            <a:extLst xmlns:a="http://schemas.openxmlformats.org/drawingml/2006/main">
              <a:ext uri="{FF2B5EF4-FFF2-40B4-BE49-F238E27FC236}">
                <a16:creationId xmlns:a16="http://schemas.microsoft.com/office/drawing/2014/main" id="{A3581172-1A5F-4C3D-8865-4FE0A99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tage-2-num">
            <a:extLst xmlns:a="http://schemas.openxmlformats.org/drawingml/2006/main">
              <a:ext uri="{FF2B5EF4-FFF2-40B4-BE49-F238E27FC236}">
                <a16:creationId xmlns:a16="http://schemas.microsoft.com/office/drawing/2014/main" id="{71321C42-396C-420C-8E87-3955957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362E08E-3F82-425D-A04E-A89FE95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제출</a:t>
            </a:r>
          </a:p>
        </p:txBody>
      </p:sp>
      <p:sp>
        <p:nvSpPr>
          <p:cNvPr id="20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5EACCFE9-2829-4A78-9E1A-37A2149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D-2 · 초안 확인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실적 선택·전송</a:t>
            </a:r>
          </a:p>
        </p:txBody>
      </p:sp>
      <p:sp>
        <p:nvSpPr>
          <p:cNvPr id="21" name="stage-3-bg">
            <a:extLst xmlns:a="http://schemas.openxmlformats.org/drawingml/2006/main">
              <a:ext uri="{FF2B5EF4-FFF2-40B4-BE49-F238E27FC236}">
                <a16:creationId xmlns:a16="http://schemas.microsoft.com/office/drawing/2014/main" id="{A89B227C-A0A3-4EB9-9C73-9F8053A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age-3-num-bg">
            <a:extLst xmlns:a="http://schemas.openxmlformats.org/drawingml/2006/main">
              <a:ext uri="{FF2B5EF4-FFF2-40B4-BE49-F238E27FC236}">
                <a16:creationId xmlns:a16="http://schemas.microsoft.com/office/drawing/2014/main" id="{55E78725-2BF9-42B7-92DD-DECB612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age-3-num">
            <a:extLst xmlns:a="http://schemas.openxmlformats.org/drawingml/2006/main">
              <a:ext uri="{FF2B5EF4-FFF2-40B4-BE49-F238E27FC236}">
                <a16:creationId xmlns:a16="http://schemas.microsoft.com/office/drawing/2014/main" id="{04B71FC5-4694-456C-BECF-7AB33F4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1F7619F-16BB-4959-B4C7-50E90BA5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 작성</a:t>
            </a:r>
          </a:p>
        </p:txBody>
      </p:sp>
      <p:sp>
        <p:nvSpPr>
          <p:cNvPr id="25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C5E17E0E-F1E7-4D42-B025-0A39308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D-1 · 팀원안 선택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LLM 초안·수정</a:t>
            </a:r>
          </a:p>
        </p:txBody>
      </p:sp>
      <p:sp>
        <p:nvSpPr>
          <p:cNvPr id="26" name="stage-4-bg">
            <a:extLst xmlns:a="http://schemas.openxmlformats.org/drawingml/2006/main">
              <a:ext uri="{FF2B5EF4-FFF2-40B4-BE49-F238E27FC236}">
                <a16:creationId xmlns:a16="http://schemas.microsoft.com/office/drawing/2014/main" id="{89E0B0D8-8DAA-46DC-95ED-626AA6F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tage-4-num-bg">
            <a:extLst xmlns:a="http://schemas.openxmlformats.org/drawingml/2006/main">
              <a:ext uri="{FF2B5EF4-FFF2-40B4-BE49-F238E27FC236}">
                <a16:creationId xmlns:a16="http://schemas.microsoft.com/office/drawing/2014/main" id="{D8F9645D-E307-4CFF-AE18-0772A2C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tage-4-num">
            <a:extLst xmlns:a="http://schemas.openxmlformats.org/drawingml/2006/main">
              <a:ext uri="{FF2B5EF4-FFF2-40B4-BE49-F238E27FC236}">
                <a16:creationId xmlns:a16="http://schemas.microsoft.com/office/drawing/2014/main" id="{C2882113-E004-4F8B-89CF-165C9BB1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C70E2352-4C5B-4C46-A30D-87D08A4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828"/>
                </a:solidFill>
              </a:defRPr>
            </a:pPr>
            <a:r>
              <a:rPr sz="131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담당·기획</a:t>
            </a:r>
          </a:p>
        </p:txBody>
      </p:sp>
      <p:sp>
        <p:nvSpPr>
          <p:cNvPr id="30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6E30C6D0-DAE1-4CAD-8FF7-B4E7789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D-1~D · 담당 승인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75467"/>
                </a:solidFill>
              </a:defRPr>
            </a:pPr>
            <a:r>
              <a:rPr sz="1088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기획 QA·반려</a:t>
            </a:r>
          </a:p>
        </p:txBody>
      </p:sp>
      <p:sp>
        <p:nvSpPr>
          <p:cNvPr id="31" name="stage-5-bg">
            <a:extLst xmlns:a="http://schemas.openxmlformats.org/drawingml/2006/main">
              <a:ext uri="{FF2B5EF4-FFF2-40B4-BE49-F238E27FC236}">
                <a16:creationId xmlns:a16="http://schemas.microsoft.com/office/drawing/2014/main" id="{0A9E5720-BE3A-4C98-95AF-438F569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90675"/>
            <a:ext cx="17907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tage-5-num-bg">
            <a:extLst xmlns:a="http://schemas.openxmlformats.org/drawingml/2006/main">
              <a:ext uri="{FF2B5EF4-FFF2-40B4-BE49-F238E27FC236}">
                <a16:creationId xmlns:a16="http://schemas.microsoft.com/office/drawing/2014/main" id="{861FC82A-EE54-4C26-BF4B-7189ACD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952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age-5-num">
            <a:extLst xmlns:a="http://schemas.openxmlformats.org/drawingml/2006/main">
              <a:ext uri="{FF2B5EF4-FFF2-40B4-BE49-F238E27FC236}">
                <a16:creationId xmlns:a16="http://schemas.microsoft.com/office/drawing/2014/main" id="{893A16BA-BF95-4E21-AD80-1E33B76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33550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2263A"/>
                </a:solidFill>
              </a:defRPr>
            </a:pPr>
            <a:r>
              <a:rPr sz="863" b="1">
                <a:solidFill>
                  <a:srgbClr val="12263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D9B43ABA-93D9-4C67-9E87-F765B48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049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FFFFFF"/>
                </a:solidFill>
              </a:defRPr>
            </a:pPr>
            <a:r>
              <a:rPr sz="13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그룹 리뷰</a:t>
            </a:r>
          </a:p>
        </p:txBody>
      </p:sp>
      <p:sp>
        <p:nvSpPr>
          <p:cNvPr id="35" name="stage-5-detail">
            <a:extLst xmlns:a="http://schemas.openxmlformats.org/drawingml/2006/main">
              <a:ext uri="{FF2B5EF4-FFF2-40B4-BE49-F238E27FC236}">
                <a16:creationId xmlns:a16="http://schemas.microsoft.com/office/drawing/2014/main" id="{C28964D4-F88C-41CC-A227-5423966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8597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D · 질의·의사결정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DCE9F6"/>
                </a:solidFill>
              </a:defRPr>
            </a:pPr>
            <a:r>
              <a:rPr sz="1088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D+1 보고·보관</a:t>
            </a:r>
          </a:p>
        </p:txBody>
      </p:sp>
      <p:sp>
        <p:nvSpPr>
          <p:cNvPr id="36" name="orchestrator-label">
            <a:extLst xmlns:a="http://schemas.openxmlformats.org/drawingml/2006/main">
              <a:ext uri="{FF2B5EF4-FFF2-40B4-BE49-F238E27FC236}">
                <a16:creationId xmlns:a16="http://schemas.microsoft.com/office/drawing/2014/main" id="{F64AC1B3-D88F-417B-8568-3B4F986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5588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WEEKLY HAND-OFF · HUMAN-IN-THE-LOOP</a:t>
            </a:r>
          </a:p>
        </p:txBody>
      </p:sp>
      <p:sp>
        <p:nvSpPr>
          <p:cNvPr id="37" name="orchestrator-title">
            <a:extLst xmlns:a="http://schemas.openxmlformats.org/drawingml/2006/main">
              <a:ext uri="{FF2B5EF4-FFF2-40B4-BE49-F238E27FC236}">
                <a16:creationId xmlns:a16="http://schemas.microsoft.com/office/drawing/2014/main" id="{3E743F80-6699-44E0-8912-5E7DA27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703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승인된 상태만 다음 역할의 입력으로 전달</a:t>
            </a:r>
            <a:endParaRPr sz="1650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68B54597-5F25-49F4-8FEA-536B70D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636783DB-21DA-4E45-B9FC-692A18F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 · PREPARE</a:t>
            </a:r>
          </a:p>
        </p:txBody>
      </p:sp>
      <p:sp>
        <p:nvSpPr>
          <p:cNvPr id="40" name="role-1-title">
            <a:extLst xmlns:a="http://schemas.openxmlformats.org/drawingml/2006/main">
              <a:ext uri="{FF2B5EF4-FFF2-40B4-BE49-F238E27FC236}">
                <a16:creationId xmlns:a16="http://schemas.microsoft.com/office/drawing/2014/main" id="{776ACAA3-54B1-46F2-B7A0-5710D33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Upload 담당자 + Validator</a:t>
            </a:r>
          </a:p>
        </p:txBody>
      </p:sp>
      <p:sp>
        <p:nvSpPr>
          <p:cNvPr id="41" name="role-1-bullet-1">
            <a:extLst xmlns:a="http://schemas.openxmlformats.org/drawingml/2006/main">
              <a:ext uri="{FF2B5EF4-FFF2-40B4-BE49-F238E27FC236}">
                <a16:creationId xmlns:a16="http://schemas.microsoft.com/office/drawing/2014/main" id="{B8ECFB2A-C303-492F-B8FF-1ED9716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지정일 파일 업로드</a:t>
            </a:r>
          </a:p>
        </p:txBody>
      </p:sp>
      <p:sp>
        <p:nvSpPr>
          <p:cNvPr id="42" name="role-1-bullet-2">
            <a:extLst xmlns:a="http://schemas.openxmlformats.org/drawingml/2006/main">
              <a:ext uri="{FF2B5EF4-FFF2-40B4-BE49-F238E27FC236}">
                <a16:creationId xmlns:a16="http://schemas.microsoft.com/office/drawing/2014/main" id="{E6DC26A8-6F53-4691-BCB2-06583FA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자동 검사 후 Data Owner 승인</a:t>
            </a:r>
          </a:p>
        </p:txBody>
      </p:sp>
      <p:sp>
        <p:nvSpPr>
          <p:cNvPr id="43" name="role-1-bullet-3">
            <a:extLst xmlns:a="http://schemas.openxmlformats.org/drawingml/2006/main">
              <a:ext uri="{FF2B5EF4-FFF2-40B4-BE49-F238E27FC236}">
                <a16:creationId xmlns:a16="http://schemas.microsoft.com/office/drawing/2014/main" id="{DAEB42DD-012A-4DBC-98ED-6E75177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UPLOADED→APPROVED→LOCKED</a:t>
            </a:r>
          </a:p>
        </p:txBody>
      </p:sp>
      <p:sp>
        <p:nvSpPr>
          <p:cNvPr id="44" name="role-2-divider">
            <a:extLst xmlns:a="http://schemas.openxmlformats.org/drawingml/2006/main">
              <a:ext uri="{FF2B5EF4-FFF2-40B4-BE49-F238E27FC236}">
                <a16:creationId xmlns:a16="http://schemas.microsoft.com/office/drawing/2014/main" id="{8BE79B7F-57E6-410B-AC87-896DDF7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3CC7C948-85E4-46CB-857F-185FB61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DFA9D208-D48E-498C-B278-16191FE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 · CONTRIBUTE</a:t>
            </a:r>
          </a:p>
        </p:txBody>
      </p:sp>
      <p:sp>
        <p:nvSpPr>
          <p:cNvPr id="47" name="role-2-title">
            <a:extLst xmlns:a="http://schemas.openxmlformats.org/drawingml/2006/main">
              <a:ext uri="{FF2B5EF4-FFF2-40B4-BE49-F238E27FC236}">
                <a16:creationId xmlns:a16="http://schemas.microsoft.com/office/drawing/2014/main" id="{23733101-C0A9-482F-9104-AAE248B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Agent</a:t>
            </a:r>
          </a:p>
        </p:txBody>
      </p:sp>
      <p:sp>
        <p:nvSpPr>
          <p:cNvPr id="48" name="role-2-bullet-1">
            <a:extLst xmlns:a="http://schemas.openxmlformats.org/drawingml/2006/main">
              <a:ext uri="{FF2B5EF4-FFF2-40B4-BE49-F238E27FC236}">
                <a16:creationId xmlns:a16="http://schemas.microsoft.com/office/drawing/2014/main" id="{22EE2E63-DBB8-4BA0-8FB0-EFDC332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기록·파일에서 금주 초안</a:t>
            </a:r>
          </a:p>
        </p:txBody>
      </p:sp>
      <p:sp>
        <p:nvSpPr>
          <p:cNvPr id="49" name="role-2-bullet-2">
            <a:extLst xmlns:a="http://schemas.openxmlformats.org/drawingml/2006/main">
              <a:ext uri="{FF2B5EF4-FFF2-40B4-BE49-F238E27FC236}">
                <a16:creationId xmlns:a16="http://schemas.microsoft.com/office/drawing/2014/main" id="{A69287D0-B97B-4D18-B845-B9DB214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실적 선택·수정·출처 확인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role-2-bullet-3">
            <a:extLst xmlns:a="http://schemas.openxmlformats.org/drawingml/2006/main">
              <a:ext uri="{FF2B5EF4-FFF2-40B4-BE49-F238E27FC236}">
                <a16:creationId xmlns:a16="http://schemas.microsoft.com/office/drawing/2014/main" id="{C699C999-E82F-49BC-9702-FDA155F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팀장에게 제출</a:t>
            </a:r>
          </a:p>
        </p:txBody>
      </p:sp>
      <p:sp>
        <p:nvSpPr>
          <p:cNvPr id="51" name="role-3-divider">
            <a:extLst xmlns:a="http://schemas.openxmlformats.org/drawingml/2006/main">
              <a:ext uri="{FF2B5EF4-FFF2-40B4-BE49-F238E27FC236}">
                <a16:creationId xmlns:a16="http://schemas.microsoft.com/office/drawing/2014/main" id="{6EEEA205-8ABF-4C4A-8F94-788AD92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352E2F81-C1C9-4075-8C85-632EEB4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58E59911-153A-4754-BCF5-36C5094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 · REVIEW</a:t>
            </a:r>
          </a:p>
        </p:txBody>
      </p:sp>
      <p:sp>
        <p:nvSpPr>
          <p:cNvPr id="54" name="role-3-title">
            <a:extLst xmlns:a="http://schemas.openxmlformats.org/drawingml/2006/main">
              <a:ext uri="{FF2B5EF4-FFF2-40B4-BE49-F238E27FC236}">
                <a16:creationId xmlns:a16="http://schemas.microsoft.com/office/drawing/2014/main" id="{164DD642-053E-4A13-828B-EE815FF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팀장·담당 Agent</a:t>
            </a:r>
          </a:p>
        </p:txBody>
      </p:sp>
      <p:sp>
        <p:nvSpPr>
          <p:cNvPr id="55" name="role-3-bullet-1">
            <a:extLst xmlns:a="http://schemas.openxmlformats.org/drawingml/2006/main">
              <a:ext uri="{FF2B5EF4-FFF2-40B4-BE49-F238E27FC236}">
                <a16:creationId xmlns:a16="http://schemas.microsoft.com/office/drawing/2014/main" id="{956C0C25-764D-4EA5-B1B6-A1D54AC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원천 WorkItem은 제출 후 잠금</a:t>
            </a:r>
          </a:p>
        </p:txBody>
      </p:sp>
      <p:sp>
        <p:nvSpPr>
          <p:cNvPr id="56" name="role-3-bullet-2">
            <a:extLst xmlns:a="http://schemas.openxmlformats.org/drawingml/2006/main">
              <a:ext uri="{FF2B5EF4-FFF2-40B4-BE49-F238E27FC236}">
                <a16:creationId xmlns:a16="http://schemas.microsoft.com/office/drawing/2014/main" id="{A23B07CA-73EF-4D0E-A0FA-776B0E3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팀장=팀문 · 담당=종합문 편집</a:t>
            </a:r>
          </a:p>
        </p:txBody>
      </p:sp>
      <p:sp>
        <p:nvSpPr>
          <p:cNvPr id="57" name="role-3-bullet-3">
            <a:extLst xmlns:a="http://schemas.openxmlformats.org/drawingml/2006/main">
              <a:ext uri="{FF2B5EF4-FFF2-40B4-BE49-F238E27FC236}">
                <a16:creationId xmlns:a16="http://schemas.microsoft.com/office/drawing/2014/main" id="{4A643332-2200-419A-8A52-0B68907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선택·제외·반려·단계 승인</a:t>
            </a:r>
          </a:p>
        </p:txBody>
      </p:sp>
      <p:sp>
        <p:nvSpPr>
          <p:cNvPr id="58" name="role-4-divider">
            <a:extLst xmlns:a="http://schemas.openxmlformats.org/drawingml/2006/main">
              <a:ext uri="{FF2B5EF4-FFF2-40B4-BE49-F238E27FC236}">
                <a16:creationId xmlns:a16="http://schemas.microsoft.com/office/drawing/2014/main" id="{E1D5CD22-80C3-4146-A2BC-EA53746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98C9FE6C-0A7F-47B9-97C2-8F26EA77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80EB72C7-AAF5-4DB3-B6A6-EA2272B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05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 · PUBLISH</a:t>
            </a:r>
          </a:p>
        </p:txBody>
      </p:sp>
      <p:sp>
        <p:nvSpPr>
          <p:cNvPr id="61" name="role-4-title">
            <a:extLst xmlns:a="http://schemas.openxmlformats.org/drawingml/2006/main">
              <a:ext uri="{FF2B5EF4-FFF2-40B4-BE49-F238E27FC236}">
                <a16:creationId xmlns:a16="http://schemas.microsoft.com/office/drawing/2014/main" id="{669A40C4-F36B-48E7-9C9B-89DF69E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기획·그룹장 Agent</a:t>
            </a:r>
          </a:p>
        </p:txBody>
      </p:sp>
      <p:sp>
        <p:nvSpPr>
          <p:cNvPr id="62" name="role-4-bullet-1">
            <a:extLst xmlns:a="http://schemas.openxmlformats.org/drawingml/2006/main">
              <a:ext uri="{FF2B5EF4-FFF2-40B4-BE49-F238E27FC236}">
                <a16:creationId xmlns:a16="http://schemas.microsoft.com/office/drawing/2014/main" id="{4DFD1FFC-3153-4F19-A4BB-24FA861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243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기획=그룹 보고문 편집·QA</a:t>
            </a:r>
            <a:endParaRPr sz="1163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role-4-bullet-2">
            <a:extLst xmlns:a="http://schemas.openxmlformats.org/drawingml/2006/main">
              <a:ext uri="{FF2B5EF4-FFF2-40B4-BE49-F238E27FC236}">
                <a16:creationId xmlns:a16="http://schemas.microsoft.com/office/drawing/2014/main" id="{A8653DB0-CE20-48E4-8CAB-EFB1937C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그룹장=승인본 질의·의사결정</a:t>
            </a:r>
          </a:p>
        </p:txBody>
      </p:sp>
      <p:sp>
        <p:nvSpPr>
          <p:cNvPr id="64" name="role-4-bullet-3">
            <a:extLst xmlns:a="http://schemas.openxmlformats.org/drawingml/2006/main">
              <a:ext uri="{FF2B5EF4-FFF2-40B4-BE49-F238E27FC236}">
                <a16:creationId xmlns:a16="http://schemas.microsoft.com/office/drawing/2014/main" id="{547E3EC6-FCE2-4E3A-84BC-31DFE80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29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• 보고 확정·Version·보관</a:t>
            </a:r>
          </a:p>
        </p:txBody>
      </p:sp>
      <p:sp>
        <p:nvSpPr>
          <p:cNvPr id="65" name="principle-bg">
            <a:extLst xmlns:a="http://schemas.openxmlformats.org/drawingml/2006/main">
              <a:ext uri="{FF2B5EF4-FFF2-40B4-BE49-F238E27FC236}">
                <a16:creationId xmlns:a16="http://schemas.microsoft.com/office/drawing/2014/main" id="{04C83869-8E0A-4378-88C6-D4576B6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781103C1-67EA-4C82-963D-18C1019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REPORT STATE</a:t>
            </a:r>
          </a:p>
        </p:txBody>
      </p:sp>
      <p:sp>
        <p:nvSpPr>
          <p:cNvPr id="67" name="principle-main">
            <a:extLst xmlns:a="http://schemas.openxmlformats.org/drawingml/2006/main">
              <a:ext uri="{FF2B5EF4-FFF2-40B4-BE49-F238E27FC236}">
                <a16:creationId xmlns:a16="http://schemas.microsoft.com/office/drawing/2014/main" id="{508B9715-27F5-4EAE-AFF2-22A586E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8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DRAFT → SUBMITTED ↔ RETURNED → TEAM APPROVED → DEPT APPROVED → PLANNING QA → GROUP REVIEW → REPORTED</a:t>
            </a:r>
          </a:p>
        </p:txBody>
      </p:sp>
      <p:sp>
        <p:nvSpPr>
          <p:cNvPr id="68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4A145C5A-CF7F-4D39-BE21-09A0AD8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3212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ROLE-SPECIFIC AGENTS &amp; AUTHORITY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ONE LLM · DIFFERENT CONTEXT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Agent는 역할별로 다르게 보이지만, 승인 권한은 사람에게만 부여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공통 LLM을 사용하되 조직 범위·업무 상태·도구·Prompt를 분리하고 승인 전후 데이터 접근을 백엔드에서 강제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ROLE-SPECIFIC WORKSPACE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Agent가 지원하는 일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사람의 권한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기록/파일 요약 · 금주 초안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선택 · 수정 · 제출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팀원안 선택 · 팀 요약문 초안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선택·제외·반려 · 팀문 편집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비교 · 담당 종합문 초안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담당문 편집 · 결재·승인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기획팀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누락·보안 QA · 그룹 보고문 초안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그룹문 편집 · 보고 준비 승인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그룹장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승인본 Brief · 질의 · 결정 추적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리뷰 · 의사결정 · 보고 확정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PERMISSION RULE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Role × Org Scope × Report State × Security Label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COMMON AGENT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공통 LLM + 역할별 실행 정책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Context Scope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본인·팀·담당·그룹 승인 범위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Enterprise LLM Gateway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DLP·Masking · No Training · Allowlist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Workflow Guard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Report State별 조회·편집 제한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Snapshot·WorkItem·File ID 연결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Agent = 조회·검사·초안 작성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DB·Snapshot·승인 상태 변경 불가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사용자·Input ID·Prompt Version·응답 기록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AUTHORITY BOUNDARY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그룹장은 승인본만 조회 · Agent는 승인 상태를 변경하지 못함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최종 수치와 서술 책임은 각 단계 승인자에게 귀속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3-kicker">
            <a:extLst xmlns:a="http://schemas.openxmlformats.org/drawingml/2006/main">
              <a:ext uri="{FF2B5EF4-FFF2-40B4-BE49-F238E27FC236}">
                <a16:creationId xmlns:a16="http://schemas.microsoft.com/office/drawing/2014/main" id="{14E7ECE5-6060-4B51-8EAB-AC2B91E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SYSTEM OF RECORD &amp; VERSION MANAGEMENT</a:t>
            </a:r>
          </a:p>
        </p:txBody>
      </p:sp>
      <p:sp>
        <p:nvSpPr>
          <p:cNvPr id="2" name="s3-chip-bg">
            <a:extLst xmlns:a="http://schemas.openxmlformats.org/drawingml/2006/main">
              <a:ext uri="{FF2B5EF4-FFF2-40B4-BE49-F238E27FC236}">
                <a16:creationId xmlns:a16="http://schemas.microsoft.com/office/drawing/2014/main" id="{F75064C6-018D-46F6-9398-24FF336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3-chip">
            <a:extLst xmlns:a="http://schemas.openxmlformats.org/drawingml/2006/main">
              <a:ext uri="{FF2B5EF4-FFF2-40B4-BE49-F238E27FC236}">
                <a16:creationId xmlns:a16="http://schemas.microsoft.com/office/drawing/2014/main" id="{C3FEDD05-8718-48F7-889C-2AB71F7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RDB + OBJECT + GITHUB</a:t>
            </a:r>
          </a:p>
        </p:txBody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9791AEA0-5A3C-4CD0-B3A8-7B74CFA7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원본과 버전관리 원본을 분리해야 포털이 안전하게 확장</a:t>
            </a:r>
          </a:p>
        </p:txBody>
      </p:sp>
      <p:sp>
        <p:nvSpPr>
          <p:cNvPr id="5" name="s3-subtitle">
            <a:extLst xmlns:a="http://schemas.openxmlformats.org/drawingml/2006/main">
              <a:ext uri="{FF2B5EF4-FFF2-40B4-BE49-F238E27FC236}">
                <a16:creationId xmlns:a16="http://schemas.microsoft.com/office/drawing/2014/main" id="{613DA45D-E4C9-4AF2-8F45-439D905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결재 상태·민감 데이터·대용량 파일은 포털 저장소에서 관리하고 GitHub는 스키마·Prompt·Template 변경을 추적</a:t>
            </a:r>
          </a:p>
        </p:txBody>
      </p:sp>
      <p:sp>
        <p:nvSpPr>
          <p:cNvPr id="6" name="s3-accent">
            <a:extLst xmlns:a="http://schemas.openxmlformats.org/drawingml/2006/main">
              <a:ext uri="{FF2B5EF4-FFF2-40B4-BE49-F238E27FC236}">
                <a16:creationId xmlns:a16="http://schemas.microsoft.com/office/drawing/2014/main" id="{A8B23417-017C-43F3-BDBE-0EFCBF6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llab-down-arrow-1">
            <a:extLst xmlns:a="http://schemas.openxmlformats.org/drawingml/2006/main">
              <a:ext uri="{FF2B5EF4-FFF2-40B4-BE49-F238E27FC236}">
                <a16:creationId xmlns:a16="http://schemas.microsoft.com/office/drawing/2014/main" id="{83684ADE-055F-4F48-9043-467A881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llab-down-arrow-2">
            <a:extLst xmlns:a="http://schemas.openxmlformats.org/drawingml/2006/main">
              <a:ext uri="{FF2B5EF4-FFF2-40B4-BE49-F238E27FC236}">
                <a16:creationId xmlns:a16="http://schemas.microsoft.com/office/drawing/2014/main" id="{2C19DED0-0D1B-4386-BD61-82A9E25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05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ollab-master-bg">
            <a:extLst xmlns:a="http://schemas.openxmlformats.org/drawingml/2006/main">
              <a:ext uri="{FF2B5EF4-FFF2-40B4-BE49-F238E27FC236}">
                <a16:creationId xmlns:a16="http://schemas.microsoft.com/office/drawing/2014/main" id="{EC235826-1263-4B01-A33C-845CB2C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12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llab-master-label">
            <a:extLst xmlns:a="http://schemas.openxmlformats.org/drawingml/2006/main">
              <a:ext uri="{FF2B5EF4-FFF2-40B4-BE49-F238E27FC236}">
                <a16:creationId xmlns:a16="http://schemas.microsoft.com/office/drawing/2014/main" id="{9346FC94-0CF4-40C1-804F-7BCA3B2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PORTAL CANONICAL RECORD</a:t>
            </a:r>
          </a:p>
        </p:txBody>
      </p:sp>
      <p:sp>
        <p:nvSpPr>
          <p:cNvPr id="11" name="collab-master-title">
            <a:extLst xmlns:a="http://schemas.openxmlformats.org/drawingml/2006/main">
              <a:ext uri="{FF2B5EF4-FFF2-40B4-BE49-F238E27FC236}">
                <a16:creationId xmlns:a16="http://schemas.microsoft.com/office/drawing/2014/main" id="{3EC10ED1-FC7A-4F40-86A1-E15C9F73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REPORT-YYYY-WW  ·  승인 상태와 데이터 버전의 기준</a:t>
            </a:r>
          </a:p>
        </p:txBody>
      </p:sp>
      <p:sp>
        <p:nvSpPr>
          <p:cNvPr id="12" name="collab-master-detail">
            <a:extLst xmlns:a="http://schemas.openxmlformats.org/drawingml/2006/main">
              <a:ext uri="{FF2B5EF4-FFF2-40B4-BE49-F238E27FC236}">
                <a16:creationId xmlns:a16="http://schemas.microsoft.com/office/drawing/2014/main" id="{0A1C4F50-11BB-49C7-9210-89CA83A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E9F6"/>
                </a:solidFill>
              </a:defRPr>
            </a:pPr>
            <a:r>
              <a:rPr sz="1125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User/Org · WorkItem · Metric Snapshot · Report Version · Approval · Audit Event</a:t>
            </a:r>
          </a:p>
        </p:txBody>
      </p:sp>
      <p:sp>
        <p:nvSpPr>
          <p:cNvPr id="13" name="collab-master-rule">
            <a:extLst xmlns:a="http://schemas.openxmlformats.org/drawingml/2006/main">
              <a:ext uri="{FF2B5EF4-FFF2-40B4-BE49-F238E27FC236}">
                <a16:creationId xmlns:a16="http://schemas.microsoft.com/office/drawing/2014/main" id="{02458385-36F7-4920-B0AD-8D47A0E5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764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9C7F2"/>
                </a:solidFill>
              </a:defRPr>
            </a:pPr>
            <a:r>
              <a:rPr sz="1350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Portal Backend만 상태를 변경하고 모든 변경을 Audit Log에 기록</a:t>
            </a:r>
          </a:p>
        </p:txBody>
      </p:sp>
      <p:sp>
        <p:nvSpPr>
          <p:cNvPr id="14" name="shared-zone-label">
            <a:extLst xmlns:a="http://schemas.openxmlformats.org/drawingml/2006/main">
              <a:ext uri="{FF2B5EF4-FFF2-40B4-BE49-F238E27FC236}">
                <a16:creationId xmlns:a16="http://schemas.microsoft.com/office/drawing/2014/main" id="{4199BBF2-EF0D-4CEE-8263-7949924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OPERATIONAL STORE · PORTAL MANAGED</a:t>
            </a:r>
          </a:p>
        </p:txBody>
      </p:sp>
      <p:sp>
        <p:nvSpPr>
          <p:cNvPr id="15" name="shared-zone-title">
            <a:extLst xmlns:a="http://schemas.openxmlformats.org/drawingml/2006/main">
              <a:ext uri="{FF2B5EF4-FFF2-40B4-BE49-F238E27FC236}">
                <a16:creationId xmlns:a16="http://schemas.microsoft.com/office/drawing/2014/main" id="{80011A8B-2728-4A7C-936D-700F3BA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DB와 증빙 파일은 권한 기반 저장</a:t>
            </a:r>
          </a:p>
        </p:txBody>
      </p:sp>
      <p:sp>
        <p:nvSpPr>
          <p:cNvPr id="16" name="shared-zone-bg">
            <a:extLst xmlns:a="http://schemas.openxmlformats.org/drawingml/2006/main">
              <a:ext uri="{FF2B5EF4-FFF2-40B4-BE49-F238E27FC236}">
                <a16:creationId xmlns:a16="http://schemas.microsoft.com/office/drawing/2014/main" id="{75BF08F1-0F09-4F3A-93C8-9246849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629150" cy="207645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red-row-0-label">
            <a:extLst xmlns:a="http://schemas.openxmlformats.org/drawingml/2006/main">
              <a:ext uri="{FF2B5EF4-FFF2-40B4-BE49-F238E27FC236}">
                <a16:creationId xmlns:a16="http://schemas.microsoft.com/office/drawing/2014/main" id="{A5C50A40-17AB-4F52-8BE2-081C7A2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RDBMS</a:t>
            </a:r>
          </a:p>
        </p:txBody>
      </p:sp>
      <p:sp>
        <p:nvSpPr>
          <p:cNvPr id="18" name="shared-row-0-value">
            <a:extLst xmlns:a="http://schemas.openxmlformats.org/drawingml/2006/main">
              <a:ext uri="{FF2B5EF4-FFF2-40B4-BE49-F238E27FC236}">
                <a16:creationId xmlns:a16="http://schemas.microsoft.com/office/drawing/2014/main" id="{D85866E0-B8B7-4B57-8BD0-0088DE54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WorkItem · Report · Approval · Snapshot</a:t>
            </a:r>
          </a:p>
        </p:txBody>
      </p:sp>
      <p:sp>
        <p:nvSpPr>
          <p:cNvPr id="19" name="shared-row-1-line">
            <a:extLst xmlns:a="http://schemas.openxmlformats.org/drawingml/2006/main">
              <a:ext uri="{FF2B5EF4-FFF2-40B4-BE49-F238E27FC236}">
                <a16:creationId xmlns:a16="http://schemas.microsoft.com/office/drawing/2014/main" id="{72662145-4EC1-485A-8909-53AA621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red-row-1-label">
            <a:extLst xmlns:a="http://schemas.openxmlformats.org/drawingml/2006/main">
              <a:ext uri="{FF2B5EF4-FFF2-40B4-BE49-F238E27FC236}">
                <a16:creationId xmlns:a16="http://schemas.microsoft.com/office/drawing/2014/main" id="{5E63D5FA-04FC-4C19-A9E2-8C9D421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Object</a:t>
            </a:r>
          </a:p>
        </p:txBody>
      </p:sp>
      <p:sp>
        <p:nvSpPr>
          <p:cNvPr id="21" name="shared-row-1-value">
            <a:extLst xmlns:a="http://schemas.openxmlformats.org/drawingml/2006/main">
              <a:ext uri="{FF2B5EF4-FFF2-40B4-BE49-F238E27FC236}">
                <a16:creationId xmlns:a16="http://schemas.microsoft.com/office/drawing/2014/main" id="{1B14302F-E5D4-4EFD-89DB-DC77756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Excel·PPT·이미지·분석파일·Evidence</a:t>
            </a:r>
          </a:p>
        </p:txBody>
      </p:sp>
      <p:sp>
        <p:nvSpPr>
          <p:cNvPr id="22" name="shared-row-2-line">
            <a:extLst xmlns:a="http://schemas.openxmlformats.org/drawingml/2006/main">
              <a:ext uri="{FF2B5EF4-FFF2-40B4-BE49-F238E27FC236}">
                <a16:creationId xmlns:a16="http://schemas.microsoft.com/office/drawing/2014/main" id="{F90D4122-2C92-4E8E-A9C4-0E819C6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red-row-2-label">
            <a:extLst xmlns:a="http://schemas.openxmlformats.org/drawingml/2006/main">
              <a:ext uri="{FF2B5EF4-FFF2-40B4-BE49-F238E27FC236}">
                <a16:creationId xmlns:a16="http://schemas.microsoft.com/office/drawing/2014/main" id="{F42EC52F-1FF9-4133-A1C9-6F00BE2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Search</a:t>
            </a:r>
          </a:p>
        </p:txBody>
      </p:sp>
      <p:sp>
        <p:nvSpPr>
          <p:cNvPr id="24" name="shared-row-2-value">
            <a:extLst xmlns:a="http://schemas.openxmlformats.org/drawingml/2006/main">
              <a:ext uri="{FF2B5EF4-FFF2-40B4-BE49-F238E27FC236}">
                <a16:creationId xmlns:a16="http://schemas.microsoft.com/office/drawing/2014/main" id="{64BB0FFC-8DBA-45D7-B22A-80E4E5C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추출 텍스트·Embedding · ACL Metadata</a:t>
            </a:r>
          </a:p>
        </p:txBody>
      </p:sp>
      <p:sp>
        <p:nvSpPr>
          <p:cNvPr id="25" name="shared-row-3-line">
            <a:extLst xmlns:a="http://schemas.openxmlformats.org/drawingml/2006/main">
              <a:ext uri="{FF2B5EF4-FFF2-40B4-BE49-F238E27FC236}">
                <a16:creationId xmlns:a16="http://schemas.microsoft.com/office/drawing/2014/main" id="{F1F9D9C0-B396-45E6-B2FA-A4CE926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red-row-3-label">
            <a:extLst xmlns:a="http://schemas.openxmlformats.org/drawingml/2006/main">
              <a:ext uri="{FF2B5EF4-FFF2-40B4-BE49-F238E27FC236}">
                <a16:creationId xmlns:a16="http://schemas.microsoft.com/office/drawing/2014/main" id="{065A103A-D147-4CEB-8EDE-F1FEC30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0ED"/>
                </a:solidFill>
              </a:defRPr>
            </a:pPr>
            <a:r>
              <a:rPr sz="11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Audit</a:t>
            </a:r>
          </a:p>
        </p:txBody>
      </p:sp>
      <p:sp>
        <p:nvSpPr>
          <p:cNvPr id="27" name="shared-row-3-value">
            <a:extLst xmlns:a="http://schemas.openxmlformats.org/drawingml/2006/main">
              <a:ext uri="{FF2B5EF4-FFF2-40B4-BE49-F238E27FC236}">
                <a16:creationId xmlns:a16="http://schemas.microsoft.com/office/drawing/2014/main" id="{F83FB21A-772A-48D0-BBBA-83646B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339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업로드·수정·승인·LLM 호출 이력</a:t>
            </a:r>
          </a:p>
        </p:txBody>
      </p:sp>
      <p:sp>
        <p:nvSpPr>
          <p:cNvPr id="28" name="collab-separator">
            <a:extLst xmlns:a="http://schemas.openxmlformats.org/drawingml/2006/main">
              <a:ext uri="{FF2B5EF4-FFF2-40B4-BE49-F238E27FC236}">
                <a16:creationId xmlns:a16="http://schemas.microsoft.com/office/drawing/2014/main" id="{BD52662D-4E36-407E-A83D-9D7F8BE3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95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am-zone-label">
            <a:extLst xmlns:a="http://schemas.openxmlformats.org/drawingml/2006/main">
              <a:ext uri="{FF2B5EF4-FFF2-40B4-BE49-F238E27FC236}">
                <a16:creationId xmlns:a16="http://schemas.microsoft.com/office/drawing/2014/main" id="{409AD290-ABC4-4F1C-9E44-8D21AE8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VERSION STORE · GITHUB ENTERPRISE</a:t>
            </a:r>
          </a:p>
        </p:txBody>
      </p:sp>
      <p:sp>
        <p:nvSpPr>
          <p:cNvPr id="30" name="team-zone-title">
            <a:extLst xmlns:a="http://schemas.openxmlformats.org/drawingml/2006/main">
              <a:ext uri="{FF2B5EF4-FFF2-40B4-BE49-F238E27FC236}">
                <a16:creationId xmlns:a16="http://schemas.microsoft.com/office/drawing/2014/main" id="{45E4E3B9-E82B-4924-AEFC-1624F46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GitHub는 ‘결재 DB’가 아니라 변경관리 저장소</a:t>
            </a:r>
          </a:p>
        </p:txBody>
      </p:sp>
      <p:sp>
        <p:nvSpPr>
          <p:cNvPr id="31" name="team-row-0-bg">
            <a:extLst xmlns:a="http://schemas.openxmlformats.org/drawingml/2006/main">
              <a:ext uri="{FF2B5EF4-FFF2-40B4-BE49-F238E27FC236}">
                <a16:creationId xmlns:a16="http://schemas.microsoft.com/office/drawing/2014/main" id="{ECE2CED3-E668-486B-B5E5-6D6B12A6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am-row-0-org">
            <a:extLst xmlns:a="http://schemas.openxmlformats.org/drawingml/2006/main">
              <a:ext uri="{FF2B5EF4-FFF2-40B4-BE49-F238E27FC236}">
                <a16:creationId xmlns:a16="http://schemas.microsoft.com/office/drawing/2014/main" id="{0C6FA42E-B78F-4FAD-9FF3-58F7DC7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SCHEMA</a:t>
            </a:r>
          </a:p>
        </p:txBody>
      </p:sp>
      <p:sp>
        <p:nvSpPr>
          <p:cNvPr id="33" name="team-row-0-id">
            <a:extLst xmlns:a="http://schemas.openxmlformats.org/drawingml/2006/main">
              <a:ext uri="{FF2B5EF4-FFF2-40B4-BE49-F238E27FC236}">
                <a16:creationId xmlns:a16="http://schemas.microsoft.com/office/drawing/2014/main" id="{28F32211-3D14-43F4-B9A4-6F10DB4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567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Metric / Work</a:t>
            </a:r>
          </a:p>
        </p:txBody>
      </p:sp>
      <p:sp>
        <p:nvSpPr>
          <p:cNvPr id="34" name="team-row-0-value">
            <a:extLst xmlns:a="http://schemas.openxmlformats.org/drawingml/2006/main">
              <a:ext uri="{FF2B5EF4-FFF2-40B4-BE49-F238E27FC236}">
                <a16:creationId xmlns:a16="http://schemas.microsoft.com/office/drawing/2014/main" id="{48D537BD-E288-4003-B2AA-B295EDF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Metric·WorkItem·Report JSON Schema</a:t>
            </a:r>
          </a:p>
        </p:txBody>
      </p:sp>
      <p:sp>
        <p:nvSpPr>
          <p:cNvPr id="35" name="team-row-1-bg">
            <a:extLst xmlns:a="http://schemas.openxmlformats.org/drawingml/2006/main">
              <a:ext uri="{FF2B5EF4-FFF2-40B4-BE49-F238E27FC236}">
                <a16:creationId xmlns:a16="http://schemas.microsoft.com/office/drawing/2014/main" id="{AFB606A8-EF96-4E61-BF68-9E3C88D0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71925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am-row-1-org">
            <a:extLst xmlns:a="http://schemas.openxmlformats.org/drawingml/2006/main">
              <a:ext uri="{FF2B5EF4-FFF2-40B4-BE49-F238E27FC236}">
                <a16:creationId xmlns:a16="http://schemas.microsoft.com/office/drawing/2014/main" id="{5377949A-A01B-4B0C-8B28-E56F0C6B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PROMPT</a:t>
            </a:r>
          </a:p>
        </p:txBody>
      </p:sp>
      <p:sp>
        <p:nvSpPr>
          <p:cNvPr id="37" name="team-row-1-id">
            <a:extLst xmlns:a="http://schemas.openxmlformats.org/drawingml/2006/main">
              <a:ext uri="{FF2B5EF4-FFF2-40B4-BE49-F238E27FC236}">
                <a16:creationId xmlns:a16="http://schemas.microsoft.com/office/drawing/2014/main" id="{79240889-3717-491D-9296-919FF22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Role / Rule</a:t>
            </a:r>
          </a:p>
        </p:txBody>
      </p:sp>
      <p:sp>
        <p:nvSpPr>
          <p:cNvPr id="38" name="team-row-1-value">
            <a:extLst xmlns:a="http://schemas.openxmlformats.org/drawingml/2006/main">
              <a:ext uri="{FF2B5EF4-FFF2-40B4-BE49-F238E27FC236}">
                <a16:creationId xmlns:a16="http://schemas.microsoft.com/office/drawing/2014/main" id="{FFE355B0-8DBC-415E-9445-D874A34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역할별 Prompt · Validator Rule</a:t>
            </a:r>
          </a:p>
        </p:txBody>
      </p:sp>
      <p:sp>
        <p:nvSpPr>
          <p:cNvPr id="39" name="team-row-2-bg">
            <a:extLst xmlns:a="http://schemas.openxmlformats.org/drawingml/2006/main">
              <a:ext uri="{FF2B5EF4-FFF2-40B4-BE49-F238E27FC236}">
                <a16:creationId xmlns:a16="http://schemas.microsoft.com/office/drawing/2014/main" id="{43417172-0745-4233-A4BF-14B84E1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am-row-2-org">
            <a:extLst xmlns:a="http://schemas.openxmlformats.org/drawingml/2006/main">
              <a:ext uri="{FF2B5EF4-FFF2-40B4-BE49-F238E27FC236}">
                <a16:creationId xmlns:a16="http://schemas.microsoft.com/office/drawing/2014/main" id="{5A1E3706-8141-4959-8849-2B444FA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43425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TEMPLATE</a:t>
            </a:r>
          </a:p>
        </p:txBody>
      </p:sp>
      <p:sp>
        <p:nvSpPr>
          <p:cNvPr id="41" name="team-row-2-id">
            <a:extLst xmlns:a="http://schemas.openxmlformats.org/drawingml/2006/main">
              <a:ext uri="{FF2B5EF4-FFF2-40B4-BE49-F238E27FC236}">
                <a16:creationId xmlns:a16="http://schemas.microsoft.com/office/drawing/2014/main" id="{F656D781-D760-4683-97DF-EF52D85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4342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PPT / Code</a:t>
            </a:r>
          </a:p>
        </p:txBody>
      </p:sp>
      <p:sp>
        <p:nvSpPr>
          <p:cNvPr id="42" name="team-row-2-value">
            <a:extLst xmlns:a="http://schemas.openxmlformats.org/drawingml/2006/main">
              <a:ext uri="{FF2B5EF4-FFF2-40B4-BE49-F238E27FC236}">
                <a16:creationId xmlns:a16="http://schemas.microsoft.com/office/drawing/2014/main" id="{9FB7A833-9924-4436-BDC7-D681282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4342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PPT Renderer · 문서 양식 · Code</a:t>
            </a:r>
          </a:p>
        </p:txBody>
      </p:sp>
      <p:sp>
        <p:nvSpPr>
          <p:cNvPr id="43" name="team-row-3-bg">
            <a:extLst xmlns:a="http://schemas.openxmlformats.org/drawingml/2006/main">
              <a:ext uri="{FF2B5EF4-FFF2-40B4-BE49-F238E27FC236}">
                <a16:creationId xmlns:a16="http://schemas.microsoft.com/office/drawing/2014/main" id="{6DB9CE04-EF83-41F2-AA23-9396ACAB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9675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am-row-3-org">
            <a:extLst xmlns:a="http://schemas.openxmlformats.org/drawingml/2006/main">
              <a:ext uri="{FF2B5EF4-FFF2-40B4-BE49-F238E27FC236}">
                <a16:creationId xmlns:a16="http://schemas.microsoft.com/office/drawing/2014/main" id="{41585C12-9199-48CF-AE7B-2022434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110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RELEASE</a:t>
            </a:r>
          </a:p>
        </p:txBody>
      </p:sp>
      <p:sp>
        <p:nvSpPr>
          <p:cNvPr id="45" name="team-row-3-id">
            <a:extLst xmlns:a="http://schemas.openxmlformats.org/drawingml/2006/main">
              <a:ext uri="{FF2B5EF4-FFF2-40B4-BE49-F238E27FC236}">
                <a16:creationId xmlns:a16="http://schemas.microsoft.com/office/drawing/2014/main" id="{F55D9A35-A5BB-4EA6-80E1-B703BAE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F80ED"/>
                </a:solidFill>
              </a:defRPr>
            </a:pPr>
            <a:r>
              <a:rPr sz="10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 / Tag</a:t>
            </a:r>
          </a:p>
        </p:txBody>
      </p:sp>
      <p:sp>
        <p:nvSpPr>
          <p:cNvPr id="46" name="team-row-3-value">
            <a:extLst xmlns:a="http://schemas.openxmlformats.org/drawingml/2006/main">
              <a:ext uri="{FF2B5EF4-FFF2-40B4-BE49-F238E27FC236}">
                <a16:creationId xmlns:a16="http://schemas.microsoft.com/office/drawing/2014/main" id="{EFBB343E-2805-4865-A95E-7904370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673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보호 Branch · PR 승인 · Release Tag</a:t>
            </a:r>
          </a:p>
        </p:txBody>
      </p:sp>
      <p:sp>
        <p:nvSpPr>
          <p:cNvPr id="47" name="collab-principle-bg">
            <a:extLst xmlns:a="http://schemas.openxmlformats.org/drawingml/2006/main">
              <a:ext uri="{FF2B5EF4-FFF2-40B4-BE49-F238E27FC236}">
                <a16:creationId xmlns:a16="http://schemas.microsoft.com/office/drawing/2014/main" id="{F182BF14-37E8-4A9E-88B2-D48408D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collab-principle-label">
            <a:extLst xmlns:a="http://schemas.openxmlformats.org/drawingml/2006/main">
              <a:ext uri="{FF2B5EF4-FFF2-40B4-BE49-F238E27FC236}">
                <a16:creationId xmlns:a16="http://schemas.microsoft.com/office/drawing/2014/main" id="{11525076-FAA5-44F4-A7B5-E6AF15F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STORAGE BOUNDARY</a:t>
            </a:r>
          </a:p>
        </p:txBody>
      </p:sp>
      <p:sp>
        <p:nvSpPr>
          <p:cNvPr id="49" name="collab-principle-main">
            <a:extLst xmlns:a="http://schemas.openxmlformats.org/drawingml/2006/main">
              <a:ext uri="{FF2B5EF4-FFF2-40B4-BE49-F238E27FC236}">
                <a16:creationId xmlns:a16="http://schemas.microsoft.com/office/drawing/2014/main" id="{C201FB16-29C5-4931-BC91-F33C2E46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GitHub에 승인 상태·민감 원본·대용량 첨부를 직접 저장하지 않음 · 운영 원본은 Portal DB/Object</a:t>
            </a:r>
          </a:p>
        </p:txBody>
      </p:sp>
      <p:sp>
        <p:nvSpPr>
          <p:cNvPr id="50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7AD7A7B-79F0-45BD-AA90-BB05E7A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6404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4-kicker">
            <a:extLst xmlns:a="http://schemas.openxmlformats.org/drawingml/2006/main">
              <a:ext uri="{FF2B5EF4-FFF2-40B4-BE49-F238E27FC236}">
                <a16:creationId xmlns:a16="http://schemas.microsoft.com/office/drawing/2014/main" id="{3C2E8CA6-750E-46DE-A9CD-3FDE476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PHASED DELIVERY &amp; OPERATING CONTROL</a:t>
            </a:r>
          </a:p>
        </p:txBody>
      </p:sp>
      <p:sp>
        <p:nvSpPr>
          <p:cNvPr id="2" name="s4-chip-bg">
            <a:extLst xmlns:a="http://schemas.openxmlformats.org/drawingml/2006/main">
              <a:ext uri="{FF2B5EF4-FFF2-40B4-BE49-F238E27FC236}">
                <a16:creationId xmlns:a16="http://schemas.microsoft.com/office/drawing/2014/main" id="{2395179D-245D-43FF-8F7D-CC9143A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4-chip">
            <a:extLst xmlns:a="http://schemas.openxmlformats.org/drawingml/2006/main">
              <a:ext uri="{FF2B5EF4-FFF2-40B4-BE49-F238E27FC236}">
                <a16:creationId xmlns:a16="http://schemas.microsoft.com/office/drawing/2014/main" id="{67E2FE21-C3B8-4B6E-ADB5-C961D65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MVP → SCALE → INTEGRATE</a:t>
            </a:r>
          </a:p>
        </p:txBody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A246DD21-5BE9-40C3-BA60-EF7A0B4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수동 운영을 먼저 검증하고, 자동 연계는 데이터·승인 규칙이 안정된 뒤 확장</a:t>
            </a:r>
          </a:p>
        </p:txBody>
      </p:sp>
      <p:sp>
        <p:nvSpPr>
          <p:cNvPr id="5" name="s4-subtitle">
            <a:extLst xmlns:a="http://schemas.openxmlformats.org/drawingml/2006/main">
              <a:ext uri="{FF2B5EF4-FFF2-40B4-BE49-F238E27FC236}">
                <a16:creationId xmlns:a16="http://schemas.microsoft.com/office/drawing/2014/main" id="{AB7F673D-887A-4C19-B4F7-D1C995A7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1개 팀·2개 보고 주기로 작성시간·정합성·반려율을 측정하고 4개 담당 확장 후 API·메일을 연결</a:t>
            </a:r>
          </a:p>
        </p:txBody>
      </p:sp>
      <p:sp>
        <p:nvSpPr>
          <p:cNvPr id="6" name="s4-accent">
            <a:extLst xmlns:a="http://schemas.openxmlformats.org/drawingml/2006/main">
              <a:ext uri="{FF2B5EF4-FFF2-40B4-BE49-F238E27FC236}">
                <a16:creationId xmlns:a16="http://schemas.microsoft.com/office/drawing/2014/main" id="{A5EEC850-6C0F-4061-A518-4E65CFD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etric-flow-arrow-1">
            <a:extLst xmlns:a="http://schemas.openxmlformats.org/drawingml/2006/main">
              <a:ext uri="{FF2B5EF4-FFF2-40B4-BE49-F238E27FC236}">
                <a16:creationId xmlns:a16="http://schemas.microsoft.com/office/drawing/2014/main" id="{6F6B3CFD-7B4D-4351-9324-CF9E6429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336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flow-arrow-2">
            <a:extLst xmlns:a="http://schemas.openxmlformats.org/drawingml/2006/main">
              <a:ext uri="{FF2B5EF4-FFF2-40B4-BE49-F238E27FC236}">
                <a16:creationId xmlns:a16="http://schemas.microsoft.com/office/drawing/2014/main" id="{EB540C4D-2950-4BC7-9DBC-13362B0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C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stage-0-bg">
            <a:extLst xmlns:a="http://schemas.openxmlformats.org/drawingml/2006/main">
              <a:ext uri="{FF2B5EF4-FFF2-40B4-BE49-F238E27FC236}">
                <a16:creationId xmlns:a16="http://schemas.microsoft.com/office/drawing/2014/main" id="{49D57EE4-D605-45AC-911D-9EA7EBE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metric-stage-0-label">
            <a:extLst xmlns:a="http://schemas.openxmlformats.org/drawingml/2006/main">
              <a:ext uri="{FF2B5EF4-FFF2-40B4-BE49-F238E27FC236}">
                <a16:creationId xmlns:a16="http://schemas.microsoft.com/office/drawing/2014/main" id="{FEA67DC6-B41F-4EC5-A7F7-9F799007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 · MVP</a:t>
            </a:r>
          </a:p>
        </p:txBody>
      </p:sp>
      <p:sp>
        <p:nvSpPr>
          <p:cNvPr id="11" name="metric-stage-0-title">
            <a:extLst xmlns:a="http://schemas.openxmlformats.org/drawingml/2006/main">
              <a:ext uri="{FF2B5EF4-FFF2-40B4-BE49-F238E27FC236}">
                <a16:creationId xmlns:a16="http://schemas.microsoft.com/office/drawing/2014/main" id="{AAE4D616-90E9-4925-ABE4-675F662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Manual Portal MVP</a:t>
            </a:r>
          </a:p>
        </p:txBody>
      </p:sp>
      <p:sp>
        <p:nvSpPr>
          <p:cNvPr id="12" name="metric-stage-0-detail">
            <a:extLst xmlns:a="http://schemas.openxmlformats.org/drawingml/2006/main">
              <a:ext uri="{FF2B5EF4-FFF2-40B4-BE49-F238E27FC236}">
                <a16:creationId xmlns:a16="http://schemas.microsoft.com/office/drawing/2014/main" id="{68B45231-A0C1-4068-9CA2-F588AA10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475467"/>
                </a:solidFill>
              </a:defRPr>
            </a:pPr>
            <a:r>
              <a:rPr sz="116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Snapshot Upload · Worklog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475467"/>
                </a:solidFill>
              </a:defRPr>
            </a:pPr>
            <a:r>
              <a:rPr sz="116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팀장 초안 · 승인 · PPT</a:t>
            </a:r>
          </a:p>
        </p:txBody>
      </p:sp>
      <p:sp>
        <p:nvSpPr>
          <p:cNvPr id="13" name="metric-stage-1-bg">
            <a:extLst xmlns:a="http://schemas.openxmlformats.org/drawingml/2006/main">
              <a:ext uri="{FF2B5EF4-FFF2-40B4-BE49-F238E27FC236}">
                <a16:creationId xmlns:a16="http://schemas.microsoft.com/office/drawing/2014/main" id="{573A1D13-0E06-483E-8471-F8B2F5A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stage-1-label">
            <a:extLst xmlns:a="http://schemas.openxmlformats.org/drawingml/2006/main">
              <a:ext uri="{FF2B5EF4-FFF2-40B4-BE49-F238E27FC236}">
                <a16:creationId xmlns:a16="http://schemas.microsoft.com/office/drawing/2014/main" id="{F1441273-1F85-4E02-8DAC-4A04CE4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 · SCALE</a:t>
            </a:r>
          </a:p>
        </p:txBody>
      </p:sp>
      <p:sp>
        <p:nvSpPr>
          <p:cNvPr id="15" name="metric-stage-1-title">
            <a:extLst xmlns:a="http://schemas.openxmlformats.org/drawingml/2006/main">
              <a:ext uri="{FF2B5EF4-FFF2-40B4-BE49-F238E27FC236}">
                <a16:creationId xmlns:a16="http://schemas.microsoft.com/office/drawing/2014/main" id="{DCAD054F-29E3-4EB7-BCBE-0E1C10DD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4개 담당 + 그룹장 Agent</a:t>
            </a:r>
          </a:p>
        </p:txBody>
      </p:sp>
      <p:sp>
        <p:nvSpPr>
          <p:cNvPr id="16" name="metric-stage-1-detail">
            <a:extLst xmlns:a="http://schemas.openxmlformats.org/drawingml/2006/main">
              <a:ext uri="{FF2B5EF4-FFF2-40B4-BE49-F238E27FC236}">
                <a16:creationId xmlns:a16="http://schemas.microsoft.com/office/drawing/2014/main" id="{AC28AB68-9688-46AC-8064-791200A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Collaboration · Metric Catalog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Evidence · Validator · 그룹 Q&amp;A</a:t>
            </a:r>
          </a:p>
        </p:txBody>
      </p:sp>
      <p:sp>
        <p:nvSpPr>
          <p:cNvPr id="17" name="metric-stage-2-bg">
            <a:extLst xmlns:a="http://schemas.openxmlformats.org/drawingml/2006/main">
              <a:ext uri="{FF2B5EF4-FFF2-40B4-BE49-F238E27FC236}">
                <a16:creationId xmlns:a16="http://schemas.microsoft.com/office/drawing/2014/main" id="{E32F237C-B878-4CA5-A820-5D22D9D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3143250" cy="12763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metric-stage-2-label">
            <a:extLst xmlns:a="http://schemas.openxmlformats.org/drawingml/2006/main">
              <a:ext uri="{FF2B5EF4-FFF2-40B4-BE49-F238E27FC236}">
                <a16:creationId xmlns:a16="http://schemas.microsoft.com/office/drawing/2014/main" id="{ED5E3886-1592-4521-8D68-8D37B8B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781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03 · INTEGRATE</a:t>
            </a:r>
          </a:p>
        </p:txBody>
      </p:sp>
      <p:sp>
        <p:nvSpPr>
          <p:cNvPr id="19" name="metric-stage-2-title">
            <a:extLst xmlns:a="http://schemas.openxmlformats.org/drawingml/2006/main">
              <a:ext uri="{FF2B5EF4-FFF2-40B4-BE49-F238E27FC236}">
                <a16:creationId xmlns:a16="http://schemas.microsoft.com/office/drawing/2014/main" id="{F5EC5EF7-5064-49FB-ACE5-59AD6CB1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API·메일 연계</a:t>
            </a:r>
          </a:p>
        </p:txBody>
      </p:sp>
      <p:sp>
        <p:nvSpPr>
          <p:cNvPr id="20" name="metric-stage-2-detail">
            <a:extLst xmlns:a="http://schemas.openxmlformats.org/drawingml/2006/main">
              <a:ext uri="{FF2B5EF4-FFF2-40B4-BE49-F238E27FC236}">
                <a16:creationId xmlns:a16="http://schemas.microsoft.com/office/drawing/2014/main" id="{36F177A0-ACB4-4F86-AA1D-92E52ED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955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DCE9F6"/>
                </a:solidFill>
              </a:defRPr>
            </a:pPr>
            <a:r>
              <a:rPr sz="116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자동 Snapshot · 알림/배포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DCE9F6"/>
                </a:solidFill>
              </a:defRPr>
            </a:pPr>
            <a:r>
              <a:rPr sz="116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전자결재 · 외부보고</a:t>
            </a:r>
          </a:p>
        </p:txBody>
      </p:sp>
      <p:sp>
        <p:nvSpPr>
          <p:cNvPr id="21" name="metric-first-label">
            <a:extLst xmlns:a="http://schemas.openxmlformats.org/drawingml/2006/main">
              <a:ext uri="{FF2B5EF4-FFF2-40B4-BE49-F238E27FC236}">
                <a16:creationId xmlns:a16="http://schemas.microsoft.com/office/drawing/2014/main" id="{49F6C028-2813-4788-9B91-9E945A3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MVP SUCCESS MEASURES</a:t>
            </a:r>
          </a:p>
        </p:txBody>
      </p:sp>
      <p:sp>
        <p:nvSpPr>
          <p:cNvPr id="22" name="metric-first-title">
            <a:extLst xmlns:a="http://schemas.openxmlformats.org/drawingml/2006/main">
              <a:ext uri="{FF2B5EF4-FFF2-40B4-BE49-F238E27FC236}">
                <a16:creationId xmlns:a16="http://schemas.microsoft.com/office/drawing/2014/main" id="{F4DF070D-CEFB-4A0C-85A0-6F23593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가능성과 신뢰성을 먼저 검증</a:t>
            </a:r>
          </a:p>
        </p:txBody>
      </p:sp>
      <p:sp>
        <p:nvSpPr>
          <p:cNvPr id="23" name="metric-first-sub">
            <a:extLst xmlns:a="http://schemas.openxmlformats.org/drawingml/2006/main">
              <a:ext uri="{FF2B5EF4-FFF2-40B4-BE49-F238E27FC236}">
                <a16:creationId xmlns:a16="http://schemas.microsoft.com/office/drawing/2014/main" id="{98FA7CBB-B331-4379-A459-E64A2DB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자동화율보다 작성시간·정합성·승인 Lead Time의 개선을 우선 측정</a:t>
            </a:r>
          </a:p>
        </p:txBody>
      </p:sp>
      <p:sp>
        <p:nvSpPr>
          <p:cNvPr id="24" name="metric-left-rule">
            <a:extLst xmlns:a="http://schemas.openxmlformats.org/drawingml/2006/main">
              <a:ext uri="{FF2B5EF4-FFF2-40B4-BE49-F238E27FC236}">
                <a16:creationId xmlns:a16="http://schemas.microsoft.com/office/drawing/2014/main" id="{D229447E-662C-4576-9FC4-E36C411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tandard-col-0-title">
            <a:extLst xmlns:a="http://schemas.openxmlformats.org/drawingml/2006/main">
              <a:ext uri="{FF2B5EF4-FFF2-40B4-BE49-F238E27FC236}">
                <a16:creationId xmlns:a16="http://schemas.microsoft.com/office/drawing/2014/main" id="{B4AFF334-0DA4-487A-8F1D-79FB6A4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효율</a:t>
            </a:r>
          </a:p>
        </p:txBody>
      </p:sp>
      <p:sp>
        <p:nvSpPr>
          <p:cNvPr id="26" name="standard-col-0-body">
            <a:extLst xmlns:a="http://schemas.openxmlformats.org/drawingml/2006/main">
              <a:ext uri="{FF2B5EF4-FFF2-40B4-BE49-F238E27FC236}">
                <a16:creationId xmlns:a16="http://schemas.microsoft.com/office/drawing/2014/main" id="{8ED4CD94-906B-421B-BD1D-761F38B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팀원 작성시간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팀장 요약시간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 Lead Time</a:t>
            </a:r>
          </a:p>
        </p:txBody>
      </p:sp>
      <p:sp>
        <p:nvSpPr>
          <p:cNvPr id="27" name="standard-col-1-divider">
            <a:extLst xmlns:a="http://schemas.openxmlformats.org/drawingml/2006/main">
              <a:ext uri="{FF2B5EF4-FFF2-40B4-BE49-F238E27FC236}">
                <a16:creationId xmlns:a16="http://schemas.microsoft.com/office/drawing/2014/main" id="{D8BE63DD-ADBA-49CB-A50F-D94D03CB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4337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tandard-col-1-title">
            <a:extLst xmlns:a="http://schemas.openxmlformats.org/drawingml/2006/main">
              <a:ext uri="{FF2B5EF4-FFF2-40B4-BE49-F238E27FC236}">
                <a16:creationId xmlns:a16="http://schemas.microsoft.com/office/drawing/2014/main" id="{5211637A-DF87-4100-88A7-06986DA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품질</a:t>
            </a:r>
          </a:p>
        </p:txBody>
      </p:sp>
      <p:sp>
        <p:nvSpPr>
          <p:cNvPr id="29" name="standard-col-1-body">
            <a:extLst xmlns:a="http://schemas.openxmlformats.org/drawingml/2006/main">
              <a:ext uri="{FF2B5EF4-FFF2-40B4-BE49-F238E27FC236}">
                <a16:creationId xmlns:a16="http://schemas.microsoft.com/office/drawing/2014/main" id="{055C6470-054E-449E-880E-B37FC6A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반려율·누락률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Snapshot 불일치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AI 수치 오류</a:t>
            </a:r>
          </a:p>
        </p:txBody>
      </p:sp>
      <p:sp>
        <p:nvSpPr>
          <p:cNvPr id="30" name="standard-col-2-divider">
            <a:extLst xmlns:a="http://schemas.openxmlformats.org/drawingml/2006/main">
              <a:ext uri="{FF2B5EF4-FFF2-40B4-BE49-F238E27FC236}">
                <a16:creationId xmlns:a16="http://schemas.microsoft.com/office/drawing/2014/main" id="{BCE090C0-8B57-4BAF-A107-3289A89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4337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tandard-col-2-title">
            <a:extLst xmlns:a="http://schemas.openxmlformats.org/drawingml/2006/main">
              <a:ext uri="{FF2B5EF4-FFF2-40B4-BE49-F238E27FC236}">
                <a16:creationId xmlns:a16="http://schemas.microsoft.com/office/drawing/2014/main" id="{B93C136C-A5C7-43F9-BB69-97A7E87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32" name="standard-col-2-body">
            <a:extLst xmlns:a="http://schemas.openxmlformats.org/drawingml/2006/main">
              <a:ext uri="{FF2B5EF4-FFF2-40B4-BE49-F238E27FC236}">
                <a16:creationId xmlns:a16="http://schemas.microsoft.com/office/drawing/2014/main" id="{7EABBE35-AA1A-45E6-8EE1-19F993C7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제출률·마감 준수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출처 연결률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재현 가능성</a:t>
            </a:r>
          </a:p>
        </p:txBody>
      </p:sp>
      <p:sp>
        <p:nvSpPr>
          <p:cNvPr id="33" name="draft-rule-bg">
            <a:extLst xmlns:a="http://schemas.openxmlformats.org/drawingml/2006/main">
              <a:ext uri="{FF2B5EF4-FFF2-40B4-BE49-F238E27FC236}">
                <a16:creationId xmlns:a16="http://schemas.microsoft.com/office/drawing/2014/main" id="{05B20564-BF3F-45E1-B089-1D8D7C5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5067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draft-rule-label">
            <a:extLst xmlns:a="http://schemas.openxmlformats.org/drawingml/2006/main">
              <a:ext uri="{FF2B5EF4-FFF2-40B4-BE49-F238E27FC236}">
                <a16:creationId xmlns:a16="http://schemas.microsoft.com/office/drawing/2014/main" id="{38BD8420-F6A5-4E76-B752-2BC34FF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CONTROL &amp; EXCEPTION RULES</a:t>
            </a:r>
          </a:p>
        </p:txBody>
      </p:sp>
      <p:sp>
        <p:nvSpPr>
          <p:cNvPr id="35" name="draft-rule-title">
            <a:extLst xmlns:a="http://schemas.openxmlformats.org/drawingml/2006/main">
              <a:ext uri="{FF2B5EF4-FFF2-40B4-BE49-F238E27FC236}">
                <a16:creationId xmlns:a16="http://schemas.microsoft.com/office/drawing/2014/main" id="{858C5E37-8B27-4EFF-B245-62062A8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중단·담당·정정·복구 경로를 함께 설계</a:t>
            </a:r>
          </a:p>
        </p:txBody>
      </p:sp>
      <p:sp>
        <p:nvSpPr>
          <p:cNvPr id="36" name="draft-row-0-label">
            <a:extLst xmlns:a="http://schemas.openxmlformats.org/drawingml/2006/main">
              <a:ext uri="{FF2B5EF4-FFF2-40B4-BE49-F238E27FC236}">
                <a16:creationId xmlns:a16="http://schemas.microsoft.com/office/drawing/2014/main" id="{1BFC6341-0938-4C31-8C35-F3F991A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BLOCK</a:t>
            </a:r>
          </a:p>
        </p:txBody>
      </p:sp>
      <p:sp>
        <p:nvSpPr>
          <p:cNvPr id="37" name="draft-row-0-value">
            <a:extLst xmlns:a="http://schemas.openxmlformats.org/drawingml/2006/main">
              <a:ext uri="{FF2B5EF4-FFF2-40B4-BE49-F238E27FC236}">
                <a16:creationId xmlns:a16="http://schemas.microsoft.com/office/drawing/2014/main" id="{C9938E38-F717-4EF2-AAEC-F5A306C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Snapshot 미업로드·검증 실패 시 KPI 문장 생성 금지</a:t>
            </a:r>
          </a:p>
        </p:txBody>
      </p:sp>
      <p:sp>
        <p:nvSpPr>
          <p:cNvPr id="38" name="draft-row-1-line">
            <a:extLst xmlns:a="http://schemas.openxmlformats.org/drawingml/2006/main">
              <a:ext uri="{FF2B5EF4-FFF2-40B4-BE49-F238E27FC236}">
                <a16:creationId xmlns:a16="http://schemas.microsoft.com/office/drawing/2014/main" id="{D15D6351-2DA1-46C5-BFA0-ED6D53A2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raft-row-1-label">
            <a:extLst xmlns:a="http://schemas.openxmlformats.org/drawingml/2006/main">
              <a:ext uri="{FF2B5EF4-FFF2-40B4-BE49-F238E27FC236}">
                <a16:creationId xmlns:a16="http://schemas.microsoft.com/office/drawing/2014/main" id="{041190C7-CB44-4CB6-BD9C-4C71163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4817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ALERT</a:t>
            </a:r>
          </a:p>
        </p:txBody>
      </p:sp>
      <p:sp>
        <p:nvSpPr>
          <p:cNvPr id="40" name="draft-row-1-value">
            <a:extLst xmlns:a="http://schemas.openxmlformats.org/drawingml/2006/main">
              <a:ext uri="{FF2B5EF4-FFF2-40B4-BE49-F238E27FC236}">
                <a16:creationId xmlns:a16="http://schemas.microsoft.com/office/drawing/2014/main" id="{0BA0DF45-3A50-4B8A-BE32-00B0216D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48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수치=KPI Owner · 중복=팀장/담당 · 출처=제출자 배정</a:t>
            </a:r>
          </a:p>
        </p:txBody>
      </p:sp>
      <p:sp>
        <p:nvSpPr>
          <p:cNvPr id="41" name="draft-row-2-line">
            <a:extLst xmlns:a="http://schemas.openxmlformats.org/drawingml/2006/main">
              <a:ext uri="{FF2B5EF4-FFF2-40B4-BE49-F238E27FC236}">
                <a16:creationId xmlns:a16="http://schemas.microsoft.com/office/drawing/2014/main" id="{111BE4EF-AF45-4B1B-BC72-401AD51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86325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draft-row-2-label">
            <a:extLst xmlns:a="http://schemas.openxmlformats.org/drawingml/2006/main">
              <a:ext uri="{FF2B5EF4-FFF2-40B4-BE49-F238E27FC236}">
                <a16:creationId xmlns:a16="http://schemas.microsoft.com/office/drawing/2014/main" id="{C39A0169-C471-4792-AC86-01B6304B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3395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CHANGE / FALLBACK</a:t>
            </a:r>
          </a:p>
        </p:txBody>
      </p:sp>
      <p:sp>
        <p:nvSpPr>
          <p:cNvPr id="43" name="draft-row-2-value">
            <a:extLst xmlns:a="http://schemas.openxmlformats.org/drawingml/2006/main">
              <a:ext uri="{FF2B5EF4-FFF2-40B4-BE49-F238E27FC236}">
                <a16:creationId xmlns:a16="http://schemas.microsoft.com/office/drawing/2014/main" id="{B52A6A8B-6493-49CE-8217-9423471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44054"/>
                </a:solidFill>
              </a:defRPr>
            </a:pPr>
            <a:r>
              <a:rPr sz="1163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 후 수정=새 Version·재승인 / LLM 장애=수기 작성</a:t>
            </a:r>
          </a:p>
        </p:txBody>
      </p:sp>
      <p:sp>
        <p:nvSpPr>
          <p:cNvPr id="44" name="metric-next-bg">
            <a:extLst xmlns:a="http://schemas.openxmlformats.org/drawingml/2006/main">
              <a:ext uri="{FF2B5EF4-FFF2-40B4-BE49-F238E27FC236}">
                <a16:creationId xmlns:a16="http://schemas.microsoft.com/office/drawing/2014/main" id="{90D7A6EA-A58D-4300-AE26-95882D1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metric-next-label">
            <a:extLst xmlns:a="http://schemas.openxmlformats.org/drawingml/2006/main">
              <a:ext uri="{FF2B5EF4-FFF2-40B4-BE49-F238E27FC236}">
                <a16:creationId xmlns:a16="http://schemas.microsoft.com/office/drawing/2014/main" id="{B746F596-51C7-4D55-A33E-09D8E9B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69C7F2"/>
                </a:solidFill>
              </a:defRPr>
            </a:pPr>
            <a:r>
              <a:rPr sz="788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GO / NO-GO GATE</a:t>
            </a:r>
          </a:p>
        </p:txBody>
      </p:sp>
      <p:sp>
        <p:nvSpPr>
          <p:cNvPr id="46" name="metric-next-main">
            <a:extLst xmlns:a="http://schemas.openxmlformats.org/drawingml/2006/main">
              <a:ext uri="{FF2B5EF4-FFF2-40B4-BE49-F238E27FC236}">
                <a16:creationId xmlns:a16="http://schemas.microsoft.com/office/drawing/2014/main" id="{B8521CB8-E3E5-45CB-AB87-C63174B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Owner·보안/보관 정책 확정 → 1개 팀 실행 → 2주기 평가 → 정정/대결 규칙 보완 → 4개 담당 확장</a:t>
            </a:r>
          </a:p>
        </p:txBody>
      </p:sp>
      <p:sp>
        <p:nvSpPr>
          <p:cNvPr id="47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F4C2960-D209-419D-BD00-777A826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6900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L2 BUSINESS PROCESS DEFINITION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BP-WR-01 · TO-BE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주간실적 작성·제출 프로세스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BP-WR-01 | Owner 팀원 | Trigger 보고주차 OPEN·Snapshot PUBLISHED | End SUBMITTED | Weekly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ACTIVITY &amp; HAND-OFF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· Actor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Activity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/ State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 · Portal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보고주차·대상업무 제공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Snapshot 연결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Reporting Instance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OPEN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 · 팀원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Worklog 작성·업무파일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Evidence 등록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개인 업무기록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 · Agent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금주 실적 추출·분류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ID·출처 연결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개인 보고 초안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AI_DRAFT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 · 팀원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항목 선택·제외·수정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수치·보안 확인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사용자 확정본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USER_CONFIRMED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 · Portal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필수항목 검증·Version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제출·잠금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팀장 Inbox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SUBMITTED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INPUT / OUTPUT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 Worklog·File·Snapshot → OUT SUBMITTED WorkItem·Evidence ID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PROCESS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팀원 작성·제출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PRECONDITION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Org/권한 유효 · Snapshot=PUBLISHED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FUNCTION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요약·변화 추출 · WorkItem/Evidence ID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팀원이 실적·문장·수치·보안 확정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EXCEPTION /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누락·KPI 불일치 차단 · Version 기록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Agent=초안·검사 / Portal=상태전환·잠금 / 사람=승인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SLA D-2 18:00 · Owner 팀원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STATE TRANSITION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 → DRAFT → AI_DRAFT → USER_CONFIRMED → SUBMITTED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반려: RETURNED → DRAFT | Source ID 필수 · 제출 후 WorkItem 잠금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L2 BUSINESS PROCESS DEFINITION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BP-WR-02 · TO-BE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팀장 팀보고 작성·승인 프로세스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BP-WR-02 | Owner 팀장 | Trigger 팀원 SUBMITTED 도착 | End TEAM_APPROVED | Weekly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ACTIVITY &amp; HAND-OFF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· Actor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Activity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/ State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 · Portal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팀원 제출본·Snapshot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취합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제출목록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SUBMISSION_SET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 · Agent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누락·중복·협업·KPI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출처 정합성 점검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점검결과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QA_CHECKED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 · Agent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핵심성과·리스크 중심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서술형 팀 초안 생성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보고 초안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TEAM_AI_DRAFT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 · 팀장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항목 선택·제외·서술문 편집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보완사항 반려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검토본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REVIEWED/RETURNED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 · Portal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팀장 승인·Version 잠금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Inbox 전달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승인본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TEAM_APPROVED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INPUT / OUTPUT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 SUBMITTED WorkItems → OUT TEAM_APPROVED Report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PROCESS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팀보고 작성·승인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PRECONDITION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SUBMITTED만 조회 · Snapshot 확정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FUNCTION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중복 제거·Collaboration 묶음·KPI QA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 요약문 편집 · 반려 · 팀 승인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EXCEPTION /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KPI 충돌→Owner · 반려/승인 이력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원천 WorkItem 보존 / 팀장은 서술형 팀 요약문만 편집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SLA D-1 12:00 · Owner 팀장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STATE TRANSITION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SUBMITTED → QA_CHECKED → TEAM_AI_DRAFT → TEAM_APPROVED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보완: REVIEWED → RETURNED → SUBMITTED | 승인 후 변경=새 Version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L2 BUSINESS PROCESS DEFINITION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BP-WR-03 · TO-BE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 종합보고 작성·승인 프로세스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BP-WR-03 | Owner 담당장 | Trigger TEAM_APPROVED 도착 | End DEPT_APPROVED | Weekly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ACTIVITY &amp; HAND-OFF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· Actor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Activity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/ State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 · Portal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팀별 승인 Version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조직·주차 기준 취합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승인본 집합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TEAM_SET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 · Agent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 간 실적·KPI·협업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리스크 비교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비교결과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DEPT_QA_CHECKED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 · Agent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성과·병목·지원요청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종합 초안 생성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초안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DEPT_AI_DRAFT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 · 담당장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종합문 편집·팀 보완요청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Decision 안건 확정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검토본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REVIEWED/RETURNED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 · Portal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결재·승인·잠금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기획팀 전달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승인본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DEPT_APPROVED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INPUT / OUTPUT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 TEAM_APPROVED → OUT DEPT_APPROVED Report·Decision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PROCESS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 종합·승인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PRECONDITION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 승인본·주차·Snapshot Version 일치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FUNCTION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팀 비교·협업 1회 통합·리스크 도출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담당문 편집 · 팀 반려 · 지원요청 확정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EXCEPTION /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수치 충돌 임의통합 금지 · 새 Version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팀별 사실과 담당 해석 분리 / 원천 팀 보고는 변경 불가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SLA D-1 18:00 · Owner 담당장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STATE TRANSITION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TEAM_APPROVED → DEPT_QA_CHECKED → DEPT_AI_DRAFT → DEPT_APPROVED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보완: REVIEWED → RETURNED → TEAM_APPROVED | 수치 오류→Data Owner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L2 BUSINESS PROCESS DEFINITION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BP-WR-04 · TO-BE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기획팀 그룹보고 QA·상신 프로세스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BP-WR-04 | Owner 기획팀 | Trigger DEPT_APPROVED·취합마감 | End READY_FOR_REPORT | Weekly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ACTIVITY &amp; HAND-OFF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· Actor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Activity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/ State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 · Portal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승인본·공통 Snapshot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취합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승인본 집합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DEPT_SET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 · Agent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형식·누락·보안·KPI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출처 정합성 QA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QA 결과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PLAN_QA_CHECKED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 · Agent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간 중복 제거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 성과·이슈 초안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 초안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GROUP_AI_DRAFT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 · 기획팀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 서술문·공개범위 수정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담당 보완요청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기획 검토본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REVIEWED/RETURNED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 · Portal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보고 준비 승인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그룹장 Version 게시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보고 준비본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READY_FOR_REPORT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INPUT / OUTPUT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 DEPT_APPROVED → OUT READY_FOR_REPORT Group Version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PROCESS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그룹보고 QA·상신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PRECONDITION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최신 담당 승인본 · Cut-off·보안등급 확정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FUNCTION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Validator·중복 제거·그룹 Narrative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그룹문·공개범위 편집 · 담당 반려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EXCEPTION /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KPI/출처 오류 상신 차단 · QA 이력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기획팀은 원천업무 미수정 / 그룹 보고문과 공개범위만 확정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SLA D 10:00 · Owner 기획팀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STATE TRANSITION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DEPT_APPROVED → PLAN_QA_CHECKED → GROUP_AI_DRAFT → READY_FOR_REPORT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보완: REVIEWED → RETURNED → DEPT_APPROVED | 보안 위반 제외·경고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L2 BUSINESS PROCESS DEFINITION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BP-WR-05 · TO-BE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그룹장 경영 리뷰·보고 확정 프로세스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BP-WR-05 | Owner 그룹장 | Trigger READY_FOR_REPORT 게시 | End REPORTED·ARCHIVED | Weekly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ACTIVITY &amp; HAND-OFF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· Actor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Activity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/ State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 · Portal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승인된 최신 보고 Version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허용 Evidence 제공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그룹장 Report Pack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REVIEW_READY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 · Agent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핵심성과·변화·리스크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지원요청 Brief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 Brief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BRIEF_READY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 · 그룹장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승인 데이터 기반 질의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근거 ID 조회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Q&amp;A 기록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REVIEW_IN_PROGRESS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 · 그룹장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의사결정·지시·Owner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Due Date 확정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Decision·Action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RECORDED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 · Portal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최종 보고 확정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산출물·Version 잠금/보관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최종 보고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REPORTED·ARCHIVED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INPUT / OUTPUT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 READY_FOR_REPORT → OUT Report·Decision·Action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PROCESS CONTROL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경영 리뷰·확정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PRECONDITION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최신 승인본 · 그룹장 권한 · Evidence 허용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FUNCTION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Executive Brief·비교·근거 Q&amp;A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의사결정·Owner/Due Date · 보고 확정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EXCEPTION /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근거 없음 명시 · 내용변경 시 재승인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Agent는 승인본 조회·설명만 수행 / 판단·지시·확정은 그룹장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SLA D 15:00 · Owner 그룹장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STATE TRANSITION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READY_FOR_REPORT → BRIEF_READY → DECISION_RECORDED → REPORTED → ARCHIVED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내용 변경: 기획 단계 재승인 | 질의·Decision·Action·확정 이력 보존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2-kicker">
            <a:extLst xmlns:a="http://schemas.openxmlformats.org/drawingml/2006/main">
              <a:ext uri="{FF2B5EF4-FFF2-40B4-BE49-F238E27FC236}">
                <a16:creationId xmlns:a16="http://schemas.microsoft.com/office/drawing/2014/main" id="{519262C9-7430-4FBC-BD0F-EC10D6D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80ED"/>
                </a:solidFill>
              </a:defRPr>
            </a:pPr>
            <a:r>
              <a:rPr sz="93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LOGICAL SYSTEM ARCHITECTURE</a:t>
            </a:r>
          </a:p>
        </p:txBody>
      </p:sp>
      <p:sp>
        <p:nvSpPr>
          <p:cNvPr id="2" name="s2-chip-bg">
            <a:extLst xmlns:a="http://schemas.openxmlformats.org/drawingml/2006/main">
              <a:ext uri="{FF2B5EF4-FFF2-40B4-BE49-F238E27FC236}">
                <a16:creationId xmlns:a16="http://schemas.microsoft.com/office/drawing/2014/main" id="{05667066-3B22-4AB8-8704-DB10DB4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2-chip">
            <a:extLst xmlns:a="http://schemas.openxmlformats.org/drawingml/2006/main">
              <a:ext uri="{FF2B5EF4-FFF2-40B4-BE49-F238E27FC236}">
                <a16:creationId xmlns:a16="http://schemas.microsoft.com/office/drawing/2014/main" id="{6BCC2608-9FD4-43A5-9831-1F9D786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MVP · FUTURE-READY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6FF5FEB6-BE66-4307-8AAD-F58D39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주간업무보고 Agent 포털 논리 시스템 아키텍처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428595A-5879-4C69-B90D-36B9D76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포털을 업무·승인·Version의 기준 시스템으로 운영하고, 수동 업로드와 향후 API·메일 연계를 동일 구조에서 수용</a:t>
            </a:r>
          </a:p>
        </p:txBody>
      </p:sp>
      <p:sp>
        <p:nvSpPr>
          <p:cNvPr id="6" name="s2-accent">
            <a:extLst xmlns:a="http://schemas.openxmlformats.org/drawingml/2006/main">
              <a:ext uri="{FF2B5EF4-FFF2-40B4-BE49-F238E27FC236}">
                <a16:creationId xmlns:a16="http://schemas.microsoft.com/office/drawing/2014/main" id="{79D1EF58-C208-414B-8518-AA73B8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626E1931-FD98-40FA-93C6-3E9F0FB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80ED"/>
                </a:solidFill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5-LAYER LOGICAL ARCHITECTURE</a:t>
            </a:r>
          </a:p>
        </p:txBody>
      </p:sp>
      <p:sp>
        <p:nvSpPr>
          <p:cNvPr id="8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B6277A42-21CE-4ABC-883B-367B41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76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trix-h-role">
            <a:extLst xmlns:a="http://schemas.openxmlformats.org/drawingml/2006/main">
              <a:ext uri="{FF2B5EF4-FFF2-40B4-BE49-F238E27FC236}">
                <a16:creationId xmlns:a16="http://schemas.microsoft.com/office/drawing/2014/main" id="{96186B0D-6950-4CB1-B610-8D9F50A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Layer</a:t>
            </a:r>
          </a:p>
        </p:txBody>
      </p:sp>
      <p:sp>
        <p:nvSpPr>
          <p:cNvPr id="10" name="matrix-h-scope">
            <a:extLst xmlns:a="http://schemas.openxmlformats.org/drawingml/2006/main">
              <a:ext uri="{FF2B5EF4-FFF2-40B4-BE49-F238E27FC236}">
                <a16:creationId xmlns:a16="http://schemas.microsoft.com/office/drawing/2014/main" id="{4722735B-D9F9-4B6F-86E3-6FB0462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Portal Components</a:t>
            </a:r>
          </a:p>
        </p:txBody>
      </p:sp>
      <p:sp>
        <p:nvSpPr>
          <p:cNvPr id="11" name="matrix-h-output">
            <a:extLst xmlns:a="http://schemas.openxmlformats.org/drawingml/2006/main">
              <a:ext uri="{FF2B5EF4-FFF2-40B4-BE49-F238E27FC236}">
                <a16:creationId xmlns:a16="http://schemas.microsoft.com/office/drawing/2014/main" id="{DD16DEA5-300A-44BF-9EEF-0C980C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External / Interface</a:t>
            </a:r>
          </a:p>
        </p:txBody>
      </p:sp>
      <p:sp>
        <p:nvSpPr>
          <p:cNvPr id="12" name="matrix-h-v1">
            <a:extLst xmlns:a="http://schemas.openxmlformats.org/drawingml/2006/main">
              <a:ext uri="{FF2B5EF4-FFF2-40B4-BE49-F238E27FC236}">
                <a16:creationId xmlns:a16="http://schemas.microsoft.com/office/drawing/2014/main" id="{FCE05E66-DAEA-417E-AAFA-5890582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atrix-h-v2">
            <a:extLst xmlns:a="http://schemas.openxmlformats.org/drawingml/2006/main">
              <a:ext uri="{FF2B5EF4-FFF2-40B4-BE49-F238E27FC236}">
                <a16:creationId xmlns:a16="http://schemas.microsoft.com/office/drawing/2014/main" id="{DAF9A939-7B3F-482E-8E03-FFA4F1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atrix-row-1-bg">
            <a:extLst xmlns:a="http://schemas.openxmlformats.org/drawingml/2006/main">
              <a:ext uri="{FF2B5EF4-FFF2-40B4-BE49-F238E27FC236}">
                <a16:creationId xmlns:a16="http://schemas.microsoft.com/office/drawing/2014/main" id="{B0AB6F06-1FAB-4F97-9026-2C313ED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matrix-row-1-c-0">
            <a:extLst xmlns:a="http://schemas.openxmlformats.org/drawingml/2006/main">
              <a:ext uri="{FF2B5EF4-FFF2-40B4-BE49-F238E27FC236}">
                <a16:creationId xmlns:a16="http://schemas.microsoft.com/office/drawing/2014/main" id="{A55114E3-97BA-4EA3-B259-3F5EB3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CHANNEL</a:t>
            </a:r>
          </a:p>
        </p:txBody>
      </p:sp>
      <p:sp>
        <p:nvSpPr>
          <p:cNvPr id="16" name="matrix-row-1-v-1">
            <a:extLst xmlns:a="http://schemas.openxmlformats.org/drawingml/2006/main">
              <a:ext uri="{FF2B5EF4-FFF2-40B4-BE49-F238E27FC236}">
                <a16:creationId xmlns:a16="http://schemas.microsoft.com/office/drawing/2014/main" id="{E4A26E22-DBC7-4A9C-A690-711ED35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trix-row-1-c-1">
            <a:extLst xmlns:a="http://schemas.openxmlformats.org/drawingml/2006/main">
              <a:ext uri="{FF2B5EF4-FFF2-40B4-BE49-F238E27FC236}">
                <a16:creationId xmlns:a16="http://schemas.microsoft.com/office/drawing/2014/main" id="{04C3B852-6FD4-49D2-BAFF-6288DEF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Portal Web · Workspace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Inbox · Admin Console</a:t>
            </a:r>
          </a:p>
        </p:txBody>
      </p:sp>
      <p:sp>
        <p:nvSpPr>
          <p:cNvPr id="18" name="matrix-row-1-v-2">
            <a:extLst xmlns:a="http://schemas.openxmlformats.org/drawingml/2006/main">
              <a:ext uri="{FF2B5EF4-FFF2-40B4-BE49-F238E27FC236}">
                <a16:creationId xmlns:a16="http://schemas.microsoft.com/office/drawing/2014/main" id="{A268C267-B186-45C8-B84F-6123E7E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atrix-row-1-c-2">
            <a:extLst xmlns:a="http://schemas.openxmlformats.org/drawingml/2006/main">
              <a:ext uri="{FF2B5EF4-FFF2-40B4-BE49-F238E27FC236}">
                <a16:creationId xmlns:a16="http://schemas.microsoft.com/office/drawing/2014/main" id="{2C9E2FD1-3523-4262-8C8B-5F8C38E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팀원~그룹장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KPI Data Owner</a:t>
            </a:r>
          </a:p>
        </p:txBody>
      </p:sp>
      <p:sp>
        <p:nvSpPr>
          <p:cNvPr id="20" name="matrix-row-2-bg">
            <a:extLst xmlns:a="http://schemas.openxmlformats.org/drawingml/2006/main">
              <a:ext uri="{FF2B5EF4-FFF2-40B4-BE49-F238E27FC236}">
                <a16:creationId xmlns:a16="http://schemas.microsoft.com/office/drawing/2014/main" id="{E8C6FBEA-940A-46EA-B7C3-7D101A6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atrix-row-2-c-0">
            <a:extLst xmlns:a="http://schemas.openxmlformats.org/drawingml/2006/main">
              <a:ext uri="{FF2B5EF4-FFF2-40B4-BE49-F238E27FC236}">
                <a16:creationId xmlns:a16="http://schemas.microsoft.com/office/drawing/2014/main" id="{97273398-6D4A-4723-9C99-DC6D858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APPLICATION</a:t>
            </a:r>
          </a:p>
        </p:txBody>
      </p:sp>
      <p:sp>
        <p:nvSpPr>
          <p:cNvPr id="22" name="matrix-row-2-v-1">
            <a:extLst xmlns:a="http://schemas.openxmlformats.org/drawingml/2006/main">
              <a:ext uri="{FF2B5EF4-FFF2-40B4-BE49-F238E27FC236}">
                <a16:creationId xmlns:a16="http://schemas.microsoft.com/office/drawing/2014/main" id="{5C2ABF00-02A4-4C6B-8964-B4135A6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matrix-row-2-c-1">
            <a:extLst xmlns:a="http://schemas.openxmlformats.org/drawingml/2006/main">
              <a:ext uri="{FF2B5EF4-FFF2-40B4-BE49-F238E27FC236}">
                <a16:creationId xmlns:a16="http://schemas.microsoft.com/office/drawing/2014/main" id="{2E6D2A68-9211-424B-A975-B7417FE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3367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Worklog·Snapshot·Report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Workflow·Search·Renderer</a:t>
            </a:r>
          </a:p>
        </p:txBody>
      </p:sp>
      <p:sp>
        <p:nvSpPr>
          <p:cNvPr id="24" name="matrix-row-2-v-2">
            <a:extLst xmlns:a="http://schemas.openxmlformats.org/drawingml/2006/main">
              <a:ext uri="{FF2B5EF4-FFF2-40B4-BE49-F238E27FC236}">
                <a16:creationId xmlns:a16="http://schemas.microsoft.com/office/drawing/2014/main" id="{B7B10F22-F10E-44AB-A639-6B25CB5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atrix-row-2-c-2">
            <a:extLst xmlns:a="http://schemas.openxmlformats.org/drawingml/2006/main">
              <a:ext uri="{FF2B5EF4-FFF2-40B4-BE49-F238E27FC236}">
                <a16:creationId xmlns:a16="http://schemas.microsoft.com/office/drawing/2014/main" id="{A9D63D47-4F27-48C5-AF20-61C9C7F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Human Approval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Report Version</a:t>
            </a:r>
          </a:p>
        </p:txBody>
      </p:sp>
      <p:sp>
        <p:nvSpPr>
          <p:cNvPr id="26" name="matrix-row-3-bg">
            <a:extLst xmlns:a="http://schemas.openxmlformats.org/drawingml/2006/main">
              <a:ext uri="{FF2B5EF4-FFF2-40B4-BE49-F238E27FC236}">
                <a16:creationId xmlns:a16="http://schemas.microsoft.com/office/drawing/2014/main" id="{C6B83331-37A9-424F-8901-92B8A97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atrix-row-3-c-0">
            <a:extLst xmlns:a="http://schemas.openxmlformats.org/drawingml/2006/main">
              <a:ext uri="{FF2B5EF4-FFF2-40B4-BE49-F238E27FC236}">
                <a16:creationId xmlns:a16="http://schemas.microsoft.com/office/drawing/2014/main" id="{11BE1DF8-EDD1-4FC1-9097-D179F3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AGENT / AI</a:t>
            </a:r>
          </a:p>
        </p:txBody>
      </p:sp>
      <p:sp>
        <p:nvSpPr>
          <p:cNvPr id="28" name="matrix-row-3-v-1">
            <a:extLst xmlns:a="http://schemas.openxmlformats.org/drawingml/2006/main">
              <a:ext uri="{FF2B5EF4-FFF2-40B4-BE49-F238E27FC236}">
                <a16:creationId xmlns:a16="http://schemas.microsoft.com/office/drawing/2014/main" id="{C934D18B-8B80-413C-90ED-C800E9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matrix-row-3-c-1">
            <a:extLst xmlns:a="http://schemas.openxmlformats.org/drawingml/2006/main">
              <a:ext uri="{FF2B5EF4-FFF2-40B4-BE49-F238E27FC236}">
                <a16:creationId xmlns:a16="http://schemas.microsoft.com/office/drawing/2014/main" id="{8C3F9178-56AD-49D2-B74F-E4A1A2E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Orchestrator·5 Role Agents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RAG·Validator·LLM Gateway</a:t>
            </a:r>
          </a:p>
        </p:txBody>
      </p:sp>
      <p:sp>
        <p:nvSpPr>
          <p:cNvPr id="30" name="matrix-row-3-v-2">
            <a:extLst xmlns:a="http://schemas.openxmlformats.org/drawingml/2006/main">
              <a:ext uri="{FF2B5EF4-FFF2-40B4-BE49-F238E27FC236}">
                <a16:creationId xmlns:a16="http://schemas.microsoft.com/office/drawing/2014/main" id="{3A0D45B3-9631-46FB-A4F4-498ADAB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atrix-row-3-c-2">
            <a:extLst xmlns:a="http://schemas.openxmlformats.org/drawingml/2006/main">
              <a:ext uri="{FF2B5EF4-FFF2-40B4-BE49-F238E27FC236}">
                <a16:creationId xmlns:a16="http://schemas.microsoft.com/office/drawing/2014/main" id="{BB503190-4202-4A05-91B5-67C4601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Enterprise LLM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</p:txBody>
      </p:sp>
      <p:sp>
        <p:nvSpPr>
          <p:cNvPr id="32" name="matrix-row-4-bg">
            <a:extLst xmlns:a="http://schemas.openxmlformats.org/drawingml/2006/main">
              <a:ext uri="{FF2B5EF4-FFF2-40B4-BE49-F238E27FC236}">
                <a16:creationId xmlns:a16="http://schemas.microsoft.com/office/drawing/2014/main" id="{33CE4933-5588-4FC4-927D-034520F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atrix-row-4-c-0">
            <a:extLst xmlns:a="http://schemas.openxmlformats.org/drawingml/2006/main">
              <a:ext uri="{FF2B5EF4-FFF2-40B4-BE49-F238E27FC236}">
                <a16:creationId xmlns:a16="http://schemas.microsoft.com/office/drawing/2014/main" id="{B0BE0699-004B-46F0-AF02-E8DB04E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34" name="matrix-row-4-v-1">
            <a:extLst xmlns:a="http://schemas.openxmlformats.org/drawingml/2006/main">
              <a:ext uri="{FF2B5EF4-FFF2-40B4-BE49-F238E27FC236}">
                <a16:creationId xmlns:a16="http://schemas.microsoft.com/office/drawing/2014/main" id="{63ADA3D5-6471-4413-955A-242F2E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matrix-row-4-c-1">
            <a:extLst xmlns:a="http://schemas.openxmlformats.org/drawingml/2006/main">
              <a:ext uri="{FF2B5EF4-FFF2-40B4-BE49-F238E27FC236}">
                <a16:creationId xmlns:a16="http://schemas.microsoft.com/office/drawing/2014/main" id="{AD5117A4-B2F6-4D02-8BC4-6EE2AB8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Upload Gateway·Parser·DLP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Future API·Mail Connector</a:t>
            </a:r>
          </a:p>
        </p:txBody>
      </p:sp>
      <p:sp>
        <p:nvSpPr>
          <p:cNvPr id="36" name="matrix-row-4-v-2">
            <a:extLst xmlns:a="http://schemas.openxmlformats.org/drawingml/2006/main">
              <a:ext uri="{FF2B5EF4-FFF2-40B4-BE49-F238E27FC236}">
                <a16:creationId xmlns:a16="http://schemas.microsoft.com/office/drawing/2014/main" id="{B8146E7C-3736-4086-8C96-E7CF57D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atrix-row-4-c-2">
            <a:extLst xmlns:a="http://schemas.openxmlformats.org/drawingml/2006/main">
              <a:ext uri="{FF2B5EF4-FFF2-40B4-BE49-F238E27FC236}">
                <a16:creationId xmlns:a16="http://schemas.microsoft.com/office/drawing/2014/main" id="{E706888F-B4DB-405C-8229-473246C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9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NOW File Upload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FUTURE API·Mail</a:t>
            </a:r>
          </a:p>
        </p:txBody>
      </p:sp>
      <p:sp>
        <p:nvSpPr>
          <p:cNvPr id="38" name="matrix-row-5-bg">
            <a:extLst xmlns:a="http://schemas.openxmlformats.org/drawingml/2006/main">
              <a:ext uri="{FF2B5EF4-FFF2-40B4-BE49-F238E27FC236}">
                <a16:creationId xmlns:a16="http://schemas.microsoft.com/office/drawing/2014/main" id="{76FB36C2-5892-4041-89CE-5C32D81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76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atrix-row-5-c-0">
            <a:extLst xmlns:a="http://schemas.openxmlformats.org/drawingml/2006/main">
              <a:ext uri="{FF2B5EF4-FFF2-40B4-BE49-F238E27FC236}">
                <a16:creationId xmlns:a16="http://schemas.microsoft.com/office/drawing/2014/main" id="{93BEB9D4-6851-4476-9BE0-A4A36B5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66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101828"/>
                </a:solidFill>
              </a:defRPr>
            </a:pPr>
            <a:r>
              <a:rPr sz="1163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40" name="matrix-row-5-v-1">
            <a:extLst xmlns:a="http://schemas.openxmlformats.org/drawingml/2006/main">
              <a:ext uri="{FF2B5EF4-FFF2-40B4-BE49-F238E27FC236}">
                <a16:creationId xmlns:a16="http://schemas.microsoft.com/office/drawing/2014/main" id="{484BC2B9-57DE-447C-A569-AF910EAB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matrix-row-5-c-1">
            <a:extLst xmlns:a="http://schemas.openxmlformats.org/drawingml/2006/main">
              <a:ext uri="{FF2B5EF4-FFF2-40B4-BE49-F238E27FC236}">
                <a16:creationId xmlns:a16="http://schemas.microsoft.com/office/drawing/2014/main" id="{E51D6D6E-8665-4B73-A66A-C13C80C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RDBMS·Object·Search Index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Audit Log</a:t>
            </a:r>
          </a:p>
        </p:txBody>
      </p:sp>
      <p:sp>
        <p:nvSpPr>
          <p:cNvPr id="42" name="matrix-row-5-v-2">
            <a:extLst xmlns:a="http://schemas.openxmlformats.org/drawingml/2006/main">
              <a:ext uri="{FF2B5EF4-FFF2-40B4-BE49-F238E27FC236}">
                <a16:creationId xmlns:a16="http://schemas.microsoft.com/office/drawing/2014/main" id="{21FBA420-4CCB-4DE4-AF7A-731B9C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trix-row-5-c-2">
            <a:extLst xmlns:a="http://schemas.openxmlformats.org/drawingml/2006/main">
              <a:ext uri="{FF2B5EF4-FFF2-40B4-BE49-F238E27FC236}">
                <a16:creationId xmlns:a16="http://schemas.microsoft.com/office/drawing/2014/main" id="{31702535-8B5A-48FD-8DC4-82401FC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GitHub: Schema·Prompt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Template·Code</a:t>
            </a:r>
          </a:p>
        </p:txBody>
      </p:sp>
      <p:sp>
        <p:nvSpPr>
          <p:cNvPr id="44" name="permission-formula-bg">
            <a:extLst xmlns:a="http://schemas.openxmlformats.org/drawingml/2006/main">
              <a:ext uri="{FF2B5EF4-FFF2-40B4-BE49-F238E27FC236}">
                <a16:creationId xmlns:a16="http://schemas.microsoft.com/office/drawing/2014/main" id="{1AAD4DC2-315D-481D-9FC9-D302675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7627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ermission-formula-label">
            <a:extLst xmlns:a="http://schemas.openxmlformats.org/drawingml/2006/main">
              <a:ext uri="{FF2B5EF4-FFF2-40B4-BE49-F238E27FC236}">
                <a16:creationId xmlns:a16="http://schemas.microsoft.com/office/drawing/2014/main" id="{5DD66382-8BB9-4F4F-9901-57627A5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SYSTEM BOUNDARY</a:t>
            </a:r>
          </a:p>
        </p:txBody>
      </p:sp>
      <p:sp>
        <p:nvSpPr>
          <p:cNvPr id="46" name="permission-formula">
            <a:extLst xmlns:a="http://schemas.openxmlformats.org/drawingml/2006/main">
              <a:ext uri="{FF2B5EF4-FFF2-40B4-BE49-F238E27FC236}">
                <a16:creationId xmlns:a16="http://schemas.microsoft.com/office/drawing/2014/main" id="{40A4C873-58AC-4FEA-B725-BD5B2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41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Users / Sources → Portal System Boundary → Enterprise GenAI Cloud</a:t>
            </a:r>
          </a:p>
        </p:txBody>
      </p:sp>
      <p:sp>
        <p:nvSpPr>
          <p:cNvPr id="4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AFB6BA2-9853-4409-B5A1-4F0570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95425"/>
            <a:ext cx="3990975" cy="4171950"/>
          </a:xfrm>
          <a:prstGeom xmlns:a="http://schemas.openxmlformats.org/drawingml/2006/main" prst="roundRect">
            <a:avLst>
              <a:gd name="adj" fmla="val 334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144BEC52-0456-4573-AF4F-68882FDD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F80ED"/>
                </a:solidFill>
              </a:defRPr>
            </a:pPr>
            <a:r>
              <a:rPr sz="863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CROSS-CUTTING CONTROLS</a:t>
            </a:r>
          </a:p>
        </p:txBody>
      </p:sp>
      <p:sp>
        <p:nvSpPr>
          <p:cNvPr id="4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B85937F-7E90-43CC-8A8B-FC7FBFF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1">
                <a:solidFill>
                  <a:srgbClr val="101828"/>
                </a:solidFill>
              </a:defRPr>
            </a:pPr>
            <a:r>
              <a:rPr sz="15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보안·거버넌스·운영 통제</a:t>
            </a:r>
          </a:p>
        </p:txBody>
      </p:sp>
      <p:sp>
        <p:nvSpPr>
          <p:cNvPr id="50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968D91A6-DC08-4C92-8971-F9D9CE1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19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rch-1-num-bg">
            <a:extLst xmlns:a="http://schemas.openxmlformats.org/drawingml/2006/main">
              <a:ext uri="{FF2B5EF4-FFF2-40B4-BE49-F238E27FC236}">
                <a16:creationId xmlns:a16="http://schemas.microsoft.com/office/drawing/2014/main" id="{E86B30A5-9F1A-46EC-A970-D3DBFFD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arch-1-num">
            <a:extLst xmlns:a="http://schemas.openxmlformats.org/drawingml/2006/main">
              <a:ext uri="{FF2B5EF4-FFF2-40B4-BE49-F238E27FC236}">
                <a16:creationId xmlns:a16="http://schemas.microsoft.com/office/drawing/2014/main" id="{E0A2406E-A280-4779-9AAC-DFB6E1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0BD3385F-412A-4E0E-BA7A-43B6FD6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IDENTITY &amp; ACCESS</a:t>
            </a:r>
            <a:endParaRPr sz="1238" b="1">
              <a:solidFill>
                <a:srgbClr val="101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arch-1-detail">
            <a:extLst xmlns:a="http://schemas.openxmlformats.org/drawingml/2006/main">
              <a:ext uri="{FF2B5EF4-FFF2-40B4-BE49-F238E27FC236}">
                <a16:creationId xmlns:a16="http://schemas.microsoft.com/office/drawing/2014/main" id="{9C931395-F6E5-4C59-900B-9509D2D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SSO·RBAC/ABAC · Role/Org/State Scope</a:t>
            </a:r>
          </a:p>
        </p:txBody>
      </p:sp>
      <p:sp>
        <p:nvSpPr>
          <p:cNvPr id="55" name="arch-2-num-bg">
            <a:extLst xmlns:a="http://schemas.openxmlformats.org/drawingml/2006/main">
              <a:ext uri="{FF2B5EF4-FFF2-40B4-BE49-F238E27FC236}">
                <a16:creationId xmlns:a16="http://schemas.microsoft.com/office/drawing/2014/main" id="{7989265F-E3BA-41D3-8034-11F71A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-2-num">
            <a:extLst xmlns:a="http://schemas.openxmlformats.org/drawingml/2006/main">
              <a:ext uri="{FF2B5EF4-FFF2-40B4-BE49-F238E27FC236}">
                <a16:creationId xmlns:a16="http://schemas.microsoft.com/office/drawing/2014/main" id="{45D470C6-EEA4-458D-95FC-BE58036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7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943EA241-7A44-40E1-AE16-F152FF0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SECURITY &amp; PRIVACY</a:t>
            </a:r>
          </a:p>
        </p:txBody>
      </p:sp>
      <p:sp>
        <p:nvSpPr>
          <p:cNvPr id="58" name="arch-2-detail">
            <a:extLst xmlns:a="http://schemas.openxmlformats.org/drawingml/2006/main">
              <a:ext uri="{FF2B5EF4-FFF2-40B4-BE49-F238E27FC236}">
                <a16:creationId xmlns:a16="http://schemas.microsoft.com/office/drawing/2014/main" id="{D43EEF17-65D6-4B16-A66B-73CF04B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33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암호화·DLP·Masking · No Training</a:t>
            </a:r>
          </a:p>
        </p:txBody>
      </p:sp>
      <p:sp>
        <p:nvSpPr>
          <p:cNvPr id="59" name="arch-3-num-bg">
            <a:extLst xmlns:a="http://schemas.openxmlformats.org/drawingml/2006/main">
              <a:ext uri="{FF2B5EF4-FFF2-40B4-BE49-F238E27FC236}">
                <a16:creationId xmlns:a16="http://schemas.microsoft.com/office/drawing/2014/main" id="{BFCB28B3-4C7E-49B7-8E7B-0256F60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7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arch-3-num">
            <a:extLst xmlns:a="http://schemas.openxmlformats.org/drawingml/2006/main">
              <a:ext uri="{FF2B5EF4-FFF2-40B4-BE49-F238E27FC236}">
                <a16:creationId xmlns:a16="http://schemas.microsoft.com/office/drawing/2014/main" id="{3420A3A8-C55E-45B3-A106-43EB1E8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0ED"/>
                </a:solidFill>
              </a:defRPr>
            </a:pPr>
            <a:r>
              <a:rPr sz="788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1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EE08348B-B8F5-4B7D-B1B2-C7B3340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05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DATA &amp; AI GOVERNANCE</a:t>
            </a:r>
          </a:p>
        </p:txBody>
      </p:sp>
      <p:sp>
        <p:nvSpPr>
          <p:cNvPr id="62" name="arch-3-detail">
            <a:extLst xmlns:a="http://schemas.openxmlformats.org/drawingml/2006/main">
              <a:ext uri="{FF2B5EF4-FFF2-40B4-BE49-F238E27FC236}">
                <a16:creationId xmlns:a16="http://schemas.microsoft.com/office/drawing/2014/main" id="{9F095050-356B-4E6A-9ED0-1C1010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Metric Owner·Snapshot LOCK·Lineage</a:t>
            </a:r>
          </a:p>
        </p:txBody>
      </p:sp>
      <p:sp>
        <p:nvSpPr>
          <p:cNvPr id="63" name="arch-4-num-bg">
            <a:extLst xmlns:a="http://schemas.openxmlformats.org/drawingml/2006/main">
              <a:ext uri="{FF2B5EF4-FFF2-40B4-BE49-F238E27FC236}">
                <a16:creationId xmlns:a16="http://schemas.microsoft.com/office/drawing/2014/main" id="{F95769AE-5BF9-4B2E-B2C0-E728F2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048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arch-4-num">
            <a:extLst xmlns:a="http://schemas.openxmlformats.org/drawingml/2006/main">
              <a:ext uri="{FF2B5EF4-FFF2-40B4-BE49-F238E27FC236}">
                <a16:creationId xmlns:a16="http://schemas.microsoft.com/office/drawing/2014/main" id="{E6F3C63B-2CFD-4F1A-99C5-5C13892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5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F4D79A4A-CA73-4DA8-B72E-1F350D4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01828"/>
                </a:solidFill>
              </a:defRPr>
            </a:pPr>
            <a:r>
              <a:rPr sz="1238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OPERATIONS &amp; AUDIT</a:t>
            </a:r>
          </a:p>
        </p:txBody>
      </p:sp>
      <p:sp>
        <p:nvSpPr>
          <p:cNvPr id="66" name="arch-4-detail">
            <a:extLst xmlns:a="http://schemas.openxmlformats.org/drawingml/2006/main">
              <a:ext uri="{FF2B5EF4-FFF2-40B4-BE49-F238E27FC236}">
                <a16:creationId xmlns:a16="http://schemas.microsoft.com/office/drawing/2014/main" id="{0E2DE840-CD7E-4E70-9A34-F1E5A8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467"/>
                </a:solidFill>
              </a:defRPr>
            </a:pPr>
            <a:r>
              <a:rPr sz="1013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Input/Draft/Edit/Approval Log · Monitor/DR</a:t>
            </a:r>
          </a:p>
        </p:txBody>
      </p:sp>
      <p:sp>
        <p:nvSpPr>
          <p:cNvPr id="67" name="channel-note-bg">
            <a:extLst xmlns:a="http://schemas.openxmlformats.org/drawingml/2006/main">
              <a:ext uri="{FF2B5EF4-FFF2-40B4-BE49-F238E27FC236}">
                <a16:creationId xmlns:a16="http://schemas.microsoft.com/office/drawing/2014/main" id="{E9FEF9AA-C60F-4DBB-8C65-DD8874E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1472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channel-note">
            <a:extLst xmlns:a="http://schemas.openxmlformats.org/drawingml/2006/main">
              <a:ext uri="{FF2B5EF4-FFF2-40B4-BE49-F238E27FC236}">
                <a16:creationId xmlns:a16="http://schemas.microsoft.com/office/drawing/2014/main" id="{30EF2CB6-8779-4C3F-8B59-1A387DA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44054"/>
                </a:solidFill>
              </a:defRPr>
            </a:pPr>
            <a:r>
              <a:rPr sz="938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Current: 지정일 Download/Upload / Future: API·Batch·Mail</a:t>
            </a:r>
          </a:p>
        </p:txBody>
      </p:sp>
      <p:sp>
        <p:nvSpPr>
          <p:cNvPr id="69" name="poc-bg">
            <a:extLst xmlns:a="http://schemas.openxmlformats.org/drawingml/2006/main">
              <a:ext uri="{FF2B5EF4-FFF2-40B4-BE49-F238E27FC236}">
                <a16:creationId xmlns:a16="http://schemas.microsoft.com/office/drawing/2014/main" id="{B8719D87-3E41-4BCB-9A36-4C3195E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147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c-main">
            <a:extLst xmlns:a="http://schemas.openxmlformats.org/drawingml/2006/main">
              <a:ext uri="{FF2B5EF4-FFF2-40B4-BE49-F238E27FC236}">
                <a16:creationId xmlns:a16="http://schemas.microsoft.com/office/drawing/2014/main" id="{A3F75CE2-FAC2-4B32-A3ED-1BA9275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LLM=Stateless · Direct DB Write 금지</a:t>
            </a:r>
            <a:endParaRPr sz="1163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1" name="decision-bg">
            <a:extLst xmlns:a="http://schemas.openxmlformats.org/drawingml/2006/main">
              <a:ext uri="{FF2B5EF4-FFF2-40B4-BE49-F238E27FC236}">
                <a16:creationId xmlns:a16="http://schemas.microsoft.com/office/drawing/2014/main" id="{1A0676A8-4DD6-48EC-9568-9D9E770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20ED785F-0806-4824-A89A-FD3B9D0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C7F2"/>
                </a:solidFill>
              </a:defRPr>
            </a:pPr>
            <a:r>
              <a:rPr sz="825" b="1">
                <a:solidFill>
                  <a:srgbClr val="69C7F2"/>
                </a:solidFill>
                <a:latin typeface="Malgun Gothic"/>
                <a:ea typeface="Malgun Gothic"/>
                <a:cs typeface="Malgun Gothic"/>
              </a:rPr>
              <a:t>ARCHITECTURE RULE</a:t>
            </a:r>
          </a:p>
        </p:txBody>
      </p:sp>
      <p:sp>
        <p:nvSpPr>
          <p:cNvPr id="73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94FE2852-91AC-41FF-94F2-A2ABF15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Portal=System of Record · Snapshot=Immutable · Human-in-the-loop · GitHub=Change Management</a:t>
            </a:r>
          </a:p>
        </p:txBody>
      </p:sp>
      <p:sp>
        <p:nvSpPr>
          <p:cNvPr id="74" name="decision-metrics">
            <a:extLst xmlns:a="http://schemas.openxmlformats.org/drawingml/2006/main">
              <a:ext uri="{FF2B5EF4-FFF2-40B4-BE49-F238E27FC236}">
                <a16:creationId xmlns:a16="http://schemas.microsoft.com/office/drawing/2014/main" id="{234C9EF0-E189-48D9-AE0E-3864F0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38875"/>
            <a:ext cx="923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DCE9F6"/>
                </a:solidFill>
              </a:defRPr>
            </a:pPr>
            <a:r>
              <a:rPr sz="713" b="0">
                <a:solidFill>
                  <a:srgbClr val="DCE9F6"/>
                </a:solidFill>
                <a:latin typeface="Malgun Gothic"/>
                <a:ea typeface="Malgun Gothic"/>
                <a:cs typeface="Malgun Gothic"/>
              </a:rPr>
              <a:t>LLM은 권한 Context만 사용하며 운영 DB 직접 조회·상태 변경·영구 저장 불가</a:t>
            </a:r>
          </a:p>
        </p:txBody>
      </p:sp>
      <p:sp>
        <p:nvSpPr>
          <p:cNvPr id="7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BA878B9-133D-47E4-969B-21A550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98A2B3"/>
                </a:solidFill>
              </a:defRPr>
            </a:pPr>
            <a:r>
              <a:rPr sz="788" b="1">
                <a:solidFill>
                  <a:srgbClr val="98A2B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14267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2026-08-24T00:58:11.7330000Z</dcterms:created>
  <dcterms:modified xsi:type="dcterms:W3CDTF">2026-08-24T00:58:11.7330000Z</dcterms:modified>
</coreProperties>
</file>