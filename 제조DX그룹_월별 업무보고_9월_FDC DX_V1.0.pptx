
<file path=[Content_Types].xml><?xml version="1.0" encoding="utf-8"?>
<Types xmlns="http://schemas.openxmlformats.org/package/2006/content-types">
  <Default Extension="emf" ContentType="image/x-emf"/>
  <Default Extension="png" ContentType="image/png"/>
  <Default Extension="pptx" ContentType="application/vnd.openxmlformats-officedocument.presentationml.presentation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heme/theme5.xml" ContentType="application/vnd.openxmlformats-officedocument.theme+xml"/>
  <Override PartName="/ppt/theme/theme6.xml" ContentType="application/vnd.openxmlformats-officedocument.them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19" r:id="rId1"/>
    <p:sldMasterId id="2147483721" r:id="rId2"/>
    <p:sldMasterId id="2147483735" r:id="rId3"/>
    <p:sldMasterId id="2147483837" r:id="rId4"/>
  </p:sldMasterIdLst>
  <p:notesMasterIdLst>
    <p:notesMasterId r:id="rId24"/>
  </p:notesMasterIdLst>
  <p:handoutMasterIdLst>
    <p:handoutMasterId r:id="rId25"/>
  </p:handoutMasterIdLst>
  <p:sldIdLst>
    <p:sldId id="2147483397" r:id="rId5"/>
    <p:sldId id="259" r:id="rId6"/>
    <p:sldId id="273" r:id="rId7"/>
    <p:sldId id="2147483647" r:id="rId8"/>
    <p:sldId id="264" r:id="rId9"/>
    <p:sldId id="2147483406" r:id="rId10"/>
    <p:sldId id="2147483410" r:id="rId11"/>
    <p:sldId id="2147483407" r:id="rId12"/>
    <p:sldId id="263" r:id="rId13"/>
    <p:sldId id="256" r:id="rId14"/>
    <p:sldId id="261" r:id="rId15"/>
    <p:sldId id="310" r:id="rId16"/>
    <p:sldId id="2147483400" r:id="rId17"/>
    <p:sldId id="257" r:id="rId18"/>
    <p:sldId id="258" r:id="rId19"/>
    <p:sldId id="260" r:id="rId20"/>
    <p:sldId id="262" r:id="rId21"/>
    <p:sldId id="427" r:id="rId22"/>
    <p:sldId id="426" r:id="rId23"/>
  </p:sldIdLst>
  <p:sldSz cx="9906000" cy="6858000" type="A4"/>
  <p:notesSz cx="6797675" cy="98726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685DEC3-A0A4-4C6B-9000-9B9306ECF9CF}">
          <p14:sldIdLst>
            <p14:sldId id="2147483397"/>
            <p14:sldId id="259"/>
            <p14:sldId id="273"/>
            <p14:sldId id="2147483647"/>
            <p14:sldId id="264"/>
            <p14:sldId id="2147483406"/>
            <p14:sldId id="2147483410"/>
            <p14:sldId id="2147483407"/>
            <p14:sldId id="263"/>
            <p14:sldId id="256"/>
          </p14:sldIdLst>
        </p14:section>
        <p14:section name="유첨. BM/PD Loss 트렌드" id="{530CD65A-969B-4319-A563-593E87BA61D6}">
          <p14:sldIdLst>
            <p14:sldId id="261"/>
            <p14:sldId id="310"/>
          </p14:sldIdLst>
        </p14:section>
        <p14:section name="(보조) 조립FDC" id="{D728E739-55E2-48FE-86AD-7574939ECB6E}">
          <p14:sldIdLst>
            <p14:sldId id="2147483400"/>
            <p14:sldId id="257"/>
            <p14:sldId id="258"/>
            <p14:sldId id="260"/>
            <p14:sldId id="262"/>
            <p14:sldId id="427"/>
            <p14:sldId id="42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82" userDrawn="1">
          <p15:clr>
            <a:srgbClr val="A4A3A4"/>
          </p15:clr>
        </p15:guide>
        <p15:guide id="2" pos="988">
          <p15:clr>
            <a:srgbClr val="A4A3A4"/>
          </p15:clr>
        </p15:guide>
        <p15:guide id="3" pos="43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9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0000FF"/>
    <a:srgbClr val="DAF2D0"/>
    <a:srgbClr val="FFFF99"/>
    <a:srgbClr val="006600"/>
    <a:srgbClr val="EAEAEA"/>
    <a:srgbClr val="FCA364"/>
    <a:srgbClr val="006500"/>
    <a:srgbClr val="DDFFDD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0817B9-6364-4F6B-9785-CC7D71B45593}" v="10" dt="2026-09-07T06:21:05.5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8" autoAdjust="0"/>
    <p:restoredTop sz="96238" autoAdjust="0"/>
  </p:normalViewPr>
  <p:slideViewPr>
    <p:cSldViewPr snapToGrid="0">
      <p:cViewPr varScale="1">
        <p:scale>
          <a:sx n="103" d="100"/>
          <a:sy n="103" d="100"/>
        </p:scale>
        <p:origin x="3738" y="96"/>
      </p:cViewPr>
      <p:guideLst>
        <p:guide orient="horz" pos="482"/>
        <p:guide pos="988"/>
        <p:guide pos="43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109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황화원(HWAWON HWANG)[hwawon]/전문위원/제조DX.FDC DX.전극FDC팀" userId="3008ebb8-f9be-4655-89c7-12e63fbdde03" providerId="ADAL" clId="{377B398F-B523-4398-9076-42BC1BA573F5}"/>
    <pc:docChg chg="undo custSel modSld">
      <pc:chgData name="황화원(HWAWON HWANG)[hwawon]/전문위원/제조DX.FDC DX.전극FDC팀" userId="3008ebb8-f9be-4655-89c7-12e63fbdde03" providerId="ADAL" clId="{377B398F-B523-4398-9076-42BC1BA573F5}" dt="2026-09-07T04:32:11.613" v="37" actId="1076"/>
      <pc:docMkLst>
        <pc:docMk/>
      </pc:docMkLst>
      <pc:sldChg chg="modSp mod">
        <pc:chgData name="황화원(HWAWON HWANG)[hwawon]/전문위원/제조DX.FDC DX.전극FDC팀" userId="3008ebb8-f9be-4655-89c7-12e63fbdde03" providerId="ADAL" clId="{377B398F-B523-4398-9076-42BC1BA573F5}" dt="2026-09-07T04:32:11.613" v="37" actId="1076"/>
        <pc:sldMkLst>
          <pc:docMk/>
          <pc:sldMk cId="2969742211" sldId="259"/>
        </pc:sldMkLst>
        <pc:spChg chg="mod">
          <ac:chgData name="황화원(HWAWON HWANG)[hwawon]/전문위원/제조DX.FDC DX.전극FDC팀" userId="3008ebb8-f9be-4655-89c7-12e63fbdde03" providerId="ADAL" clId="{377B398F-B523-4398-9076-42BC1BA573F5}" dt="2026-09-07T04:32:11.613" v="37" actId="1076"/>
          <ac:spMkLst>
            <pc:docMk/>
            <pc:sldMk cId="2969742211" sldId="259"/>
            <ac:spMk id="9" creationId="{6B62DBF4-5031-B396-5C98-C066DDC29ED1}"/>
          </ac:spMkLst>
        </pc:spChg>
        <pc:graphicFrameChg chg="mod modGraphic">
          <ac:chgData name="황화원(HWAWON HWANG)[hwawon]/전문위원/제조DX.FDC DX.전극FDC팀" userId="3008ebb8-f9be-4655-89c7-12e63fbdde03" providerId="ADAL" clId="{377B398F-B523-4398-9076-42BC1BA573F5}" dt="2026-09-07T04:27:59.366" v="32" actId="20577"/>
          <ac:graphicFrameMkLst>
            <pc:docMk/>
            <pc:sldMk cId="2969742211" sldId="259"/>
            <ac:graphicFrameMk id="2" creationId="{CC4A7C43-E9DD-0E84-566E-6370F6FC13D4}"/>
          </ac:graphicFrameMkLst>
        </pc:graphicFrameChg>
      </pc:sldChg>
      <pc:sldChg chg="addSp modSp mod">
        <pc:chgData name="황화원(HWAWON HWANG)[hwawon]/전문위원/제조DX.FDC DX.전극FDC팀" userId="3008ebb8-f9be-4655-89c7-12e63fbdde03" providerId="ADAL" clId="{377B398F-B523-4398-9076-42BC1BA573F5}" dt="2026-09-01T06:57:21.864" v="26" actId="20577"/>
        <pc:sldMkLst>
          <pc:docMk/>
          <pc:sldMk cId="515394892" sldId="264"/>
        </pc:sldMkLst>
        <pc:spChg chg="mod">
          <ac:chgData name="황화원(HWAWON HWANG)[hwawon]/전문위원/제조DX.FDC DX.전극FDC팀" userId="3008ebb8-f9be-4655-89c7-12e63fbdde03" providerId="ADAL" clId="{377B398F-B523-4398-9076-42BC1BA573F5}" dt="2026-09-01T06:57:21.864" v="26" actId="20577"/>
          <ac:spMkLst>
            <pc:docMk/>
            <pc:sldMk cId="515394892" sldId="264"/>
            <ac:spMk id="10" creationId="{084C4F6E-7706-1325-F0F6-EBD99A484817}"/>
          </ac:spMkLst>
        </pc:spChg>
        <pc:spChg chg="add mod">
          <ac:chgData name="황화원(HWAWON HWANG)[hwawon]/전문위원/제조DX.FDC DX.전극FDC팀" userId="3008ebb8-f9be-4655-89c7-12e63fbdde03" providerId="ADAL" clId="{377B398F-B523-4398-9076-42BC1BA573F5}" dt="2026-09-01T06:54:23.369" v="19" actId="1076"/>
          <ac:spMkLst>
            <pc:docMk/>
            <pc:sldMk cId="515394892" sldId="264"/>
            <ac:spMk id="17" creationId="{E6A33D66-2740-A990-D95E-1FFFC933E6C0}"/>
          </ac:spMkLst>
        </pc:spChg>
        <pc:spChg chg="add mod">
          <ac:chgData name="황화원(HWAWON HWANG)[hwawon]/전문위원/제조DX.FDC DX.전극FDC팀" userId="3008ebb8-f9be-4655-89c7-12e63fbdde03" providerId="ADAL" clId="{377B398F-B523-4398-9076-42BC1BA573F5}" dt="2026-09-01T06:56:46.125" v="22" actId="1076"/>
          <ac:spMkLst>
            <pc:docMk/>
            <pc:sldMk cId="515394892" sldId="264"/>
            <ac:spMk id="27" creationId="{54FF6186-4114-0645-467C-5503770D8721}"/>
          </ac:spMkLst>
        </pc:spChg>
      </pc:sldChg>
      <pc:sldChg chg="modSp mod">
        <pc:chgData name="황화원(HWAWON HWANG)[hwawon]/전문위원/제조DX.FDC DX.전극FDC팀" userId="3008ebb8-f9be-4655-89c7-12e63fbdde03" providerId="ADAL" clId="{377B398F-B523-4398-9076-42BC1BA573F5}" dt="2026-09-07T04:28:20.859" v="36" actId="20577"/>
        <pc:sldMkLst>
          <pc:docMk/>
          <pc:sldMk cId="1810643486" sldId="2147483647"/>
        </pc:sldMkLst>
        <pc:spChg chg="mod">
          <ac:chgData name="황화원(HWAWON HWANG)[hwawon]/전문위원/제조DX.FDC DX.전극FDC팀" userId="3008ebb8-f9be-4655-89c7-12e63fbdde03" providerId="ADAL" clId="{377B398F-B523-4398-9076-42BC1BA573F5}" dt="2026-09-07T04:28:20.859" v="36" actId="20577"/>
          <ac:spMkLst>
            <pc:docMk/>
            <pc:sldMk cId="1810643486" sldId="2147483647"/>
            <ac:spMk id="87" creationId="{39462D14-E1B4-77CC-BE0E-94FAA5741EDC}"/>
          </ac:spMkLst>
        </pc:spChg>
      </pc:sldChg>
    </pc:docChg>
  </pc:docChgLst>
  <pc:docChgLst>
    <pc:chgData name="백광민(KWANG MIN BAIK)[kmbaik]/팀장/제조DX.FDC DX.원통형조립FDC팀" userId="38a3dff6-bebd-4bce-aa13-3749dddaf0fc" providerId="ADAL" clId="{61D0C0D7-D191-4FA2-A5CE-9B08C6ABE3A8}"/>
    <pc:docChg chg="custSel modSld">
      <pc:chgData name="백광민(KWANG MIN BAIK)[kmbaik]/팀장/제조DX.FDC DX.원통형조립FDC팀" userId="38a3dff6-bebd-4bce-aa13-3749dddaf0fc" providerId="ADAL" clId="{61D0C0D7-D191-4FA2-A5CE-9B08C6ABE3A8}" dt="2026-09-07T00:13:37.420" v="15" actId="20577"/>
      <pc:docMkLst>
        <pc:docMk/>
      </pc:docMkLst>
      <pc:sldChg chg="delSp modSp mod">
        <pc:chgData name="백광민(KWANG MIN BAIK)[kmbaik]/팀장/제조DX.FDC DX.원통형조립FDC팀" userId="38a3dff6-bebd-4bce-aa13-3749dddaf0fc" providerId="ADAL" clId="{61D0C0D7-D191-4FA2-A5CE-9B08C6ABE3A8}" dt="2026-09-02T08:31:54.052" v="4" actId="2084"/>
        <pc:sldMkLst>
          <pc:docMk/>
          <pc:sldMk cId="2969742211" sldId="259"/>
        </pc:sldMkLst>
        <pc:graphicFrameChg chg="mod modGraphic">
          <ac:chgData name="백광민(KWANG MIN BAIK)[kmbaik]/팀장/제조DX.FDC DX.원통형조립FDC팀" userId="38a3dff6-bebd-4bce-aa13-3749dddaf0fc" providerId="ADAL" clId="{61D0C0D7-D191-4FA2-A5CE-9B08C6ABE3A8}" dt="2026-09-02T08:31:54.052" v="4" actId="2084"/>
          <ac:graphicFrameMkLst>
            <pc:docMk/>
            <pc:sldMk cId="2969742211" sldId="259"/>
            <ac:graphicFrameMk id="2" creationId="{CC4A7C43-E9DD-0E84-566E-6370F6FC13D4}"/>
          </ac:graphicFrameMkLst>
        </pc:graphicFrameChg>
      </pc:sldChg>
      <pc:sldChg chg="addSp delSp modSp mod">
        <pc:chgData name="백광민(KWANG MIN BAIK)[kmbaik]/팀장/제조DX.FDC DX.원통형조립FDC팀" userId="38a3dff6-bebd-4bce-aa13-3749dddaf0fc" providerId="ADAL" clId="{61D0C0D7-D191-4FA2-A5CE-9B08C6ABE3A8}" dt="2026-09-07T00:13:37.420" v="15" actId="20577"/>
        <pc:sldMkLst>
          <pc:docMk/>
          <pc:sldMk cId="3443993367" sldId="273"/>
        </pc:sldMkLst>
        <pc:spChg chg="add del mod">
          <ac:chgData name="백광민(KWANG MIN BAIK)[kmbaik]/팀장/제조DX.FDC DX.원통형조립FDC팀" userId="38a3dff6-bebd-4bce-aa13-3749dddaf0fc" providerId="ADAL" clId="{61D0C0D7-D191-4FA2-A5CE-9B08C6ABE3A8}" dt="2026-09-07T00:13:28.812" v="11" actId="478"/>
          <ac:spMkLst>
            <pc:docMk/>
            <pc:sldMk cId="3443993367" sldId="273"/>
            <ac:spMk id="4" creationId="{E88004F9-B033-6553-1F63-B87238D12149}"/>
          </ac:spMkLst>
        </pc:spChg>
        <pc:graphicFrameChg chg="mod modGraphic">
          <ac:chgData name="백광민(KWANG MIN BAIK)[kmbaik]/팀장/제조DX.FDC DX.원통형조립FDC팀" userId="38a3dff6-bebd-4bce-aa13-3749dddaf0fc" providerId="ADAL" clId="{61D0C0D7-D191-4FA2-A5CE-9B08C6ABE3A8}" dt="2026-09-07T00:13:37.420" v="15" actId="20577"/>
          <ac:graphicFrameMkLst>
            <pc:docMk/>
            <pc:sldMk cId="3443993367" sldId="273"/>
            <ac:graphicFrameMk id="17" creationId="{8F9C922C-6630-F91F-D39F-5B76FB588696}"/>
          </ac:graphicFrameMkLst>
        </pc:graphicFrameChg>
      </pc:sldChg>
      <pc:sldChg chg="addSp delSp modSp mod">
        <pc:chgData name="백광민(KWANG MIN BAIK)[kmbaik]/팀장/제조DX.FDC DX.원통형조립FDC팀" userId="38a3dff6-bebd-4bce-aa13-3749dddaf0fc" providerId="ADAL" clId="{61D0C0D7-D191-4FA2-A5CE-9B08C6ABE3A8}" dt="2026-09-02T08:32:47.250" v="10"/>
        <pc:sldMkLst>
          <pc:docMk/>
          <pc:sldMk cId="384827006" sldId="2147483406"/>
        </pc:sldMkLst>
        <pc:spChg chg="add mod">
          <ac:chgData name="백광민(KWANG MIN BAIK)[kmbaik]/팀장/제조DX.FDC DX.원통형조립FDC팀" userId="38a3dff6-bebd-4bce-aa13-3749dddaf0fc" providerId="ADAL" clId="{61D0C0D7-D191-4FA2-A5CE-9B08C6ABE3A8}" dt="2026-09-02T08:32:47.250" v="10"/>
          <ac:spMkLst>
            <pc:docMk/>
            <pc:sldMk cId="384827006" sldId="2147483406"/>
            <ac:spMk id="3" creationId="{71F99445-0E84-B986-6903-758416C9ACE2}"/>
          </ac:spMkLst>
        </pc:spChg>
      </pc:sldChg>
    </pc:docChg>
  </pc:docChgLst>
  <pc:docChgLst>
    <pc:chgData name="조호습(HOSEUP CHO)[hoseupcho]/책임/제조DX.FDC DX.조립FDC팀" userId="3b20c342-f290-4d69-a6b8-7223b626e0a8" providerId="ADAL" clId="{28D04202-6C71-4F06-9DCC-E4D59C6C3EAF}"/>
    <pc:docChg chg="undo redo custSel addSld delSld modSld sldOrd">
      <pc:chgData name="조호습(HOSEUP CHO)[hoseupcho]/책임/제조DX.FDC DX.조립FDC팀" userId="3b20c342-f290-4d69-a6b8-7223b626e0a8" providerId="ADAL" clId="{28D04202-6C71-4F06-9DCC-E4D59C6C3EAF}" dt="2026-09-07T06:21:06.727" v="551" actId="1036"/>
      <pc:docMkLst>
        <pc:docMk/>
      </pc:docMkLst>
      <pc:sldChg chg="modSp mod">
        <pc:chgData name="조호습(HOSEUP CHO)[hoseupcho]/책임/제조DX.FDC DX.조립FDC팀" userId="3b20c342-f290-4d69-a6b8-7223b626e0a8" providerId="ADAL" clId="{28D04202-6C71-4F06-9DCC-E4D59C6C3EAF}" dt="2026-09-07T06:11:04.796" v="474" actId="166"/>
        <pc:sldMkLst>
          <pc:docMk/>
          <pc:sldMk cId="4257632096" sldId="256"/>
        </pc:sldMkLst>
        <pc:spChg chg="ord">
          <ac:chgData name="조호습(HOSEUP CHO)[hoseupcho]/책임/제조DX.FDC DX.조립FDC팀" userId="3b20c342-f290-4d69-a6b8-7223b626e0a8" providerId="ADAL" clId="{28D04202-6C71-4F06-9DCC-E4D59C6C3EAF}" dt="2026-09-07T06:11:04.796" v="474" actId="166"/>
          <ac:spMkLst>
            <pc:docMk/>
            <pc:sldMk cId="4257632096" sldId="256"/>
            <ac:spMk id="2" creationId="{D742A47F-989F-EEAC-9249-DC3816B21E75}"/>
          </ac:spMkLst>
        </pc:spChg>
        <pc:graphicFrameChg chg="mod modGraphic">
          <ac:chgData name="조호습(HOSEUP CHO)[hoseupcho]/책임/제조DX.FDC DX.조립FDC팀" userId="3b20c342-f290-4d69-a6b8-7223b626e0a8" providerId="ADAL" clId="{28D04202-6C71-4F06-9DCC-E4D59C6C3EAF}" dt="2026-09-07T06:10:52.755" v="473" actId="113"/>
          <ac:graphicFrameMkLst>
            <pc:docMk/>
            <pc:sldMk cId="4257632096" sldId="256"/>
            <ac:graphicFrameMk id="10" creationId="{15363B33-3C41-2AD0-DF77-901BA3A72B07}"/>
          </ac:graphicFrameMkLst>
        </pc:graphicFrameChg>
      </pc:sldChg>
      <pc:sldChg chg="addSp modSp mod">
        <pc:chgData name="조호습(HOSEUP CHO)[hoseupcho]/책임/제조DX.FDC DX.조립FDC팀" userId="3b20c342-f290-4d69-a6b8-7223b626e0a8" providerId="ADAL" clId="{28D04202-6C71-4F06-9DCC-E4D59C6C3EAF}" dt="2026-09-07T06:12:07.964" v="481" actId="1076"/>
        <pc:sldMkLst>
          <pc:docMk/>
          <pc:sldMk cId="1371089462" sldId="257"/>
        </pc:sldMkLst>
        <pc:spChg chg="add mod">
          <ac:chgData name="조호습(HOSEUP CHO)[hoseupcho]/책임/제조DX.FDC DX.조립FDC팀" userId="3b20c342-f290-4d69-a6b8-7223b626e0a8" providerId="ADAL" clId="{28D04202-6C71-4F06-9DCC-E4D59C6C3EAF}" dt="2026-09-07T06:12:07.964" v="481" actId="1076"/>
          <ac:spMkLst>
            <pc:docMk/>
            <pc:sldMk cId="1371089462" sldId="257"/>
            <ac:spMk id="3" creationId="{A83245B1-516E-EE37-09B7-44754C196B68}"/>
          </ac:spMkLst>
        </pc:spChg>
        <pc:spChg chg="ord">
          <ac:chgData name="조호습(HOSEUP CHO)[hoseupcho]/책임/제조DX.FDC DX.조립FDC팀" userId="3b20c342-f290-4d69-a6b8-7223b626e0a8" providerId="ADAL" clId="{28D04202-6C71-4F06-9DCC-E4D59C6C3EAF}" dt="2026-09-07T06:11:14.775" v="475" actId="166"/>
          <ac:spMkLst>
            <pc:docMk/>
            <pc:sldMk cId="1371089462" sldId="257"/>
            <ac:spMk id="8" creationId="{F32947F4-58F6-A4BA-1CA9-F904C027D11A}"/>
          </ac:spMkLst>
        </pc:spChg>
      </pc:sldChg>
      <pc:sldChg chg="add del">
        <pc:chgData name="조호습(HOSEUP CHO)[hoseupcho]/책임/제조DX.FDC DX.조립FDC팀" userId="3b20c342-f290-4d69-a6b8-7223b626e0a8" providerId="ADAL" clId="{28D04202-6C71-4F06-9DCC-E4D59C6C3EAF}" dt="2026-09-02T08:16:33.367" v="2"/>
        <pc:sldMkLst>
          <pc:docMk/>
          <pc:sldMk cId="2381372058" sldId="258"/>
        </pc:sldMkLst>
      </pc:sldChg>
      <pc:sldChg chg="addSp delSp modSp mod">
        <pc:chgData name="조호습(HOSEUP CHO)[hoseupcho]/책임/제조DX.FDC DX.조립FDC팀" userId="3b20c342-f290-4d69-a6b8-7223b626e0a8" providerId="ADAL" clId="{28D04202-6C71-4F06-9DCC-E4D59C6C3EAF}" dt="2026-09-07T06:21:06.727" v="551" actId="1036"/>
        <pc:sldMkLst>
          <pc:docMk/>
          <pc:sldMk cId="2969742211" sldId="259"/>
        </pc:sldMkLst>
        <pc:spChg chg="mod">
          <ac:chgData name="조호습(HOSEUP CHO)[hoseupcho]/책임/제조DX.FDC DX.조립FDC팀" userId="3b20c342-f290-4d69-a6b8-7223b626e0a8" providerId="ADAL" clId="{28D04202-6C71-4F06-9DCC-E4D59C6C3EAF}" dt="2026-09-02T09:54:13.558" v="215" actId="1035"/>
          <ac:spMkLst>
            <pc:docMk/>
            <pc:sldMk cId="2969742211" sldId="259"/>
            <ac:spMk id="3" creationId="{7C458681-8309-46C4-593A-EDB53700E36A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9-02T09:54:13.558" v="215" actId="1035"/>
          <ac:spMkLst>
            <pc:docMk/>
            <pc:sldMk cId="2969742211" sldId="259"/>
            <ac:spMk id="4" creationId="{99EC3EE6-ACC2-615B-D019-3554E3868F9E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9-02T09:54:13.558" v="215" actId="1035"/>
          <ac:spMkLst>
            <pc:docMk/>
            <pc:sldMk cId="2969742211" sldId="259"/>
            <ac:spMk id="5" creationId="{6957C234-F7F6-1B12-8594-1A983537767A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9-02T09:54:13.558" v="215" actId="1035"/>
          <ac:spMkLst>
            <pc:docMk/>
            <pc:sldMk cId="2969742211" sldId="259"/>
            <ac:spMk id="10" creationId="{7C97123F-1CEC-71FB-159A-2C8035F093C8}"/>
          </ac:spMkLst>
        </pc:spChg>
        <pc:spChg chg="del mod">
          <ac:chgData name="조호습(HOSEUP CHO)[hoseupcho]/책임/제조DX.FDC DX.조립FDC팀" userId="3b20c342-f290-4d69-a6b8-7223b626e0a8" providerId="ADAL" clId="{28D04202-6C71-4F06-9DCC-E4D59C6C3EAF}" dt="2026-09-07T06:18:12.607" v="536" actId="478"/>
          <ac:spMkLst>
            <pc:docMk/>
            <pc:sldMk cId="2969742211" sldId="259"/>
            <ac:spMk id="18" creationId="{8AC99DC9-BB71-8FEE-4BBC-4B33090C41E2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9-07T00:30:18.634" v="449" actId="1035"/>
          <ac:spMkLst>
            <pc:docMk/>
            <pc:sldMk cId="2969742211" sldId="259"/>
            <ac:spMk id="28" creationId="{C6A159EF-A7C3-EB9F-B368-C9EAABB2E507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9-07T00:29:41.801" v="410" actId="1036"/>
          <ac:spMkLst>
            <pc:docMk/>
            <pc:sldMk cId="2969742211" sldId="259"/>
            <ac:spMk id="30" creationId="{0566863E-DE42-D237-593E-0A4C68601004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9-07T00:30:11.020" v="445" actId="1076"/>
          <ac:spMkLst>
            <pc:docMk/>
            <pc:sldMk cId="2969742211" sldId="259"/>
            <ac:spMk id="31" creationId="{CC1F1006-62B7-2044-C3E2-65BD2B489CDD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9-07T00:30:11.020" v="445" actId="1076"/>
          <ac:spMkLst>
            <pc:docMk/>
            <pc:sldMk cId="2969742211" sldId="259"/>
            <ac:spMk id="33" creationId="{AC3641FB-3613-265B-0831-0039A3FC1F32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9-07T06:21:06.727" v="551" actId="1036"/>
          <ac:spMkLst>
            <pc:docMk/>
            <pc:sldMk cId="2969742211" sldId="259"/>
            <ac:spMk id="34" creationId="{6986332B-22AC-66DF-14DF-FD49A48A5B87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9-02T09:54:13.558" v="215" actId="1035"/>
          <ac:spMkLst>
            <pc:docMk/>
            <pc:sldMk cId="2969742211" sldId="259"/>
            <ac:spMk id="50" creationId="{AC09DBDD-0F24-CB2D-DF51-6B3194FEE4E7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9-02T09:54:13.558" v="215" actId="1035"/>
          <ac:spMkLst>
            <pc:docMk/>
            <pc:sldMk cId="2969742211" sldId="259"/>
            <ac:spMk id="59" creationId="{578A99C8-95DB-BB62-336E-559E58F9E9A9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9-02T08:42:47.153" v="45" actId="1036"/>
          <ac:spMkLst>
            <pc:docMk/>
            <pc:sldMk cId="2969742211" sldId="259"/>
            <ac:spMk id="61" creationId="{68CDE01E-3A9B-67E8-35D5-C902A49F003C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9-07T00:29:30.923" v="364" actId="1036"/>
          <ac:spMkLst>
            <pc:docMk/>
            <pc:sldMk cId="2969742211" sldId="259"/>
            <ac:spMk id="62" creationId="{E8E35417-E26F-C03B-343C-CBECC82E4CC4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9-07T00:29:30.923" v="364" actId="1036"/>
          <ac:spMkLst>
            <pc:docMk/>
            <pc:sldMk cId="2969742211" sldId="259"/>
            <ac:spMk id="63" creationId="{7C8897DE-A980-A8FC-3ECC-2EF945B5F1EA}"/>
          </ac:spMkLst>
        </pc:spChg>
        <pc:graphicFrameChg chg="modGraphic">
          <ac:chgData name="조호습(HOSEUP CHO)[hoseupcho]/책임/제조DX.FDC DX.조립FDC팀" userId="3b20c342-f290-4d69-a6b8-7223b626e0a8" providerId="ADAL" clId="{28D04202-6C71-4F06-9DCC-E4D59C6C3EAF}" dt="2026-09-07T00:24:32.579" v="294" actId="20577"/>
          <ac:graphicFrameMkLst>
            <pc:docMk/>
            <pc:sldMk cId="2969742211" sldId="259"/>
            <ac:graphicFrameMk id="2" creationId="{CC4A7C43-E9DD-0E84-566E-6370F6FC13D4}"/>
          </ac:graphicFrameMkLst>
        </pc:graphicFrameChg>
        <pc:picChg chg="add del mod">
          <ac:chgData name="조호습(HOSEUP CHO)[hoseupcho]/책임/제조DX.FDC DX.조립FDC팀" userId="3b20c342-f290-4d69-a6b8-7223b626e0a8" providerId="ADAL" clId="{28D04202-6C71-4F06-9DCC-E4D59C6C3EAF}" dt="2026-09-07T06:19:53.053" v="543" actId="478"/>
          <ac:picMkLst>
            <pc:docMk/>
            <pc:sldMk cId="2969742211" sldId="259"/>
            <ac:picMk id="13" creationId="{EA173F67-64E6-A5ED-F59C-AAA78223EAEF}"/>
          </ac:picMkLst>
        </pc:picChg>
        <pc:picChg chg="add del mod">
          <ac:chgData name="조호습(HOSEUP CHO)[hoseupcho]/책임/제조DX.FDC DX.조립FDC팀" userId="3b20c342-f290-4d69-a6b8-7223b626e0a8" providerId="ADAL" clId="{28D04202-6C71-4F06-9DCC-E4D59C6C3EAF}" dt="2026-09-07T06:19:48.532" v="541" actId="478"/>
          <ac:picMkLst>
            <pc:docMk/>
            <pc:sldMk cId="2969742211" sldId="259"/>
            <ac:picMk id="17" creationId="{84F59087-B540-C3CE-AE56-8E7C3268709F}"/>
          </ac:picMkLst>
        </pc:picChg>
        <pc:picChg chg="add del mod">
          <ac:chgData name="조호습(HOSEUP CHO)[hoseupcho]/책임/제조DX.FDC DX.조립FDC팀" userId="3b20c342-f290-4d69-a6b8-7223b626e0a8" providerId="ADAL" clId="{28D04202-6C71-4F06-9DCC-E4D59C6C3EAF}" dt="2026-09-07T06:20:50.014" v="548" actId="478"/>
          <ac:picMkLst>
            <pc:docMk/>
            <pc:sldMk cId="2969742211" sldId="259"/>
            <ac:picMk id="32" creationId="{ED10EF03-9660-B083-FB85-F8D05C130F57}"/>
          </ac:picMkLst>
        </pc:picChg>
      </pc:sldChg>
      <pc:sldChg chg="addSp delSp add del mod">
        <pc:chgData name="조호습(HOSEUP CHO)[hoseupcho]/책임/제조DX.FDC DX.조립FDC팀" userId="3b20c342-f290-4d69-a6b8-7223b626e0a8" providerId="ADAL" clId="{28D04202-6C71-4F06-9DCC-E4D59C6C3EAF}" dt="2026-09-07T06:14:58.672" v="515" actId="22"/>
        <pc:sldMkLst>
          <pc:docMk/>
          <pc:sldMk cId="330554760" sldId="260"/>
        </pc:sldMkLst>
        <pc:spChg chg="del">
          <ac:chgData name="조호습(HOSEUP CHO)[hoseupcho]/책임/제조DX.FDC DX.조립FDC팀" userId="3b20c342-f290-4d69-a6b8-7223b626e0a8" providerId="ADAL" clId="{28D04202-6C71-4F06-9DCC-E4D59C6C3EAF}" dt="2026-09-07T06:14:58.428" v="514" actId="478"/>
          <ac:spMkLst>
            <pc:docMk/>
            <pc:sldMk cId="330554760" sldId="260"/>
            <ac:spMk id="4" creationId="{BC27A000-3818-472E-AEFD-A6BAFDC49980}"/>
          </ac:spMkLst>
        </pc:spChg>
        <pc:spChg chg="add">
          <ac:chgData name="조호습(HOSEUP CHO)[hoseupcho]/책임/제조DX.FDC DX.조립FDC팀" userId="3b20c342-f290-4d69-a6b8-7223b626e0a8" providerId="ADAL" clId="{28D04202-6C71-4F06-9DCC-E4D59C6C3EAF}" dt="2026-09-07T06:14:58.672" v="515" actId="22"/>
          <ac:spMkLst>
            <pc:docMk/>
            <pc:sldMk cId="330554760" sldId="260"/>
            <ac:spMk id="9" creationId="{70EB6674-155B-BFCE-587F-8C24F657DBBC}"/>
          </ac:spMkLst>
        </pc:spChg>
      </pc:sldChg>
      <pc:sldChg chg="addSp delSp modSp mod">
        <pc:chgData name="조호습(HOSEUP CHO)[hoseupcho]/책임/제조DX.FDC DX.조립FDC팀" userId="3b20c342-f290-4d69-a6b8-7223b626e0a8" providerId="ADAL" clId="{28D04202-6C71-4F06-9DCC-E4D59C6C3EAF}" dt="2026-09-06T02:44:50.055" v="242" actId="1076"/>
        <pc:sldMkLst>
          <pc:docMk/>
          <pc:sldMk cId="3488131015" sldId="261"/>
        </pc:sldMkLst>
        <pc:picChg chg="add del mod">
          <ac:chgData name="조호습(HOSEUP CHO)[hoseupcho]/책임/제조DX.FDC DX.조립FDC팀" userId="3b20c342-f290-4d69-a6b8-7223b626e0a8" providerId="ADAL" clId="{28D04202-6C71-4F06-9DCC-E4D59C6C3EAF}" dt="2026-09-06T02:43:00.338" v="217" actId="478"/>
          <ac:picMkLst>
            <pc:docMk/>
            <pc:sldMk cId="3488131015" sldId="261"/>
            <ac:picMk id="4" creationId="{967EE7B6-68D6-4F05-8D64-29DC99326821}"/>
          </ac:picMkLst>
        </pc:picChg>
        <pc:picChg chg="add mod">
          <ac:chgData name="조호습(HOSEUP CHO)[hoseupcho]/책임/제조DX.FDC DX.조립FDC팀" userId="3b20c342-f290-4d69-a6b8-7223b626e0a8" providerId="ADAL" clId="{28D04202-6C71-4F06-9DCC-E4D59C6C3EAF}" dt="2026-09-06T02:44:01.415" v="232" actId="1076"/>
          <ac:picMkLst>
            <pc:docMk/>
            <pc:sldMk cId="3488131015" sldId="261"/>
            <ac:picMk id="5" creationId="{0E4CC9D5-8DFC-29C7-3BD9-9E3B413125A9}"/>
          </ac:picMkLst>
        </pc:picChg>
        <pc:picChg chg="add del mod">
          <ac:chgData name="조호습(HOSEUP CHO)[hoseupcho]/책임/제조DX.FDC DX.조립FDC팀" userId="3b20c342-f290-4d69-a6b8-7223b626e0a8" providerId="ADAL" clId="{28D04202-6C71-4F06-9DCC-E4D59C6C3EAF}" dt="2026-09-06T02:43:00.981" v="218" actId="478"/>
          <ac:picMkLst>
            <pc:docMk/>
            <pc:sldMk cId="3488131015" sldId="261"/>
            <ac:picMk id="9" creationId="{EBC34100-7597-2336-BED8-C75937DC5ECA}"/>
          </ac:picMkLst>
        </pc:picChg>
        <pc:picChg chg="add mod">
          <ac:chgData name="조호습(HOSEUP CHO)[hoseupcho]/책임/제조DX.FDC DX.조립FDC팀" userId="3b20c342-f290-4d69-a6b8-7223b626e0a8" providerId="ADAL" clId="{28D04202-6C71-4F06-9DCC-E4D59C6C3EAF}" dt="2026-09-06T02:44:03.586" v="233" actId="1076"/>
          <ac:picMkLst>
            <pc:docMk/>
            <pc:sldMk cId="3488131015" sldId="261"/>
            <ac:picMk id="10" creationId="{46CB83A2-EB7F-1FDD-12CF-FAD514013C2A}"/>
          </ac:picMkLst>
        </pc:picChg>
        <pc:picChg chg="add del mod">
          <ac:chgData name="조호습(HOSEUP CHO)[hoseupcho]/책임/제조DX.FDC DX.조립FDC팀" userId="3b20c342-f290-4d69-a6b8-7223b626e0a8" providerId="ADAL" clId="{28D04202-6C71-4F06-9DCC-E4D59C6C3EAF}" dt="2026-09-06T02:43:01.455" v="219" actId="478"/>
          <ac:picMkLst>
            <pc:docMk/>
            <pc:sldMk cId="3488131015" sldId="261"/>
            <ac:picMk id="12" creationId="{FEF3BD02-3B32-CC21-B425-32B42FDC3A64}"/>
          </ac:picMkLst>
        </pc:picChg>
        <pc:picChg chg="add del mod">
          <ac:chgData name="조호습(HOSEUP CHO)[hoseupcho]/책임/제조DX.FDC DX.조립FDC팀" userId="3b20c342-f290-4d69-a6b8-7223b626e0a8" providerId="ADAL" clId="{28D04202-6C71-4F06-9DCC-E4D59C6C3EAF}" dt="2026-09-06T02:44:30.684" v="238" actId="478"/>
          <ac:picMkLst>
            <pc:docMk/>
            <pc:sldMk cId="3488131015" sldId="261"/>
            <ac:picMk id="13" creationId="{197010F8-BAB2-FD79-37FE-5D09DE499FF6}"/>
          </ac:picMkLst>
        </pc:picChg>
        <pc:picChg chg="add mod">
          <ac:chgData name="조호습(HOSEUP CHO)[hoseupcho]/책임/제조DX.FDC DX.조립FDC팀" userId="3b20c342-f290-4d69-a6b8-7223b626e0a8" providerId="ADAL" clId="{28D04202-6C71-4F06-9DCC-E4D59C6C3EAF}" dt="2026-09-06T02:44:50.055" v="242" actId="1076"/>
          <ac:picMkLst>
            <pc:docMk/>
            <pc:sldMk cId="3488131015" sldId="261"/>
            <ac:picMk id="15" creationId="{76517C02-6842-55B8-3C81-0410CBB0B94B}"/>
          </ac:picMkLst>
        </pc:picChg>
      </pc:sldChg>
      <pc:sldChg chg="addSp delSp add del mod">
        <pc:chgData name="조호습(HOSEUP CHO)[hoseupcho]/책임/제조DX.FDC DX.조립FDC팀" userId="3b20c342-f290-4d69-a6b8-7223b626e0a8" providerId="ADAL" clId="{28D04202-6C71-4F06-9DCC-E4D59C6C3EAF}" dt="2026-09-07T06:15:01.469" v="517" actId="22"/>
        <pc:sldMkLst>
          <pc:docMk/>
          <pc:sldMk cId="3859043690" sldId="262"/>
        </pc:sldMkLst>
        <pc:spChg chg="del">
          <ac:chgData name="조호습(HOSEUP CHO)[hoseupcho]/책임/제조DX.FDC DX.조립FDC팀" userId="3b20c342-f290-4d69-a6b8-7223b626e0a8" providerId="ADAL" clId="{28D04202-6C71-4F06-9DCC-E4D59C6C3EAF}" dt="2026-09-07T06:15:01.264" v="516" actId="478"/>
          <ac:spMkLst>
            <pc:docMk/>
            <pc:sldMk cId="3859043690" sldId="262"/>
            <ac:spMk id="4" creationId="{BC27A000-3818-472E-AEFD-A6BAFDC49980}"/>
          </ac:spMkLst>
        </pc:spChg>
        <pc:spChg chg="add">
          <ac:chgData name="조호습(HOSEUP CHO)[hoseupcho]/책임/제조DX.FDC DX.조립FDC팀" userId="3b20c342-f290-4d69-a6b8-7223b626e0a8" providerId="ADAL" clId="{28D04202-6C71-4F06-9DCC-E4D59C6C3EAF}" dt="2026-09-07T06:15:01.469" v="517" actId="22"/>
          <ac:spMkLst>
            <pc:docMk/>
            <pc:sldMk cId="3859043690" sldId="262"/>
            <ac:spMk id="9" creationId="{B5D1EC04-2B7D-6682-A736-02E51FEB8473}"/>
          </ac:spMkLst>
        </pc:spChg>
      </pc:sldChg>
      <pc:sldChg chg="addSp delSp modSp mod">
        <pc:chgData name="조호습(HOSEUP CHO)[hoseupcho]/책임/제조DX.FDC DX.조립FDC팀" userId="3b20c342-f290-4d69-a6b8-7223b626e0a8" providerId="ADAL" clId="{28D04202-6C71-4F06-9DCC-E4D59C6C3EAF}" dt="2026-09-07T06:14:14.056" v="513" actId="14100"/>
        <pc:sldMkLst>
          <pc:docMk/>
          <pc:sldMk cId="515394892" sldId="264"/>
        </pc:sldMkLst>
        <pc:spChg chg="mod">
          <ac:chgData name="조호습(HOSEUP CHO)[hoseupcho]/책임/제조DX.FDC DX.조립FDC팀" userId="3b20c342-f290-4d69-a6b8-7223b626e0a8" providerId="ADAL" clId="{28D04202-6C71-4F06-9DCC-E4D59C6C3EAF}" dt="2026-09-07T00:26:47.997" v="312" actId="1036"/>
          <ac:spMkLst>
            <pc:docMk/>
            <pc:sldMk cId="515394892" sldId="264"/>
            <ac:spMk id="16" creationId="{DDBB3EDF-9078-CA04-D5D7-149F919C0688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9-07T00:26:47.997" v="312" actId="1036"/>
          <ac:spMkLst>
            <pc:docMk/>
            <pc:sldMk cId="515394892" sldId="264"/>
            <ac:spMk id="17" creationId="{E6A33D66-2740-A990-D95E-1FFFC933E6C0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9-07T00:26:47.997" v="312" actId="1036"/>
          <ac:spMkLst>
            <pc:docMk/>
            <pc:sldMk cId="515394892" sldId="264"/>
            <ac:spMk id="27" creationId="{54FF6186-4114-0645-467C-5503770D8721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9-07T06:14:14.056" v="513" actId="14100"/>
          <ac:spMkLst>
            <pc:docMk/>
            <pc:sldMk cId="515394892" sldId="264"/>
            <ac:spMk id="30" creationId="{2D08D7B7-20A8-7550-06B1-D94C6940F19D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9-07T00:26:47.997" v="312" actId="1036"/>
          <ac:spMkLst>
            <pc:docMk/>
            <pc:sldMk cId="515394892" sldId="264"/>
            <ac:spMk id="32" creationId="{EF3D52A6-D95B-C4C1-79DB-65BC973CB3A9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9-07T00:26:47.997" v="312" actId="1036"/>
          <ac:spMkLst>
            <pc:docMk/>
            <pc:sldMk cId="515394892" sldId="264"/>
            <ac:spMk id="45" creationId="{63FC52A0-68C9-EED8-EED9-E3A49F11A53E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9-07T00:26:47.997" v="312" actId="1036"/>
          <ac:spMkLst>
            <pc:docMk/>
            <pc:sldMk cId="515394892" sldId="264"/>
            <ac:spMk id="58" creationId="{46FFF2E5-5927-2A42-B769-AA857BC1D620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9-07T00:26:47.997" v="312" actId="1036"/>
          <ac:spMkLst>
            <pc:docMk/>
            <pc:sldMk cId="515394892" sldId="264"/>
            <ac:spMk id="60" creationId="{00F266F5-F30C-4457-05C3-8B856DFD17A6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9-07T00:26:47.997" v="312" actId="1036"/>
          <ac:spMkLst>
            <pc:docMk/>
            <pc:sldMk cId="515394892" sldId="264"/>
            <ac:spMk id="61" creationId="{462D51B5-C118-A464-E90A-756C4E2FDEED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9-07T00:35:06.228" v="465" actId="1038"/>
          <ac:spMkLst>
            <pc:docMk/>
            <pc:sldMk cId="515394892" sldId="264"/>
            <ac:spMk id="66" creationId="{8D475039-EC57-351F-928A-1616DED252E7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9-07T00:26:47.997" v="312" actId="1036"/>
          <ac:spMkLst>
            <pc:docMk/>
            <pc:sldMk cId="515394892" sldId="264"/>
            <ac:spMk id="68" creationId="{8E6260B7-D122-AD75-BC37-96D986957007}"/>
          </ac:spMkLst>
        </pc:spChg>
        <pc:graphicFrameChg chg="add mod">
          <ac:chgData name="조호습(HOSEUP CHO)[hoseupcho]/책임/제조DX.FDC DX.조립FDC팀" userId="3b20c342-f290-4d69-a6b8-7223b626e0a8" providerId="ADAL" clId="{28D04202-6C71-4F06-9DCC-E4D59C6C3EAF}" dt="2026-09-07T00:25:28.744" v="295"/>
          <ac:graphicFrameMkLst>
            <pc:docMk/>
            <pc:sldMk cId="515394892" sldId="264"/>
            <ac:graphicFrameMk id="30" creationId="{8C5C382F-7F26-C967-503C-ED56433415F8}"/>
          </ac:graphicFrameMkLst>
        </pc:graphicFrameChg>
        <pc:graphicFrameChg chg="add del mod">
          <ac:chgData name="조호습(HOSEUP CHO)[hoseupcho]/책임/제조DX.FDC DX.조립FDC팀" userId="3b20c342-f290-4d69-a6b8-7223b626e0a8" providerId="ADAL" clId="{28D04202-6C71-4F06-9DCC-E4D59C6C3EAF}" dt="2026-09-07T00:28:49.431" v="329" actId="478"/>
          <ac:graphicFrameMkLst>
            <pc:docMk/>
            <pc:sldMk cId="515394892" sldId="264"/>
            <ac:graphicFrameMk id="31" creationId="{B71DF81D-5651-1B5E-29B7-549F6863680E}"/>
          </ac:graphicFrameMkLst>
        </pc:graphicFrameChg>
        <pc:graphicFrameChg chg="mod modGraphic">
          <ac:chgData name="조호습(HOSEUP CHO)[hoseupcho]/책임/제조DX.FDC DX.조립FDC팀" userId="3b20c342-f290-4d69-a6b8-7223b626e0a8" providerId="ADAL" clId="{28D04202-6C71-4F06-9DCC-E4D59C6C3EAF}" dt="2026-09-07T00:28:40.301" v="328" actId="207"/>
          <ac:graphicFrameMkLst>
            <pc:docMk/>
            <pc:sldMk cId="515394892" sldId="264"/>
            <ac:graphicFrameMk id="190" creationId="{D4745248-5EEE-D11B-9765-F32E601A5C69}"/>
          </ac:graphicFrameMkLst>
        </pc:graphicFrameChg>
      </pc:sldChg>
      <pc:sldChg chg="addSp delSp modSp mod">
        <pc:chgData name="조호습(HOSEUP CHO)[hoseupcho]/책임/제조DX.FDC DX.조립FDC팀" userId="3b20c342-f290-4d69-a6b8-7223b626e0a8" providerId="ADAL" clId="{28D04202-6C71-4F06-9DCC-E4D59C6C3EAF}" dt="2026-09-06T02:45:36.401" v="246" actId="1076"/>
        <pc:sldMkLst>
          <pc:docMk/>
          <pc:sldMk cId="9191387" sldId="310"/>
        </pc:sldMkLst>
        <pc:picChg chg="add del mod">
          <ac:chgData name="조호습(HOSEUP CHO)[hoseupcho]/책임/제조DX.FDC DX.조립FDC팀" userId="3b20c342-f290-4d69-a6b8-7223b626e0a8" providerId="ADAL" clId="{28D04202-6C71-4F06-9DCC-E4D59C6C3EAF}" dt="2026-09-06T02:45:01.774" v="243" actId="478"/>
          <ac:picMkLst>
            <pc:docMk/>
            <pc:sldMk cId="9191387" sldId="310"/>
            <ac:picMk id="4" creationId="{A571B936-4672-583F-98B2-6222238FC34E}"/>
          </ac:picMkLst>
        </pc:picChg>
        <pc:picChg chg="add mod">
          <ac:chgData name="조호습(HOSEUP CHO)[hoseupcho]/책임/제조DX.FDC DX.조립FDC팀" userId="3b20c342-f290-4d69-a6b8-7223b626e0a8" providerId="ADAL" clId="{28D04202-6C71-4F06-9DCC-E4D59C6C3EAF}" dt="2026-09-06T02:45:36.401" v="246" actId="1076"/>
          <ac:picMkLst>
            <pc:docMk/>
            <pc:sldMk cId="9191387" sldId="310"/>
            <ac:picMk id="5" creationId="{1D439C98-5C30-5879-85A1-48EFCF7B818E}"/>
          </ac:picMkLst>
        </pc:picChg>
      </pc:sldChg>
      <pc:sldChg chg="addSp modSp add del mod">
        <pc:chgData name="조호습(HOSEUP CHO)[hoseupcho]/책임/제조DX.FDC DX.조립FDC팀" userId="3b20c342-f290-4d69-a6b8-7223b626e0a8" providerId="ADAL" clId="{28D04202-6C71-4F06-9DCC-E4D59C6C3EAF}" dt="2026-09-07T06:15:14.658" v="519" actId="1076"/>
        <pc:sldMkLst>
          <pc:docMk/>
          <pc:sldMk cId="2946147004" sldId="426"/>
        </pc:sldMkLst>
        <pc:spChg chg="add mod">
          <ac:chgData name="조호습(HOSEUP CHO)[hoseupcho]/책임/제조DX.FDC DX.조립FDC팀" userId="3b20c342-f290-4d69-a6b8-7223b626e0a8" providerId="ADAL" clId="{28D04202-6C71-4F06-9DCC-E4D59C6C3EAF}" dt="2026-09-07T06:15:14.658" v="519" actId="1076"/>
          <ac:spMkLst>
            <pc:docMk/>
            <pc:sldMk cId="2946147004" sldId="426"/>
            <ac:spMk id="4" creationId="{97009994-8D47-B93B-645B-2AFD60E30CF8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9-02T09:52:16.223" v="179"/>
          <ac:spMkLst>
            <pc:docMk/>
            <pc:sldMk cId="2946147004" sldId="426"/>
            <ac:spMk id="29" creationId="{74E4FDCD-ECC6-7210-D7D4-B5E0976102B4}"/>
          </ac:spMkLst>
        </pc:spChg>
      </pc:sldChg>
      <pc:sldChg chg="addSp modSp add del mod ord">
        <pc:chgData name="조호습(HOSEUP CHO)[hoseupcho]/책임/제조DX.FDC DX.조립FDC팀" userId="3b20c342-f290-4d69-a6b8-7223b626e0a8" providerId="ADAL" clId="{28D04202-6C71-4F06-9DCC-E4D59C6C3EAF}" dt="2026-09-07T06:16:24.159" v="532"/>
        <pc:sldMkLst>
          <pc:docMk/>
          <pc:sldMk cId="2245497606" sldId="427"/>
        </pc:sldMkLst>
        <pc:spChg chg="add mod">
          <ac:chgData name="조호습(HOSEUP CHO)[hoseupcho]/책임/제조DX.FDC DX.조립FDC팀" userId="3b20c342-f290-4d69-a6b8-7223b626e0a8" providerId="ADAL" clId="{28D04202-6C71-4F06-9DCC-E4D59C6C3EAF}" dt="2026-09-07T06:15:18.603" v="521" actId="1076"/>
          <ac:spMkLst>
            <pc:docMk/>
            <pc:sldMk cId="2245497606" sldId="427"/>
            <ac:spMk id="4" creationId="{C2AA6405-005A-6875-6EEB-C18E36407309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9-02T09:52:20.772" v="185"/>
          <ac:spMkLst>
            <pc:docMk/>
            <pc:sldMk cId="2245497606" sldId="427"/>
            <ac:spMk id="29" creationId="{4B12ABEB-40A1-48D9-1215-6039A0C5BACA}"/>
          </ac:spMkLst>
        </pc:spChg>
      </pc:sldChg>
      <pc:sldChg chg="addSp delSp modSp mod">
        <pc:chgData name="조호습(HOSEUP CHO)[hoseupcho]/책임/제조DX.FDC DX.조립FDC팀" userId="3b20c342-f290-4d69-a6b8-7223b626e0a8" providerId="ADAL" clId="{28D04202-6C71-4F06-9DCC-E4D59C6C3EAF}" dt="2026-09-07T06:12:49.801" v="496" actId="1035"/>
        <pc:sldMkLst>
          <pc:docMk/>
          <pc:sldMk cId="0" sldId="2147483400"/>
        </pc:sldMkLst>
        <pc:spChg chg="add mod">
          <ac:chgData name="조호습(HOSEUP CHO)[hoseupcho]/책임/제조DX.FDC DX.조립FDC팀" userId="3b20c342-f290-4d69-a6b8-7223b626e0a8" providerId="ADAL" clId="{28D04202-6C71-4F06-9DCC-E4D59C6C3EAF}" dt="2026-09-07T06:12:49.801" v="496" actId="1035"/>
          <ac:spMkLst>
            <pc:docMk/>
            <pc:sldMk cId="0" sldId="2147483400"/>
            <ac:spMk id="6" creationId="{F8000EB3-A418-AB72-1724-D88CC396E464}"/>
          </ac:spMkLst>
        </pc:spChg>
        <pc:spChg chg="del">
          <ac:chgData name="조호습(HOSEUP CHO)[hoseupcho]/책임/제조DX.FDC DX.조립FDC팀" userId="3b20c342-f290-4d69-a6b8-7223b626e0a8" providerId="ADAL" clId="{28D04202-6C71-4F06-9DCC-E4D59C6C3EAF}" dt="2026-09-07T06:12:47.150" v="482" actId="478"/>
          <ac:spMkLst>
            <pc:docMk/>
            <pc:sldMk cId="0" sldId="2147483400"/>
            <ac:spMk id="105" creationId="{F32947F4-58F6-A4BA-1CA9-F904C027D11A}"/>
          </ac:spMkLst>
        </pc:spChg>
      </pc:sldChg>
      <pc:sldChg chg="addSp delSp modSp mod">
        <pc:chgData name="조호습(HOSEUP CHO)[hoseupcho]/책임/제조DX.FDC DX.조립FDC팀" userId="3b20c342-f290-4d69-a6b8-7223b626e0a8" providerId="ADAL" clId="{28D04202-6C71-4F06-9DCC-E4D59C6C3EAF}" dt="2026-09-07T06:17:50.428" v="535" actId="207"/>
        <pc:sldMkLst>
          <pc:docMk/>
          <pc:sldMk cId="1810643486" sldId="2147483647"/>
        </pc:sldMkLst>
        <pc:spChg chg="add mod">
          <ac:chgData name="조호습(HOSEUP CHO)[hoseupcho]/책임/제조DX.FDC DX.조립FDC팀" userId="3b20c342-f290-4d69-a6b8-7223b626e0a8" providerId="ADAL" clId="{28D04202-6C71-4F06-9DCC-E4D59C6C3EAF}" dt="2026-09-07T06:17:47.400" v="534" actId="207"/>
          <ac:spMkLst>
            <pc:docMk/>
            <pc:sldMk cId="1810643486" sldId="2147483647"/>
            <ac:spMk id="4" creationId="{991E8838-F5C1-F35B-23CE-4B1495972D96}"/>
          </ac:spMkLst>
        </pc:spChg>
        <pc:spChg chg="add mod">
          <ac:chgData name="조호습(HOSEUP CHO)[hoseupcho]/책임/제조DX.FDC DX.조립FDC팀" userId="3b20c342-f290-4d69-a6b8-7223b626e0a8" providerId="ADAL" clId="{28D04202-6C71-4F06-9DCC-E4D59C6C3EAF}" dt="2026-09-07T06:17:50.428" v="535" actId="207"/>
          <ac:spMkLst>
            <pc:docMk/>
            <pc:sldMk cId="1810643486" sldId="2147483647"/>
            <ac:spMk id="6" creationId="{151B48C8-8E41-8B2C-D6F1-B2357359540C}"/>
          </ac:spMkLst>
        </pc:spChg>
        <pc:spChg chg="mod">
          <ac:chgData name="조호습(HOSEUP CHO)[hoseupcho]/책임/제조DX.FDC DX.조립FDC팀" userId="3b20c342-f290-4d69-a6b8-7223b626e0a8" providerId="ADAL" clId="{28D04202-6C71-4F06-9DCC-E4D59C6C3EAF}" dt="2026-09-06T02:55:16.862" v="291" actId="20577"/>
          <ac:spMkLst>
            <pc:docMk/>
            <pc:sldMk cId="1810643486" sldId="2147483647"/>
            <ac:spMk id="140" creationId="{4D77F66A-087E-F640-FC89-A6FBB5B648D6}"/>
          </ac:spMkLst>
        </pc:spChg>
        <pc:graphicFrameChg chg="add del mod">
          <ac:chgData name="조호습(HOSEUP CHO)[hoseupcho]/책임/제조DX.FDC DX.조립FDC팀" userId="3b20c342-f290-4d69-a6b8-7223b626e0a8" providerId="ADAL" clId="{28D04202-6C71-4F06-9DCC-E4D59C6C3EAF}" dt="2026-09-06T02:54:35.545" v="279" actId="478"/>
          <ac:graphicFrameMkLst>
            <pc:docMk/>
            <pc:sldMk cId="1810643486" sldId="2147483647"/>
            <ac:graphicFrameMk id="4" creationId="{B2675D6A-56C6-F38F-1B0C-A968B3C24EBC}"/>
          </ac:graphicFrameMkLst>
        </pc:graphicFrameChg>
        <pc:graphicFrameChg chg="mod modGraphic">
          <ac:chgData name="조호습(HOSEUP CHO)[hoseupcho]/책임/제조DX.FDC DX.조립FDC팀" userId="3b20c342-f290-4d69-a6b8-7223b626e0a8" providerId="ADAL" clId="{28D04202-6C71-4F06-9DCC-E4D59C6C3EAF}" dt="2026-09-06T02:54:15.843" v="278" actId="20577"/>
          <ac:graphicFrameMkLst>
            <pc:docMk/>
            <pc:sldMk cId="1810643486" sldId="2147483647"/>
            <ac:graphicFrameMk id="133" creationId="{1E236C06-1877-6D66-213D-01B9DB0A4E87}"/>
          </ac:graphicFrameMkLst>
        </pc:graphicFrameChg>
      </pc:sldChg>
    </pc:docChg>
  </pc:docChgLst>
  <pc:docChgLst>
    <pc:chgData name="민경춘(KYOUNG CHOON MIN)[kcmin]/부문담당/제조DX.FDC DX담당" userId="7491a4e1-e125-46ea-a12d-8d242d2d7867" providerId="ADAL" clId="{9D54B98F-006E-474C-9ABF-55B4A24BE5B0}"/>
    <pc:docChg chg="undo custSel addSld modSld">
      <pc:chgData name="민경춘(KYOUNG CHOON MIN)[kcmin]/부문담당/제조DX.FDC DX담당" userId="7491a4e1-e125-46ea-a12d-8d242d2d7867" providerId="ADAL" clId="{9D54B98F-006E-474C-9ABF-55B4A24BE5B0}" dt="2026-09-07T02:26:15.848" v="326" actId="20577"/>
      <pc:docMkLst>
        <pc:docMk/>
      </pc:docMkLst>
      <pc:sldChg chg="delSp modSp mod">
        <pc:chgData name="민경춘(KYOUNG CHOON MIN)[kcmin]/부문담당/제조DX.FDC DX담당" userId="7491a4e1-e125-46ea-a12d-8d242d2d7867" providerId="ADAL" clId="{9D54B98F-006E-474C-9ABF-55B4A24BE5B0}" dt="2026-09-01T07:46:06.344" v="198" actId="478"/>
        <pc:sldMkLst>
          <pc:docMk/>
          <pc:sldMk cId="4257632096" sldId="256"/>
        </pc:sldMkLst>
      </pc:sldChg>
      <pc:sldChg chg="addSp delSp modSp mod">
        <pc:chgData name="민경춘(KYOUNG CHOON MIN)[kcmin]/부문담당/제조DX.FDC DX담당" userId="7491a4e1-e125-46ea-a12d-8d242d2d7867" providerId="ADAL" clId="{9D54B98F-006E-474C-9ABF-55B4A24BE5B0}" dt="2026-09-01T07:33:37.419" v="117" actId="21"/>
        <pc:sldMkLst>
          <pc:docMk/>
          <pc:sldMk cId="2969742211" sldId="259"/>
        </pc:sldMkLst>
        <pc:spChg chg="mod">
          <ac:chgData name="민경춘(KYOUNG CHOON MIN)[kcmin]/부문담당/제조DX.FDC DX담당" userId="7491a4e1-e125-46ea-a12d-8d242d2d7867" providerId="ADAL" clId="{9D54B98F-006E-474C-9ABF-55B4A24BE5B0}" dt="2026-09-01T07:12:23.806" v="78" actId="1035"/>
          <ac:spMkLst>
            <pc:docMk/>
            <pc:sldMk cId="2969742211" sldId="259"/>
            <ac:spMk id="3" creationId="{7C458681-8309-46C4-593A-EDB53700E36A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9-01T07:12:22.212" v="69" actId="1035"/>
          <ac:spMkLst>
            <pc:docMk/>
            <pc:sldMk cId="2969742211" sldId="259"/>
            <ac:spMk id="4" creationId="{99EC3EE6-ACC2-615B-D019-3554E3868F9E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9-01T07:12:19.404" v="54" actId="1036"/>
          <ac:spMkLst>
            <pc:docMk/>
            <pc:sldMk cId="2969742211" sldId="259"/>
            <ac:spMk id="6" creationId="{E8D7649A-3D1B-2CB1-6F9D-2F3E4E0BFE89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9-01T07:08:55.394" v="16" actId="1035"/>
          <ac:spMkLst>
            <pc:docMk/>
            <pc:sldMk cId="2969742211" sldId="259"/>
            <ac:spMk id="59" creationId="{578A99C8-95DB-BB62-336E-559E58F9E9A9}"/>
          </ac:spMkLst>
        </pc:spChg>
        <pc:graphicFrameChg chg="mod modGraphic">
          <ac:chgData name="민경춘(KYOUNG CHOON MIN)[kcmin]/부문담당/제조DX.FDC DX담당" userId="7491a4e1-e125-46ea-a12d-8d242d2d7867" providerId="ADAL" clId="{9D54B98F-006E-474C-9ABF-55B4A24BE5B0}" dt="2026-09-01T07:16:06.110" v="89" actId="6549"/>
          <ac:graphicFrameMkLst>
            <pc:docMk/>
            <pc:sldMk cId="2969742211" sldId="259"/>
            <ac:graphicFrameMk id="2" creationId="{CC4A7C43-E9DD-0E84-566E-6370F6FC13D4}"/>
          </ac:graphicFrameMkLst>
        </pc:graphicFrameChg>
      </pc:sldChg>
      <pc:sldChg chg="modSp mod">
        <pc:chgData name="민경춘(KYOUNG CHOON MIN)[kcmin]/부문담당/제조DX.FDC DX담당" userId="7491a4e1-e125-46ea-a12d-8d242d2d7867" providerId="ADAL" clId="{9D54B98F-006E-474C-9ABF-55B4A24BE5B0}" dt="2026-09-01T07:45:55.027" v="197" actId="1036"/>
        <pc:sldMkLst>
          <pc:docMk/>
          <pc:sldMk cId="1899411686" sldId="263"/>
        </pc:sldMkLst>
        <pc:spChg chg="mod">
          <ac:chgData name="민경춘(KYOUNG CHOON MIN)[kcmin]/부문담당/제조DX.FDC DX담당" userId="7491a4e1-e125-46ea-a12d-8d242d2d7867" providerId="ADAL" clId="{9D54B98F-006E-474C-9ABF-55B4A24BE5B0}" dt="2026-09-01T07:45:21.999" v="189" actId="14100"/>
          <ac:spMkLst>
            <pc:docMk/>
            <pc:sldMk cId="1899411686" sldId="263"/>
            <ac:spMk id="6" creationId="{79E70E57-D80E-12CB-E7BA-83E81C798BFD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9-01T07:45:55.027" v="197" actId="1036"/>
          <ac:spMkLst>
            <pc:docMk/>
            <pc:sldMk cId="1899411686" sldId="263"/>
            <ac:spMk id="10" creationId="{81643BC1-35DF-ADB4-BCA6-4FD4EC9F20A3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9-01T07:45:55.027" v="197" actId="1036"/>
          <ac:spMkLst>
            <pc:docMk/>
            <pc:sldMk cId="1899411686" sldId="263"/>
            <ac:spMk id="12" creationId="{A002FAD9-F31B-454A-F0C8-1123417C7A5C}"/>
          </ac:spMkLst>
        </pc:spChg>
      </pc:sldChg>
      <pc:sldChg chg="modSp mod">
        <pc:chgData name="민경춘(KYOUNG CHOON MIN)[kcmin]/부문담당/제조DX.FDC DX담당" userId="7491a4e1-e125-46ea-a12d-8d242d2d7867" providerId="ADAL" clId="{9D54B98F-006E-474C-9ABF-55B4A24BE5B0}" dt="2026-09-07T02:26:15.848" v="326" actId="20577"/>
        <pc:sldMkLst>
          <pc:docMk/>
          <pc:sldMk cId="515394892" sldId="264"/>
        </pc:sldMkLst>
        <pc:spChg chg="mod">
          <ac:chgData name="민경춘(KYOUNG CHOON MIN)[kcmin]/부문담당/제조DX.FDC DX담당" userId="7491a4e1-e125-46ea-a12d-8d242d2d7867" providerId="ADAL" clId="{9D54B98F-006E-474C-9ABF-55B4A24BE5B0}" dt="2026-09-01T07:41:07.785" v="141" actId="1035"/>
          <ac:spMkLst>
            <pc:docMk/>
            <pc:sldMk cId="515394892" sldId="264"/>
            <ac:spMk id="8" creationId="{317676AE-01E3-120D-6D87-4F621B4B2260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9-07T02:26:15.848" v="326" actId="20577"/>
          <ac:spMkLst>
            <pc:docMk/>
            <pc:sldMk cId="515394892" sldId="264"/>
            <ac:spMk id="10" creationId="{084C4F6E-7706-1325-F0F6-EBD99A484817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9-01T07:41:07.785" v="141" actId="1035"/>
          <ac:spMkLst>
            <pc:docMk/>
            <pc:sldMk cId="515394892" sldId="264"/>
            <ac:spMk id="16" creationId="{DDBB3EDF-9078-CA04-D5D7-149F919C0688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9-01T07:40:59.482" v="136" actId="1035"/>
          <ac:spMkLst>
            <pc:docMk/>
            <pc:sldMk cId="515394892" sldId="264"/>
            <ac:spMk id="17" creationId="{E6A33D66-2740-A990-D95E-1FFFC933E6C0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9-01T07:13:04.150" v="82" actId="1035"/>
          <ac:spMkLst>
            <pc:docMk/>
            <pc:sldMk cId="515394892" sldId="264"/>
            <ac:spMk id="27" creationId="{54FF6186-4114-0645-467C-5503770D8721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9-01T07:40:59.482" v="136" actId="1035"/>
          <ac:spMkLst>
            <pc:docMk/>
            <pc:sldMk cId="515394892" sldId="264"/>
            <ac:spMk id="32" creationId="{EF3D52A6-D95B-C4C1-79DB-65BC973CB3A9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9-01T07:40:50.717" v="132" actId="14100"/>
          <ac:spMkLst>
            <pc:docMk/>
            <pc:sldMk cId="515394892" sldId="264"/>
            <ac:spMk id="40" creationId="{B969C579-2BBB-2F9B-6D86-6ED2AAA783DB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9-07T02:25:37.755" v="286" actId="20577"/>
          <ac:spMkLst>
            <pc:docMk/>
            <pc:sldMk cId="515394892" sldId="264"/>
            <ac:spMk id="45" creationId="{63FC52A0-68C9-EED8-EED9-E3A49F11A53E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9-07T02:25:51.904" v="302" actId="20577"/>
          <ac:spMkLst>
            <pc:docMk/>
            <pc:sldMk cId="515394892" sldId="264"/>
            <ac:spMk id="51" creationId="{566CA05C-84FC-7FD3-C334-FFA79502FC6B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9-01T07:41:26.240" v="149" actId="1035"/>
          <ac:spMkLst>
            <pc:docMk/>
            <pc:sldMk cId="515394892" sldId="264"/>
            <ac:spMk id="52" creationId="{9D428EFD-B59C-4799-53FB-33361622B801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9-07T02:26:09.570" v="322" actId="20577"/>
          <ac:spMkLst>
            <pc:docMk/>
            <pc:sldMk cId="515394892" sldId="264"/>
            <ac:spMk id="53" creationId="{841CB2C6-A1D9-11EF-7999-3BE6ED29C848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9-01T07:41:07.785" v="141" actId="1035"/>
          <ac:spMkLst>
            <pc:docMk/>
            <pc:sldMk cId="515394892" sldId="264"/>
            <ac:spMk id="54" creationId="{B9B84D55-AA86-BDBE-1571-433EACD9041F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9-01T07:41:07.785" v="141" actId="1035"/>
          <ac:spMkLst>
            <pc:docMk/>
            <pc:sldMk cId="515394892" sldId="264"/>
            <ac:spMk id="58" creationId="{46FFF2E5-5927-2A42-B769-AA857BC1D620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9-01T07:41:07.785" v="141" actId="1035"/>
          <ac:spMkLst>
            <pc:docMk/>
            <pc:sldMk cId="515394892" sldId="264"/>
            <ac:spMk id="60" creationId="{00F266F5-F30C-4457-05C3-8B856DFD17A6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9-01T07:41:07.785" v="141" actId="1035"/>
          <ac:spMkLst>
            <pc:docMk/>
            <pc:sldMk cId="515394892" sldId="264"/>
            <ac:spMk id="61" creationId="{462D51B5-C118-A464-E90A-756C4E2FDEED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9-01T07:41:07.785" v="141" actId="1035"/>
          <ac:spMkLst>
            <pc:docMk/>
            <pc:sldMk cId="515394892" sldId="264"/>
            <ac:spMk id="68" creationId="{8E6260B7-D122-AD75-BC37-96D986957007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9-01T07:40:57.570" v="135" actId="1035"/>
          <ac:spMkLst>
            <pc:docMk/>
            <pc:sldMk cId="515394892" sldId="264"/>
            <ac:spMk id="138" creationId="{B5F4A83C-F776-622E-591F-7560CC79A0D9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9-01T07:40:26.420" v="127" actId="14100"/>
          <ac:spMkLst>
            <pc:docMk/>
            <pc:sldMk cId="515394892" sldId="264"/>
            <ac:spMk id="154" creationId="{9C398D4E-6632-BA24-34FE-2100A7A1ADF7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9-01T07:40:23.813" v="126" actId="14100"/>
          <ac:spMkLst>
            <pc:docMk/>
            <pc:sldMk cId="515394892" sldId="264"/>
            <ac:spMk id="170" creationId="{608A021A-4419-98FD-5CF0-5AF4CF2A46CC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9-01T07:40:59.482" v="136" actId="1035"/>
          <ac:spMkLst>
            <pc:docMk/>
            <pc:sldMk cId="515394892" sldId="264"/>
            <ac:spMk id="186" creationId="{124BD33D-DF30-A029-C5FA-67074627E384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9-01T07:41:07.785" v="141" actId="1035"/>
          <ac:spMkLst>
            <pc:docMk/>
            <pc:sldMk cId="515394892" sldId="264"/>
            <ac:spMk id="187" creationId="{E6B35DEF-4C45-999E-E2D4-50A461E84375}"/>
          </ac:spMkLst>
        </pc:spChg>
        <pc:grpChg chg="mod">
          <ac:chgData name="민경춘(KYOUNG CHOON MIN)[kcmin]/부문담당/제조DX.FDC DX담당" userId="7491a4e1-e125-46ea-a12d-8d242d2d7867" providerId="ADAL" clId="{9D54B98F-006E-474C-9ABF-55B4A24BE5B0}" dt="2026-09-01T07:40:39.749" v="130" actId="14100"/>
          <ac:grpSpMkLst>
            <pc:docMk/>
            <pc:sldMk cId="515394892" sldId="264"/>
            <ac:grpSpMk id="98" creationId="{566D6FFB-C26A-46EA-D465-99EB0A20F735}"/>
          </ac:grpSpMkLst>
        </pc:grpChg>
        <pc:grpChg chg="mod">
          <ac:chgData name="민경춘(KYOUNG CHOON MIN)[kcmin]/부문담당/제조DX.FDC DX담당" userId="7491a4e1-e125-46ea-a12d-8d242d2d7867" providerId="ADAL" clId="{9D54B98F-006E-474C-9ABF-55B4A24BE5B0}" dt="2026-09-01T07:40:47.312" v="131" actId="14100"/>
          <ac:grpSpMkLst>
            <pc:docMk/>
            <pc:sldMk cId="515394892" sldId="264"/>
            <ac:grpSpMk id="135" creationId="{462C0C76-4642-2D0F-9771-3BB9CFAC3240}"/>
          </ac:grpSpMkLst>
        </pc:grpChg>
        <pc:graphicFrameChg chg="modGraphic">
          <ac:chgData name="민경춘(KYOUNG CHOON MIN)[kcmin]/부문담당/제조DX.FDC DX담당" userId="7491a4e1-e125-46ea-a12d-8d242d2d7867" providerId="ADAL" clId="{9D54B98F-006E-474C-9ABF-55B4A24BE5B0}" dt="2026-09-01T07:40:31.395" v="128" actId="14100"/>
          <ac:graphicFrameMkLst>
            <pc:docMk/>
            <pc:sldMk cId="515394892" sldId="264"/>
            <ac:graphicFrameMk id="48" creationId="{0C552BEA-9ACB-E9E2-19E6-43F7463503CA}"/>
          </ac:graphicFrameMkLst>
        </pc:graphicFrameChg>
      </pc:sldChg>
      <pc:sldChg chg="modSp mod">
        <pc:chgData name="민경춘(KYOUNG CHOON MIN)[kcmin]/부문담당/제조DX.FDC DX담당" userId="7491a4e1-e125-46ea-a12d-8d242d2d7867" providerId="ADAL" clId="{9D54B98F-006E-474C-9ABF-55B4A24BE5B0}" dt="2026-09-01T07:38:48.194" v="123" actId="255"/>
        <pc:sldMkLst>
          <pc:docMk/>
          <pc:sldMk cId="3443993367" sldId="273"/>
        </pc:sldMkLst>
        <pc:graphicFrameChg chg="modGraphic">
          <ac:chgData name="민경춘(KYOUNG CHOON MIN)[kcmin]/부문담당/제조DX.FDC DX담당" userId="7491a4e1-e125-46ea-a12d-8d242d2d7867" providerId="ADAL" clId="{9D54B98F-006E-474C-9ABF-55B4A24BE5B0}" dt="2026-09-01T07:38:48.194" v="123" actId="255"/>
          <ac:graphicFrameMkLst>
            <pc:docMk/>
            <pc:sldMk cId="3443993367" sldId="273"/>
            <ac:graphicFrameMk id="17" creationId="{8F9C922C-6630-F91F-D39F-5B76FB588696}"/>
          </ac:graphicFrameMkLst>
        </pc:graphicFrameChg>
      </pc:sldChg>
      <pc:sldChg chg="addSp modSp add mod">
        <pc:chgData name="민경춘(KYOUNG CHOON MIN)[kcmin]/부문담당/제조DX.FDC DX담당" userId="7491a4e1-e125-46ea-a12d-8d242d2d7867" providerId="ADAL" clId="{9D54B98F-006E-474C-9ABF-55B4A24BE5B0}" dt="2026-09-01T08:29:22.377" v="207"/>
        <pc:sldMkLst>
          <pc:docMk/>
          <pc:sldMk cId="0" sldId="2147483400"/>
        </pc:sldMkLst>
        <pc:graphicFrameChg chg="add mod">
          <ac:chgData name="민경춘(KYOUNG CHOON MIN)[kcmin]/부문담당/제조DX.FDC DX담당" userId="7491a4e1-e125-46ea-a12d-8d242d2d7867" providerId="ADAL" clId="{9D54B98F-006E-474C-9ABF-55B4A24BE5B0}" dt="2026-09-01T08:29:22.377" v="207"/>
          <ac:graphicFrameMkLst>
            <pc:docMk/>
            <pc:sldMk cId="0" sldId="2147483400"/>
            <ac:graphicFrameMk id="4" creationId="{95967200-A280-FBE3-4CCD-28A52859B03A}"/>
          </ac:graphicFrameMkLst>
        </pc:graphicFrameChg>
      </pc:sldChg>
      <pc:sldChg chg="delSp modSp mod">
        <pc:chgData name="민경춘(KYOUNG CHOON MIN)[kcmin]/부문담당/제조DX.FDC DX담당" userId="7491a4e1-e125-46ea-a12d-8d242d2d7867" providerId="ADAL" clId="{9D54B98F-006E-474C-9ABF-55B4A24BE5B0}" dt="2026-09-01T07:42:55.111" v="188" actId="1035"/>
        <pc:sldMkLst>
          <pc:docMk/>
          <pc:sldMk cId="384827006" sldId="2147483406"/>
        </pc:sldMkLst>
        <pc:spChg chg="mod">
          <ac:chgData name="민경춘(KYOUNG CHOON MIN)[kcmin]/부문담당/제조DX.FDC DX담당" userId="7491a4e1-e125-46ea-a12d-8d242d2d7867" providerId="ADAL" clId="{9D54B98F-006E-474C-9ABF-55B4A24BE5B0}" dt="2026-09-01T07:42:55.111" v="188" actId="1035"/>
          <ac:spMkLst>
            <pc:docMk/>
            <pc:sldMk cId="384827006" sldId="2147483406"/>
            <ac:spMk id="61" creationId="{C57D7264-0DA3-6F5E-3FBF-C2E27FB5F3E4}"/>
          </ac:spMkLst>
        </pc:spChg>
        <pc:grpChg chg="mod">
          <ac:chgData name="민경춘(KYOUNG CHOON MIN)[kcmin]/부문담당/제조DX.FDC DX담당" userId="7491a4e1-e125-46ea-a12d-8d242d2d7867" providerId="ADAL" clId="{9D54B98F-006E-474C-9ABF-55B4A24BE5B0}" dt="2026-09-01T07:42:30.834" v="185" actId="1036"/>
          <ac:grpSpMkLst>
            <pc:docMk/>
            <pc:sldMk cId="384827006" sldId="2147483406"/>
            <ac:grpSpMk id="9" creationId="{4751D0C1-7D67-75BA-D1FE-F1CD85561115}"/>
          </ac:grpSpMkLst>
        </pc:grpChg>
      </pc:sldChg>
      <pc:sldChg chg="addSp modSp mod">
        <pc:chgData name="민경춘(KYOUNG CHOON MIN)[kcmin]/부문담당/제조DX.FDC DX담당" userId="7491a4e1-e125-46ea-a12d-8d242d2d7867" providerId="ADAL" clId="{9D54B98F-006E-474C-9ABF-55B4A24BE5B0}" dt="2026-09-07T02:25:12.641" v="274" actId="20577"/>
        <pc:sldMkLst>
          <pc:docMk/>
          <pc:sldMk cId="1810643486" sldId="2147483647"/>
        </pc:sldMkLst>
        <pc:spChg chg="mod">
          <ac:chgData name="민경춘(KYOUNG CHOON MIN)[kcmin]/부문담당/제조DX.FDC DX담당" userId="7491a4e1-e125-46ea-a12d-8d242d2d7867" providerId="ADAL" clId="{9D54B98F-006E-474C-9ABF-55B4A24BE5B0}" dt="2026-09-07T02:24:45.732" v="246" actId="20577"/>
          <ac:spMkLst>
            <pc:docMk/>
            <pc:sldMk cId="1810643486" sldId="2147483647"/>
            <ac:spMk id="2" creationId="{3086ADD9-02A3-47FE-6C9A-3037D925CCC8}"/>
          </ac:spMkLst>
        </pc:spChg>
        <pc:spChg chg="add mod">
          <ac:chgData name="민경춘(KYOUNG CHOON MIN)[kcmin]/부문담당/제조DX.FDC DX담당" userId="7491a4e1-e125-46ea-a12d-8d242d2d7867" providerId="ADAL" clId="{9D54B98F-006E-474C-9ABF-55B4A24BE5B0}" dt="2026-09-01T07:33:52.345" v="119" actId="1076"/>
          <ac:spMkLst>
            <pc:docMk/>
            <pc:sldMk cId="1810643486" sldId="2147483647"/>
            <ac:spMk id="5" creationId="{4C0758AF-446C-F692-41E5-DCB663A6DB42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9-07T02:25:12.641" v="274" actId="20577"/>
          <ac:spMkLst>
            <pc:docMk/>
            <pc:sldMk cId="1810643486" sldId="2147483647"/>
            <ac:spMk id="37" creationId="{B3C6AF8D-B8A7-7D6B-8C91-9FA74959765F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9-02T08:13:32.891" v="234" actId="20577"/>
          <ac:spMkLst>
            <pc:docMk/>
            <pc:sldMk cId="1810643486" sldId="2147483647"/>
            <ac:spMk id="140" creationId="{4D77F66A-087E-F640-FC89-A6FBB5B648D6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9-01T07:39:54.905" v="125" actId="1035"/>
          <ac:spMkLst>
            <pc:docMk/>
            <pc:sldMk cId="1810643486" sldId="2147483647"/>
            <ac:spMk id="141" creationId="{52ECDD73-D7A9-4F25-FCD6-BF4DE710FFA0}"/>
          </ac:spMkLst>
        </pc:spChg>
        <pc:spChg chg="mod">
          <ac:chgData name="민경춘(KYOUNG CHOON MIN)[kcmin]/부문담당/제조DX.FDC DX담당" userId="7491a4e1-e125-46ea-a12d-8d242d2d7867" providerId="ADAL" clId="{9D54B98F-006E-474C-9ABF-55B4A24BE5B0}" dt="2026-09-07T02:25:01.131" v="262" actId="20577"/>
          <ac:spMkLst>
            <pc:docMk/>
            <pc:sldMk cId="1810643486" sldId="2147483647"/>
            <ac:spMk id="147" creationId="{988808BB-AB68-A36F-CF4A-C91102E7496F}"/>
          </ac:spMkLst>
        </pc:spChg>
        <pc:graphicFrameChg chg="modGraphic">
          <ac:chgData name="민경춘(KYOUNG CHOON MIN)[kcmin]/부문담당/제조DX.FDC DX담당" userId="7491a4e1-e125-46ea-a12d-8d242d2d7867" providerId="ADAL" clId="{9D54B98F-006E-474C-9ABF-55B4A24BE5B0}" dt="2026-09-02T08:13:27.402" v="232" actId="20577"/>
          <ac:graphicFrameMkLst>
            <pc:docMk/>
            <pc:sldMk cId="1810643486" sldId="2147483647"/>
            <ac:graphicFrameMk id="133" creationId="{1E236C06-1877-6D66-213D-01B9DB0A4E87}"/>
          </ac:graphicFrameMkLst>
        </pc:graphicFrameChg>
      </pc:sldChg>
    </pc:docChg>
  </pc:docChgLst>
  <pc:docChgLst>
    <pc:chgData name="이현우(HYUNWOO LEE)[leehyunwoo]/팀장/제조DX.FDC DX.조립FDC팀" userId="a389b796-c9e0-4f6d-b8f6-256317e9e9e3" providerId="ADAL" clId="{9A40F599-B087-48A6-9DAA-2E1E30265CB9}"/>
    <pc:docChg chg="custSel delSld modSld modSection">
      <pc:chgData name="이현우(HYUNWOO LEE)[leehyunwoo]/팀장/제조DX.FDC DX.조립FDC팀" userId="a389b796-c9e0-4f6d-b8f6-256317e9e9e3" providerId="ADAL" clId="{9A40F599-B087-48A6-9DAA-2E1E30265CB9}" dt="2026-09-03T20:51:57.362" v="71" actId="478"/>
      <pc:docMkLst>
        <pc:docMk/>
      </pc:docMkLst>
      <pc:sldChg chg="addSp delSp modSp mod">
        <pc:chgData name="이현우(HYUNWOO LEE)[leehyunwoo]/팀장/제조DX.FDC DX.조립FDC팀" userId="a389b796-c9e0-4f6d-b8f6-256317e9e9e3" providerId="ADAL" clId="{9A40F599-B087-48A6-9DAA-2E1E30265CB9}" dt="2026-09-03T20:51:57.362" v="71" actId="478"/>
        <pc:sldMkLst>
          <pc:docMk/>
          <pc:sldMk cId="4257632096" sldId="256"/>
        </pc:sldMkLst>
        <pc:graphicFrameChg chg="modGraphic">
          <ac:chgData name="이현우(HYUNWOO LEE)[leehyunwoo]/팀장/제조DX.FDC DX.조립FDC팀" userId="a389b796-c9e0-4f6d-b8f6-256317e9e9e3" providerId="ADAL" clId="{9A40F599-B087-48A6-9DAA-2E1E30265CB9}" dt="2026-09-03T20:42:54.866" v="32" actId="113"/>
          <ac:graphicFrameMkLst>
            <pc:docMk/>
            <pc:sldMk cId="4257632096" sldId="256"/>
            <ac:graphicFrameMk id="10" creationId="{15363B33-3C41-2AD0-DF77-901BA3A72B07}"/>
          </ac:graphicFrameMkLst>
        </pc:graphicFrameChg>
      </pc:sldChg>
      <pc:sldChg chg="modSp mod">
        <pc:chgData name="이현우(HYUNWOO LEE)[leehyunwoo]/팀장/제조DX.FDC DX.조립FDC팀" userId="a389b796-c9e0-4f6d-b8f6-256317e9e9e3" providerId="ADAL" clId="{9A40F599-B087-48A6-9DAA-2E1E30265CB9}" dt="2026-09-01T08:27:00.330" v="29" actId="14100"/>
        <pc:sldMkLst>
          <pc:docMk/>
          <pc:sldMk cId="0" sldId="2147483400"/>
        </pc:sldMkLst>
        <pc:spChg chg="mod">
          <ac:chgData name="이현우(HYUNWOO LEE)[leehyunwoo]/팀장/제조DX.FDC DX.조립FDC팀" userId="a389b796-c9e0-4f6d-b8f6-256317e9e9e3" providerId="ADAL" clId="{9A40F599-B087-48A6-9DAA-2E1E30265CB9}" dt="2026-09-01T08:27:00.330" v="29" actId="14100"/>
          <ac:spMkLst>
            <pc:docMk/>
            <pc:sldMk cId="0" sldId="2147483400"/>
            <ac:spMk id="103" creationId="{A789FD68-7AC8-7D3C-7E74-EB18FF0D95F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60" cy="493634"/>
          </a:xfrm>
          <a:prstGeom prst="rect">
            <a:avLst/>
          </a:prstGeom>
        </p:spPr>
        <p:txBody>
          <a:bodyPr vert="horz" lIns="91016" tIns="45508" rIns="91016" bIns="455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60" cy="493634"/>
          </a:xfrm>
          <a:prstGeom prst="rect">
            <a:avLst/>
          </a:prstGeom>
        </p:spPr>
        <p:txBody>
          <a:bodyPr vert="horz" lIns="91016" tIns="45508" rIns="91016" bIns="45508" rtlCol="0"/>
          <a:lstStyle>
            <a:lvl1pPr algn="r">
              <a:defRPr sz="1200"/>
            </a:lvl1pPr>
          </a:lstStyle>
          <a:p>
            <a:fld id="{B2BCA65B-4A64-4C09-B6AF-22726F39C5D6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7317"/>
            <a:ext cx="2945660" cy="493634"/>
          </a:xfrm>
          <a:prstGeom prst="rect">
            <a:avLst/>
          </a:prstGeom>
        </p:spPr>
        <p:txBody>
          <a:bodyPr vert="horz" lIns="91016" tIns="45508" rIns="91016" bIns="455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4" y="9377317"/>
            <a:ext cx="2945660" cy="493634"/>
          </a:xfrm>
          <a:prstGeom prst="rect">
            <a:avLst/>
          </a:prstGeom>
        </p:spPr>
        <p:txBody>
          <a:bodyPr vert="horz" lIns="91016" tIns="45508" rIns="91016" bIns="45508" rtlCol="0" anchor="b"/>
          <a:lstStyle>
            <a:lvl1pPr algn="r">
              <a:defRPr sz="1200"/>
            </a:lvl1pPr>
          </a:lstStyle>
          <a:p>
            <a:fld id="{855DBB3B-02F1-4B6B-B52B-D48CB606F0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5983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60" cy="493634"/>
          </a:xfrm>
          <a:prstGeom prst="rect">
            <a:avLst/>
          </a:prstGeom>
        </p:spPr>
        <p:txBody>
          <a:bodyPr vert="horz" lIns="91016" tIns="45508" rIns="91016" bIns="455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60" cy="493634"/>
          </a:xfrm>
          <a:prstGeom prst="rect">
            <a:avLst/>
          </a:prstGeom>
        </p:spPr>
        <p:txBody>
          <a:bodyPr vert="horz" lIns="91016" tIns="45508" rIns="91016" bIns="45508" rtlCol="0"/>
          <a:lstStyle>
            <a:lvl1pPr algn="r">
              <a:defRPr sz="1200"/>
            </a:lvl1pPr>
          </a:lstStyle>
          <a:p>
            <a:fld id="{67702084-E320-4FCE-8E72-C66EF9DD46EA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25488" y="741363"/>
            <a:ext cx="5346700" cy="37004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016" tIns="45508" rIns="91016" bIns="4550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689517"/>
            <a:ext cx="5438140" cy="4442699"/>
          </a:xfrm>
          <a:prstGeom prst="rect">
            <a:avLst/>
          </a:prstGeom>
        </p:spPr>
        <p:txBody>
          <a:bodyPr vert="horz" lIns="91016" tIns="45508" rIns="91016" bIns="4550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7317"/>
            <a:ext cx="2945660" cy="493634"/>
          </a:xfrm>
          <a:prstGeom prst="rect">
            <a:avLst/>
          </a:prstGeom>
        </p:spPr>
        <p:txBody>
          <a:bodyPr vert="horz" lIns="91016" tIns="45508" rIns="91016" bIns="455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377317"/>
            <a:ext cx="2945660" cy="493634"/>
          </a:xfrm>
          <a:prstGeom prst="rect">
            <a:avLst/>
          </a:prstGeom>
        </p:spPr>
        <p:txBody>
          <a:bodyPr vert="horz" lIns="91016" tIns="45508" rIns="91016" bIns="45508" rtlCol="0" anchor="b"/>
          <a:lstStyle>
            <a:lvl1pPr algn="r">
              <a:defRPr sz="1200"/>
            </a:lvl1pPr>
          </a:lstStyle>
          <a:p>
            <a:fld id="{90FC5283-F698-4B70-A5AB-FFCC0F08C4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718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slide" Target="../slides/slide1.xml"/><Relationship Id="rId4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91F4C645-ABDE-4C2B-8039-27118650AB20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222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814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8BEC97-7182-4C18-B0DF-EAF40FCBE660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8149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1285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8290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9805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82909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6629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54629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47602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814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8BEC97-7182-4C18-B0DF-EAF40FCBE660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8149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79355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814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8BEC97-7182-4C18-B0DF-EAF40FCBE660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8149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79355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82909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1039A5-F15E-4D53-A269-DEFDEEC1DEFA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82909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49811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2242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7467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.png"/><Relationship Id="rId5" Type="http://schemas.openxmlformats.org/officeDocument/2006/relationships/tags" Target="../tags/tag5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image" Target="../media/image2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image" Target="../media/image1.png"/><Relationship Id="rId5" Type="http://schemas.openxmlformats.org/officeDocument/2006/relationships/tags" Target="../tags/tag14.xml"/><Relationship Id="rId10" Type="http://schemas.openxmlformats.org/officeDocument/2006/relationships/slideMaster" Target="../slideMasters/slideMaster4.xml"/><Relationship Id="rId4" Type="http://schemas.openxmlformats.org/officeDocument/2006/relationships/tags" Target="../tags/tag13.xml"/><Relationship Id="rId9" Type="http://schemas.openxmlformats.org/officeDocument/2006/relationships/tags" Target="../tags/tag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228EC-2F95-A047-8B7A-FE7F93237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3FF48F-1342-6082-763C-656294B910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94953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5937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8258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269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575" y="1600201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48300" y="1600201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4224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340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5335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021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9033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620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81574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780337" y="274639"/>
            <a:ext cx="2414588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6575" y="274639"/>
            <a:ext cx="7078663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58A-1595-413E-AD89-BF302E68AF1D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3523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_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/>
          <p:cNvSpPr>
            <a:spLocks noGrp="1"/>
          </p:cNvSpPr>
          <p:nvPr>
            <p:ph idx="1"/>
          </p:nvPr>
        </p:nvSpPr>
        <p:spPr>
          <a:xfrm>
            <a:off x="273050" y="657511"/>
            <a:ext cx="9359900" cy="50323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134568" y="141836"/>
            <a:ext cx="184731" cy="392672"/>
          </a:xfr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 kumimoji="0" lang="ko-KR" altLang="en-US" sz="1800" b="1" kern="0" baseline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lvl="0" algn="l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7314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50752" y="1863716"/>
            <a:ext cx="7189342" cy="584775"/>
          </a:xfrm>
        </p:spPr>
        <p:txBody>
          <a:bodyPr wrap="square" anchor="t">
            <a:spAutoFit/>
          </a:bodyPr>
          <a:lstStyle>
            <a:lvl1pPr algn="l"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6" name="Text Box 2"/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gray">
          <a:xfrm>
            <a:off x="4442044" y="6660775"/>
            <a:ext cx="101501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9pPr>
          </a:lstStyle>
          <a:p>
            <a:pPr algn="dist" eaLnBrk="1" latinLnBrk="0" hangingPunct="1">
              <a:spcBef>
                <a:spcPct val="50000"/>
              </a:spcBef>
            </a:pPr>
            <a:r>
              <a:rPr lang="ko-KR" altLang="en-US" sz="800" b="1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800" b="0">
                <a:solidFill>
                  <a:srgbClr val="A50034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CONFIDENTIAL</a:t>
            </a:r>
            <a:r>
              <a:rPr lang="ko-KR" altLang="en-US" sz="800" b="1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800" b="1">
              <a:solidFill>
                <a:srgbClr val="A50034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23" name="내용 개체 틀 22"/>
          <p:cNvSpPr>
            <a:spLocks noGrp="1"/>
          </p:cNvSpPr>
          <p:nvPr>
            <p:ph sz="quarter" idx="11"/>
            <p:custDataLst>
              <p:tags r:id="rId3"/>
            </p:custDataLst>
          </p:nvPr>
        </p:nvSpPr>
        <p:spPr>
          <a:xfrm>
            <a:off x="1208089" y="2565400"/>
            <a:ext cx="6961187" cy="307777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400" smtClean="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+mj-cs"/>
              </a:defRPr>
            </a:lvl1pPr>
            <a:lvl2pPr marL="457181" indent="0">
              <a:buNone/>
              <a:defRPr lang="ko-KR" altLang="en-US" smtClean="0"/>
            </a:lvl2pPr>
            <a:lvl3pPr marL="914361" indent="0">
              <a:buNone/>
              <a:defRPr lang="ko-KR" altLang="en-US" smtClean="0"/>
            </a:lvl3pPr>
            <a:lvl4pPr marL="1371543" indent="0">
              <a:buNone/>
              <a:defRPr lang="ko-KR" altLang="en-US" smtClean="0"/>
            </a:lvl4pPr>
            <a:lvl5pPr marL="1828724" indent="0">
              <a:buNone/>
              <a:defRPr lang="ko-KR" altLang="en-US"/>
            </a:lvl5pPr>
          </a:lstStyle>
          <a:p>
            <a:pPr lvl="0">
              <a:spcBef>
                <a:spcPct val="0"/>
              </a:spcBef>
              <a:buNone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24" name="내용 개체 틀 22"/>
          <p:cNvSpPr>
            <a:spLocks noGrp="1"/>
          </p:cNvSpPr>
          <p:nvPr>
            <p:ph sz="quarter" idx="12"/>
            <p:custDataLst>
              <p:tags r:id="rId4"/>
            </p:custDataLst>
          </p:nvPr>
        </p:nvSpPr>
        <p:spPr>
          <a:xfrm>
            <a:off x="1208089" y="5176203"/>
            <a:ext cx="6960333" cy="307777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400" smtClean="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j-cs"/>
              </a:defRPr>
            </a:lvl1pPr>
            <a:lvl2pPr marL="457181" indent="0">
              <a:buNone/>
              <a:defRPr lang="ko-KR" altLang="en-US" smtClean="0"/>
            </a:lvl2pPr>
            <a:lvl3pPr marL="914361" indent="0">
              <a:buNone/>
              <a:defRPr lang="ko-KR" altLang="en-US" smtClean="0"/>
            </a:lvl3pPr>
            <a:lvl4pPr marL="1371543" indent="0">
              <a:buNone/>
              <a:defRPr lang="ko-KR" altLang="en-US" smtClean="0"/>
            </a:lvl4pPr>
            <a:lvl5pPr marL="1828724" indent="0">
              <a:buNone/>
              <a:defRPr lang="ko-KR" altLang="en-US"/>
            </a:lvl5pPr>
          </a:lstStyle>
          <a:p>
            <a:pPr lvl="0">
              <a:spcBef>
                <a:spcPct val="0"/>
              </a:spcBef>
              <a:buNone/>
            </a:pPr>
            <a:r>
              <a:rPr lang="ko-KR" altLang="en-US"/>
              <a:t>마스터 텍스트 스타일을 편집합니다</a:t>
            </a:r>
          </a:p>
        </p:txBody>
      </p:sp>
      <p:grpSp>
        <p:nvGrpSpPr>
          <p:cNvPr id="12" name="그룹 11"/>
          <p:cNvGrpSpPr/>
          <p:nvPr userDrawn="1">
            <p:custDataLst>
              <p:tags r:id="rId5"/>
            </p:custDataLst>
          </p:nvPr>
        </p:nvGrpSpPr>
        <p:grpSpPr>
          <a:xfrm>
            <a:off x="200025" y="188914"/>
            <a:ext cx="9505950" cy="6480175"/>
            <a:chOff x="200025" y="188913"/>
            <a:chExt cx="9505950" cy="6480175"/>
          </a:xfrm>
        </p:grpSpPr>
        <p:sp>
          <p:nvSpPr>
            <p:cNvPr id="17" name="직사각형 16"/>
            <p:cNvSpPr/>
            <p:nvPr>
              <p:custDataLst>
                <p:tags r:id="rId7"/>
              </p:custDataLst>
            </p:nvPr>
          </p:nvSpPr>
          <p:spPr>
            <a:xfrm>
              <a:off x="200025" y="188913"/>
              <a:ext cx="9505950" cy="6480175"/>
            </a:xfrm>
            <a:prstGeom prst="rect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9" tIns="45715" rIns="91429" bIns="45715" rtlCol="0" anchor="ctr"/>
            <a:lstStyle/>
            <a:p>
              <a:pPr algn="ctr"/>
              <a:endParaRPr lang="ko-KR" altLang="en-US" sz="1800"/>
            </a:p>
          </p:txBody>
        </p:sp>
        <p:pic>
          <p:nvPicPr>
            <p:cNvPr id="18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 userDrawn="1">
              <p:custDataLst>
                <p:tags r:id="rId8"/>
              </p:custDataLst>
            </p:nvPr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574" b="66436"/>
            <a:stretch>
              <a:fillRect/>
            </a:stretch>
          </p:blipFill>
          <p:spPr bwMode="auto">
            <a:xfrm>
              <a:off x="200025" y="188913"/>
              <a:ext cx="735289" cy="21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 userDrawn="1">
              <p:custDataLst>
                <p:tags r:id="rId9"/>
              </p:custDataLst>
            </p:nvPr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355" t="77614"/>
            <a:stretch>
              <a:fillRect/>
            </a:stretch>
          </p:blipFill>
          <p:spPr bwMode="auto">
            <a:xfrm>
              <a:off x="8249308" y="5229088"/>
              <a:ext cx="1456667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 useBgFill="1">
        <p:nvSpPr>
          <p:cNvPr id="3" name="직사각형 2"/>
          <p:cNvSpPr/>
          <p:nvPr userDrawn="1">
            <p:custDataLst>
              <p:tags r:id="rId6"/>
            </p:custDataLst>
          </p:nvPr>
        </p:nvSpPr>
        <p:spPr>
          <a:xfrm>
            <a:off x="9273481" y="6677891"/>
            <a:ext cx="632519" cy="162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364471369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041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bg>
      <p:bgPr>
        <a:solidFill>
          <a:srgbClr val="4BBD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49648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A075C7E8-4B71-0F55-EA89-51AE69A8647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0" t="5694" r="659" b="1036"/>
          <a:stretch/>
        </p:blipFill>
        <p:spPr>
          <a:xfrm>
            <a:off x="-1" y="6502400"/>
            <a:ext cx="9906001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0244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96140" y="158233"/>
            <a:ext cx="4320000" cy="294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ko-KR" altLang="en-US" sz="1463" kern="1200" dirty="0">
                <a:solidFill>
                  <a:schemeClr val="tx1"/>
                </a:solidFill>
                <a:latin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ko-KR" altLang="en-US" err="1"/>
              <a:t>주제목</a:t>
            </a:r>
            <a:r>
              <a:rPr lang="ko-KR" altLang="en-US"/>
              <a:t> </a:t>
            </a:r>
            <a:r>
              <a:rPr lang="en-US" altLang="ko-KR"/>
              <a:t>: LG</a:t>
            </a:r>
            <a:r>
              <a:rPr lang="ko-KR" altLang="en-US" err="1"/>
              <a:t>스마트체</a:t>
            </a:r>
            <a:r>
              <a:rPr lang="ko-KR" altLang="en-US"/>
              <a:t> </a:t>
            </a:r>
            <a:r>
              <a:rPr lang="en-US" altLang="ko-KR"/>
              <a:t>Regular,</a:t>
            </a:r>
            <a:r>
              <a:rPr lang="ko-KR" altLang="en-US"/>
              <a:t>굵게</a:t>
            </a:r>
            <a:r>
              <a:rPr lang="en-US" altLang="ko-KR"/>
              <a:t>,18 pt </a:t>
            </a:r>
            <a:endParaRPr lang="ko-KR" altLang="en-US"/>
          </a:p>
        </p:txBody>
      </p:sp>
      <p:sp>
        <p:nvSpPr>
          <p:cNvPr id="6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13055" y="746443"/>
            <a:ext cx="9074150" cy="634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 anchorCtr="0">
            <a:noAutofit/>
          </a:bodyPr>
          <a:lstStyle>
            <a:lvl1pPr>
              <a:defRPr lang="en-US" altLang="ko-KR" sz="1138" kern="1200" dirty="0" smtClean="0">
                <a:solidFill>
                  <a:srgbClr val="000000"/>
                </a:solidFill>
                <a:latin typeface="LG스마트체 Regular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0"/>
              </a:spcBef>
              <a:buClr>
                <a:srgbClr val="CC0066"/>
              </a:buClr>
              <a:tabLst>
                <a:tab pos="2892173" algn="l"/>
              </a:tabLst>
            </a:pPr>
            <a:r>
              <a:rPr lang="en-US" altLang="ko-KR"/>
              <a:t>[ Head Message : LG</a:t>
            </a:r>
            <a:r>
              <a:rPr lang="ko-KR" altLang="en-US" err="1"/>
              <a:t>스마트체</a:t>
            </a:r>
            <a:r>
              <a:rPr lang="ko-KR" altLang="en-US"/>
              <a:t> </a:t>
            </a:r>
            <a:r>
              <a:rPr lang="en-US" altLang="ko-KR"/>
              <a:t>Regular, </a:t>
            </a:r>
            <a:r>
              <a:rPr lang="ko-KR" altLang="en-US"/>
              <a:t>굵게</a:t>
            </a:r>
            <a:r>
              <a:rPr lang="en-US" altLang="ko-KR"/>
              <a:t>, Size 14 ]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CF92A8-05A9-41EB-84CC-61F1A33CFF85}"/>
              </a:ext>
            </a:extLst>
          </p:cNvPr>
          <p:cNvSpPr txBox="1"/>
          <p:nvPr userDrawn="1"/>
        </p:nvSpPr>
        <p:spPr>
          <a:xfrm>
            <a:off x="34252" y="6618456"/>
            <a:ext cx="557606" cy="194686"/>
          </a:xfrm>
          <a:prstGeom prst="rect">
            <a:avLst/>
          </a:prstGeom>
          <a:noFill/>
          <a:ln w="28575">
            <a:noFill/>
          </a:ln>
        </p:spPr>
        <p:txBody>
          <a:bodyPr wrap="none" lIns="29250" tIns="29250" rIns="29250" bIns="29250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488"/>
              </a:spcAft>
            </a:pPr>
            <a:r>
              <a:rPr lang="en-US" altLang="ko-KR" sz="813" b="1">
                <a:solidFill>
                  <a:schemeClr val="tx1"/>
                </a:solidFill>
                <a:latin typeface="Arial Narrow" panose="020B0606020202030204" pitchFamily="34" charset="0"/>
                <a:ea typeface="LG스마트체 Light" panose="020B0600000101010101" pitchFamily="50" charset="-127"/>
              </a:rPr>
              <a:t>Confidential</a:t>
            </a:r>
            <a:endParaRPr lang="ko-KR" altLang="en-US" sz="813" b="1">
              <a:solidFill>
                <a:schemeClr val="tx1"/>
              </a:solidFill>
              <a:latin typeface="Arial Narrow" panose="020B0606020202030204" pitchFamily="34" charset="0"/>
              <a:ea typeface="LG스마트체 Light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A5CA816-C9C2-4F1C-BC7D-6CFD4323F2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0680" y="6631409"/>
            <a:ext cx="2215111" cy="184170"/>
          </a:xfrm>
          <a:prstGeom prst="rect">
            <a:avLst/>
          </a:prstGeom>
          <a:noFill/>
          <a:ln w="12700" algn="ctr">
            <a:noFill/>
            <a:round/>
            <a:headEnd/>
            <a:tailEnd/>
          </a:ln>
        </p:spPr>
        <p:txBody>
          <a:bodyPr wrap="none" lIns="29250" tIns="29250" rIns="29250" bIns="29250">
            <a:spAutoFit/>
          </a:bodyPr>
          <a:lstStyle/>
          <a:p>
            <a:pPr algn="l" rtl="0" fontAlgn="base">
              <a:spcBef>
                <a:spcPts val="0"/>
              </a:spcBef>
              <a:spcAft>
                <a:spcPts val="0"/>
              </a:spcAft>
            </a:pPr>
            <a:r>
              <a:rPr kumimoji="1" lang="ko-KR" altLang="en-US" sz="813" b="1" kern="1200">
                <a:solidFill>
                  <a:schemeClr val="tx1"/>
                </a:solidFill>
                <a:latin typeface="Arial Narrow" panose="020B0606020202030204" pitchFamily="34" charset="0"/>
                <a:ea typeface="LG스마트체 Light" panose="020B0600000101010101" pitchFamily="50" charset="-127"/>
                <a:cs typeface="Arial" panose="020B0604020202020204" pitchFamily="34" charset="0"/>
              </a:rPr>
              <a:t>Ⓒ</a:t>
            </a:r>
            <a:r>
              <a:rPr kumimoji="1" lang="en-US" altLang="ko-KR" sz="813" b="1" kern="1200">
                <a:solidFill>
                  <a:schemeClr val="tx1"/>
                </a:solidFill>
                <a:latin typeface="Arial Narrow" panose="020B0606020202030204" pitchFamily="34" charset="0"/>
                <a:ea typeface="LG스마트체 Light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813" b="1">
                <a:latin typeface="Arial Narrow" panose="020B0606020202030204" pitchFamily="34" charset="0"/>
                <a:ea typeface="LG스마트체 Light" panose="020B0600000101010101" pitchFamily="50" charset="-127"/>
                <a:cs typeface="Arial" panose="020B0604020202020204" pitchFamily="34" charset="0"/>
              </a:rPr>
              <a:t>2022 LG Energy Solution, Ltd. </a:t>
            </a:r>
            <a:r>
              <a:rPr kumimoji="1" lang="en-US" altLang="ko-KR" sz="813" b="1" kern="1200">
                <a:solidFill>
                  <a:schemeClr val="tx1"/>
                </a:solidFill>
                <a:latin typeface="Arial Narrow" panose="020B0606020202030204" pitchFamily="34" charset="0"/>
                <a:ea typeface="LG스마트체 Light" panose="020B0600000101010101" pitchFamily="50" charset="-127"/>
                <a:cs typeface="Arial" panose="020B0604020202020204" pitchFamily="34" charset="0"/>
              </a:rPr>
              <a:t>All rights reserved.</a:t>
            </a:r>
            <a:endParaRPr kumimoji="1" lang="ko-KR" altLang="ko-KR" sz="813" b="1" kern="1200">
              <a:solidFill>
                <a:schemeClr val="tx1"/>
              </a:solidFill>
              <a:latin typeface="Arial Narrow" panose="020B0606020202030204" pitchFamily="34" charset="0"/>
              <a:ea typeface="LG스마트체 Light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013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6BAB2-A69D-4033-B2FE-2199B4E170F0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50A2C-132B-4EBE-B941-A15BA3EF41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71047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운영시나리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98445" y="126934"/>
            <a:ext cx="3922267" cy="276999"/>
          </a:xfrm>
        </p:spPr>
        <p:txBody>
          <a:bodyPr/>
          <a:lstStyle>
            <a:lvl1pPr>
              <a:defRPr kumimoji="1" lang="ko-KR" altLang="en-US" b="1" baseline="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j-cs"/>
              </a:defRPr>
            </a:lvl1pPr>
          </a:lstStyle>
          <a:p>
            <a:pPr lvl="0" algn="l" defTabSz="957223" rtl="0" eaLnBrk="0" fontAlgn="base" latinLnBrk="1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/>
              <a:t>마스터 제목 스타일 편집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556956" y="6547624"/>
            <a:ext cx="1103611" cy="301756"/>
          </a:xfrm>
          <a:prstGeom prst="rect">
            <a:avLst/>
          </a:prstGeom>
        </p:spPr>
        <p:txBody>
          <a:bodyPr anchor="ctr"/>
          <a:lstStyle>
            <a:lvl1pPr algn="ctr">
              <a:defRPr sz="1050" baseline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362048-7B1C-4B55-8A37-79D9EC7A1060}" type="slidenum">
              <a:rPr kumimoji="0" lang="ko-KR" altLang="en-US" sz="105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6</a:t>
            </a: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51011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015B-570A-42C4-B0E5-495D3CEB7DF7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8020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015B-570A-42C4-B0E5-495D3CEB7DF7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6363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015B-570A-42C4-B0E5-495D3CEB7DF7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16638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015B-570A-42C4-B0E5-495D3CEB7DF7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69886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015B-570A-42C4-B0E5-495D3CEB7DF7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9889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015B-570A-42C4-B0E5-495D3CEB7DF7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1362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015B-570A-42C4-B0E5-495D3CEB7DF7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0379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015B-570A-42C4-B0E5-495D3CEB7DF7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2548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015B-570A-42C4-B0E5-495D3CEB7DF7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8935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015B-570A-42C4-B0E5-495D3CEB7DF7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1100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015B-570A-42C4-B0E5-495D3CEB7DF7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3146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운영시나리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98445" y="126934"/>
            <a:ext cx="3922267" cy="276999"/>
          </a:xfrm>
        </p:spPr>
        <p:txBody>
          <a:bodyPr/>
          <a:lstStyle>
            <a:lvl1pPr>
              <a:defRPr kumimoji="1" lang="ko-KR" altLang="en-US" b="1" baseline="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+mj-cs"/>
              </a:defRPr>
            </a:lvl1pPr>
          </a:lstStyle>
          <a:p>
            <a:pPr lvl="0" algn="l" defTabSz="957223" rtl="0" eaLnBrk="0" fontAlgn="base" latinLnBrk="1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/>
              <a:t>마스터 제목 스타일 편집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556956" y="6547624"/>
            <a:ext cx="1103611" cy="301756"/>
          </a:xfrm>
          <a:prstGeom prst="rect">
            <a:avLst/>
          </a:prstGeom>
        </p:spPr>
        <p:txBody>
          <a:bodyPr anchor="ctr"/>
          <a:lstStyle>
            <a:lvl1pPr algn="ctr">
              <a:defRPr sz="1050" baseline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362048-7B1C-4B55-8A37-79D9EC7A1060}" type="slidenum">
              <a:rPr kumimoji="0" lang="ko-KR" altLang="en-US" sz="105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6</a:t>
            </a: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49232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892616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74082" y="6650481"/>
            <a:ext cx="703454" cy="2154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defRPr>
            </a:lvl1pPr>
          </a:lstStyle>
          <a:p>
            <a:fld id="{F2334CB4-850D-45D0-A107-7A1684607371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p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874627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783013" y="6356352"/>
            <a:ext cx="2228850" cy="365125"/>
          </a:xfrm>
        </p:spPr>
        <p:txBody>
          <a:bodyPr/>
          <a:lstStyle>
            <a:lvl1pPr algn="ctr">
              <a:defRPr/>
            </a:lvl1pPr>
          </a:lstStyle>
          <a:p>
            <a:fld id="{CCA55350-D3D9-4460-888F-3541010D2F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8462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868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18714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50752" y="1863716"/>
            <a:ext cx="7189342" cy="584775"/>
          </a:xfrm>
        </p:spPr>
        <p:txBody>
          <a:bodyPr wrap="square" anchor="t">
            <a:spAutoFit/>
          </a:bodyPr>
          <a:lstStyle>
            <a:lvl1pPr algn="l"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6" name="Text Box 2"/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gray">
          <a:xfrm>
            <a:off x="4442044" y="6660775"/>
            <a:ext cx="101501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/>
              <a:defRPr kumimoji="1" sz="1200" b="1">
                <a:solidFill>
                  <a:schemeClr val="tx1"/>
                </a:solidFill>
                <a:latin typeface="Arial"/>
                <a:ea typeface="맑은 고딕" pitchFamily="50" charset="-127"/>
              </a:defRPr>
            </a:lvl9pPr>
          </a:lstStyle>
          <a:p>
            <a:pPr algn="dist" eaLnBrk="1" latinLnBrk="0" hangingPunct="1">
              <a:spcBef>
                <a:spcPct val="50000"/>
              </a:spcBef>
            </a:pPr>
            <a:r>
              <a:rPr lang="ko-KR" altLang="en-US" sz="800" b="1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r>
              <a:rPr lang="en-US" altLang="ko-KR" sz="800" b="0">
                <a:solidFill>
                  <a:srgbClr val="A50034"/>
                </a:solidFill>
                <a:latin typeface="LG스마트체2.0 Bold" panose="020B0600000101010101" pitchFamily="50" charset="-127"/>
                <a:ea typeface="LG스마트체2.0 Bold" panose="020B0600000101010101" pitchFamily="50" charset="-127"/>
              </a:rPr>
              <a:t>CONFIDENTIAL</a:t>
            </a:r>
            <a:r>
              <a:rPr lang="ko-KR" altLang="en-US" sz="800" b="1">
                <a:solidFill>
                  <a:srgbClr val="A50034"/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</a:rPr>
              <a:t>｜</a:t>
            </a:r>
            <a:endParaRPr lang="en-US" altLang="ko-KR" sz="800" b="1">
              <a:solidFill>
                <a:srgbClr val="A50034"/>
              </a:solidFill>
              <a:latin typeface="LG스마트체2.0 SemiBold" panose="020B0600000101010101" pitchFamily="50" charset="-127"/>
              <a:ea typeface="LG스마트체2.0 SemiBold" panose="020B0600000101010101" pitchFamily="50" charset="-127"/>
            </a:endParaRPr>
          </a:p>
        </p:txBody>
      </p:sp>
      <p:sp>
        <p:nvSpPr>
          <p:cNvPr id="23" name="내용 개체 틀 22"/>
          <p:cNvSpPr>
            <a:spLocks noGrp="1"/>
          </p:cNvSpPr>
          <p:nvPr>
            <p:ph sz="quarter" idx="11"/>
            <p:custDataLst>
              <p:tags r:id="rId3"/>
            </p:custDataLst>
          </p:nvPr>
        </p:nvSpPr>
        <p:spPr>
          <a:xfrm>
            <a:off x="1208089" y="2565400"/>
            <a:ext cx="6961187" cy="307777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400" smtClean="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SemiBold" panose="020B0600000101010101" pitchFamily="50" charset="-127"/>
                <a:ea typeface="LG스마트체2.0 SemiBold" panose="020B0600000101010101" pitchFamily="50" charset="-127"/>
                <a:cs typeface="+mj-cs"/>
              </a:defRPr>
            </a:lvl1pPr>
            <a:lvl2pPr marL="457181" indent="0">
              <a:buNone/>
              <a:defRPr lang="ko-KR" altLang="en-US" smtClean="0"/>
            </a:lvl2pPr>
            <a:lvl3pPr marL="914361" indent="0">
              <a:buNone/>
              <a:defRPr lang="ko-KR" altLang="en-US" smtClean="0"/>
            </a:lvl3pPr>
            <a:lvl4pPr marL="1371543" indent="0">
              <a:buNone/>
              <a:defRPr lang="ko-KR" altLang="en-US" smtClean="0"/>
            </a:lvl4pPr>
            <a:lvl5pPr marL="1828724" indent="0">
              <a:buNone/>
              <a:defRPr lang="ko-KR" altLang="en-US"/>
            </a:lvl5pPr>
          </a:lstStyle>
          <a:p>
            <a:pPr lvl="0">
              <a:spcBef>
                <a:spcPct val="0"/>
              </a:spcBef>
              <a:buNone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24" name="내용 개체 틀 22"/>
          <p:cNvSpPr>
            <a:spLocks noGrp="1"/>
          </p:cNvSpPr>
          <p:nvPr>
            <p:ph sz="quarter" idx="12"/>
            <p:custDataLst>
              <p:tags r:id="rId4"/>
            </p:custDataLst>
          </p:nvPr>
        </p:nvSpPr>
        <p:spPr>
          <a:xfrm>
            <a:off x="1208089" y="5176203"/>
            <a:ext cx="6960333" cy="307777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ko-KR" altLang="en-US" sz="1400" smtClean="0">
                <a:solidFill>
                  <a:schemeClr val="tx1">
                    <a:lumMod val="65000"/>
                    <a:lumOff val="35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j-cs"/>
              </a:defRPr>
            </a:lvl1pPr>
            <a:lvl2pPr marL="457181" indent="0">
              <a:buNone/>
              <a:defRPr lang="ko-KR" altLang="en-US" smtClean="0"/>
            </a:lvl2pPr>
            <a:lvl3pPr marL="914361" indent="0">
              <a:buNone/>
              <a:defRPr lang="ko-KR" altLang="en-US" smtClean="0"/>
            </a:lvl3pPr>
            <a:lvl4pPr marL="1371543" indent="0">
              <a:buNone/>
              <a:defRPr lang="ko-KR" altLang="en-US" smtClean="0"/>
            </a:lvl4pPr>
            <a:lvl5pPr marL="1828724" indent="0">
              <a:buNone/>
              <a:defRPr lang="ko-KR" altLang="en-US"/>
            </a:lvl5pPr>
          </a:lstStyle>
          <a:p>
            <a:pPr lvl="0">
              <a:spcBef>
                <a:spcPct val="0"/>
              </a:spcBef>
              <a:buNone/>
            </a:pPr>
            <a:r>
              <a:rPr lang="ko-KR" altLang="en-US"/>
              <a:t>마스터 텍스트 스타일을 편집합니다</a:t>
            </a:r>
          </a:p>
        </p:txBody>
      </p:sp>
      <p:grpSp>
        <p:nvGrpSpPr>
          <p:cNvPr id="12" name="그룹 11"/>
          <p:cNvGrpSpPr/>
          <p:nvPr userDrawn="1">
            <p:custDataLst>
              <p:tags r:id="rId5"/>
            </p:custDataLst>
          </p:nvPr>
        </p:nvGrpSpPr>
        <p:grpSpPr>
          <a:xfrm>
            <a:off x="200025" y="188914"/>
            <a:ext cx="9505950" cy="6480175"/>
            <a:chOff x="200025" y="188913"/>
            <a:chExt cx="9505950" cy="6480175"/>
          </a:xfrm>
        </p:grpSpPr>
        <p:sp>
          <p:nvSpPr>
            <p:cNvPr id="17" name="직사각형 16"/>
            <p:cNvSpPr/>
            <p:nvPr>
              <p:custDataLst>
                <p:tags r:id="rId7"/>
              </p:custDataLst>
            </p:nvPr>
          </p:nvSpPr>
          <p:spPr>
            <a:xfrm>
              <a:off x="200025" y="188913"/>
              <a:ext cx="9505950" cy="6480175"/>
            </a:xfrm>
            <a:prstGeom prst="rect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9" tIns="45715" rIns="91429" bIns="45715" rtlCol="0" anchor="ctr"/>
            <a:lstStyle/>
            <a:p>
              <a:pPr algn="ctr"/>
              <a:endParaRPr lang="ko-KR" altLang="en-US" sz="1800"/>
            </a:p>
          </p:txBody>
        </p:sp>
        <p:pic>
          <p:nvPicPr>
            <p:cNvPr id="18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 userDrawn="1">
              <p:custDataLst>
                <p:tags r:id="rId8"/>
              </p:custDataLst>
            </p:nvPr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574" b="66436"/>
            <a:stretch>
              <a:fillRect/>
            </a:stretch>
          </p:blipFill>
          <p:spPr bwMode="auto">
            <a:xfrm>
              <a:off x="200025" y="188913"/>
              <a:ext cx="735289" cy="21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 userDrawn="1">
              <p:custDataLst>
                <p:tags r:id="rId9"/>
              </p:custDataLst>
            </p:nvPr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355" t="77614"/>
            <a:stretch>
              <a:fillRect/>
            </a:stretch>
          </p:blipFill>
          <p:spPr bwMode="auto">
            <a:xfrm>
              <a:off x="8249308" y="5229088"/>
              <a:ext cx="1456667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 useBgFill="1">
        <p:nvSpPr>
          <p:cNvPr id="3" name="직사각형 2"/>
          <p:cNvSpPr/>
          <p:nvPr userDrawn="1">
            <p:custDataLst>
              <p:tags r:id="rId6"/>
            </p:custDataLst>
          </p:nvPr>
        </p:nvSpPr>
        <p:spPr>
          <a:xfrm>
            <a:off x="9273481" y="6677891"/>
            <a:ext cx="632519" cy="162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2556233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19" Type="http://schemas.openxmlformats.org/officeDocument/2006/relationships/theme" Target="../theme/theme4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652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145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29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433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578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39825" indent="-225425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  <a:ea typeface="+mn-ea"/>
        </a:defRPr>
      </a:lvl3pPr>
      <a:lvl4pPr marL="1598613" indent="-225425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4225" indent="-225425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294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439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584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5727" indent="-228572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5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0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3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8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22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67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11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55" algn="l" defTabSz="914290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58558A-1595-413E-AD89-BF302E68AF1D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EA4B7A-B6C7-41E7-96ED-542947DBDB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713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4" r:id="rId12"/>
    <p:sldLayoutId id="2147483821" r:id="rId1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858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1015B-570A-42C4-B0E5-495D3CEB7DF7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8F3B6F-C2B5-492A-B01E-8DA260DCB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239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47" r:id="rId10"/>
    <p:sldLayoutId id="2147483848" r:id="rId11"/>
    <p:sldLayoutId id="2147483849" r:id="rId12"/>
    <p:sldLayoutId id="2147483850" r:id="rId13"/>
    <p:sldLayoutId id="2147483851" r:id="rId14"/>
    <p:sldLayoutId id="2147483852" r:id="rId15"/>
    <p:sldLayoutId id="2147483853" r:id="rId16"/>
    <p:sldLayoutId id="2147483854" r:id="rId17"/>
    <p:sldLayoutId id="2147483855" r:id="rId18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image" Target="../media/image5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image" Target="../media/image2.png"/><Relationship Id="rId5" Type="http://schemas.openxmlformats.org/officeDocument/2006/relationships/tags" Target="../tags/tag23.xml"/><Relationship Id="rId10" Type="http://schemas.openxmlformats.org/officeDocument/2006/relationships/image" Target="../media/image4.png"/><Relationship Id="rId4" Type="http://schemas.openxmlformats.org/officeDocument/2006/relationships/tags" Target="../tags/tag22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slide" Target="slide7.xml"/><Relationship Id="rId4" Type="http://schemas.openxmlformats.org/officeDocument/2006/relationships/slide" Target="slide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slide" Target="slide19.xml"/><Relationship Id="rId5" Type="http://schemas.openxmlformats.org/officeDocument/2006/relationships/slide" Target="slide18.xml"/><Relationship Id="rId4" Type="http://schemas.openxmlformats.org/officeDocument/2006/relationships/slide" Target="slide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slide" Target="slide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4.xml"/><Relationship Id="rId4" Type="http://schemas.openxmlformats.org/officeDocument/2006/relationships/slide" Target="slide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slide" Target="slide10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3.emf"/><Relationship Id="rId5" Type="http://schemas.openxmlformats.org/officeDocument/2006/relationships/package" Target="../embeddings/Microsoft_PowerPoint_Presentation.pptx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15.png"/><Relationship Id="rId7" Type="http://schemas.openxmlformats.org/officeDocument/2006/relationships/slide" Target="slide4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slide" Target="slide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slide" Target="slide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9.xml"/><Relationship Id="rId4" Type="http://schemas.openxmlformats.org/officeDocument/2006/relationships/slide" Target="slide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9.xml"/><Relationship Id="rId5" Type="http://schemas.openxmlformats.org/officeDocument/2006/relationships/slide" Target="slide4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>
            <p:custDataLst>
              <p:tags r:id="rId1"/>
            </p:custDataLst>
          </p:nvPr>
        </p:nvGrpSpPr>
        <p:grpSpPr>
          <a:xfrm>
            <a:off x="200025" y="188913"/>
            <a:ext cx="9505950" cy="6480175"/>
            <a:chOff x="200025" y="188913"/>
            <a:chExt cx="9505950" cy="6480175"/>
          </a:xfrm>
        </p:grpSpPr>
        <p:sp>
          <p:nvSpPr>
            <p:cNvPr id="9" name="직사각형 8"/>
            <p:cNvSpPr/>
            <p:nvPr>
              <p:custDataLst>
                <p:tags r:id="rId5"/>
              </p:custDataLst>
            </p:nvPr>
          </p:nvSpPr>
          <p:spPr>
            <a:xfrm>
              <a:off x="200025" y="188913"/>
              <a:ext cx="9505950" cy="6480175"/>
            </a:xfrm>
            <a:prstGeom prst="rect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9" tIns="45715" rIns="91429" bIns="45715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itchFamily="50" charset="-127"/>
                <a:cs typeface="+mn-cs"/>
              </a:endParaRPr>
            </a:p>
          </p:txBody>
        </p:sp>
        <p:pic>
          <p:nvPicPr>
            <p:cNvPr id="10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>
              <p:custDataLst>
                <p:tags r:id="rId6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574" b="66436"/>
            <a:stretch>
              <a:fillRect/>
            </a:stretch>
          </p:blipFill>
          <p:spPr bwMode="auto">
            <a:xfrm>
              <a:off x="200025" y="188913"/>
              <a:ext cx="0" cy="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2" descr="C:\ECM\TEMP\부서함\Brand담당\20년 연간업무계획\디지털 그래픽 모티브 개발★\★1st Manual Official Release\Graphic Asset_v1.0\1. Main motif - Solid color\png\Main_motif-LG_red_solid.png"/>
            <p:cNvPicPr>
              <a:picLocks noChangeAspect="1" noChangeArrowheads="1"/>
            </p:cNvPicPr>
            <p:nvPr>
              <p:custDataLst>
                <p:tags r:id="rId7"/>
              </p:custDataLst>
            </p:nvPr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355" t="77614"/>
            <a:stretch>
              <a:fillRect/>
            </a:stretch>
          </p:blipFill>
          <p:spPr bwMode="auto">
            <a:xfrm>
              <a:off x="8249308" y="5229088"/>
              <a:ext cx="1456667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제목 3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071375" y="1772997"/>
            <a:ext cx="6377662" cy="707886"/>
          </a:xfrm>
        </p:spPr>
        <p:txBody>
          <a:bodyPr/>
          <a:lstStyle/>
          <a:p>
            <a:r>
              <a:rPr lang="en-US" altLang="ko-KR" sz="4000" b="1">
                <a:latin typeface="Arial Narrow" panose="020B0606020202030204" pitchFamily="34" charset="0"/>
              </a:rPr>
              <a:t>FDC DX</a:t>
            </a:r>
            <a:r>
              <a:rPr lang="ko-KR" altLang="en-US" sz="4000" b="1">
                <a:latin typeface="Arial Narrow" panose="020B0606020202030204" pitchFamily="34" charset="0"/>
              </a:rPr>
              <a:t>담당</a:t>
            </a:r>
            <a:r>
              <a:rPr lang="en-US" altLang="ko-KR" sz="4000" b="1">
                <a:latin typeface="Arial Narrow" panose="020B0606020202030204" pitchFamily="34" charset="0"/>
              </a:rPr>
              <a:t> 9</a:t>
            </a:r>
            <a:r>
              <a:rPr lang="ko-KR" altLang="en-US" sz="4000" b="1">
                <a:latin typeface="Arial Narrow" panose="020B0606020202030204" pitchFamily="34" charset="0"/>
              </a:rPr>
              <a:t>월 업무 보고</a:t>
            </a:r>
          </a:p>
        </p:txBody>
      </p:sp>
      <p:sp>
        <p:nvSpPr>
          <p:cNvPr id="15" name="내용 개체 틀 14"/>
          <p:cNvSpPr>
            <a:spLocks noGrp="1"/>
          </p:cNvSpPr>
          <p:nvPr>
            <p:ph sz="quarter" idx="12"/>
            <p:custDataLst>
              <p:tags r:id="rId3"/>
            </p:custDataLst>
          </p:nvPr>
        </p:nvSpPr>
        <p:spPr>
          <a:xfrm>
            <a:off x="1149513" y="5076306"/>
            <a:ext cx="2789728" cy="338554"/>
          </a:xfrm>
        </p:spPr>
        <p:txBody>
          <a:bodyPr wrap="square">
            <a:spAutoFit/>
          </a:bodyPr>
          <a:lstStyle/>
          <a:p>
            <a:pPr marL="0" lvl="0" indent="0">
              <a:spcBef>
                <a:spcPct val="0"/>
              </a:spcBef>
              <a:buNone/>
            </a:pPr>
            <a:r>
              <a:rPr lang="en-US" altLang="ko-KR" sz="1600" b="1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  <a:cs typeface="+mn-cs"/>
              </a:rPr>
              <a:t>| </a:t>
            </a:r>
            <a:r>
              <a:rPr lang="en-GB" altLang="ko-KR" sz="1600" b="1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2.0 SemiBold" panose="020B0600000101010101" pitchFamily="50" charset="-127"/>
                <a:cs typeface="+mn-cs"/>
              </a:rPr>
              <a:t>2026. 09. 08</a:t>
            </a:r>
          </a:p>
        </p:txBody>
      </p:sp>
      <p:sp>
        <p:nvSpPr>
          <p:cNvPr id="20" name="Rectangle 2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227168" y="3291253"/>
            <a:ext cx="6750168" cy="1017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kumimoji="1" sz="1200" b="1">
                <a:solidFill>
                  <a:schemeClr val="tx1"/>
                </a:solidFill>
                <a:latin typeface="Arial"/>
                <a:ea typeface="돋움" pitchFamily="50" charset="-127"/>
              </a:defRPr>
            </a:lvl9pPr>
          </a:lstStyle>
          <a:p>
            <a:pPr marL="176213" indent="-176213" eaLnBrk="1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AutoNum type="arabicPeriod"/>
            </a:pP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  <a:sym typeface="Arial"/>
              </a:rPr>
              <a:t>Summary</a:t>
            </a:r>
          </a:p>
          <a:p>
            <a:pPr marL="176213" indent="-176213" eaLnBrk="1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AutoNum type="arabicPeriod"/>
            </a:pP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  <a:sym typeface="Wingdings" panose="05000000000000000000" pitchFamily="2" charset="2"/>
              </a:rPr>
              <a:t>KPI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  <a:sym typeface="Wingdings" panose="05000000000000000000" pitchFamily="2" charset="2"/>
              </a:rPr>
              <a:t>진척 현황</a:t>
            </a:r>
            <a:endParaRPr lang="en-US" altLang="ko-KR" sz="1600">
              <a:solidFill>
                <a:schemeClr val="tx1">
                  <a:lumMod val="65000"/>
                  <a:lumOff val="3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j-cs"/>
              <a:sym typeface="Wingdings" panose="05000000000000000000" pitchFamily="2" charset="2"/>
            </a:endParaRPr>
          </a:p>
          <a:p>
            <a:pPr marL="176213" indent="-176213" eaLnBrk="1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AutoNum type="arabicPeriod"/>
            </a:pP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  <a:sym typeface="Wingdings" panose="05000000000000000000" pitchFamily="2" charset="2"/>
              </a:rPr>
              <a:t>월별 진척사항</a:t>
            </a:r>
            <a:r>
              <a:rPr lang="en-US" altLang="ko-KR" sz="16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  <a:sym typeface="Arial"/>
              </a:rPr>
              <a:t> </a:t>
            </a:r>
            <a:r>
              <a:rPr lang="ko-KR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  <a:sym typeface="Arial"/>
              </a:rPr>
              <a:t>및 특이사항 </a:t>
            </a:r>
            <a:endParaRPr lang="en-US" altLang="ko-KR" sz="1600">
              <a:solidFill>
                <a:schemeClr val="tx1">
                  <a:lumMod val="65000"/>
                  <a:lumOff val="3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+mj-cs"/>
              <a:sym typeface="Wingdings" panose="05000000000000000000" pitchFamily="2" charset="2"/>
            </a:endParaRPr>
          </a:p>
        </p:txBody>
      </p:sp>
      <p:pic>
        <p:nvPicPr>
          <p:cNvPr id="18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3FDADC5C-3F1A-46B6-BB86-18E819CFA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4151" y="5156524"/>
            <a:ext cx="839468" cy="368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306961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052B934D-4907-3DEB-309F-3688E1D57F10}"/>
              </a:ext>
            </a:extLst>
          </p:cNvPr>
          <p:cNvGrpSpPr/>
          <p:nvPr/>
        </p:nvGrpSpPr>
        <p:grpSpPr>
          <a:xfrm>
            <a:off x="109414" y="92312"/>
            <a:ext cx="1867819" cy="403380"/>
            <a:chOff x="210051" y="188640"/>
            <a:chExt cx="1867819" cy="40338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000DFA7-4EB8-571F-BFC8-9C3DB0084E99}"/>
                </a:ext>
              </a:extLst>
            </p:cNvPr>
            <p:cNvSpPr txBox="1"/>
            <p:nvPr/>
          </p:nvSpPr>
          <p:spPr>
            <a:xfrm>
              <a:off x="210051" y="188640"/>
              <a:ext cx="1867819" cy="4033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1. Summary (1/2)</a:t>
              </a:r>
              <a:endPara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5F5AB76-96A5-96D7-190A-39F0F9A343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3918" y="563654"/>
              <a:ext cx="1793952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C4A7C43-E9DD-0E84-566E-6370F6FC13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929778"/>
              </p:ext>
            </p:extLst>
          </p:nvPr>
        </p:nvGraphicFramePr>
        <p:xfrm>
          <a:off x="109414" y="714210"/>
          <a:ext cx="9719357" cy="6146595"/>
        </p:xfrm>
        <a:graphic>
          <a:graphicData uri="http://schemas.openxmlformats.org/drawingml/2006/table">
            <a:tbl>
              <a:tblPr/>
              <a:tblGrid>
                <a:gridCol w="306311">
                  <a:extLst>
                    <a:ext uri="{9D8B030D-6E8A-4147-A177-3AD203B41FA5}">
                      <a16:colId xmlns:a16="http://schemas.microsoft.com/office/drawing/2014/main" val="2758946191"/>
                    </a:ext>
                  </a:extLst>
                </a:gridCol>
                <a:gridCol w="1430655">
                  <a:extLst>
                    <a:ext uri="{9D8B030D-6E8A-4147-A177-3AD203B41FA5}">
                      <a16:colId xmlns:a16="http://schemas.microsoft.com/office/drawing/2014/main" val="3491233003"/>
                    </a:ext>
                  </a:extLst>
                </a:gridCol>
                <a:gridCol w="2989703">
                  <a:extLst>
                    <a:ext uri="{9D8B030D-6E8A-4147-A177-3AD203B41FA5}">
                      <a16:colId xmlns:a16="http://schemas.microsoft.com/office/drawing/2014/main" val="2528590017"/>
                    </a:ext>
                  </a:extLst>
                </a:gridCol>
                <a:gridCol w="587375">
                  <a:extLst>
                    <a:ext uri="{9D8B030D-6E8A-4147-A177-3AD203B41FA5}">
                      <a16:colId xmlns:a16="http://schemas.microsoft.com/office/drawing/2014/main" val="3433318351"/>
                    </a:ext>
                  </a:extLst>
                </a:gridCol>
                <a:gridCol w="4405313">
                  <a:extLst>
                    <a:ext uri="{9D8B030D-6E8A-4147-A177-3AD203B41FA5}">
                      <a16:colId xmlns:a16="http://schemas.microsoft.com/office/drawing/2014/main" val="361195585"/>
                    </a:ext>
                  </a:extLst>
                </a:gridCol>
              </a:tblGrid>
              <a:tr h="17234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No.</a:t>
                      </a:r>
                      <a:endParaRPr lang="ko-KR" altLang="en-US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KPI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목표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진척사항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요약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973700"/>
                  </a:ext>
                </a:extLst>
              </a:tr>
              <a:tr h="117162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제조 운영</a:t>
                      </a:r>
                      <a:r>
                        <a:rPr lang="en-US" altLang="ko-KR" sz="1100" b="1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AX BM/PD </a:t>
                      </a:r>
                      <a:r>
                        <a:rPr lang="ko-KR" altLang="en-US" sz="1100" b="1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</a:t>
                      </a:r>
                      <a:endParaRPr lang="en-US" altLang="ko-KR" sz="1100" b="1" kern="1200" spc="-1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spc="-1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-30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kern="1200" spc="0" noProof="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Loss 20% </a:t>
                      </a:r>
                      <a:r>
                        <a:rPr kumimoji="0" lang="ko-KR" altLang="en-US" sz="11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kumimoji="0" lang="en-US" altLang="ko-KR" sz="11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1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en-US" altLang="ko-KR" sz="1000" b="0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 : BM/PD 20% </a:t>
                      </a:r>
                      <a:r>
                        <a:rPr lang="ko-KR" altLang="en-US" sz="1000" b="0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r>
                        <a:rPr lang="en-US" altLang="ko-KR" sz="1000" b="0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000" b="0" kern="1200" spc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연목표</a:t>
                      </a:r>
                      <a:r>
                        <a:rPr lang="en-US" altLang="ko-KR" sz="1000" b="0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(</a:t>
                      </a:r>
                      <a:r>
                        <a:rPr lang="ko-KR" altLang="en-US" sz="1000" b="0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기준 공정 </a:t>
                      </a:r>
                      <a:r>
                        <a:rPr lang="en-US" altLang="ko-KR" sz="1000" b="0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COT/Roll Press/PKG/L&amp;S/AZS/NTC)</a:t>
                      </a:r>
                      <a:br>
                        <a:rPr lang="en-US" altLang="ko-KR" sz="1000" b="0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- D : ’26</a:t>
                      </a:r>
                      <a:r>
                        <a:rPr lang="ko-KR" altLang="en-US" sz="1000" b="0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0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12</a:t>
                      </a:r>
                      <a:r>
                        <a:rPr lang="ko-KR" altLang="en-US" sz="1000" b="0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lang="en-US" altLang="ko-KR" sz="1000" b="0" kern="1200" spc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kern="1200" spc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kern="1200" spc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kern="1200" spc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kern="1200" spc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[3Q </a:t>
                      </a:r>
                      <a:r>
                        <a:rPr lang="ko-KR" altLang="en-US" sz="1000" b="0" kern="1200" spc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실행계획</a:t>
                      </a:r>
                      <a:r>
                        <a:rPr lang="en-US" altLang="ko-KR" sz="1000" b="0" kern="1200" spc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000" b="0" kern="1200" spc="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000" b="0" kern="1200" spc="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lang="en-US" altLang="ko-KR" sz="1000" b="0" kern="1200" spc="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FDC</a:t>
                      </a:r>
                      <a:r>
                        <a:rPr lang="ko-KR" altLang="en-US" sz="1000" b="0" kern="1200" spc="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모델링 고도화 기반 </a:t>
                      </a:r>
                      <a:r>
                        <a:rPr lang="en-US" altLang="ko-KR" sz="1000" b="0" kern="1200" spc="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</a:t>
                      </a:r>
                      <a:r>
                        <a:rPr lang="ko-KR" altLang="en-US" sz="1000" b="0" kern="1200" spc="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lang="en-US" altLang="ko-KR" sz="1000" b="0" kern="1200" spc="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spc="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유지 관리 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000" b="0" kern="1200" spc="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</a:t>
                      </a:r>
                      <a:r>
                        <a:rPr lang="en-US" altLang="ko-KR" sz="1000" b="0" kern="1200" spc="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000" b="0" kern="1200" spc="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도출 결과 적용 및 </a:t>
                      </a:r>
                      <a:r>
                        <a:rPr lang="en-US" altLang="ko-KR" sz="1000" b="0" kern="1200" spc="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BMPD </a:t>
                      </a:r>
                      <a:r>
                        <a:rPr lang="ko-KR" altLang="en-US" sz="1000" b="0" kern="1200" spc="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유지 관리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[NFF] FDC </a:t>
                      </a:r>
                      <a:r>
                        <a:rPr lang="ko-KR" altLang="en-US" sz="1000" b="0" kern="1200" spc="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모델 양산 검증</a:t>
                      </a:r>
                      <a:r>
                        <a:rPr lang="en-US" altLang="ko-KR" sz="1000" b="0" kern="1200" spc="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/Coverage </a:t>
                      </a:r>
                      <a:r>
                        <a:rPr lang="ko-KR" altLang="en-US" sz="1000" b="0" kern="1200" spc="0" noProof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확대</a:t>
                      </a:r>
                    </a:p>
                  </a:txBody>
                  <a:tcPr marL="18000" marR="18000" marT="7200" marB="7200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0" indent="-177800" algn="l" fontAlgn="ctr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▷ </a:t>
                      </a:r>
                      <a:r>
                        <a:rPr lang="en-US" altLang="ko-KR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</a:t>
                      </a:r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 누적 실적 </a:t>
                      </a:r>
                      <a:r>
                        <a:rPr lang="en-US" altLang="ko-KR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개선율 </a:t>
                      </a:r>
                      <a:r>
                        <a:rPr lang="en-US" altLang="ko-KR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23% (</a:t>
                      </a:r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연목표 </a:t>
                      </a:r>
                      <a:r>
                        <a:rPr lang="en-US" altLang="ko-KR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比 </a:t>
                      </a:r>
                      <a:r>
                        <a:rPr lang="en-US" altLang="ko-KR" sz="10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+3.0%p </a:t>
                      </a:r>
                      <a:r>
                        <a:rPr lang="ko-KR" altLang="en-US" sz="10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중</a:t>
                      </a:r>
                      <a:r>
                        <a:rPr lang="en-US" altLang="ko-KR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</a:p>
                    <a:p>
                      <a:pPr marL="177800" indent="-177800" algn="l" fontAlgn="ctr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▷ </a:t>
                      </a:r>
                      <a:r>
                        <a:rPr lang="en-US" altLang="ko-KR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</a:t>
                      </a:r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 주요 활동 </a:t>
                      </a:r>
                      <a:endParaRPr lang="en-US" altLang="ko-KR" sz="1000" b="1" i="0" u="none" strike="noStrike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177800" marR="0" lvl="0" indent="-177800" algn="l" defTabSz="914400" rtl="0" eaLnBrk="1" fontAlgn="ctr" latinLnBrk="1" hangingPunct="1">
                        <a:lnSpc>
                          <a:spcPct val="8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[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단선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신규 발굴된 단선 영향인자인 선압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역압 개선을 통한 단선 개선</a:t>
                      </a:r>
                      <a:endParaRPr lang="en-US" altLang="ko-KR" sz="1000" b="0" i="0" u="none" strike="noStrike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177800" indent="-177800" algn="l" fontAlgn="ctr">
                        <a:lnSpc>
                          <a:spcPct val="88000"/>
                        </a:lnSpc>
                      </a:pP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-. (WA)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양극 단선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45% (4.38%p)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[’26.2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9.68% → </a:t>
                      </a:r>
                      <a:r>
                        <a:rPr lang="en-US" altLang="ko-KR" sz="1000" b="0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[’26.8</a:t>
                      </a:r>
                      <a:r>
                        <a:rPr lang="ko-KR" altLang="en-US" sz="1000" b="0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000" b="0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5.30% </a:t>
                      </a:r>
                    </a:p>
                    <a:p>
                      <a:pPr marL="177800" indent="-177800" algn="l" fontAlgn="ctr">
                        <a:lnSpc>
                          <a:spcPct val="88000"/>
                        </a:lnSpc>
                      </a:pP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-. (OT) 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양극 단선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Loss 48% (7.02%p)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[’25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14.74% → </a:t>
                      </a:r>
                      <a:r>
                        <a:rPr lang="en-US" altLang="ko-KR" sz="1000" b="0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[’26.8</a:t>
                      </a:r>
                      <a:r>
                        <a:rPr lang="ko-KR" altLang="en-US" sz="1000" b="0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000" b="0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7.72% </a:t>
                      </a:r>
                    </a:p>
                    <a:p>
                      <a:pPr marL="177800" indent="-177800" algn="l" fontAlgn="ctr">
                        <a:lnSpc>
                          <a:spcPct val="88000"/>
                        </a:lnSpc>
                      </a:pP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[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LNS/AZS/PKG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핵심 개소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Loss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및 품질 이슈 이상감지  </a:t>
                      </a:r>
                      <a:endParaRPr lang="en-US" altLang="ko-KR" sz="1000" b="0" i="0" u="none" strike="noStrike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177800" indent="-177800" algn="l" fontAlgn="ctr">
                        <a:lnSpc>
                          <a:spcPct val="100000"/>
                        </a:lnSpc>
                      </a:pP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-. (OT)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 전극 컷터 그리퍼 유량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Cpk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연계 모델링 고도화 운영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(8/19) </a:t>
                      </a:r>
                    </a:p>
                    <a:p>
                      <a:pPr marL="177800" marR="0" lvl="0" indent="-1778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(HG) DNC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컷터 측압 이상감지 모델링 적용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(8/11)</a:t>
                      </a:r>
                    </a:p>
                    <a:p>
                      <a:pPr marL="177800" marR="0" lvl="0" indent="-1778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-. (GM2) PKG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중앙 전해액 공급시스템 필터 이상감지 모델링적용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(8/24)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6499626"/>
                  </a:ext>
                </a:extLst>
              </a:tr>
              <a:tr h="7319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▷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연목표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달성 중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_ 8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29.6%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(26.9%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→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19.0%)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-.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주요구동부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Vision PC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사전 조치로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0.36%p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▷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와인더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연목표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미달성 중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_ 8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19.2%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(18.9%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→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15.3%)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-. FDC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적용 대상은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35.8%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(2.28%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→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1.46%)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중이며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비대상 추가 개선필요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→ 실린더 미검과 노칭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suction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유량 관련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추가 개선 예정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(~9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353242"/>
                  </a:ext>
                </a:extLst>
              </a:tr>
              <a:tr h="534408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 운영 </a:t>
                      </a:r>
                      <a:r>
                        <a:rPr lang="en-US" altLang="ko-KR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 수율</a:t>
                      </a:r>
                      <a:r>
                        <a:rPr lang="en-US" altLang="ko-KR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lang="ko-KR" altLang="en-US" sz="1100" b="1" kern="1200" spc="-7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</a:t>
                      </a:r>
                      <a:r>
                        <a:rPr kumimoji="0" lang="en-US" altLang="ko-KR" sz="11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</a:t>
                      </a:r>
                      <a:r>
                        <a:rPr kumimoji="0" lang="ko-KR" altLang="en-US" sz="11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0" lang="en-US" altLang="ko-KR" sz="11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0" lang="ko-KR" altLang="en-US" sz="11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0" lang="ko-KR" altLang="en-US" sz="1100" b="1" i="0" u="none" strike="noStrike" kern="1200" cap="none" spc="-3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1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endParaRPr kumimoji="0" lang="en-US" altLang="ko-KR" sz="1100" b="1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Q : ESMI, MI_LS, OT, HD ESS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종합 </a:t>
                      </a:r>
                      <a:r>
                        <a:rPr lang="ko-KR" altLang="en-US" sz="10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수율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94.3%</a:t>
                      </a:r>
                      <a:b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- D : ’26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177800" indent="-177800" algn="l" fontAlgn="ctr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▷ </a:t>
                      </a:r>
                      <a:r>
                        <a:rPr lang="en-US" altLang="ko-KR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</a:t>
                      </a:r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 누적 실적 </a:t>
                      </a:r>
                      <a:r>
                        <a:rPr lang="en-US" altLang="ko-KR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 </a:t>
                      </a:r>
                      <a:r>
                        <a:rPr lang="en-US" altLang="ko-KR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수율 </a:t>
                      </a:r>
                      <a:r>
                        <a:rPr lang="en-US" altLang="ko-KR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94.8% (</a:t>
                      </a:r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연목표 </a:t>
                      </a:r>
                      <a:r>
                        <a:rPr lang="en-US" altLang="ko-KR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94.3% </a:t>
                      </a:r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比 </a:t>
                      </a:r>
                      <a:r>
                        <a:rPr lang="en-US" altLang="ko-KR" sz="10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+0.5%p</a:t>
                      </a:r>
                      <a:r>
                        <a:rPr lang="en-US" altLang="ko-KR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177800" indent="-177800" algn="l" fontAlgn="ctr">
                        <a:lnSpc>
                          <a:spcPct val="100000"/>
                        </a:lnSpc>
                      </a:pPr>
                      <a:r>
                        <a:rPr lang="en-US" altLang="ko-KR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                   </a:t>
                      </a:r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유럽 </a:t>
                      </a:r>
                      <a:r>
                        <a:rPr lang="en-US" altLang="ko-KR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수율 </a:t>
                      </a:r>
                      <a:r>
                        <a:rPr lang="en-US" altLang="ko-KR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92.5% (</a:t>
                      </a:r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연목표 </a:t>
                      </a:r>
                      <a:r>
                        <a:rPr lang="en-US" altLang="ko-KR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94.5% </a:t>
                      </a:r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比 </a:t>
                      </a:r>
                      <a:r>
                        <a:rPr lang="en-US" altLang="ko-KR" sz="1000" b="1" i="0" u="none" strike="noStrike" kern="120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Δ2.0%p</a:t>
                      </a:r>
                      <a:r>
                        <a:rPr lang="en-US" altLang="ko-KR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lang="en-US" altLang="ko-KR" sz="1000" b="1" i="0" u="none" strike="noStrike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177800" indent="-177800" algn="l" fontAlgn="ctr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▷ </a:t>
                      </a:r>
                      <a:r>
                        <a:rPr lang="en-US" altLang="ko-KR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</a:t>
                      </a:r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 주요 활동</a:t>
                      </a:r>
                      <a:endParaRPr lang="en-US" altLang="ko-KR" sz="1000" b="1" i="0" u="none" strike="noStrike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177800" marR="0" lvl="0" indent="-1778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[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NND] </a:t>
                      </a:r>
                    </a:p>
                    <a:p>
                      <a:pPr marL="177800" marR="0" lvl="0" indent="-1778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-. (OT)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주요불량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Tab pitch,Foil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노출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,Tab burr)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  <a:sym typeface="Wingdings" panose="05000000000000000000" pitchFamily="2" charset="2"/>
                        </a:rPr>
                        <a:t> 개선 후 모니터링 중</a:t>
                      </a:r>
                      <a:endParaRPr lang="en-US" altLang="ko-KR" sz="1000" b="0" i="0" u="none" strike="noStrike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536575" indent="-536575">
                        <a:buNone/>
                      </a:pP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-. (MIHL)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로더 셔틀 편심 보정을 통해 재료교체 구간의 어깨선 불량 저감 및 단선 개선</a:t>
                      </a:r>
                      <a:endParaRPr lang="en-US" altLang="ko-KR" sz="1000" b="0" i="0" u="none" strike="noStrike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536575" indent="-536575">
                        <a:buNone/>
                      </a:pP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[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Lami] </a:t>
                      </a:r>
                    </a:p>
                    <a:p>
                      <a:pPr marL="177800" marR="0" lvl="0" indent="-1778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-. (WA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→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MIHL)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컷터 패턴 이상감지 모델링 적용 완료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(8/28)</a:t>
                      </a:r>
                    </a:p>
                    <a:p>
                      <a:pPr marL="177800" marR="0" lvl="0" indent="-1778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                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열화 상태 모니터링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점검 우선 순위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웹 기반 대시보드 구축 중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(~9/18)</a:t>
                      </a:r>
                    </a:p>
                    <a:p>
                      <a:pPr marL="177800" marR="0" lvl="0" indent="-1778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-. (OT)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컷터 그리퍼 유량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Cpk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연계 모델링 적용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(8/25)  </a:t>
                      </a:r>
                    </a:p>
                    <a:p>
                      <a:pPr marL="177800" indent="-177800" algn="l" fontAlgn="ctr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▷ 달성 방안</a:t>
                      </a:r>
                      <a:endParaRPr lang="en-US" altLang="ko-KR" sz="1000" b="1" i="0" u="none" strike="noStrike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[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indent="0" algn="l" defTabSz="914400" rtl="0" eaLnBrk="1" fontAlgn="ctr" latinLnBrk="1" hangingPunct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-. (MIHL)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 공급부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IP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관리항목 정합화를 통한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Y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축 위치불량 개선 </a:t>
                      </a:r>
                      <a:endParaRPr lang="en-US" altLang="ko-KR" sz="1000" b="0" i="0" u="none" strike="noStrike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-. (MILS) [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확산과제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 합치가접롤 온도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D-SKT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파기솔 진공압 이상감지 확산 전개</a:t>
                      </a:r>
                      <a:endParaRPr lang="en-US" altLang="ko-KR" sz="1000" b="0" i="0" u="none" strike="noStrike" kern="1200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-. (OT) PKG 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양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음극 탭 컷터 구동부 이상감지를 통한 탭 컷팅 불량 개선</a:t>
                      </a:r>
                      <a:endParaRPr lang="en-US" altLang="ko-KR" sz="1000" b="0" i="0" u="none" strike="noStrike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-. (OT) PKG Pre Welder </a:t>
                      </a:r>
                      <a:r>
                        <a:rPr lang="ko-KR" altLang="en-US" sz="10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변환기 디스크 이상감지를 통한 용접 불량 개선 </a:t>
                      </a:r>
                      <a:endParaRPr lang="en-US" altLang="ko-KR" sz="1000" b="0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0534644"/>
                  </a:ext>
                </a:extLst>
              </a:tr>
              <a:tr h="16583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유럽</a:t>
                      </a:r>
                      <a:r>
                        <a:rPr kumimoji="0" lang="en-US" altLang="ko-KR" sz="11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AX</a:t>
                      </a:r>
                      <a:r>
                        <a:rPr kumimoji="0" lang="ko-KR" altLang="en-US" sz="11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</a:t>
                      </a:r>
                      <a:r>
                        <a:rPr kumimoji="0" lang="en-US" altLang="ko-KR" sz="11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ESS </a:t>
                      </a:r>
                      <a:r>
                        <a:rPr kumimoji="0" lang="ko-KR" altLang="en-US" sz="11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kumimoji="0" lang="ko-KR" altLang="en-US" sz="1100" b="1" i="0" u="none" strike="noStrike" kern="1200" cap="none" spc="-3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1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endParaRPr kumimoji="0" lang="en-US" altLang="ko-KR" sz="1100" b="1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- Q : ESWA ESS </a:t>
                      </a:r>
                      <a:r>
                        <a:rPr lang="ko-KR" altLang="en-US" sz="1000" b="0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 </a:t>
                      </a:r>
                      <a:r>
                        <a:rPr lang="ko-KR" altLang="en-US" sz="1000" b="0" kern="1200" spc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0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94.5% </a:t>
                      </a:r>
                      <a:br>
                        <a:rPr lang="en-US" altLang="ko-KR" sz="1000" b="0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- D : ’26</a:t>
                      </a:r>
                      <a:r>
                        <a:rPr lang="ko-KR" altLang="en-US" sz="1000" b="0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</a:t>
                      </a:r>
                      <a:r>
                        <a:rPr lang="en-US" altLang="ko-KR" sz="1000" b="0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12</a:t>
                      </a:r>
                      <a:r>
                        <a:rPr lang="ko-KR" altLang="en-US" sz="1000" b="0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4972863"/>
                  </a:ext>
                </a:extLst>
              </a:tr>
              <a:tr h="123714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</a:t>
                      </a:r>
                      <a:r>
                        <a:rPr kumimoji="0" lang="ko-KR" altLang="en-US" sz="11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기반 자동차 셀 </a:t>
                      </a:r>
                      <a:r>
                        <a:rPr kumimoji="0" lang="ko-KR" altLang="en-US" sz="1100" b="1" i="0" u="none" strike="noStrike" kern="1200" cap="none" spc="-3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0" lang="ko-KR" altLang="en-US" sz="11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개선</a:t>
                      </a:r>
                      <a:endParaRPr kumimoji="0" lang="en-US" altLang="ko-KR" sz="1100" b="1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- Q : ESWA, NA, NB, HM, MI, HG </a:t>
                      </a:r>
                      <a:r>
                        <a:rPr lang="ko-KR" altLang="en-US" sz="1000" b="0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자동차 셀 </a:t>
                      </a:r>
                      <a:r>
                        <a:rPr lang="ko-KR" altLang="en-US" sz="1000" b="0" kern="1200" spc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0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97.8%</a:t>
                      </a:r>
                      <a:br>
                        <a:rPr lang="en-US" altLang="ko-KR" sz="1000" b="0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- D : ’26</a:t>
                      </a:r>
                      <a:r>
                        <a:rPr lang="ko-KR" altLang="en-US" sz="1000" b="0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00" b="0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12</a:t>
                      </a:r>
                      <a:r>
                        <a:rPr lang="ko-KR" altLang="en-US" sz="1000" b="0" kern="1200" spc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</a:p>
                  </a:txBody>
                  <a:tcPr marL="18000" marR="18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0" indent="-177800" algn="l" fontAlgn="ctr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▷ 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 누적 실적 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자동차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lang="ko-KR" altLang="en-US" sz="10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97.6% (</a:t>
                      </a:r>
                      <a:r>
                        <a:rPr lang="ko-KR" altLang="en-US" sz="10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연목표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97.8% 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比 </a:t>
                      </a:r>
                      <a:r>
                        <a:rPr lang="en-US" altLang="ko-KR" sz="1000" b="1" i="0" u="none" strike="noStrike" kern="1200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Δ0.2%p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177800" indent="-177800" algn="l" fontAlgn="ctr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▷ 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8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 주요 활동 </a:t>
                      </a:r>
                      <a:endParaRPr lang="en-US" altLang="ko-KR" sz="10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     -. (WA) </a:t>
                      </a:r>
                      <a:r>
                        <a:rPr lang="ko-KR" altLang="en-US" sz="1000" b="0" i="0" u="none" strike="noStrike" kern="1200" spc="0" baseline="0" dirty="0" err="1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라미컷터</a:t>
                      </a:r>
                      <a:r>
                        <a:rPr lang="ko-KR" altLang="en-US" sz="10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 패턴 이상감지를 통한 </a:t>
                      </a:r>
                      <a:r>
                        <a:rPr lang="ko-KR" altLang="en-US" sz="1000" b="0" i="0" u="none" strike="noStrike" kern="1200" spc="0" baseline="0" dirty="0" err="1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라미</a:t>
                      </a:r>
                      <a:r>
                        <a:rPr lang="ko-KR" altLang="en-US" sz="10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 위치불량 개선 </a:t>
                      </a:r>
                      <a:r>
                        <a:rPr lang="en-US" altLang="ko-KR" sz="10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(</a:t>
                      </a:r>
                      <a:r>
                        <a:rPr lang="ko-KR" altLang="en-US" sz="1000" b="0" i="0" u="none" strike="noStrike" kern="1200" spc="0" baseline="0" dirty="0" err="1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컷터</a:t>
                      </a:r>
                      <a:r>
                        <a:rPr lang="ko-KR" altLang="en-US" sz="10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 기여효과 </a:t>
                      </a:r>
                      <a:r>
                        <a:rPr lang="en-US" altLang="ko-KR" sz="10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: 0.09%p</a:t>
                      </a:r>
                      <a:r>
                        <a:rPr lang="ko-KR" altLang="en-US" sz="10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↓</a:t>
                      </a:r>
                      <a:r>
                        <a:rPr lang="en-US" altLang="ko-KR" sz="10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</a:p>
                    <a:p>
                      <a:pPr marL="0" indent="0" algn="l" defTabSz="914400" rtl="0" eaLnBrk="1" fontAlgn="ctr" latinLnBrk="1" hangingPunct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     -. (WA) G/D-STK</a:t>
                      </a:r>
                      <a:r>
                        <a:rPr lang="ko-KR" altLang="en-US" sz="10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 신규 핵심 제어인자 확보 위한 </a:t>
                      </a:r>
                      <a:r>
                        <a:rPr lang="en-US" altLang="ko-KR" sz="10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PLC </a:t>
                      </a:r>
                      <a:r>
                        <a:rPr lang="ko-KR" altLang="en-US" sz="10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개조 및 </a:t>
                      </a:r>
                      <a:r>
                        <a:rPr lang="en-US" altLang="ko-KR" sz="10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S/W </a:t>
                      </a:r>
                      <a:r>
                        <a:rPr lang="ko-KR" altLang="en-US" sz="1000" b="0" i="0" u="none" strike="noStrike" kern="1200" spc="0" baseline="0" dirty="0" err="1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전호기</a:t>
                      </a:r>
                      <a:r>
                        <a:rPr lang="ko-KR" altLang="en-US" sz="10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 적용 중 </a:t>
                      </a:r>
                      <a:r>
                        <a:rPr lang="en-US" altLang="ko-KR" sz="10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(~9/4) </a:t>
                      </a:r>
                    </a:p>
                    <a:p>
                      <a:pPr marL="0" indent="0" algn="l" defTabSz="914400" rtl="0" eaLnBrk="1" fontAlgn="ctr" latinLnBrk="1" hangingPunct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i="0" u="none" strike="noStrike" kern="1200" spc="0" baseline="0" dirty="0">
                          <a:solidFill>
                            <a:srgbClr val="0000FF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   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-. (WA)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양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음극 </a:t>
                      </a:r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피딩롤러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열화 이상감지 모델링 적용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(E77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라인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8/14) </a:t>
                      </a:r>
                      <a:b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▷ 달성 방안</a:t>
                      </a:r>
                      <a:endParaRPr lang="en-US" altLang="ko-KR" sz="10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</a:t>
                      </a:r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(WA) </a:t>
                      </a:r>
                      <a:r>
                        <a:rPr lang="ko-KR" altLang="en-US" sz="10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자동차 </a:t>
                      </a:r>
                      <a:r>
                        <a:rPr lang="en-US" altLang="ko-KR" sz="10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G/D-STK </a:t>
                      </a:r>
                      <a:r>
                        <a:rPr lang="ko-KR" altLang="en-US" sz="1000" b="0" i="0" u="none" strike="noStrike" kern="1200" spc="0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스태킹</a:t>
                      </a:r>
                      <a:r>
                        <a:rPr lang="ko-KR" altLang="en-US" sz="10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spc="0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그리퍼</a:t>
                      </a:r>
                      <a:r>
                        <a:rPr lang="ko-KR" altLang="en-US" sz="10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패턴 이상감지 모델 개발 및 </a:t>
                      </a:r>
                      <a:r>
                        <a:rPr lang="ko-KR" altLang="en-US" sz="1000" b="0" i="0" u="none" strike="noStrike" kern="1200" spc="0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전호기</a:t>
                      </a:r>
                      <a:r>
                        <a:rPr lang="en-US" altLang="ko-KR" sz="10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(50</a:t>
                      </a:r>
                      <a:r>
                        <a:rPr lang="ko-KR" altLang="en-US" sz="10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</a:t>
                      </a:r>
                      <a:r>
                        <a:rPr lang="en-US" altLang="ko-KR" sz="10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000" b="0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적용</a:t>
                      </a:r>
                      <a:r>
                        <a:rPr lang="en-US" altLang="ko-KR" sz="1000" b="0" i="0" u="none" strike="noStrike" kern="1200" spc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lang="en-US" altLang="ko-KR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-. (WA) </a:t>
                      </a:r>
                      <a:r>
                        <a:rPr lang="ko-KR" altLang="en-US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자동차</a:t>
                      </a:r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(E77A) </a:t>
                      </a:r>
                      <a:r>
                        <a:rPr lang="ko-KR" altLang="en-US" sz="1000" b="0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라미컷터</a:t>
                      </a:r>
                      <a:r>
                        <a:rPr lang="ko-KR" altLang="en-US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패턴 이상감지 모델 → 전 호기</a:t>
                      </a:r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(WA5</a:t>
                      </a:r>
                      <a:r>
                        <a:rPr lang="ko-KR" altLang="en-US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동</a:t>
                      </a:r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확산 전개</a:t>
                      </a:r>
                      <a:b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</a:t>
                      </a: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(HG)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Buffer Stage SVM 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및 </a:t>
                      </a:r>
                      <a:r>
                        <a:rPr lang="en-US" altLang="ko-KR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Vacuum 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활용 이상감지를 통한 전극 위치불량 개선 </a:t>
                      </a:r>
                      <a:endParaRPr lang="en-US" altLang="ko-KR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3747214"/>
                  </a:ext>
                </a:extLst>
              </a:tr>
            </a:tbl>
          </a:graphicData>
        </a:graphic>
      </p:graphicFrame>
      <p:sp>
        <p:nvSpPr>
          <p:cNvPr id="4" name="타원 3">
            <a:extLst>
              <a:ext uri="{FF2B5EF4-FFF2-40B4-BE49-F238E27FC236}">
                <a16:creationId xmlns:a16="http://schemas.microsoft.com/office/drawing/2014/main" id="{99EC3EE6-ACC2-615B-D019-3554E3868F9E}"/>
              </a:ext>
            </a:extLst>
          </p:cNvPr>
          <p:cNvSpPr>
            <a:spLocks noChangeAspect="1"/>
          </p:cNvSpPr>
          <p:nvPr/>
        </p:nvSpPr>
        <p:spPr>
          <a:xfrm>
            <a:off x="5039770" y="1858502"/>
            <a:ext cx="180000" cy="180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7200" latinLnBrk="0">
              <a:lnSpc>
                <a:spcPct val="120000"/>
              </a:lnSpc>
            </a:pPr>
            <a:endParaRPr lang="ko-KR" altLang="en-US" sz="700" spc="-3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E8D7649A-3D1B-2CB1-6F9D-2F3E4E0BFE89}"/>
              </a:ext>
            </a:extLst>
          </p:cNvPr>
          <p:cNvSpPr>
            <a:spLocks noChangeAspect="1"/>
          </p:cNvSpPr>
          <p:nvPr/>
        </p:nvSpPr>
        <p:spPr>
          <a:xfrm>
            <a:off x="5039770" y="4524431"/>
            <a:ext cx="180000" cy="180000"/>
          </a:xfrm>
          <a:prstGeom prst="ellipse">
            <a:avLst/>
          </a:prstGeom>
          <a:solidFill>
            <a:srgbClr val="FF505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7200" latinLnBrk="0">
              <a:lnSpc>
                <a:spcPct val="120000"/>
              </a:lnSpc>
            </a:pPr>
            <a:endParaRPr lang="ko-KR" altLang="en-US" sz="700" spc="-3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57C234-F7F6-1B12-8594-1A983537767A}"/>
              </a:ext>
            </a:extLst>
          </p:cNvPr>
          <p:cNvSpPr txBox="1"/>
          <p:nvPr/>
        </p:nvSpPr>
        <p:spPr>
          <a:xfrm>
            <a:off x="3714956" y="972909"/>
            <a:ext cx="849019" cy="226591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700" b="0" i="0" u="none" strike="noStrike" cap="none" spc="-70" normalizeH="0" baseline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</a:rPr>
              <a:t>BM/PD</a:t>
            </a:r>
            <a:r>
              <a:rPr kumimoji="1" lang="ko-KR" altLang="en-US" sz="10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</a:rPr>
              <a:t> 월간 </a:t>
            </a:r>
            <a:r>
              <a:rPr kumimoji="1" lang="en-US" altLang="ko-KR" sz="10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</a:rPr>
              <a:t>Trend</a:t>
            </a:r>
            <a:endParaRPr kumimoji="1" lang="ko-KR" altLang="en-US" sz="1000" b="0" i="0" u="none" strike="noStrike" kern="1200" cap="none" spc="-7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</a:endParaRPr>
          </a:p>
        </p:txBody>
      </p:sp>
      <p:sp>
        <p:nvSpPr>
          <p:cNvPr id="7" name="실행 단추: 끝으로 이동 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26B3243-D332-029B-C462-25413BF9D6D9}"/>
              </a:ext>
            </a:extLst>
          </p:cNvPr>
          <p:cNvSpPr/>
          <p:nvPr/>
        </p:nvSpPr>
        <p:spPr>
          <a:xfrm>
            <a:off x="4561720" y="1037464"/>
            <a:ext cx="180000" cy="126000"/>
          </a:xfrm>
          <a:prstGeom prst="actionButtonEnd">
            <a:avLst/>
          </a:prstGeom>
          <a:solidFill>
            <a:sysClr val="window" lastClr="FFFFFF">
              <a:lumMod val="7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9" name="실행 단추: 끝으로 이동 28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6880D29D-773B-1141-EB4F-813410A968F4}"/>
              </a:ext>
            </a:extLst>
          </p:cNvPr>
          <p:cNvSpPr/>
          <p:nvPr/>
        </p:nvSpPr>
        <p:spPr>
          <a:xfrm>
            <a:off x="9628919" y="926894"/>
            <a:ext cx="180000" cy="126000"/>
          </a:xfrm>
          <a:prstGeom prst="actionButtonEnd">
            <a:avLst/>
          </a:prstGeom>
          <a:solidFill>
            <a:sysClr val="window" lastClr="FFFFFF">
              <a:lumMod val="7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실행 단추: 끝으로 이동 9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7C97123F-1CEC-71FB-159A-2C8035F093C8}"/>
              </a:ext>
            </a:extLst>
          </p:cNvPr>
          <p:cNvSpPr/>
          <p:nvPr/>
        </p:nvSpPr>
        <p:spPr>
          <a:xfrm>
            <a:off x="9628919" y="3043386"/>
            <a:ext cx="180000" cy="126000"/>
          </a:xfrm>
          <a:prstGeom prst="actionButtonEnd">
            <a:avLst/>
          </a:prstGeom>
          <a:solidFill>
            <a:sysClr val="window" lastClr="FFFFFF">
              <a:lumMod val="7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7C458681-8309-46C4-593A-EDB53700E36A}"/>
              </a:ext>
            </a:extLst>
          </p:cNvPr>
          <p:cNvSpPr>
            <a:spLocks noChangeAspect="1"/>
          </p:cNvSpPr>
          <p:nvPr/>
        </p:nvSpPr>
        <p:spPr>
          <a:xfrm>
            <a:off x="5039770" y="6080581"/>
            <a:ext cx="180000" cy="180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7200" latinLnBrk="0">
              <a:lnSpc>
                <a:spcPct val="120000"/>
              </a:lnSpc>
            </a:pPr>
            <a:endParaRPr lang="ko-KR" altLang="en-US" sz="700" spc="-3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A8AA00B9-27CF-979F-60A7-8B027A6C70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258910"/>
              </p:ext>
            </p:extLst>
          </p:nvPr>
        </p:nvGraphicFramePr>
        <p:xfrm>
          <a:off x="1943741" y="1936348"/>
          <a:ext cx="2707979" cy="404391"/>
        </p:xfrm>
        <a:graphic>
          <a:graphicData uri="http://schemas.openxmlformats.org/drawingml/2006/table">
            <a:tbl>
              <a:tblPr/>
              <a:tblGrid>
                <a:gridCol w="350880">
                  <a:extLst>
                    <a:ext uri="{9D8B030D-6E8A-4147-A177-3AD203B41FA5}">
                      <a16:colId xmlns:a16="http://schemas.microsoft.com/office/drawing/2014/main" val="448372699"/>
                    </a:ext>
                  </a:extLst>
                </a:gridCol>
                <a:gridCol w="219940">
                  <a:extLst>
                    <a:ext uri="{9D8B030D-6E8A-4147-A177-3AD203B41FA5}">
                      <a16:colId xmlns:a16="http://schemas.microsoft.com/office/drawing/2014/main" val="3531961852"/>
                    </a:ext>
                  </a:extLst>
                </a:gridCol>
                <a:gridCol w="219940">
                  <a:extLst>
                    <a:ext uri="{9D8B030D-6E8A-4147-A177-3AD203B41FA5}">
                      <a16:colId xmlns:a16="http://schemas.microsoft.com/office/drawing/2014/main" val="3876058939"/>
                    </a:ext>
                  </a:extLst>
                </a:gridCol>
                <a:gridCol w="219940">
                  <a:extLst>
                    <a:ext uri="{9D8B030D-6E8A-4147-A177-3AD203B41FA5}">
                      <a16:colId xmlns:a16="http://schemas.microsoft.com/office/drawing/2014/main" val="1144578316"/>
                    </a:ext>
                  </a:extLst>
                </a:gridCol>
                <a:gridCol w="219940">
                  <a:extLst>
                    <a:ext uri="{9D8B030D-6E8A-4147-A177-3AD203B41FA5}">
                      <a16:colId xmlns:a16="http://schemas.microsoft.com/office/drawing/2014/main" val="2758194912"/>
                    </a:ext>
                  </a:extLst>
                </a:gridCol>
                <a:gridCol w="219940">
                  <a:extLst>
                    <a:ext uri="{9D8B030D-6E8A-4147-A177-3AD203B41FA5}">
                      <a16:colId xmlns:a16="http://schemas.microsoft.com/office/drawing/2014/main" val="1690716757"/>
                    </a:ext>
                  </a:extLst>
                </a:gridCol>
                <a:gridCol w="219940">
                  <a:extLst>
                    <a:ext uri="{9D8B030D-6E8A-4147-A177-3AD203B41FA5}">
                      <a16:colId xmlns:a16="http://schemas.microsoft.com/office/drawing/2014/main" val="3938954016"/>
                    </a:ext>
                  </a:extLst>
                </a:gridCol>
                <a:gridCol w="219940">
                  <a:extLst>
                    <a:ext uri="{9D8B030D-6E8A-4147-A177-3AD203B41FA5}">
                      <a16:colId xmlns:a16="http://schemas.microsoft.com/office/drawing/2014/main" val="2741989067"/>
                    </a:ext>
                  </a:extLst>
                </a:gridCol>
                <a:gridCol w="219940">
                  <a:extLst>
                    <a:ext uri="{9D8B030D-6E8A-4147-A177-3AD203B41FA5}">
                      <a16:colId xmlns:a16="http://schemas.microsoft.com/office/drawing/2014/main" val="3800816768"/>
                    </a:ext>
                  </a:extLst>
                </a:gridCol>
                <a:gridCol w="219940">
                  <a:extLst>
                    <a:ext uri="{9D8B030D-6E8A-4147-A177-3AD203B41FA5}">
                      <a16:colId xmlns:a16="http://schemas.microsoft.com/office/drawing/2014/main" val="672968338"/>
                    </a:ext>
                  </a:extLst>
                </a:gridCol>
                <a:gridCol w="377639">
                  <a:extLst>
                    <a:ext uri="{9D8B030D-6E8A-4147-A177-3AD203B41FA5}">
                      <a16:colId xmlns:a16="http://schemas.microsoft.com/office/drawing/2014/main" val="1593203743"/>
                    </a:ext>
                  </a:extLst>
                </a:gridCol>
              </a:tblGrid>
              <a:tr h="13479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0" i="0" u="none" strike="noStrike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ko-KR" altLang="en-US" sz="850" b="0" i="0" u="none" strike="noStrike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0" i="0" u="none" strike="noStrike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85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ESS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0" i="0" u="none" strike="noStrike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법인</a:t>
                      </a:r>
                      <a:r>
                        <a:rPr lang="ko-KR" altLang="en-US" sz="85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850" b="0" i="0" u="none" strike="noStrike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</a:t>
                      </a:r>
                      <a:endParaRPr lang="ko-KR" altLang="en-US" sz="850" b="0" i="0" u="none" strike="noStrike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190825"/>
                  </a:ext>
                </a:extLst>
              </a:tr>
              <a:tr h="1347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COT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PKG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Lami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AZS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RP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NTC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PKG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Lami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5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NTC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842810"/>
                  </a:ext>
                </a:extLst>
              </a:tr>
              <a:tr h="13479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50" b="0" i="0" u="none" strike="noStrike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공정</a:t>
                      </a:r>
                      <a:r>
                        <a:rPr lang="ko-KR" altLang="en-US" sz="85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850" b="0" i="0" u="none" strike="noStrike" dirty="0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</a:t>
                      </a:r>
                      <a:endParaRPr lang="ko-KR" altLang="en-US" sz="85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16%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11%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17%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6%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35%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14%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37%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43%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2.0 Regular" panose="020B0600000101010101" pitchFamily="50" charset="-127"/>
                        </a:rPr>
                        <a:t>20%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834306"/>
                  </a:ext>
                </a:extLst>
              </a:tr>
            </a:tbl>
          </a:graphicData>
        </a:graphic>
      </p:graphicFrame>
      <p:sp>
        <p:nvSpPr>
          <p:cNvPr id="9" name="타원 8">
            <a:extLst>
              <a:ext uri="{FF2B5EF4-FFF2-40B4-BE49-F238E27FC236}">
                <a16:creationId xmlns:a16="http://schemas.microsoft.com/office/drawing/2014/main" id="{6B62DBF4-5031-B396-5C98-C066DDC29ED1}"/>
              </a:ext>
            </a:extLst>
          </p:cNvPr>
          <p:cNvSpPr>
            <a:spLocks noChangeAspect="1"/>
          </p:cNvSpPr>
          <p:nvPr/>
        </p:nvSpPr>
        <p:spPr>
          <a:xfrm>
            <a:off x="5024699" y="3209149"/>
            <a:ext cx="180000" cy="180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7200" latinLnBrk="0">
              <a:lnSpc>
                <a:spcPct val="120000"/>
              </a:lnSpc>
            </a:pPr>
            <a:endParaRPr lang="ko-KR" altLang="en-US" sz="700" spc="-3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C09DBDD-0F24-CB2D-DF51-6B3194FEE4E7}"/>
              </a:ext>
            </a:extLst>
          </p:cNvPr>
          <p:cNvSpPr txBox="1"/>
          <p:nvPr/>
        </p:nvSpPr>
        <p:spPr>
          <a:xfrm>
            <a:off x="8675336" y="6270908"/>
            <a:ext cx="1111472" cy="1166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177800" indent="-177800" fontAlgn="ctr">
              <a:lnSpc>
                <a:spcPct val="93000"/>
              </a:lnSpc>
              <a:defRPr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ko-KR" dirty="0"/>
              <a:t>G-STK(18대) + D-STK(32대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78A99C8-95DB-BB62-336E-559E58F9E9A9}"/>
              </a:ext>
            </a:extLst>
          </p:cNvPr>
          <p:cNvSpPr txBox="1"/>
          <p:nvPr/>
        </p:nvSpPr>
        <p:spPr>
          <a:xfrm>
            <a:off x="7689852" y="3542604"/>
            <a:ext cx="1712109" cy="1166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7800" indent="-177800" algn="l" fontAlgn="ctr">
              <a:lnSpc>
                <a:spcPct val="93000"/>
              </a:lnSpc>
            </a:pP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[OT] NG</a:t>
            </a:r>
            <a:r>
              <a:rPr lang="ko-KR" altLang="en-US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마킹  </a:t>
            </a: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0.731%(1</a:t>
            </a:r>
            <a:r>
              <a:rPr lang="ko-KR" altLang="en-US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lang="ko-KR" altLang="en-US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→ </a:t>
            </a: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0.162% (8</a:t>
            </a:r>
            <a:r>
              <a:rPr lang="ko-KR" altLang="en-US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8CDE01E-3A9B-67E8-35D5-C902A49F003C}"/>
              </a:ext>
            </a:extLst>
          </p:cNvPr>
          <p:cNvSpPr txBox="1"/>
          <p:nvPr/>
        </p:nvSpPr>
        <p:spPr>
          <a:xfrm>
            <a:off x="7698832" y="3966830"/>
            <a:ext cx="2129939" cy="1166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7800" indent="-177800" algn="l" fontAlgn="ctr">
              <a:lnSpc>
                <a:spcPct val="93000"/>
              </a:lnSpc>
            </a:pP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[MI </a:t>
            </a:r>
            <a:r>
              <a:rPr lang="ko-KR" altLang="en-US" sz="8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홀랜드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 NG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마킹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0.288%(3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→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0.168% (8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E8E35417-E26F-C03B-343C-CBECC82E4CC4}"/>
              </a:ext>
            </a:extLst>
          </p:cNvPr>
          <p:cNvSpPr/>
          <p:nvPr/>
        </p:nvSpPr>
        <p:spPr>
          <a:xfrm>
            <a:off x="866576" y="3251663"/>
            <a:ext cx="389822" cy="14760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CDO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7C8897DE-A980-A8FC-3ECC-2EF945B5F1EA}"/>
              </a:ext>
            </a:extLst>
          </p:cNvPr>
          <p:cNvSpPr/>
          <p:nvPr/>
        </p:nvSpPr>
        <p:spPr>
          <a:xfrm>
            <a:off x="1311807" y="3249492"/>
            <a:ext cx="500747" cy="149771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그룹장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C6A159EF-A7C3-EB9F-B368-C9EAABB2E507}"/>
              </a:ext>
            </a:extLst>
          </p:cNvPr>
          <p:cNvSpPr/>
          <p:nvPr/>
        </p:nvSpPr>
        <p:spPr>
          <a:xfrm>
            <a:off x="1311807" y="4495824"/>
            <a:ext cx="500747" cy="149771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그룹장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566863E-DE42-D237-593E-0A4C68601004}"/>
              </a:ext>
            </a:extLst>
          </p:cNvPr>
          <p:cNvSpPr/>
          <p:nvPr/>
        </p:nvSpPr>
        <p:spPr>
          <a:xfrm>
            <a:off x="1311807" y="6079889"/>
            <a:ext cx="500747" cy="149771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그룹장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CC1F1006-62B7-2044-C3E2-65BD2B489CDD}"/>
              </a:ext>
            </a:extLst>
          </p:cNvPr>
          <p:cNvSpPr/>
          <p:nvPr/>
        </p:nvSpPr>
        <p:spPr>
          <a:xfrm>
            <a:off x="1311807" y="1324600"/>
            <a:ext cx="500747" cy="149771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CDO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C3641FB-3613-265B-0831-0039A3FC1F32}"/>
              </a:ext>
            </a:extLst>
          </p:cNvPr>
          <p:cNvSpPr/>
          <p:nvPr/>
        </p:nvSpPr>
        <p:spPr>
          <a:xfrm>
            <a:off x="866576" y="1326771"/>
            <a:ext cx="389822" cy="14760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KI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4" name="실행 단추: 끝으로 이동 33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6986332B-22AC-66DF-14DF-FD49A48A5B87}"/>
              </a:ext>
            </a:extLst>
          </p:cNvPr>
          <p:cNvSpPr/>
          <p:nvPr/>
        </p:nvSpPr>
        <p:spPr>
          <a:xfrm>
            <a:off x="9628919" y="5499137"/>
            <a:ext cx="180000" cy="126000"/>
          </a:xfrm>
          <a:prstGeom prst="actionButtonEnd">
            <a:avLst/>
          </a:prstGeom>
          <a:solidFill>
            <a:sysClr val="window" lastClr="FFFFFF">
              <a:lumMod val="7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C2C6CB-D031-F217-A7E2-FE6D8866340C}"/>
              </a:ext>
            </a:extLst>
          </p:cNvPr>
          <p:cNvSpPr txBox="1"/>
          <p:nvPr/>
        </p:nvSpPr>
        <p:spPr>
          <a:xfrm>
            <a:off x="4811437" y="6669360"/>
            <a:ext cx="409086" cy="16927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1 / </a:t>
            </a:r>
            <a:r>
              <a:rPr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9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2D097EE-FE51-2F15-DEA0-0E729162AC75}"/>
              </a:ext>
            </a:extLst>
          </p:cNvPr>
          <p:cNvGrpSpPr/>
          <p:nvPr/>
        </p:nvGrpSpPr>
        <p:grpSpPr>
          <a:xfrm>
            <a:off x="7758397" y="114985"/>
            <a:ext cx="1781744" cy="604476"/>
            <a:chOff x="4232920" y="49957"/>
            <a:chExt cx="1781744" cy="604476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BC5B934B-C259-3156-5CD8-26C1731BF9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6EFD3E4-0455-20F3-1AD3-E4E27BA1EE0F}"/>
                </a:ext>
              </a:extLst>
            </p:cNvPr>
            <p:cNvSpPr txBox="1"/>
            <p:nvPr/>
          </p:nvSpPr>
          <p:spPr>
            <a:xfrm>
              <a:off x="4458469" y="52657"/>
              <a:ext cx="1276953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초과 달성 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(5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점 기준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905536D-F19F-F7B6-7BA0-653B00B61CE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E1359C9-4A35-BB23-625F-C59EE7E53F34}"/>
                </a:ext>
              </a:extLst>
            </p:cNvPr>
            <p:cNvSpPr txBox="1"/>
            <p:nvPr/>
          </p:nvSpPr>
          <p:spPr>
            <a:xfrm>
              <a:off x="4458469" y="477133"/>
              <a:ext cx="155619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미달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3F7CDC5A-6591-160E-C017-369A51D999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2F92752-CDF4-7321-0E3B-135217D98248}"/>
                </a:ext>
              </a:extLst>
            </p:cNvPr>
            <p:cNvSpPr txBox="1"/>
            <p:nvPr/>
          </p:nvSpPr>
          <p:spPr>
            <a:xfrm>
              <a:off x="4458469" y="264895"/>
              <a:ext cx="137473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달성 수준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9742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B2AC4D6F-DA1F-EC11-5A99-88BDB686255C}"/>
              </a:ext>
            </a:extLst>
          </p:cNvPr>
          <p:cNvGrpSpPr/>
          <p:nvPr/>
        </p:nvGrpSpPr>
        <p:grpSpPr>
          <a:xfrm>
            <a:off x="109414" y="92312"/>
            <a:ext cx="1867819" cy="403380"/>
            <a:chOff x="210051" y="188640"/>
            <a:chExt cx="1867819" cy="40338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D4D8C11-CC0C-B492-9BF9-00F72B8E4C8F}"/>
                </a:ext>
              </a:extLst>
            </p:cNvPr>
            <p:cNvSpPr txBox="1"/>
            <p:nvPr/>
          </p:nvSpPr>
          <p:spPr>
            <a:xfrm>
              <a:off x="210051" y="188640"/>
              <a:ext cx="1867819" cy="4033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10000"/>
                </a:lnSpc>
                <a:spcBef>
                  <a:spcPts val="300"/>
                </a:spcBef>
              </a:pPr>
              <a:r>
                <a:rPr lang="en-US" altLang="ko-KR" sz="20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1. Summary (2/2)</a:t>
              </a:r>
              <a:endParaRPr lang="ko-KR" altLang="en-US" sz="200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A8C662A2-0C9B-DA72-8BE8-9E2602005B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3918" y="563654"/>
              <a:ext cx="1793952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8F9C922C-6630-F91F-D39F-5B76FB5886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172132"/>
              </p:ext>
            </p:extLst>
          </p:nvPr>
        </p:nvGraphicFramePr>
        <p:xfrm>
          <a:off x="107670" y="712855"/>
          <a:ext cx="9567287" cy="5438563"/>
        </p:xfrm>
        <a:graphic>
          <a:graphicData uri="http://schemas.openxmlformats.org/drawingml/2006/table">
            <a:tbl>
              <a:tblPr/>
              <a:tblGrid>
                <a:gridCol w="288032">
                  <a:extLst>
                    <a:ext uri="{9D8B030D-6E8A-4147-A177-3AD203B41FA5}">
                      <a16:colId xmlns:a16="http://schemas.microsoft.com/office/drawing/2014/main" val="2758946191"/>
                    </a:ext>
                  </a:extLst>
                </a:gridCol>
                <a:gridCol w="1700530">
                  <a:extLst>
                    <a:ext uri="{9D8B030D-6E8A-4147-A177-3AD203B41FA5}">
                      <a16:colId xmlns:a16="http://schemas.microsoft.com/office/drawing/2014/main" val="3491233003"/>
                    </a:ext>
                  </a:extLst>
                </a:gridCol>
                <a:gridCol w="2740025">
                  <a:extLst>
                    <a:ext uri="{9D8B030D-6E8A-4147-A177-3AD203B41FA5}">
                      <a16:colId xmlns:a16="http://schemas.microsoft.com/office/drawing/2014/main" val="2528590017"/>
                    </a:ext>
                  </a:extLst>
                </a:gridCol>
                <a:gridCol w="587375">
                  <a:extLst>
                    <a:ext uri="{9D8B030D-6E8A-4147-A177-3AD203B41FA5}">
                      <a16:colId xmlns:a16="http://schemas.microsoft.com/office/drawing/2014/main" val="3433318351"/>
                    </a:ext>
                  </a:extLst>
                </a:gridCol>
                <a:gridCol w="4251325">
                  <a:extLst>
                    <a:ext uri="{9D8B030D-6E8A-4147-A177-3AD203B41FA5}">
                      <a16:colId xmlns:a16="http://schemas.microsoft.com/office/drawing/2014/main" val="361195585"/>
                    </a:ext>
                  </a:extLst>
                </a:gridCol>
              </a:tblGrid>
              <a:tr h="2103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No.</a:t>
                      </a:r>
                      <a:endParaRPr lang="ko-KR" altLang="en-US" sz="12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KPI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목표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진척사항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요약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973700"/>
                  </a:ext>
                </a:extLst>
              </a:tr>
              <a:tr h="13668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제조 운영 </a:t>
                      </a:r>
                      <a:r>
                        <a:rPr lang="en-US" altLang="ko-KR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 </a:t>
                      </a:r>
                      <a:r>
                        <a:rPr lang="ko-KR" altLang="en-US" sz="1100" b="1" kern="1200" spc="-7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en-US" altLang="ko-KR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lang="en-US" altLang="ko-KR" sz="1100" b="1" kern="1200" spc="-7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i="0" u="none" strike="noStrike" kern="1200" spc="-7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(</a:t>
                      </a:r>
                      <a:r>
                        <a:rPr lang="en-US" altLang="ko-KR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NFF</a:t>
                      </a:r>
                      <a:r>
                        <a:rPr kumimoji="1" lang="en-US" altLang="ko-KR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셀 </a:t>
                      </a:r>
                      <a:r>
                        <a:rPr kumimoji="1" lang="ko-KR" altLang="en-US" sz="1100" b="1" i="0" u="none" strike="noStrike" kern="1200" cap="none" spc="-5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kumimoji="1" lang="ko-KR" altLang="en-US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목표 달성</a:t>
                      </a:r>
                      <a:r>
                        <a:rPr kumimoji="1" lang="en-US" altLang="ko-KR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NFF</a:t>
                      </a: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셀 </a:t>
                      </a:r>
                      <a:r>
                        <a:rPr kumimoji="1" lang="ko-KR" altLang="en-US" sz="1000" b="1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수율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목표 달성</a:t>
                      </a:r>
                      <a:b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 Q : </a:t>
                      </a:r>
                      <a:r>
                        <a:rPr kumimoji="1" lang="ko-KR" altLang="en-US" sz="100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수율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97.7%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이상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(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대상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라인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: EP2 2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라인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-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 : ’26.12 (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kumimoji="0" lang="en-US" altLang="ko-KR" sz="11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[3Q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lang="en-US" altLang="ko-KR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누적수율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97.5% /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호기 전개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모델 검증 및 개선</a:t>
                      </a:r>
                      <a:endParaRPr lang="en-US" altLang="ko-KR" sz="10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▷ </a:t>
                      </a:r>
                      <a:r>
                        <a:rPr lang="ko-KR" altLang="en-US" sz="10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</a:t>
                      </a:r>
                      <a:r>
                        <a:rPr lang="ko-KR" altLang="en-US" sz="10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목표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누적 </a:t>
                      </a:r>
                      <a:r>
                        <a:rPr lang="ko-KR" altLang="en-US" sz="10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수율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97.7%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와인더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 누적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수율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</a:p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▷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실적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97.2% (Δ0.5%p) </a:t>
                      </a:r>
                    </a:p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▷ 달성 방안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FDC 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알람 기반으로 사전조치를 통해 불량률 개선 </a:t>
                      </a:r>
                      <a:b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-.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접시롤러 마모 이상감지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Tab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꽂힘 불량 개선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(0.08%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0.03%)</a:t>
                      </a:r>
                    </a:p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-. CBD L3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치수 이감감지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ABW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불량 개선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(0.15%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0.04%)</a:t>
                      </a:r>
                    </a:p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-. CBD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회전 유닛 벨트 이상감지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CBD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비틀림 개선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(0.20%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0.14%)</a:t>
                      </a:r>
                    </a:p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-.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권취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사행 검사기 광량 이상감지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: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사행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과검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불량 개선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(0.56%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0.37%)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683342"/>
                  </a:ext>
                </a:extLst>
              </a:tr>
              <a:tr h="13668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제조 운영 </a:t>
                      </a:r>
                      <a:r>
                        <a:rPr lang="en-US" altLang="ko-KR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 수율</a:t>
                      </a:r>
                      <a:r>
                        <a:rPr lang="en-US" altLang="ko-KR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lang="en-US" altLang="ko-KR" sz="1100" b="1" kern="1200" spc="-7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i="0" u="none" strike="noStrike" kern="1200" spc="-7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(</a:t>
                      </a:r>
                      <a:r>
                        <a:rPr kumimoji="1" lang="en-US" altLang="ko-KR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NJ </a:t>
                      </a:r>
                      <a:r>
                        <a:rPr kumimoji="1" lang="ko-KR" altLang="en-US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고질 이슈 개선</a:t>
                      </a:r>
                      <a:r>
                        <a:rPr kumimoji="1" lang="en-US" altLang="ko-KR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NJ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고질 이슈 개선</a:t>
                      </a:r>
                      <a:endParaRPr kumimoji="1" lang="en-US" altLang="ko-KR" sz="10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- Q : M53F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발열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0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회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월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- D : 26.3Q</a:t>
                      </a:r>
                      <a:endParaRPr kumimoji="1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[3Q 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lang="en-US" altLang="ko-KR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ko-KR" altLang="en-US" sz="1000" b="0" i="0" u="none" strike="noStrike" kern="1200" noProof="0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전호기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확대 전개 및 양산 검증</a:t>
                      </a:r>
                      <a:r>
                        <a:rPr lang="en-US" altLang="ko-KR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완료</a:t>
                      </a:r>
                      <a:endParaRPr lang="en-US" altLang="ko-KR" sz="10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▷ </a:t>
                      </a:r>
                      <a:r>
                        <a:rPr lang="ko-KR" altLang="en-US" sz="1000" b="1" i="0" u="none" strike="noStrike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연목표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M53F 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발열 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회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endParaRPr lang="en-US" altLang="ko-KR" sz="1000" b="1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▷ 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실적 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발생 없음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</a:t>
                      </a:r>
                    </a:p>
                    <a:p>
                      <a:pPr algn="l" fontAlgn="ctr"/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▷ 진척현황</a:t>
                      </a:r>
                      <a:endParaRPr lang="en-US" altLang="ko-KR" sz="1000" b="1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-.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EMS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연계하여 사전 조치 진행 중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(5/28~)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중으로 </a:t>
                      </a:r>
                      <a:r>
                        <a:rPr lang="ko-KR" altLang="en-US" sz="1000" b="0" i="0" u="none" strike="noStrike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조치율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개선 중임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 [5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 13.3% (4/30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[8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 85.3% (29/34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), 72.0%p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개선함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</a:p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 * </a:t>
                      </a:r>
                      <a:r>
                        <a:rPr lang="ko-KR" altLang="en-US" sz="9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양산 운영 안정화 및 </a:t>
                      </a:r>
                      <a:r>
                        <a:rPr lang="en-US" altLang="ko-KR" sz="9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 </a:t>
                      </a:r>
                      <a:r>
                        <a:rPr lang="ko-KR" altLang="en-US" sz="9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내재화를 위한 </a:t>
                      </a:r>
                      <a:r>
                        <a:rPr lang="en-US" altLang="ko-KR" sz="9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NJ </a:t>
                      </a:r>
                      <a:r>
                        <a:rPr lang="ko-KR" altLang="en-US" sz="9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 출장 대응 </a:t>
                      </a:r>
                      <a:r>
                        <a:rPr lang="en-US" altLang="ko-KR" sz="9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(8/18~8/28)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endParaRPr lang="en-US" altLang="ko-KR" sz="1000" b="0" i="0" u="none" strike="noStrike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6499626"/>
                  </a:ext>
                </a:extLst>
              </a:tr>
              <a:tr h="13668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실행 가속화</a:t>
                      </a:r>
                      <a:endParaRPr lang="en-US" altLang="ko-KR" sz="1100" b="1" kern="1200" spc="-1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1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en-US" altLang="ko-KR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</a:t>
                      </a:r>
                      <a:r>
                        <a:rPr kumimoji="1" lang="ko-KR" altLang="en-US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활용 치명인자 도출 자동화를 </a:t>
                      </a:r>
                      <a:br>
                        <a:rPr kumimoji="1" lang="en-US" altLang="ko-KR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ko-KR" altLang="en-US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통한 업무효율 향상</a:t>
                      </a:r>
                      <a:r>
                        <a:rPr kumimoji="1" lang="en-US" altLang="ko-KR" sz="1100" b="0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AI </a:t>
                      </a:r>
                      <a:r>
                        <a:rPr kumimoji="1" lang="ko-KR" altLang="en-US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활용 치명인자 도출 자동화를  통한 업무효율 향상</a:t>
                      </a:r>
                      <a:endParaRPr kumimoji="1" lang="en-US" altLang="ko-KR" sz="1000" b="1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 Q :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분석 업무 생산성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30% 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- D : ’26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12</a:t>
                      </a:r>
                      <a:r>
                        <a:rPr kumimoji="1" lang="ko-KR" altLang="en-US" sz="10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i="0" u="none" strike="noStrike" kern="1200" noProof="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[3Q 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lang="en-US" altLang="ko-KR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en-US" altLang="ko-KR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Agent 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시스템</a:t>
                      </a:r>
                      <a:r>
                        <a:rPr lang="en-US" altLang="ko-KR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/DB 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연계 완료 및 개발 검증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▷ </a:t>
                      </a:r>
                      <a:r>
                        <a:rPr lang="ko-KR" altLang="en-US" sz="1000" b="1" i="0" u="none" strike="noStrike" kern="1200" err="1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연목표</a:t>
                      </a:r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en-US" altLang="ko-KR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: </a:t>
                      </a:r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분석 업무 생산성 </a:t>
                      </a:r>
                      <a:r>
                        <a:rPr lang="en-US" altLang="ko-KR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30% </a:t>
                      </a:r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개선 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(</a:t>
                      </a:r>
                      <a:r>
                        <a:rPr lang="ko-KR" altLang="en-US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분석 업무 효율화 위한 주요인자 추출 자동화</a:t>
                      </a:r>
                      <a:r>
                        <a:rPr lang="en-US" altLang="ko-KR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  <a:endParaRPr lang="ko-KR" altLang="en-US" sz="1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  <a:p>
                      <a:pPr marL="177800" indent="-177800" algn="l" fontAlgn="ctr"/>
                      <a:r>
                        <a:rPr lang="ko-KR" altLang="en-US" sz="10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▷ 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상반기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실적 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77% 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 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(54Hr↓: ’25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70Hr 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’26</a:t>
                      </a: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16Hr)</a:t>
                      </a:r>
                    </a:p>
                    <a:p>
                      <a:pPr marL="177800" indent="-177800" algn="l" fontAlgn="ctr"/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▷ 주요 활동 </a:t>
                      </a:r>
                      <a:endParaRPr lang="en-US" altLang="ko-KR" sz="1000" b="1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88900" indent="-88900" algn="l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    -.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알고리즘 개선을 위한 신규 알고리즘 검토 및 데이터 </a:t>
                      </a:r>
                      <a:r>
                        <a:rPr lang="ko-KR" altLang="en-US" sz="1000" b="0" i="0" u="none" strike="noStrike" err="1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전처리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 과정 자동화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/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고도화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  <a:p>
                      <a:pPr marL="88900" indent="-88900" algn="l" fontAlgn="ctr"/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▷ 향후 계획   </a:t>
                      </a:r>
                    </a:p>
                    <a:p>
                      <a:pPr marL="88900" indent="-88900" algn="l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   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-.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변수 추출 방법론 알고리즘 추가 검토 및 </a:t>
                      </a:r>
                      <a:r>
                        <a:rPr lang="ko-KR" altLang="en-US" sz="1000" b="0" i="0" u="none" strike="noStrike" err="1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타공정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(LAM/NND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등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)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사례 추가 수집 후 알고리즘 간 성능 비교 예정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7852064"/>
                  </a:ext>
                </a:extLst>
              </a:tr>
              <a:tr h="11276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1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실행 가속화</a:t>
                      </a:r>
                      <a:endParaRPr lang="en-US" altLang="ko-KR" sz="11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(FDC </a:t>
                      </a:r>
                      <a:r>
                        <a:rPr lang="ko-KR" altLang="en-US" sz="11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사전 예측을 위한 모델링 </a:t>
                      </a:r>
                      <a:endParaRPr lang="en-US" altLang="ko-KR" sz="1100" b="1" kern="1200" spc="-1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검증 환경 구축</a:t>
                      </a:r>
                      <a:r>
                        <a:rPr lang="en-US" altLang="ko-KR" sz="1100" b="1" kern="1200" spc="-1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FDC </a:t>
                      </a:r>
                      <a:r>
                        <a:rPr kumimoji="0" lang="ko-KR" altLang="en-US" sz="1000" b="1" i="0" u="none" strike="noStrike" kern="1200" cap="none" spc="-1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사전 예측을 위한 모델링 검증 환경 구축</a:t>
                      </a:r>
                      <a:br>
                        <a:rPr kumimoji="0" lang="en-US" altLang="ko-KR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Q :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이상감지 적확도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20% 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b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- D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: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’26.9</a:t>
                      </a:r>
                      <a:r>
                        <a:rPr kumimoji="0" lang="ko-KR" altLang="en-US" sz="1000" b="0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endParaRPr kumimoji="0" lang="en-US" altLang="ko-KR" sz="1000" b="0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1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[3Q 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목표</a:t>
                      </a:r>
                      <a:r>
                        <a:rPr lang="en-US" altLang="ko-KR" sz="1000" b="0" i="0" u="none" strike="noStrike" kern="1200" noProof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모델링 검증 환경 구축 및 고도화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▷ 전극</a:t>
                      </a:r>
                      <a:r>
                        <a:rPr 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원통형</a:t>
                      </a:r>
                      <a:r>
                        <a:rPr 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조립 공정 </a:t>
                      </a:r>
                      <a:r>
                        <a:rPr lang="ko-KR" altLang="en-US" sz="1000" b="0" i="0" u="none" strike="noStrike" kern="1200" noProof="0" dirty="0" err="1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법인별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FDC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 사전감지 모델 개발 환경 요건 정의 </a:t>
                      </a:r>
                      <a:r>
                        <a:rPr 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(4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  <a:endParaRPr lang="en-US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 Narrow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lvl="0" algn="l">
                        <a:buNone/>
                      </a:pPr>
                      <a:r>
                        <a:rPr lang="ko-KR" alt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▷ 전극</a:t>
                      </a:r>
                      <a:r>
                        <a:rPr 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원통형</a:t>
                      </a:r>
                      <a:r>
                        <a:rPr 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조립 공정 </a:t>
                      </a:r>
                      <a:r>
                        <a:rPr lang="ko-KR" altLang="en-US" sz="1000" b="0" i="0" u="none" strike="noStrike" kern="1200" noProof="0" dirty="0" err="1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법인별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 일 사용 </a:t>
                      </a:r>
                      <a:r>
                        <a:rPr 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Data 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전송 속도 테스트 완료 </a:t>
                      </a:r>
                      <a:r>
                        <a:rPr 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(4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en-US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 Narrow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lvl="0" algn="l">
                        <a:buNone/>
                      </a:pPr>
                      <a:r>
                        <a:rPr lang="ko-KR" alt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▷ </a:t>
                      </a:r>
                      <a:r>
                        <a:rPr lang="en-US" sz="1000" b="0" i="0" u="none" strike="noStrike" kern="1200" noProof="0" dirty="0" err="1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데이터</a:t>
                      </a:r>
                      <a:r>
                        <a:rPr 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파이프라인 구축 및 </a:t>
                      </a:r>
                      <a:r>
                        <a:rPr lang="en-US" sz="1000" b="0" i="0" u="none" strike="noStrike" kern="1200" noProof="0" dirty="0" err="1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Codespace</a:t>
                      </a:r>
                      <a:r>
                        <a:rPr 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연계 </a:t>
                      </a:r>
                      <a:r>
                        <a:rPr lang="ko-KR" altLang="en-US" sz="1000" b="0" i="0" u="none" strike="noStrike" kern="1200" noProof="0" dirty="0" err="1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아키텍쳐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 설계 완료 </a:t>
                      </a:r>
                      <a:r>
                        <a:rPr 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(6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월</a:t>
                      </a:r>
                      <a:r>
                        <a:rPr 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  <a:endParaRPr lang="en-US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 Narrow"/>
                        <a:ea typeface="LG스마트체 Regular"/>
                        <a:cs typeface="+mn-cs"/>
                      </a:endParaRPr>
                    </a:p>
                    <a:p>
                      <a:pPr lvl="0" algn="l">
                        <a:buNone/>
                      </a:pPr>
                      <a:r>
                        <a:rPr lang="ko-KR" alt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▷ </a:t>
                      </a:r>
                      <a:r>
                        <a:rPr 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FDC 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개발 서버 투자심의  완료 </a:t>
                      </a:r>
                      <a:r>
                        <a:rPr 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(7/7)</a:t>
                      </a:r>
                      <a:endParaRPr lang="en-US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 Narrow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▷ </a:t>
                      </a:r>
                      <a:r>
                        <a:rPr lang="en-US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WA/OC </a:t>
                      </a:r>
                      <a:r>
                        <a:rPr lang="ko-KR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법인</a:t>
                      </a:r>
                      <a:r>
                        <a:rPr lang="en-US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 SPC·FDC·MES </a:t>
                      </a:r>
                      <a:r>
                        <a:rPr lang="ko-KR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데이터</a:t>
                      </a:r>
                      <a:r>
                        <a:rPr lang="en-US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ko-KR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파이프라인</a:t>
                      </a:r>
                      <a:r>
                        <a:rPr lang="en-US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lang="ko-KR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및</a:t>
                      </a:r>
                      <a:r>
                        <a:rPr lang="en-US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 FDC </a:t>
                      </a:r>
                      <a:r>
                        <a:rPr lang="ko-KR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화면</a:t>
                      </a:r>
                      <a:r>
                        <a:rPr lang="en-US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(UI) </a:t>
                      </a:r>
                      <a:r>
                        <a:rPr lang="ko-KR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개발</a:t>
                      </a:r>
                      <a:r>
                        <a:rPr lang="en-US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 (~8</a:t>
                      </a:r>
                      <a:r>
                        <a:rPr lang="ko-KR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월</a:t>
                      </a:r>
                      <a:r>
                        <a:rPr lang="en-US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 Narrow"/>
                          <a:ea typeface="LG스마트체 Regular"/>
                          <a:cs typeface="+mn-cs"/>
                        </a:rPr>
                        <a:t>)</a:t>
                      </a:r>
                      <a:endParaRPr lang="en-US" sz="1000" dirty="0">
                        <a:ea typeface="LG스마트체 Regular"/>
                      </a:endParaRPr>
                    </a:p>
                    <a:p>
                      <a:pPr lvl="0" algn="l">
                        <a:buNone/>
                      </a:pPr>
                      <a:r>
                        <a:rPr lang="ko-KR" alt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▷ 개발 환경 및 핵심 기능 구축 </a:t>
                      </a:r>
                      <a:r>
                        <a:rPr 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(9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),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시스템 오픈 및 글로벌 법인 확대 적용 </a:t>
                      </a:r>
                      <a:r>
                        <a:rPr 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(12</a:t>
                      </a:r>
                      <a:r>
                        <a:rPr lang="ko-KR" alt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sz="10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en-US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 Narrow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808684"/>
                  </a:ext>
                </a:extLst>
              </a:tr>
            </a:tbl>
          </a:graphicData>
        </a:graphic>
      </p:graphicFrame>
      <p:sp>
        <p:nvSpPr>
          <p:cNvPr id="21" name="타원 20">
            <a:extLst>
              <a:ext uri="{FF2B5EF4-FFF2-40B4-BE49-F238E27FC236}">
                <a16:creationId xmlns:a16="http://schemas.microsoft.com/office/drawing/2014/main" id="{AD0FE4FD-5CF0-108D-23B1-D4404C8C2B66}"/>
              </a:ext>
            </a:extLst>
          </p:cNvPr>
          <p:cNvSpPr>
            <a:spLocks noChangeAspect="1"/>
          </p:cNvSpPr>
          <p:nvPr/>
        </p:nvSpPr>
        <p:spPr>
          <a:xfrm>
            <a:off x="5049476" y="1511443"/>
            <a:ext cx="180000" cy="180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-3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B29027B3-E595-D7DB-E9E5-0FDD47185B3D}"/>
              </a:ext>
            </a:extLst>
          </p:cNvPr>
          <p:cNvSpPr>
            <a:spLocks noChangeAspect="1"/>
          </p:cNvSpPr>
          <p:nvPr/>
        </p:nvSpPr>
        <p:spPr>
          <a:xfrm>
            <a:off x="5049476" y="2921170"/>
            <a:ext cx="180000" cy="180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-3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E3142A61-7FBE-F363-E6FF-E13BEC8F0B6D}"/>
              </a:ext>
            </a:extLst>
          </p:cNvPr>
          <p:cNvSpPr>
            <a:spLocks noChangeAspect="1"/>
          </p:cNvSpPr>
          <p:nvPr/>
        </p:nvSpPr>
        <p:spPr>
          <a:xfrm>
            <a:off x="5049476" y="4296205"/>
            <a:ext cx="180000" cy="180000"/>
          </a:xfrm>
          <a:prstGeom prst="ellipse">
            <a:avLst/>
          </a:prstGeom>
          <a:solidFill>
            <a:srgbClr val="339933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-3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FE908314-08B0-1C75-B0C4-1D203E1636D6}"/>
              </a:ext>
            </a:extLst>
          </p:cNvPr>
          <p:cNvSpPr/>
          <p:nvPr/>
        </p:nvSpPr>
        <p:spPr>
          <a:xfrm>
            <a:off x="1476486" y="1223334"/>
            <a:ext cx="500747" cy="149771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그룹장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48E8D-481D-53CE-6B80-8DEDD6E3C60D}"/>
              </a:ext>
            </a:extLst>
          </p:cNvPr>
          <p:cNvSpPr txBox="1"/>
          <p:nvPr/>
        </p:nvSpPr>
        <p:spPr>
          <a:xfrm>
            <a:off x="4811437" y="6669360"/>
            <a:ext cx="409086" cy="16927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2 / </a:t>
            </a:r>
            <a:r>
              <a:rPr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9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3" name="실행 단추: 끝으로 이동 4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4FE23F5-3972-37A7-F36E-B6C53576667F}"/>
              </a:ext>
            </a:extLst>
          </p:cNvPr>
          <p:cNvSpPr/>
          <p:nvPr/>
        </p:nvSpPr>
        <p:spPr>
          <a:xfrm>
            <a:off x="9476799" y="943827"/>
            <a:ext cx="180000" cy="126000"/>
          </a:xfrm>
          <a:prstGeom prst="actionButtonEnd">
            <a:avLst/>
          </a:prstGeom>
          <a:solidFill>
            <a:sysClr val="window" lastClr="FFFFFF">
              <a:lumMod val="7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6" name="실행 단추: 끝으로 이동 15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DC196147-3343-DA5A-4F76-2662A689929D}"/>
              </a:ext>
            </a:extLst>
          </p:cNvPr>
          <p:cNvSpPr/>
          <p:nvPr/>
        </p:nvSpPr>
        <p:spPr>
          <a:xfrm>
            <a:off x="9476799" y="5039177"/>
            <a:ext cx="180000" cy="126000"/>
          </a:xfrm>
          <a:prstGeom prst="actionButtonEnd">
            <a:avLst/>
          </a:prstGeom>
          <a:solidFill>
            <a:sysClr val="window" lastClr="FFFFFF">
              <a:lumMod val="7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" name="실행 단추: 끝으로 이동 17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E137CD81-69C3-F685-34FD-1D356E4856B8}"/>
              </a:ext>
            </a:extLst>
          </p:cNvPr>
          <p:cNvSpPr/>
          <p:nvPr/>
        </p:nvSpPr>
        <p:spPr>
          <a:xfrm>
            <a:off x="9476799" y="3674693"/>
            <a:ext cx="180000" cy="126000"/>
          </a:xfrm>
          <a:prstGeom prst="actionButtonEnd">
            <a:avLst/>
          </a:prstGeom>
          <a:solidFill>
            <a:sysClr val="window" lastClr="FFFFFF">
              <a:lumMod val="7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661F49F-2B18-E077-4790-4EAE8C40CD5E}"/>
              </a:ext>
            </a:extLst>
          </p:cNvPr>
          <p:cNvSpPr>
            <a:spLocks noChangeAspect="1"/>
          </p:cNvSpPr>
          <p:nvPr/>
        </p:nvSpPr>
        <p:spPr>
          <a:xfrm>
            <a:off x="5049476" y="5464649"/>
            <a:ext cx="180000" cy="180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-3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9E56FE7-AAFC-84B8-333D-2D127B79AC2F}"/>
              </a:ext>
            </a:extLst>
          </p:cNvPr>
          <p:cNvGrpSpPr/>
          <p:nvPr/>
        </p:nvGrpSpPr>
        <p:grpSpPr>
          <a:xfrm>
            <a:off x="7758397" y="114985"/>
            <a:ext cx="1781744" cy="604476"/>
            <a:chOff x="4232920" y="49957"/>
            <a:chExt cx="1781744" cy="604476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64523033-798B-F434-F55D-8BF3A77CEA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08EAFBC-DB08-8447-E00B-C7107E358EEA}"/>
                </a:ext>
              </a:extLst>
            </p:cNvPr>
            <p:cNvSpPr txBox="1"/>
            <p:nvPr/>
          </p:nvSpPr>
          <p:spPr>
            <a:xfrm>
              <a:off x="4458469" y="52657"/>
              <a:ext cx="1276953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초과 달성 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(5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점 기준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DB102180-269A-0563-4895-857704170D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B774847-FB51-06C9-0464-1521C8A52E8D}"/>
                </a:ext>
              </a:extLst>
            </p:cNvPr>
            <p:cNvSpPr txBox="1"/>
            <p:nvPr/>
          </p:nvSpPr>
          <p:spPr>
            <a:xfrm>
              <a:off x="4458469" y="477133"/>
              <a:ext cx="155619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미달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67C17907-5E2B-6993-71F1-C3AA9481290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E2E16C8-8CBB-548C-3939-4D2F147F7CBA}"/>
                </a:ext>
              </a:extLst>
            </p:cNvPr>
            <p:cNvSpPr txBox="1"/>
            <p:nvPr/>
          </p:nvSpPr>
          <p:spPr>
            <a:xfrm>
              <a:off x="4458469" y="264895"/>
              <a:ext cx="137473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달성 수준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3993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3">
            <a:extLst>
              <a:ext uri="{FF2B5EF4-FFF2-40B4-BE49-F238E27FC236}">
                <a16:creationId xmlns:a16="http://schemas.microsoft.com/office/drawing/2014/main" id="{3244E635-914F-8C60-7D4D-7461F78B7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67" y="116449"/>
            <a:ext cx="2531003" cy="369332"/>
          </a:xfr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/>
              <a:t>2.</a:t>
            </a:r>
            <a:r>
              <a:rPr lang="ko-KR" altLang="en-US"/>
              <a:t> </a:t>
            </a:r>
            <a:r>
              <a:rPr lang="en-US" altLang="ko-KR"/>
              <a:t>KPI 8</a:t>
            </a:r>
            <a:r>
              <a:rPr lang="ko-KR" altLang="en-US"/>
              <a:t>월 진척 사항 </a:t>
            </a:r>
            <a:r>
              <a:rPr lang="en-US" altLang="ko-KR"/>
              <a:t>(1/5)</a:t>
            </a:r>
            <a:endParaRPr lang="ko-KR" altLang="en-US"/>
          </a:p>
        </p:txBody>
      </p:sp>
      <p:sp>
        <p:nvSpPr>
          <p:cNvPr id="125" name="실행 단추: 처음으로 이동 12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DCBE9E25-C939-B4E7-DB05-B6B48148EC00}"/>
              </a:ext>
            </a:extLst>
          </p:cNvPr>
          <p:cNvSpPr/>
          <p:nvPr/>
        </p:nvSpPr>
        <p:spPr>
          <a:xfrm>
            <a:off x="9597155" y="68805"/>
            <a:ext cx="174277" cy="220868"/>
          </a:xfrm>
          <a:prstGeom prst="actionButtonBeginning">
            <a:avLst/>
          </a:prstGeom>
          <a:solidFill>
            <a:sysClr val="window" lastClr="FFFFFF">
              <a:lumMod val="7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0AA96CA-9FBC-2D63-A30F-E09E38A56C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573511"/>
              </p:ext>
            </p:extLst>
          </p:nvPr>
        </p:nvGraphicFramePr>
        <p:xfrm>
          <a:off x="735049" y="761673"/>
          <a:ext cx="8862107" cy="756427"/>
        </p:xfrm>
        <a:graphic>
          <a:graphicData uri="http://schemas.openxmlformats.org/drawingml/2006/table">
            <a:tbl>
              <a:tblPr/>
              <a:tblGrid>
                <a:gridCol w="239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0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375">
                  <a:extLst>
                    <a:ext uri="{9D8B030D-6E8A-4147-A177-3AD203B41FA5}">
                      <a16:colId xmlns:a16="http://schemas.microsoft.com/office/drawing/2014/main" val="2961269463"/>
                    </a:ext>
                  </a:extLst>
                </a:gridCol>
                <a:gridCol w="7330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840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KPI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360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’26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년 분기목표 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연간목표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360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비중</a:t>
                      </a:r>
                    </a:p>
                  </a:txBody>
                  <a:tcPr marL="36000" marR="360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상태</a:t>
                      </a:r>
                    </a:p>
                  </a:txBody>
                  <a:tcPr marL="36000" marR="360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427"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제조 운영 </a:t>
                      </a:r>
                      <a:r>
                        <a:rPr lang="en-US" altLang="ko-KR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BM/PD </a:t>
                      </a:r>
                      <a:r>
                        <a:rPr lang="ko-KR" altLang="en-US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lang="en-US" altLang="ko-KR" sz="1100" b="1" kern="1200" spc="-7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</a:t>
                      </a:r>
                      <a:r>
                        <a:rPr lang="en-US" altLang="ko-KR" sz="1100" b="1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(AX </a:t>
                      </a:r>
                      <a:r>
                        <a:rPr lang="ko-KR" altLang="en-US" sz="1100" b="1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기반 </a:t>
                      </a:r>
                      <a:r>
                        <a:rPr lang="en-US" altLang="ko-KR" sz="1100" b="1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BM/PD Loss </a:t>
                      </a:r>
                      <a:r>
                        <a:rPr lang="ko-KR" altLang="en-US" sz="1100" b="1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</a:t>
                      </a:r>
                      <a:r>
                        <a:rPr lang="en-US" altLang="ko-KR" sz="1100" b="1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en-US" altLang="ko-KR" sz="11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endParaRPr kumimoji="1" lang="en-US" altLang="ko-KR" sz="1100" b="1" i="0" u="none" strike="noStrike" kern="1200" cap="none" spc="-5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spc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[3Q </a:t>
                      </a:r>
                      <a:r>
                        <a:rPr lang="ko-KR" altLang="en-US" sz="1000" b="1" kern="1200" spc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실행 계획</a:t>
                      </a:r>
                      <a:r>
                        <a:rPr lang="en-US" altLang="ko-KR" sz="1000" b="1" kern="1200" spc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r>
                        <a:rPr lang="en-US" altLang="ko-KR" sz="1000" b="1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전극</a:t>
                      </a:r>
                      <a: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조립</a:t>
                      </a:r>
                      <a: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FDC</a:t>
                      </a: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모델링 고도화 기반 </a:t>
                      </a:r>
                      <a:r>
                        <a:rPr lang="en-US" altLang="ko-KR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BM/PD </a:t>
                      </a:r>
                      <a:r>
                        <a:rPr lang="ko-KR" altLang="en-US" sz="1000" b="0" kern="1200" spc="0" baseline="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및 유지 관리</a:t>
                      </a:r>
                      <a:endParaRPr lang="en-US" altLang="ko-KR" sz="1000" b="0" kern="1200" spc="0" baseline="0" noProof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</a:t>
                      </a: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-. Q : BM/PD 20% </a:t>
                      </a:r>
                      <a:r>
                        <a:rPr lang="ko-KR" altLang="en-US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 </a:t>
                      </a: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연목표</a:t>
                      </a: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 (</a:t>
                      </a:r>
                      <a:r>
                        <a:rPr lang="ko-KR" altLang="en-US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기준 공정 </a:t>
                      </a: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COT/Roll Press/PKG/L&amp;S/AZS/NTC)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10% (CDO)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15% (</a:t>
                      </a:r>
                      <a:r>
                        <a:rPr lang="ko-KR" alt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그룹장</a:t>
                      </a: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endParaRPr lang="en-US" sz="1000" b="0" i="0" u="none" strike="noStrike" spc="-7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Rectangle 4">
            <a:extLst>
              <a:ext uri="{FF2B5EF4-FFF2-40B4-BE49-F238E27FC236}">
                <a16:creationId xmlns:a16="http://schemas.microsoft.com/office/drawing/2014/main" id="{23FB88F6-C0A8-45B9-8884-D2D6BF015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761675"/>
            <a:ext cx="448035" cy="75642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endParaRPr kumimoji="1" lang="en-US" altLang="ko-KR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FDD8105C-DB24-7CDA-C681-E664FA9C5C74}"/>
              </a:ext>
            </a:extLst>
          </p:cNvPr>
          <p:cNvSpPr>
            <a:spLocks noChangeAspect="1"/>
          </p:cNvSpPr>
          <p:nvPr/>
        </p:nvSpPr>
        <p:spPr>
          <a:xfrm>
            <a:off x="9131468" y="1124744"/>
            <a:ext cx="180000" cy="180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-3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7F87C0C5-31B7-77AA-B775-E8854AAE7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1561719"/>
            <a:ext cx="448035" cy="1882114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일정</a:t>
            </a: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4D23434-6BEB-59AB-3DF2-CD407530DE66}"/>
              </a:ext>
            </a:extLst>
          </p:cNvPr>
          <p:cNvSpPr/>
          <p:nvPr/>
        </p:nvSpPr>
        <p:spPr>
          <a:xfrm>
            <a:off x="2413570" y="1001335"/>
            <a:ext cx="252000" cy="14760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K I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B229C5D-D879-9F40-674D-2174B70AA203}"/>
              </a:ext>
            </a:extLst>
          </p:cNvPr>
          <p:cNvSpPr/>
          <p:nvPr/>
        </p:nvSpPr>
        <p:spPr>
          <a:xfrm>
            <a:off x="2707036" y="1001335"/>
            <a:ext cx="389822" cy="14760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CDO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B9E7306E-74F3-A11C-8345-8B9D7E7E6C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539849"/>
              </p:ext>
            </p:extLst>
          </p:nvPr>
        </p:nvGraphicFramePr>
        <p:xfrm>
          <a:off x="735048" y="1521549"/>
          <a:ext cx="8862108" cy="1932498"/>
        </p:xfrm>
        <a:graphic>
          <a:graphicData uri="http://schemas.openxmlformats.org/drawingml/2006/table">
            <a:tbl>
              <a:tblPr/>
              <a:tblGrid>
                <a:gridCol w="738509">
                  <a:extLst>
                    <a:ext uri="{9D8B030D-6E8A-4147-A177-3AD203B41FA5}">
                      <a16:colId xmlns:a16="http://schemas.microsoft.com/office/drawing/2014/main" val="17103252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58282284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574503571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90626201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61868030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86585972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14679234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741167305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2785851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7129914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8237442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867782548"/>
                    </a:ext>
                  </a:extLst>
                </a:gridCol>
              </a:tblGrid>
              <a:tr h="124637"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'26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7681"/>
                  </a:ext>
                </a:extLst>
              </a:tr>
              <a:tr h="1246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850938"/>
                  </a:ext>
                </a:extLst>
              </a:tr>
              <a:tr h="829089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49617"/>
                  </a:ext>
                </a:extLst>
              </a:tr>
              <a:tr h="829089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05725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ED1F3BBA-761A-1E23-73C8-B6F57CCE3A63}"/>
              </a:ext>
            </a:extLst>
          </p:cNvPr>
          <p:cNvSpPr txBox="1"/>
          <p:nvPr/>
        </p:nvSpPr>
        <p:spPr>
          <a:xfrm>
            <a:off x="1738336" y="2318909"/>
            <a:ext cx="714762" cy="288147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텐션 차이 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기인 단선 개선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  <a:sym typeface="Wingdings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8DD70C3A-3AD4-F1D2-A871-7EF402E833A6}"/>
              </a:ext>
            </a:extLst>
          </p:cNvPr>
          <p:cNvCxnSpPr>
            <a:cxnSpLocks/>
          </p:cNvCxnSpPr>
          <p:nvPr/>
        </p:nvCxnSpPr>
        <p:spPr>
          <a:xfrm>
            <a:off x="993815" y="2271754"/>
            <a:ext cx="7164000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타원 20">
            <a:extLst>
              <a:ext uri="{FF2B5EF4-FFF2-40B4-BE49-F238E27FC236}">
                <a16:creationId xmlns:a16="http://schemas.microsoft.com/office/drawing/2014/main" id="{56F20239-E738-B13E-C137-AD6295512E34}"/>
              </a:ext>
            </a:extLst>
          </p:cNvPr>
          <p:cNvSpPr/>
          <p:nvPr/>
        </p:nvSpPr>
        <p:spPr>
          <a:xfrm>
            <a:off x="2025518" y="219975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28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C04F7EB-8F0A-B6CD-4174-0874CACE9588}"/>
              </a:ext>
            </a:extLst>
          </p:cNvPr>
          <p:cNvSpPr/>
          <p:nvPr/>
        </p:nvSpPr>
        <p:spPr>
          <a:xfrm>
            <a:off x="4713473" y="219975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15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FD49A6-14A5-485F-BB31-D669AA9DFEF7}"/>
              </a:ext>
            </a:extLst>
          </p:cNvPr>
          <p:cNvSpPr txBox="1"/>
          <p:nvPr/>
        </p:nvSpPr>
        <p:spPr>
          <a:xfrm>
            <a:off x="4590106" y="2337586"/>
            <a:ext cx="797623" cy="288147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원인 개선 및 사전 알람 적용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  <a:sym typeface="Wingdings"/>
            </a:endParaRPr>
          </a:p>
        </p:txBody>
      </p:sp>
      <p:grpSp>
        <p:nvGrpSpPr>
          <p:cNvPr id="26" name="그룹 1">
            <a:extLst>
              <a:ext uri="{FF2B5EF4-FFF2-40B4-BE49-F238E27FC236}">
                <a16:creationId xmlns:a16="http://schemas.microsoft.com/office/drawing/2014/main" id="{4207893B-6DA9-477C-D50A-6604CF3CC9B4}"/>
              </a:ext>
            </a:extLst>
          </p:cNvPr>
          <p:cNvGrpSpPr/>
          <p:nvPr/>
        </p:nvGrpSpPr>
        <p:grpSpPr>
          <a:xfrm>
            <a:off x="6721620" y="1510454"/>
            <a:ext cx="205184" cy="1943593"/>
            <a:chOff x="2020628" y="1123354"/>
            <a:chExt cx="205184" cy="5823078"/>
          </a:xfrm>
        </p:grpSpPr>
        <p:grpSp>
          <p:nvGrpSpPr>
            <p:cNvPr id="29" name="그룹 2">
              <a:extLst>
                <a:ext uri="{FF2B5EF4-FFF2-40B4-BE49-F238E27FC236}">
                  <a16:creationId xmlns:a16="http://schemas.microsoft.com/office/drawing/2014/main" id="{E4B83F17-5309-4BAA-99AA-C585831B8C88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5368372"/>
              <a:chOff x="4167960" y="2510051"/>
              <a:chExt cx="120667" cy="5565105"/>
            </a:xfrm>
          </p:grpSpPr>
          <p:cxnSp>
            <p:nvCxnSpPr>
              <p:cNvPr id="48" name="직선 연결선 167">
                <a:extLst>
                  <a:ext uri="{FF2B5EF4-FFF2-40B4-BE49-F238E27FC236}">
                    <a16:creationId xmlns:a16="http://schemas.microsoft.com/office/drawing/2014/main" id="{92071B23-5DE3-2B96-7D5A-4B26D61A41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5389228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ysDot"/>
              </a:ln>
              <a:effectLst/>
            </p:spPr>
          </p:cxnSp>
          <p:sp>
            <p:nvSpPr>
              <p:cNvPr id="49" name="이등변 삼각형 7">
                <a:extLst>
                  <a:ext uri="{FF2B5EF4-FFF2-40B4-BE49-F238E27FC236}">
                    <a16:creationId xmlns:a16="http://schemas.microsoft.com/office/drawing/2014/main" id="{8135FB54-19CF-0902-8CD1-466C6CC4E85F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32" name="Text Box 4">
              <a:extLst>
                <a:ext uri="{FF2B5EF4-FFF2-40B4-BE49-F238E27FC236}">
                  <a16:creationId xmlns:a16="http://schemas.microsoft.com/office/drawing/2014/main" id="{5044B54E-A309-2104-9882-AD83AB233D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4149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현재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0A5F9A8F-B278-171E-8BFC-B04FC0B4F2D3}"/>
              </a:ext>
            </a:extLst>
          </p:cNvPr>
          <p:cNvSpPr txBox="1"/>
          <p:nvPr/>
        </p:nvSpPr>
        <p:spPr>
          <a:xfrm>
            <a:off x="674936" y="1847272"/>
            <a:ext cx="165572" cy="7112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vert="eaVert"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전극</a:t>
            </a:r>
            <a:endParaRPr kumimoji="0" lang="en-US" altLang="ko-KR" sz="100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739DCE2E-436E-B64B-3FD9-9B5C58DBD53B}"/>
              </a:ext>
            </a:extLst>
          </p:cNvPr>
          <p:cNvCxnSpPr>
            <a:cxnSpLocks/>
          </p:cNvCxnSpPr>
          <p:nvPr/>
        </p:nvCxnSpPr>
        <p:spPr>
          <a:xfrm>
            <a:off x="993815" y="1889285"/>
            <a:ext cx="636252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FC77429-C20E-961C-3AE6-F1A5E4080118}"/>
              </a:ext>
            </a:extLst>
          </p:cNvPr>
          <p:cNvSpPr txBox="1"/>
          <p:nvPr/>
        </p:nvSpPr>
        <p:spPr>
          <a:xfrm>
            <a:off x="6663393" y="1943484"/>
            <a:ext cx="642411" cy="195814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lang="ko-KR" altLang="en-US" sz="800" b="0" i="0" u="none" strike="noStrike" kern="1200" cap="none" spc="-7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</a:rPr>
              <a:t> </a:t>
            </a: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개선 효과 검증  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6C662D4-BC9C-4715-244F-DC96F54F8D7B}"/>
              </a:ext>
            </a:extLst>
          </p:cNvPr>
          <p:cNvSpPr txBox="1"/>
          <p:nvPr/>
        </p:nvSpPr>
        <p:spPr>
          <a:xfrm>
            <a:off x="3584284" y="1943484"/>
            <a:ext cx="932652" cy="288147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1</a:t>
            </a: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라인 단선 신규 원인 </a:t>
            </a:r>
            <a: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연관인자 추가 발굴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16B19DE9-F5ED-99F0-9959-310599268B8E}"/>
              </a:ext>
            </a:extLst>
          </p:cNvPr>
          <p:cNvSpPr/>
          <p:nvPr/>
        </p:nvSpPr>
        <p:spPr>
          <a:xfrm>
            <a:off x="7049920" y="181544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F41A5586-A603-0046-0543-96BE7E1B415D}"/>
              </a:ext>
            </a:extLst>
          </p:cNvPr>
          <p:cNvSpPr/>
          <p:nvPr/>
        </p:nvSpPr>
        <p:spPr>
          <a:xfrm>
            <a:off x="1062414" y="180769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lIns="91440" tIns="45720" rIns="91440" bIns="45720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B61E0E6-BB37-6209-119D-C28D6285FA12}"/>
              </a:ext>
            </a:extLst>
          </p:cNvPr>
          <p:cNvSpPr txBox="1"/>
          <p:nvPr/>
        </p:nvSpPr>
        <p:spPr>
          <a:xfrm>
            <a:off x="1077181" y="1925730"/>
            <a:ext cx="1156647" cy="395869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ESOT</a:t>
            </a:r>
            <a:r>
              <a:rPr lang="en-US" altLang="ko-KR" sz="700" b="0" i="0" u="none" strike="noStrike" kern="1200" cap="none" spc="-7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</a:rPr>
              <a:t> </a:t>
            </a: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롤프레스 단선원인 분석   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및 개선 </a:t>
            </a:r>
            <a: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item FDC </a:t>
            </a: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적용 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b="0" i="0" u="none" strike="noStrike" kern="1200" cap="none" spc="-7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</a:rPr>
              <a:t> </a:t>
            </a: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14D86E3E-0809-C3C1-EFF2-BC02FE6FED4A}"/>
              </a:ext>
            </a:extLst>
          </p:cNvPr>
          <p:cNvSpPr/>
          <p:nvPr/>
        </p:nvSpPr>
        <p:spPr>
          <a:xfrm>
            <a:off x="4233706" y="180769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862F598A-D2CD-2A1F-88C3-4DFB1D15DAAE}"/>
              </a:ext>
            </a:extLst>
          </p:cNvPr>
          <p:cNvSpPr/>
          <p:nvPr/>
        </p:nvSpPr>
        <p:spPr>
          <a:xfrm>
            <a:off x="2009935" y="180769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lIns="91440" tIns="45720" rIns="91440" bIns="45720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28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9E5F8F73-596C-A9B7-FBBF-487A22F5908D}"/>
              </a:ext>
            </a:extLst>
          </p:cNvPr>
          <p:cNvSpPr/>
          <p:nvPr/>
        </p:nvSpPr>
        <p:spPr>
          <a:xfrm>
            <a:off x="6229187" y="180769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15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72BC1F5-05D1-F5EA-D782-192C453B1B64}"/>
              </a:ext>
            </a:extLst>
          </p:cNvPr>
          <p:cNvSpPr txBox="1"/>
          <p:nvPr/>
        </p:nvSpPr>
        <p:spPr>
          <a:xfrm>
            <a:off x="5990656" y="1927362"/>
            <a:ext cx="714619" cy="288147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WA</a:t>
            </a: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개선 사항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algn="ctr">
              <a:defRPr/>
            </a:pP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OT</a:t>
            </a: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적용 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5560805-F695-86F7-8B04-28C5EF871E91}"/>
              </a:ext>
            </a:extLst>
          </p:cNvPr>
          <p:cNvSpPr txBox="1"/>
          <p:nvPr/>
        </p:nvSpPr>
        <p:spPr>
          <a:xfrm>
            <a:off x="4467930" y="1925730"/>
            <a:ext cx="883420" cy="288147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OT</a:t>
            </a: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추가발굴 항목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개선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1D798A2-EB65-F922-C372-6D845C0B5F22}"/>
              </a:ext>
            </a:extLst>
          </p:cNvPr>
          <p:cNvSpPr/>
          <p:nvPr/>
        </p:nvSpPr>
        <p:spPr>
          <a:xfrm>
            <a:off x="4954560" y="179948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027A167-0933-0C78-C3FC-8E2CBEFFF1D2}"/>
              </a:ext>
            </a:extLst>
          </p:cNvPr>
          <p:cNvSpPr txBox="1"/>
          <p:nvPr/>
        </p:nvSpPr>
        <p:spPr>
          <a:xfrm>
            <a:off x="5355624" y="2323158"/>
            <a:ext cx="642411" cy="180425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개선완료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855D8C4D-2421-32DC-017F-28F654675D16}"/>
              </a:ext>
            </a:extLst>
          </p:cNvPr>
          <p:cNvSpPr/>
          <p:nvPr/>
        </p:nvSpPr>
        <p:spPr>
          <a:xfrm>
            <a:off x="5633473" y="219511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3C614AC-A648-6D6E-95BF-6355B5549FA1}"/>
              </a:ext>
            </a:extLst>
          </p:cNvPr>
          <p:cNvSpPr txBox="1"/>
          <p:nvPr/>
        </p:nvSpPr>
        <p:spPr>
          <a:xfrm>
            <a:off x="2501210" y="2318909"/>
            <a:ext cx="714762" cy="288147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텐션 모니터링 </a:t>
            </a:r>
            <a: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FDC </a:t>
            </a: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개발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  <a:sym typeface="Wingdings"/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82013E3-E9E3-11EB-E479-441D7DBFDCD3}"/>
              </a:ext>
            </a:extLst>
          </p:cNvPr>
          <p:cNvSpPr/>
          <p:nvPr/>
        </p:nvSpPr>
        <p:spPr>
          <a:xfrm>
            <a:off x="2788392" y="219975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81E4B97A-E7BF-4FEA-93AB-91E28621F6CF}"/>
              </a:ext>
            </a:extLst>
          </p:cNvPr>
          <p:cNvSpPr/>
          <p:nvPr/>
        </p:nvSpPr>
        <p:spPr>
          <a:xfrm>
            <a:off x="3689744" y="219975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AEA4968-3068-69D1-A56C-7440E5E99EDC}"/>
              </a:ext>
            </a:extLst>
          </p:cNvPr>
          <p:cNvSpPr txBox="1"/>
          <p:nvPr/>
        </p:nvSpPr>
        <p:spPr>
          <a:xfrm>
            <a:off x="3373784" y="2336545"/>
            <a:ext cx="1167800" cy="288147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추가 인자발굴 및 개선 진행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(ESWA </a:t>
            </a: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출장 진행</a:t>
            </a:r>
            <a: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)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E08C716-5E02-D35F-ED64-705F69E67643}"/>
              </a:ext>
            </a:extLst>
          </p:cNvPr>
          <p:cNvSpPr txBox="1"/>
          <p:nvPr/>
        </p:nvSpPr>
        <p:spPr>
          <a:xfrm rot="16200000">
            <a:off x="773699" y="1937479"/>
            <a:ext cx="337722" cy="165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vert="eaVert"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kern="0"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북미</a:t>
            </a:r>
            <a:endParaRPr kumimoji="0" lang="en-US" altLang="ko-KR" sz="90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C88FE94-C33C-3AE5-7482-A4B4EFBE1759}"/>
              </a:ext>
            </a:extLst>
          </p:cNvPr>
          <p:cNvSpPr txBox="1"/>
          <p:nvPr/>
        </p:nvSpPr>
        <p:spPr>
          <a:xfrm rot="16200000">
            <a:off x="773699" y="2304528"/>
            <a:ext cx="337722" cy="165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vert="eaVert"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WA</a:t>
            </a:r>
          </a:p>
        </p:txBody>
      </p:sp>
      <p:sp>
        <p:nvSpPr>
          <p:cNvPr id="129" name="Rectangle 4">
            <a:extLst>
              <a:ext uri="{FF2B5EF4-FFF2-40B4-BE49-F238E27FC236}">
                <a16:creationId xmlns:a16="http://schemas.microsoft.com/office/drawing/2014/main" id="{7DFB2F7D-89ED-C575-F282-36DF59214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3505201"/>
            <a:ext cx="448035" cy="3236350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진척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사항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5CA80F5-59AE-AC9E-685A-15652979B975}"/>
              </a:ext>
            </a:extLst>
          </p:cNvPr>
          <p:cNvSpPr txBox="1"/>
          <p:nvPr/>
        </p:nvSpPr>
        <p:spPr>
          <a:xfrm>
            <a:off x="761641" y="3731897"/>
            <a:ext cx="3148751" cy="29662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자동차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en-US" altLang="ko-KR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ESS </a:t>
            </a:r>
            <a:r>
              <a:rPr kumimoji="1" lang="ko-KR" altLang="en-US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상반기 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BM/PD Loss 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현황 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graphicFrame>
        <p:nvGraphicFramePr>
          <p:cNvPr id="133" name="표 132">
            <a:extLst>
              <a:ext uri="{FF2B5EF4-FFF2-40B4-BE49-F238E27FC236}">
                <a16:creationId xmlns:a16="http://schemas.microsoft.com/office/drawing/2014/main" id="{1E236C06-1877-6D66-213D-01B9DB0A4E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313223"/>
              </p:ext>
            </p:extLst>
          </p:nvPr>
        </p:nvGraphicFramePr>
        <p:xfrm>
          <a:off x="1021358" y="4208088"/>
          <a:ext cx="4133610" cy="853440"/>
        </p:xfrm>
        <a:graphic>
          <a:graphicData uri="http://schemas.openxmlformats.org/drawingml/2006/table">
            <a:tbl>
              <a:tblPr/>
              <a:tblGrid>
                <a:gridCol w="684213">
                  <a:extLst>
                    <a:ext uri="{9D8B030D-6E8A-4147-A177-3AD203B41FA5}">
                      <a16:colId xmlns:a16="http://schemas.microsoft.com/office/drawing/2014/main" val="398432560"/>
                    </a:ext>
                  </a:extLst>
                </a:gridCol>
                <a:gridCol w="289579">
                  <a:extLst>
                    <a:ext uri="{9D8B030D-6E8A-4147-A177-3AD203B41FA5}">
                      <a16:colId xmlns:a16="http://schemas.microsoft.com/office/drawing/2014/main" val="3401306541"/>
                    </a:ext>
                  </a:extLst>
                </a:gridCol>
                <a:gridCol w="289579">
                  <a:extLst>
                    <a:ext uri="{9D8B030D-6E8A-4147-A177-3AD203B41FA5}">
                      <a16:colId xmlns:a16="http://schemas.microsoft.com/office/drawing/2014/main" val="3015457865"/>
                    </a:ext>
                  </a:extLst>
                </a:gridCol>
                <a:gridCol w="289579">
                  <a:extLst>
                    <a:ext uri="{9D8B030D-6E8A-4147-A177-3AD203B41FA5}">
                      <a16:colId xmlns:a16="http://schemas.microsoft.com/office/drawing/2014/main" val="1694630873"/>
                    </a:ext>
                  </a:extLst>
                </a:gridCol>
                <a:gridCol w="289579">
                  <a:extLst>
                    <a:ext uri="{9D8B030D-6E8A-4147-A177-3AD203B41FA5}">
                      <a16:colId xmlns:a16="http://schemas.microsoft.com/office/drawing/2014/main" val="2022179904"/>
                    </a:ext>
                  </a:extLst>
                </a:gridCol>
                <a:gridCol w="289579">
                  <a:extLst>
                    <a:ext uri="{9D8B030D-6E8A-4147-A177-3AD203B41FA5}">
                      <a16:colId xmlns:a16="http://schemas.microsoft.com/office/drawing/2014/main" val="601544523"/>
                    </a:ext>
                  </a:extLst>
                </a:gridCol>
                <a:gridCol w="289579">
                  <a:extLst>
                    <a:ext uri="{9D8B030D-6E8A-4147-A177-3AD203B41FA5}">
                      <a16:colId xmlns:a16="http://schemas.microsoft.com/office/drawing/2014/main" val="590290585"/>
                    </a:ext>
                  </a:extLst>
                </a:gridCol>
                <a:gridCol w="345792">
                  <a:extLst>
                    <a:ext uri="{9D8B030D-6E8A-4147-A177-3AD203B41FA5}">
                      <a16:colId xmlns:a16="http://schemas.microsoft.com/office/drawing/2014/main" val="3277150361"/>
                    </a:ext>
                  </a:extLst>
                </a:gridCol>
                <a:gridCol w="289579">
                  <a:extLst>
                    <a:ext uri="{9D8B030D-6E8A-4147-A177-3AD203B41FA5}">
                      <a16:colId xmlns:a16="http://schemas.microsoft.com/office/drawing/2014/main" val="3898401328"/>
                    </a:ext>
                  </a:extLst>
                </a:gridCol>
                <a:gridCol w="289579">
                  <a:extLst>
                    <a:ext uri="{9D8B030D-6E8A-4147-A177-3AD203B41FA5}">
                      <a16:colId xmlns:a16="http://schemas.microsoft.com/office/drawing/2014/main" val="1466435241"/>
                    </a:ext>
                  </a:extLst>
                </a:gridCol>
                <a:gridCol w="289579">
                  <a:extLst>
                    <a:ext uri="{9D8B030D-6E8A-4147-A177-3AD203B41FA5}">
                      <a16:colId xmlns:a16="http://schemas.microsoft.com/office/drawing/2014/main" val="3038053805"/>
                    </a:ext>
                  </a:extLst>
                </a:gridCol>
                <a:gridCol w="497394">
                  <a:extLst>
                    <a:ext uri="{9D8B030D-6E8A-4147-A177-3AD203B41FA5}">
                      <a16:colId xmlns:a16="http://schemas.microsoft.com/office/drawing/2014/main" val="656446378"/>
                    </a:ext>
                  </a:extLst>
                </a:gridCol>
              </a:tblGrid>
              <a:tr h="170688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BM/PD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Loss(%)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자동차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/ESS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자동차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ESS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상반기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KPI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실적</a:t>
                      </a:r>
                      <a:endParaRPr 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578325"/>
                  </a:ext>
                </a:extLst>
              </a:tr>
              <a:tr h="1706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</a:t>
                      </a: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sz="9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NTC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LNS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AZS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PKG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NTC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LNS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PKG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평균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개선율</a:t>
                      </a:r>
                      <a:endParaRPr 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720225"/>
                  </a:ext>
                </a:extLst>
              </a:tr>
              <a:tr h="1706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25년 실적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3.1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10.7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u="none" strike="noStrike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16.4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u="none" strike="noStrike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10.8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u="none" strike="noStrike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4.4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u="none" strike="noStrike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5.3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u="none" strike="noStrike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26.6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u="none" strike="noStrike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15.0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u="none" strike="noStrike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5.5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u="none" strike="noStrike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10.9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23%</a:t>
                      </a:r>
                      <a:endParaRPr lang="ko-KR" altLang="en-US" sz="900" b="0" i="0" u="none" strike="noStrike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895839"/>
                  </a:ext>
                </a:extLst>
              </a:tr>
              <a:tr h="1706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26년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누적</a:t>
                      </a:r>
                      <a:endParaRPr lang="ko-KR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2.9</a:t>
                      </a:r>
                      <a:endParaRPr 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9.9</a:t>
                      </a:r>
                      <a:endParaRPr 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14.1</a:t>
                      </a:r>
                      <a:endParaRPr 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13.4</a:t>
                      </a:r>
                      <a:endParaRPr 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3.6</a:t>
                      </a:r>
                      <a:endParaRPr 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4.9</a:t>
                      </a:r>
                      <a:endParaRPr 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12.0</a:t>
                      </a:r>
                      <a:endParaRPr 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10.1</a:t>
                      </a:r>
                      <a:endParaRPr 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u="none" strike="noStrike" dirty="0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4.3</a:t>
                      </a:r>
                      <a:endParaRPr 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u="none" strike="noStrike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8.4</a:t>
                      </a:r>
                      <a:endParaRPr lang="ko-KR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546290"/>
                  </a:ext>
                </a:extLst>
              </a:tr>
              <a:tr h="1706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증감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(%p)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Δ0.2</a:t>
                      </a:r>
                      <a:endParaRPr lang="ko-KR" sz="900" b="0" i="0" u="none" strike="noStrike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Δ0.8</a:t>
                      </a:r>
                      <a:endParaRPr lang="ko-KR" sz="900" b="0" i="0" u="none" strike="noStrike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Δ2.3</a:t>
                      </a:r>
                      <a:endParaRPr lang="ko-KR" sz="900" b="0" i="0" u="none" strike="noStrike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u="none" strike="noStrike" dirty="0">
                          <a:solidFill>
                            <a:srgbClr val="C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+2.6</a:t>
                      </a:r>
                      <a:endParaRPr lang="ko-KR" sz="900" b="0" i="0" u="none" strike="noStrike" dirty="0">
                        <a:solidFill>
                          <a:srgbClr val="C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Δ0.8</a:t>
                      </a:r>
                      <a:endParaRPr lang="ko-KR" sz="900" b="0" i="0" u="none" strike="noStrike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Δ0.4</a:t>
                      </a:r>
                      <a:endParaRPr lang="ko-KR" sz="900" b="0" i="0" u="none" strike="noStrike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Δ14.6</a:t>
                      </a:r>
                      <a:endParaRPr lang="ko-KR" sz="900" b="0" i="0" u="none" strike="noStrike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Δ4.9</a:t>
                      </a:r>
                      <a:endParaRPr lang="ko-KR" sz="900" b="0" i="0" u="none" strike="noStrike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Δ1.2</a:t>
                      </a:r>
                      <a:endParaRPr lang="ko-KR" sz="900" b="0" i="0" u="none" strike="noStrike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90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Δ2.5</a:t>
                      </a:r>
                      <a:endParaRPr lang="ko-KR" sz="900" b="0" i="0" u="none" strike="noStrike" dirty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465711"/>
                  </a:ext>
                </a:extLst>
              </a:tr>
            </a:tbl>
          </a:graphicData>
        </a:graphic>
      </p:graphicFrame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CFB99EC0-44A1-789A-FE28-BA109AF14393}"/>
              </a:ext>
            </a:extLst>
          </p:cNvPr>
          <p:cNvGrpSpPr/>
          <p:nvPr/>
        </p:nvGrpSpPr>
        <p:grpSpPr>
          <a:xfrm>
            <a:off x="801481" y="3461733"/>
            <a:ext cx="4550614" cy="297484"/>
            <a:chOff x="961536" y="4517403"/>
            <a:chExt cx="4008771" cy="317996"/>
          </a:xfrm>
        </p:grpSpPr>
        <p:sp>
          <p:nvSpPr>
            <p:cNvPr id="135" name="제목 9">
              <a:extLst>
                <a:ext uri="{FF2B5EF4-FFF2-40B4-BE49-F238E27FC236}">
                  <a16:creationId xmlns:a16="http://schemas.microsoft.com/office/drawing/2014/main" id="{9BC2E67D-516A-FE57-DAD2-119B32577F99}"/>
                </a:ext>
              </a:extLst>
            </p:cNvPr>
            <p:cNvSpPr txBox="1">
              <a:spLocks/>
            </p:cNvSpPr>
            <p:nvPr/>
          </p:nvSpPr>
          <p:spPr>
            <a:xfrm>
              <a:off x="2606766" y="4517403"/>
              <a:ext cx="718310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진척 사항</a:t>
              </a:r>
            </a:p>
          </p:txBody>
        </p:sp>
        <p:cxnSp>
          <p:nvCxnSpPr>
            <p:cNvPr id="136" name="직선 연결선 2">
              <a:extLst>
                <a:ext uri="{FF2B5EF4-FFF2-40B4-BE49-F238E27FC236}">
                  <a16:creationId xmlns:a16="http://schemas.microsoft.com/office/drawing/2014/main" id="{EF07F896-9347-B1E7-CCE8-82EFBFD026F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61536" y="4830162"/>
              <a:ext cx="4008771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3B78AF82-44D1-2D71-E9C3-0E35C88FBCB8}"/>
              </a:ext>
            </a:extLst>
          </p:cNvPr>
          <p:cNvGrpSpPr/>
          <p:nvPr/>
        </p:nvGrpSpPr>
        <p:grpSpPr>
          <a:xfrm>
            <a:off x="5493084" y="3459914"/>
            <a:ext cx="4182189" cy="294456"/>
            <a:chOff x="5152724" y="4515584"/>
            <a:chExt cx="4221222" cy="317996"/>
          </a:xfrm>
        </p:grpSpPr>
        <p:sp>
          <p:nvSpPr>
            <p:cNvPr id="138" name="제목 9">
              <a:extLst>
                <a:ext uri="{FF2B5EF4-FFF2-40B4-BE49-F238E27FC236}">
                  <a16:creationId xmlns:a16="http://schemas.microsoft.com/office/drawing/2014/main" id="{D6744944-E634-89DC-DC86-5F3761B86BF2}"/>
                </a:ext>
              </a:extLst>
            </p:cNvPr>
            <p:cNvSpPr txBox="1">
              <a:spLocks/>
            </p:cNvSpPr>
            <p:nvPr/>
          </p:nvSpPr>
          <p:spPr>
            <a:xfrm>
              <a:off x="6885365" y="4515584"/>
              <a:ext cx="755940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향후 계획</a:t>
              </a:r>
            </a:p>
          </p:txBody>
        </p:sp>
        <p:cxnSp>
          <p:nvCxnSpPr>
            <p:cNvPr id="139" name="직선 연결선 2">
              <a:extLst>
                <a:ext uri="{FF2B5EF4-FFF2-40B4-BE49-F238E27FC236}">
                  <a16:creationId xmlns:a16="http://schemas.microsoft.com/office/drawing/2014/main" id="{FAD8540D-03D1-AB61-1F8F-16498E7CF63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52724" y="4830162"/>
              <a:ext cx="422122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4D77F66A-087E-F640-FC89-A6FBB5B648D6}"/>
              </a:ext>
            </a:extLst>
          </p:cNvPr>
          <p:cNvSpPr txBox="1"/>
          <p:nvPr/>
        </p:nvSpPr>
        <p:spPr>
          <a:xfrm>
            <a:off x="869409" y="3959425"/>
            <a:ext cx="4217952" cy="26161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>
            <a:defPPr>
              <a:defRPr lang="ko-KR"/>
            </a:defPPr>
            <a:lvl1pPr marL="164127" marR="0" lvl="0" indent="-164127" defTabSz="844083" fontAlgn="base">
              <a:lnSpc>
                <a:spcPct val="100000"/>
              </a:lnSpc>
              <a:spcBef>
                <a:spcPts val="0"/>
              </a:spcBef>
              <a:buClrTx/>
              <a:buSzPct val="85000"/>
              <a:buFont typeface="Wingdings" panose="05000000000000000000" pitchFamily="2" charset="2"/>
              <a:buChar char="q"/>
              <a:tabLst/>
              <a:defRPr kumimoji="1" sz="12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180975" lvl="1" defTabSz="844083" fontAlgn="base">
              <a:buSzPct val="85000"/>
              <a:defRPr kumimoji="1" sz="11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2pPr>
          </a:lstStyle>
          <a:p>
            <a:pPr marL="0" indent="0">
              <a:buNone/>
            </a:pPr>
            <a:r>
              <a:rPr lang="en-US" altLang="ko-KR" sz="1100" b="0" dirty="0"/>
              <a:t>-. 8</a:t>
            </a:r>
            <a:r>
              <a:rPr lang="ko-KR" altLang="en-US" sz="1100" b="0" dirty="0"/>
              <a:t>월 누적 실적 </a:t>
            </a:r>
            <a:r>
              <a:rPr lang="en-US" altLang="ko-KR" sz="1100" b="0" dirty="0"/>
              <a:t>: </a:t>
            </a:r>
            <a:r>
              <a:rPr lang="ko-KR" altLang="en-US" sz="1100" b="0" dirty="0" err="1"/>
              <a:t>개선율</a:t>
            </a:r>
            <a:r>
              <a:rPr lang="ko-KR" altLang="en-US" sz="1100" b="0" dirty="0"/>
              <a:t> </a:t>
            </a:r>
            <a:r>
              <a:rPr lang="en-US" altLang="ko-KR" sz="1100" b="0" dirty="0"/>
              <a:t>23% (</a:t>
            </a:r>
            <a:r>
              <a:rPr lang="ko-KR" altLang="en-US" sz="1100" b="0" dirty="0" err="1"/>
              <a:t>연목표</a:t>
            </a:r>
            <a:r>
              <a:rPr lang="ko-KR" altLang="en-US" sz="1100" b="0" dirty="0"/>
              <a:t> </a:t>
            </a:r>
            <a:r>
              <a:rPr lang="en-US" altLang="ko-KR" sz="1100" b="0" dirty="0"/>
              <a:t>20%</a:t>
            </a:r>
            <a:r>
              <a:rPr lang="ko-KR" altLang="en-US" sz="1100" b="0" dirty="0"/>
              <a:t> 比 </a:t>
            </a:r>
            <a:r>
              <a:rPr lang="en-US" altLang="ko-KR" sz="1100" b="0" dirty="0"/>
              <a:t>3.0%p</a:t>
            </a:r>
            <a:r>
              <a:rPr lang="ko-KR" altLang="en-US" sz="1100" b="0" dirty="0"/>
              <a:t> 개선 중</a:t>
            </a:r>
            <a:r>
              <a:rPr lang="en-US" altLang="ko-KR" sz="1100" b="0" dirty="0"/>
              <a:t>) </a:t>
            </a:r>
            <a:r>
              <a:rPr lang="ko-KR" altLang="en-US" sz="1100" b="0" dirty="0"/>
              <a:t> </a:t>
            </a:r>
            <a:r>
              <a:rPr lang="en-US" altLang="ko-KR" sz="1100" b="0" dirty="0"/>
              <a:t> 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52ECDD73-D7A9-4F25-FCD6-BF4DE710FFA0}"/>
              </a:ext>
            </a:extLst>
          </p:cNvPr>
          <p:cNvSpPr txBox="1"/>
          <p:nvPr/>
        </p:nvSpPr>
        <p:spPr>
          <a:xfrm>
            <a:off x="761641" y="5116676"/>
            <a:ext cx="1407877" cy="29662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8</a:t>
            </a:r>
            <a:r>
              <a:rPr kumimoji="1" lang="ko-KR" altLang="en-US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월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주요 활동 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2F1EA894-32A3-4E50-1DDD-2099D13A81E2}"/>
              </a:ext>
            </a:extLst>
          </p:cNvPr>
          <p:cNvSpPr txBox="1"/>
          <p:nvPr/>
        </p:nvSpPr>
        <p:spPr>
          <a:xfrm>
            <a:off x="869409" y="5333437"/>
            <a:ext cx="4534548" cy="65146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>
            <a:defPPr>
              <a:defRPr lang="ko-KR"/>
            </a:defPPr>
            <a:lvl1pPr marL="164127" marR="0" lvl="0" indent="-164127" defTabSz="844083" fontAlgn="base">
              <a:lnSpc>
                <a:spcPct val="100000"/>
              </a:lnSpc>
              <a:spcBef>
                <a:spcPts val="0"/>
              </a:spcBef>
              <a:buClrTx/>
              <a:buSzPct val="85000"/>
              <a:buFont typeface="Wingdings" panose="05000000000000000000" pitchFamily="2" charset="2"/>
              <a:buChar char="q"/>
              <a:tabLst/>
              <a:defRPr kumimoji="1" sz="12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180975" lvl="1" defTabSz="844083" fontAlgn="base">
              <a:buSzPct val="85000"/>
              <a:defRPr kumimoji="1" sz="11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2pPr>
          </a:lstStyle>
          <a:p>
            <a:pPr marL="0" indent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altLang="ko-KR" sz="1100" b="0"/>
              <a:t>-.</a:t>
            </a:r>
            <a:r>
              <a:rPr lang="ko-KR" altLang="en-US" sz="1100" b="0"/>
              <a:t> 전극 </a:t>
            </a:r>
            <a:r>
              <a:rPr lang="en-US" altLang="ko-KR" sz="1100" b="0"/>
              <a:t>: [WA] </a:t>
            </a:r>
            <a:r>
              <a:rPr lang="ko-KR" altLang="en-US" sz="1100" b="0" err="1"/>
              <a:t>텐션편차</a:t>
            </a:r>
            <a:r>
              <a:rPr lang="ko-KR" altLang="en-US" sz="1100" b="0"/>
              <a:t> 기인 단선 개선 후 </a:t>
            </a:r>
            <a:r>
              <a:rPr lang="en-US" altLang="ko-KR" sz="1100" b="0"/>
              <a:t>FDC</a:t>
            </a:r>
            <a:r>
              <a:rPr lang="ko-KR" altLang="en-US" sz="1100" b="0"/>
              <a:t>를 활용한 이상 감지 진행 중</a:t>
            </a:r>
            <a:endParaRPr lang="en-US" altLang="ko-KR" sz="1100" b="0"/>
          </a:p>
          <a:p>
            <a:pPr marL="0" indent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altLang="ko-KR" sz="1100" b="0"/>
              <a:t>              [OT] </a:t>
            </a:r>
            <a:r>
              <a:rPr lang="ko-KR" altLang="en-US" sz="1100" b="0"/>
              <a:t>가속 구간의 속도</a:t>
            </a:r>
            <a:r>
              <a:rPr lang="en-US" altLang="ko-KR" sz="1100" b="0"/>
              <a:t>-</a:t>
            </a:r>
            <a:r>
              <a:rPr lang="ko-KR" altLang="en-US" sz="1100" b="0" err="1"/>
              <a:t>롤갭</a:t>
            </a:r>
            <a:r>
              <a:rPr lang="ko-KR" altLang="en-US" sz="1100" b="0"/>
              <a:t> 파라미터 최적화를 통해 </a:t>
            </a:r>
            <a:r>
              <a:rPr lang="ko-KR" altLang="en-US" sz="1100" b="0" err="1"/>
              <a:t>선압</a:t>
            </a:r>
            <a:r>
              <a:rPr lang="ko-KR" altLang="en-US" sz="1100" b="0"/>
              <a:t> 헌팅 개선 및 </a:t>
            </a:r>
            <a:endParaRPr lang="en-US" altLang="ko-KR" sz="1100" b="0"/>
          </a:p>
          <a:p>
            <a:pPr marL="0" indent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altLang="ko-KR" sz="1100" b="0"/>
              <a:t>                      </a:t>
            </a:r>
            <a:r>
              <a:rPr lang="ko-KR" altLang="en-US" sz="1100" b="0"/>
              <a:t>고속 초기 단선 개선</a:t>
            </a:r>
            <a:r>
              <a:rPr lang="en-US" altLang="ko-KR" sz="1100" b="0"/>
              <a:t>(8/21 </a:t>
            </a:r>
            <a:r>
              <a:rPr lang="ko-KR" altLang="en-US" sz="1100" b="0"/>
              <a:t>적용</a:t>
            </a:r>
            <a:r>
              <a:rPr lang="en-US" altLang="ko-KR" sz="1100" b="0"/>
              <a:t>) </a:t>
            </a:r>
            <a:r>
              <a:rPr lang="ko-KR" altLang="en-US" sz="1100" b="0"/>
              <a:t>하여 단선 </a:t>
            </a:r>
            <a:r>
              <a:rPr lang="en-US" altLang="ko-KR" sz="1100" b="0"/>
              <a:t>Loss 41% </a:t>
            </a:r>
            <a:r>
              <a:rPr lang="ko-KR" altLang="en-US" sz="1100" b="0"/>
              <a:t>개선</a:t>
            </a:r>
            <a:endParaRPr lang="en-US" altLang="ko-KR" sz="1100" b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3472D42-DEA5-FF50-F414-E5A4C83E4421}"/>
              </a:ext>
            </a:extLst>
          </p:cNvPr>
          <p:cNvSpPr txBox="1"/>
          <p:nvPr/>
        </p:nvSpPr>
        <p:spPr>
          <a:xfrm>
            <a:off x="5447000" y="3824520"/>
            <a:ext cx="3971320" cy="29662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lvl="0" indent="-164127" defTabSz="844083" fontAlgn="base">
              <a:lnSpc>
                <a:spcPct val="120000"/>
              </a:lnSpc>
              <a:buSzPct val="85000"/>
              <a:buFont typeface="Wingdings" panose="05000000000000000000" pitchFamily="2" charset="2"/>
              <a:buChar char="q"/>
              <a:defRPr/>
            </a:pPr>
            <a:r>
              <a:rPr kumimoji="1" lang="ko-KR" altLang="en-US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전극</a:t>
            </a:r>
            <a:r>
              <a:rPr kumimoji="1" lang="en-US" altLang="ko-KR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: [OT] </a:t>
            </a:r>
            <a:r>
              <a:rPr kumimoji="1" lang="ko-KR" altLang="en-US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단선 개선 활동으로 </a:t>
            </a:r>
            <a:r>
              <a:rPr kumimoji="1" lang="en-US" altLang="ko-KR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Loss </a:t>
            </a:r>
            <a:r>
              <a:rPr kumimoji="1" lang="ko-KR" altLang="en-US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추가 개선  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060EC457-3E99-9D12-873C-D956E4EE37E4}"/>
              </a:ext>
            </a:extLst>
          </p:cNvPr>
          <p:cNvSpPr txBox="1"/>
          <p:nvPr/>
        </p:nvSpPr>
        <p:spPr>
          <a:xfrm>
            <a:off x="5654351" y="4061159"/>
            <a:ext cx="4217952" cy="453201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>
            <a:defPPr>
              <a:defRPr lang="ko-KR"/>
            </a:defPPr>
            <a:lvl1pPr marL="164127" marR="0" lvl="0" indent="-164127" defTabSz="844083" fontAlgn="base">
              <a:lnSpc>
                <a:spcPct val="100000"/>
              </a:lnSpc>
              <a:spcBef>
                <a:spcPts val="0"/>
              </a:spcBef>
              <a:buClrTx/>
              <a:buSzPct val="85000"/>
              <a:buFont typeface="Wingdings" panose="05000000000000000000" pitchFamily="2" charset="2"/>
              <a:buChar char="q"/>
              <a:tabLst/>
              <a:defRPr kumimoji="1" sz="12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180975" lvl="1" defTabSz="844083" fontAlgn="base">
              <a:buSzPct val="85000"/>
              <a:defRPr kumimoji="1" sz="11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2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ko-KR" sz="1100" b="0"/>
              <a:t>-. </a:t>
            </a:r>
            <a:r>
              <a:rPr lang="ko-KR" altLang="en-US" sz="1100" b="0"/>
              <a:t>프리 </a:t>
            </a:r>
            <a:r>
              <a:rPr lang="ko-KR" altLang="en-US" sz="1100" b="0" err="1"/>
              <a:t>히팅롤</a:t>
            </a:r>
            <a:r>
              <a:rPr lang="ko-KR" altLang="en-US" sz="1100" b="0"/>
              <a:t> 온도 편차 개선을 통해 </a:t>
            </a:r>
            <a:r>
              <a:rPr lang="ko-KR" altLang="en-US" sz="1100" b="0" err="1"/>
              <a:t>역압을</a:t>
            </a:r>
            <a:r>
              <a:rPr lang="ko-KR" altLang="en-US" sz="1100" b="0"/>
              <a:t> 낮추어 단선 개선하였고</a:t>
            </a:r>
            <a:r>
              <a:rPr lang="en-US" altLang="ko-KR" sz="1100" b="0"/>
              <a:t>,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100" b="0"/>
              <a:t>   </a:t>
            </a:r>
            <a:r>
              <a:rPr lang="ko-KR" altLang="en-US" sz="1100" b="0"/>
              <a:t>전 호기 확대 적용 예정</a:t>
            </a:r>
            <a:endParaRPr lang="en-US" altLang="ko-KR" sz="1100" b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5A198663-65F9-EA37-F1C4-46617934F421}"/>
              </a:ext>
            </a:extLst>
          </p:cNvPr>
          <p:cNvSpPr txBox="1"/>
          <p:nvPr/>
        </p:nvSpPr>
        <p:spPr>
          <a:xfrm>
            <a:off x="5458400" y="4658085"/>
            <a:ext cx="3795888" cy="29662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조립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: </a:t>
            </a:r>
            <a:r>
              <a:rPr kumimoji="1" lang="ko-KR" altLang="en-US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북미 </a:t>
            </a:r>
            <a:r>
              <a:rPr kumimoji="1" lang="en-US" altLang="ko-KR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ESS BM/PD Loss </a:t>
            </a:r>
            <a:r>
              <a:rPr kumimoji="1" lang="ko-KR" altLang="en-US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개선  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88808BB-AB68-A36F-CF4A-C91102E7496F}"/>
              </a:ext>
            </a:extLst>
          </p:cNvPr>
          <p:cNvSpPr txBox="1"/>
          <p:nvPr/>
        </p:nvSpPr>
        <p:spPr>
          <a:xfrm>
            <a:off x="5654350" y="4880580"/>
            <a:ext cx="4217952" cy="822085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>
            <a:defPPr>
              <a:defRPr lang="ko-KR"/>
            </a:defPPr>
            <a:lvl1pPr marL="164127" marR="0" lvl="0" indent="-164127" defTabSz="844083" fontAlgn="base">
              <a:lnSpc>
                <a:spcPct val="100000"/>
              </a:lnSpc>
              <a:spcBef>
                <a:spcPts val="0"/>
              </a:spcBef>
              <a:buClrTx/>
              <a:buSzPct val="85000"/>
              <a:buFont typeface="Wingdings" panose="05000000000000000000" pitchFamily="2" charset="2"/>
              <a:buChar char="q"/>
              <a:tabLst/>
              <a:defRPr kumimoji="1" sz="12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180975" lvl="1" defTabSz="844083" fontAlgn="base">
              <a:buSzPct val="85000"/>
              <a:defRPr kumimoji="1" sz="11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2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ko-KR" sz="1100" b="0"/>
              <a:t>-.</a:t>
            </a:r>
            <a:r>
              <a:rPr lang="ko-KR" altLang="en-US" sz="1100" b="0"/>
              <a:t> </a:t>
            </a:r>
            <a:r>
              <a:rPr lang="en-US" altLang="ko-KR" sz="1100" b="0" dirty="0"/>
              <a:t>[</a:t>
            </a:r>
            <a:r>
              <a:rPr lang="en-US" altLang="ko-KR" sz="1100" b="0"/>
              <a:t>MI-HL STK</a:t>
            </a:r>
            <a:r>
              <a:rPr lang="en-US" altLang="ko-KR" sz="1100" b="0" dirty="0"/>
              <a:t>] </a:t>
            </a:r>
            <a:r>
              <a:rPr lang="en-US" altLang="ko-KR" sz="1100" b="0"/>
              <a:t>Tape </a:t>
            </a:r>
            <a:r>
              <a:rPr lang="en-US" altLang="ko-KR" sz="1100" b="0" err="1"/>
              <a:t>Attacher</a:t>
            </a:r>
            <a:r>
              <a:rPr lang="en-US" altLang="ko-KR" sz="1100" b="0"/>
              <a:t> </a:t>
            </a:r>
            <a:r>
              <a:rPr lang="ko-KR" altLang="en-US" sz="1100" b="0"/>
              <a:t>진공 패드 이상감지 모델링 적용   </a:t>
            </a:r>
            <a:endParaRPr lang="en-US" altLang="ko-KR" sz="1100" b="0"/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100" b="0"/>
              <a:t>-. </a:t>
            </a:r>
            <a:r>
              <a:rPr lang="en-US" altLang="ko-KR" sz="1100" b="0" dirty="0"/>
              <a:t>[</a:t>
            </a:r>
            <a:r>
              <a:rPr lang="en-US" altLang="ko-KR" sz="1100" b="0"/>
              <a:t>MI-HL JGF</a:t>
            </a:r>
            <a:r>
              <a:rPr lang="en-US" altLang="ko-KR" sz="1100" b="0" dirty="0"/>
              <a:t>] </a:t>
            </a:r>
            <a:r>
              <a:rPr lang="ko-KR" altLang="en-US" sz="1100" b="0"/>
              <a:t>가압 해제 압력 이상감지</a:t>
            </a:r>
            <a:r>
              <a:rPr lang="en-US" altLang="ko-KR" sz="1100" b="0"/>
              <a:t>(</a:t>
            </a:r>
            <a:r>
              <a:rPr lang="ko-KR" altLang="en-US" sz="1100" b="0" dirty="0"/>
              <a:t>분리막</a:t>
            </a:r>
            <a:r>
              <a:rPr lang="ko-KR" altLang="en-US" sz="1100" b="0"/>
              <a:t> 밀림 기인</a:t>
            </a:r>
            <a:r>
              <a:rPr lang="en-US" altLang="ko-KR" sz="1100" b="0"/>
              <a:t>) </a:t>
            </a:r>
            <a:r>
              <a:rPr lang="ko-KR" altLang="en-US" sz="1100" b="0"/>
              <a:t> </a:t>
            </a:r>
            <a:endParaRPr lang="en-US" altLang="ko-KR" sz="1100" b="0"/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100" b="0"/>
              <a:t>-. </a:t>
            </a:r>
            <a:r>
              <a:rPr lang="en-US" altLang="ko-KR" sz="1100" b="0" dirty="0"/>
              <a:t>[</a:t>
            </a:r>
            <a:r>
              <a:rPr lang="en-US" altLang="ko-KR" sz="1100" b="0"/>
              <a:t>OT LNS</a:t>
            </a:r>
            <a:r>
              <a:rPr lang="en-US" altLang="ko-KR" sz="1100" b="0" dirty="0"/>
              <a:t>] </a:t>
            </a:r>
            <a:r>
              <a:rPr lang="ko-KR" altLang="en-US" sz="1100" b="0" err="1"/>
              <a:t>리니어모터</a:t>
            </a:r>
            <a:r>
              <a:rPr lang="ko-KR" altLang="en-US" sz="1100" b="0"/>
              <a:t> </a:t>
            </a:r>
            <a:r>
              <a:rPr lang="ko-KR" altLang="en-US" sz="1100" b="0" dirty="0"/>
              <a:t>부하율</a:t>
            </a:r>
            <a:r>
              <a:rPr lang="ko-KR" altLang="en-US" sz="1100" b="0"/>
              <a:t> 이상감지 고도화 </a:t>
            </a:r>
            <a:r>
              <a:rPr lang="en-US" altLang="ko-KR" sz="1100" b="0"/>
              <a:t>(CPM </a:t>
            </a:r>
            <a:r>
              <a:rPr lang="ko-KR" altLang="en-US" sz="1100" b="0"/>
              <a:t>기반 </a:t>
            </a:r>
            <a:r>
              <a:rPr lang="ko-KR" altLang="en-US" sz="1100" b="0" dirty="0" err="1"/>
              <a:t>재학습</a:t>
            </a:r>
            <a:r>
              <a:rPr lang="ko-KR" altLang="en-US" sz="1100" b="0"/>
              <a:t> 자동화</a:t>
            </a:r>
            <a:r>
              <a:rPr lang="en-US" altLang="ko-KR" sz="1100" b="0"/>
              <a:t>)</a:t>
            </a:r>
            <a:r>
              <a:rPr lang="ko-KR" altLang="en-US" sz="1100" b="0"/>
              <a:t> </a:t>
            </a:r>
            <a:endParaRPr lang="en-US" altLang="ko-KR" sz="1100" b="0"/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100" b="0"/>
              <a:t>-. </a:t>
            </a:r>
            <a:r>
              <a:rPr lang="en-US" altLang="ko-KR" sz="1100" b="0" dirty="0"/>
              <a:t>[</a:t>
            </a:r>
            <a:r>
              <a:rPr lang="en-US" altLang="ko-KR" sz="1100" b="0"/>
              <a:t>HD</a:t>
            </a:r>
            <a:r>
              <a:rPr lang="ko-KR" altLang="en-US" sz="1100" b="0"/>
              <a:t> </a:t>
            </a:r>
            <a:r>
              <a:rPr lang="en-US" altLang="ko-KR" sz="1100" b="0"/>
              <a:t>PKG</a:t>
            </a:r>
            <a:r>
              <a:rPr lang="en-US" altLang="ko-KR" sz="1100" b="0" dirty="0"/>
              <a:t>]</a:t>
            </a:r>
            <a:r>
              <a:rPr lang="ko-KR" altLang="en-US" sz="1100" b="0"/>
              <a:t> 리드 탭 </a:t>
            </a:r>
            <a:r>
              <a:rPr lang="ko-KR" altLang="en-US" sz="1100" b="0" err="1"/>
              <a:t>용접기</a:t>
            </a:r>
            <a:r>
              <a:rPr lang="ko-KR" altLang="en-US" sz="1100" b="0"/>
              <a:t> </a:t>
            </a:r>
            <a:r>
              <a:rPr lang="ko-KR" altLang="en-US" sz="1100" b="0" err="1"/>
              <a:t>흡착부</a:t>
            </a:r>
            <a:r>
              <a:rPr lang="ko-KR" altLang="en-US" sz="1100" b="0"/>
              <a:t> </a:t>
            </a:r>
            <a:r>
              <a:rPr lang="en-US" altLang="ko-KR" sz="1100" b="0"/>
              <a:t>DPT</a:t>
            </a:r>
            <a:r>
              <a:rPr lang="ko-KR" altLang="en-US" sz="1100" b="0"/>
              <a:t> 유량 및 파우치 진공 시간 이상감지</a:t>
            </a:r>
            <a:endParaRPr lang="en-US" altLang="ko-KR" sz="1100" b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575DA41C-25EB-2AD8-0FE8-F21C92487BF3}"/>
              </a:ext>
            </a:extLst>
          </p:cNvPr>
          <p:cNvSpPr txBox="1"/>
          <p:nvPr/>
        </p:nvSpPr>
        <p:spPr>
          <a:xfrm>
            <a:off x="674936" y="2682882"/>
            <a:ext cx="163264" cy="71444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vert="eaVert"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조립</a:t>
            </a:r>
            <a:endParaRPr kumimoji="0" lang="en-US" altLang="ko-KR" sz="100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5398FE98-957E-23DA-34AE-07E6C29FEE15}"/>
              </a:ext>
            </a:extLst>
          </p:cNvPr>
          <p:cNvSpPr txBox="1"/>
          <p:nvPr/>
        </p:nvSpPr>
        <p:spPr>
          <a:xfrm>
            <a:off x="3269697" y="3197611"/>
            <a:ext cx="774705" cy="24622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(MI2)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재밍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/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파단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,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       A/S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실패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검토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24A5C024-809E-E95A-B4AE-03F40490E774}"/>
              </a:ext>
            </a:extLst>
          </p:cNvPr>
          <p:cNvSpPr txBox="1"/>
          <p:nvPr/>
        </p:nvSpPr>
        <p:spPr>
          <a:xfrm>
            <a:off x="2780111" y="3197611"/>
            <a:ext cx="447238" cy="246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FDC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모델링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컨셉 검토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AF9CECD1-0097-595D-ABE4-105AE903CA36}"/>
              </a:ext>
            </a:extLst>
          </p:cNvPr>
          <p:cNvSpPr txBox="1"/>
          <p:nvPr/>
        </p:nvSpPr>
        <p:spPr>
          <a:xfrm>
            <a:off x="1543166" y="3197611"/>
            <a:ext cx="673261" cy="246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(OT)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재밍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파단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  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데이터 점검 </a:t>
            </a:r>
          </a:p>
        </p:txBody>
      </p: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50AF6704-EC22-E8EB-9349-6D62A9AF7E85}"/>
              </a:ext>
            </a:extLst>
          </p:cNvPr>
          <p:cNvCxnSpPr>
            <a:cxnSpLocks/>
          </p:cNvCxnSpPr>
          <p:nvPr/>
        </p:nvCxnSpPr>
        <p:spPr>
          <a:xfrm>
            <a:off x="1133475" y="3116001"/>
            <a:ext cx="6394161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DDD5FFBD-43C9-BB6E-D336-A00F8980E4C8}"/>
              </a:ext>
            </a:extLst>
          </p:cNvPr>
          <p:cNvSpPr txBox="1"/>
          <p:nvPr/>
        </p:nvSpPr>
        <p:spPr>
          <a:xfrm>
            <a:off x="2182847" y="3197611"/>
            <a:ext cx="572273" cy="246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법인사례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기반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가설 수립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72" name="타원 171">
            <a:extLst>
              <a:ext uri="{FF2B5EF4-FFF2-40B4-BE49-F238E27FC236}">
                <a16:creationId xmlns:a16="http://schemas.microsoft.com/office/drawing/2014/main" id="{135E09BE-C861-7EFE-8B0B-179F4511E326}"/>
              </a:ext>
            </a:extLst>
          </p:cNvPr>
          <p:cNvSpPr/>
          <p:nvPr/>
        </p:nvSpPr>
        <p:spPr>
          <a:xfrm>
            <a:off x="2930624" y="304400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6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3" name="타원 172">
            <a:extLst>
              <a:ext uri="{FF2B5EF4-FFF2-40B4-BE49-F238E27FC236}">
                <a16:creationId xmlns:a16="http://schemas.microsoft.com/office/drawing/2014/main" id="{BAA0C72B-A7A4-3216-AEE4-1B8A99CD4959}"/>
              </a:ext>
            </a:extLst>
          </p:cNvPr>
          <p:cNvSpPr/>
          <p:nvPr/>
        </p:nvSpPr>
        <p:spPr>
          <a:xfrm>
            <a:off x="1981824" y="304400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28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4" name="타원 173">
            <a:extLst>
              <a:ext uri="{FF2B5EF4-FFF2-40B4-BE49-F238E27FC236}">
                <a16:creationId xmlns:a16="http://schemas.microsoft.com/office/drawing/2014/main" id="{DE87E58E-9052-C62B-4F0A-6AEB073C7818}"/>
              </a:ext>
            </a:extLst>
          </p:cNvPr>
          <p:cNvSpPr/>
          <p:nvPr/>
        </p:nvSpPr>
        <p:spPr>
          <a:xfrm>
            <a:off x="2591446" y="304400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5" name="타원 174">
            <a:extLst>
              <a:ext uri="{FF2B5EF4-FFF2-40B4-BE49-F238E27FC236}">
                <a16:creationId xmlns:a16="http://schemas.microsoft.com/office/drawing/2014/main" id="{30F0FC02-22C1-5E25-0739-B38E78DE41F6}"/>
              </a:ext>
            </a:extLst>
          </p:cNvPr>
          <p:cNvSpPr/>
          <p:nvPr/>
        </p:nvSpPr>
        <p:spPr>
          <a:xfrm>
            <a:off x="3482578" y="304400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572FC3C6-8224-74AC-18F6-451732C76E6B}"/>
              </a:ext>
            </a:extLst>
          </p:cNvPr>
          <p:cNvSpPr txBox="1"/>
          <p:nvPr/>
        </p:nvSpPr>
        <p:spPr>
          <a:xfrm>
            <a:off x="2305188" y="2811425"/>
            <a:ext cx="789718" cy="24622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(OT)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리니어 모터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      이상감지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BCF37B0-EB08-B313-C1FC-8D569B445B5E}"/>
              </a:ext>
            </a:extLst>
          </p:cNvPr>
          <p:cNvSpPr txBox="1"/>
          <p:nvPr/>
        </p:nvSpPr>
        <p:spPr>
          <a:xfrm>
            <a:off x="3028871" y="2811425"/>
            <a:ext cx="789718" cy="24622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(MI2)</a:t>
            </a:r>
            <a:r>
              <a:rPr kumimoji="0" lang="ko-KR" altLang="en-US" sz="8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파기솔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      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이상감지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2D6076D-0298-0EAE-8876-24CF5E1904EB}"/>
              </a:ext>
            </a:extLst>
          </p:cNvPr>
          <p:cNvSpPr txBox="1"/>
          <p:nvPr/>
        </p:nvSpPr>
        <p:spPr>
          <a:xfrm>
            <a:off x="3574280" y="2811425"/>
            <a:ext cx="936277" cy="24622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MI2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)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리니어 모터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      이상감지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cxnSp>
        <p:nvCxnSpPr>
          <p:cNvPr id="179" name="직선 화살표 연결선 178">
            <a:extLst>
              <a:ext uri="{FF2B5EF4-FFF2-40B4-BE49-F238E27FC236}">
                <a16:creationId xmlns:a16="http://schemas.microsoft.com/office/drawing/2014/main" id="{77A9A1FF-6FD7-1311-A8AC-E600F6ACEA15}"/>
              </a:ext>
            </a:extLst>
          </p:cNvPr>
          <p:cNvCxnSpPr>
            <a:cxnSpLocks/>
          </p:cNvCxnSpPr>
          <p:nvPr/>
        </p:nvCxnSpPr>
        <p:spPr>
          <a:xfrm>
            <a:off x="1123950" y="2730224"/>
            <a:ext cx="640368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타원 179">
            <a:extLst>
              <a:ext uri="{FF2B5EF4-FFF2-40B4-BE49-F238E27FC236}">
                <a16:creationId xmlns:a16="http://schemas.microsoft.com/office/drawing/2014/main" id="{F20DD440-F8A8-8650-CB66-0DDEB1BFD20D}"/>
              </a:ext>
            </a:extLst>
          </p:cNvPr>
          <p:cNvSpPr/>
          <p:nvPr/>
        </p:nvSpPr>
        <p:spPr>
          <a:xfrm>
            <a:off x="2760454" y="265822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1" name="타원 180">
            <a:extLst>
              <a:ext uri="{FF2B5EF4-FFF2-40B4-BE49-F238E27FC236}">
                <a16:creationId xmlns:a16="http://schemas.microsoft.com/office/drawing/2014/main" id="{4CE0CFBF-F777-0553-F9B8-23E991E7676E}"/>
              </a:ext>
            </a:extLst>
          </p:cNvPr>
          <p:cNvSpPr/>
          <p:nvPr/>
        </p:nvSpPr>
        <p:spPr>
          <a:xfrm>
            <a:off x="3078595" y="265822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2" name="타원 181">
            <a:extLst>
              <a:ext uri="{FF2B5EF4-FFF2-40B4-BE49-F238E27FC236}">
                <a16:creationId xmlns:a16="http://schemas.microsoft.com/office/drawing/2014/main" id="{BC95A9F6-DB56-146F-E864-23AE6D64A578}"/>
              </a:ext>
            </a:extLst>
          </p:cNvPr>
          <p:cNvSpPr/>
          <p:nvPr/>
        </p:nvSpPr>
        <p:spPr>
          <a:xfrm>
            <a:off x="3723235" y="265822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9A3A5115-2B83-015F-484E-D4F5ECD613A3}"/>
              </a:ext>
            </a:extLst>
          </p:cNvPr>
          <p:cNvSpPr txBox="1"/>
          <p:nvPr/>
        </p:nvSpPr>
        <p:spPr>
          <a:xfrm rot="16200000">
            <a:off x="842972" y="2700399"/>
            <a:ext cx="337722" cy="30389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vert="eaVert"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kern="0" err="1"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파기솔</a:t>
            </a:r>
            <a:r>
              <a:rPr lang="ko-KR" altLang="en-US" sz="900" kern="0"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</a:t>
            </a:r>
            <a:r>
              <a:rPr lang="en-US" altLang="ko-KR" sz="900" kern="0"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/</a:t>
            </a: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kern="0"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리니어</a:t>
            </a:r>
            <a:endParaRPr lang="en-US" altLang="ko-KR" sz="900" kern="0"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8E0FB68D-2F11-076C-E7B4-E58A40AF15E9}"/>
              </a:ext>
            </a:extLst>
          </p:cNvPr>
          <p:cNvSpPr txBox="1"/>
          <p:nvPr/>
        </p:nvSpPr>
        <p:spPr>
          <a:xfrm rot="16200000">
            <a:off x="842972" y="3067447"/>
            <a:ext cx="337722" cy="30389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vert="eaVert"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kern="0"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파단</a:t>
            </a:r>
            <a:r>
              <a:rPr lang="en-US" altLang="ko-KR" sz="900" kern="0"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/</a:t>
            </a: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kern="0"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재밍</a:t>
            </a:r>
            <a:endParaRPr lang="en-US" altLang="ko-KR" sz="900" kern="0"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D4069A8F-4184-DE25-CDAF-C7F163D70EE6}"/>
              </a:ext>
            </a:extLst>
          </p:cNvPr>
          <p:cNvSpPr txBox="1"/>
          <p:nvPr/>
        </p:nvSpPr>
        <p:spPr>
          <a:xfrm>
            <a:off x="6745178" y="3199509"/>
            <a:ext cx="642411" cy="2462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</a:t>
            </a:r>
            <a:r>
              <a:rPr kumimoji="1"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WA) </a:t>
            </a:r>
            <a:r>
              <a:rPr kumimoji="1" lang="ko-KR" altLang="en-US" sz="80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재밍</a:t>
            </a:r>
            <a:r>
              <a:rPr kumimoji="1" lang="en-US" altLang="ko-KR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</a:t>
            </a:r>
            <a:r>
              <a:rPr kumimoji="1" lang="ko-KR" altLang="en-US" sz="8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파단</a:t>
            </a:r>
            <a:endParaRPr kumimoji="1" lang="en-US" altLang="ko-KR" sz="8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이상감지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3F31D716-5637-11BC-ACC4-8169D0D424FC}"/>
              </a:ext>
            </a:extLst>
          </p:cNvPr>
          <p:cNvSpPr txBox="1"/>
          <p:nvPr/>
        </p:nvSpPr>
        <p:spPr>
          <a:xfrm>
            <a:off x="5956916" y="3199509"/>
            <a:ext cx="673261" cy="2462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(WA) </a:t>
            </a:r>
            <a:r>
              <a:rPr kumimoji="1" lang="ko-KR" altLang="en-US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재밍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파단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  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데이터 등록 </a:t>
            </a:r>
          </a:p>
        </p:txBody>
      </p:sp>
      <p:sp>
        <p:nvSpPr>
          <p:cNvPr id="187" name="타원 186">
            <a:extLst>
              <a:ext uri="{FF2B5EF4-FFF2-40B4-BE49-F238E27FC236}">
                <a16:creationId xmlns:a16="http://schemas.microsoft.com/office/drawing/2014/main" id="{76E164AE-463C-8682-A065-7A83E148BC54}"/>
              </a:ext>
            </a:extLst>
          </p:cNvPr>
          <p:cNvSpPr/>
          <p:nvPr/>
        </p:nvSpPr>
        <p:spPr>
          <a:xfrm>
            <a:off x="7090864" y="304589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25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8" name="타원 187">
            <a:extLst>
              <a:ext uri="{FF2B5EF4-FFF2-40B4-BE49-F238E27FC236}">
                <a16:creationId xmlns:a16="http://schemas.microsoft.com/office/drawing/2014/main" id="{74281B06-58E7-D708-9445-CE49D6F45FC9}"/>
              </a:ext>
            </a:extLst>
          </p:cNvPr>
          <p:cNvSpPr/>
          <p:nvPr/>
        </p:nvSpPr>
        <p:spPr>
          <a:xfrm>
            <a:off x="6376522" y="304589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28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F2D783AB-A925-448F-852B-2B984951EDC6}"/>
              </a:ext>
            </a:extLst>
          </p:cNvPr>
          <p:cNvSpPr txBox="1"/>
          <p:nvPr/>
        </p:nvSpPr>
        <p:spPr>
          <a:xfrm>
            <a:off x="5901500" y="2813323"/>
            <a:ext cx="725076" cy="24622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WA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)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합치 </a:t>
            </a:r>
            <a:r>
              <a:rPr lang="ko-KR" altLang="en-US" sz="800" kern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가접롤</a:t>
            </a:r>
            <a:endParaRPr lang="en-US" altLang="ko-KR" sz="800" ker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         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최적화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09AD7958-9CE6-EADC-E063-95D30036093C}"/>
              </a:ext>
            </a:extLst>
          </p:cNvPr>
          <p:cNvSpPr txBox="1"/>
          <p:nvPr/>
        </p:nvSpPr>
        <p:spPr>
          <a:xfrm>
            <a:off x="6642942" y="2813323"/>
            <a:ext cx="789718" cy="24622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WA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)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순간 정지</a:t>
            </a:r>
            <a:endParaRPr lang="en-US" altLang="ko-KR" sz="800" ker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      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최소화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F7017E85-832E-0435-86D3-05A1D36F7539}"/>
              </a:ext>
            </a:extLst>
          </p:cNvPr>
          <p:cNvSpPr txBox="1"/>
          <p:nvPr/>
        </p:nvSpPr>
        <p:spPr>
          <a:xfrm>
            <a:off x="7228067" y="2813323"/>
            <a:ext cx="1213508" cy="12311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(WA)Y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축 패스라인 동기화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7C03BE94-9844-ABCC-76BD-B691620DCA97}"/>
              </a:ext>
            </a:extLst>
          </p:cNvPr>
          <p:cNvSpPr/>
          <p:nvPr/>
        </p:nvSpPr>
        <p:spPr>
          <a:xfrm>
            <a:off x="6376522" y="2660122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28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3" name="타원 192">
            <a:extLst>
              <a:ext uri="{FF2B5EF4-FFF2-40B4-BE49-F238E27FC236}">
                <a16:creationId xmlns:a16="http://schemas.microsoft.com/office/drawing/2014/main" id="{4D8A00F5-847A-82B3-C0D9-17EA7B173C8B}"/>
              </a:ext>
            </a:extLst>
          </p:cNvPr>
          <p:cNvSpPr/>
          <p:nvPr/>
        </p:nvSpPr>
        <p:spPr>
          <a:xfrm>
            <a:off x="6811883" y="2660122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11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47D8A8CB-078B-1622-1ED8-D8E4A5B02D8A}"/>
              </a:ext>
            </a:extLst>
          </p:cNvPr>
          <p:cNvSpPr/>
          <p:nvPr/>
        </p:nvSpPr>
        <p:spPr>
          <a:xfrm>
            <a:off x="7192291" y="2660122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D1E191EA-5D99-2188-9575-BA2C15D7E177}"/>
              </a:ext>
            </a:extLst>
          </p:cNvPr>
          <p:cNvSpPr txBox="1"/>
          <p:nvPr/>
        </p:nvSpPr>
        <p:spPr>
          <a:xfrm>
            <a:off x="4849626" y="2811425"/>
            <a:ext cx="936277" cy="24622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MI2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)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합치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 </a:t>
            </a:r>
            <a:r>
              <a:rPr kumimoji="0" lang="ko-KR" altLang="en-US" sz="8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가접롤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최적화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96" name="타원 195">
            <a:extLst>
              <a:ext uri="{FF2B5EF4-FFF2-40B4-BE49-F238E27FC236}">
                <a16:creationId xmlns:a16="http://schemas.microsoft.com/office/drawing/2014/main" id="{2AA78AA8-B26E-37E5-8C2D-8F98C00E530F}"/>
              </a:ext>
            </a:extLst>
          </p:cNvPr>
          <p:cNvSpPr/>
          <p:nvPr/>
        </p:nvSpPr>
        <p:spPr>
          <a:xfrm>
            <a:off x="4943164" y="265822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26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A73B208E-212C-62F1-5AA9-C2DFE98E4C7D}"/>
              </a:ext>
            </a:extLst>
          </p:cNvPr>
          <p:cNvSpPr txBox="1"/>
          <p:nvPr/>
        </p:nvSpPr>
        <p:spPr>
          <a:xfrm>
            <a:off x="4276954" y="2811425"/>
            <a:ext cx="936277" cy="24622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(HG)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스윙헤드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     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이상감지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98" name="타원 197">
            <a:extLst>
              <a:ext uri="{FF2B5EF4-FFF2-40B4-BE49-F238E27FC236}">
                <a16:creationId xmlns:a16="http://schemas.microsoft.com/office/drawing/2014/main" id="{451F5F13-20B5-ABA2-4F5B-FAEB3C7CFFBA}"/>
              </a:ext>
            </a:extLst>
          </p:cNvPr>
          <p:cNvSpPr/>
          <p:nvPr/>
        </p:nvSpPr>
        <p:spPr>
          <a:xfrm>
            <a:off x="4490561" y="265822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121E4BFC-FDC7-BF34-6EDC-46D1153C837E}"/>
              </a:ext>
            </a:extLst>
          </p:cNvPr>
          <p:cNvSpPr txBox="1"/>
          <p:nvPr/>
        </p:nvSpPr>
        <p:spPr>
          <a:xfrm>
            <a:off x="5416470" y="2815982"/>
            <a:ext cx="789718" cy="24622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(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OT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)</a:t>
            </a:r>
            <a:r>
              <a:rPr kumimoji="0" lang="ko-KR" altLang="en-US" sz="8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파기솔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       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이상감지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200" name="타원 199">
            <a:extLst>
              <a:ext uri="{FF2B5EF4-FFF2-40B4-BE49-F238E27FC236}">
                <a16:creationId xmlns:a16="http://schemas.microsoft.com/office/drawing/2014/main" id="{2C0C8E32-F8D1-377E-670D-6BED2FB60228}"/>
              </a:ext>
            </a:extLst>
          </p:cNvPr>
          <p:cNvSpPr/>
          <p:nvPr/>
        </p:nvSpPr>
        <p:spPr>
          <a:xfrm>
            <a:off x="5567793" y="266278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1" name="오른쪽 대괄호 200">
            <a:extLst>
              <a:ext uri="{FF2B5EF4-FFF2-40B4-BE49-F238E27FC236}">
                <a16:creationId xmlns:a16="http://schemas.microsoft.com/office/drawing/2014/main" id="{1DD46FB9-A889-78FC-26F1-2ADCCCD1B3D5}"/>
              </a:ext>
            </a:extLst>
          </p:cNvPr>
          <p:cNvSpPr/>
          <p:nvPr/>
        </p:nvSpPr>
        <p:spPr>
          <a:xfrm rot="5400000">
            <a:off x="4206288" y="2796589"/>
            <a:ext cx="80536" cy="746136"/>
          </a:xfrm>
          <a:prstGeom prst="rightBracket">
            <a:avLst>
              <a:gd name="adj" fmla="val 41467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7860ACBC-52E8-2DB1-302B-03480670BD11}"/>
              </a:ext>
            </a:extLst>
          </p:cNvPr>
          <p:cNvSpPr txBox="1"/>
          <p:nvPr/>
        </p:nvSpPr>
        <p:spPr>
          <a:xfrm>
            <a:off x="3885999" y="3206862"/>
            <a:ext cx="1368380" cy="24622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>
                <a:sym typeface="Wingdings"/>
              </a:rPr>
              <a:t>(HG) SVM, CYL </a:t>
            </a:r>
            <a:r>
              <a:rPr lang="ko-KR" altLang="en-US">
                <a:sym typeface="Wingdings"/>
              </a:rPr>
              <a:t>모델링</a:t>
            </a:r>
            <a:endParaRPr lang="en-US" altLang="ko-KR">
              <a:sym typeface="Wingdings"/>
            </a:endParaRPr>
          </a:p>
          <a:p>
            <a:r>
              <a:rPr lang="ko-KR" altLang="en-US">
                <a:sym typeface="Wingdings"/>
              </a:rPr>
              <a:t>        </a:t>
            </a:r>
            <a:r>
              <a:rPr lang="en-US" altLang="ko-KR">
                <a:sym typeface="Wingdings"/>
              </a:rPr>
              <a:t>: Swing</a:t>
            </a:r>
            <a:r>
              <a:rPr lang="ko-KR" altLang="en-US">
                <a:sym typeface="Wingdings"/>
              </a:rPr>
              <a:t> </a:t>
            </a:r>
            <a:r>
              <a:rPr lang="en-US" altLang="ko-KR">
                <a:sym typeface="Wingdings"/>
              </a:rPr>
              <a:t>Head,</a:t>
            </a:r>
            <a:r>
              <a:rPr lang="ko-KR" altLang="en-US">
                <a:sym typeface="Wingdings"/>
              </a:rPr>
              <a:t> </a:t>
            </a:r>
            <a:r>
              <a:rPr lang="en-US" altLang="ko-KR">
                <a:sym typeface="Wingdings"/>
              </a:rPr>
              <a:t>Align</a:t>
            </a:r>
            <a:r>
              <a:rPr lang="ko-KR" altLang="en-US">
                <a:sym typeface="Wingdings"/>
              </a:rPr>
              <a:t> </a:t>
            </a:r>
            <a:r>
              <a:rPr lang="en-US" altLang="ko-KR">
                <a:sym typeface="Wingdings"/>
              </a:rPr>
              <a:t>Stage</a:t>
            </a:r>
          </a:p>
        </p:txBody>
      </p:sp>
      <p:sp>
        <p:nvSpPr>
          <p:cNvPr id="203" name="오른쪽 대괄호 202">
            <a:extLst>
              <a:ext uri="{FF2B5EF4-FFF2-40B4-BE49-F238E27FC236}">
                <a16:creationId xmlns:a16="http://schemas.microsoft.com/office/drawing/2014/main" id="{4F6C970C-C188-21E3-D307-8DB131D47F83}"/>
              </a:ext>
            </a:extLst>
          </p:cNvPr>
          <p:cNvSpPr/>
          <p:nvPr/>
        </p:nvSpPr>
        <p:spPr>
          <a:xfrm rot="5400000">
            <a:off x="4986292" y="2796589"/>
            <a:ext cx="80536" cy="746136"/>
          </a:xfrm>
          <a:prstGeom prst="rightBracket">
            <a:avLst>
              <a:gd name="adj" fmla="val 41467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5420CA50-0DBB-BA6E-2AA9-C94D84301778}"/>
              </a:ext>
            </a:extLst>
          </p:cNvPr>
          <p:cNvSpPr txBox="1"/>
          <p:nvPr/>
        </p:nvSpPr>
        <p:spPr>
          <a:xfrm>
            <a:off x="4812977" y="3206863"/>
            <a:ext cx="878771" cy="246221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>
                <a:sym typeface="Wingdings"/>
              </a:rPr>
              <a:t>(GM2,</a:t>
            </a:r>
            <a:r>
              <a:rPr lang="ko-KR" altLang="en-US">
                <a:sym typeface="Wingdings"/>
              </a:rPr>
              <a:t> </a:t>
            </a:r>
            <a:r>
              <a:rPr lang="en-US" altLang="ko-KR">
                <a:sym typeface="Wingdings"/>
              </a:rPr>
              <a:t>HD) FDC</a:t>
            </a:r>
            <a:r>
              <a:rPr lang="ko-KR" altLang="en-US">
                <a:sym typeface="Wingdings"/>
              </a:rPr>
              <a:t> 셋업</a:t>
            </a:r>
            <a:br>
              <a:rPr lang="en-US" altLang="ko-KR">
                <a:sym typeface="Wingdings"/>
              </a:rPr>
            </a:br>
            <a:r>
              <a:rPr lang="en-US" altLang="ko-KR">
                <a:sym typeface="Wingdings"/>
              </a:rPr>
              <a:t>                 </a:t>
            </a:r>
            <a:r>
              <a:rPr lang="ko-KR" altLang="en-US">
                <a:sym typeface="Wingdings"/>
              </a:rPr>
              <a:t>확산 과제 </a:t>
            </a:r>
            <a:endParaRPr lang="en-US" altLang="ko-KR">
              <a:sym typeface="Wingdings"/>
            </a:endParaRPr>
          </a:p>
        </p:txBody>
      </p: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31540BCE-07DE-69CD-D839-92C0B7512B14}"/>
              </a:ext>
            </a:extLst>
          </p:cNvPr>
          <p:cNvCxnSpPr>
            <a:cxnSpLocks/>
          </p:cNvCxnSpPr>
          <p:nvPr/>
        </p:nvCxnSpPr>
        <p:spPr>
          <a:xfrm>
            <a:off x="7434565" y="1898821"/>
            <a:ext cx="2132921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A75A7454-E402-6E77-2661-FE3C7C6EFC71}"/>
              </a:ext>
            </a:extLst>
          </p:cNvPr>
          <p:cNvSpPr txBox="1"/>
          <p:nvPr/>
        </p:nvSpPr>
        <p:spPr>
          <a:xfrm>
            <a:off x="8968743" y="1943484"/>
            <a:ext cx="642411" cy="288147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lang="ko-KR" altLang="en-US" sz="700" b="0" i="0" u="none" strike="noStrike" kern="1200" cap="none" spc="-7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</a:rPr>
              <a:t>단선 개선안</a:t>
            </a:r>
            <a:endParaRPr lang="en-US" altLang="ko-KR" sz="700" b="0" i="0" u="none" strike="noStrike" kern="1200" cap="none" spc="-70" normalizeH="0" baseline="0" noProof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맑은 고딕 Semilight"/>
            </a:endParaRPr>
          </a:p>
          <a:p>
            <a:pPr algn="ctr">
              <a:defRPr/>
            </a:pPr>
            <a:r>
              <a:rPr kumimoji="1" lang="ko-KR" altLang="en-US" sz="700" spc="-7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</a:rPr>
              <a:t>적용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38303BDD-5CFE-B0BB-0054-8FAA17CF9789}"/>
              </a:ext>
            </a:extLst>
          </p:cNvPr>
          <p:cNvSpPr/>
          <p:nvPr/>
        </p:nvSpPr>
        <p:spPr>
          <a:xfrm>
            <a:off x="9236273" y="181544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D38984D8-A459-A8A4-0CE1-5B41C9F69D34}"/>
              </a:ext>
            </a:extLst>
          </p:cNvPr>
          <p:cNvSpPr/>
          <p:nvPr/>
        </p:nvSpPr>
        <p:spPr>
          <a:xfrm>
            <a:off x="8415540" y="180769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15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A01818B-64BE-4164-AD88-3CD36CF637A7}"/>
              </a:ext>
            </a:extLst>
          </p:cNvPr>
          <p:cNvSpPr txBox="1"/>
          <p:nvPr/>
        </p:nvSpPr>
        <p:spPr>
          <a:xfrm>
            <a:off x="8177009" y="1927362"/>
            <a:ext cx="714619" cy="288147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HD </a:t>
            </a: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법인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algn="ctr">
              <a:defRPr/>
            </a:pP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단선 원인 도출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41A57A6-5059-E145-EA09-C3A5C71AB55D}"/>
              </a:ext>
            </a:extLst>
          </p:cNvPr>
          <p:cNvSpPr txBox="1"/>
          <p:nvPr/>
        </p:nvSpPr>
        <p:spPr>
          <a:xfrm>
            <a:off x="7639061" y="2323158"/>
            <a:ext cx="642411" cy="180425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AX </a:t>
            </a: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과제 완료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595A532A-978C-1D52-C02E-3CF670C11ED3}"/>
              </a:ext>
            </a:extLst>
          </p:cNvPr>
          <p:cNvSpPr/>
          <p:nvPr/>
        </p:nvSpPr>
        <p:spPr>
          <a:xfrm>
            <a:off x="7891858" y="219511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9734B7F2-72C1-1033-3064-FC11238CDA68}"/>
              </a:ext>
            </a:extLst>
          </p:cNvPr>
          <p:cNvSpPr txBox="1"/>
          <p:nvPr/>
        </p:nvSpPr>
        <p:spPr>
          <a:xfrm>
            <a:off x="6948921" y="2323158"/>
            <a:ext cx="642411" cy="288147"/>
          </a:xfrm>
          <a:prstGeom prst="rect">
            <a:avLst/>
          </a:prstGeom>
          <a:noFill/>
          <a:ln w="6350">
            <a:noFill/>
          </a:ln>
        </p:spPr>
        <p:txBody>
          <a:bodyPr wrap="square" lIns="36000" tIns="36000" rIns="36000" bIns="36000" rtlCol="0" anchor="t" anchorCtr="0">
            <a:spAutoFit/>
          </a:bodyPr>
          <a:lstStyle/>
          <a:p>
            <a:pPr algn="ctr">
              <a:defRPr/>
            </a:pP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단선 원인 분석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algn="ctr">
              <a:defRPr/>
            </a:pP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보조 </a:t>
            </a:r>
            <a: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Agent </a:t>
            </a: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구축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207" name="타원 206">
            <a:extLst>
              <a:ext uri="{FF2B5EF4-FFF2-40B4-BE49-F238E27FC236}">
                <a16:creationId xmlns:a16="http://schemas.microsoft.com/office/drawing/2014/main" id="{DB97081E-7E88-B73F-E4A2-5F6043724B60}"/>
              </a:ext>
            </a:extLst>
          </p:cNvPr>
          <p:cNvSpPr/>
          <p:nvPr/>
        </p:nvSpPr>
        <p:spPr>
          <a:xfrm>
            <a:off x="7201718" y="219511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907F6A-B453-8425-C591-61F5C4161FF5}"/>
              </a:ext>
            </a:extLst>
          </p:cNvPr>
          <p:cNvSpPr txBox="1"/>
          <p:nvPr/>
        </p:nvSpPr>
        <p:spPr>
          <a:xfrm>
            <a:off x="5748267" y="1344051"/>
            <a:ext cx="1914015" cy="215444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각 공정 개선율의 산술평균으로 목표 산정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A6D2E9-A5CA-5AC2-7ECC-5809B92D0357}"/>
              </a:ext>
            </a:extLst>
          </p:cNvPr>
          <p:cNvSpPr txBox="1"/>
          <p:nvPr/>
        </p:nvSpPr>
        <p:spPr>
          <a:xfrm>
            <a:off x="5458400" y="5792304"/>
            <a:ext cx="2983175" cy="29662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조립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: 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북미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유럽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자동차 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B</a:t>
            </a: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M/PD Loss </a:t>
            </a:r>
            <a:r>
              <a:rPr kumimoji="1"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개선 </a:t>
            </a:r>
            <a:r>
              <a:rPr kumimoji="1" lang="en-US" altLang="ko-KR" sz="1200" b="1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ko-KR" altLang="en-US" sz="1200" b="1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3C6AF8D-B8A7-7D6B-8C91-9FA74959765F}"/>
              </a:ext>
            </a:extLst>
          </p:cNvPr>
          <p:cNvSpPr txBox="1"/>
          <p:nvPr/>
        </p:nvSpPr>
        <p:spPr>
          <a:xfrm>
            <a:off x="5654351" y="6017736"/>
            <a:ext cx="4051178" cy="639406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>
            <a:defPPr>
              <a:defRPr lang="ko-KR"/>
            </a:defPPr>
            <a:lvl1pPr marL="164127" marR="0" lvl="0" indent="-164127" defTabSz="844083" fontAlgn="base">
              <a:lnSpc>
                <a:spcPct val="100000"/>
              </a:lnSpc>
              <a:spcBef>
                <a:spcPts val="0"/>
              </a:spcBef>
              <a:buClrTx/>
              <a:buSzPct val="85000"/>
              <a:buFont typeface="Wingdings" panose="05000000000000000000" pitchFamily="2" charset="2"/>
              <a:buChar char="q"/>
              <a:tabLst/>
              <a:defRPr kumimoji="1" sz="12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180975" lvl="1" defTabSz="844083" fontAlgn="base">
              <a:buSzPct val="85000"/>
              <a:defRPr kumimoji="1" sz="11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2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ko-KR" sz="1100" b="0"/>
              <a:t>-.</a:t>
            </a:r>
            <a:r>
              <a:rPr lang="ko-KR" altLang="en-US" sz="1100" b="0"/>
              <a:t> </a:t>
            </a:r>
            <a:r>
              <a:rPr lang="en-US" altLang="ko-KR" sz="1100" b="0" dirty="0"/>
              <a:t>[</a:t>
            </a:r>
            <a:r>
              <a:rPr lang="en-US" altLang="ko-KR" sz="1100" b="0"/>
              <a:t>HG AZS</a:t>
            </a:r>
            <a:r>
              <a:rPr lang="en-US" altLang="ko-KR" sz="1100" b="0" dirty="0"/>
              <a:t>] </a:t>
            </a:r>
            <a:r>
              <a:rPr lang="en-US" altLang="ko-KR" sz="1100" b="0"/>
              <a:t>Buffer Stage </a:t>
            </a:r>
            <a:r>
              <a:rPr lang="ko-KR" altLang="en-US" sz="1100" b="0"/>
              <a:t>내 </a:t>
            </a:r>
            <a:r>
              <a:rPr lang="en-US" altLang="ko-KR" sz="1100" b="0"/>
              <a:t>LM Block</a:t>
            </a:r>
            <a:r>
              <a:rPr lang="ko-KR" altLang="en-US" sz="1100" b="0"/>
              <a:t> 이물 기인 파손 이상감지 모델링 검토   </a:t>
            </a:r>
            <a:endParaRPr lang="en-US" altLang="ko-KR" sz="1100" b="0"/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100" b="0"/>
              <a:t>-. </a:t>
            </a:r>
            <a:r>
              <a:rPr lang="en-US" altLang="ko-KR" sz="1100" b="0" dirty="0"/>
              <a:t>[</a:t>
            </a:r>
            <a:r>
              <a:rPr lang="en-US" altLang="ko-KR" sz="1100" b="0"/>
              <a:t>WA LNS</a:t>
            </a:r>
            <a:r>
              <a:rPr lang="en-US" altLang="ko-KR" sz="1100" b="0" dirty="0"/>
              <a:t>] </a:t>
            </a:r>
            <a:r>
              <a:rPr lang="ko-KR" altLang="en-US" sz="1100" b="0" err="1"/>
              <a:t>스태킹</a:t>
            </a:r>
            <a:r>
              <a:rPr lang="ko-KR" altLang="en-US" sz="1100" b="0"/>
              <a:t> </a:t>
            </a:r>
            <a:r>
              <a:rPr lang="en-US" altLang="ko-KR" sz="1100" b="0"/>
              <a:t>LMS </a:t>
            </a:r>
            <a:r>
              <a:rPr lang="ko-KR" altLang="en-US" sz="1100" b="0"/>
              <a:t>리니어 모터 과부하로 인한  </a:t>
            </a:r>
            <a:r>
              <a:rPr lang="en-US" altLang="ko-KR" sz="1100" b="0"/>
              <a:t>BM Loss </a:t>
            </a:r>
            <a:r>
              <a:rPr lang="ko-KR" altLang="en-US" sz="1100" b="0"/>
              <a:t>개선 검토 </a:t>
            </a:r>
            <a:endParaRPr lang="en-US" altLang="ko-KR" sz="1100" b="0"/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100" b="0"/>
              <a:t>-. </a:t>
            </a:r>
            <a:r>
              <a:rPr lang="en-US" altLang="ko-KR" sz="1100" b="0" dirty="0"/>
              <a:t>[</a:t>
            </a:r>
            <a:r>
              <a:rPr lang="en-US" altLang="ko-KR" sz="1100" b="0"/>
              <a:t>WA LNS</a:t>
            </a:r>
            <a:r>
              <a:rPr lang="en-US" altLang="ko-KR" sz="1100" b="0" dirty="0"/>
              <a:t>]</a:t>
            </a:r>
            <a:r>
              <a:rPr lang="en-US" altLang="ko-KR" sz="1100" b="0"/>
              <a:t> </a:t>
            </a:r>
            <a:r>
              <a:rPr lang="ko-KR" altLang="en-US" sz="1100" b="0" dirty="0" err="1"/>
              <a:t>공급부</a:t>
            </a:r>
            <a:r>
              <a:rPr lang="ko-KR" altLang="en-US" sz="1100" b="0"/>
              <a:t> 댄서 및 인접 </a:t>
            </a:r>
            <a:r>
              <a:rPr lang="ko-KR" altLang="en-US" sz="1100" b="0" err="1"/>
              <a:t>기구부</a:t>
            </a:r>
            <a:r>
              <a:rPr lang="ko-KR" altLang="en-US" sz="1100" b="0"/>
              <a:t> 데이터 활용 전극 파단 개선 검토</a:t>
            </a:r>
            <a:endParaRPr lang="en-US" altLang="ko-KR" sz="1100" b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86ADD9-02A3-47FE-6C9A-3037D925CCC8}"/>
              </a:ext>
            </a:extLst>
          </p:cNvPr>
          <p:cNvSpPr txBox="1"/>
          <p:nvPr/>
        </p:nvSpPr>
        <p:spPr>
          <a:xfrm>
            <a:off x="869409" y="6035119"/>
            <a:ext cx="4577591" cy="65146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>
            <a:defPPr>
              <a:defRPr lang="ko-KR"/>
            </a:defPPr>
            <a:lvl1pPr marL="164127" marR="0" lvl="0" indent="-164127" defTabSz="844083" fontAlgn="base">
              <a:lnSpc>
                <a:spcPct val="100000"/>
              </a:lnSpc>
              <a:spcBef>
                <a:spcPts val="0"/>
              </a:spcBef>
              <a:buClrTx/>
              <a:buSzPct val="85000"/>
              <a:buFont typeface="Wingdings" panose="05000000000000000000" pitchFamily="2" charset="2"/>
              <a:buChar char="q"/>
              <a:tabLst/>
              <a:defRPr kumimoji="1" sz="12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180975" lvl="1" defTabSz="844083" fontAlgn="base">
              <a:buSzPct val="85000"/>
              <a:defRPr kumimoji="1" sz="11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2pPr>
          </a:lstStyle>
          <a:p>
            <a:pPr marL="0" indent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altLang="ko-KR" sz="1100" b="0"/>
              <a:t>-.</a:t>
            </a:r>
            <a:r>
              <a:rPr lang="ko-KR" altLang="en-US" sz="1100" b="0"/>
              <a:t> 조립 </a:t>
            </a:r>
            <a:r>
              <a:rPr lang="en-US" altLang="ko-KR" sz="1100" b="0"/>
              <a:t>: </a:t>
            </a:r>
            <a:r>
              <a:rPr lang="en-US" altLang="ko-KR" sz="1100" b="0" dirty="0"/>
              <a:t>[</a:t>
            </a:r>
            <a:r>
              <a:rPr lang="en-US" altLang="ko-KR" sz="1100" b="0"/>
              <a:t>OT</a:t>
            </a:r>
            <a:r>
              <a:rPr lang="en-US" altLang="ko-KR" sz="1100" b="0" dirty="0"/>
              <a:t>] </a:t>
            </a:r>
            <a:r>
              <a:rPr lang="ko-KR" altLang="en-US" sz="1100" b="0" dirty="0"/>
              <a:t>라미</a:t>
            </a:r>
            <a:r>
              <a:rPr lang="ko-KR" altLang="en-US" sz="1100" b="0"/>
              <a:t> 전극</a:t>
            </a:r>
            <a:r>
              <a:rPr lang="en-US" altLang="ko-KR" sz="1100" b="0"/>
              <a:t> </a:t>
            </a:r>
            <a:r>
              <a:rPr lang="ko-KR" altLang="en-US" sz="1100" b="0" err="1"/>
              <a:t>컷터</a:t>
            </a:r>
            <a:r>
              <a:rPr lang="ko-KR" altLang="en-US" sz="1100" b="0"/>
              <a:t> </a:t>
            </a:r>
            <a:r>
              <a:rPr lang="ko-KR" altLang="en-US" sz="1100" b="0" err="1"/>
              <a:t>그리퍼</a:t>
            </a:r>
            <a:r>
              <a:rPr lang="ko-KR" altLang="en-US" sz="1100" b="0"/>
              <a:t> 유량 </a:t>
            </a:r>
            <a:r>
              <a:rPr lang="en-US" altLang="ko-KR" sz="1100" b="0" err="1"/>
              <a:t>Cpk</a:t>
            </a:r>
            <a:r>
              <a:rPr lang="en-US" altLang="ko-KR" sz="1100" b="0"/>
              <a:t> </a:t>
            </a:r>
            <a:r>
              <a:rPr lang="ko-KR" altLang="en-US" sz="1100" b="0"/>
              <a:t>연계 모델링 고도화</a:t>
            </a:r>
            <a:r>
              <a:rPr lang="en-US" altLang="ko-KR" sz="1100" b="0"/>
              <a:t>(8/19)</a:t>
            </a:r>
          </a:p>
          <a:p>
            <a:pPr marL="0" indent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altLang="ko-KR" sz="1100" b="0"/>
              <a:t>              </a:t>
            </a:r>
            <a:r>
              <a:rPr lang="en-US" altLang="ko-KR" sz="1100" b="0" dirty="0"/>
              <a:t>[</a:t>
            </a:r>
            <a:r>
              <a:rPr kumimoji="0" lang="en-US" altLang="ko-KR" sz="1100" b="0"/>
              <a:t>HG</a:t>
            </a:r>
            <a:r>
              <a:rPr kumimoji="0" lang="en-US" altLang="ko-KR" sz="1100" b="0" dirty="0"/>
              <a:t>] </a:t>
            </a:r>
            <a:r>
              <a:rPr kumimoji="0" lang="en-US" altLang="ko-KR" sz="1100" b="0"/>
              <a:t>DNC </a:t>
            </a:r>
            <a:r>
              <a:rPr kumimoji="0" lang="ko-KR" altLang="en-US" sz="1100" b="0" err="1"/>
              <a:t>컷터</a:t>
            </a:r>
            <a:r>
              <a:rPr kumimoji="0" lang="ko-KR" altLang="en-US" sz="1100" b="0"/>
              <a:t> 측압 이상감지 모델링</a:t>
            </a:r>
            <a:r>
              <a:rPr kumimoji="0" lang="en-US" altLang="ko-KR" sz="1100" b="0"/>
              <a:t>(8/11) </a:t>
            </a:r>
          </a:p>
          <a:p>
            <a:pPr marL="177800" lvl="0" indent="-177800" defTabSz="914400" fontAlgn="ctr">
              <a:spcBef>
                <a:spcPts val="100"/>
              </a:spcBef>
              <a:spcAft>
                <a:spcPts val="100"/>
              </a:spcAft>
              <a:buSzTx/>
              <a:buNone/>
              <a:defRPr/>
            </a:pPr>
            <a:r>
              <a:rPr kumimoji="0" lang="en-US" altLang="ko-KR" sz="1100" b="0"/>
              <a:t>              </a:t>
            </a:r>
            <a:r>
              <a:rPr kumimoji="0" lang="en-US" altLang="ko-KR" sz="1100" b="0" dirty="0"/>
              <a:t>[</a:t>
            </a:r>
            <a:r>
              <a:rPr kumimoji="0" lang="en-US" altLang="ko-KR" sz="1100" b="0"/>
              <a:t>GM2</a:t>
            </a:r>
            <a:r>
              <a:rPr kumimoji="0" lang="en-US" altLang="ko-KR" sz="1100" b="0" dirty="0"/>
              <a:t>]</a:t>
            </a:r>
            <a:r>
              <a:rPr kumimoji="0" lang="en-US" altLang="ko-KR" sz="1100" b="0"/>
              <a:t> PKG </a:t>
            </a:r>
            <a:r>
              <a:rPr kumimoji="0" lang="ko-KR" altLang="en-US" sz="1100" b="0"/>
              <a:t>중앙 전해액 공급시스템 필터 이상감지 모델링 적용</a:t>
            </a:r>
            <a:r>
              <a:rPr kumimoji="0" lang="en-US" altLang="ko-KR" sz="1100" b="0"/>
              <a:t>(8/24)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63C8A36-8EE3-4B40-591C-66565A371F5A}"/>
              </a:ext>
            </a:extLst>
          </p:cNvPr>
          <p:cNvSpPr txBox="1"/>
          <p:nvPr/>
        </p:nvSpPr>
        <p:spPr>
          <a:xfrm>
            <a:off x="4811437" y="6669360"/>
            <a:ext cx="409086" cy="16927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 / </a:t>
            </a:r>
            <a:r>
              <a:rPr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9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6A26E86-B8FF-F02C-0A0E-3B5A7970C3D1}"/>
              </a:ext>
            </a:extLst>
          </p:cNvPr>
          <p:cNvSpPr txBox="1"/>
          <p:nvPr/>
        </p:nvSpPr>
        <p:spPr>
          <a:xfrm>
            <a:off x="3385773" y="5246995"/>
            <a:ext cx="1578611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177800" indent="-177800" fontAlgn="ctr">
              <a:lnSpc>
                <a:spcPct val="100000"/>
              </a:lnSpc>
              <a:defRPr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/>
              <a:t>45% </a:t>
            </a:r>
            <a:r>
              <a:rPr lang="ko-KR" altLang="en-US"/>
              <a:t>개선 </a:t>
            </a:r>
            <a:r>
              <a:rPr lang="en-US" altLang="ko-KR"/>
              <a:t>(9.68%(2</a:t>
            </a:r>
            <a:r>
              <a:rPr lang="ko-KR" altLang="en-US"/>
              <a:t>월</a:t>
            </a:r>
            <a:r>
              <a:rPr lang="en-US" altLang="ko-KR"/>
              <a:t>) </a:t>
            </a:r>
            <a:r>
              <a:rPr lang="ko-KR" altLang="en-US"/>
              <a:t>→ </a:t>
            </a:r>
            <a:r>
              <a:rPr lang="en-US" altLang="ko-KR"/>
              <a:t>5.30%(8</a:t>
            </a:r>
            <a:r>
              <a:rPr lang="ko-KR" altLang="en-US"/>
              <a:t>월</a:t>
            </a:r>
            <a:r>
              <a:rPr lang="en-US" altLang="ko-KR"/>
              <a:t>))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9462D14-E1B4-77CC-BE0E-94FAA5741EDC}"/>
              </a:ext>
            </a:extLst>
          </p:cNvPr>
          <p:cNvSpPr txBox="1"/>
          <p:nvPr/>
        </p:nvSpPr>
        <p:spPr>
          <a:xfrm>
            <a:off x="3269697" y="5923341"/>
            <a:ext cx="2069371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177800" indent="-177800" fontAlgn="ctr">
              <a:lnSpc>
                <a:spcPct val="100000"/>
              </a:lnSpc>
              <a:defRPr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/>
              <a:t>41% </a:t>
            </a:r>
            <a:r>
              <a:rPr lang="ko-KR" altLang="en-US"/>
              <a:t>개선 </a:t>
            </a:r>
            <a:r>
              <a:rPr lang="en-US" altLang="ko-KR"/>
              <a:t>(</a:t>
            </a:r>
            <a:r>
              <a:rPr lang="ko-KR" altLang="en-US"/>
              <a:t>양극 </a:t>
            </a:r>
            <a:r>
              <a:rPr lang="ko-KR" altLang="en-US" err="1"/>
              <a:t>전호기</a:t>
            </a:r>
            <a:r>
              <a:rPr lang="ko-KR" altLang="en-US"/>
              <a:t> 단선 </a:t>
            </a:r>
            <a:r>
              <a:rPr lang="en-US" altLang="ko-KR"/>
              <a:t>Loss : 10.3% </a:t>
            </a:r>
            <a:r>
              <a:rPr lang="en-US" altLang="ko-KR">
                <a:sym typeface="Wingdings" panose="05000000000000000000" pitchFamily="2" charset="2"/>
              </a:rPr>
              <a:t> 6.05% )</a:t>
            </a:r>
            <a:r>
              <a:rPr lang="en-US" altLang="ko-KR"/>
              <a:t> 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72389F5-4E9B-6F70-D0A6-C4C2C69805F6}"/>
              </a:ext>
            </a:extLst>
          </p:cNvPr>
          <p:cNvSpPr txBox="1"/>
          <p:nvPr/>
        </p:nvSpPr>
        <p:spPr>
          <a:xfrm>
            <a:off x="7668560" y="4287759"/>
            <a:ext cx="941286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177800" indent="-177800" fontAlgn="ctr">
              <a:lnSpc>
                <a:spcPct val="100000"/>
              </a:lnSpc>
              <a:defRPr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/>
              <a:t>양극 </a:t>
            </a:r>
            <a:r>
              <a:rPr lang="en-US" altLang="ko-KR"/>
              <a:t>2,3</a:t>
            </a:r>
            <a:r>
              <a:rPr lang="ko-KR" altLang="en-US"/>
              <a:t>호 적용완료</a:t>
            </a:r>
            <a:endParaRPr lang="en-US" altLang="ko-KR"/>
          </a:p>
        </p:txBody>
      </p:sp>
      <p:sp>
        <p:nvSpPr>
          <p:cNvPr id="5" name="실행 단추: 앞으로 또는 다음으로 이동 4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4C0758AF-446C-F692-41E5-DCB663A6DB42}"/>
              </a:ext>
            </a:extLst>
          </p:cNvPr>
          <p:cNvSpPr/>
          <p:nvPr/>
        </p:nvSpPr>
        <p:spPr>
          <a:xfrm>
            <a:off x="4764584" y="6094908"/>
            <a:ext cx="170084" cy="116635"/>
          </a:xfrm>
          <a:prstGeom prst="actionButtonForwardNext">
            <a:avLst/>
          </a:prstGeom>
          <a:solidFill>
            <a:sysClr val="window" lastClr="FFFFFF">
              <a:lumMod val="7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ko-KR" altLang="en-US" kern="0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실행 단추: 앞으로 또는 다음으로 이동 3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991E8838-F5C1-F35B-23CE-4B1495972D96}"/>
              </a:ext>
            </a:extLst>
          </p:cNvPr>
          <p:cNvSpPr/>
          <p:nvPr/>
        </p:nvSpPr>
        <p:spPr>
          <a:xfrm>
            <a:off x="3689744" y="6298109"/>
            <a:ext cx="170084" cy="116635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ko-KR" altLang="en-US" kern="0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실행 단추: 앞으로 또는 다음으로 이동 5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151B48C8-8E41-8B2C-D6F1-B2357359540C}"/>
              </a:ext>
            </a:extLst>
          </p:cNvPr>
          <p:cNvSpPr/>
          <p:nvPr/>
        </p:nvSpPr>
        <p:spPr>
          <a:xfrm>
            <a:off x="5077928" y="6492074"/>
            <a:ext cx="170084" cy="116635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ko-KR" altLang="en-US" kern="0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4D7BA70-1E1C-A6FB-6FE8-EBD151C13B88}"/>
              </a:ext>
            </a:extLst>
          </p:cNvPr>
          <p:cNvGrpSpPr/>
          <p:nvPr/>
        </p:nvGrpSpPr>
        <p:grpSpPr>
          <a:xfrm>
            <a:off x="7758397" y="114985"/>
            <a:ext cx="1781744" cy="604476"/>
            <a:chOff x="4232920" y="49957"/>
            <a:chExt cx="1781744" cy="604476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99DE90D2-033D-8372-232D-E3EE92C051A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80E32AE-E750-5312-945C-6237E9198662}"/>
                </a:ext>
              </a:extLst>
            </p:cNvPr>
            <p:cNvSpPr txBox="1"/>
            <p:nvPr/>
          </p:nvSpPr>
          <p:spPr>
            <a:xfrm>
              <a:off x="4458469" y="52657"/>
              <a:ext cx="1276953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초과 달성 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(5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점 기준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7D582133-3B02-6DC5-84ED-42E2387A3B6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2817664-9FEF-F815-8903-8A866101407E}"/>
                </a:ext>
              </a:extLst>
            </p:cNvPr>
            <p:cNvSpPr txBox="1"/>
            <p:nvPr/>
          </p:nvSpPr>
          <p:spPr>
            <a:xfrm>
              <a:off x="4458469" y="477133"/>
              <a:ext cx="155619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미달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A0E7F730-8FDD-F484-7DF4-FF86079297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5B55E0E-5548-D18B-083D-A530AA910246}"/>
                </a:ext>
              </a:extLst>
            </p:cNvPr>
            <p:cNvSpPr txBox="1"/>
            <p:nvPr/>
          </p:nvSpPr>
          <p:spPr>
            <a:xfrm>
              <a:off x="4458469" y="264895"/>
              <a:ext cx="137473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달성 수준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0643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63FC52A0-68C9-EED8-EED9-E3A49F11A53E}"/>
              </a:ext>
            </a:extLst>
          </p:cNvPr>
          <p:cNvSpPr txBox="1"/>
          <p:nvPr/>
        </p:nvSpPr>
        <p:spPr>
          <a:xfrm>
            <a:off x="763848" y="6071140"/>
            <a:ext cx="4472957" cy="589649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>
            <a:defPPr>
              <a:defRPr lang="ko-KR"/>
            </a:defPPr>
            <a:lvl1pPr marL="164127" marR="0" lvl="0" indent="-164127" defTabSz="844083" fontAlgn="base">
              <a:lnSpc>
                <a:spcPct val="100000"/>
              </a:lnSpc>
              <a:spcBef>
                <a:spcPts val="0"/>
              </a:spcBef>
              <a:buClrTx/>
              <a:buSzPct val="85000"/>
              <a:buFont typeface="Wingdings" panose="05000000000000000000" pitchFamily="2" charset="2"/>
              <a:buChar char="q"/>
              <a:tabLst/>
              <a:defRPr kumimoji="1" sz="12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180975" lvl="1" defTabSz="844083" fontAlgn="base">
              <a:buSzPct val="85000"/>
              <a:defRPr kumimoji="1" sz="11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2pPr>
          </a:lstStyle>
          <a:p>
            <a:pPr marL="0" indent="-360363">
              <a:lnSpc>
                <a:spcPct val="110000"/>
              </a:lnSpc>
              <a:buNone/>
            </a:pPr>
            <a:r>
              <a:rPr lang="en-US" altLang="ko-KR" sz="1000" b="0">
                <a:solidFill>
                  <a:schemeClr val="tx1"/>
                </a:solidFill>
              </a:rPr>
              <a:t>(</a:t>
            </a:r>
            <a:r>
              <a:rPr lang="ko-KR" altLang="en-US" sz="1000" b="0">
                <a:solidFill>
                  <a:schemeClr val="tx1"/>
                </a:solidFill>
              </a:rPr>
              <a:t>조립</a:t>
            </a:r>
            <a:r>
              <a:rPr lang="en-US" altLang="ko-KR" sz="1000" b="0">
                <a:solidFill>
                  <a:schemeClr val="tx1"/>
                </a:solidFill>
              </a:rPr>
              <a:t>)</a:t>
            </a:r>
            <a:r>
              <a:rPr lang="ko-KR" altLang="en-US" sz="1000" b="0">
                <a:solidFill>
                  <a:schemeClr val="tx1"/>
                </a:solidFill>
              </a:rPr>
              <a:t> </a:t>
            </a:r>
            <a:r>
              <a:rPr lang="en-US" altLang="ko-KR" sz="1000" b="0" dirty="0">
                <a:solidFill>
                  <a:schemeClr val="tx1"/>
                </a:solidFill>
              </a:rPr>
              <a:t>[</a:t>
            </a:r>
            <a:r>
              <a:rPr lang="en-US" altLang="ko-KR" sz="1000" b="0">
                <a:solidFill>
                  <a:schemeClr val="tx1"/>
                </a:solidFill>
              </a:rPr>
              <a:t>MIHL</a:t>
            </a:r>
            <a:r>
              <a:rPr lang="en-US" altLang="ko-KR" sz="1000" b="0" dirty="0">
                <a:solidFill>
                  <a:schemeClr val="tx1"/>
                </a:solidFill>
              </a:rPr>
              <a:t>] </a:t>
            </a:r>
            <a:r>
              <a:rPr lang="ko-KR" altLang="en-US" sz="1000" b="0" dirty="0">
                <a:solidFill>
                  <a:schemeClr val="tx1"/>
                </a:solidFill>
              </a:rPr>
              <a:t>라미</a:t>
            </a:r>
            <a:r>
              <a:rPr lang="ko-KR" altLang="en-US" sz="1000" b="0">
                <a:solidFill>
                  <a:schemeClr val="tx1"/>
                </a:solidFill>
              </a:rPr>
              <a:t> </a:t>
            </a:r>
            <a:r>
              <a:rPr lang="ko-KR" altLang="en-US" sz="1000" b="0" err="1">
                <a:solidFill>
                  <a:schemeClr val="tx1"/>
                </a:solidFill>
              </a:rPr>
              <a:t>컷터</a:t>
            </a:r>
            <a:r>
              <a:rPr lang="ko-KR" altLang="en-US" sz="1000" b="0">
                <a:solidFill>
                  <a:schemeClr val="tx1"/>
                </a:solidFill>
              </a:rPr>
              <a:t> 패턴 이상감지 모델 적용</a:t>
            </a:r>
            <a:r>
              <a:rPr lang="en-US" altLang="ko-KR" sz="1000" b="0">
                <a:solidFill>
                  <a:schemeClr val="tx1"/>
                </a:solidFill>
              </a:rPr>
              <a:t>(8/28), </a:t>
            </a:r>
            <a:r>
              <a:rPr lang="ko-KR" altLang="en-US" sz="1000" b="0">
                <a:solidFill>
                  <a:schemeClr val="tx1"/>
                </a:solidFill>
              </a:rPr>
              <a:t>웹 대시보드 구축 중</a:t>
            </a:r>
            <a:r>
              <a:rPr lang="en-US" altLang="ko-KR" sz="1000" b="0">
                <a:solidFill>
                  <a:schemeClr val="tx1"/>
                </a:solidFill>
              </a:rPr>
              <a:t>(~9/18)</a:t>
            </a:r>
          </a:p>
          <a:p>
            <a:pPr marL="0" indent="-360363">
              <a:lnSpc>
                <a:spcPct val="110000"/>
              </a:lnSpc>
              <a:buNone/>
            </a:pPr>
            <a:r>
              <a:rPr lang="en-US" altLang="ko-KR" sz="1000" b="0">
                <a:solidFill>
                  <a:schemeClr val="tx1"/>
                </a:solidFill>
              </a:rPr>
              <a:t>           </a:t>
            </a:r>
            <a:r>
              <a:rPr lang="en-US" altLang="ko-KR" sz="1000" b="0" dirty="0">
                <a:solidFill>
                  <a:schemeClr val="tx1"/>
                </a:solidFill>
              </a:rPr>
              <a:t>[</a:t>
            </a:r>
            <a:r>
              <a:rPr lang="en-US" altLang="ko-KR" sz="1000" b="0">
                <a:solidFill>
                  <a:schemeClr val="tx1"/>
                </a:solidFill>
              </a:rPr>
              <a:t>WA</a:t>
            </a:r>
            <a:r>
              <a:rPr lang="en-US" altLang="ko-KR" sz="1000" b="0" dirty="0">
                <a:solidFill>
                  <a:schemeClr val="tx1"/>
                </a:solidFill>
              </a:rPr>
              <a:t>] </a:t>
            </a:r>
            <a:r>
              <a:rPr lang="ko-KR" altLang="en-US" sz="1000" b="0" dirty="0">
                <a:solidFill>
                  <a:schemeClr val="tx1"/>
                </a:solidFill>
              </a:rPr>
              <a:t>라미</a:t>
            </a:r>
            <a:r>
              <a:rPr lang="ko-KR" altLang="en-US" sz="1000" b="0">
                <a:solidFill>
                  <a:schemeClr val="tx1"/>
                </a:solidFill>
              </a:rPr>
              <a:t> </a:t>
            </a:r>
            <a:r>
              <a:rPr lang="ko-KR" altLang="en-US" sz="1000" b="0" err="1">
                <a:solidFill>
                  <a:schemeClr val="tx1"/>
                </a:solidFill>
              </a:rPr>
              <a:t>컷터</a:t>
            </a:r>
            <a:r>
              <a:rPr lang="ko-KR" altLang="en-US" sz="1000" b="0">
                <a:solidFill>
                  <a:schemeClr val="tx1"/>
                </a:solidFill>
              </a:rPr>
              <a:t> 열화 상태 모니터링 웹 대시보드 활용 위치불량 개선 중</a:t>
            </a:r>
            <a:endParaRPr lang="en-US" altLang="ko-KR" sz="1000" b="0">
              <a:solidFill>
                <a:schemeClr val="tx1"/>
              </a:solidFill>
            </a:endParaRPr>
          </a:p>
          <a:p>
            <a:pPr marL="0" indent="-360363">
              <a:lnSpc>
                <a:spcPct val="110000"/>
              </a:lnSpc>
              <a:buNone/>
            </a:pPr>
            <a:r>
              <a:rPr lang="en-US" altLang="ko-KR" sz="1000" b="0">
                <a:solidFill>
                  <a:schemeClr val="tx1"/>
                </a:solidFill>
              </a:rPr>
              <a:t>           </a:t>
            </a:r>
            <a:r>
              <a:rPr lang="en-US" altLang="ko-KR" sz="1000" b="0" dirty="0">
                <a:solidFill>
                  <a:schemeClr val="tx1"/>
                </a:solidFill>
              </a:rPr>
              <a:t>[</a:t>
            </a:r>
            <a:r>
              <a:rPr lang="en-US" altLang="ko-KR" sz="1000" b="0">
                <a:solidFill>
                  <a:schemeClr val="tx1"/>
                </a:solidFill>
              </a:rPr>
              <a:t>WA</a:t>
            </a:r>
            <a:r>
              <a:rPr lang="en-US" altLang="ko-KR" sz="1000" b="0" dirty="0">
                <a:solidFill>
                  <a:schemeClr val="tx1"/>
                </a:solidFill>
              </a:rPr>
              <a:t>]</a:t>
            </a:r>
            <a:r>
              <a:rPr lang="en-US" altLang="ko-KR" sz="1000" b="0">
                <a:solidFill>
                  <a:schemeClr val="tx1"/>
                </a:solidFill>
              </a:rPr>
              <a:t> </a:t>
            </a:r>
            <a:r>
              <a:rPr lang="ko-KR" altLang="en-US" sz="1000" b="0">
                <a:solidFill>
                  <a:schemeClr val="tx1"/>
                </a:solidFill>
              </a:rPr>
              <a:t>양</a:t>
            </a:r>
            <a:r>
              <a:rPr lang="en-US" altLang="ko-KR" sz="1000" b="0">
                <a:solidFill>
                  <a:schemeClr val="tx1"/>
                </a:solidFill>
              </a:rPr>
              <a:t>/</a:t>
            </a:r>
            <a:r>
              <a:rPr lang="ko-KR" altLang="en-US" sz="1000" b="0">
                <a:solidFill>
                  <a:schemeClr val="tx1"/>
                </a:solidFill>
              </a:rPr>
              <a:t>음극 </a:t>
            </a:r>
            <a:r>
              <a:rPr lang="ko-KR" altLang="en-US" sz="1000" b="0" err="1">
                <a:solidFill>
                  <a:schemeClr val="tx1"/>
                </a:solidFill>
              </a:rPr>
              <a:t>피딩롤러</a:t>
            </a:r>
            <a:r>
              <a:rPr lang="ko-KR" altLang="en-US" sz="1000" b="0">
                <a:solidFill>
                  <a:schemeClr val="tx1"/>
                </a:solidFill>
              </a:rPr>
              <a:t> 열화 이상감지 모델링 적용</a:t>
            </a:r>
            <a:r>
              <a:rPr lang="en-US" altLang="ko-KR" sz="1000" b="0">
                <a:solidFill>
                  <a:schemeClr val="tx1"/>
                </a:solidFill>
              </a:rPr>
              <a:t>(E77 </a:t>
            </a:r>
            <a:r>
              <a:rPr lang="ko-KR" altLang="en-US" sz="1000" b="0">
                <a:solidFill>
                  <a:schemeClr val="tx1"/>
                </a:solidFill>
              </a:rPr>
              <a:t>라인</a:t>
            </a:r>
            <a:r>
              <a:rPr lang="en-US" altLang="ko-KR" sz="1000" b="0">
                <a:solidFill>
                  <a:schemeClr val="tx1"/>
                </a:solidFill>
              </a:rPr>
              <a:t>, 8/14~) </a:t>
            </a:r>
          </a:p>
        </p:txBody>
      </p:sp>
      <p:sp>
        <p:nvSpPr>
          <p:cNvPr id="34" name="실행 단추: 처음으로 이동 3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0418318-F3DD-8B14-F505-F703DC274E9F}"/>
              </a:ext>
            </a:extLst>
          </p:cNvPr>
          <p:cNvSpPr/>
          <p:nvPr/>
        </p:nvSpPr>
        <p:spPr>
          <a:xfrm>
            <a:off x="9597155" y="68805"/>
            <a:ext cx="174277" cy="220868"/>
          </a:xfrm>
          <a:prstGeom prst="actionButtonBeginning">
            <a:avLst/>
          </a:prstGeom>
          <a:solidFill>
            <a:sysClr val="window" lastClr="FFFFFF">
              <a:lumMod val="7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40" name="Rectangle 4">
            <a:extLst>
              <a:ext uri="{FF2B5EF4-FFF2-40B4-BE49-F238E27FC236}">
                <a16:creationId xmlns:a16="http://schemas.microsoft.com/office/drawing/2014/main" id="{B969C579-2BBB-2F9B-6D86-6ED2AAA78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1739205"/>
            <a:ext cx="448035" cy="1604709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일정</a:t>
            </a: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98D30552-5A55-6AA5-F465-0ADA37533A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98325"/>
              </p:ext>
            </p:extLst>
          </p:nvPr>
        </p:nvGraphicFramePr>
        <p:xfrm>
          <a:off x="735049" y="761673"/>
          <a:ext cx="8862107" cy="923951"/>
        </p:xfrm>
        <a:graphic>
          <a:graphicData uri="http://schemas.openxmlformats.org/drawingml/2006/table">
            <a:tbl>
              <a:tblPr/>
              <a:tblGrid>
                <a:gridCol w="239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0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375">
                  <a:extLst>
                    <a:ext uri="{9D8B030D-6E8A-4147-A177-3AD203B41FA5}">
                      <a16:colId xmlns:a16="http://schemas.microsoft.com/office/drawing/2014/main" val="2961269463"/>
                    </a:ext>
                  </a:extLst>
                </a:gridCol>
                <a:gridCol w="7330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761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KPI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360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’26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년 분기목표 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연간목표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36000" marR="360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비중</a:t>
                      </a:r>
                    </a:p>
                  </a:txBody>
                  <a:tcPr marL="36000" marR="360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상태</a:t>
                      </a:r>
                    </a:p>
                  </a:txBody>
                  <a:tcPr marL="36000" marR="360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334"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제조 운영 </a:t>
                      </a:r>
                      <a:r>
                        <a:rPr lang="en-US" altLang="ko-KR" sz="10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0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 수율</a:t>
                      </a:r>
                      <a:r>
                        <a:rPr lang="en-US" altLang="ko-KR" sz="10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spc="-7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개선</a:t>
                      </a:r>
                      <a:endParaRPr lang="en-US" altLang="ko-KR" sz="1000" b="1" kern="1200" spc="-7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-. ESS </a:t>
                      </a:r>
                      <a:r>
                        <a:rPr kumimoji="1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종합</a:t>
                      </a:r>
                      <a:r>
                        <a:rPr kumimoji="1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 개선 </a:t>
                      </a:r>
                      <a:r>
                        <a:rPr kumimoji="1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북미</a:t>
                      </a:r>
                      <a:r>
                        <a:rPr kumimoji="1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유럽</a:t>
                      </a:r>
                      <a:r>
                        <a:rPr kumimoji="1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-. </a:t>
                      </a:r>
                      <a:r>
                        <a:rPr kumimoji="1" lang="ko-KR" altLang="en-US" sz="10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자동차 셀  수율 개선</a:t>
                      </a:r>
                      <a:endParaRPr kumimoji="1" lang="en-US" altLang="ko-KR" sz="1000" b="1" i="0" u="none" strike="noStrike" kern="1200" cap="none" spc="-5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[3Q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목표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 ESS 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종합</a:t>
                      </a:r>
                      <a:r>
                        <a:rPr lang="ko-KR" altLang="en-US" sz="1000" b="1" kern="1200" spc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수율</a:t>
                      </a:r>
                      <a:r>
                        <a:rPr lang="en-US" altLang="ko-KR" sz="1000" b="1" kern="1200" spc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(%)</a:t>
                      </a:r>
                      <a:r>
                        <a:rPr lang="ko-KR" altLang="en-US" sz="1000" b="1" kern="1200" spc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1" kern="1200" spc="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MI_HL 94.9 / MI_L 94.2 / OT 94.7 / HD 92.7  / WA 95.3</a:t>
                      </a:r>
                      <a:endParaRPr lang="en-US" altLang="ko-KR" sz="1000" b="1" kern="1200" spc="0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※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 : ESS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종합 수율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연간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%] MI_HL 94.8, MI_LS 93.7, OT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94.4, HD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92.9, WA 94.5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[3Q 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목표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자동차 셀 </a:t>
                      </a:r>
                      <a:r>
                        <a:rPr lang="ko-KR" altLang="en-US" sz="1000" b="1" kern="1200" spc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수율</a:t>
                      </a:r>
                      <a:r>
                        <a:rPr lang="en-US" altLang="ko-KR" sz="1000" b="1" kern="1200" spc="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(%) </a:t>
                      </a:r>
                      <a:r>
                        <a:rPr lang="en-US" altLang="ko-KR" sz="1000" b="1" kern="1200" spc="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WA</a:t>
                      </a:r>
                      <a:r>
                        <a:rPr lang="ko-KR" altLang="en-US" sz="1000" b="1" kern="1200" spc="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1" kern="1200" spc="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97.3 / NA 98.9 / NB 99.0 / HM 98.7 / MI 96.7 / HG 97.0  </a:t>
                      </a:r>
                      <a:endParaRPr lang="en-US" altLang="ko-KR" sz="1000" b="1" kern="1200" spc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※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 : 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자동차 셀 수율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연간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%]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WA 97.2, NA 99.0, NB 99.0, HM 98.7, MI 96.6, HG 96.8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10% (CDO)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25% (ESS- </a:t>
                      </a:r>
                      <a:r>
                        <a:rPr lang="ko-KR" altLang="en-US" sz="1000" b="1" i="0" u="none" strike="noStrike" spc="-70" baseline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그룹장</a:t>
                      </a: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10% (</a:t>
                      </a:r>
                      <a:r>
                        <a:rPr lang="ko-KR" alt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자동차</a:t>
                      </a: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-</a:t>
                      </a:r>
                      <a:r>
                        <a:rPr lang="ko-KR" altLang="en-US" sz="1000" b="1" i="0" u="none" strike="noStrike" spc="-70" baseline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그룹장</a:t>
                      </a: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endParaRPr lang="en-US" sz="1000" b="0" i="0" u="none" strike="noStrike" spc="-7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3" name="Rectangle 4">
            <a:extLst>
              <a:ext uri="{FF2B5EF4-FFF2-40B4-BE49-F238E27FC236}">
                <a16:creationId xmlns:a16="http://schemas.microsoft.com/office/drawing/2014/main" id="{B2CEC769-6310-E75A-4D3E-25E155E8D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761674"/>
            <a:ext cx="448035" cy="91037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endParaRPr kumimoji="1" lang="en-US" altLang="ko-KR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0C552BEA-9ACB-E9E2-19E6-43F7463503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476672"/>
              </p:ext>
            </p:extLst>
          </p:nvPr>
        </p:nvGraphicFramePr>
        <p:xfrm>
          <a:off x="735048" y="1739205"/>
          <a:ext cx="8862108" cy="1589506"/>
        </p:xfrm>
        <a:graphic>
          <a:graphicData uri="http://schemas.openxmlformats.org/drawingml/2006/table">
            <a:tbl>
              <a:tblPr/>
              <a:tblGrid>
                <a:gridCol w="738509">
                  <a:extLst>
                    <a:ext uri="{9D8B030D-6E8A-4147-A177-3AD203B41FA5}">
                      <a16:colId xmlns:a16="http://schemas.microsoft.com/office/drawing/2014/main" val="17103252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58282284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574503571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90626201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61868030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86585972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14679234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741167305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2785851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7129914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8237442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867782548"/>
                    </a:ext>
                  </a:extLst>
                </a:gridCol>
              </a:tblGrid>
              <a:tr h="140721"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'26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7681"/>
                  </a:ext>
                </a:extLst>
              </a:tr>
              <a:tr h="1407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850938"/>
                  </a:ext>
                </a:extLst>
              </a:tr>
              <a:tr h="671160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49617"/>
                  </a:ext>
                </a:extLst>
              </a:tr>
              <a:tr h="636904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057251"/>
                  </a:ext>
                </a:extLst>
              </a:tr>
            </a:tbl>
          </a:graphicData>
        </a:graphic>
      </p:graphicFrame>
      <p:sp>
        <p:nvSpPr>
          <p:cNvPr id="89" name="타원 88">
            <a:extLst>
              <a:ext uri="{FF2B5EF4-FFF2-40B4-BE49-F238E27FC236}">
                <a16:creationId xmlns:a16="http://schemas.microsoft.com/office/drawing/2014/main" id="{25F812DD-75E6-872F-28F6-02985AF4CE5B}"/>
              </a:ext>
            </a:extLst>
          </p:cNvPr>
          <p:cNvSpPr>
            <a:spLocks noChangeAspect="1"/>
          </p:cNvSpPr>
          <p:nvPr/>
        </p:nvSpPr>
        <p:spPr>
          <a:xfrm>
            <a:off x="9121943" y="1214170"/>
            <a:ext cx="180000" cy="180000"/>
          </a:xfrm>
          <a:prstGeom prst="ellipse">
            <a:avLst/>
          </a:prstGeom>
          <a:solidFill>
            <a:srgbClr val="FF505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latinLnBrk="0">
              <a:lnSpc>
                <a:spcPct val="120000"/>
              </a:lnSpc>
            </a:pPr>
            <a:endParaRPr lang="ko-KR" altLang="en-US" sz="600" spc="-3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566D6FFB-C26A-46EA-D465-99EB0A20F735}"/>
              </a:ext>
            </a:extLst>
          </p:cNvPr>
          <p:cNvGrpSpPr/>
          <p:nvPr/>
        </p:nvGrpSpPr>
        <p:grpSpPr>
          <a:xfrm>
            <a:off x="6719628" y="1748068"/>
            <a:ext cx="448035" cy="1589505"/>
            <a:chOff x="-1844372" y="1281056"/>
            <a:chExt cx="448035" cy="2132030"/>
          </a:xfrm>
        </p:grpSpPr>
        <p:cxnSp>
          <p:nvCxnSpPr>
            <p:cNvPr id="109" name="직선 연결선 167">
              <a:extLst>
                <a:ext uri="{FF2B5EF4-FFF2-40B4-BE49-F238E27FC236}">
                  <a16:creationId xmlns:a16="http://schemas.microsoft.com/office/drawing/2014/main" id="{C059EEE1-54B6-E7D2-70A0-B8B7D6D824D1}"/>
                </a:ext>
              </a:extLst>
            </p:cNvPr>
            <p:cNvCxnSpPr>
              <a:cxnSpLocks/>
            </p:cNvCxnSpPr>
            <p:nvPr/>
          </p:nvCxnSpPr>
          <p:spPr>
            <a:xfrm>
              <a:off x="-1728735" y="1417517"/>
              <a:ext cx="0" cy="1995569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ysDot"/>
            </a:ln>
            <a:effectLst/>
          </p:spPr>
        </p:cxnSp>
        <p:sp>
          <p:nvSpPr>
            <p:cNvPr id="113" name="Text Box 4">
              <a:extLst>
                <a:ext uri="{FF2B5EF4-FFF2-40B4-BE49-F238E27FC236}">
                  <a16:creationId xmlns:a16="http://schemas.microsoft.com/office/drawing/2014/main" id="{B883690E-8843-358D-2A2E-9E8E904F7F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844372" y="1281056"/>
              <a:ext cx="448035" cy="138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▼현재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111F51AF-5BB2-F2EF-5D6F-E429461D624C}"/>
              </a:ext>
            </a:extLst>
          </p:cNvPr>
          <p:cNvSpPr/>
          <p:nvPr/>
        </p:nvSpPr>
        <p:spPr>
          <a:xfrm>
            <a:off x="2281628" y="980352"/>
            <a:ext cx="373440" cy="124194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CDO</a:t>
            </a:r>
            <a:endParaRPr kumimoji="0" lang="ko-KR" altLang="en-US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E892F557-A22C-F997-64CC-59B73C2B1082}"/>
              </a:ext>
            </a:extLst>
          </p:cNvPr>
          <p:cNvSpPr/>
          <p:nvPr/>
        </p:nvSpPr>
        <p:spPr>
          <a:xfrm>
            <a:off x="2698742" y="985783"/>
            <a:ext cx="373440" cy="124194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그룹장</a:t>
            </a:r>
            <a:endParaRPr kumimoji="0" lang="ko-KR" altLang="en-US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462C0C76-4642-2D0F-9771-3BB9CFAC3240}"/>
              </a:ext>
            </a:extLst>
          </p:cNvPr>
          <p:cNvGrpSpPr/>
          <p:nvPr/>
        </p:nvGrpSpPr>
        <p:grpSpPr>
          <a:xfrm>
            <a:off x="7998521" y="1748068"/>
            <a:ext cx="448035" cy="1589507"/>
            <a:chOff x="-1844372" y="1281056"/>
            <a:chExt cx="448035" cy="2155005"/>
          </a:xfrm>
        </p:grpSpPr>
        <p:cxnSp>
          <p:nvCxnSpPr>
            <p:cNvPr id="136" name="직선 연결선 167">
              <a:extLst>
                <a:ext uri="{FF2B5EF4-FFF2-40B4-BE49-F238E27FC236}">
                  <a16:creationId xmlns:a16="http://schemas.microsoft.com/office/drawing/2014/main" id="{D9A7569D-6F88-4E54-40BC-7C54BA8F46FB}"/>
                </a:ext>
              </a:extLst>
            </p:cNvPr>
            <p:cNvCxnSpPr>
              <a:cxnSpLocks/>
            </p:cNvCxnSpPr>
            <p:nvPr/>
          </p:nvCxnSpPr>
          <p:spPr>
            <a:xfrm>
              <a:off x="-1721115" y="1417517"/>
              <a:ext cx="0" cy="2018544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ysDot"/>
            </a:ln>
            <a:effectLst/>
          </p:spPr>
        </p:cxnSp>
        <p:sp>
          <p:nvSpPr>
            <p:cNvPr id="137" name="Text Box 4">
              <a:extLst>
                <a:ext uri="{FF2B5EF4-FFF2-40B4-BE49-F238E27FC236}">
                  <a16:creationId xmlns:a16="http://schemas.microsoft.com/office/drawing/2014/main" id="{B81FB66D-FE97-F8FF-2EFB-62DA8B3041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844372" y="1281056"/>
              <a:ext cx="448035" cy="138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▼완료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sp>
        <p:nvSpPr>
          <p:cNvPr id="138" name="Rectangle 4">
            <a:extLst>
              <a:ext uri="{FF2B5EF4-FFF2-40B4-BE49-F238E27FC236}">
                <a16:creationId xmlns:a16="http://schemas.microsoft.com/office/drawing/2014/main" id="{B5F4A83C-F776-622E-591F-7560CC79A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3411074"/>
            <a:ext cx="448035" cy="3330478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진척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사항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45F2C9B4-A5F5-5C39-511C-B4F586E2A37C}"/>
              </a:ext>
            </a:extLst>
          </p:cNvPr>
          <p:cNvSpPr txBox="1"/>
          <p:nvPr/>
        </p:nvSpPr>
        <p:spPr>
          <a:xfrm>
            <a:off x="776536" y="2067123"/>
            <a:ext cx="660378" cy="53785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NND</a:t>
            </a: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NG</a:t>
            </a:r>
            <a:r>
              <a:rPr lang="ko-KR" altLang="en-US" sz="9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마킹</a:t>
            </a:r>
            <a:endParaRPr lang="en-US" altLang="ko-KR" sz="900" ker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/>
              </a:rPr>
              <a:t>(MI2 / OT)</a:t>
            </a:r>
            <a:endParaRPr lang="ko-KR" altLang="en-US" sz="900" kern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9C398D4E-6632-BA24-34FE-2100A7A1ADF7}"/>
              </a:ext>
            </a:extLst>
          </p:cNvPr>
          <p:cNvSpPr txBox="1"/>
          <p:nvPr/>
        </p:nvSpPr>
        <p:spPr>
          <a:xfrm>
            <a:off x="776682" y="2708774"/>
            <a:ext cx="312035" cy="57157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라미</a:t>
            </a:r>
            <a:endParaRPr kumimoji="0" lang="en-US" altLang="ko-KR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위치</a:t>
            </a:r>
            <a:endParaRPr kumimoji="0" lang="en-US" altLang="ko-KR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불량</a:t>
            </a:r>
            <a:endParaRPr kumimoji="0" lang="en-US" altLang="ko-KR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개선</a:t>
            </a:r>
            <a:endParaRPr kumimoji="0" lang="en-US" altLang="ko-KR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924D2761-7BF9-43FA-7D03-20A5171B5739}"/>
              </a:ext>
            </a:extLst>
          </p:cNvPr>
          <p:cNvCxnSpPr>
            <a:cxnSpLocks/>
          </p:cNvCxnSpPr>
          <p:nvPr/>
        </p:nvCxnSpPr>
        <p:spPr>
          <a:xfrm>
            <a:off x="1382872" y="2847573"/>
            <a:ext cx="8250592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타원 156">
            <a:extLst>
              <a:ext uri="{FF2B5EF4-FFF2-40B4-BE49-F238E27FC236}">
                <a16:creationId xmlns:a16="http://schemas.microsoft.com/office/drawing/2014/main" id="{75FE503E-585E-7661-8D4A-2B66FFD1C0CC}"/>
              </a:ext>
            </a:extLst>
          </p:cNvPr>
          <p:cNvSpPr/>
          <p:nvPr/>
        </p:nvSpPr>
        <p:spPr>
          <a:xfrm>
            <a:off x="1604683" y="277222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9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AF571DA2-868F-7E11-67C3-A5AE9681979F}"/>
              </a:ext>
            </a:extLst>
          </p:cNvPr>
          <p:cNvSpPr txBox="1"/>
          <p:nvPr/>
        </p:nvSpPr>
        <p:spPr>
          <a:xfrm>
            <a:off x="1486117" y="2945885"/>
            <a:ext cx="620363" cy="246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7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(WA) E77A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모델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알람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정식 운영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4113D035-E845-3C60-96AC-3E7D638D9E59}"/>
              </a:ext>
            </a:extLst>
          </p:cNvPr>
          <p:cNvSpPr txBox="1"/>
          <p:nvPr/>
        </p:nvSpPr>
        <p:spPr>
          <a:xfrm>
            <a:off x="2130701" y="2945885"/>
            <a:ext cx="609141" cy="246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7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(WA) Fault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사례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 법인과 점검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8409CFF4-D5BE-6A46-459C-0AC7F460557C}"/>
              </a:ext>
            </a:extLst>
          </p:cNvPr>
          <p:cNvSpPr/>
          <p:nvPr/>
        </p:nvSpPr>
        <p:spPr>
          <a:xfrm>
            <a:off x="2043108" y="2775573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27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1" name="타원 160">
            <a:extLst>
              <a:ext uri="{FF2B5EF4-FFF2-40B4-BE49-F238E27FC236}">
                <a16:creationId xmlns:a16="http://schemas.microsoft.com/office/drawing/2014/main" id="{7D6DD6CF-EE6C-DED3-C6C1-5F874C15637D}"/>
              </a:ext>
            </a:extLst>
          </p:cNvPr>
          <p:cNvSpPr/>
          <p:nvPr/>
        </p:nvSpPr>
        <p:spPr>
          <a:xfrm>
            <a:off x="2807889" y="2775573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19FF1D03-6323-EAD0-5531-3C9210F8886C}"/>
              </a:ext>
            </a:extLst>
          </p:cNvPr>
          <p:cNvSpPr txBox="1"/>
          <p:nvPr/>
        </p:nvSpPr>
        <p:spPr>
          <a:xfrm>
            <a:off x="2782237" y="2945885"/>
            <a:ext cx="811119" cy="246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7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(WA)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알람 양산 검증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및 수율 개선 활동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63" name="타원 162">
            <a:extLst>
              <a:ext uri="{FF2B5EF4-FFF2-40B4-BE49-F238E27FC236}">
                <a16:creationId xmlns:a16="http://schemas.microsoft.com/office/drawing/2014/main" id="{E89D356A-A1C7-AD76-5BB8-1DFDDF9C3CCB}"/>
              </a:ext>
            </a:extLst>
          </p:cNvPr>
          <p:cNvSpPr/>
          <p:nvPr/>
        </p:nvSpPr>
        <p:spPr>
          <a:xfrm>
            <a:off x="5787520" y="277222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DA23BD9-3D8D-0BEA-B254-1DFCEC7240EB}"/>
              </a:ext>
            </a:extLst>
          </p:cNvPr>
          <p:cNvSpPr txBox="1"/>
          <p:nvPr/>
        </p:nvSpPr>
        <p:spPr>
          <a:xfrm>
            <a:off x="4656312" y="2937176"/>
            <a:ext cx="782265" cy="246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7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(MI2) FDC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이상감지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및 알람 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PoC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운영</a:t>
            </a:r>
          </a:p>
        </p:txBody>
      </p:sp>
      <p:sp>
        <p:nvSpPr>
          <p:cNvPr id="165" name="타원 164">
            <a:extLst>
              <a:ext uri="{FF2B5EF4-FFF2-40B4-BE49-F238E27FC236}">
                <a16:creationId xmlns:a16="http://schemas.microsoft.com/office/drawing/2014/main" id="{6D7F7847-CA8F-E794-D77D-AF6632AE8BA8}"/>
              </a:ext>
            </a:extLst>
          </p:cNvPr>
          <p:cNvSpPr/>
          <p:nvPr/>
        </p:nvSpPr>
        <p:spPr>
          <a:xfrm>
            <a:off x="8008707" y="277222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F1298FC4-BCCC-4125-59A6-8225AB21EEBF}"/>
              </a:ext>
            </a:extLst>
          </p:cNvPr>
          <p:cNvSpPr txBox="1"/>
          <p:nvPr/>
        </p:nvSpPr>
        <p:spPr>
          <a:xfrm>
            <a:off x="5515298" y="2937176"/>
            <a:ext cx="815929" cy="246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7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(MI2)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알람 양산 검증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Arial"/>
              </a:rPr>
              <a:t>    및 </a:t>
            </a:r>
            <a:r>
              <a:rPr lang="ko-KR" altLang="en-US" sz="800">
                <a:latin typeface="Arial Narrow"/>
                <a:ea typeface="LG스마트체 Regular"/>
                <a:cs typeface="Arial"/>
              </a:rPr>
              <a:t>알람 정식 운영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 Narrow"/>
              <a:ea typeface="LG스마트체 Regular"/>
              <a:cs typeface="Arial"/>
            </a:endParaRPr>
          </a:p>
        </p:txBody>
      </p:sp>
      <p:sp>
        <p:nvSpPr>
          <p:cNvPr id="167" name="타원 166">
            <a:extLst>
              <a:ext uri="{FF2B5EF4-FFF2-40B4-BE49-F238E27FC236}">
                <a16:creationId xmlns:a16="http://schemas.microsoft.com/office/drawing/2014/main" id="{EB371281-AC4D-A7EA-999D-49421DB8B7C5}"/>
              </a:ext>
            </a:extLst>
          </p:cNvPr>
          <p:cNvSpPr/>
          <p:nvPr/>
        </p:nvSpPr>
        <p:spPr>
          <a:xfrm>
            <a:off x="4298719" y="2775573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1FB7E950-4844-24C3-7712-C988D5B0301B}"/>
              </a:ext>
            </a:extLst>
          </p:cNvPr>
          <p:cNvSpPr txBox="1"/>
          <p:nvPr/>
        </p:nvSpPr>
        <p:spPr>
          <a:xfrm>
            <a:off x="3969886" y="2937176"/>
            <a:ext cx="629981" cy="246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7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(MI2)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라미컷터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         법인 이식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69" name="타원 168">
            <a:extLst>
              <a:ext uri="{FF2B5EF4-FFF2-40B4-BE49-F238E27FC236}">
                <a16:creationId xmlns:a16="http://schemas.microsoft.com/office/drawing/2014/main" id="{79558388-61DB-813E-9919-940757302B16}"/>
              </a:ext>
            </a:extLst>
          </p:cNvPr>
          <p:cNvSpPr/>
          <p:nvPr/>
        </p:nvSpPr>
        <p:spPr>
          <a:xfrm>
            <a:off x="7260164" y="2775573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608A021A-4419-98FD-5CF0-5AF4CF2A46CC}"/>
              </a:ext>
            </a:extLst>
          </p:cNvPr>
          <p:cNvSpPr txBox="1"/>
          <p:nvPr/>
        </p:nvSpPr>
        <p:spPr>
          <a:xfrm>
            <a:off x="1125025" y="2708775"/>
            <a:ext cx="312035" cy="57157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라미</a:t>
            </a:r>
            <a:b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</a:b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컷터</a:t>
            </a:r>
            <a:endParaRPr kumimoji="0" lang="en-US" altLang="ko-KR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74" name="타원 173">
            <a:extLst>
              <a:ext uri="{FF2B5EF4-FFF2-40B4-BE49-F238E27FC236}">
                <a16:creationId xmlns:a16="http://schemas.microsoft.com/office/drawing/2014/main" id="{18D470C6-46BB-3A78-294B-79B59C019F03}"/>
              </a:ext>
            </a:extLst>
          </p:cNvPr>
          <p:cNvSpPr/>
          <p:nvPr/>
        </p:nvSpPr>
        <p:spPr>
          <a:xfrm>
            <a:off x="5041297" y="277947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57E4F375-8B4A-8D2B-31F4-5555AB9CC93A}"/>
              </a:ext>
            </a:extLst>
          </p:cNvPr>
          <p:cNvSpPr txBox="1"/>
          <p:nvPr/>
        </p:nvSpPr>
        <p:spPr>
          <a:xfrm>
            <a:off x="7222275" y="2937176"/>
            <a:ext cx="581891" cy="246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7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(OT)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라미컷터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  <a:sym typeface="Wingdings"/>
              </a:rPr>
              <a:t>        법인 이식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82DC5D0A-C570-49C2-25B2-CC1B01AAF683}"/>
              </a:ext>
            </a:extLst>
          </p:cNvPr>
          <p:cNvSpPr txBox="1"/>
          <p:nvPr/>
        </p:nvSpPr>
        <p:spPr>
          <a:xfrm>
            <a:off x="7911345" y="2937176"/>
            <a:ext cx="783869" cy="246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7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(OT) FDC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이상감지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및 알람 정식 운영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9E807650-3514-39B2-4C00-3AC0C3A29671}"/>
              </a:ext>
            </a:extLst>
          </p:cNvPr>
          <p:cNvSpPr txBox="1"/>
          <p:nvPr/>
        </p:nvSpPr>
        <p:spPr>
          <a:xfrm>
            <a:off x="1193431" y="3086447"/>
            <a:ext cx="360040" cy="193899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FDC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운영▷</a:t>
            </a:r>
            <a:endParaRPr kumimoji="0" lang="en-US" altLang="ko-KR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0730A2FD-E74B-53D8-0B00-381D712E79A9}"/>
              </a:ext>
            </a:extLst>
          </p:cNvPr>
          <p:cNvGrpSpPr/>
          <p:nvPr/>
        </p:nvGrpSpPr>
        <p:grpSpPr>
          <a:xfrm>
            <a:off x="747521" y="3358087"/>
            <a:ext cx="4218562" cy="317996"/>
            <a:chOff x="961536" y="4488828"/>
            <a:chExt cx="3716256" cy="317996"/>
          </a:xfrm>
        </p:grpSpPr>
        <p:sp>
          <p:nvSpPr>
            <p:cNvPr id="181" name="제목 9">
              <a:extLst>
                <a:ext uri="{FF2B5EF4-FFF2-40B4-BE49-F238E27FC236}">
                  <a16:creationId xmlns:a16="http://schemas.microsoft.com/office/drawing/2014/main" id="{637F869D-C013-A379-B4EE-B975083BA181}"/>
                </a:ext>
              </a:extLst>
            </p:cNvPr>
            <p:cNvSpPr txBox="1">
              <a:spLocks/>
            </p:cNvSpPr>
            <p:nvPr/>
          </p:nvSpPr>
          <p:spPr>
            <a:xfrm>
              <a:off x="2606766" y="4488828"/>
              <a:ext cx="718310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진척 사항</a:t>
              </a:r>
            </a:p>
          </p:txBody>
        </p:sp>
        <p:cxnSp>
          <p:nvCxnSpPr>
            <p:cNvPr id="182" name="직선 연결선 2">
              <a:extLst>
                <a:ext uri="{FF2B5EF4-FFF2-40B4-BE49-F238E27FC236}">
                  <a16:creationId xmlns:a16="http://schemas.microsoft.com/office/drawing/2014/main" id="{8D97706B-B2C6-E230-236D-8DE3620A57F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61536" y="4775844"/>
              <a:ext cx="37162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124BD33D-DF30-A029-C5FA-67074627E384}"/>
              </a:ext>
            </a:extLst>
          </p:cNvPr>
          <p:cNvSpPr txBox="1"/>
          <p:nvPr/>
        </p:nvSpPr>
        <p:spPr>
          <a:xfrm>
            <a:off x="741440" y="3658862"/>
            <a:ext cx="3615281" cy="29662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북미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유럽 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ESS </a:t>
            </a:r>
            <a:r>
              <a:rPr kumimoji="1" lang="ko-KR" altLang="en-US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종합 </a:t>
            </a:r>
            <a:r>
              <a:rPr kumimoji="1" lang="ko-KR" altLang="en-US" sz="1200" b="1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수율</a:t>
            </a:r>
            <a:r>
              <a:rPr kumimoji="1" lang="ko-KR" altLang="en-US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및 자동차 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셀 </a:t>
            </a:r>
            <a:r>
              <a:rPr kumimoji="1" lang="ko-KR" altLang="en-US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수율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현황  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188" name="제목 3">
            <a:extLst>
              <a:ext uri="{FF2B5EF4-FFF2-40B4-BE49-F238E27FC236}">
                <a16:creationId xmlns:a16="http://schemas.microsoft.com/office/drawing/2014/main" id="{F09481DE-EFF8-03A5-C5E1-415FE528C441}"/>
              </a:ext>
            </a:extLst>
          </p:cNvPr>
          <p:cNvSpPr txBox="1">
            <a:spLocks/>
          </p:cNvSpPr>
          <p:nvPr/>
        </p:nvSpPr>
        <p:spPr>
          <a:xfrm>
            <a:off x="134567" y="116449"/>
            <a:ext cx="2531003" cy="369332"/>
          </a:xfrm>
          <a:prstGeom prst="rect">
            <a:avLst/>
          </a:prstGeo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kumimoji="0" lang="ko-KR" altLang="en-US" sz="1800" b="1" kern="0" baseline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</a:lstStyle>
          <a:p>
            <a:pPr algn="l"/>
            <a:r>
              <a:rPr lang="en-US" altLang="ko-KR"/>
              <a:t>2.</a:t>
            </a:r>
            <a:r>
              <a:rPr lang="ko-KR" altLang="en-US"/>
              <a:t> </a:t>
            </a:r>
            <a:r>
              <a:rPr lang="en-US" altLang="ko-KR"/>
              <a:t>KPI 8</a:t>
            </a:r>
            <a:r>
              <a:rPr lang="ko-KR" altLang="en-US"/>
              <a:t>월 진척 사항 </a:t>
            </a:r>
            <a:r>
              <a:rPr lang="en-US" altLang="ko-KR"/>
              <a:t>(2/5)</a:t>
            </a:r>
            <a:endParaRPr lang="ko-KR" altLang="en-US"/>
          </a:p>
        </p:txBody>
      </p:sp>
      <p:graphicFrame>
        <p:nvGraphicFramePr>
          <p:cNvPr id="190" name="표 189">
            <a:extLst>
              <a:ext uri="{FF2B5EF4-FFF2-40B4-BE49-F238E27FC236}">
                <a16:creationId xmlns:a16="http://schemas.microsoft.com/office/drawing/2014/main" id="{D4745248-5EEE-D11B-9765-F32E601A5C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313829"/>
              </p:ext>
            </p:extLst>
          </p:nvPr>
        </p:nvGraphicFramePr>
        <p:xfrm>
          <a:off x="932699" y="3919278"/>
          <a:ext cx="3838219" cy="1557725"/>
        </p:xfrm>
        <a:graphic>
          <a:graphicData uri="http://schemas.openxmlformats.org/drawingml/2006/table">
            <a:tbl>
              <a:tblPr/>
              <a:tblGrid>
                <a:gridCol w="348929">
                  <a:extLst>
                    <a:ext uri="{9D8B030D-6E8A-4147-A177-3AD203B41FA5}">
                      <a16:colId xmlns:a16="http://schemas.microsoft.com/office/drawing/2014/main" val="3459835118"/>
                    </a:ext>
                  </a:extLst>
                </a:gridCol>
                <a:gridCol w="348929">
                  <a:extLst>
                    <a:ext uri="{9D8B030D-6E8A-4147-A177-3AD203B41FA5}">
                      <a16:colId xmlns:a16="http://schemas.microsoft.com/office/drawing/2014/main" val="2507179855"/>
                    </a:ext>
                  </a:extLst>
                </a:gridCol>
                <a:gridCol w="348929">
                  <a:extLst>
                    <a:ext uri="{9D8B030D-6E8A-4147-A177-3AD203B41FA5}">
                      <a16:colId xmlns:a16="http://schemas.microsoft.com/office/drawing/2014/main" val="2841986536"/>
                    </a:ext>
                  </a:extLst>
                </a:gridCol>
                <a:gridCol w="348929">
                  <a:extLst>
                    <a:ext uri="{9D8B030D-6E8A-4147-A177-3AD203B41FA5}">
                      <a16:colId xmlns:a16="http://schemas.microsoft.com/office/drawing/2014/main" val="832338922"/>
                    </a:ext>
                  </a:extLst>
                </a:gridCol>
                <a:gridCol w="348929">
                  <a:extLst>
                    <a:ext uri="{9D8B030D-6E8A-4147-A177-3AD203B41FA5}">
                      <a16:colId xmlns:a16="http://schemas.microsoft.com/office/drawing/2014/main" val="1606087449"/>
                    </a:ext>
                  </a:extLst>
                </a:gridCol>
                <a:gridCol w="348929">
                  <a:extLst>
                    <a:ext uri="{9D8B030D-6E8A-4147-A177-3AD203B41FA5}">
                      <a16:colId xmlns:a16="http://schemas.microsoft.com/office/drawing/2014/main" val="2855074281"/>
                    </a:ext>
                  </a:extLst>
                </a:gridCol>
                <a:gridCol w="348929">
                  <a:extLst>
                    <a:ext uri="{9D8B030D-6E8A-4147-A177-3AD203B41FA5}">
                      <a16:colId xmlns:a16="http://schemas.microsoft.com/office/drawing/2014/main" val="2132637823"/>
                    </a:ext>
                  </a:extLst>
                </a:gridCol>
                <a:gridCol w="348929">
                  <a:extLst>
                    <a:ext uri="{9D8B030D-6E8A-4147-A177-3AD203B41FA5}">
                      <a16:colId xmlns:a16="http://schemas.microsoft.com/office/drawing/2014/main" val="3738964120"/>
                    </a:ext>
                  </a:extLst>
                </a:gridCol>
                <a:gridCol w="348929">
                  <a:extLst>
                    <a:ext uri="{9D8B030D-6E8A-4147-A177-3AD203B41FA5}">
                      <a16:colId xmlns:a16="http://schemas.microsoft.com/office/drawing/2014/main" val="1196614701"/>
                    </a:ext>
                  </a:extLst>
                </a:gridCol>
                <a:gridCol w="348929">
                  <a:extLst>
                    <a:ext uri="{9D8B030D-6E8A-4147-A177-3AD203B41FA5}">
                      <a16:colId xmlns:a16="http://schemas.microsoft.com/office/drawing/2014/main" val="3826162523"/>
                    </a:ext>
                  </a:extLst>
                </a:gridCol>
                <a:gridCol w="348929">
                  <a:extLst>
                    <a:ext uri="{9D8B030D-6E8A-4147-A177-3AD203B41FA5}">
                      <a16:colId xmlns:a16="http://schemas.microsoft.com/office/drawing/2014/main" val="270667127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</a:pPr>
                      <a:r>
                        <a:rPr lang="ko-KR" altLang="en-US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18000" marR="18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</a:pPr>
                      <a:r>
                        <a:rPr lang="ko-KR" altLang="en-US" sz="85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법인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</a:pPr>
                      <a:r>
                        <a:rPr lang="ko-KR" altLang="en-US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연목표 수율 </a:t>
                      </a:r>
                      <a:r>
                        <a:rPr lang="en-US" alt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(%)</a:t>
                      </a:r>
                      <a:endParaRPr lang="ko-KR" altLang="en-US" sz="85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</a:pPr>
                      <a:r>
                        <a:rPr lang="en-US" alt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누적 </a:t>
                      </a:r>
                      <a:r>
                        <a:rPr lang="en-US" alt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(%)</a:t>
                      </a:r>
                      <a:endParaRPr lang="ko-KR" altLang="en-US" sz="85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</a:pPr>
                      <a:r>
                        <a:rPr lang="ko-KR" altLang="en-US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목표 比</a:t>
                      </a:r>
                      <a:r>
                        <a:rPr lang="en-US" alt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증감 </a:t>
                      </a:r>
                      <a:r>
                        <a:rPr lang="en-US" alt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(%p)</a:t>
                      </a:r>
                      <a:endParaRPr lang="ko-KR" altLang="en-US" sz="85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" marR="72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" marR="72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57072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</a:pPr>
                      <a:r>
                        <a:rPr lang="ko-KR" altLang="en-US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종합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</a:pPr>
                      <a:r>
                        <a:rPr lang="ko-KR" altLang="en-US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</a:t>
                      </a:r>
                      <a:endParaRPr lang="en-US" altLang="ko-KR" sz="85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</a:pPr>
                      <a:r>
                        <a:rPr lang="ko-KR" altLang="en-US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  <a:endParaRPr lang="en-US" altLang="ko-KR" sz="85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</a:pPr>
                      <a:r>
                        <a:rPr lang="ko-KR" altLang="en-US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종합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</a:pPr>
                      <a:r>
                        <a:rPr lang="ko-KR" altLang="en-US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</a:t>
                      </a:r>
                      <a:endParaRPr lang="en-US" altLang="ko-KR" sz="85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</a:pPr>
                      <a:r>
                        <a:rPr lang="ko-KR" altLang="en-US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  <a:endParaRPr lang="en-US" altLang="ko-KR" sz="85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</a:pPr>
                      <a:r>
                        <a:rPr lang="ko-KR" altLang="en-US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종합</a:t>
                      </a:r>
                      <a:endParaRPr lang="en-US" altLang="ko-KR" sz="85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</a:pPr>
                      <a:r>
                        <a:rPr lang="ko-KR" altLang="en-US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</a:t>
                      </a:r>
                      <a:endParaRPr lang="en-US" altLang="ko-KR" sz="85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</a:pPr>
                      <a:r>
                        <a:rPr lang="ko-KR" altLang="en-US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214644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</a:pPr>
                      <a:r>
                        <a:rPr lang="en-US" alt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ESS</a:t>
                      </a:r>
                    </a:p>
                  </a:txBody>
                  <a:tcPr marL="18000" marR="1800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</a:pPr>
                      <a:r>
                        <a:rPr lang="en-US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MI_HL</a:t>
                      </a:r>
                    </a:p>
                  </a:txBody>
                  <a:tcPr marL="18000" marR="1800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</a:pPr>
                      <a:r>
                        <a:rPr lang="en-US" alt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94.8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98.4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96.4</a:t>
                      </a:r>
                    </a:p>
                  </a:txBody>
                  <a:tcPr marL="18000" marR="18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95.1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+0.3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+0.1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+0.1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2393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</a:pPr>
                      <a:r>
                        <a:rPr lang="en-US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MI_LS</a:t>
                      </a:r>
                    </a:p>
                  </a:txBody>
                  <a:tcPr marL="18000" marR="1800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</a:pPr>
                      <a:r>
                        <a:rPr lang="en-US" alt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93.7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98.3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95.3</a:t>
                      </a:r>
                    </a:p>
                  </a:txBody>
                  <a:tcPr marL="18000" marR="18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95.4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+1.7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+1.3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23433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</a:pPr>
                      <a:r>
                        <a:rPr lang="en-US" sz="85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OT</a:t>
                      </a:r>
                    </a:p>
                  </a:txBody>
                  <a:tcPr marL="18000" marR="1800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</a:pPr>
                      <a:r>
                        <a:rPr lang="en-US" alt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94.4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98.3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96.0</a:t>
                      </a:r>
                    </a:p>
                  </a:txBody>
                  <a:tcPr marL="18000" marR="18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93.6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94.7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Δ0.8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+0.6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Δ1.3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652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</a:pPr>
                      <a:r>
                        <a:rPr lang="en-US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HD</a:t>
                      </a:r>
                    </a:p>
                  </a:txBody>
                  <a:tcPr marL="18000" marR="1800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</a:pPr>
                      <a:r>
                        <a:rPr lang="en-US" alt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92.9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97.8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95.0</a:t>
                      </a:r>
                    </a:p>
                  </a:txBody>
                  <a:tcPr marL="18000" marR="18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94.3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+1.4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Δ0.1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911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</a:pPr>
                      <a:endParaRPr lang="en-US" sz="85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</a:pPr>
                      <a:r>
                        <a:rPr lang="en-US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WA</a:t>
                      </a:r>
                    </a:p>
                  </a:txBody>
                  <a:tcPr marL="18000" marR="1800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</a:pPr>
                      <a:r>
                        <a:rPr lang="en-US" alt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94.5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</a:pPr>
                      <a:r>
                        <a:rPr lang="en-US" alt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98.3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</a:pPr>
                      <a:r>
                        <a:rPr lang="en-US" alt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96.2</a:t>
                      </a:r>
                    </a:p>
                  </a:txBody>
                  <a:tcPr marL="18000" marR="18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92.5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94.1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Δ2.0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+0.1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Δ2.1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843925"/>
                  </a:ext>
                </a:extLst>
              </a:tr>
              <a:tr h="0">
                <a:tc rowSpan="6"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</a:pPr>
                      <a:r>
                        <a:rPr lang="ko-KR" altLang="en-US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자동차</a:t>
                      </a:r>
                      <a:endParaRPr lang="en-US" altLang="ko-KR" sz="85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WA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en-US" altLang="ko-KR" sz="850" b="0" i="0" u="none" strike="noStrike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96.3</a:t>
                      </a:r>
                      <a:endParaRPr lang="ko-KR" sz="850" b="0" i="0" u="none" strike="noStrike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97.2</a:t>
                      </a:r>
                    </a:p>
                  </a:txBody>
                  <a:tcPr marL="18000" marR="18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95.4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Δ0.9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sz="8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Δ1.0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05273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NA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en-US" altLang="ko-KR" sz="850" b="0" i="0" u="none" strike="noStrike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98.6</a:t>
                      </a:r>
                      <a:endParaRPr lang="ko-KR" sz="850" b="0" i="0" u="none" strike="noStrike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99.6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18000" marR="18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+0.1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sz="8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en-US" altLang="ko-KR" sz="85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sz="85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5816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NB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en-US" altLang="ko-KR" sz="850" b="0" i="0" u="none" strike="noStrike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98.5</a:t>
                      </a:r>
                      <a:endParaRPr lang="ko-KR" sz="850" b="0" i="0" u="none" strike="noStrike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99.5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99.0</a:t>
                      </a:r>
                    </a:p>
                  </a:txBody>
                  <a:tcPr marL="18000" marR="18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+0.2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sz="8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+0.1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1690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HM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en-US" altLang="ko-KR" sz="850" b="0" i="0" u="none" strike="noStrike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98.4</a:t>
                      </a:r>
                      <a:endParaRPr lang="ko-KR" sz="850" b="0" i="0" u="none" strike="noStrike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98.7</a:t>
                      </a:r>
                    </a:p>
                  </a:txBody>
                  <a:tcPr marL="18000" marR="18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99.2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en-US" alt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sz="85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29127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en-US" altLang="ko-KR" sz="850" b="0" i="0" u="none" strike="noStrike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5.5</a:t>
                      </a:r>
                      <a:endParaRPr lang="ko-KR" sz="850" b="0" i="0" u="none" strike="noStrike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98.9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96.6</a:t>
                      </a:r>
                    </a:p>
                  </a:txBody>
                  <a:tcPr marL="18000" marR="18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95.3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Δ0.2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Δ0.8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+0.6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20286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HG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en-US" altLang="ko-KR" sz="850" b="0" i="0" u="none" strike="noStrike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5.3</a:t>
                      </a:r>
                      <a:endParaRPr lang="ko-KR" sz="850" b="0" i="0" u="none" strike="noStrike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98.4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96.8</a:t>
                      </a:r>
                    </a:p>
                  </a:txBody>
                  <a:tcPr marL="18000" marR="18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95.5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98.8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96.7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+0.2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+0.4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90000"/>
                        </a:lnSpc>
                        <a:buNone/>
                      </a:pPr>
                      <a:r>
                        <a:rPr lang="ko-KR" sz="85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Δ0.1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97613"/>
                  </a:ext>
                </a:extLst>
              </a:tr>
            </a:tbl>
          </a:graphicData>
        </a:graphic>
      </p:graphicFrame>
      <p:sp>
        <p:nvSpPr>
          <p:cNvPr id="195" name="타원 194">
            <a:extLst>
              <a:ext uri="{FF2B5EF4-FFF2-40B4-BE49-F238E27FC236}">
                <a16:creationId xmlns:a16="http://schemas.microsoft.com/office/drawing/2014/main" id="{243BD0B4-9171-3314-A3FE-2A71FC3B81C8}"/>
              </a:ext>
            </a:extLst>
          </p:cNvPr>
          <p:cNvSpPr/>
          <p:nvPr/>
        </p:nvSpPr>
        <p:spPr>
          <a:xfrm>
            <a:off x="6463278" y="2772225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925C6C96-ED5F-04C0-6FA6-9ADF754126EC}"/>
              </a:ext>
            </a:extLst>
          </p:cNvPr>
          <p:cNvSpPr txBox="1"/>
          <p:nvPr/>
        </p:nvSpPr>
        <p:spPr>
          <a:xfrm>
            <a:off x="6357888" y="2937176"/>
            <a:ext cx="815929" cy="246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7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(MI2)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알람 양산 검증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및 수율 개선 활동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7676AE-01E3-120D-6D87-4F621B4B2260}"/>
              </a:ext>
            </a:extLst>
          </p:cNvPr>
          <p:cNvSpPr txBox="1"/>
          <p:nvPr/>
        </p:nvSpPr>
        <p:spPr>
          <a:xfrm>
            <a:off x="5236805" y="3658862"/>
            <a:ext cx="2124944" cy="29662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북미 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ESS 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전극 </a:t>
            </a:r>
            <a:r>
              <a:rPr kumimoji="1" lang="ko-KR" altLang="en-US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수율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4C4F6E-7706-1325-F0F6-EBD99A484817}"/>
              </a:ext>
            </a:extLst>
          </p:cNvPr>
          <p:cNvSpPr txBox="1"/>
          <p:nvPr/>
        </p:nvSpPr>
        <p:spPr>
          <a:xfrm>
            <a:off x="5387270" y="3895448"/>
            <a:ext cx="4426686" cy="1692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92075" lvl="1" indent="-92075" defTabSz="844083" fontAlgn="base">
              <a:spcBef>
                <a:spcPts val="100"/>
              </a:spcBef>
              <a:spcAft>
                <a:spcPts val="100"/>
              </a:spcAft>
              <a:buSzPct val="85000"/>
              <a:defRPr/>
            </a:pP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-. [MI_HL] Shuttle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보정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kumimoji="1"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과검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개선을 통해서 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cutting height, CNTT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저감 예정</a:t>
            </a: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468D5C67-94EF-D1A6-C877-7D9ED43C3147}"/>
              </a:ext>
            </a:extLst>
          </p:cNvPr>
          <p:cNvCxnSpPr>
            <a:cxnSpLocks/>
          </p:cNvCxnSpPr>
          <p:nvPr/>
        </p:nvCxnSpPr>
        <p:spPr>
          <a:xfrm>
            <a:off x="1964097" y="2201491"/>
            <a:ext cx="5397651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4DAF2EA-2DA8-1B25-F5B4-6CE4E1972CB8}"/>
              </a:ext>
            </a:extLst>
          </p:cNvPr>
          <p:cNvSpPr txBox="1"/>
          <p:nvPr/>
        </p:nvSpPr>
        <p:spPr>
          <a:xfrm>
            <a:off x="1452484" y="2094282"/>
            <a:ext cx="487729" cy="34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sym typeface="Wingdings"/>
              </a:rPr>
              <a:t>치수</a:t>
            </a:r>
            <a:r>
              <a:rPr lang="en-US" altLang="ko-KR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sym typeface="Wingdings"/>
              </a:rPr>
              <a:t>/</a:t>
            </a: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sym typeface="Wingdings"/>
              </a:rPr>
              <a:t>외관</a:t>
            </a:r>
            <a:endParaRPr lang="en-US" altLang="ko-KR" sz="800" kern="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kern="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sym typeface="Wingdings"/>
              </a:rPr>
              <a:t>불량 개선</a:t>
            </a:r>
            <a:endParaRPr kumimoji="0" lang="ko-KR" altLang="en-US" sz="8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sym typeface="Wingdings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9DC86CD-638A-2501-E319-AADC9919AB6E}"/>
              </a:ext>
            </a:extLst>
          </p:cNvPr>
          <p:cNvSpPr/>
          <p:nvPr/>
        </p:nvSpPr>
        <p:spPr>
          <a:xfrm>
            <a:off x="3085639" y="212949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8BEF6D-F156-ADEF-B780-4151FBB261A7}"/>
              </a:ext>
            </a:extLst>
          </p:cNvPr>
          <p:cNvSpPr txBox="1"/>
          <p:nvPr/>
        </p:nvSpPr>
        <p:spPr>
          <a:xfrm>
            <a:off x="2982628" y="2272775"/>
            <a:ext cx="350023" cy="288147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OT</a:t>
            </a: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법인</a:t>
            </a:r>
            <a:endParaRPr kumimoji="1" lang="en-US" altLang="ko-KR" sz="7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출장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E3BBD05-C74D-2B10-F237-0B8425EAF176}"/>
              </a:ext>
            </a:extLst>
          </p:cNvPr>
          <p:cNvSpPr/>
          <p:nvPr/>
        </p:nvSpPr>
        <p:spPr>
          <a:xfrm>
            <a:off x="3494127" y="212806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</a:rPr>
              <a:t>24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AF853B-FCE3-59D1-0A3F-1AD42119D918}"/>
              </a:ext>
            </a:extLst>
          </p:cNvPr>
          <p:cNvSpPr txBox="1"/>
          <p:nvPr/>
        </p:nvSpPr>
        <p:spPr>
          <a:xfrm>
            <a:off x="3444142" y="2271348"/>
            <a:ext cx="239416" cy="288147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출장</a:t>
            </a:r>
            <a:endParaRPr kumimoji="1" lang="en-US" altLang="ko-KR" sz="7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복귀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C45E0657-A832-B78A-9172-7E748D66EFC9}"/>
              </a:ext>
            </a:extLst>
          </p:cNvPr>
          <p:cNvSpPr/>
          <p:nvPr/>
        </p:nvSpPr>
        <p:spPr>
          <a:xfrm>
            <a:off x="2558318" y="211857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FDB4FB-9962-0468-3A0C-BBC4345C7FE7}"/>
              </a:ext>
            </a:extLst>
          </p:cNvPr>
          <p:cNvSpPr txBox="1"/>
          <p:nvPr/>
        </p:nvSpPr>
        <p:spPr>
          <a:xfrm>
            <a:off x="2246670" y="2269595"/>
            <a:ext cx="753980" cy="395869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Tab pitch/</a:t>
            </a:r>
            <a:r>
              <a:rPr kumimoji="1" lang="ko-KR" altLang="en-US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재료교체</a:t>
            </a:r>
            <a:r>
              <a:rPr kumimoji="1" lang="en-US" altLang="ko-KR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/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Tab</a:t>
            </a:r>
            <a:r>
              <a:rPr kumimoji="1" lang="ko-KR" altLang="en-US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이상</a:t>
            </a:r>
            <a:r>
              <a:rPr kumimoji="1" lang="en-US" altLang="ko-KR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/</a:t>
            </a:r>
            <a:r>
              <a:rPr kumimoji="1" lang="ko-KR" altLang="en-US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어깨선</a:t>
            </a:r>
            <a:endParaRPr kumimoji="1" lang="en-US" altLang="ko-KR" sz="7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불량분석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E7898C9-05B6-A4EE-EE57-116D3725E2F0}"/>
              </a:ext>
            </a:extLst>
          </p:cNvPr>
          <p:cNvSpPr/>
          <p:nvPr/>
        </p:nvSpPr>
        <p:spPr>
          <a:xfrm>
            <a:off x="2064064" y="2119637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326057-D70A-0E38-E774-89348C66D624}"/>
              </a:ext>
            </a:extLst>
          </p:cNvPr>
          <p:cNvSpPr txBox="1"/>
          <p:nvPr/>
        </p:nvSpPr>
        <p:spPr>
          <a:xfrm>
            <a:off x="1857402" y="2263184"/>
            <a:ext cx="406129" cy="288147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Foil</a:t>
            </a: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노출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  <a:cs typeface="Arial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불량분석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  <a:cs typeface="Arial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395764-5A0D-2FA1-38D6-86D109F57179}"/>
              </a:ext>
            </a:extLst>
          </p:cNvPr>
          <p:cNvSpPr txBox="1"/>
          <p:nvPr/>
        </p:nvSpPr>
        <p:spPr>
          <a:xfrm>
            <a:off x="4799802" y="2262715"/>
            <a:ext cx="322772" cy="288147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어깨선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  <a:cs typeface="Arial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개선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  <a:cs typeface="Arial" charset="0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58BE74FF-3578-8DBD-A17F-CA28C8AC9EE6}"/>
              </a:ext>
            </a:extLst>
          </p:cNvPr>
          <p:cNvSpPr/>
          <p:nvPr/>
        </p:nvSpPr>
        <p:spPr>
          <a:xfrm>
            <a:off x="4906550" y="2119431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0E2F01B3-4E06-2AC0-E9CE-47954DDF634D}"/>
              </a:ext>
            </a:extLst>
          </p:cNvPr>
          <p:cNvSpPr/>
          <p:nvPr/>
        </p:nvSpPr>
        <p:spPr>
          <a:xfrm>
            <a:off x="5658255" y="212806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2C7813-34C8-0A83-BD9E-9E2A714239EE}"/>
              </a:ext>
            </a:extLst>
          </p:cNvPr>
          <p:cNvSpPr txBox="1"/>
          <p:nvPr/>
        </p:nvSpPr>
        <p:spPr>
          <a:xfrm>
            <a:off x="5468086" y="2271348"/>
            <a:ext cx="507117" cy="288147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FDC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모델링 적용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  <a:cs typeface="Arial" charset="0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29AC5E0B-34BA-BC73-3D61-810C8A7AB26F}"/>
              </a:ext>
            </a:extLst>
          </p:cNvPr>
          <p:cNvSpPr/>
          <p:nvPr/>
        </p:nvSpPr>
        <p:spPr>
          <a:xfrm>
            <a:off x="6419316" y="212806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57B78D-91C4-B139-15E3-6EDB9830E19E}"/>
              </a:ext>
            </a:extLst>
          </p:cNvPr>
          <p:cNvSpPr txBox="1"/>
          <p:nvPr/>
        </p:nvSpPr>
        <p:spPr>
          <a:xfrm>
            <a:off x="6233230" y="2271348"/>
            <a:ext cx="447806" cy="288147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추가 인자 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  <a:cs typeface="Arial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발굴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  <a:cs typeface="Arial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8A7C6B7-75C8-2C82-1E8A-EB459FC21617}"/>
              </a:ext>
            </a:extLst>
          </p:cNvPr>
          <p:cNvSpPr txBox="1"/>
          <p:nvPr/>
        </p:nvSpPr>
        <p:spPr>
          <a:xfrm>
            <a:off x="3993156" y="2262578"/>
            <a:ext cx="502702" cy="288147"/>
          </a:xfrm>
          <a:prstGeom prst="rect">
            <a:avLst/>
          </a:prstGeom>
          <a:noFill/>
        </p:spPr>
        <p:txBody>
          <a:bodyPr wrap="squar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Pitch </a:t>
            </a: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및</a:t>
            </a:r>
            <a:endParaRPr kumimoji="1" lang="en-US" altLang="ko-KR" sz="700">
              <a:solidFill>
                <a:prstClr val="black"/>
              </a:solidFill>
              <a:latin typeface="Arial Narrow" panose="020B0606020202030204" pitchFamily="34" charset="0"/>
              <a:ea typeface="LG스마트체2.0 Regular" panose="020B0600000101010101" pitchFamily="50" charset="-127"/>
              <a:cs typeface="Arial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CNTT </a:t>
            </a:r>
            <a:r>
              <a:rPr kumimoji="1" lang="ko-KR" altLang="en-US" sz="700">
                <a:solidFill>
                  <a:prstClr val="black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charset="0"/>
              </a:rPr>
              <a:t>개선</a:t>
            </a:r>
            <a:endParaRPr kumimoji="1" lang="ko-KR" altLang="en-US" sz="7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charset="0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CAB88082-9F37-3B9E-1D46-536543152C34}"/>
              </a:ext>
            </a:extLst>
          </p:cNvPr>
          <p:cNvSpPr/>
          <p:nvPr/>
        </p:nvSpPr>
        <p:spPr>
          <a:xfrm>
            <a:off x="4207842" y="211990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0F266F5-F30C-4457-05C3-8B856DFD17A6}"/>
              </a:ext>
            </a:extLst>
          </p:cNvPr>
          <p:cNvSpPr txBox="1"/>
          <p:nvPr/>
        </p:nvSpPr>
        <p:spPr>
          <a:xfrm>
            <a:off x="732976" y="5453284"/>
            <a:ext cx="1051122" cy="29662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8</a:t>
            </a:r>
            <a:r>
              <a:rPr kumimoji="1" lang="ko-KR" altLang="en-US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월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주요 활동 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62D51B5-C118-A464-E90A-756C4E2FDEED}"/>
              </a:ext>
            </a:extLst>
          </p:cNvPr>
          <p:cNvSpPr txBox="1"/>
          <p:nvPr/>
        </p:nvSpPr>
        <p:spPr>
          <a:xfrm>
            <a:off x="763848" y="5673109"/>
            <a:ext cx="4472957" cy="420371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>
            <a:defPPr>
              <a:defRPr lang="ko-KR"/>
            </a:defPPr>
            <a:lvl1pPr marL="164127" marR="0" lvl="0" indent="-164127" defTabSz="844083" fontAlgn="base">
              <a:lnSpc>
                <a:spcPct val="100000"/>
              </a:lnSpc>
              <a:spcBef>
                <a:spcPts val="0"/>
              </a:spcBef>
              <a:buClrTx/>
              <a:buSzPct val="85000"/>
              <a:buFont typeface="Wingdings" panose="05000000000000000000" pitchFamily="2" charset="2"/>
              <a:buChar char="q"/>
              <a:tabLst/>
              <a:defRPr kumimoji="1" sz="12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180975" lvl="1" defTabSz="844083" fontAlgn="base">
              <a:buSzPct val="85000"/>
              <a:defRPr kumimoji="1" sz="1100">
                <a:latin typeface="Arial Narrow" panose="020B0606020202030204" pitchFamily="34" charset="0"/>
                <a:ea typeface="LG스마트체 Regular" panose="020B0600000101010101" pitchFamily="50" charset="-127"/>
              </a:defRPr>
            </a:lvl2pPr>
          </a:lstStyle>
          <a:p>
            <a:pPr marL="0" indent="-360363">
              <a:lnSpc>
                <a:spcPct val="110000"/>
              </a:lnSpc>
              <a:buNone/>
            </a:pPr>
            <a:r>
              <a:rPr lang="en-US" altLang="ko-KR" sz="1000" b="0">
                <a:solidFill>
                  <a:schemeClr val="tx1"/>
                </a:solidFill>
              </a:rPr>
              <a:t>(</a:t>
            </a:r>
            <a:r>
              <a:rPr lang="ko-KR" altLang="en-US" sz="1000" b="0">
                <a:solidFill>
                  <a:schemeClr val="tx1"/>
                </a:solidFill>
              </a:rPr>
              <a:t>전극</a:t>
            </a:r>
            <a:r>
              <a:rPr lang="en-US" altLang="ko-KR" sz="1000" b="0">
                <a:solidFill>
                  <a:schemeClr val="tx1"/>
                </a:solidFill>
              </a:rPr>
              <a:t>)</a:t>
            </a:r>
            <a:r>
              <a:rPr lang="ko-KR" altLang="en-US" sz="1000" b="0">
                <a:solidFill>
                  <a:schemeClr val="tx1"/>
                </a:solidFill>
              </a:rPr>
              <a:t> </a:t>
            </a:r>
            <a:r>
              <a:rPr lang="en-US" altLang="ko-KR" sz="1000" b="0">
                <a:solidFill>
                  <a:schemeClr val="tx1"/>
                </a:solidFill>
              </a:rPr>
              <a:t>[OT] </a:t>
            </a:r>
            <a:r>
              <a:rPr lang="ko-KR" altLang="en-US" sz="1000" b="0">
                <a:solidFill>
                  <a:schemeClr val="tx1"/>
                </a:solidFill>
              </a:rPr>
              <a:t>주요불량 </a:t>
            </a:r>
            <a:r>
              <a:rPr lang="en-US" altLang="ko-KR" sz="1000" b="0">
                <a:solidFill>
                  <a:schemeClr val="tx1"/>
                </a:solidFill>
              </a:rPr>
              <a:t>(</a:t>
            </a:r>
            <a:r>
              <a:rPr lang="en-US" altLang="ko-KR" sz="1000" b="0">
                <a:sym typeface="Wingdings" panose="05000000000000000000" pitchFamily="2" charset="2"/>
              </a:rPr>
              <a:t>Tab pitch, Foil</a:t>
            </a:r>
            <a:r>
              <a:rPr lang="ko-KR" altLang="en-US" sz="1000" b="0">
                <a:sym typeface="Wingdings" panose="05000000000000000000" pitchFamily="2" charset="2"/>
              </a:rPr>
              <a:t>노출</a:t>
            </a:r>
            <a:r>
              <a:rPr lang="en-US" altLang="ko-KR" sz="1000" b="0">
                <a:sym typeface="Wingdings" panose="05000000000000000000" pitchFamily="2" charset="2"/>
              </a:rPr>
              <a:t>, Tab burr)</a:t>
            </a:r>
            <a:r>
              <a:rPr lang="ko-KR" altLang="en-US" sz="1000" b="0">
                <a:sym typeface="Wingdings" panose="05000000000000000000" pitchFamily="2" charset="2"/>
              </a:rPr>
              <a:t> 저감 후 모니터링 중 </a:t>
            </a:r>
            <a:endParaRPr lang="en-US" altLang="ko-KR" sz="1000" b="0">
              <a:solidFill>
                <a:schemeClr val="tx1"/>
              </a:solidFill>
            </a:endParaRPr>
          </a:p>
          <a:p>
            <a:pPr marL="0" indent="-536575">
              <a:lnSpc>
                <a:spcPct val="110000"/>
              </a:lnSpc>
              <a:buNone/>
            </a:pPr>
            <a:r>
              <a:rPr lang="en-US" altLang="ko-KR" sz="1000" b="0">
                <a:solidFill>
                  <a:schemeClr val="tx1"/>
                </a:solidFill>
              </a:rPr>
              <a:t>           [MIHL] </a:t>
            </a:r>
            <a:r>
              <a:rPr lang="ko-KR" altLang="en-US" sz="1000" b="0" err="1">
                <a:solidFill>
                  <a:schemeClr val="tx1"/>
                </a:solidFill>
              </a:rPr>
              <a:t>로더</a:t>
            </a:r>
            <a:r>
              <a:rPr lang="ko-KR" altLang="en-US" sz="1000" b="0"/>
              <a:t> 셔틀 편심 보정을 통해 재료교체 구간의 어깨선 불량 저감 및 단선 개선</a:t>
            </a:r>
            <a:endParaRPr lang="en-US" altLang="ko-KR" sz="1000" b="0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E6260B7-D122-AD75-BC37-96D986957007}"/>
              </a:ext>
            </a:extLst>
          </p:cNvPr>
          <p:cNvSpPr txBox="1"/>
          <p:nvPr/>
        </p:nvSpPr>
        <p:spPr>
          <a:xfrm>
            <a:off x="2699701" y="6624087"/>
            <a:ext cx="1874462" cy="1166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7800" indent="-177800" algn="l" fontAlgn="ctr">
              <a:lnSpc>
                <a:spcPct val="93000"/>
              </a:lnSpc>
            </a:pP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#10-3, 21-1 </a:t>
            </a:r>
            <a:r>
              <a:rPr lang="ko-KR" altLang="en-US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설비 기준 위치불량 </a:t>
            </a: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0.12%p </a:t>
            </a:r>
            <a:r>
              <a:rPr lang="ko-KR" altLang="en-US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개선  </a:t>
            </a:r>
            <a:endParaRPr lang="en-US" altLang="ko-KR" sz="80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3D52A6-D95B-C4C1-79DB-65BC973CB3A9}"/>
              </a:ext>
            </a:extLst>
          </p:cNvPr>
          <p:cNvSpPr txBox="1"/>
          <p:nvPr/>
        </p:nvSpPr>
        <p:spPr>
          <a:xfrm>
            <a:off x="1258537" y="6617414"/>
            <a:ext cx="1238176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177800" indent="-177800" fontAlgn="ctr">
              <a:lnSpc>
                <a:spcPct val="100000"/>
              </a:lnSpc>
              <a:defRPr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/>
            <a:r>
              <a:rPr lang="en-US" altLang="ko-KR">
                <a:solidFill>
                  <a:srgbClr val="0000FF"/>
                </a:solidFill>
              </a:rPr>
              <a:t>WA </a:t>
            </a:r>
            <a:r>
              <a:rPr lang="ko-KR" altLang="en-US">
                <a:solidFill>
                  <a:srgbClr val="0000FF"/>
                </a:solidFill>
              </a:rPr>
              <a:t>출장지원 </a:t>
            </a:r>
            <a:r>
              <a:rPr lang="en-US" altLang="ko-KR">
                <a:solidFill>
                  <a:srgbClr val="0000FF"/>
                </a:solidFill>
              </a:rPr>
              <a:t>(7/17~8/21)</a:t>
            </a:r>
          </a:p>
        </p:txBody>
      </p:sp>
      <p:sp>
        <p:nvSpPr>
          <p:cNvPr id="16" name="실행 단추: 끝으로 이동 15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DDBB3EDF-9078-CA04-D5D7-149F919C0688}"/>
              </a:ext>
            </a:extLst>
          </p:cNvPr>
          <p:cNvSpPr/>
          <p:nvPr/>
        </p:nvSpPr>
        <p:spPr>
          <a:xfrm>
            <a:off x="863521" y="5896774"/>
            <a:ext cx="180000" cy="126000"/>
          </a:xfrm>
          <a:prstGeom prst="actionButtonEnd">
            <a:avLst/>
          </a:prstGeom>
          <a:solidFill>
            <a:sysClr val="window" lastClr="FFFFFF">
              <a:lumMod val="7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F32F11C9-DB92-6BE1-584F-9188B0029387}"/>
              </a:ext>
            </a:extLst>
          </p:cNvPr>
          <p:cNvGrpSpPr/>
          <p:nvPr/>
        </p:nvGrpSpPr>
        <p:grpSpPr>
          <a:xfrm>
            <a:off x="5252466" y="3358087"/>
            <a:ext cx="4497973" cy="317996"/>
            <a:chOff x="961536" y="4488828"/>
            <a:chExt cx="3716256" cy="317996"/>
          </a:xfrm>
        </p:grpSpPr>
        <p:sp>
          <p:nvSpPr>
            <p:cNvPr id="41" name="제목 9">
              <a:extLst>
                <a:ext uri="{FF2B5EF4-FFF2-40B4-BE49-F238E27FC236}">
                  <a16:creationId xmlns:a16="http://schemas.microsoft.com/office/drawing/2014/main" id="{B64482CA-0F60-D46F-DD26-7A6D6334A531}"/>
                </a:ext>
              </a:extLst>
            </p:cNvPr>
            <p:cNvSpPr txBox="1">
              <a:spLocks/>
            </p:cNvSpPr>
            <p:nvPr/>
          </p:nvSpPr>
          <p:spPr>
            <a:xfrm>
              <a:off x="2629077" y="4488828"/>
              <a:ext cx="673690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향후</a:t>
              </a: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 계획</a:t>
              </a:r>
            </a:p>
          </p:txBody>
        </p:sp>
        <p:cxnSp>
          <p:nvCxnSpPr>
            <p:cNvPr id="44" name="직선 연결선 2">
              <a:extLst>
                <a:ext uri="{FF2B5EF4-FFF2-40B4-BE49-F238E27FC236}">
                  <a16:creationId xmlns:a16="http://schemas.microsoft.com/office/drawing/2014/main" id="{F4F7A4C3-7BAB-E4E9-3622-BF38EC197E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61536" y="4775844"/>
              <a:ext cx="371625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566CA05C-84FC-7FD3-C334-FFA79502FC6B}"/>
              </a:ext>
            </a:extLst>
          </p:cNvPr>
          <p:cNvSpPr txBox="1"/>
          <p:nvPr/>
        </p:nvSpPr>
        <p:spPr>
          <a:xfrm>
            <a:off x="5387270" y="4529472"/>
            <a:ext cx="4426686" cy="7540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lvl="1" defTabSz="844083" fontAlgn="base">
              <a:spcBef>
                <a:spcPts val="100"/>
              </a:spcBef>
              <a:spcAft>
                <a:spcPts val="100"/>
              </a:spcAft>
              <a:buSzPct val="85000"/>
              <a:defRPr/>
            </a:pP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-. </a:t>
            </a: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MI-HL</a:t>
            </a: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 </a:t>
            </a:r>
            <a:r>
              <a:rPr kumimoji="1" lang="ko-KR" altLang="en-US" sz="11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공급부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IP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관리항목 정합화를 통한 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Y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축 위치불량 개선 검토 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1" indent="0" algn="l" defTabSz="844083" rtl="0" eaLnBrk="1" fontAlgn="base" latinLnBrk="1" hangingPunct="1">
              <a:spcBef>
                <a:spcPts val="100"/>
              </a:spcBef>
              <a:spcAft>
                <a:spcPts val="1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-.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MI-LS</a:t>
            </a:r>
            <a:r>
              <a:rPr kumimoji="1"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확산과제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라미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합치 </a:t>
            </a:r>
            <a:r>
              <a:rPr kumimoji="1" lang="ko-KR" altLang="en-US" sz="11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가접롤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온도</a:t>
            </a:r>
            <a:r>
              <a:rPr kumimoji="1"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</a:rPr>
              <a:t>, D-STK </a:t>
            </a:r>
            <a:r>
              <a:rPr kumimoji="1" lang="ko-KR" altLang="en-US" sz="11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파기솔</a:t>
            </a:r>
            <a:r>
              <a:rPr kumimoji="1"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1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진공압</a:t>
            </a:r>
            <a:r>
              <a:rPr kumimoji="1"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</a:rPr>
              <a:t> 이상감지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lvl="1" defTabSz="844083" fontAlgn="base">
              <a:spcBef>
                <a:spcPts val="100"/>
              </a:spcBef>
              <a:spcAft>
                <a:spcPts val="100"/>
              </a:spcAft>
              <a:buSzPct val="85000"/>
              <a:defRPr/>
            </a:pP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-.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OT</a:t>
            </a: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PKG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양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음극 탭 </a:t>
            </a:r>
            <a:r>
              <a:rPr kumimoji="1" lang="ko-KR" alt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컷터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ko-KR" alt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구동부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이상감지를 통한 탭 커팅 불량 개선 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lvl="1" defTabSz="844083" fontAlgn="base">
              <a:spcBef>
                <a:spcPts val="100"/>
              </a:spcBef>
              <a:spcAft>
                <a:spcPts val="100"/>
              </a:spcAft>
              <a:buSzPct val="85000"/>
              <a:defRPr/>
            </a:pP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-. </a:t>
            </a: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OT</a:t>
            </a: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PKG Pre Welder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변환기 디스크 이상감지를 통한 용접 불량 개선 </a:t>
            </a:r>
            <a:r>
              <a:rPr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D428EFD-B59C-4799-53FB-33361622B801}"/>
              </a:ext>
            </a:extLst>
          </p:cNvPr>
          <p:cNvSpPr txBox="1"/>
          <p:nvPr/>
        </p:nvSpPr>
        <p:spPr>
          <a:xfrm>
            <a:off x="5236805" y="4231563"/>
            <a:ext cx="2124944" cy="29662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북미 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ESS 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셀 </a:t>
            </a:r>
            <a:r>
              <a:rPr kumimoji="1" lang="ko-KR" altLang="en-US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수율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개선  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41CB2C6-A1D9-11EF-7999-3BE6ED29C848}"/>
              </a:ext>
            </a:extLst>
          </p:cNvPr>
          <p:cNvSpPr txBox="1"/>
          <p:nvPr/>
        </p:nvSpPr>
        <p:spPr>
          <a:xfrm>
            <a:off x="5387270" y="5732229"/>
            <a:ext cx="4426686" cy="9489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1" indent="0" algn="l" defTabSz="844083" rtl="0" eaLnBrk="1" fontAlgn="base" latinLnBrk="1" hangingPunct="1">
              <a:spcBef>
                <a:spcPts val="100"/>
              </a:spcBef>
              <a:spcAft>
                <a:spcPts val="1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spc="-20">
                <a:latin typeface="Arial Narrow" panose="020B0606020202030204" pitchFamily="34" charset="0"/>
                <a:ea typeface="LG스마트체 Regular" panose="020B0600000101010101" pitchFamily="50" charset="-127"/>
              </a:rPr>
              <a:t>-. </a:t>
            </a:r>
            <a:r>
              <a:rPr kumimoji="1" lang="en-US" altLang="ko-KR" sz="1100" spc="-2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kumimoji="1" lang="en-US" altLang="ko-KR" sz="1100" spc="-20">
                <a:latin typeface="Arial Narrow" panose="020B0606020202030204" pitchFamily="34" charset="0"/>
                <a:ea typeface="LG스마트체 Regular" panose="020B0600000101010101" pitchFamily="50" charset="-127"/>
              </a:rPr>
              <a:t>WA</a:t>
            </a:r>
            <a:r>
              <a:rPr kumimoji="1" lang="en-US" altLang="ko-KR" sz="1100" spc="-2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r>
              <a:rPr kumimoji="1" lang="ko-KR" altLang="en-US" sz="1100" spc="-2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en-US" altLang="ko-KR" sz="1100" b="0" i="0" u="none" strike="noStrike" kern="1200" cap="none" spc="-4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G-STK / D-STK </a:t>
            </a:r>
            <a:r>
              <a:rPr kumimoji="0" lang="ko-KR" altLang="en-US" sz="1100" b="0" i="0" u="none" strike="noStrike" kern="1200" cap="none" spc="-40" normalizeH="0" baseline="0" noProof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스태킹</a:t>
            </a:r>
            <a:r>
              <a:rPr kumimoji="0" lang="ko-KR" altLang="en-US" sz="1100" b="0" i="0" u="none" strike="noStrike" kern="1200" cap="none" spc="-4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-40" normalizeH="0" baseline="0" noProof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그리퍼</a:t>
            </a:r>
            <a:r>
              <a:rPr kumimoji="0" lang="ko-KR" altLang="en-US" sz="1100" b="0" i="0" u="none" strike="noStrike" kern="1200" cap="none" spc="-4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패턴 이상감지 모델 개발 및 </a:t>
            </a:r>
            <a:r>
              <a:rPr kumimoji="0" lang="ko-KR" altLang="en-US" sz="1100" b="0" i="0" u="none" strike="noStrike" kern="1200" cap="none" spc="-40" normalizeH="0" baseline="0" noProof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전호기</a:t>
            </a:r>
            <a:r>
              <a:rPr kumimoji="0" lang="en-US" altLang="ko-KR" sz="1100" b="0" i="0" u="none" strike="noStrike" kern="1200" cap="none" spc="-4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(50</a:t>
            </a:r>
            <a:r>
              <a:rPr kumimoji="0" lang="ko-KR" altLang="en-US" sz="1100" b="0" i="0" u="none" strike="noStrike" kern="1200" cap="none" spc="-4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대</a:t>
            </a:r>
            <a:r>
              <a:rPr kumimoji="0" lang="en-US" altLang="ko-KR" sz="1100" b="0" i="0" u="none" strike="noStrike" kern="1200" cap="none" spc="-4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r>
              <a:rPr kumimoji="0" lang="ko-KR" altLang="en-US" sz="1100" b="0" i="0" u="none" strike="noStrike" kern="1200" cap="none" spc="-4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적용</a:t>
            </a:r>
            <a:endParaRPr kumimoji="1" lang="en-US" altLang="ko-KR" sz="1100" b="0" i="0" u="none" strike="noStrike" kern="1200" cap="none" spc="-40" normalizeH="0" baseline="0" noProof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lvl="1" defTabSz="844083" fontAlgn="base">
              <a:spcBef>
                <a:spcPts val="100"/>
              </a:spcBef>
              <a:spcAft>
                <a:spcPts val="100"/>
              </a:spcAft>
              <a:buSzPct val="85000"/>
              <a:defRPr/>
            </a:pPr>
            <a:r>
              <a:rPr kumimoji="1" lang="en-US" altLang="ko-KR" sz="1100" spc="-20">
                <a:latin typeface="Arial Narrow" panose="020B0606020202030204" pitchFamily="34" charset="0"/>
                <a:ea typeface="LG스마트체 Regular" panose="020B0600000101010101" pitchFamily="50" charset="-127"/>
              </a:rPr>
              <a:t>-. </a:t>
            </a:r>
            <a:r>
              <a:rPr kumimoji="1" lang="en-US" altLang="ko-KR" sz="1100" spc="-2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kumimoji="1" lang="en-US" altLang="ko-KR" sz="1100" spc="-20">
                <a:latin typeface="Arial Narrow" panose="020B0606020202030204" pitchFamily="34" charset="0"/>
                <a:ea typeface="LG스마트체 Regular" panose="020B0600000101010101" pitchFamily="50" charset="-127"/>
              </a:rPr>
              <a:t>WA</a:t>
            </a:r>
            <a:r>
              <a:rPr kumimoji="1" lang="en-US" altLang="ko-KR" sz="1100" spc="-2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] </a:t>
            </a:r>
            <a:r>
              <a:rPr kumimoji="1" lang="ko-KR" altLang="en-US" sz="1100" spc="-20"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자동차 </a:t>
            </a:r>
            <a:r>
              <a:rPr kumimoji="1" lang="en-US" altLang="ko-KR" sz="1100" spc="-20">
                <a:latin typeface="Arial Narrow" panose="020B0606020202030204" pitchFamily="34" charset="0"/>
                <a:ea typeface="LG스마트체 Regular" panose="020B0600000101010101" pitchFamily="50" charset="-127"/>
              </a:rPr>
              <a:t>E77A </a:t>
            </a:r>
            <a:r>
              <a:rPr kumimoji="1" lang="ko-KR" altLang="en-US" sz="1100" spc="-2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라미</a:t>
            </a:r>
            <a:r>
              <a:rPr kumimoji="1" lang="ko-KR" altLang="en-US" sz="1100" spc="-2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100" spc="-2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컷터</a:t>
            </a:r>
            <a:r>
              <a:rPr kumimoji="1" lang="ko-KR" altLang="en-US" sz="1100" spc="-20">
                <a:latin typeface="Arial Narrow" panose="020B0606020202030204" pitchFamily="34" charset="0"/>
                <a:ea typeface="LG스마트체 Regular" panose="020B0600000101010101" pitchFamily="50" charset="-127"/>
              </a:rPr>
              <a:t> 패턴 이상감지 </a:t>
            </a:r>
            <a:r>
              <a:rPr kumimoji="1" lang="en-US" altLang="ko-KR" sz="1100" spc="-20">
                <a:latin typeface="Arial Narrow" panose="020B0606020202030204" pitchFamily="34" charset="0"/>
                <a:ea typeface="LG스마트체 Regular" panose="020B0600000101010101" pitchFamily="50" charset="-127"/>
              </a:rPr>
              <a:t>WA5</a:t>
            </a:r>
            <a:r>
              <a:rPr kumimoji="1" lang="ko-KR" altLang="en-US" sz="1100" spc="-20">
                <a:latin typeface="Arial Narrow" panose="020B0606020202030204" pitchFamily="34" charset="0"/>
                <a:ea typeface="LG스마트체 Regular" panose="020B0600000101010101" pitchFamily="50" charset="-127"/>
              </a:rPr>
              <a:t>동 </a:t>
            </a:r>
            <a:r>
              <a:rPr kumimoji="1" lang="ko-KR" altLang="en-US" sz="1100" spc="-2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전호기</a:t>
            </a:r>
            <a:r>
              <a:rPr kumimoji="1" lang="ko-KR" altLang="en-US" sz="1100" spc="-20">
                <a:latin typeface="Arial Narrow" panose="020B0606020202030204" pitchFamily="34" charset="0"/>
                <a:ea typeface="LG스마트체 Regular" panose="020B0600000101010101" pitchFamily="50" charset="-127"/>
              </a:rPr>
              <a:t> 확산 전개 </a:t>
            </a:r>
            <a:endParaRPr lang="en-US" altLang="ko-KR" sz="11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lvl="1" defTabSz="844083" fontAlgn="base">
              <a:spcBef>
                <a:spcPts val="100"/>
              </a:spcBef>
              <a:spcAft>
                <a:spcPts val="100"/>
              </a:spcAft>
              <a:buSzPct val="85000"/>
              <a:defRPr/>
            </a:pPr>
            <a: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</a:rPr>
              <a:t>-. 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</a:rPr>
              <a:t>WA</a:t>
            </a:r>
            <a:r>
              <a:rPr lang="en-US" altLang="ko-KR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] </a:t>
            </a:r>
            <a:r>
              <a:rPr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</a:rPr>
              <a:t>전극</a:t>
            </a:r>
            <a: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100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공급부</a:t>
            </a:r>
            <a: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</a:rPr>
              <a:t> Spool EPC Position </a:t>
            </a:r>
            <a:r>
              <a:rPr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</a:rPr>
              <a:t>단차 이상감지를 통한 </a:t>
            </a:r>
            <a:r>
              <a:rPr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</a:rPr>
              <a:t>Y</a:t>
            </a:r>
            <a:r>
              <a:rPr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</a:rPr>
              <a:t>축 위치불량 개선   </a:t>
            </a:r>
            <a:endParaRPr lang="en-US" altLang="ko-KR" sz="11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lvl="1" defTabSz="844083" fontAlgn="base">
              <a:spcBef>
                <a:spcPts val="100"/>
              </a:spcBef>
              <a:spcAft>
                <a:spcPts val="100"/>
              </a:spcAft>
              <a:buSzPct val="85000"/>
              <a:defRPr/>
            </a:pP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-.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HG</a:t>
            </a: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 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Buffer Stage SVM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및 </a:t>
            </a:r>
            <a:r>
              <a:rPr kumimoji="1" lang="en-US" altLang="ko-KR" sz="110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Vaccum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 활용한 전극 위치불량 개선 검토 </a:t>
            </a:r>
            <a:endParaRPr kumimoji="1" lang="en-US" altLang="ko-KR" sz="110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lvl="1" defTabSz="844083" fontAlgn="base">
              <a:spcBef>
                <a:spcPts val="100"/>
              </a:spcBef>
              <a:spcAft>
                <a:spcPts val="100"/>
              </a:spcAft>
              <a:buSzPct val="85000"/>
              <a:defRPr/>
            </a:pP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-.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[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HG</a:t>
            </a: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Swing Head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지령 위치 편차 및 속도 데이터 활용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Stack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외관불량 개선 검토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9B84D55-AA86-BDBE-1571-433EACD9041F}"/>
              </a:ext>
            </a:extLst>
          </p:cNvPr>
          <p:cNvSpPr txBox="1"/>
          <p:nvPr/>
        </p:nvSpPr>
        <p:spPr>
          <a:xfrm>
            <a:off x="5236805" y="5447853"/>
            <a:ext cx="2124944" cy="29662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유럽</a:t>
            </a:r>
            <a:r>
              <a:rPr kumimoji="1" lang="en-US" altLang="ko-KR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/</a:t>
            </a:r>
            <a:r>
              <a:rPr kumimoji="1" lang="ko-KR" altLang="en-US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북미 자동차 셀 </a:t>
            </a:r>
            <a:r>
              <a:rPr kumimoji="1" lang="ko-KR" altLang="en-US" sz="1200" b="1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수율</a:t>
            </a:r>
            <a:r>
              <a:rPr kumimoji="1" lang="ko-KR" altLang="en-US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개선 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6FFF2E5-5927-2A42-B769-AA857BC1D620}"/>
              </a:ext>
            </a:extLst>
          </p:cNvPr>
          <p:cNvSpPr txBox="1"/>
          <p:nvPr/>
        </p:nvSpPr>
        <p:spPr>
          <a:xfrm>
            <a:off x="4620100" y="6293920"/>
            <a:ext cx="836091" cy="2311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7800" indent="-177800" algn="l" fontAlgn="ctr">
              <a:lnSpc>
                <a:spcPct val="93000"/>
              </a:lnSpc>
            </a:pP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8</a:t>
            </a:r>
            <a:r>
              <a:rPr lang="ko-KR" altLang="en-US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 위치불량 개선 </a:t>
            </a:r>
            <a:endParaRPr lang="en-US" altLang="ko-KR" sz="80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177800" indent="-177800" algn="l" fontAlgn="ctr">
              <a:lnSpc>
                <a:spcPct val="93000"/>
              </a:lnSpc>
            </a:pPr>
            <a:r>
              <a:rPr lang="ko-KR" altLang="en-US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기여 효과 </a:t>
            </a: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(0.09%p)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D475039-EC57-351F-928A-1616DED252E7}"/>
              </a:ext>
            </a:extLst>
          </p:cNvPr>
          <p:cNvSpPr txBox="1"/>
          <p:nvPr/>
        </p:nvSpPr>
        <p:spPr>
          <a:xfrm>
            <a:off x="8673960" y="5618603"/>
            <a:ext cx="1135055" cy="1166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177800" indent="-177800" fontAlgn="ctr">
              <a:lnSpc>
                <a:spcPct val="93000"/>
              </a:lnSpc>
              <a:defRPr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ko-KR" altLang="ko-KR" dirty="0"/>
              <a:t>G-STK</a:t>
            </a:r>
            <a:r>
              <a:rPr lang="en-US" altLang="ko-KR" dirty="0"/>
              <a:t> </a:t>
            </a:r>
            <a:r>
              <a:rPr lang="ko-KR" altLang="ko-KR" dirty="0"/>
              <a:t>(18대)</a:t>
            </a:r>
            <a:r>
              <a:rPr lang="en-US" altLang="ko-KR" dirty="0"/>
              <a:t>, </a:t>
            </a:r>
            <a:r>
              <a:rPr lang="ko-KR" altLang="ko-KR" dirty="0"/>
              <a:t>D-STK</a:t>
            </a:r>
            <a:r>
              <a:rPr lang="en-US" altLang="ko-KR" dirty="0"/>
              <a:t> </a:t>
            </a:r>
            <a:r>
              <a:rPr lang="ko-KR" altLang="ko-KR" dirty="0"/>
              <a:t>(32대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A33D66-2740-A990-D95E-1FFFC933E6C0}"/>
              </a:ext>
            </a:extLst>
          </p:cNvPr>
          <p:cNvSpPr txBox="1"/>
          <p:nvPr/>
        </p:nvSpPr>
        <p:spPr>
          <a:xfrm>
            <a:off x="2749782" y="5568625"/>
            <a:ext cx="1880818" cy="208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 algn="l" fontAlgn="ctr">
              <a:lnSpc>
                <a:spcPct val="93000"/>
              </a:lnSpc>
            </a:pP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[OT] NG</a:t>
            </a:r>
            <a:r>
              <a:rPr lang="ko-KR" altLang="en-US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마킹 </a:t>
            </a: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0.731%(1</a:t>
            </a:r>
            <a:r>
              <a:rPr lang="ko-KR" altLang="en-US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lang="ko-KR" altLang="en-US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→ </a:t>
            </a: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0.162% (8</a:t>
            </a:r>
            <a:r>
              <a:rPr lang="ko-KR" altLang="en-US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FF6186-4114-0645-467C-5503770D8721}"/>
              </a:ext>
            </a:extLst>
          </p:cNvPr>
          <p:cNvSpPr txBox="1"/>
          <p:nvPr/>
        </p:nvSpPr>
        <p:spPr>
          <a:xfrm>
            <a:off x="2937435" y="5976234"/>
            <a:ext cx="1969115" cy="208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 algn="l" fontAlgn="ctr">
              <a:lnSpc>
                <a:spcPct val="93000"/>
              </a:lnSpc>
            </a:pP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[MI] NG</a:t>
            </a:r>
            <a:r>
              <a:rPr lang="ko-KR" altLang="en-US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마킹 </a:t>
            </a: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0.288%(3</a:t>
            </a:r>
            <a:r>
              <a:rPr lang="ko-KR" altLang="en-US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lang="ko-KR" altLang="en-US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→ </a:t>
            </a: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0.168% (8</a:t>
            </a:r>
            <a:r>
              <a:rPr lang="ko-KR" altLang="en-US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lang="en-US" altLang="ko-KR"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30" name="실행 단추: 끝으로 이동 29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2D08D7B7-20A8-7550-06B1-D94C6940F19D}"/>
              </a:ext>
            </a:extLst>
          </p:cNvPr>
          <p:cNvSpPr/>
          <p:nvPr/>
        </p:nvSpPr>
        <p:spPr>
          <a:xfrm>
            <a:off x="9211943" y="4927872"/>
            <a:ext cx="180000" cy="126000"/>
          </a:xfrm>
          <a:prstGeom prst="actionButtonEnd">
            <a:avLst/>
          </a:prstGeom>
          <a:solidFill>
            <a:sysClr val="window" lastClr="FFFFFF">
              <a:lumMod val="7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CD7C21-5662-5F47-8511-CB79A58BEEAB}"/>
              </a:ext>
            </a:extLst>
          </p:cNvPr>
          <p:cNvSpPr txBox="1"/>
          <p:nvPr/>
        </p:nvSpPr>
        <p:spPr>
          <a:xfrm>
            <a:off x="4811437" y="6669360"/>
            <a:ext cx="409086" cy="16927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4 / 9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75FAEB45-5082-97CB-D0BC-BB6158BE2495}"/>
              </a:ext>
            </a:extLst>
          </p:cNvPr>
          <p:cNvGrpSpPr/>
          <p:nvPr/>
        </p:nvGrpSpPr>
        <p:grpSpPr>
          <a:xfrm>
            <a:off x="7758397" y="114985"/>
            <a:ext cx="1781744" cy="604476"/>
            <a:chOff x="4232920" y="49957"/>
            <a:chExt cx="1781744" cy="60447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D0AA5496-A6B4-A99D-61D6-AEBA03D318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EDB399B-10E5-B9DA-80CF-27847AC4A0E2}"/>
                </a:ext>
              </a:extLst>
            </p:cNvPr>
            <p:cNvSpPr txBox="1"/>
            <p:nvPr/>
          </p:nvSpPr>
          <p:spPr>
            <a:xfrm>
              <a:off x="4458469" y="52657"/>
              <a:ext cx="1276953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초과 달성 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(5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점 기준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251B903B-C45E-DB59-D585-E366860554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764F95D-E93F-53C2-6DC0-90E04D717C49}"/>
                </a:ext>
              </a:extLst>
            </p:cNvPr>
            <p:cNvSpPr txBox="1"/>
            <p:nvPr/>
          </p:nvSpPr>
          <p:spPr>
            <a:xfrm>
              <a:off x="4458469" y="477133"/>
              <a:ext cx="155619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미달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8D193CB0-E3AB-C20E-395F-4C68A2295B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61C79A5-EFC9-CBA6-6163-AEEA92400A4C}"/>
                </a:ext>
              </a:extLst>
            </p:cNvPr>
            <p:cNvSpPr txBox="1"/>
            <p:nvPr/>
          </p:nvSpPr>
          <p:spPr>
            <a:xfrm>
              <a:off x="4458469" y="264895"/>
              <a:ext cx="137473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달성 수준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5394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실행 단추: 처음으로 이동 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DCE17314-3356-4004-6AFE-1E00A4D080B4}"/>
              </a:ext>
            </a:extLst>
          </p:cNvPr>
          <p:cNvSpPr/>
          <p:nvPr/>
        </p:nvSpPr>
        <p:spPr>
          <a:xfrm>
            <a:off x="9597155" y="68805"/>
            <a:ext cx="174277" cy="220868"/>
          </a:xfrm>
          <a:prstGeom prst="actionButtonBeginning">
            <a:avLst/>
          </a:prstGeom>
          <a:solidFill>
            <a:sysClr val="window" lastClr="FFFFFF">
              <a:lumMod val="7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ABBD3AE-45F1-906A-0E1A-B633BBC5A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908506"/>
              </p:ext>
            </p:extLst>
          </p:nvPr>
        </p:nvGraphicFramePr>
        <p:xfrm>
          <a:off x="735049" y="761673"/>
          <a:ext cx="8862107" cy="702000"/>
        </p:xfrm>
        <a:graphic>
          <a:graphicData uri="http://schemas.openxmlformats.org/drawingml/2006/table">
            <a:tbl>
              <a:tblPr/>
              <a:tblGrid>
                <a:gridCol w="239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0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375">
                  <a:extLst>
                    <a:ext uri="{9D8B030D-6E8A-4147-A177-3AD203B41FA5}">
                      <a16:colId xmlns:a16="http://schemas.microsoft.com/office/drawing/2014/main" val="2961269463"/>
                    </a:ext>
                  </a:extLst>
                </a:gridCol>
                <a:gridCol w="7330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KPI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’26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년 분기목표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연간목표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비중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상태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제조 운영 </a:t>
                      </a:r>
                      <a:r>
                        <a:rPr lang="en-US" altLang="ko-KR" sz="11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1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생산 수율 개선</a:t>
                      </a:r>
                      <a:endParaRPr lang="en-US" altLang="ko-KR" sz="1100" b="1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kern="1200" spc="-70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        (</a:t>
                      </a:r>
                      <a:r>
                        <a:rPr lang="en-US" altLang="ko-KR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NFF</a:t>
                      </a:r>
                      <a:r>
                        <a:rPr kumimoji="1" lang="en-US" altLang="ko-KR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 </a:t>
                      </a:r>
                      <a:r>
                        <a:rPr kumimoji="1" lang="ko-KR" altLang="en-US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+mn-cs"/>
                        </a:rPr>
                        <a:t>셀 수율 목표 달성</a:t>
                      </a:r>
                      <a:r>
                        <a:rPr kumimoji="1" lang="en-US" altLang="ko-KR" sz="1100" b="1" i="0" u="none" strike="noStrike" kern="1200" cap="none" spc="-5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en-US" altLang="ko-KR" sz="1100" b="1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[3Q </a:t>
                      </a:r>
                      <a:r>
                        <a:rPr lang="ko-KR" alt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목표</a:t>
                      </a: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1000" b="1" i="0" u="none" strike="noStrike" baseline="0" err="1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누적수율</a:t>
                      </a:r>
                      <a:r>
                        <a:rPr lang="ko-KR" altLang="en-US" sz="10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97.5% / </a:t>
                      </a:r>
                      <a:r>
                        <a:rPr lang="ko-KR" altLang="en-US" sz="10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호기 전개</a:t>
                      </a:r>
                      <a:r>
                        <a:rPr lang="en-US" altLang="ko-KR" sz="10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모델 검증 및 개선</a:t>
                      </a:r>
                      <a:endParaRPr lang="en-US" altLang="ko-KR" sz="1000" b="1" kern="1200" spc="0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※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Q: OC2 NFF 2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호 셀 수율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97.7%(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누적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달성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연목표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</a:t>
                      </a:r>
                    </a:p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D:’25.12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1000" b="0" i="0" u="none" strike="noStrike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5%  (</a:t>
                      </a:r>
                      <a:r>
                        <a:rPr lang="ko-KR" altLang="en-US" sz="1000" b="1" i="0" u="none" strike="noStrike" spc="-70" baseline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그룹장</a:t>
                      </a: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endParaRPr lang="en-US" sz="1000" b="0" i="0" u="none" strike="noStrike" spc="-7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Rectangle 4">
            <a:extLst>
              <a:ext uri="{FF2B5EF4-FFF2-40B4-BE49-F238E27FC236}">
                <a16:creationId xmlns:a16="http://schemas.microsoft.com/office/drawing/2014/main" id="{DEB36B91-6CB3-225D-9AA7-B553425D6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761674"/>
            <a:ext cx="448035" cy="70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endParaRPr kumimoji="1" lang="en-US" altLang="ko-KR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FB7DB57-BBAB-CD29-0393-C69AE4AA2E7C}"/>
              </a:ext>
            </a:extLst>
          </p:cNvPr>
          <p:cNvSpPr>
            <a:spLocks noChangeAspect="1"/>
          </p:cNvSpPr>
          <p:nvPr/>
        </p:nvSpPr>
        <p:spPr>
          <a:xfrm>
            <a:off x="9170951" y="1140724"/>
            <a:ext cx="180000" cy="180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-3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B17E61D-C7DA-3DB6-02D2-7FFA67EC4CDE}"/>
              </a:ext>
            </a:extLst>
          </p:cNvPr>
          <p:cNvSpPr/>
          <p:nvPr/>
        </p:nvSpPr>
        <p:spPr>
          <a:xfrm>
            <a:off x="2568056" y="1028817"/>
            <a:ext cx="459888" cy="136620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그룹장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2207470-7B5A-0E9E-B485-7B2FA4406BDA}"/>
              </a:ext>
            </a:extLst>
          </p:cNvPr>
          <p:cNvSpPr txBox="1"/>
          <p:nvPr/>
        </p:nvSpPr>
        <p:spPr>
          <a:xfrm>
            <a:off x="4811437" y="6669360"/>
            <a:ext cx="409086" cy="16927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5 / </a:t>
            </a:r>
            <a:r>
              <a:rPr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9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6" name="제목 3">
            <a:extLst>
              <a:ext uri="{FF2B5EF4-FFF2-40B4-BE49-F238E27FC236}">
                <a16:creationId xmlns:a16="http://schemas.microsoft.com/office/drawing/2014/main" id="{A4F55B7F-3A82-485D-7E56-C7C17E8F0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67" y="116449"/>
            <a:ext cx="2531003" cy="369332"/>
          </a:xfr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/>
              <a:t>2.</a:t>
            </a:r>
            <a:r>
              <a:rPr lang="ko-KR" altLang="en-US"/>
              <a:t> </a:t>
            </a:r>
            <a:r>
              <a:rPr lang="en-US" altLang="ko-KR"/>
              <a:t>KPI 8</a:t>
            </a:r>
            <a:r>
              <a:rPr lang="ko-KR" altLang="en-US"/>
              <a:t>월 진척 사항 </a:t>
            </a:r>
            <a:r>
              <a:rPr lang="en-US" altLang="ko-KR"/>
              <a:t>(3/5)</a:t>
            </a:r>
            <a:endParaRPr lang="ko-KR" altLang="en-US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CE969A7B-81A5-8956-41D2-2DD70D747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3235665"/>
            <a:ext cx="448035" cy="3433693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진척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사항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B9D655-AFCE-33F9-9ADE-B94A3B44C10A}"/>
              </a:ext>
            </a:extLst>
          </p:cNvPr>
          <p:cNvSpPr txBox="1"/>
          <p:nvPr/>
        </p:nvSpPr>
        <p:spPr>
          <a:xfrm>
            <a:off x="799741" y="3529998"/>
            <a:ext cx="3148751" cy="29662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NFF 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셀 </a:t>
            </a:r>
            <a:r>
              <a:rPr kumimoji="1" lang="ko-KR" altLang="en-US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수율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개선  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53F001D-E5CA-0A6B-4BE2-DF235CCDF1BC}"/>
              </a:ext>
            </a:extLst>
          </p:cNvPr>
          <p:cNvGrpSpPr/>
          <p:nvPr/>
        </p:nvGrpSpPr>
        <p:grpSpPr>
          <a:xfrm>
            <a:off x="839581" y="3237485"/>
            <a:ext cx="4385369" cy="317996"/>
            <a:chOff x="961536" y="4536453"/>
            <a:chExt cx="3863201" cy="317996"/>
          </a:xfrm>
        </p:grpSpPr>
        <p:sp>
          <p:nvSpPr>
            <p:cNvPr id="6" name="제목 9">
              <a:extLst>
                <a:ext uri="{FF2B5EF4-FFF2-40B4-BE49-F238E27FC236}">
                  <a16:creationId xmlns:a16="http://schemas.microsoft.com/office/drawing/2014/main" id="{359B5FC3-EF77-8F6A-3777-20B4B0622B1D}"/>
                </a:ext>
              </a:extLst>
            </p:cNvPr>
            <p:cNvSpPr txBox="1">
              <a:spLocks/>
            </p:cNvSpPr>
            <p:nvPr/>
          </p:nvSpPr>
          <p:spPr>
            <a:xfrm>
              <a:off x="2533986" y="4536453"/>
              <a:ext cx="718311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진척 현황</a:t>
              </a:r>
              <a:endParaRPr kumimoji="1" lang="ko-KR" altLang="en-US" sz="13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  <p:cxnSp>
          <p:nvCxnSpPr>
            <p:cNvPr id="7" name="직선 연결선 2">
              <a:extLst>
                <a:ext uri="{FF2B5EF4-FFF2-40B4-BE49-F238E27FC236}">
                  <a16:creationId xmlns:a16="http://schemas.microsoft.com/office/drawing/2014/main" id="{F6B0DECC-A6D7-D901-2C48-786BDA1D6E8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61536" y="4830162"/>
              <a:ext cx="3863201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4751D0C1-7D67-75BA-D1FE-F1CD85561115}"/>
              </a:ext>
            </a:extLst>
          </p:cNvPr>
          <p:cNvGrpSpPr/>
          <p:nvPr/>
        </p:nvGrpSpPr>
        <p:grpSpPr>
          <a:xfrm>
            <a:off x="5512136" y="4492966"/>
            <a:ext cx="4182191" cy="317996"/>
            <a:chOff x="5152724" y="4534634"/>
            <a:chExt cx="4221222" cy="317996"/>
          </a:xfrm>
        </p:grpSpPr>
        <p:sp>
          <p:nvSpPr>
            <p:cNvPr id="10" name="제목 9">
              <a:extLst>
                <a:ext uri="{FF2B5EF4-FFF2-40B4-BE49-F238E27FC236}">
                  <a16:creationId xmlns:a16="http://schemas.microsoft.com/office/drawing/2014/main" id="{6B1B7FF7-543B-D945-6D9D-D865722C0DE9}"/>
                </a:ext>
              </a:extLst>
            </p:cNvPr>
            <p:cNvSpPr txBox="1">
              <a:spLocks/>
            </p:cNvSpPr>
            <p:nvPr/>
          </p:nvSpPr>
          <p:spPr>
            <a:xfrm>
              <a:off x="6851836" y="4534634"/>
              <a:ext cx="823011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향후 계획</a:t>
              </a:r>
              <a:endParaRPr kumimoji="1" lang="ko-KR" altLang="en-US" sz="13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  <p:cxnSp>
          <p:nvCxnSpPr>
            <p:cNvPr id="12" name="직선 연결선 2">
              <a:extLst>
                <a:ext uri="{FF2B5EF4-FFF2-40B4-BE49-F238E27FC236}">
                  <a16:creationId xmlns:a16="http://schemas.microsoft.com/office/drawing/2014/main" id="{D25789BF-09DB-6F5C-9F6E-3BB563B872F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52724" y="4830162"/>
              <a:ext cx="422122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FB80CAF-AFDF-E539-F94B-AD88A8CBE98B}"/>
              </a:ext>
            </a:extLst>
          </p:cNvPr>
          <p:cNvCxnSpPr>
            <a:cxnSpLocks/>
          </p:cNvCxnSpPr>
          <p:nvPr/>
        </p:nvCxnSpPr>
        <p:spPr>
          <a:xfrm flipV="1">
            <a:off x="5314544" y="4511101"/>
            <a:ext cx="0" cy="205162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7E89E0C-1EAB-4C8F-4D37-5128048F9DE9}"/>
              </a:ext>
            </a:extLst>
          </p:cNvPr>
          <p:cNvSpPr txBox="1"/>
          <p:nvPr/>
        </p:nvSpPr>
        <p:spPr>
          <a:xfrm>
            <a:off x="901502" y="3857455"/>
            <a:ext cx="4306052" cy="7297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1. </a:t>
            </a:r>
            <a:r>
              <a:rPr kumimoji="1" lang="ko-KR" altLang="en-US" sz="1100" b="1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와인더</a:t>
            </a:r>
            <a:r>
              <a:rPr kumimoji="1" lang="ko-KR" altLang="en-US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Worst </a:t>
            </a:r>
            <a:r>
              <a:rPr kumimoji="1" lang="ko-KR" altLang="en-US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불량 개선 진척 현황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-.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음극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Tab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꽂힘 </a:t>
            </a:r>
            <a:r>
              <a:rPr kumimoji="1"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불량 개선</a:t>
            </a:r>
            <a:endParaRPr kumimoji="1" lang="en-US" altLang="ko-KR" sz="1100">
              <a:latin typeface="Arial Narrow" panose="020B0606020202030204" pitchFamily="34" charset="0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▷ 접시롤러 마모 이상감지를 통해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0.05%p </a:t>
            </a:r>
            <a:r>
              <a:rPr kumimoji="1"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개선 </a:t>
            </a:r>
            <a:r>
              <a:rPr kumimoji="1"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(0.08% </a:t>
            </a:r>
            <a:r>
              <a:rPr kumimoji="1"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→ </a:t>
            </a:r>
            <a:r>
              <a:rPr kumimoji="1"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0.03%)</a:t>
            </a:r>
          </a:p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781FC5-D955-9C15-A53F-388A0201BB9E}"/>
              </a:ext>
            </a:extLst>
          </p:cNvPr>
          <p:cNvSpPr txBox="1"/>
          <p:nvPr/>
        </p:nvSpPr>
        <p:spPr>
          <a:xfrm>
            <a:off x="901501" y="4638892"/>
            <a:ext cx="4416893" cy="5470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2. </a:t>
            </a:r>
            <a:r>
              <a:rPr kumimoji="1" lang="ko-KR" altLang="en-US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조립 </a:t>
            </a:r>
            <a:r>
              <a:rPr kumimoji="1" lang="en-US" altLang="ko-K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Worst </a:t>
            </a:r>
            <a:r>
              <a:rPr kumimoji="1" lang="ko-KR" altLang="en-US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불량 개선 진척 현황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-. CRW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용접 불량 개선</a:t>
            </a:r>
            <a:endParaRPr kumimoji="1" lang="en-US" altLang="ko-KR" sz="1100">
              <a:latin typeface="Arial Narrow" panose="020B0606020202030204" pitchFamily="34" charset="0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▷ 용</a:t>
            </a:r>
            <a:r>
              <a:rPr kumimoji="1"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접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Process Time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이상감지를 통해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0.30%p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개선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(32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주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0.30%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→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33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주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0.00%)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</a:t>
            </a:r>
            <a:endParaRPr kumimoji="1" lang="en-US" altLang="ko-KR" sz="1100">
              <a:latin typeface="Arial Narrow" panose="020B0606020202030204" pitchFamily="34" charset="0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1007E5-084A-83A9-01B4-E4B35ABE1908}"/>
              </a:ext>
            </a:extLst>
          </p:cNvPr>
          <p:cNvSpPr txBox="1"/>
          <p:nvPr/>
        </p:nvSpPr>
        <p:spPr>
          <a:xfrm>
            <a:off x="1181708" y="4367165"/>
            <a:ext cx="28857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#2-2,4,5,6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호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(4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대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 FDC </a:t>
            </a:r>
            <a:r>
              <a:rPr lang="ko-KR" altLang="en-US"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기반으로 조치 </a:t>
            </a:r>
            <a:r>
              <a:rPr lang="en-US" altLang="ko-KR"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접시롤러 교체</a:t>
            </a:r>
            <a:r>
              <a:rPr lang="en-US" altLang="ko-KR"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lang="ko-KR" altLang="en-US" sz="9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실시함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65E690-113D-6597-A913-969935293905}"/>
              </a:ext>
            </a:extLst>
          </p:cNvPr>
          <p:cNvSpPr txBox="1"/>
          <p:nvPr/>
        </p:nvSpPr>
        <p:spPr>
          <a:xfrm>
            <a:off x="901502" y="5229837"/>
            <a:ext cx="4306052" cy="3608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-. CBD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치수</a:t>
            </a:r>
            <a:r>
              <a:rPr kumimoji="1"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불량 개선</a:t>
            </a:r>
            <a:endParaRPr kumimoji="1" lang="en-US" altLang="ko-KR" sz="1100">
              <a:latin typeface="Arial Narrow" panose="020B0606020202030204" pitchFamily="34" charset="0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▷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CBD L6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이상감지를 통해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0.15%p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개선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(31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주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0.18%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→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32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주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0.03%)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772C3712-EAC0-698C-1175-F52D42089207}"/>
              </a:ext>
            </a:extLst>
          </p:cNvPr>
          <p:cNvGraphicFramePr>
            <a:graphicFrameLocks noGrp="1"/>
          </p:cNvGraphicFramePr>
          <p:nvPr/>
        </p:nvGraphicFramePr>
        <p:xfrm>
          <a:off x="735048" y="1521549"/>
          <a:ext cx="8862108" cy="1658605"/>
        </p:xfrm>
        <a:graphic>
          <a:graphicData uri="http://schemas.openxmlformats.org/drawingml/2006/table">
            <a:tbl>
              <a:tblPr/>
              <a:tblGrid>
                <a:gridCol w="738509">
                  <a:extLst>
                    <a:ext uri="{9D8B030D-6E8A-4147-A177-3AD203B41FA5}">
                      <a16:colId xmlns:a16="http://schemas.microsoft.com/office/drawing/2014/main" val="17103252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58282284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574503571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90626201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61868030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86585972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14679234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741167305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2785851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7129914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8237442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867782548"/>
                    </a:ext>
                  </a:extLst>
                </a:gridCol>
              </a:tblGrid>
              <a:tr h="127781"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'26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7681"/>
                  </a:ext>
                </a:extLst>
              </a:tr>
              <a:tr h="1277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850938"/>
                  </a:ext>
                </a:extLst>
              </a:tr>
              <a:tr h="645666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49617"/>
                  </a:ext>
                </a:extLst>
              </a:tr>
              <a:tr h="738619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057251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F6F79704-AF61-D333-6F71-8464C9651E80}"/>
              </a:ext>
            </a:extLst>
          </p:cNvPr>
          <p:cNvSpPr txBox="1"/>
          <p:nvPr/>
        </p:nvSpPr>
        <p:spPr>
          <a:xfrm>
            <a:off x="776536" y="1854060"/>
            <a:ext cx="431420" cy="125083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수율</a:t>
            </a:r>
            <a:endParaRPr kumimoji="0" lang="en-US" altLang="ko-KR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개선</a:t>
            </a:r>
            <a:endParaRPr kumimoji="0" lang="ko-KR" altLang="en-US" sz="800" b="0" i="0" u="none" strike="noStrike" kern="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BD5A2C0-7B53-9BC5-3965-9294902E85BF}"/>
              </a:ext>
            </a:extLst>
          </p:cNvPr>
          <p:cNvCxnSpPr>
            <a:cxnSpLocks/>
          </p:cNvCxnSpPr>
          <p:nvPr/>
        </p:nvCxnSpPr>
        <p:spPr>
          <a:xfrm>
            <a:off x="1524000" y="2055533"/>
            <a:ext cx="5785308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2C7FBBB4-F410-D792-C4DD-84261149B063}"/>
              </a:ext>
            </a:extLst>
          </p:cNvPr>
          <p:cNvCxnSpPr>
            <a:cxnSpLocks/>
          </p:cNvCxnSpPr>
          <p:nvPr/>
        </p:nvCxnSpPr>
        <p:spPr>
          <a:xfrm>
            <a:off x="1524000" y="2779758"/>
            <a:ext cx="5016390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타원 24">
            <a:extLst>
              <a:ext uri="{FF2B5EF4-FFF2-40B4-BE49-F238E27FC236}">
                <a16:creationId xmlns:a16="http://schemas.microsoft.com/office/drawing/2014/main" id="{F3F83A2C-46A6-30DE-51EE-55D2F8CA78FA}"/>
              </a:ext>
            </a:extLst>
          </p:cNvPr>
          <p:cNvSpPr/>
          <p:nvPr/>
        </p:nvSpPr>
        <p:spPr>
          <a:xfrm>
            <a:off x="2773692" y="270775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26" name="연결선: 구부러짐 25">
            <a:extLst>
              <a:ext uri="{FF2B5EF4-FFF2-40B4-BE49-F238E27FC236}">
                <a16:creationId xmlns:a16="http://schemas.microsoft.com/office/drawing/2014/main" id="{C3CF151B-C337-8A13-A7A1-1E69F8E32DE3}"/>
              </a:ext>
            </a:extLst>
          </p:cNvPr>
          <p:cNvCxnSpPr>
            <a:cxnSpLocks/>
            <a:stCxn id="55" idx="0"/>
            <a:endCxn id="57" idx="4"/>
          </p:cNvCxnSpPr>
          <p:nvPr/>
        </p:nvCxnSpPr>
        <p:spPr>
          <a:xfrm rot="5400000" flipH="1" flipV="1">
            <a:off x="3068307" y="2213136"/>
            <a:ext cx="569973" cy="409414"/>
          </a:xfrm>
          <a:prstGeom prst="curvedConnector3">
            <a:avLst>
              <a:gd name="adj1" fmla="val 50000"/>
            </a:avLst>
          </a:prstGeom>
          <a:ln w="6350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62547B4-C3CF-3E7F-C9DD-691A6C9914B2}"/>
              </a:ext>
            </a:extLst>
          </p:cNvPr>
          <p:cNvSpPr txBox="1"/>
          <p:nvPr/>
        </p:nvSpPr>
        <p:spPr>
          <a:xfrm>
            <a:off x="1265765" y="2676185"/>
            <a:ext cx="487729" cy="34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모델 개발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25BE68-82A4-7045-AA8C-CF3ECB4D7FBA}"/>
              </a:ext>
            </a:extLst>
          </p:cNvPr>
          <p:cNvSpPr txBox="1"/>
          <p:nvPr/>
        </p:nvSpPr>
        <p:spPr>
          <a:xfrm>
            <a:off x="1265765" y="1864265"/>
            <a:ext cx="487729" cy="34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양산 운영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6838AC-77CE-71FB-5536-691B2C259058}"/>
              </a:ext>
            </a:extLst>
          </p:cNvPr>
          <p:cNvSpPr txBox="1"/>
          <p:nvPr/>
        </p:nvSpPr>
        <p:spPr>
          <a:xfrm>
            <a:off x="3750935" y="2305297"/>
            <a:ext cx="851121" cy="288147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과제별  진행사항에 따라 </a:t>
            </a:r>
            <a:endParaRPr kumimoji="1" lang="en-US" altLang="ko-KR" sz="700" b="0" i="0" u="none" strike="noStrike" kern="1200" cap="none" spc="-7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맑은 고딕 Semilight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유동적으로  진행 </a:t>
            </a:r>
            <a:endParaRPr kumimoji="1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43A353-BF6C-0848-4F0B-4EBF006E0634}"/>
              </a:ext>
            </a:extLst>
          </p:cNvPr>
          <p:cNvSpPr txBox="1"/>
          <p:nvPr/>
        </p:nvSpPr>
        <p:spPr>
          <a:xfrm>
            <a:off x="2452942" y="2872815"/>
            <a:ext cx="786040" cy="288147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치명 인자 도출 및 </a:t>
            </a:r>
            <a:endParaRPr kumimoji="1" lang="en-US" altLang="ko-KR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모델 개발 완료</a:t>
            </a:r>
            <a: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(3</a:t>
            </a: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건 </a:t>
            </a:r>
            <a: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</a:t>
            </a:r>
            <a:endParaRPr kumimoji="1" lang="ko-KR" alt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grpSp>
        <p:nvGrpSpPr>
          <p:cNvPr id="31" name="그룹 1">
            <a:extLst>
              <a:ext uri="{FF2B5EF4-FFF2-40B4-BE49-F238E27FC236}">
                <a16:creationId xmlns:a16="http://schemas.microsoft.com/office/drawing/2014/main" id="{C9884C59-6DFC-0456-DB17-57593C40E254}"/>
              </a:ext>
            </a:extLst>
          </p:cNvPr>
          <p:cNvGrpSpPr/>
          <p:nvPr/>
        </p:nvGrpSpPr>
        <p:grpSpPr>
          <a:xfrm>
            <a:off x="5946381" y="1509607"/>
            <a:ext cx="205184" cy="1670547"/>
            <a:chOff x="2020628" y="1123354"/>
            <a:chExt cx="205184" cy="5005022"/>
          </a:xfrm>
        </p:grpSpPr>
        <p:grpSp>
          <p:nvGrpSpPr>
            <p:cNvPr id="32" name="그룹 2">
              <a:extLst>
                <a:ext uri="{FF2B5EF4-FFF2-40B4-BE49-F238E27FC236}">
                  <a16:creationId xmlns:a16="http://schemas.microsoft.com/office/drawing/2014/main" id="{D3311B17-0FF2-F7FD-F7C2-031CC96666C4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4550316"/>
              <a:chOff x="4167960" y="2510051"/>
              <a:chExt cx="120667" cy="4717070"/>
            </a:xfrm>
          </p:grpSpPr>
          <p:cxnSp>
            <p:nvCxnSpPr>
              <p:cNvPr id="34" name="직선 연결선 167">
                <a:extLst>
                  <a:ext uri="{FF2B5EF4-FFF2-40B4-BE49-F238E27FC236}">
                    <a16:creationId xmlns:a16="http://schemas.microsoft.com/office/drawing/2014/main" id="{5B018E0F-C6E0-DEDE-C436-163577E4E0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4541193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ysDot"/>
              </a:ln>
              <a:effectLst/>
            </p:spPr>
          </p:cxnSp>
          <p:sp>
            <p:nvSpPr>
              <p:cNvPr id="35" name="이등변 삼각형 7">
                <a:extLst>
                  <a:ext uri="{FF2B5EF4-FFF2-40B4-BE49-F238E27FC236}">
                    <a16:creationId xmlns:a16="http://schemas.microsoft.com/office/drawing/2014/main" id="{768617B7-AF1A-19C4-B16D-02B70C1BB2AC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endParaRPr>
              </a:p>
            </p:txBody>
          </p:sp>
        </p:grpSp>
        <p:sp>
          <p:nvSpPr>
            <p:cNvPr id="33" name="Text Box 4">
              <a:extLst>
                <a:ext uri="{FF2B5EF4-FFF2-40B4-BE49-F238E27FC236}">
                  <a16:creationId xmlns:a16="http://schemas.microsoft.com/office/drawing/2014/main" id="{420CD24F-90BE-C8C8-27BC-3F5A8CD481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4149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현재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grpSp>
        <p:nvGrpSpPr>
          <p:cNvPr id="36" name="그룹 1">
            <a:extLst>
              <a:ext uri="{FF2B5EF4-FFF2-40B4-BE49-F238E27FC236}">
                <a16:creationId xmlns:a16="http://schemas.microsoft.com/office/drawing/2014/main" id="{2FF75661-6033-AA9A-8A34-FFA592201B8F}"/>
              </a:ext>
            </a:extLst>
          </p:cNvPr>
          <p:cNvGrpSpPr/>
          <p:nvPr/>
        </p:nvGrpSpPr>
        <p:grpSpPr>
          <a:xfrm>
            <a:off x="7257256" y="1484784"/>
            <a:ext cx="205184" cy="1639668"/>
            <a:chOff x="2020628" y="1123354"/>
            <a:chExt cx="205184" cy="4912508"/>
          </a:xfrm>
        </p:grpSpPr>
        <p:grpSp>
          <p:nvGrpSpPr>
            <p:cNvPr id="37" name="그룹 2">
              <a:extLst>
                <a:ext uri="{FF2B5EF4-FFF2-40B4-BE49-F238E27FC236}">
                  <a16:creationId xmlns:a16="http://schemas.microsoft.com/office/drawing/2014/main" id="{B7F2530F-49F4-F96A-103A-BDCF808B2584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4457802"/>
              <a:chOff x="4167960" y="2510051"/>
              <a:chExt cx="120667" cy="4621165"/>
            </a:xfrm>
          </p:grpSpPr>
          <p:cxnSp>
            <p:nvCxnSpPr>
              <p:cNvPr id="39" name="직선 연결선 167">
                <a:extLst>
                  <a:ext uri="{FF2B5EF4-FFF2-40B4-BE49-F238E27FC236}">
                    <a16:creationId xmlns:a16="http://schemas.microsoft.com/office/drawing/2014/main" id="{7B0E7974-7C1D-C07C-3318-E989C86459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4445288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FF"/>
                </a:solidFill>
                <a:prstDash val="sysDot"/>
              </a:ln>
              <a:effectLst/>
            </p:spPr>
          </p:cxnSp>
          <p:sp>
            <p:nvSpPr>
              <p:cNvPr id="40" name="이등변 삼각형 7">
                <a:extLst>
                  <a:ext uri="{FF2B5EF4-FFF2-40B4-BE49-F238E27FC236}">
                    <a16:creationId xmlns:a16="http://schemas.microsoft.com/office/drawing/2014/main" id="{FEE07138-BDF5-D7F9-3084-B9A83F082CE9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solidFill>
                  <a:srgbClr val="0000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endParaRPr>
              </a:p>
            </p:txBody>
          </p:sp>
        </p:grpSp>
        <p:sp>
          <p:nvSpPr>
            <p:cNvPr id="38" name="Text Box 4">
              <a:extLst>
                <a:ext uri="{FF2B5EF4-FFF2-40B4-BE49-F238E27FC236}">
                  <a16:creationId xmlns:a16="http://schemas.microsoft.com/office/drawing/2014/main" id="{480C613B-D295-1264-A067-C3D1BD309C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4149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완료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sp>
        <p:nvSpPr>
          <p:cNvPr id="41" name="타원 40">
            <a:extLst>
              <a:ext uri="{FF2B5EF4-FFF2-40B4-BE49-F238E27FC236}">
                <a16:creationId xmlns:a16="http://schemas.microsoft.com/office/drawing/2014/main" id="{5BCD24DB-DF45-EC2C-4991-B4D1B8CAE293}"/>
              </a:ext>
            </a:extLst>
          </p:cNvPr>
          <p:cNvSpPr/>
          <p:nvPr/>
        </p:nvSpPr>
        <p:spPr>
          <a:xfrm>
            <a:off x="3080792" y="198934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8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A68B1BE0-AA4D-6164-C9AD-4A4C2BDDC826}"/>
              </a:ext>
            </a:extLst>
          </p:cNvPr>
          <p:cNvSpPr/>
          <p:nvPr/>
        </p:nvSpPr>
        <p:spPr>
          <a:xfrm>
            <a:off x="7197964" y="1988856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C63475D-4C41-DE5D-3015-3F4360E77A6C}"/>
              </a:ext>
            </a:extLst>
          </p:cNvPr>
          <p:cNvSpPr txBox="1"/>
          <p:nvPr/>
        </p:nvSpPr>
        <p:spPr>
          <a:xfrm>
            <a:off x="7036434" y="2106037"/>
            <a:ext cx="467042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효과 검증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86308C-EFB1-9A54-2E62-2676370103B2}"/>
              </a:ext>
            </a:extLst>
          </p:cNvPr>
          <p:cNvSpPr txBox="1"/>
          <p:nvPr/>
        </p:nvSpPr>
        <p:spPr>
          <a:xfrm>
            <a:off x="2935073" y="2123925"/>
            <a:ext cx="467042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양산 운영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66200AE-7CF6-C3D9-7A25-71B9E9783A05}"/>
              </a:ext>
            </a:extLst>
          </p:cNvPr>
          <p:cNvSpPr txBox="1"/>
          <p:nvPr/>
        </p:nvSpPr>
        <p:spPr>
          <a:xfrm>
            <a:off x="3790728" y="2845747"/>
            <a:ext cx="717110" cy="288147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개선 사항 도출 및 </a:t>
            </a:r>
            <a:endParaRPr kumimoji="1" lang="en-US" altLang="ko-KR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모델 고도화</a:t>
            </a:r>
            <a:endParaRPr kumimoji="1" lang="en-US" altLang="ko-KR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29C6C577-49B5-69BA-BC26-BDDDC565943B}"/>
              </a:ext>
            </a:extLst>
          </p:cNvPr>
          <p:cNvSpPr/>
          <p:nvPr/>
        </p:nvSpPr>
        <p:spPr>
          <a:xfrm>
            <a:off x="4241192" y="270775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29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6E83EC5-82C2-51FD-4AA1-41889D6D2FED}"/>
              </a:ext>
            </a:extLst>
          </p:cNvPr>
          <p:cNvSpPr txBox="1"/>
          <p:nvPr/>
        </p:nvSpPr>
        <p:spPr>
          <a:xfrm>
            <a:off x="4507838" y="2845748"/>
            <a:ext cx="717110" cy="288147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치명 인자 도출 및 </a:t>
            </a:r>
            <a:endParaRPr kumimoji="1" lang="en-US" altLang="ko-KR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모델 개발 </a:t>
            </a:r>
            <a:r>
              <a:rPr kumimoji="1" lang="en-US" altLang="ko-KR" sz="700" b="0" i="0" u="none" strike="sng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2</a:t>
            </a:r>
            <a:r>
              <a:rPr kumimoji="1" lang="ko-KR" altLang="en-US" sz="700" b="0" i="0" u="none" strike="sng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건</a:t>
            </a: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1</a:t>
            </a: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건</a:t>
            </a: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5A5A2FA4-4F58-DF30-591E-8E79A40A41CA}"/>
              </a:ext>
            </a:extLst>
          </p:cNvPr>
          <p:cNvSpPr/>
          <p:nvPr/>
        </p:nvSpPr>
        <p:spPr>
          <a:xfrm>
            <a:off x="4727818" y="270174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12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09E567FC-08B8-0116-1368-CA973E5F1BE0}"/>
              </a:ext>
            </a:extLst>
          </p:cNvPr>
          <p:cNvSpPr/>
          <p:nvPr/>
        </p:nvSpPr>
        <p:spPr>
          <a:xfrm>
            <a:off x="4997076" y="198942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8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3BD2C4E-D813-2D0B-55D2-76580F91A548}"/>
              </a:ext>
            </a:extLst>
          </p:cNvPr>
          <p:cNvSpPr txBox="1"/>
          <p:nvPr/>
        </p:nvSpPr>
        <p:spPr>
          <a:xfrm>
            <a:off x="4851357" y="2124001"/>
            <a:ext cx="467042" cy="19581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양산 운영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cxnSp>
        <p:nvCxnSpPr>
          <p:cNvPr id="51" name="연결선: 구부러짐 50">
            <a:extLst>
              <a:ext uri="{FF2B5EF4-FFF2-40B4-BE49-F238E27FC236}">
                <a16:creationId xmlns:a16="http://schemas.microsoft.com/office/drawing/2014/main" id="{FD784FC4-52B5-DCA7-3120-5E0B4BF702D6}"/>
              </a:ext>
            </a:extLst>
          </p:cNvPr>
          <p:cNvCxnSpPr>
            <a:cxnSpLocks/>
            <a:stCxn id="48" idx="6"/>
            <a:endCxn id="49" idx="2"/>
          </p:cNvCxnSpPr>
          <p:nvPr/>
        </p:nvCxnSpPr>
        <p:spPr>
          <a:xfrm flipV="1">
            <a:off x="4871818" y="2061420"/>
            <a:ext cx="125258" cy="712328"/>
          </a:xfrm>
          <a:prstGeom prst="curvedConnector3">
            <a:avLst>
              <a:gd name="adj1" fmla="val 50000"/>
            </a:avLst>
          </a:prstGeom>
          <a:ln w="6350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9F1DFB34-2EEC-FE4E-36B9-DB3562C74317}"/>
              </a:ext>
            </a:extLst>
          </p:cNvPr>
          <p:cNvCxnSpPr>
            <a:endCxn id="45" idx="1"/>
          </p:cNvCxnSpPr>
          <p:nvPr/>
        </p:nvCxnSpPr>
        <p:spPr>
          <a:xfrm>
            <a:off x="3244079" y="2989821"/>
            <a:ext cx="546649" cy="0"/>
          </a:xfrm>
          <a:prstGeom prst="straightConnector1">
            <a:avLst/>
          </a:prstGeom>
          <a:ln w="635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4">
            <a:extLst>
              <a:ext uri="{FF2B5EF4-FFF2-40B4-BE49-F238E27FC236}">
                <a16:creationId xmlns:a16="http://schemas.microsoft.com/office/drawing/2014/main" id="{DDF7AC37-F59B-1D1D-9F1E-1D0778656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1510124"/>
            <a:ext cx="448035" cy="1679176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일정</a:t>
            </a: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D188DAA-F8D0-C6B7-D3DE-FD826B20481A}"/>
              </a:ext>
            </a:extLst>
          </p:cNvPr>
          <p:cNvSpPr txBox="1"/>
          <p:nvPr/>
        </p:nvSpPr>
        <p:spPr>
          <a:xfrm>
            <a:off x="1817173" y="2239890"/>
            <a:ext cx="1116900" cy="395869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1. Tab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꽂힘 </a:t>
            </a: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+FTF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상태검사 불량  </a:t>
            </a: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: 1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건</a:t>
            </a:r>
            <a:endParaRPr kumimoji="1" lang="en-US" altLang="ko-KR" sz="700" b="0" i="0" u="none" strike="noStrike" kern="1200" cap="none" spc="-7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맑은 고딕 Semilight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 2. CBD 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비틀림 불량</a:t>
            </a: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: 1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건</a:t>
            </a:r>
            <a:endParaRPr kumimoji="1" lang="en-US" altLang="ko-KR" sz="700" b="0" i="0" u="none" strike="noStrike" kern="1200" cap="none" spc="-7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맑은 고딕 Semilight"/>
              <a:sym typeface="Wingding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 3. CIT 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테이프 불량</a:t>
            </a: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: 1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건</a:t>
            </a:r>
            <a:endParaRPr kumimoji="1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35F446EB-D3A1-8A57-7CE6-6E583BDF2717}"/>
              </a:ext>
            </a:extLst>
          </p:cNvPr>
          <p:cNvSpPr/>
          <p:nvPr/>
        </p:nvSpPr>
        <p:spPr>
          <a:xfrm>
            <a:off x="3076586" y="2702829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7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56" name="연결선: 구부러짐 55">
            <a:extLst>
              <a:ext uri="{FF2B5EF4-FFF2-40B4-BE49-F238E27FC236}">
                <a16:creationId xmlns:a16="http://schemas.microsoft.com/office/drawing/2014/main" id="{08A24924-6ED1-DD1F-9B7A-8CE9F7493ACF}"/>
              </a:ext>
            </a:extLst>
          </p:cNvPr>
          <p:cNvCxnSpPr>
            <a:cxnSpLocks/>
            <a:stCxn id="25" idx="7"/>
            <a:endCxn id="55" idx="1"/>
          </p:cNvCxnSpPr>
          <p:nvPr/>
        </p:nvCxnSpPr>
        <p:spPr>
          <a:xfrm rot="5400000" flipH="1" flipV="1">
            <a:off x="2994675" y="2625847"/>
            <a:ext cx="4929" cy="201070"/>
          </a:xfrm>
          <a:prstGeom prst="curvedConnector3">
            <a:avLst>
              <a:gd name="adj1" fmla="val 1977115"/>
            </a:avLst>
          </a:prstGeom>
          <a:ln w="6350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타원 56">
            <a:extLst>
              <a:ext uri="{FF2B5EF4-FFF2-40B4-BE49-F238E27FC236}">
                <a16:creationId xmlns:a16="http://schemas.microsoft.com/office/drawing/2014/main" id="{D9491CFC-AEBD-9B9D-5E6E-7988F3FBD164}"/>
              </a:ext>
            </a:extLst>
          </p:cNvPr>
          <p:cNvSpPr/>
          <p:nvPr/>
        </p:nvSpPr>
        <p:spPr>
          <a:xfrm>
            <a:off x="3486000" y="1988856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24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58" name="연결선: 구부러짐 57">
            <a:extLst>
              <a:ext uri="{FF2B5EF4-FFF2-40B4-BE49-F238E27FC236}">
                <a16:creationId xmlns:a16="http://schemas.microsoft.com/office/drawing/2014/main" id="{59D84C30-46D3-8B0A-E2E7-B1B2D1CE6902}"/>
              </a:ext>
            </a:extLst>
          </p:cNvPr>
          <p:cNvCxnSpPr>
            <a:cxnSpLocks/>
            <a:stCxn id="41" idx="0"/>
            <a:endCxn id="57" idx="1"/>
          </p:cNvCxnSpPr>
          <p:nvPr/>
        </p:nvCxnSpPr>
        <p:spPr>
          <a:xfrm rot="16200000" flipH="1">
            <a:off x="3319640" y="1822496"/>
            <a:ext cx="20600" cy="354296"/>
          </a:xfrm>
          <a:prstGeom prst="curvedConnector3">
            <a:avLst>
              <a:gd name="adj1" fmla="val -302913"/>
            </a:avLst>
          </a:prstGeom>
          <a:ln w="6350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873B7295-51FC-7E15-1EC8-5E457AD797FB}"/>
              </a:ext>
            </a:extLst>
          </p:cNvPr>
          <p:cNvSpPr txBox="1"/>
          <p:nvPr/>
        </p:nvSpPr>
        <p:spPr>
          <a:xfrm>
            <a:off x="5037046" y="2329434"/>
            <a:ext cx="1116900" cy="180425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1. Tab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꽂힘 </a:t>
            </a: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+FTF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상태검사 불량  </a:t>
            </a:r>
            <a:r>
              <a:rPr kumimoji="1" lang="en-US" altLang="ko-KR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: 1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맑은 고딕 Semilight"/>
                <a:sym typeface="Wingdings"/>
              </a:rPr>
              <a:t>건</a:t>
            </a:r>
            <a:endParaRPr kumimoji="1" lang="en-US" altLang="ko-KR" sz="700" b="0" i="0" u="none" strike="noStrike" kern="1200" cap="none" spc="-7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맑은 고딕 Semilight"/>
              <a:sym typeface="Wingding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B9D2994-55B3-3ECC-051F-B69F655DBDE7}"/>
              </a:ext>
            </a:extLst>
          </p:cNvPr>
          <p:cNvSpPr txBox="1"/>
          <p:nvPr/>
        </p:nvSpPr>
        <p:spPr>
          <a:xfrm>
            <a:off x="2212843" y="5254972"/>
            <a:ext cx="10342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L6 :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캔 </a:t>
            </a:r>
            <a:r>
              <a:rPr kumimoji="0" lang="ko-KR" altLang="en-US" sz="900" b="0" i="0" u="none" strike="noStrike" kern="1200" cap="none" spc="0" normalizeH="0" baseline="0" noProof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어깨부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외경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57D7264-0DA3-6F5E-3FBF-C2E27FB5F3E4}"/>
              </a:ext>
            </a:extLst>
          </p:cNvPr>
          <p:cNvSpPr txBox="1"/>
          <p:nvPr/>
        </p:nvSpPr>
        <p:spPr>
          <a:xfrm>
            <a:off x="1181708" y="5545335"/>
            <a:ext cx="25843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CBD #8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헤드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1.56%p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개선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(31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1.66%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→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32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0.10%)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51B869A-C11E-432B-6CCA-D35E29F85760}"/>
              </a:ext>
            </a:extLst>
          </p:cNvPr>
          <p:cNvSpPr txBox="1"/>
          <p:nvPr/>
        </p:nvSpPr>
        <p:spPr>
          <a:xfrm>
            <a:off x="901502" y="5797860"/>
            <a:ext cx="4306052" cy="3608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-. CBD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비틀림</a:t>
            </a:r>
            <a:r>
              <a:rPr kumimoji="1"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불량 개선</a:t>
            </a:r>
            <a:endParaRPr kumimoji="1" lang="en-US" altLang="ko-KR" sz="1100">
              <a:latin typeface="Arial Narrow" panose="020B0606020202030204" pitchFamily="34" charset="0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▷ 서브 롤러 편차 이상감지를 통해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0.25%p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개선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(0.39%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→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0.14%)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BE01A8D0-C122-1476-E499-338C6558EB34}"/>
              </a:ext>
            </a:extLst>
          </p:cNvPr>
          <p:cNvCxnSpPr>
            <a:cxnSpLocks/>
          </p:cNvCxnSpPr>
          <p:nvPr/>
        </p:nvCxnSpPr>
        <p:spPr>
          <a:xfrm>
            <a:off x="5343119" y="4511101"/>
            <a:ext cx="433351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D1FF03CD-E44A-CBF8-31F5-4F1637BAB398}"/>
              </a:ext>
            </a:extLst>
          </p:cNvPr>
          <p:cNvSpPr txBox="1"/>
          <p:nvPr/>
        </p:nvSpPr>
        <p:spPr>
          <a:xfrm>
            <a:off x="5447493" y="4853361"/>
            <a:ext cx="4306052" cy="11056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1. </a:t>
            </a:r>
            <a:r>
              <a:rPr kumimoji="1" lang="ko-KR" altLang="en-US" sz="1100" b="1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와인더</a:t>
            </a:r>
            <a:r>
              <a:rPr kumimoji="1" lang="ko-KR" altLang="en-US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Worst </a:t>
            </a:r>
            <a:r>
              <a:rPr kumimoji="1" lang="ko-KR" altLang="en-US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불량 개선 향후 계획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-.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음극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Tab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꽂힘 불량 개선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▷</a:t>
            </a:r>
            <a:r>
              <a:rPr kumimoji="1"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접시롤러 마모 이상감지 모델 양산 전환 논의 예정 </a:t>
            </a:r>
            <a:r>
              <a:rPr kumimoji="1"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(~9/4)</a:t>
            </a:r>
          </a:p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-.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전국 표면 불량 및 </a:t>
            </a:r>
            <a:r>
              <a:rPr kumimoji="1" lang="ko-KR" altLang="en-US" sz="11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노칭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불량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▷</a:t>
            </a:r>
            <a:r>
              <a:rPr kumimoji="1"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ko-KR" altLang="en-US" sz="1100" err="1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노칭</a:t>
            </a:r>
            <a:r>
              <a:rPr kumimoji="1"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레이저 헤드와 </a:t>
            </a:r>
            <a:r>
              <a:rPr kumimoji="1" lang="ko-KR" altLang="en-US" sz="1100" err="1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패턴지그의</a:t>
            </a:r>
            <a:r>
              <a:rPr kumimoji="1"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위치 기반 상관성 도출 예정</a:t>
            </a:r>
            <a:r>
              <a:rPr kumimoji="1"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(~9/18)</a:t>
            </a:r>
          </a:p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▷ </a:t>
            </a:r>
            <a:r>
              <a:rPr kumimoji="1" lang="ko-KR" altLang="en-US" sz="1100" err="1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노칭</a:t>
            </a:r>
            <a:r>
              <a:rPr kumimoji="1"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ko-KR" altLang="en-US" sz="1100" err="1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피딩롤러</a:t>
            </a:r>
            <a:r>
              <a:rPr kumimoji="1"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ko-KR" altLang="en-US" sz="1100" err="1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서보모터</a:t>
            </a:r>
            <a:r>
              <a:rPr kumimoji="1"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KV, KP </a:t>
            </a:r>
            <a:r>
              <a:rPr kumimoji="1"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이상감지 모델 개발 예정</a:t>
            </a:r>
            <a:r>
              <a:rPr kumimoji="1"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(~9/18)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FE92E3D-5DD5-F0C0-3D2C-464CFD70EF07}"/>
              </a:ext>
            </a:extLst>
          </p:cNvPr>
          <p:cNvSpPr txBox="1"/>
          <p:nvPr/>
        </p:nvSpPr>
        <p:spPr>
          <a:xfrm>
            <a:off x="5447493" y="6077465"/>
            <a:ext cx="4306052" cy="3608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2. </a:t>
            </a:r>
            <a:r>
              <a:rPr kumimoji="1" lang="ko-KR" altLang="en-US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조립 </a:t>
            </a:r>
            <a:r>
              <a:rPr kumimoji="1" lang="en-US" altLang="ko-KR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Worst </a:t>
            </a:r>
            <a:r>
              <a:rPr kumimoji="1" lang="ko-KR" altLang="en-US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불량 개선 향후 계획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-.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前 공정인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CRW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기인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CBD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비틀림 발생 상관성 분석 및 치명인자 도출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(~9/18)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EF9F8E5-8D44-46C5-E882-7EB7D222B80E}"/>
              </a:ext>
            </a:extLst>
          </p:cNvPr>
          <p:cNvSpPr txBox="1"/>
          <p:nvPr/>
        </p:nvSpPr>
        <p:spPr>
          <a:xfrm>
            <a:off x="901502" y="6206353"/>
            <a:ext cx="4306052" cy="3608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-. ABW </a:t>
            </a:r>
            <a:r>
              <a:rPr kumimoji="1"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용접 불량 개선</a:t>
            </a:r>
            <a:endParaRPr kumimoji="1" lang="en-US" altLang="ko-KR" sz="1100">
              <a:latin typeface="Arial Narrow" panose="020B0606020202030204" pitchFamily="34" charset="0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▷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CBD L3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이상감지를 통해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0.11%p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개선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(7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월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0.15%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→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8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월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0.04%)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F99445-0E84-B986-6903-758416C9ACE2}"/>
              </a:ext>
            </a:extLst>
          </p:cNvPr>
          <p:cNvSpPr txBox="1"/>
          <p:nvPr/>
        </p:nvSpPr>
        <p:spPr>
          <a:xfrm>
            <a:off x="5446631" y="3663774"/>
            <a:ext cx="4416901" cy="733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1" i="0" u="non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3. Vision(</a:t>
            </a:r>
            <a:r>
              <a:rPr kumimoji="1" lang="ko-KR" altLang="en-US" sz="1100" b="1" i="0" u="non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광량</a:t>
            </a:r>
            <a:r>
              <a:rPr kumimoji="1" lang="en-US" altLang="ko-KR" sz="1100" b="1" i="0" u="non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 </a:t>
            </a:r>
            <a:r>
              <a:rPr kumimoji="1" lang="ko-KR" altLang="en-US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기인 </a:t>
            </a:r>
            <a:r>
              <a:rPr kumimoji="1" lang="ko-KR" altLang="en-US" sz="1100" b="1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과검</a:t>
            </a:r>
            <a:r>
              <a:rPr kumimoji="1" lang="ko-KR" altLang="en-US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불량 개선 진척 현황 </a:t>
            </a:r>
            <a:r>
              <a:rPr kumimoji="1" lang="en-US" altLang="ko-KR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kumimoji="1" lang="ko-KR" altLang="en-US" sz="1100" b="1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와인더</a:t>
            </a:r>
            <a:endParaRPr kumimoji="1" lang="en-US" altLang="ko-KR" sz="1100" b="0" i="0" u="none" kern="1200" cap="none" spc="0" normalizeH="0" baseline="0" noProof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0" i="0" u="non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▷</a:t>
            </a:r>
            <a:r>
              <a:rPr kumimoji="1" lang="en-US" altLang="ko-KR" sz="1100" b="0" i="0" u="non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</a:t>
            </a:r>
            <a:r>
              <a:rPr kumimoji="1" lang="ko-KR" altLang="en-US" sz="1100" err="1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권취</a:t>
            </a:r>
            <a:r>
              <a:rPr kumimoji="1"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사행 검사기 광량 이상감지를 통해 </a:t>
            </a:r>
            <a:r>
              <a:rPr kumimoji="1"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0.19%p </a:t>
            </a:r>
            <a:r>
              <a:rPr kumimoji="1"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개선 </a:t>
            </a:r>
            <a:r>
              <a:rPr kumimoji="1"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(0.56% </a:t>
            </a:r>
            <a:r>
              <a:rPr kumimoji="1"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→ </a:t>
            </a:r>
            <a:r>
              <a:rPr kumimoji="1"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0.37%)</a:t>
            </a:r>
          </a:p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</a:t>
            </a:r>
            <a:r>
              <a:rPr kumimoji="1"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▷ 음극 탭 검사기 광량 이상감지를 통해 </a:t>
            </a:r>
            <a:r>
              <a:rPr kumimoji="1"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0.01%p </a:t>
            </a:r>
            <a:r>
              <a:rPr kumimoji="1"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개선 </a:t>
            </a:r>
            <a:r>
              <a:rPr kumimoji="1"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(0.07% </a:t>
            </a:r>
            <a:r>
              <a:rPr kumimoji="1"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→ </a:t>
            </a:r>
            <a:r>
              <a:rPr kumimoji="1" lang="en-US" altLang="ko-KR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0.06%)</a:t>
            </a:r>
          </a:p>
          <a:p>
            <a:pPr marL="0" marR="0" lvl="1" indent="0" algn="l" defTabSz="844083" rtl="0" eaLnBrk="1" fontAlgn="base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 ▷ 양산 운영 협의 완료함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(w/</a:t>
            </a:r>
            <a:r>
              <a:rPr kumimoji="1" lang="ko-KR" altLang="en-US" sz="1100"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생산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팀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,8/28)</a:t>
            </a:r>
            <a:endParaRPr kumimoji="1" lang="en-US" altLang="ko-KR" sz="1100">
              <a:latin typeface="Arial Narrow" panose="020B0606020202030204" pitchFamily="34" charset="0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6E9B02E6-1F01-FEA1-0DD9-6FD2B8F2541B}"/>
              </a:ext>
            </a:extLst>
          </p:cNvPr>
          <p:cNvGrpSpPr/>
          <p:nvPr/>
        </p:nvGrpSpPr>
        <p:grpSpPr>
          <a:xfrm>
            <a:off x="7758397" y="114985"/>
            <a:ext cx="1781744" cy="604476"/>
            <a:chOff x="4232920" y="49957"/>
            <a:chExt cx="1781744" cy="604476"/>
          </a:xfrm>
        </p:grpSpPr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AE456E8F-C4EE-98C1-953E-2680D263D0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B3E8061-5F24-D7B7-2328-8B3BE50072BA}"/>
                </a:ext>
              </a:extLst>
            </p:cNvPr>
            <p:cNvSpPr txBox="1"/>
            <p:nvPr/>
          </p:nvSpPr>
          <p:spPr>
            <a:xfrm>
              <a:off x="4458469" y="52657"/>
              <a:ext cx="1276953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초과 달성 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(5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점 기준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0B527268-32C5-FDB2-0E3B-5565B0FDEB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3AB3AE1-BCD8-88AF-86DD-FF3D73249811}"/>
                </a:ext>
              </a:extLst>
            </p:cNvPr>
            <p:cNvSpPr txBox="1"/>
            <p:nvPr/>
          </p:nvSpPr>
          <p:spPr>
            <a:xfrm>
              <a:off x="4458469" y="477133"/>
              <a:ext cx="155619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미달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C903CBC-2F63-5109-F6AC-1A58F17B0A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843E43E-AFBE-B98E-9BAD-83BBC43A73BE}"/>
                </a:ext>
              </a:extLst>
            </p:cNvPr>
            <p:cNvSpPr txBox="1"/>
            <p:nvPr/>
          </p:nvSpPr>
          <p:spPr>
            <a:xfrm>
              <a:off x="4458469" y="264895"/>
              <a:ext cx="137473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달성 수준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827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실행 단추: 처음으로 이동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00A750A-FD06-073A-AB4A-1FFF9523E9FB}"/>
              </a:ext>
            </a:extLst>
          </p:cNvPr>
          <p:cNvSpPr/>
          <p:nvPr/>
        </p:nvSpPr>
        <p:spPr>
          <a:xfrm>
            <a:off x="9597155" y="68805"/>
            <a:ext cx="174277" cy="220868"/>
          </a:xfrm>
          <a:prstGeom prst="actionButtonBeginning">
            <a:avLst/>
          </a:prstGeom>
          <a:solidFill>
            <a:sysClr val="window" lastClr="FFFFFF">
              <a:lumMod val="7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39BCC197-72D6-9334-A5C3-C4E1C7F0C225}"/>
              </a:ext>
            </a:extLst>
          </p:cNvPr>
          <p:cNvGraphicFramePr>
            <a:graphicFrameLocks noGrp="1"/>
          </p:cNvGraphicFramePr>
          <p:nvPr/>
        </p:nvGraphicFramePr>
        <p:xfrm>
          <a:off x="735049" y="761673"/>
          <a:ext cx="8862107" cy="702000"/>
        </p:xfrm>
        <a:graphic>
          <a:graphicData uri="http://schemas.openxmlformats.org/drawingml/2006/table">
            <a:tbl>
              <a:tblPr/>
              <a:tblGrid>
                <a:gridCol w="239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0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375">
                  <a:extLst>
                    <a:ext uri="{9D8B030D-6E8A-4147-A177-3AD203B41FA5}">
                      <a16:colId xmlns:a16="http://schemas.microsoft.com/office/drawing/2014/main" val="2961269463"/>
                    </a:ext>
                  </a:extLst>
                </a:gridCol>
                <a:gridCol w="7330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KPI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’26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년 분기목표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연간목표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비중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상태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실행 가속화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(AI </a:t>
                      </a:r>
                      <a:r>
                        <a:rPr lang="ko-KR" altLang="en-US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활용 치명인자 도출 자동화를 </a:t>
                      </a:r>
                      <a:br>
                        <a:rPr lang="ko-KR" altLang="en-US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통한 업무효율 향상</a:t>
                      </a:r>
                      <a:r>
                        <a:rPr lang="en-US" altLang="ko-KR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-.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[3Q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목표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]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Agent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시스템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/DB 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연계 완료 및 개발 검증</a:t>
                      </a:r>
                      <a:endParaRPr lang="en-US" altLang="ko-KR" sz="1000" b="1" kern="1200" spc="0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※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 : 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데이터 분석 업무 생산성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30% 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 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연목표</a:t>
                      </a: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</a:t>
                      </a:r>
                    </a:p>
                    <a:p>
                      <a:pPr marL="0" indent="0" algn="l" rtl="0" font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D:’26.9</a:t>
                      </a:r>
                      <a:r>
                        <a:rPr lang="ko-KR" altLang="en-US" sz="1000" b="0" i="0" u="none" strike="noStrike" baseline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5% (</a:t>
                      </a:r>
                      <a:r>
                        <a:rPr lang="ko-KR" alt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담당</a:t>
                      </a: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endParaRPr lang="en-US" sz="1000" b="0" i="0" u="none" strike="noStrike" spc="-7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6" name="Rectangle 4">
            <a:extLst>
              <a:ext uri="{FF2B5EF4-FFF2-40B4-BE49-F238E27FC236}">
                <a16:creationId xmlns:a16="http://schemas.microsoft.com/office/drawing/2014/main" id="{2BCE2ED0-6692-23FA-B771-6DA6987D9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761674"/>
            <a:ext cx="448035" cy="70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endParaRPr kumimoji="1" lang="en-US" altLang="ko-KR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1F8F856D-EB5C-3B3D-CF42-169C9C4C1F66}"/>
              </a:ext>
            </a:extLst>
          </p:cNvPr>
          <p:cNvSpPr>
            <a:spLocks noChangeAspect="1"/>
          </p:cNvSpPr>
          <p:nvPr/>
        </p:nvSpPr>
        <p:spPr>
          <a:xfrm>
            <a:off x="9170951" y="1140724"/>
            <a:ext cx="180000" cy="180000"/>
          </a:xfrm>
          <a:prstGeom prst="ellipse">
            <a:avLst/>
          </a:prstGeom>
          <a:solidFill>
            <a:srgbClr val="339933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-3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" name="제목 3">
            <a:extLst>
              <a:ext uri="{FF2B5EF4-FFF2-40B4-BE49-F238E27FC236}">
                <a16:creationId xmlns:a16="http://schemas.microsoft.com/office/drawing/2014/main" id="{DAD6748D-A5CE-8F2A-74CF-5AE0C8839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67" y="116449"/>
            <a:ext cx="2531003" cy="369332"/>
          </a:xfr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/>
              <a:t>2.</a:t>
            </a:r>
            <a:r>
              <a:rPr lang="ko-KR" altLang="en-US"/>
              <a:t> </a:t>
            </a:r>
            <a:r>
              <a:rPr lang="en-US" altLang="ko-KR"/>
              <a:t>KPI 8</a:t>
            </a:r>
            <a:r>
              <a:rPr lang="ko-KR" altLang="en-US"/>
              <a:t>월 진척 사항 </a:t>
            </a:r>
            <a:r>
              <a:rPr lang="en-US" altLang="ko-KR"/>
              <a:t>(4/5)</a:t>
            </a:r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94F8534-423D-7606-3701-E7D5419E190D}"/>
              </a:ext>
            </a:extLst>
          </p:cNvPr>
          <p:cNvSpPr txBox="1"/>
          <p:nvPr/>
        </p:nvSpPr>
        <p:spPr>
          <a:xfrm>
            <a:off x="4811437" y="6669360"/>
            <a:ext cx="409086" cy="16927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6 / 9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B9EFC25-5EF6-0ABC-2C97-F522E0DEBBBB}"/>
              </a:ext>
            </a:extLst>
          </p:cNvPr>
          <p:cNvGrpSpPr/>
          <p:nvPr/>
        </p:nvGrpSpPr>
        <p:grpSpPr>
          <a:xfrm>
            <a:off x="837894" y="3154197"/>
            <a:ext cx="4008771" cy="341334"/>
            <a:chOff x="961536" y="4488828"/>
            <a:chExt cx="4008771" cy="341334"/>
          </a:xfrm>
        </p:grpSpPr>
        <p:sp>
          <p:nvSpPr>
            <p:cNvPr id="42" name="제목 9">
              <a:extLst>
                <a:ext uri="{FF2B5EF4-FFF2-40B4-BE49-F238E27FC236}">
                  <a16:creationId xmlns:a16="http://schemas.microsoft.com/office/drawing/2014/main" id="{46324F6B-0D9A-7EB0-0FB8-DCBE75042EC9}"/>
                </a:ext>
              </a:extLst>
            </p:cNvPr>
            <p:cNvSpPr txBox="1">
              <a:spLocks/>
            </p:cNvSpPr>
            <p:nvPr/>
          </p:nvSpPr>
          <p:spPr>
            <a:xfrm>
              <a:off x="2577457" y="4488828"/>
              <a:ext cx="776928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진척사항</a:t>
              </a:r>
            </a:p>
          </p:txBody>
        </p:sp>
        <p:cxnSp>
          <p:nvCxnSpPr>
            <p:cNvPr id="66" name="직선 연결선 2">
              <a:extLst>
                <a:ext uri="{FF2B5EF4-FFF2-40B4-BE49-F238E27FC236}">
                  <a16:creationId xmlns:a16="http://schemas.microsoft.com/office/drawing/2014/main" id="{299D4D11-D7C2-7720-D51F-0A80508C546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61536" y="4830162"/>
              <a:ext cx="4008771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25ECA6BB-620A-80D5-1B0C-F41D0AD530CE}"/>
              </a:ext>
            </a:extLst>
          </p:cNvPr>
          <p:cNvGrpSpPr/>
          <p:nvPr/>
        </p:nvGrpSpPr>
        <p:grpSpPr>
          <a:xfrm>
            <a:off x="5139389" y="3161903"/>
            <a:ext cx="4553251" cy="333628"/>
            <a:chOff x="5152724" y="4496534"/>
            <a:chExt cx="4221222" cy="333628"/>
          </a:xfrm>
        </p:grpSpPr>
        <p:sp>
          <p:nvSpPr>
            <p:cNvPr id="73" name="제목 9">
              <a:extLst>
                <a:ext uri="{FF2B5EF4-FFF2-40B4-BE49-F238E27FC236}">
                  <a16:creationId xmlns:a16="http://schemas.microsoft.com/office/drawing/2014/main" id="{9D0FC34F-E67B-39C8-E239-02E93E444A99}"/>
                </a:ext>
              </a:extLst>
            </p:cNvPr>
            <p:cNvSpPr txBox="1">
              <a:spLocks/>
            </p:cNvSpPr>
            <p:nvPr/>
          </p:nvSpPr>
          <p:spPr>
            <a:xfrm>
              <a:off x="6885365" y="4496534"/>
              <a:ext cx="755940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향후 계획</a:t>
              </a:r>
            </a:p>
          </p:txBody>
        </p:sp>
        <p:cxnSp>
          <p:nvCxnSpPr>
            <p:cNvPr id="74" name="직선 연결선 2">
              <a:extLst>
                <a:ext uri="{FF2B5EF4-FFF2-40B4-BE49-F238E27FC236}">
                  <a16:creationId xmlns:a16="http://schemas.microsoft.com/office/drawing/2014/main" id="{74750666-AE3C-CA98-1296-BD0A0625E2B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52724" y="4830162"/>
              <a:ext cx="422122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75" name="Rectangle 4">
            <a:extLst>
              <a:ext uri="{FF2B5EF4-FFF2-40B4-BE49-F238E27FC236}">
                <a16:creationId xmlns:a16="http://schemas.microsoft.com/office/drawing/2014/main" id="{2B415859-F055-3EA8-D000-FF522ED9E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3235750"/>
            <a:ext cx="448035" cy="3337823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진척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사항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A70A152C-B13E-3E03-8234-71CAAE7C37E4}"/>
              </a:ext>
            </a:extLst>
          </p:cNvPr>
          <p:cNvCxnSpPr>
            <a:cxnSpLocks/>
          </p:cNvCxnSpPr>
          <p:nvPr/>
        </p:nvCxnSpPr>
        <p:spPr>
          <a:xfrm flipV="1">
            <a:off x="4997300" y="3383956"/>
            <a:ext cx="0" cy="320454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4">
            <a:extLst>
              <a:ext uri="{FF2B5EF4-FFF2-40B4-BE49-F238E27FC236}">
                <a16:creationId xmlns:a16="http://schemas.microsoft.com/office/drawing/2014/main" id="{DF44A85A-7B2D-C436-A4BA-D06BA1793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1510124"/>
            <a:ext cx="448035" cy="1679176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일정</a:t>
            </a: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78" name="표 77">
            <a:extLst>
              <a:ext uri="{FF2B5EF4-FFF2-40B4-BE49-F238E27FC236}">
                <a16:creationId xmlns:a16="http://schemas.microsoft.com/office/drawing/2014/main" id="{957A2B9C-E884-4AF7-1B36-D14748DE8282}"/>
              </a:ext>
            </a:extLst>
          </p:cNvPr>
          <p:cNvGraphicFramePr>
            <a:graphicFrameLocks noGrp="1"/>
          </p:cNvGraphicFramePr>
          <p:nvPr/>
        </p:nvGraphicFramePr>
        <p:xfrm>
          <a:off x="735048" y="1521549"/>
          <a:ext cx="8862108" cy="1658606"/>
        </p:xfrm>
        <a:graphic>
          <a:graphicData uri="http://schemas.openxmlformats.org/drawingml/2006/table">
            <a:tbl>
              <a:tblPr/>
              <a:tblGrid>
                <a:gridCol w="738509">
                  <a:extLst>
                    <a:ext uri="{9D8B030D-6E8A-4147-A177-3AD203B41FA5}">
                      <a16:colId xmlns:a16="http://schemas.microsoft.com/office/drawing/2014/main" val="17103252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58282284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574503571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90626201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61868030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86585972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14679234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741167305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2785851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7129914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8237442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867782548"/>
                    </a:ext>
                  </a:extLst>
                </a:gridCol>
              </a:tblGrid>
              <a:tr h="127781"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'26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7681"/>
                  </a:ext>
                </a:extLst>
              </a:tr>
              <a:tr h="1277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850938"/>
                  </a:ext>
                </a:extLst>
              </a:tr>
              <a:tr h="1384286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49617"/>
                  </a:ext>
                </a:extLst>
              </a:tr>
            </a:tbl>
          </a:graphicData>
        </a:graphic>
      </p:graphicFrame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175385EE-B383-14C7-9EE2-BB27BEA7E37E}"/>
              </a:ext>
            </a:extLst>
          </p:cNvPr>
          <p:cNvCxnSpPr>
            <a:cxnSpLocks/>
          </p:cNvCxnSpPr>
          <p:nvPr/>
        </p:nvCxnSpPr>
        <p:spPr>
          <a:xfrm>
            <a:off x="735048" y="2383072"/>
            <a:ext cx="6630767" cy="184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그룹 1">
            <a:extLst>
              <a:ext uri="{FF2B5EF4-FFF2-40B4-BE49-F238E27FC236}">
                <a16:creationId xmlns:a16="http://schemas.microsoft.com/office/drawing/2014/main" id="{D7033EB2-629E-98A7-0892-704F3B8E4829}"/>
              </a:ext>
            </a:extLst>
          </p:cNvPr>
          <p:cNvGrpSpPr/>
          <p:nvPr/>
        </p:nvGrpSpPr>
        <p:grpSpPr>
          <a:xfrm>
            <a:off x="6781669" y="1509607"/>
            <a:ext cx="205184" cy="1670547"/>
            <a:chOff x="2020628" y="1123354"/>
            <a:chExt cx="205184" cy="5005022"/>
          </a:xfrm>
        </p:grpSpPr>
        <p:grpSp>
          <p:nvGrpSpPr>
            <p:cNvPr id="81" name="그룹 2">
              <a:extLst>
                <a:ext uri="{FF2B5EF4-FFF2-40B4-BE49-F238E27FC236}">
                  <a16:creationId xmlns:a16="http://schemas.microsoft.com/office/drawing/2014/main" id="{94F5F18F-28FB-8129-2DBE-AF56CE104526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4550316"/>
              <a:chOff x="4167960" y="2510051"/>
              <a:chExt cx="120667" cy="4717070"/>
            </a:xfrm>
          </p:grpSpPr>
          <p:cxnSp>
            <p:nvCxnSpPr>
              <p:cNvPr id="83" name="직선 연결선 167">
                <a:extLst>
                  <a:ext uri="{FF2B5EF4-FFF2-40B4-BE49-F238E27FC236}">
                    <a16:creationId xmlns:a16="http://schemas.microsoft.com/office/drawing/2014/main" id="{B99A117E-2813-4B17-1EEF-BF5E868718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4541193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ysDot"/>
              </a:ln>
              <a:effectLst/>
            </p:spPr>
          </p:cxnSp>
          <p:sp>
            <p:nvSpPr>
              <p:cNvPr id="84" name="이등변 삼각형 7">
                <a:extLst>
                  <a:ext uri="{FF2B5EF4-FFF2-40B4-BE49-F238E27FC236}">
                    <a16:creationId xmlns:a16="http://schemas.microsoft.com/office/drawing/2014/main" id="{AADEEA59-FCEF-E613-6ABE-41F6A11DED67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endParaRPr>
              </a:p>
            </p:txBody>
          </p:sp>
        </p:grpSp>
        <p:sp>
          <p:nvSpPr>
            <p:cNvPr id="82" name="Text Box 4">
              <a:extLst>
                <a:ext uri="{FF2B5EF4-FFF2-40B4-BE49-F238E27FC236}">
                  <a16:creationId xmlns:a16="http://schemas.microsoft.com/office/drawing/2014/main" id="{1248FB49-14C6-B376-FA29-CB460583BD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4149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현재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grpSp>
        <p:nvGrpSpPr>
          <p:cNvPr id="85" name="그룹 1">
            <a:extLst>
              <a:ext uri="{FF2B5EF4-FFF2-40B4-BE49-F238E27FC236}">
                <a16:creationId xmlns:a16="http://schemas.microsoft.com/office/drawing/2014/main" id="{802CAB1A-06E3-C9D4-B61F-A78550700E7B}"/>
              </a:ext>
            </a:extLst>
          </p:cNvPr>
          <p:cNvGrpSpPr/>
          <p:nvPr/>
        </p:nvGrpSpPr>
        <p:grpSpPr>
          <a:xfrm>
            <a:off x="7263223" y="1484784"/>
            <a:ext cx="205184" cy="1639668"/>
            <a:chOff x="2020628" y="1123354"/>
            <a:chExt cx="205184" cy="4912508"/>
          </a:xfrm>
        </p:grpSpPr>
        <p:grpSp>
          <p:nvGrpSpPr>
            <p:cNvPr id="86" name="그룹 2">
              <a:extLst>
                <a:ext uri="{FF2B5EF4-FFF2-40B4-BE49-F238E27FC236}">
                  <a16:creationId xmlns:a16="http://schemas.microsoft.com/office/drawing/2014/main" id="{6687F896-ED2F-5437-E309-23939884110F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4457802"/>
              <a:chOff x="4167960" y="2510051"/>
              <a:chExt cx="120667" cy="4621165"/>
            </a:xfrm>
          </p:grpSpPr>
          <p:cxnSp>
            <p:nvCxnSpPr>
              <p:cNvPr id="88" name="직선 연결선 167">
                <a:extLst>
                  <a:ext uri="{FF2B5EF4-FFF2-40B4-BE49-F238E27FC236}">
                    <a16:creationId xmlns:a16="http://schemas.microsoft.com/office/drawing/2014/main" id="{56AAF637-764E-B1AC-6786-C76E4E819C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4445288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FF"/>
                </a:solidFill>
                <a:prstDash val="sysDot"/>
              </a:ln>
              <a:effectLst/>
            </p:spPr>
          </p:cxnSp>
          <p:sp>
            <p:nvSpPr>
              <p:cNvPr id="89" name="이등변 삼각형 7">
                <a:extLst>
                  <a:ext uri="{FF2B5EF4-FFF2-40B4-BE49-F238E27FC236}">
                    <a16:creationId xmlns:a16="http://schemas.microsoft.com/office/drawing/2014/main" id="{FEF78B34-71DB-947C-14C1-86AB536BFCCF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solidFill>
                  <a:srgbClr val="0000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endParaRPr>
              </a:p>
            </p:txBody>
          </p:sp>
        </p:grpSp>
        <p:sp>
          <p:nvSpPr>
            <p:cNvPr id="87" name="Text Box 4">
              <a:extLst>
                <a:ext uri="{FF2B5EF4-FFF2-40B4-BE49-F238E27FC236}">
                  <a16:creationId xmlns:a16="http://schemas.microsoft.com/office/drawing/2014/main" id="{7AB59A8C-9CE0-3385-B5E6-86D78AE9C6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4149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완료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sp>
        <p:nvSpPr>
          <p:cNvPr id="90" name="타원 89">
            <a:extLst>
              <a:ext uri="{FF2B5EF4-FFF2-40B4-BE49-F238E27FC236}">
                <a16:creationId xmlns:a16="http://schemas.microsoft.com/office/drawing/2014/main" id="{EAC7265A-0448-69D7-43DD-FF819795F0D4}"/>
              </a:ext>
            </a:extLst>
          </p:cNvPr>
          <p:cNvSpPr/>
          <p:nvPr/>
        </p:nvSpPr>
        <p:spPr>
          <a:xfrm>
            <a:off x="5673080" y="2303326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1F9A72F2-548E-1333-CD38-02701AF381FA}"/>
              </a:ext>
            </a:extLst>
          </p:cNvPr>
          <p:cNvSpPr/>
          <p:nvPr/>
        </p:nvSpPr>
        <p:spPr>
          <a:xfrm>
            <a:off x="7158683" y="2311072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7917FE07-4DBF-AB1B-633D-29C0B6B9B626}"/>
              </a:ext>
            </a:extLst>
          </p:cNvPr>
          <p:cNvSpPr/>
          <p:nvPr/>
        </p:nvSpPr>
        <p:spPr>
          <a:xfrm>
            <a:off x="3584864" y="2303326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30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3" name="TextBox 38">
            <a:extLst>
              <a:ext uri="{FF2B5EF4-FFF2-40B4-BE49-F238E27FC236}">
                <a16:creationId xmlns:a16="http://schemas.microsoft.com/office/drawing/2014/main" id="{A9F60A54-9A01-82F8-95EC-E6379CE17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3295" y="2574913"/>
            <a:ext cx="1719705" cy="366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1. COT,ROL </a:t>
            </a: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공정 대상 성능검증</a:t>
            </a:r>
            <a:endParaRPr kumimoji="1" lang="en-US" altLang="ko-KR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2. </a:t>
            </a: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정상</a:t>
            </a:r>
            <a: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</a:t>
            </a: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이상 구간 구분 알고리즘 고도화</a:t>
            </a:r>
            <a:endParaRPr kumimoji="1" lang="en-US" altLang="ko-KR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3. </a:t>
            </a: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주요인자 도출 알고리즘 고도화</a:t>
            </a:r>
            <a:endParaRPr kumimoji="1" lang="en-US" altLang="ko-KR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6A2E93D-8CDE-B67E-786B-2737C73C5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1905" y="2574913"/>
            <a:ext cx="1486350" cy="366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1. COT,ROL </a:t>
            </a: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외 공정 대상 성능검증</a:t>
            </a:r>
            <a:endParaRPr kumimoji="1" lang="en-US" altLang="ko-KR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2. </a:t>
            </a: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알고리즘 수정</a:t>
            </a:r>
            <a: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</a:t>
            </a: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고도화</a:t>
            </a:r>
            <a:endParaRPr kumimoji="1" lang="en-US" altLang="ko-KR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3. </a:t>
            </a: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모듈화 된 알고리즘 배포</a:t>
            </a:r>
            <a:endParaRPr kumimoji="1" lang="en-US" altLang="ko-KR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98" name="TextBox 38">
            <a:extLst>
              <a:ext uri="{FF2B5EF4-FFF2-40B4-BE49-F238E27FC236}">
                <a16:creationId xmlns:a16="http://schemas.microsoft.com/office/drawing/2014/main" id="{47EC6C99-1BBE-6754-FDEB-A82FE8FF8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4797" y="2568121"/>
            <a:ext cx="1505248" cy="23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1. FDC Code Space </a:t>
            </a: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개발환경 내 탑재 </a:t>
            </a:r>
            <a:endParaRPr kumimoji="1" lang="en-US" altLang="ko-KR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2. </a:t>
            </a: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추가 알고리즘 수정</a:t>
            </a:r>
            <a: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/</a:t>
            </a: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고도화</a:t>
            </a:r>
            <a:endParaRPr kumimoji="1" lang="en-US" altLang="ko-KR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929C7A87-549E-5FB3-11BE-4953389D0A28}"/>
              </a:ext>
            </a:extLst>
          </p:cNvPr>
          <p:cNvCxnSpPr>
            <a:cxnSpLocks/>
          </p:cNvCxnSpPr>
          <p:nvPr/>
        </p:nvCxnSpPr>
        <p:spPr>
          <a:xfrm flipV="1">
            <a:off x="4997300" y="3392194"/>
            <a:ext cx="0" cy="320454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85CD28AB-E184-1C10-F7A4-C25F028BF82C}"/>
              </a:ext>
            </a:extLst>
          </p:cNvPr>
          <p:cNvSpPr txBox="1"/>
          <p:nvPr/>
        </p:nvSpPr>
        <p:spPr>
          <a:xfrm>
            <a:off x="5123226" y="3497823"/>
            <a:ext cx="4648205" cy="692497"/>
          </a:xfrm>
          <a:prstGeom prst="rect">
            <a:avLst/>
          </a:prstGeom>
          <a:noFill/>
        </p:spPr>
        <p:txBody>
          <a:bodyPr wrap="square" lIns="33231" tIns="45720" rIns="33231" bIns="45720" rtlCol="0" anchor="t">
            <a:spAutoFit/>
          </a:bodyPr>
          <a:lstStyle/>
          <a:p>
            <a:pPr marL="163830" marR="0" lvl="0" indent="-163830" algn="l" defTabSz="844083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알고리즘 고도화 및 추가 성능 검증 진행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  <a:sym typeface="Wingdings" panose="05000000000000000000" pitchFamily="2" charset="2"/>
            </a:endParaRPr>
          </a:p>
          <a:p>
            <a:pPr marL="177800" marR="0" lvl="0" indent="-177800" algn="l" defTabSz="84408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  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-.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변수 추출 방법론 알고리즘 추가 검토하고 </a:t>
            </a:r>
            <a:r>
              <a:rPr kumimoji="1" lang="ko-KR" alt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타공정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(LAM/NND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등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)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사례 추가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  <a:sym typeface="Wingdings" panose="05000000000000000000" pitchFamily="2" charset="2"/>
              </a:rPr>
              <a:t>수집 후 알고리즘 간 성능 비교 예정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103" name="TextBox 137">
            <a:extLst>
              <a:ext uri="{FF2B5EF4-FFF2-40B4-BE49-F238E27FC236}">
                <a16:creationId xmlns:a16="http://schemas.microsoft.com/office/drawing/2014/main" id="{97B37A51-54AF-32BE-95A0-B98EC7E076DE}"/>
              </a:ext>
            </a:extLst>
          </p:cNvPr>
          <p:cNvSpPr txBox="1"/>
          <p:nvPr/>
        </p:nvSpPr>
        <p:spPr>
          <a:xfrm>
            <a:off x="816726" y="3479810"/>
            <a:ext cx="4136273" cy="1277273"/>
          </a:xfrm>
          <a:prstGeom prst="rect">
            <a:avLst/>
          </a:prstGeom>
          <a:noFill/>
        </p:spPr>
        <p:txBody>
          <a:bodyPr wrap="square" lIns="33231" tIns="45720" rIns="33231" bIns="45720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3830" marR="0" lvl="0" indent="-163830" algn="l" defTabSz="844083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AI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활용 치명인자 도출 자동화 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Agent 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개발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및 </a:t>
            </a:r>
            <a:r>
              <a:rPr kumimoji="1" lang="en-US" altLang="ko-KR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성능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1" lang="en-US" altLang="ko-KR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검증</a:t>
            </a:r>
            <a:endParaRPr kumimoji="1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  <a:p>
            <a:pPr marL="177800" marR="0" lvl="0" indent="-177800" algn="l" defTabSz="844083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  </a:t>
            </a:r>
            <a:r>
              <a:rPr lang="en-US" altLang="ko-KR" sz="1100">
                <a:solidFill>
                  <a:prstClr val="black"/>
                </a:solidFill>
                <a:latin typeface="Arial Narrow"/>
                <a:ea typeface="LG스마트체 Regular"/>
              </a:rPr>
              <a:t>-.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주요인자 도출 자동화를 통한 ‘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26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년 데이터 분석 업무 생산성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77%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개선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(‘25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년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70h → ‘26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년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16h)</a:t>
            </a:r>
          </a:p>
          <a:p>
            <a:pPr marL="177800" marR="0" lvl="0" indent="-177800" algn="l" defTabSz="844083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lang="en-US" altLang="ko-KR" sz="1100">
                <a:solidFill>
                  <a:prstClr val="black"/>
                </a:solidFill>
                <a:latin typeface="Arial Narrow"/>
                <a:ea typeface="LG스마트체 Regular"/>
              </a:rPr>
              <a:t>   -. </a:t>
            </a:r>
            <a:r>
              <a:rPr lang="ko-KR" altLang="en-US" sz="1100">
                <a:solidFill>
                  <a:prstClr val="black"/>
                </a:solidFill>
                <a:latin typeface="Arial Narrow"/>
                <a:ea typeface="LG스마트체 Regular"/>
              </a:rPr>
              <a:t>전극 공정</a:t>
            </a:r>
            <a:r>
              <a:rPr lang="en-US" altLang="ko-KR" sz="1100">
                <a:solidFill>
                  <a:prstClr val="black"/>
                </a:solidFill>
                <a:latin typeface="Arial Narrow"/>
                <a:ea typeface="LG스마트체 Regular"/>
              </a:rPr>
              <a:t>(</a:t>
            </a:r>
            <a:r>
              <a:rPr lang="ko-KR" altLang="en-US" sz="1100" err="1">
                <a:solidFill>
                  <a:prstClr val="black"/>
                </a:solidFill>
                <a:latin typeface="Arial Narrow"/>
                <a:ea typeface="LG스마트체 Regular"/>
              </a:rPr>
              <a:t>코터</a:t>
            </a:r>
            <a:r>
              <a:rPr lang="en-US" altLang="ko-KR" sz="1100">
                <a:solidFill>
                  <a:prstClr val="black"/>
                </a:solidFill>
                <a:latin typeface="Arial Narrow"/>
                <a:ea typeface="LG스마트체 Regular"/>
              </a:rPr>
              <a:t>/</a:t>
            </a:r>
            <a:r>
              <a:rPr lang="ko-KR" altLang="en-US" sz="1100">
                <a:solidFill>
                  <a:prstClr val="black"/>
                </a:solidFill>
                <a:latin typeface="Arial Narrow"/>
                <a:ea typeface="LG스마트체 Regular"/>
              </a:rPr>
              <a:t>롤프레스</a:t>
            </a:r>
            <a:r>
              <a:rPr lang="en-US" altLang="ko-KR" sz="1100">
                <a:solidFill>
                  <a:prstClr val="black"/>
                </a:solidFill>
                <a:latin typeface="Arial Narrow"/>
                <a:ea typeface="LG스마트체 Regular"/>
              </a:rPr>
              <a:t>)</a:t>
            </a:r>
            <a:r>
              <a:rPr lang="ko-KR" altLang="en-US" sz="1100">
                <a:solidFill>
                  <a:prstClr val="black"/>
                </a:solidFill>
                <a:latin typeface="Arial Narrow"/>
                <a:ea typeface="LG스마트체 Regular"/>
              </a:rPr>
              <a:t>와 조립</a:t>
            </a:r>
            <a:r>
              <a:rPr lang="en-US" altLang="ko-KR" sz="1100">
                <a:solidFill>
                  <a:prstClr val="black"/>
                </a:solidFill>
                <a:latin typeface="Arial Narrow"/>
                <a:ea typeface="LG스마트체 Regular"/>
              </a:rPr>
              <a:t>, </a:t>
            </a:r>
            <a:r>
              <a:rPr lang="ko-KR" altLang="en-US" sz="1100">
                <a:solidFill>
                  <a:prstClr val="black"/>
                </a:solidFill>
                <a:latin typeface="Arial Narrow"/>
                <a:ea typeface="LG스마트체 Regular"/>
              </a:rPr>
              <a:t>원통형 공정</a:t>
            </a:r>
            <a:r>
              <a:rPr lang="en-US" altLang="ko-KR" sz="1100">
                <a:solidFill>
                  <a:prstClr val="black"/>
                </a:solidFill>
                <a:latin typeface="Arial Narrow"/>
                <a:ea typeface="LG스마트체 Regular"/>
              </a:rPr>
              <a:t>(</a:t>
            </a:r>
            <a:r>
              <a:rPr lang="ko-KR" altLang="en-US" sz="1100" err="1">
                <a:solidFill>
                  <a:prstClr val="black"/>
                </a:solidFill>
                <a:latin typeface="Arial Narrow"/>
                <a:ea typeface="LG스마트체 Regular"/>
              </a:rPr>
              <a:t>라미네이션</a:t>
            </a:r>
            <a:r>
              <a:rPr lang="en-US" altLang="ko-KR" sz="1100">
                <a:solidFill>
                  <a:prstClr val="black"/>
                </a:solidFill>
                <a:latin typeface="Arial Narrow"/>
                <a:ea typeface="LG스마트체 Regular"/>
              </a:rPr>
              <a:t>, </a:t>
            </a:r>
            <a:r>
              <a:rPr lang="ko-KR" altLang="en-US" sz="1100">
                <a:solidFill>
                  <a:prstClr val="black"/>
                </a:solidFill>
                <a:latin typeface="Arial Narrow"/>
                <a:ea typeface="LG스마트체 Regular"/>
              </a:rPr>
              <a:t>원통형 등</a:t>
            </a:r>
            <a:r>
              <a:rPr lang="en-US" altLang="ko-KR" sz="1100">
                <a:solidFill>
                  <a:prstClr val="black"/>
                </a:solidFill>
                <a:latin typeface="Arial Narrow"/>
                <a:ea typeface="LG스마트체 Regular"/>
              </a:rPr>
              <a:t>)</a:t>
            </a:r>
            <a:r>
              <a:rPr lang="ko-KR" altLang="en-US" sz="1100">
                <a:solidFill>
                  <a:prstClr val="black"/>
                </a:solidFill>
                <a:latin typeface="Arial Narrow"/>
                <a:ea typeface="LG스마트체 Regular"/>
              </a:rPr>
              <a:t>의 사례 성능평가를 통해 주요인자 도출 성능을 검증하였고 추가 개선을 위한 신규 알고리즘</a:t>
            </a:r>
            <a:r>
              <a:rPr lang="en-US" altLang="ko-KR" sz="110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ko-KR" altLang="en-US" sz="1100">
                <a:solidFill>
                  <a:prstClr val="black"/>
                </a:solidFill>
                <a:latin typeface="Arial Narrow"/>
                <a:ea typeface="LG스마트체 Regular"/>
              </a:rPr>
              <a:t>검토 및 데이터 </a:t>
            </a:r>
            <a:r>
              <a:rPr lang="ko-KR" altLang="en-US" sz="1100" err="1">
                <a:solidFill>
                  <a:prstClr val="black"/>
                </a:solidFill>
                <a:latin typeface="Arial Narrow"/>
                <a:ea typeface="LG스마트체 Regular"/>
              </a:rPr>
              <a:t>전처리</a:t>
            </a:r>
            <a:r>
              <a:rPr lang="en-US" altLang="ko-KR" sz="1100">
                <a:solidFill>
                  <a:prstClr val="black"/>
                </a:solidFill>
                <a:latin typeface="Arial Narrow"/>
                <a:ea typeface="LG스마트체 Regular"/>
              </a:rPr>
              <a:t> </a:t>
            </a:r>
            <a:r>
              <a:rPr lang="ko-KR" altLang="en-US" sz="1100">
                <a:solidFill>
                  <a:prstClr val="black"/>
                </a:solidFill>
                <a:latin typeface="Arial Narrow"/>
                <a:ea typeface="LG스마트체 Regular"/>
              </a:rPr>
              <a:t>과정을 자동화</a:t>
            </a:r>
            <a:r>
              <a:rPr lang="en-US" altLang="ko-KR" sz="1100">
                <a:solidFill>
                  <a:prstClr val="black"/>
                </a:solidFill>
                <a:latin typeface="Arial Narrow"/>
                <a:ea typeface="LG스마트체 Regular"/>
              </a:rPr>
              <a:t>/</a:t>
            </a:r>
            <a:r>
              <a:rPr lang="ko-KR" altLang="en-US" sz="1100">
                <a:solidFill>
                  <a:prstClr val="black"/>
                </a:solidFill>
                <a:latin typeface="Arial Narrow"/>
                <a:ea typeface="LG스마트체 Regular"/>
              </a:rPr>
              <a:t>고도화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965B838-32FA-D66D-4831-9CCB95DAD795}"/>
              </a:ext>
            </a:extLst>
          </p:cNvPr>
          <p:cNvSpPr txBox="1"/>
          <p:nvPr/>
        </p:nvSpPr>
        <p:spPr>
          <a:xfrm>
            <a:off x="1094883" y="4092812"/>
            <a:ext cx="1560178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177800" indent="-177800" fontAlgn="ctr">
              <a:lnSpc>
                <a:spcPct val="100000"/>
              </a:lnSpc>
              <a:defRPr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/>
              <a:t>91.6%(22/24</a:t>
            </a:r>
            <a:r>
              <a:rPr lang="ko-KR" altLang="en-US"/>
              <a:t>건</a:t>
            </a:r>
            <a:r>
              <a:rPr lang="en-US" altLang="ko-KR"/>
              <a:t>)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0666205-A603-8909-F64F-D3DB92F39F46}"/>
              </a:ext>
            </a:extLst>
          </p:cNvPr>
          <p:cNvSpPr txBox="1"/>
          <p:nvPr/>
        </p:nvSpPr>
        <p:spPr>
          <a:xfrm>
            <a:off x="2588094" y="4092812"/>
            <a:ext cx="1560178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177800" indent="-177800" fontAlgn="ctr">
              <a:lnSpc>
                <a:spcPct val="100000"/>
              </a:lnSpc>
              <a:defRPr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/>
              <a:t>67%(19/28</a:t>
            </a:r>
            <a:r>
              <a:rPr lang="ko-KR" altLang="en-US"/>
              <a:t>건</a:t>
            </a:r>
            <a:r>
              <a:rPr lang="en-US" altLang="ko-KR"/>
              <a:t>)</a:t>
            </a:r>
          </a:p>
        </p:txBody>
      </p:sp>
      <p:graphicFrame>
        <p:nvGraphicFramePr>
          <p:cNvPr id="106" name="표 105">
            <a:extLst>
              <a:ext uri="{FF2B5EF4-FFF2-40B4-BE49-F238E27FC236}">
                <a16:creationId xmlns:a16="http://schemas.microsoft.com/office/drawing/2014/main" id="{A7D5843F-1B51-1BAF-7C48-FAFC09C22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237664"/>
              </p:ext>
            </p:extLst>
          </p:nvPr>
        </p:nvGraphicFramePr>
        <p:xfrm>
          <a:off x="956850" y="5854642"/>
          <a:ext cx="399573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575">
                  <a:extLst>
                    <a:ext uri="{9D8B030D-6E8A-4147-A177-3AD203B41FA5}">
                      <a16:colId xmlns:a16="http://schemas.microsoft.com/office/drawing/2014/main" val="1007943999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49478815"/>
                    </a:ext>
                  </a:extLst>
                </a:gridCol>
                <a:gridCol w="2609850">
                  <a:extLst>
                    <a:ext uri="{9D8B030D-6E8A-4147-A177-3AD203B41FA5}">
                      <a16:colId xmlns:a16="http://schemas.microsoft.com/office/drawing/2014/main" val="2717024150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7203646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구분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알고리즘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선정이유</a:t>
                      </a:r>
                      <a:endParaRPr lang="en-US" altLang="ko-KR" sz="8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검증결과</a:t>
                      </a:r>
                      <a:endParaRPr lang="en-US" altLang="ko-KR" sz="800" b="1" kern="12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871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기존</a:t>
                      </a:r>
                      <a:endParaRPr lang="en-US" altLang="ko-KR" sz="8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Boruta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현재 사용중인 알고리즘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2/3 (66%)</a:t>
                      </a:r>
                      <a:endParaRPr lang="ko-KR" altLang="en-US" sz="800"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0872897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신규 </a:t>
                      </a:r>
                      <a:endParaRPr lang="en-US" altLang="ko-KR" sz="8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알고리즘</a:t>
                      </a:r>
                      <a:endParaRPr lang="en-US" altLang="ko-KR" sz="8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Leshy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Boruta</a:t>
                      </a:r>
                      <a:r>
                        <a:rPr lang="ko-KR" altLang="en-US" sz="80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와 가장 유사한 구조의 알고리즘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2/3 (66%)</a:t>
                      </a:r>
                      <a:endParaRPr lang="ko-KR" altLang="en-US" sz="800"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99383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mRMR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특정 모델에 의존하지 않고</a:t>
                      </a:r>
                      <a:r>
                        <a:rPr lang="en-US" altLang="ko-KR" sz="80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80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통계적인 방법을 통해 계산을 진행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3/3 (100%)</a:t>
                      </a:r>
                      <a:endParaRPr lang="ko-KR" altLang="en-US" sz="800"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82952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GrootCV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가장 보수적인 방법으로 교차검증을 진행하며 계산하는 알고리즘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0/3 (0%)</a:t>
                      </a:r>
                      <a:endParaRPr lang="ko-KR" altLang="en-US" sz="800"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64782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BoostAGroota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비선형성</a:t>
                      </a:r>
                      <a:r>
                        <a:rPr lang="en-US" altLang="ko-KR" sz="80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800" err="1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다중공선성이</a:t>
                      </a:r>
                      <a:r>
                        <a:rPr lang="ko-KR" altLang="en-US" sz="80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있는 데이터에 강건한 알고리즘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3/3 (100%)</a:t>
                      </a:r>
                      <a:endParaRPr lang="ko-KR" altLang="en-US" sz="800"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417436"/>
                  </a:ext>
                </a:extLst>
              </a:tr>
            </a:tbl>
          </a:graphicData>
        </a:graphic>
      </p:graphicFrame>
      <p:sp>
        <p:nvSpPr>
          <p:cNvPr id="108" name="TextBox 107">
            <a:extLst>
              <a:ext uri="{FF2B5EF4-FFF2-40B4-BE49-F238E27FC236}">
                <a16:creationId xmlns:a16="http://schemas.microsoft.com/office/drawing/2014/main" id="{E6A64598-328B-DC85-3853-0ACA0C0681A7}"/>
              </a:ext>
            </a:extLst>
          </p:cNvPr>
          <p:cNvSpPr txBox="1"/>
          <p:nvPr/>
        </p:nvSpPr>
        <p:spPr>
          <a:xfrm>
            <a:off x="837894" y="5620304"/>
            <a:ext cx="29513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■ </a:t>
            </a: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주요인자도출 신규 알고리즘 비교분석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ED1B0FC8-3DDF-C6D7-4B38-3421C304A3BD}"/>
              </a:ext>
            </a:extLst>
          </p:cNvPr>
          <p:cNvSpPr/>
          <p:nvPr/>
        </p:nvSpPr>
        <p:spPr>
          <a:xfrm>
            <a:off x="1130635" y="4992889"/>
            <a:ext cx="1185699" cy="242609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변수 제거 후보 추천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9F703987-75F8-F1C6-B35B-52D2CE660911}"/>
              </a:ext>
            </a:extLst>
          </p:cNvPr>
          <p:cNvSpPr/>
          <p:nvPr/>
        </p:nvSpPr>
        <p:spPr>
          <a:xfrm>
            <a:off x="2448761" y="5002654"/>
            <a:ext cx="1185700" cy="242609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사용자</a:t>
            </a:r>
            <a:endParaRPr lang="en-US" altLang="ko-KR" sz="90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9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최종 변수 선택</a:t>
            </a: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DCD99240-F374-EEFB-E5FD-F705156D36E0}"/>
              </a:ext>
            </a:extLst>
          </p:cNvPr>
          <p:cNvSpPr/>
          <p:nvPr/>
        </p:nvSpPr>
        <p:spPr>
          <a:xfrm>
            <a:off x="3766888" y="4998679"/>
            <a:ext cx="1185699" cy="250557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변수유형과 관계없이</a:t>
            </a:r>
            <a:endParaRPr lang="en-US" altLang="ko-KR" sz="90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9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동일한 통계량을 적용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A1D3FE73-B259-F4A6-2CEB-12A24B83CC72}"/>
              </a:ext>
            </a:extLst>
          </p:cNvPr>
          <p:cNvSpPr/>
          <p:nvPr/>
        </p:nvSpPr>
        <p:spPr>
          <a:xfrm>
            <a:off x="1130635" y="5326118"/>
            <a:ext cx="1185699" cy="242609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변수 </a:t>
            </a:r>
            <a:r>
              <a:rPr lang="ko-KR" altLang="en-US" sz="90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유형 세분화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BE4A3B8C-35DC-05EC-D9D0-57CE52A4DD0A}"/>
              </a:ext>
            </a:extLst>
          </p:cNvPr>
          <p:cNvSpPr/>
          <p:nvPr/>
        </p:nvSpPr>
        <p:spPr>
          <a:xfrm>
            <a:off x="2448762" y="5326118"/>
            <a:ext cx="1185699" cy="242609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변수제거 </a:t>
            </a:r>
            <a:r>
              <a:rPr lang="ko-KR" altLang="en-US" sz="90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자동화</a:t>
            </a: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EE7A9039-2BAB-9836-44A8-262C858A97A8}"/>
              </a:ext>
            </a:extLst>
          </p:cNvPr>
          <p:cNvSpPr/>
          <p:nvPr/>
        </p:nvSpPr>
        <p:spPr>
          <a:xfrm>
            <a:off x="3766889" y="5316613"/>
            <a:ext cx="1185699" cy="250557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>
                <a:solidFill>
                  <a:srgbClr val="0000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변수 유형에 따른 </a:t>
            </a:r>
            <a:endParaRPr lang="en-US" altLang="ko-KR" sz="90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9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세분화 된 통계량 적용</a:t>
            </a:r>
          </a:p>
        </p:txBody>
      </p:sp>
      <p:sp>
        <p:nvSpPr>
          <p:cNvPr id="116" name="화살표: 오른쪽 115">
            <a:extLst>
              <a:ext uri="{FF2B5EF4-FFF2-40B4-BE49-F238E27FC236}">
                <a16:creationId xmlns:a16="http://schemas.microsoft.com/office/drawing/2014/main" id="{65A4033F-E5A7-0631-B686-B28C23A723D3}"/>
              </a:ext>
            </a:extLst>
          </p:cNvPr>
          <p:cNvSpPr/>
          <p:nvPr/>
        </p:nvSpPr>
        <p:spPr>
          <a:xfrm>
            <a:off x="2348097" y="5029510"/>
            <a:ext cx="75548" cy="188894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17" name="Rectangle 2">
            <a:extLst>
              <a:ext uri="{FF2B5EF4-FFF2-40B4-BE49-F238E27FC236}">
                <a16:creationId xmlns:a16="http://schemas.microsoft.com/office/drawing/2014/main" id="{FB6328DB-14E0-FD87-F00F-B77B475B4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861" y="5071663"/>
            <a:ext cx="766159" cy="787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0676" tIns="30676" rIns="30676" bIns="30676" anchor="ctr">
            <a:spAutoFit/>
          </a:bodyPr>
          <a:lstStyle/>
          <a:p>
            <a:pPr algn="ctr" defTabSz="844084">
              <a:spcBef>
                <a:spcPct val="50000"/>
              </a:spcBef>
              <a:defRPr/>
            </a:pPr>
            <a:r>
              <a:rPr lang="en-US" altLang="ko-KR" sz="700" b="1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As-was</a:t>
            </a:r>
          </a:p>
        </p:txBody>
      </p:sp>
      <p:sp>
        <p:nvSpPr>
          <p:cNvPr id="118" name="Rectangle 2">
            <a:extLst>
              <a:ext uri="{FF2B5EF4-FFF2-40B4-BE49-F238E27FC236}">
                <a16:creationId xmlns:a16="http://schemas.microsoft.com/office/drawing/2014/main" id="{1C97E05C-F71B-D7E8-D3ED-9D0E417E4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860" y="5396501"/>
            <a:ext cx="766159" cy="787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0676" tIns="30676" rIns="30676" bIns="30676" anchor="ctr">
            <a:spAutoFit/>
          </a:bodyPr>
          <a:lstStyle/>
          <a:p>
            <a:pPr algn="ctr" defTabSz="844084">
              <a:spcBef>
                <a:spcPct val="50000"/>
              </a:spcBef>
              <a:defRPr/>
            </a:pPr>
            <a:r>
              <a:rPr lang="en-US" altLang="ko-KR" sz="700" b="1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As-is</a:t>
            </a:r>
          </a:p>
        </p:txBody>
      </p:sp>
      <p:sp>
        <p:nvSpPr>
          <p:cNvPr id="119" name="화살표: 오른쪽 118">
            <a:extLst>
              <a:ext uri="{FF2B5EF4-FFF2-40B4-BE49-F238E27FC236}">
                <a16:creationId xmlns:a16="http://schemas.microsoft.com/office/drawing/2014/main" id="{6D79CF4E-3F07-1D6C-FCCD-3F66FBBC754F}"/>
              </a:ext>
            </a:extLst>
          </p:cNvPr>
          <p:cNvSpPr/>
          <p:nvPr/>
        </p:nvSpPr>
        <p:spPr>
          <a:xfrm rot="5400000">
            <a:off x="867211" y="5211489"/>
            <a:ext cx="174840" cy="127674"/>
          </a:xfrm>
          <a:prstGeom prst="rightArrow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20" name="화살표: 오른쪽 119">
            <a:extLst>
              <a:ext uri="{FF2B5EF4-FFF2-40B4-BE49-F238E27FC236}">
                <a16:creationId xmlns:a16="http://schemas.microsoft.com/office/drawing/2014/main" id="{5C34BDB3-F0AF-F869-7455-CCC6268304A1}"/>
              </a:ext>
            </a:extLst>
          </p:cNvPr>
          <p:cNvSpPr/>
          <p:nvPr/>
        </p:nvSpPr>
        <p:spPr>
          <a:xfrm>
            <a:off x="3663753" y="5029510"/>
            <a:ext cx="75548" cy="188894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21" name="화살표: 오른쪽 120">
            <a:extLst>
              <a:ext uri="{FF2B5EF4-FFF2-40B4-BE49-F238E27FC236}">
                <a16:creationId xmlns:a16="http://schemas.microsoft.com/office/drawing/2014/main" id="{A54EEF36-9164-4D25-EC9C-A13C281A94BE}"/>
              </a:ext>
            </a:extLst>
          </p:cNvPr>
          <p:cNvSpPr/>
          <p:nvPr/>
        </p:nvSpPr>
        <p:spPr>
          <a:xfrm>
            <a:off x="3663753" y="5347444"/>
            <a:ext cx="75548" cy="188894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22" name="화살표: 오른쪽 121">
            <a:extLst>
              <a:ext uri="{FF2B5EF4-FFF2-40B4-BE49-F238E27FC236}">
                <a16:creationId xmlns:a16="http://schemas.microsoft.com/office/drawing/2014/main" id="{6A282FDB-7F3E-FC9D-062B-300CE90E8BA7}"/>
              </a:ext>
            </a:extLst>
          </p:cNvPr>
          <p:cNvSpPr/>
          <p:nvPr/>
        </p:nvSpPr>
        <p:spPr>
          <a:xfrm>
            <a:off x="2348097" y="5347444"/>
            <a:ext cx="75548" cy="188894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0F648F80-80D8-4992-CF4A-EB03F26334B2}"/>
              </a:ext>
            </a:extLst>
          </p:cNvPr>
          <p:cNvSpPr txBox="1"/>
          <p:nvPr/>
        </p:nvSpPr>
        <p:spPr>
          <a:xfrm>
            <a:off x="837894" y="4772804"/>
            <a:ext cx="29513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■ </a:t>
            </a: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데이터 </a:t>
            </a:r>
            <a:r>
              <a:rPr kumimoji="0" lang="ko-KR" altLang="en-US" sz="10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전처리</a:t>
            </a: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과정 자동화</a:t>
            </a: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고도화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43F058C-4B0E-86D7-6104-F47E67481FC7}"/>
              </a:ext>
            </a:extLst>
          </p:cNvPr>
          <p:cNvGrpSpPr/>
          <p:nvPr/>
        </p:nvGrpSpPr>
        <p:grpSpPr>
          <a:xfrm>
            <a:off x="7758397" y="114985"/>
            <a:ext cx="1781744" cy="604476"/>
            <a:chOff x="4232920" y="49957"/>
            <a:chExt cx="1781744" cy="604476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186A5C85-9492-201F-9F9F-6DAC190EEC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35C4D15-F5C3-7F69-7164-BF7E6CA71039}"/>
                </a:ext>
              </a:extLst>
            </p:cNvPr>
            <p:cNvSpPr txBox="1"/>
            <p:nvPr/>
          </p:nvSpPr>
          <p:spPr>
            <a:xfrm>
              <a:off x="4458469" y="52657"/>
              <a:ext cx="1276953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초과 달성 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(5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점 기준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74F16536-14E6-0736-0300-C747A4FA2E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351CF8C-FB00-4092-279C-8027CFFE12A3}"/>
                </a:ext>
              </a:extLst>
            </p:cNvPr>
            <p:cNvSpPr txBox="1"/>
            <p:nvPr/>
          </p:nvSpPr>
          <p:spPr>
            <a:xfrm>
              <a:off x="4458469" y="477133"/>
              <a:ext cx="155619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미달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53EF3C99-984A-ADB2-70CF-77EA657403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02FF141-32E4-6C06-7BA3-59EEB20E49D3}"/>
                </a:ext>
              </a:extLst>
            </p:cNvPr>
            <p:cNvSpPr txBox="1"/>
            <p:nvPr/>
          </p:nvSpPr>
          <p:spPr>
            <a:xfrm>
              <a:off x="4458469" y="264895"/>
              <a:ext cx="137473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달성 수준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514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표 20"/>
          <p:cNvGraphicFramePr>
            <a:graphicFrameLocks noGrp="1"/>
          </p:cNvGraphicFramePr>
          <p:nvPr/>
        </p:nvGraphicFramePr>
        <p:xfrm>
          <a:off x="735049" y="761673"/>
          <a:ext cx="8862107" cy="702000"/>
        </p:xfrm>
        <a:graphic>
          <a:graphicData uri="http://schemas.openxmlformats.org/drawingml/2006/table">
            <a:tbl>
              <a:tblPr/>
              <a:tblGrid>
                <a:gridCol w="239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0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375">
                  <a:extLst>
                    <a:ext uri="{9D8B030D-6E8A-4147-A177-3AD203B41FA5}">
                      <a16:colId xmlns:a16="http://schemas.microsoft.com/office/drawing/2014/main" val="2961269463"/>
                    </a:ext>
                  </a:extLst>
                </a:gridCol>
                <a:gridCol w="7330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KPI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’26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년 분기목표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(</a:t>
                      </a: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연간목표</a:t>
                      </a:r>
                      <a:r>
                        <a:rPr kumimoji="0" lang="en-US" altLang="ko-KR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)</a:t>
                      </a:r>
                      <a:endParaRPr kumimoji="0" lang="ko-KR" altLang="en-US" sz="1000" b="1" i="0" u="none" strike="noStrike" cap="none" spc="-7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비중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spc="-7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상태</a:t>
                      </a:r>
                    </a:p>
                  </a:txBody>
                  <a:tcPr marL="10800" marR="10800" marT="10800" marB="108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AX </a:t>
                      </a:r>
                      <a:r>
                        <a:rPr lang="ko-KR" altLang="en-US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실행 가속화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(FDC </a:t>
                      </a:r>
                      <a:r>
                        <a:rPr lang="ko-KR" altLang="en-US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사전 예측을 위한 모델링 검증 환경 구축</a:t>
                      </a:r>
                      <a:r>
                        <a:rPr lang="en-US" altLang="ko-KR" sz="10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-. </a:t>
                      </a:r>
                      <a:r>
                        <a:rPr kumimoji="1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Arial"/>
                        </a:rPr>
                        <a:t>[3</a:t>
                      </a:r>
                      <a:r>
                        <a:rPr lang="en-US" altLang="ko-KR" sz="1000" b="1" kern="1200" spc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Q </a:t>
                      </a:r>
                      <a:r>
                        <a:rPr lang="ko-KR" altLang="en-US" sz="1000" b="1" kern="1200" spc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목표</a:t>
                      </a:r>
                      <a:r>
                        <a:rPr lang="en-US" altLang="ko-KR" sz="1000" b="1" kern="1200" spc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]</a:t>
                      </a:r>
                      <a:r>
                        <a:rPr kumimoji="1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모델링 검증 환경 구축 및 고도화 </a:t>
                      </a:r>
                      <a:endParaRPr kumimoji="1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0">
                          <a:solidFill>
                            <a:srgbClr val="006600"/>
                          </a:solidFill>
                          <a:latin typeface="Arial Narrow"/>
                          <a:ea typeface="LG스마트체 Regular"/>
                          <a:cs typeface="+mn-cs"/>
                        </a:rPr>
                        <a:t>※ </a:t>
                      </a: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/>
                          <a:ea typeface="LG스마트체 Regular"/>
                        </a:rPr>
                        <a:t>Q : </a:t>
                      </a:r>
                      <a:r>
                        <a:rPr lang="ko-KR" altLang="en-US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/>
                          <a:ea typeface="LG스마트체 Regular"/>
                        </a:rPr>
                        <a:t>이상감지 적확도 </a:t>
                      </a: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/>
                          <a:ea typeface="LG스마트체 Regular"/>
                        </a:rPr>
                        <a:t>20% </a:t>
                      </a:r>
                      <a:r>
                        <a:rPr lang="ko-KR" altLang="en-US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/>
                          <a:ea typeface="LG스마트체 Regular"/>
                        </a:rPr>
                        <a:t>개선 </a:t>
                      </a: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/>
                          <a:ea typeface="LG스마트체 Regular"/>
                        </a:rPr>
                        <a:t>[</a:t>
                      </a:r>
                      <a:r>
                        <a:rPr lang="ko-KR" altLang="en-US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/>
                          <a:ea typeface="LG스마트체 Regular"/>
                        </a:rPr>
                        <a:t>연목표</a:t>
                      </a: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/>
                          <a:ea typeface="LG스마트체 Regular"/>
                        </a:rPr>
                        <a:t>]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D:’26.9</a:t>
                      </a:r>
                      <a:r>
                        <a:rPr lang="ko-KR" altLang="en-US" sz="10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5%(</a:t>
                      </a:r>
                      <a:r>
                        <a:rPr lang="ko-KR" altLang="en-US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담당</a:t>
                      </a:r>
                      <a:r>
                        <a:rPr lang="en-US" altLang="ko-KR" sz="1000" b="1" i="0" u="none" strike="noStrike" spc="-7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itchFamily="34" charset="0"/>
                        </a:rPr>
                        <a:t>)</a:t>
                      </a:r>
                      <a:endParaRPr lang="en-US" sz="1000" b="1" i="0" u="none" strike="noStrike" spc="-7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endParaRPr lang="en-US" sz="1000" b="0" i="0" u="none" strike="noStrike" spc="-7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itchFamily="34" charset="0"/>
                      </a:endParaRPr>
                    </a:p>
                  </a:txBody>
                  <a:tcPr marL="8792" marR="8792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200471" y="761674"/>
            <a:ext cx="448035" cy="70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endParaRPr kumimoji="1" lang="en-US" altLang="ko-KR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0" name="실행 단추: 처음으로 이동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44DB1CA9-9202-D097-7905-296CFF89E4E1}"/>
              </a:ext>
            </a:extLst>
          </p:cNvPr>
          <p:cNvSpPr/>
          <p:nvPr/>
        </p:nvSpPr>
        <p:spPr>
          <a:xfrm>
            <a:off x="9597155" y="68805"/>
            <a:ext cx="174277" cy="220868"/>
          </a:xfrm>
          <a:prstGeom prst="actionButtonBeginning">
            <a:avLst/>
          </a:prstGeom>
          <a:solidFill>
            <a:sysClr val="window" lastClr="FFFFFF">
              <a:lumMod val="7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8A77B7-80D7-4D91-6BCB-20864FC79574}"/>
              </a:ext>
            </a:extLst>
          </p:cNvPr>
          <p:cNvSpPr txBox="1"/>
          <p:nvPr/>
        </p:nvSpPr>
        <p:spPr>
          <a:xfrm>
            <a:off x="4811437" y="6669360"/>
            <a:ext cx="409086" cy="16927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7 / 9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C69937C-6CD4-8D16-151E-2D8F5D2A14E7}"/>
              </a:ext>
            </a:extLst>
          </p:cNvPr>
          <p:cNvSpPr>
            <a:spLocks noChangeAspect="1"/>
          </p:cNvSpPr>
          <p:nvPr/>
        </p:nvSpPr>
        <p:spPr>
          <a:xfrm>
            <a:off x="9170951" y="1140724"/>
            <a:ext cx="180000" cy="180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-3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" name="제목 3">
            <a:extLst>
              <a:ext uri="{FF2B5EF4-FFF2-40B4-BE49-F238E27FC236}">
                <a16:creationId xmlns:a16="http://schemas.microsoft.com/office/drawing/2014/main" id="{0757C9C2-FDA6-B5D9-DCC4-388D2F81A202}"/>
              </a:ext>
            </a:extLst>
          </p:cNvPr>
          <p:cNvSpPr txBox="1">
            <a:spLocks/>
          </p:cNvSpPr>
          <p:nvPr/>
        </p:nvSpPr>
        <p:spPr>
          <a:xfrm>
            <a:off x="134567" y="116449"/>
            <a:ext cx="2531003" cy="369332"/>
          </a:xfrm>
          <a:prstGeom prst="rect">
            <a:avLst/>
          </a:prstGeo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kumimoji="0" lang="ko-KR" altLang="en-US" sz="1800" b="1" kern="0" baseline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</a:lstStyle>
          <a:p>
            <a:pPr algn="l"/>
            <a:r>
              <a:rPr lang="en-US" altLang="ko-KR"/>
              <a:t>2.</a:t>
            </a:r>
            <a:r>
              <a:rPr lang="ko-KR" altLang="en-US"/>
              <a:t> </a:t>
            </a:r>
            <a:r>
              <a:rPr lang="en-US" altLang="ko-KR"/>
              <a:t>KPI 8</a:t>
            </a:r>
            <a:r>
              <a:rPr lang="ko-KR" altLang="en-US"/>
              <a:t>월 진척 사항 </a:t>
            </a:r>
            <a:r>
              <a:rPr lang="en-US" altLang="ko-KR"/>
              <a:t>(5/5)</a:t>
            </a:r>
            <a:endParaRPr lang="ko-KR" altLang="en-US"/>
          </a:p>
        </p:txBody>
      </p:sp>
      <p:sp>
        <p:nvSpPr>
          <p:cNvPr id="73" name="Rectangle 4">
            <a:extLst>
              <a:ext uri="{FF2B5EF4-FFF2-40B4-BE49-F238E27FC236}">
                <a16:creationId xmlns:a16="http://schemas.microsoft.com/office/drawing/2014/main" id="{ABB02215-8C14-0CC7-0392-C1BA25221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1510124"/>
            <a:ext cx="448035" cy="1679176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일정</a:t>
            </a: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96E1A92D-2925-5660-AFC1-37FE975CF109}"/>
              </a:ext>
            </a:extLst>
          </p:cNvPr>
          <p:cNvGrpSpPr/>
          <p:nvPr/>
        </p:nvGrpSpPr>
        <p:grpSpPr>
          <a:xfrm>
            <a:off x="839581" y="3310812"/>
            <a:ext cx="4008771" cy="341334"/>
            <a:chOff x="961536" y="4488828"/>
            <a:chExt cx="4008771" cy="341334"/>
          </a:xfrm>
        </p:grpSpPr>
        <p:sp>
          <p:nvSpPr>
            <p:cNvPr id="75" name="제목 9">
              <a:extLst>
                <a:ext uri="{FF2B5EF4-FFF2-40B4-BE49-F238E27FC236}">
                  <a16:creationId xmlns:a16="http://schemas.microsoft.com/office/drawing/2014/main" id="{4160052A-4765-2A5A-8947-7942443F5414}"/>
                </a:ext>
              </a:extLst>
            </p:cNvPr>
            <p:cNvSpPr txBox="1">
              <a:spLocks/>
            </p:cNvSpPr>
            <p:nvPr/>
          </p:nvSpPr>
          <p:spPr>
            <a:xfrm>
              <a:off x="2577457" y="4488828"/>
              <a:ext cx="776928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진척사항</a:t>
              </a:r>
            </a:p>
          </p:txBody>
        </p:sp>
        <p:cxnSp>
          <p:nvCxnSpPr>
            <p:cNvPr id="76" name="직선 연결선 2">
              <a:extLst>
                <a:ext uri="{FF2B5EF4-FFF2-40B4-BE49-F238E27FC236}">
                  <a16:creationId xmlns:a16="http://schemas.microsoft.com/office/drawing/2014/main" id="{C0A3023E-F9A9-2B77-3940-1D9F56D73A0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61536" y="4830162"/>
              <a:ext cx="4008771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04289E0A-D3EA-4C2D-F1F2-111C04A2ADEF}"/>
              </a:ext>
            </a:extLst>
          </p:cNvPr>
          <p:cNvGrpSpPr/>
          <p:nvPr/>
        </p:nvGrpSpPr>
        <p:grpSpPr>
          <a:xfrm>
            <a:off x="5141076" y="3318518"/>
            <a:ext cx="4553251" cy="333628"/>
            <a:chOff x="5152724" y="4496534"/>
            <a:chExt cx="4221222" cy="333628"/>
          </a:xfrm>
        </p:grpSpPr>
        <p:sp>
          <p:nvSpPr>
            <p:cNvPr id="78" name="제목 9">
              <a:extLst>
                <a:ext uri="{FF2B5EF4-FFF2-40B4-BE49-F238E27FC236}">
                  <a16:creationId xmlns:a16="http://schemas.microsoft.com/office/drawing/2014/main" id="{301A3AF9-73E7-2EE3-F3E0-E7FE5083095D}"/>
                </a:ext>
              </a:extLst>
            </p:cNvPr>
            <p:cNvSpPr txBox="1">
              <a:spLocks/>
            </p:cNvSpPr>
            <p:nvPr/>
          </p:nvSpPr>
          <p:spPr>
            <a:xfrm>
              <a:off x="6885365" y="4496534"/>
              <a:ext cx="755940" cy="317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95782" tIns="47891" rIns="95782" bIns="47891">
              <a:spAutoFit/>
            </a:bodyPr>
            <a:lstStyle>
              <a:defPPr>
                <a:defRPr lang="ko-KR"/>
              </a:defPPr>
              <a:lvl1pPr algn="l" defTabSz="957263">
                <a:defRPr sz="2000">
                  <a:solidFill>
                    <a:srgbClr val="000000"/>
                  </a:solidFill>
                  <a:latin typeface="LG스마트체 Bold" pitchFamily="50" charset="-127"/>
                  <a:ea typeface="LG스마트체 Bold" pitchFamily="50" charset="-127"/>
                  <a:cs typeface="Arial" charset="0"/>
                </a:defRPr>
              </a:lvl1pPr>
            </a:lstStyle>
            <a:p>
              <a:pPr marL="0" marR="0" lvl="0" indent="0" algn="ctr" defTabSz="957263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향후 계획</a:t>
              </a:r>
            </a:p>
          </p:txBody>
        </p:sp>
        <p:cxnSp>
          <p:nvCxnSpPr>
            <p:cNvPr id="79" name="직선 연결선 2">
              <a:extLst>
                <a:ext uri="{FF2B5EF4-FFF2-40B4-BE49-F238E27FC236}">
                  <a16:creationId xmlns:a16="http://schemas.microsoft.com/office/drawing/2014/main" id="{D6789F02-5E4E-B603-000A-DE099C1641D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52724" y="4830162"/>
              <a:ext cx="422122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80" name="Rectangle 4">
            <a:extLst>
              <a:ext uri="{FF2B5EF4-FFF2-40B4-BE49-F238E27FC236}">
                <a16:creationId xmlns:a16="http://schemas.microsoft.com/office/drawing/2014/main" id="{6D5C1A33-9CBA-5BDE-6CA1-67AA2192F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1" y="3235750"/>
            <a:ext cx="448035" cy="3337823"/>
          </a:xfrm>
          <a:prstGeom prst="rect">
            <a:avLst/>
          </a:prstGeom>
          <a:solidFill>
            <a:sysClr val="window" lastClr="FFFFFF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진척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300" b="1" i="0" u="none" strike="noStrike" kern="0" cap="none" spc="-5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사항</a:t>
            </a:r>
            <a:endParaRPr kumimoji="1" lang="en-US" altLang="ko-KR" sz="1300" b="1" i="0" u="none" strike="noStrike" kern="0" cap="none" spc="-5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81" name="표 80">
            <a:extLst>
              <a:ext uri="{FF2B5EF4-FFF2-40B4-BE49-F238E27FC236}">
                <a16:creationId xmlns:a16="http://schemas.microsoft.com/office/drawing/2014/main" id="{FCDB473B-95BA-346F-BE94-C553106E5116}"/>
              </a:ext>
            </a:extLst>
          </p:cNvPr>
          <p:cNvGraphicFramePr>
            <a:graphicFrameLocks noGrp="1"/>
          </p:cNvGraphicFramePr>
          <p:nvPr/>
        </p:nvGraphicFramePr>
        <p:xfrm>
          <a:off x="735048" y="1521549"/>
          <a:ext cx="8862108" cy="1658605"/>
        </p:xfrm>
        <a:graphic>
          <a:graphicData uri="http://schemas.openxmlformats.org/drawingml/2006/table">
            <a:tbl>
              <a:tblPr/>
              <a:tblGrid>
                <a:gridCol w="738509">
                  <a:extLst>
                    <a:ext uri="{9D8B030D-6E8A-4147-A177-3AD203B41FA5}">
                      <a16:colId xmlns:a16="http://schemas.microsoft.com/office/drawing/2014/main" val="17103252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58282284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574503571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906262013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61868030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865859727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14679234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741167305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32785851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1712991450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823744282"/>
                    </a:ext>
                  </a:extLst>
                </a:gridCol>
                <a:gridCol w="738509">
                  <a:extLst>
                    <a:ext uri="{9D8B030D-6E8A-4147-A177-3AD203B41FA5}">
                      <a16:colId xmlns:a16="http://schemas.microsoft.com/office/drawing/2014/main" val="2867782548"/>
                    </a:ext>
                  </a:extLst>
                </a:gridCol>
              </a:tblGrid>
              <a:tr h="127781">
                <a:tc gridSpan="12"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                                                                                                                      '26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  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7681"/>
                  </a:ext>
                </a:extLst>
              </a:tr>
              <a:tr h="1277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850938"/>
                  </a:ext>
                </a:extLst>
              </a:tr>
              <a:tr h="645666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549617"/>
                  </a:ext>
                </a:extLst>
              </a:tr>
              <a:tr h="738619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057251"/>
                  </a:ext>
                </a:extLst>
              </a:tr>
            </a:tbl>
          </a:graphicData>
        </a:graphic>
      </p:graphicFrame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9AFAC26F-7FCB-F39F-98FC-EE5294D548E8}"/>
              </a:ext>
            </a:extLst>
          </p:cNvPr>
          <p:cNvCxnSpPr>
            <a:cxnSpLocks/>
          </p:cNvCxnSpPr>
          <p:nvPr/>
        </p:nvCxnSpPr>
        <p:spPr>
          <a:xfrm>
            <a:off x="2223433" y="2132855"/>
            <a:ext cx="236649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882D474D-CF68-5894-5772-840F0E2458C7}"/>
              </a:ext>
            </a:extLst>
          </p:cNvPr>
          <p:cNvSpPr txBox="1"/>
          <p:nvPr/>
        </p:nvSpPr>
        <p:spPr>
          <a:xfrm>
            <a:off x="7499494" y="1990055"/>
            <a:ext cx="462233" cy="565146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전극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원통형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조립 공정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수평전개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EC7EB27-30FB-FD6D-02BD-D5F4680605C9}"/>
              </a:ext>
            </a:extLst>
          </p:cNvPr>
          <p:cNvSpPr txBox="1"/>
          <p:nvPr/>
        </p:nvSpPr>
        <p:spPr>
          <a:xfrm>
            <a:off x="6980308" y="2845590"/>
            <a:ext cx="736347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개발환경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인프라구축 완료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0BBED56C-A2BF-3D39-4F5A-3B0718C16174}"/>
              </a:ext>
            </a:extLst>
          </p:cNvPr>
          <p:cNvCxnSpPr>
            <a:cxnSpLocks/>
          </p:cNvCxnSpPr>
          <p:nvPr/>
        </p:nvCxnSpPr>
        <p:spPr>
          <a:xfrm>
            <a:off x="5181106" y="2785893"/>
            <a:ext cx="4475031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타원 87">
            <a:extLst>
              <a:ext uri="{FF2B5EF4-FFF2-40B4-BE49-F238E27FC236}">
                <a16:creationId xmlns:a16="http://schemas.microsoft.com/office/drawing/2014/main" id="{AB59CEEA-823A-9258-B603-CA45E7C96ABA}"/>
              </a:ext>
            </a:extLst>
          </p:cNvPr>
          <p:cNvSpPr/>
          <p:nvPr/>
        </p:nvSpPr>
        <p:spPr>
          <a:xfrm>
            <a:off x="7284623" y="270775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AEDC7CC5-0B7C-4B80-6C29-2CCB4DDB719C}"/>
              </a:ext>
            </a:extLst>
          </p:cNvPr>
          <p:cNvSpPr/>
          <p:nvPr/>
        </p:nvSpPr>
        <p:spPr>
          <a:xfrm>
            <a:off x="5201101" y="270775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B3FD2A6E-3DDB-8A92-C473-B5BA94F8FAB8}"/>
              </a:ext>
            </a:extLst>
          </p:cNvPr>
          <p:cNvSpPr/>
          <p:nvPr/>
        </p:nvSpPr>
        <p:spPr>
          <a:xfrm>
            <a:off x="8768431" y="270775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93" name="연결선: 구부러짐 92">
            <a:extLst>
              <a:ext uri="{FF2B5EF4-FFF2-40B4-BE49-F238E27FC236}">
                <a16:creationId xmlns:a16="http://schemas.microsoft.com/office/drawing/2014/main" id="{77861ABE-2BC1-67F6-E705-3E5E6E8C139B}"/>
              </a:ext>
            </a:extLst>
          </p:cNvPr>
          <p:cNvCxnSpPr>
            <a:cxnSpLocks/>
            <a:stCxn id="128" idx="4"/>
            <a:endCxn id="91" idx="0"/>
          </p:cNvCxnSpPr>
          <p:nvPr/>
        </p:nvCxnSpPr>
        <p:spPr>
          <a:xfrm rot="16200000" flipH="1">
            <a:off x="4579325" y="2013982"/>
            <a:ext cx="502910" cy="884642"/>
          </a:xfrm>
          <a:prstGeom prst="curvedConnector3">
            <a:avLst>
              <a:gd name="adj1" fmla="val 50000"/>
            </a:avLst>
          </a:prstGeom>
          <a:ln w="6350">
            <a:solidFill>
              <a:schemeClr val="bg1">
                <a:lumMod val="6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FC31C955-A4A4-2402-3F8F-779B1DC2F159}"/>
              </a:ext>
            </a:extLst>
          </p:cNvPr>
          <p:cNvSpPr txBox="1"/>
          <p:nvPr/>
        </p:nvSpPr>
        <p:spPr>
          <a:xfrm>
            <a:off x="8665983" y="2845590"/>
            <a:ext cx="346816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테스트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진행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BBC279D-D1FC-C432-55DC-3818AFFB67D8}"/>
              </a:ext>
            </a:extLst>
          </p:cNvPr>
          <p:cNvSpPr txBox="1"/>
          <p:nvPr/>
        </p:nvSpPr>
        <p:spPr>
          <a:xfrm>
            <a:off x="3989394" y="2631921"/>
            <a:ext cx="912417" cy="34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개발 환경 구축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,</a:t>
            </a: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검증 및 테스트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8A177BF-54CE-B697-6BB4-7DFC8D910460}"/>
              </a:ext>
            </a:extLst>
          </p:cNvPr>
          <p:cNvSpPr txBox="1"/>
          <p:nvPr/>
        </p:nvSpPr>
        <p:spPr>
          <a:xfrm>
            <a:off x="1613227" y="1955640"/>
            <a:ext cx="606367" cy="34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</p:spPr>
        <p:txBody>
          <a:bodyPr wrap="none" lIns="36000" tIns="36000" rIns="36000" bIns="36000" rtlCol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요건정의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,</a:t>
            </a:r>
          </a:p>
          <a:p>
            <a:pPr marL="0" marR="0" lvl="0" indent="0" algn="ctr" defTabSz="914400" rtl="0" eaLnBrk="1" fontAlgn="auto" latinLnBrk="1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아키택쳐설계</a:t>
            </a:r>
            <a:endParaRPr kumimoji="0" lang="ko-KR" alt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86770D7-5DB4-AF84-9170-52D1CEA563E2}"/>
              </a:ext>
            </a:extLst>
          </p:cNvPr>
          <p:cNvSpPr txBox="1"/>
          <p:nvPr/>
        </p:nvSpPr>
        <p:spPr>
          <a:xfrm>
            <a:off x="5144190" y="2874634"/>
            <a:ext cx="818100" cy="288147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데이터 수집 및 저장</a:t>
            </a:r>
            <a: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, </a:t>
            </a:r>
            <a:b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</a:b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분석 환경 구성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5F455B8-AAAF-85C1-4298-B8ABC974FC5F}"/>
              </a:ext>
            </a:extLst>
          </p:cNvPr>
          <p:cNvSpPr txBox="1"/>
          <p:nvPr/>
        </p:nvSpPr>
        <p:spPr>
          <a:xfrm>
            <a:off x="4232866" y="2202649"/>
            <a:ext cx="369259" cy="288147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-70" normalizeH="0" baseline="0" noProof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아키택쳐</a:t>
            </a: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 </a:t>
            </a:r>
            <a:endParaRPr kumimoji="1" lang="en-US" altLang="ko-KR" sz="700" b="0" i="0" u="none" strike="noStrike" kern="1200" cap="none" spc="-7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/>
              <a:cs typeface="맑은 고딕 Semilight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설계 </a:t>
            </a:r>
            <a:endParaRPr kumimoji="1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" charset="0"/>
              <a:ea typeface="돋움" pitchFamily="50" charset="-127"/>
              <a:cs typeface="Arial" charset="0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8370363-92C1-8561-CB3E-6DF1FF25F4C7}"/>
              </a:ext>
            </a:extLst>
          </p:cNvPr>
          <p:cNvSpPr txBox="1"/>
          <p:nvPr/>
        </p:nvSpPr>
        <p:spPr>
          <a:xfrm>
            <a:off x="5951348" y="2508062"/>
            <a:ext cx="511606" cy="180425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-7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맑은 고딕 Semilight"/>
                <a:sym typeface="Wingdings"/>
              </a:rPr>
              <a:t>클라우드 연계</a:t>
            </a:r>
            <a:endParaRPr kumimoji="1" lang="ko-KR" altLang="en-US" sz="7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" charset="0"/>
              <a:ea typeface="돋움" pitchFamily="50" charset="-127"/>
              <a:cs typeface="Arial" charset="0"/>
            </a:endParaRPr>
          </a:p>
        </p:txBody>
      </p:sp>
      <p:grpSp>
        <p:nvGrpSpPr>
          <p:cNvPr id="110" name="그룹 1">
            <a:extLst>
              <a:ext uri="{FF2B5EF4-FFF2-40B4-BE49-F238E27FC236}">
                <a16:creationId xmlns:a16="http://schemas.microsoft.com/office/drawing/2014/main" id="{EEB31663-F458-AD5A-8977-3AC17FD2D3EB}"/>
              </a:ext>
            </a:extLst>
          </p:cNvPr>
          <p:cNvGrpSpPr/>
          <p:nvPr/>
        </p:nvGrpSpPr>
        <p:grpSpPr>
          <a:xfrm>
            <a:off x="6759395" y="1509607"/>
            <a:ext cx="205184" cy="1670547"/>
            <a:chOff x="2020628" y="1123354"/>
            <a:chExt cx="205184" cy="5005022"/>
          </a:xfrm>
        </p:grpSpPr>
        <p:grpSp>
          <p:nvGrpSpPr>
            <p:cNvPr id="111" name="그룹 2">
              <a:extLst>
                <a:ext uri="{FF2B5EF4-FFF2-40B4-BE49-F238E27FC236}">
                  <a16:creationId xmlns:a16="http://schemas.microsoft.com/office/drawing/2014/main" id="{9D21BDC0-C37A-8E2A-4676-8EF3E2FC843C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4550316"/>
              <a:chOff x="4167960" y="2510051"/>
              <a:chExt cx="120667" cy="4717070"/>
            </a:xfrm>
          </p:grpSpPr>
          <p:cxnSp>
            <p:nvCxnSpPr>
              <p:cNvPr id="114" name="직선 연결선 167">
                <a:extLst>
                  <a:ext uri="{FF2B5EF4-FFF2-40B4-BE49-F238E27FC236}">
                    <a16:creationId xmlns:a16="http://schemas.microsoft.com/office/drawing/2014/main" id="{0DA7D5D3-2D23-DE9D-ECA4-F39BF71831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4541193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ysDot"/>
              </a:ln>
              <a:effectLst/>
            </p:spPr>
          </p:cxnSp>
          <p:sp>
            <p:nvSpPr>
              <p:cNvPr id="117" name="이등변 삼각형 7">
                <a:extLst>
                  <a:ext uri="{FF2B5EF4-FFF2-40B4-BE49-F238E27FC236}">
                    <a16:creationId xmlns:a16="http://schemas.microsoft.com/office/drawing/2014/main" id="{D9D17441-DFEB-0935-6775-447CBC8A5A31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endParaRPr>
              </a:p>
            </p:txBody>
          </p:sp>
        </p:grpSp>
        <p:sp>
          <p:nvSpPr>
            <p:cNvPr id="113" name="Text Box 4">
              <a:extLst>
                <a:ext uri="{FF2B5EF4-FFF2-40B4-BE49-F238E27FC236}">
                  <a16:creationId xmlns:a16="http://schemas.microsoft.com/office/drawing/2014/main" id="{1AC22BA2-A014-1E8E-98CE-CFFF53896C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1385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현재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grpSp>
        <p:nvGrpSpPr>
          <p:cNvPr id="118" name="그룹 1">
            <a:extLst>
              <a:ext uri="{FF2B5EF4-FFF2-40B4-BE49-F238E27FC236}">
                <a16:creationId xmlns:a16="http://schemas.microsoft.com/office/drawing/2014/main" id="{3572B7EB-85DD-0E13-36A5-3E8F859EBC77}"/>
              </a:ext>
            </a:extLst>
          </p:cNvPr>
          <p:cNvGrpSpPr/>
          <p:nvPr/>
        </p:nvGrpSpPr>
        <p:grpSpPr>
          <a:xfrm>
            <a:off x="9408762" y="1484784"/>
            <a:ext cx="205184" cy="1639668"/>
            <a:chOff x="2020628" y="1123354"/>
            <a:chExt cx="205184" cy="4912508"/>
          </a:xfrm>
        </p:grpSpPr>
        <p:grpSp>
          <p:nvGrpSpPr>
            <p:cNvPr id="122" name="그룹 2">
              <a:extLst>
                <a:ext uri="{FF2B5EF4-FFF2-40B4-BE49-F238E27FC236}">
                  <a16:creationId xmlns:a16="http://schemas.microsoft.com/office/drawing/2014/main" id="{5CBBE20C-3BFE-760D-7D26-EDC667966C15}"/>
                </a:ext>
              </a:extLst>
            </p:cNvPr>
            <p:cNvGrpSpPr/>
            <p:nvPr/>
          </p:nvGrpSpPr>
          <p:grpSpPr>
            <a:xfrm>
              <a:off x="2072680" y="1578060"/>
              <a:ext cx="120667" cy="4457802"/>
              <a:chOff x="4167960" y="2510051"/>
              <a:chExt cx="120667" cy="4621165"/>
            </a:xfrm>
          </p:grpSpPr>
          <p:cxnSp>
            <p:nvCxnSpPr>
              <p:cNvPr id="125" name="직선 연결선 167">
                <a:extLst>
                  <a:ext uri="{FF2B5EF4-FFF2-40B4-BE49-F238E27FC236}">
                    <a16:creationId xmlns:a16="http://schemas.microsoft.com/office/drawing/2014/main" id="{6AE219EA-86D2-E240-025C-D5D1C57A91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8294" y="2685928"/>
                <a:ext cx="0" cy="4445288"/>
              </a:xfrm>
              <a:prstGeom prst="line">
                <a:avLst/>
              </a:prstGeom>
              <a:noFill/>
              <a:ln w="19050" cap="flat" cmpd="sng" algn="ctr">
                <a:solidFill>
                  <a:srgbClr val="0000FF"/>
                </a:solidFill>
                <a:prstDash val="sysDot"/>
              </a:ln>
              <a:effectLst/>
            </p:spPr>
          </p:cxnSp>
          <p:sp>
            <p:nvSpPr>
              <p:cNvPr id="126" name="이등변 삼각형 7">
                <a:extLst>
                  <a:ext uri="{FF2B5EF4-FFF2-40B4-BE49-F238E27FC236}">
                    <a16:creationId xmlns:a16="http://schemas.microsoft.com/office/drawing/2014/main" id="{28AEF379-573C-D359-6C06-1F25D1B27908}"/>
                  </a:ext>
                </a:extLst>
              </p:cNvPr>
              <p:cNvSpPr/>
              <p:nvPr/>
            </p:nvSpPr>
            <p:spPr>
              <a:xfrm flipV="1">
                <a:off x="4167960" y="2510051"/>
                <a:ext cx="120667" cy="89074"/>
              </a:xfrm>
              <a:prstGeom prst="triangle">
                <a:avLst/>
              </a:prstGeom>
              <a:solidFill>
                <a:srgbClr val="FF0000"/>
              </a:solidFill>
              <a:ln w="25400" cap="flat" cmpd="sng" algn="ctr">
                <a:solidFill>
                  <a:srgbClr val="0000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endParaRPr>
              </a:p>
            </p:txBody>
          </p:sp>
        </p:grpSp>
        <p:sp>
          <p:nvSpPr>
            <p:cNvPr id="123" name="Text Box 4">
              <a:extLst>
                <a:ext uri="{FF2B5EF4-FFF2-40B4-BE49-F238E27FC236}">
                  <a16:creationId xmlns:a16="http://schemas.microsoft.com/office/drawing/2014/main" id="{320FEB0C-C2FD-1F2C-3C8F-580987B0FA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628" y="1123354"/>
              <a:ext cx="205184" cy="4149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charset="0"/>
                </a:rPr>
                <a:t>완료</a:t>
              </a:r>
              <a:endPara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endParaRPr>
            </a:p>
          </p:txBody>
        </p:sp>
      </p:grp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B29543B-D44B-FC5C-0495-4E850AF232E7}"/>
              </a:ext>
            </a:extLst>
          </p:cNvPr>
          <p:cNvCxnSpPr>
            <a:cxnSpLocks/>
          </p:cNvCxnSpPr>
          <p:nvPr/>
        </p:nvCxnSpPr>
        <p:spPr>
          <a:xfrm flipV="1">
            <a:off x="4997300" y="3287062"/>
            <a:ext cx="21771" cy="29903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타원 127">
            <a:extLst>
              <a:ext uri="{FF2B5EF4-FFF2-40B4-BE49-F238E27FC236}">
                <a16:creationId xmlns:a16="http://schemas.microsoft.com/office/drawing/2014/main" id="{1A283E64-ACA4-9DE2-83B5-2A678EB79E64}"/>
              </a:ext>
            </a:extLst>
          </p:cNvPr>
          <p:cNvSpPr/>
          <p:nvPr/>
        </p:nvSpPr>
        <p:spPr>
          <a:xfrm>
            <a:off x="4316459" y="206084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7C2E726-33AD-144C-6136-DEA55FF40CA1}"/>
              </a:ext>
            </a:extLst>
          </p:cNvPr>
          <p:cNvSpPr txBox="1"/>
          <p:nvPr/>
        </p:nvSpPr>
        <p:spPr>
          <a:xfrm>
            <a:off x="841430" y="3655045"/>
            <a:ext cx="4197997" cy="2574166"/>
          </a:xfrm>
          <a:prstGeom prst="rect">
            <a:avLst/>
          </a:prstGeom>
          <a:noFill/>
        </p:spPr>
        <p:txBody>
          <a:bodyPr wrap="square" lIns="33231" tIns="45720" rIns="33231" bIns="45720" rtlCol="0" anchor="t">
            <a:spAutoFit/>
          </a:bodyPr>
          <a:lstStyle/>
          <a:p>
            <a:pPr marL="163830" marR="0" lvl="0" indent="-163830" algn="l" defTabSz="844083" rtl="0" eaLnBrk="1" fontAlgn="base" latinLnBrk="1" hangingPunct="1"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전극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원통형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/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조립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일 사용 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Data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전송 속도 테스트 완료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(~4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월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)</a:t>
            </a:r>
            <a:endParaRPr kumimoji="1" lang="en-US" altLang="ko-KR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266700" marR="0" lvl="0" indent="-18097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▷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다빈치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Mart S2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→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S3 ,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Landing Zone(S0)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→ 다빈치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Mart S3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테스트 및 평가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(24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시간 기준 설비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1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대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): S0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→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WA S3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테스트 및 평가 완료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  <a:p>
            <a:pPr marL="266700" marR="0" lvl="0" indent="-18097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▷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테스트 및 평가 결과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S2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로 선정함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: 1Gb </a:t>
            </a:r>
            <a:r>
              <a:rPr kumimoji="0" lang="ko-KR" alt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전송시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S2 10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분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, S0 45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분 </a:t>
            </a:r>
            <a:r>
              <a:rPr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소요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  <a:p>
            <a:pPr marL="163830" marR="0" lvl="0" indent="-16383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파이프라인 구축 및  </a:t>
            </a:r>
            <a:r>
              <a:rPr kumimoji="1" lang="en-US" altLang="ko-KR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Codespace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연계 </a:t>
            </a:r>
            <a:r>
              <a:rPr kumimoji="1" lang="ko-KR" altLang="en-US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아키텍쳐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설계 완료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(~6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월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kumimoji="0" lang="en-US" altLang="ko-KR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▷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개발 환경 요건 정의에 필요한 </a:t>
            </a:r>
            <a:r>
              <a:rPr kumimoji="1" lang="ko-KR" alt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아키텍쳐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설계 기술 검토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163830" marR="0" lvl="0" indent="-16383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FDC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개발 서버 투자심의 진행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완료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(7/7)</a:t>
            </a:r>
            <a:endParaRPr kumimoji="0" lang="en-US" altLang="ko-KR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163830" marR="0" lvl="0" indent="-163830" algn="l" defTabSz="844083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,sans-serif" panose="05000000000000000000" pitchFamily="2" charset="2"/>
              <a:buChar char="q"/>
              <a:tabLst/>
              <a:defRPr/>
            </a:pPr>
            <a:r>
              <a:rPr kumimoji="0" lang="en-US" altLang="ko-KR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파이프라인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요구사항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반영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및 </a:t>
            </a:r>
            <a:r>
              <a:rPr kumimoji="0" lang="en-US" altLang="ko-KR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환경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구축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중</a:t>
            </a:r>
            <a:r>
              <a:rPr lang="en-US" altLang="ko-KR" sz="12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(~9월)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endParaRPr lang="en-US" altLang="ko-KR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defTabSz="844083">
              <a:lnSpc>
                <a:spcPct val="120000"/>
              </a:lnSpc>
              <a:spcAft>
                <a:spcPts val="600"/>
              </a:spcAft>
              <a:defRPr/>
            </a:pPr>
            <a:r>
              <a:rPr 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▷</a:t>
            </a:r>
            <a:r>
              <a:rPr 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WA/OC </a:t>
            </a:r>
            <a:r>
              <a:rPr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법인</a:t>
            </a:r>
            <a:r>
              <a:rPr 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 SPC/FDC/MES </a:t>
            </a:r>
            <a:r>
              <a:rPr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데이터</a:t>
            </a:r>
            <a:r>
              <a:rPr 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 </a:t>
            </a:r>
            <a:r>
              <a:rPr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파이프라인</a:t>
            </a:r>
            <a:r>
              <a:rPr 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 </a:t>
            </a:r>
            <a:r>
              <a:rPr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및</a:t>
            </a:r>
            <a:r>
              <a:rPr 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 FDC </a:t>
            </a:r>
            <a:r>
              <a:rPr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화면 개발</a:t>
            </a:r>
            <a:r>
              <a:rPr 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 (~8</a:t>
            </a:r>
            <a:r>
              <a:rPr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월</a:t>
            </a:r>
            <a:r>
              <a:rPr 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)</a:t>
            </a:r>
          </a:p>
          <a:p>
            <a:pPr defTabSz="844083">
              <a:lnSpc>
                <a:spcPct val="120000"/>
              </a:lnSpc>
              <a:spcAft>
                <a:spcPts val="600"/>
              </a:spcAft>
              <a:defRPr/>
            </a:pPr>
            <a:r>
              <a:rPr lang="en-US" sz="1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  ▷ DB/ETL, WEB </a:t>
            </a:r>
            <a:r>
              <a:rPr lang="ko-KR" altLang="en-US" sz="1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및</a:t>
            </a:r>
            <a:r>
              <a:rPr lang="en-US" sz="1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 DevOps </a:t>
            </a:r>
            <a:r>
              <a:rPr lang="ko-KR" altLang="en-US" sz="1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개발</a:t>
            </a:r>
            <a:r>
              <a:rPr lang="en-US" sz="1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 </a:t>
            </a:r>
            <a:r>
              <a:rPr lang="ko-KR" altLang="en-US" sz="1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환경</a:t>
            </a:r>
            <a:r>
              <a:rPr lang="en-US" sz="1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 </a:t>
            </a:r>
            <a:r>
              <a:rPr lang="ko-KR" altLang="en-US" sz="1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구축</a:t>
            </a:r>
            <a:r>
              <a:rPr lang="en-US" sz="1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 </a:t>
            </a:r>
            <a:r>
              <a:rPr lang="ko-KR" altLang="en-US" sz="1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진행</a:t>
            </a:r>
            <a:r>
              <a:rPr lang="en-US" sz="1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 </a:t>
            </a:r>
            <a:r>
              <a:rPr lang="ko-KR" altLang="en-US" sz="11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n-lt"/>
              </a:rPr>
              <a:t>중</a:t>
            </a:r>
            <a:endParaRPr 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0" name="타원 129">
            <a:extLst>
              <a:ext uri="{FF2B5EF4-FFF2-40B4-BE49-F238E27FC236}">
                <a16:creationId xmlns:a16="http://schemas.microsoft.com/office/drawing/2014/main" id="{BB8E618B-226D-45E3-20D4-FD58EB1AB6A6}"/>
              </a:ext>
            </a:extLst>
          </p:cNvPr>
          <p:cNvSpPr/>
          <p:nvPr/>
        </p:nvSpPr>
        <p:spPr>
          <a:xfrm>
            <a:off x="6186007" y="2708920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15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B0DB451-D7EF-803A-2D2C-C34033D20D3F}"/>
              </a:ext>
            </a:extLst>
          </p:cNvPr>
          <p:cNvSpPr txBox="1"/>
          <p:nvPr/>
        </p:nvSpPr>
        <p:spPr>
          <a:xfrm>
            <a:off x="6033871" y="2875796"/>
            <a:ext cx="494292" cy="288147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분석 환경</a:t>
            </a:r>
            <a:endParaRPr kumimoji="1" lang="en-US" altLang="ko-KR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데이터 연계</a:t>
            </a:r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D4A4C69F-D88E-233E-8C9E-77EB11D83408}"/>
              </a:ext>
            </a:extLst>
          </p:cNvPr>
          <p:cNvSpPr/>
          <p:nvPr/>
        </p:nvSpPr>
        <p:spPr>
          <a:xfrm>
            <a:off x="2880349" y="2054934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29AC58D2-CF62-2F11-7633-CA20C188CA55}"/>
              </a:ext>
            </a:extLst>
          </p:cNvPr>
          <p:cNvSpPr txBox="1"/>
          <p:nvPr/>
        </p:nvSpPr>
        <p:spPr>
          <a:xfrm>
            <a:off x="2736328" y="2204847"/>
            <a:ext cx="434982" cy="288147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개발 환경 </a:t>
            </a:r>
            <a:endParaRPr kumimoji="1" lang="en-US" altLang="ko-KR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요건 정의</a:t>
            </a:r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66D6AB7E-FABE-D1FC-DCC0-DEBEF361F81D}"/>
              </a:ext>
            </a:extLst>
          </p:cNvPr>
          <p:cNvSpPr/>
          <p:nvPr/>
        </p:nvSpPr>
        <p:spPr>
          <a:xfrm>
            <a:off x="8025249" y="2708378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CF8EB6A9-EE3F-9192-1ADA-A92041784185}"/>
              </a:ext>
            </a:extLst>
          </p:cNvPr>
          <p:cNvSpPr txBox="1"/>
          <p:nvPr/>
        </p:nvSpPr>
        <p:spPr>
          <a:xfrm>
            <a:off x="7968486" y="2846210"/>
            <a:ext cx="255445" cy="318924"/>
          </a:xfrm>
          <a:prstGeom prst="rect">
            <a:avLst/>
          </a:prstGeom>
          <a:noFill/>
          <a:ln w="6350">
            <a:noFill/>
          </a:ln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검증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/>
              </a:rPr>
              <a:t>진행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/>
            </a:endParaRPr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C299BB9E-E1A0-A583-8232-0EF4D0B1708E}"/>
              </a:ext>
            </a:extLst>
          </p:cNvPr>
          <p:cNvSpPr/>
          <p:nvPr/>
        </p:nvSpPr>
        <p:spPr>
          <a:xfrm>
            <a:off x="3588559" y="2063907"/>
            <a:ext cx="144000" cy="144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362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31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C0699C4A-AA03-57DD-4363-95C17E7AC14F}"/>
              </a:ext>
            </a:extLst>
          </p:cNvPr>
          <p:cNvSpPr txBox="1"/>
          <p:nvPr/>
        </p:nvSpPr>
        <p:spPr>
          <a:xfrm>
            <a:off x="3425302" y="2213820"/>
            <a:ext cx="473454" cy="288147"/>
          </a:xfrm>
          <a:prstGeom prst="rect">
            <a:avLst/>
          </a:prstGeom>
          <a:noFill/>
        </p:spPr>
        <p:txBody>
          <a:bodyPr wrap="none" lIns="36000" tIns="36000" rIns="36000" bIns="36000" rtlCol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Data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전송테스트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0B1A8175-7C0E-D87A-B8A7-EFFCB8D3EDA6}"/>
              </a:ext>
            </a:extLst>
          </p:cNvPr>
          <p:cNvSpPr txBox="1"/>
          <p:nvPr/>
        </p:nvSpPr>
        <p:spPr>
          <a:xfrm>
            <a:off x="5125095" y="3739840"/>
            <a:ext cx="4401400" cy="2196692"/>
          </a:xfrm>
          <a:prstGeom prst="rect">
            <a:avLst/>
          </a:prstGeom>
          <a:noFill/>
        </p:spPr>
        <p:txBody>
          <a:bodyPr wrap="square" lIns="33231" tIns="45720" rIns="33231" bIns="45720" rtlCol="0" anchor="t">
            <a:spAutoFit/>
          </a:bodyPr>
          <a:lstStyle/>
          <a:p>
            <a:pPr marL="163830" marR="0" lvl="0" indent="-16383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개발 환경 및 핵심 기능 구축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(~9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lang="en-US">
              <a:cs typeface="+mn-cs"/>
            </a:endParaRPr>
          </a:p>
          <a:p>
            <a:pPr marL="0" marR="0" lvl="0" indent="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▷전체 시스템에 대한 통합 테스트 및 안정성 검증 예정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(9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  <a:p>
            <a:pPr defTabSz="844083">
              <a:lnSpc>
                <a:spcPct val="120000"/>
              </a:lnSpc>
              <a:spcAft>
                <a:spcPts val="600"/>
              </a:spcAft>
              <a:defRPr/>
            </a:pPr>
            <a:r>
              <a:rPr lang="en-US" altLang="ko-KR" sz="1100">
                <a:solidFill>
                  <a:prstClr val="black"/>
                </a:solidFill>
                <a:latin typeface="Arial Narrow"/>
                <a:ea typeface="LG스마트체 Regular"/>
              </a:rPr>
              <a:t>   </a:t>
            </a:r>
            <a:r>
              <a:rPr lang="ko-KR" altLang="en-US" sz="1100">
                <a:solidFill>
                  <a:prstClr val="black"/>
                </a:solidFill>
                <a:latin typeface="Arial Narrow"/>
                <a:ea typeface="LG스마트체 Regular"/>
              </a:rPr>
              <a:t>▷각 팀별 FDC 모델 적확도 Test 예정(9월)</a:t>
            </a:r>
            <a:endParaRPr kumimoji="1" lang="en-US" altLang="ko-KR" sz="1100">
              <a:solidFill>
                <a:prstClr val="black"/>
              </a:solidFill>
              <a:latin typeface="Arial Narrow"/>
              <a:ea typeface="LG스마트체 Regular"/>
            </a:endParaRPr>
          </a:p>
          <a:p>
            <a:pPr marL="163830" marR="0" lvl="0" indent="-16383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시스템 오픈 및 글로벌 법인 확대 적용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(~12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  <a:p>
            <a:pPr marL="0" marR="0" lvl="0" indent="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▷ 핵심 기능 안정화 및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WA/OC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 대상 시스템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차 오픈 예정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(10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1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177800" marR="0" lvl="0" indent="-17780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▷1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차 오픈 피드백 반영 및 중국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미국 등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7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 법인 확산을 위한 테스트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통합 개발 진행 예정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(11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1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▷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확산 대상 법인 전체 포함 최종 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차 시스템 오픈 완료 예정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(12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1" lang="en-US" altLang="ko-KR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B7A3E8FA-BFEC-4BC5-0FFB-75E6CE736BD4}"/>
              </a:ext>
            </a:extLst>
          </p:cNvPr>
          <p:cNvGrpSpPr/>
          <p:nvPr/>
        </p:nvGrpSpPr>
        <p:grpSpPr>
          <a:xfrm>
            <a:off x="7758397" y="114985"/>
            <a:ext cx="1781744" cy="604476"/>
            <a:chOff x="4232920" y="49957"/>
            <a:chExt cx="1781744" cy="604476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B78D17CC-68EA-76FA-CD1C-31DF712F7A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9957"/>
              <a:ext cx="180000" cy="180000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90E412A-5713-AEAB-B13F-86052C0FB38F}"/>
                </a:ext>
              </a:extLst>
            </p:cNvPr>
            <p:cNvSpPr txBox="1"/>
            <p:nvPr/>
          </p:nvSpPr>
          <p:spPr>
            <a:xfrm>
              <a:off x="4458469" y="52657"/>
              <a:ext cx="1276953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초과 달성 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(5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점 기준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C9AC4779-F2F1-B1CB-FBBA-18C2B4E982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474433"/>
              <a:ext cx="180000" cy="18000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-3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3AA15ED-B14D-3064-AFD4-DFA6C91792D3}"/>
                </a:ext>
              </a:extLst>
            </p:cNvPr>
            <p:cNvSpPr txBox="1"/>
            <p:nvPr/>
          </p:nvSpPr>
          <p:spPr>
            <a:xfrm>
              <a:off x="4458469" y="477133"/>
              <a:ext cx="155619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미달</a:t>
              </a:r>
              <a:r>
                <a:rPr kumimoji="0" lang="en-US" altLang="ko-KR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50" b="0" i="0" u="none" strike="noStrike" kern="12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연간 목표 차질 예상</a:t>
              </a: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90D502F3-4592-62F4-C731-F9AAB4BF8A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2920" y="262195"/>
              <a:ext cx="180000" cy="1800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C3A61BC-0FE4-2E35-73D8-853AEF2037AE}"/>
                </a:ext>
              </a:extLst>
            </p:cNvPr>
            <p:cNvSpPr txBox="1"/>
            <p:nvPr/>
          </p:nvSpPr>
          <p:spPr>
            <a:xfrm>
              <a:off x="4458469" y="264895"/>
              <a:ext cx="1374735" cy="1666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목표 달성 수준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또는 소폭 미달</a:t>
              </a:r>
              <a:r>
                <a:rPr kumimoji="0" lang="en-US" altLang="ko-KR" sz="900" b="0" i="0" u="none" strike="noStrike" kern="1200" cap="none" spc="-6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ko-KR" altLang="en-US" sz="105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0280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실행 단추: 홈으로 이동 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B600AAE1-3CAC-6B62-26DF-BC3FAE911AD9}"/>
              </a:ext>
            </a:extLst>
          </p:cNvPr>
          <p:cNvSpPr/>
          <p:nvPr/>
        </p:nvSpPr>
        <p:spPr>
          <a:xfrm>
            <a:off x="9605010" y="116632"/>
            <a:ext cx="211279" cy="211279"/>
          </a:xfrm>
          <a:prstGeom prst="actionButtonHom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E70E57-D80E-12CB-E7BA-83E81C798BFD}"/>
              </a:ext>
            </a:extLst>
          </p:cNvPr>
          <p:cNvSpPr/>
          <p:nvPr/>
        </p:nvSpPr>
        <p:spPr>
          <a:xfrm>
            <a:off x="183965" y="718586"/>
            <a:ext cx="432048" cy="5548863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업무내용</a:t>
            </a: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F7D42BB-01B4-5F0D-E360-692774A09D24}"/>
              </a:ext>
            </a:extLst>
          </p:cNvPr>
          <p:cNvGrpSpPr/>
          <p:nvPr/>
        </p:nvGrpSpPr>
        <p:grpSpPr>
          <a:xfrm>
            <a:off x="776536" y="718586"/>
            <a:ext cx="3993161" cy="346249"/>
            <a:chOff x="-1158101" y="188640"/>
            <a:chExt cx="3993161" cy="34624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E3CAD02-BD7F-0F81-E938-BE4F5A364FDC}"/>
                </a:ext>
              </a:extLst>
            </p:cNvPr>
            <p:cNvSpPr txBox="1"/>
            <p:nvPr/>
          </p:nvSpPr>
          <p:spPr>
            <a:xfrm>
              <a:off x="455481" y="188640"/>
              <a:ext cx="949299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진척 사항</a:t>
              </a: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4F2C47E6-7B18-5CE6-1D5E-D0C7FD7D7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158101" y="504656"/>
              <a:ext cx="3993161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D05CA94-E0C1-33DF-3589-5AF42D01A70F}"/>
              </a:ext>
            </a:extLst>
          </p:cNvPr>
          <p:cNvGrpSpPr/>
          <p:nvPr/>
        </p:nvGrpSpPr>
        <p:grpSpPr>
          <a:xfrm>
            <a:off x="5010691" y="718586"/>
            <a:ext cx="4550822" cy="346249"/>
            <a:chOff x="-1515407" y="188640"/>
            <a:chExt cx="4550822" cy="34624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5DCA91A-EE5F-2E3F-B433-8E41235B9CB4}"/>
                </a:ext>
              </a:extLst>
            </p:cNvPr>
            <p:cNvSpPr txBox="1"/>
            <p:nvPr/>
          </p:nvSpPr>
          <p:spPr>
            <a:xfrm>
              <a:off x="379380" y="188640"/>
              <a:ext cx="949299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특이 사항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947296C4-3C14-0D05-A8FA-9949DBD658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515407" y="504656"/>
              <a:ext cx="4550822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" name="제목 3">
            <a:extLst>
              <a:ext uri="{FF2B5EF4-FFF2-40B4-BE49-F238E27FC236}">
                <a16:creationId xmlns:a16="http://schemas.microsoft.com/office/drawing/2014/main" id="{6250791C-1020-740A-06F4-0E4CC652492B}"/>
              </a:ext>
            </a:extLst>
          </p:cNvPr>
          <p:cNvSpPr txBox="1">
            <a:spLocks/>
          </p:cNvSpPr>
          <p:nvPr/>
        </p:nvSpPr>
        <p:spPr>
          <a:xfrm>
            <a:off x="134569" y="116449"/>
            <a:ext cx="5466132" cy="369332"/>
          </a:xfrm>
          <a:prstGeom prst="rect">
            <a:avLst/>
          </a:prstGeo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3.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 월별 진척사항 및 특이사항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(NND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 활동 기반 셀 수율 개선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)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A4B627-ECB7-7A89-CA9A-E35CEF511956}"/>
              </a:ext>
            </a:extLst>
          </p:cNvPr>
          <p:cNvSpPr txBox="1"/>
          <p:nvPr/>
        </p:nvSpPr>
        <p:spPr>
          <a:xfrm>
            <a:off x="760456" y="1283578"/>
            <a:ext cx="41248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OT </a:t>
            </a:r>
            <a:r>
              <a:rPr kumimoji="1" lang="ko-KR" altLang="en-US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수율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개선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:</a:t>
            </a:r>
            <a:endParaRPr kumimoji="1" lang="ko-KR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6CD02B-CA09-4F61-B5B2-2A336C42899A}"/>
              </a:ext>
            </a:extLst>
          </p:cNvPr>
          <p:cNvSpPr txBox="1"/>
          <p:nvPr/>
        </p:nvSpPr>
        <p:spPr>
          <a:xfrm>
            <a:off x="742537" y="1457805"/>
            <a:ext cx="4027160" cy="84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85725" algn="l"/>
              </a:tabLst>
              <a:defRPr/>
            </a:pPr>
            <a:r>
              <a:rPr kumimoji="1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▷</a:t>
            </a:r>
            <a:r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NG</a:t>
            </a:r>
            <a:r>
              <a:rPr kumimoji="1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마킹 저감 후 모니터링</a:t>
            </a:r>
            <a:endParaRPr kumimoji="1" lang="en-US" altLang="ko-K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base" latinLnBrk="1" hangingPunct="1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85725" algn="l"/>
              </a:tabLst>
              <a:defRPr/>
            </a:pPr>
            <a:r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  Tab pitch(PID</a:t>
            </a:r>
            <a:r>
              <a:rPr kumimoji="1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수정</a:t>
            </a:r>
            <a:r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, Back feeding) : 2</a:t>
            </a:r>
            <a:r>
              <a:rPr kumimoji="1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월 </a:t>
            </a:r>
            <a:r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0.063% </a:t>
            </a:r>
            <a:r>
              <a:rPr kumimoji="1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▶ </a:t>
            </a:r>
            <a:r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8</a:t>
            </a:r>
            <a:r>
              <a:rPr kumimoji="1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월 </a:t>
            </a:r>
            <a:r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0.009%</a:t>
            </a:r>
          </a:p>
          <a:p>
            <a:pPr marL="0" marR="0" lvl="0" indent="0" algn="l" defTabSz="914400" rtl="0" eaLnBrk="1" fontAlgn="base" latinLnBrk="1" hangingPunct="1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85725" algn="l"/>
              </a:tabLst>
              <a:defRPr/>
            </a:pPr>
            <a:r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  Foil </a:t>
            </a:r>
            <a:r>
              <a:rPr kumimoji="1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노출 </a:t>
            </a:r>
            <a:r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(</a:t>
            </a:r>
            <a:r>
              <a:rPr kumimoji="1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가속 구간 레이저 출력 조정</a:t>
            </a:r>
            <a:r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) : 2</a:t>
            </a:r>
            <a:r>
              <a:rPr kumimoji="1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월 </a:t>
            </a:r>
            <a:r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0.111% </a:t>
            </a:r>
            <a:r>
              <a:rPr kumimoji="1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▶ </a:t>
            </a:r>
            <a:r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8</a:t>
            </a:r>
            <a:r>
              <a:rPr kumimoji="1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월 </a:t>
            </a:r>
            <a:r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0.024%</a:t>
            </a:r>
          </a:p>
          <a:p>
            <a:pPr marL="0" marR="0" lvl="0" indent="0" algn="l" defTabSz="914400" rtl="0" eaLnBrk="1" fontAlgn="base" latinLnBrk="1" hangingPunct="1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85725" algn="l"/>
              </a:tabLst>
              <a:defRPr/>
            </a:pPr>
            <a:r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  Tab burr</a:t>
            </a:r>
            <a:r>
              <a:rPr kumimoji="1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</a:t>
            </a:r>
            <a:r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(</a:t>
            </a:r>
            <a:r>
              <a:rPr kumimoji="1" lang="ko-KR" alt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증속에</a:t>
            </a:r>
            <a:r>
              <a:rPr kumimoji="1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따른 </a:t>
            </a:r>
            <a:r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Laser </a:t>
            </a:r>
            <a:r>
              <a:rPr kumimoji="1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주파수 상향</a:t>
            </a:r>
            <a:r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) : 6</a:t>
            </a:r>
            <a:r>
              <a:rPr kumimoji="1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월 </a:t>
            </a:r>
            <a:r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0.041% </a:t>
            </a:r>
            <a:r>
              <a:rPr kumimoji="1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▶</a:t>
            </a:r>
            <a:r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8</a:t>
            </a:r>
            <a:r>
              <a:rPr kumimoji="1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월 </a:t>
            </a:r>
            <a:r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0.017%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643BC1-35DF-ADB4-BCA6-4FD4EC9F20A3}"/>
              </a:ext>
            </a:extLst>
          </p:cNvPr>
          <p:cNvSpPr txBox="1"/>
          <p:nvPr/>
        </p:nvSpPr>
        <p:spPr>
          <a:xfrm>
            <a:off x="769736" y="2512242"/>
            <a:ext cx="383976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MI </a:t>
            </a:r>
            <a:r>
              <a:rPr kumimoji="1" lang="ko-KR" altLang="en-US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수율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개선 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CNTT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외관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 / Cutting height (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치수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 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불량 개선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02FAD9-F31B-454A-F0C8-1123417C7A5C}"/>
              </a:ext>
            </a:extLst>
          </p:cNvPr>
          <p:cNvSpPr txBox="1"/>
          <p:nvPr/>
        </p:nvSpPr>
        <p:spPr>
          <a:xfrm>
            <a:off x="766069" y="2672144"/>
            <a:ext cx="4124892" cy="6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85725" algn="l"/>
              </a:tabLst>
              <a:defRPr/>
            </a:pPr>
            <a:r>
              <a:rPr kumimoji="1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▷ 재료교체 구간에서 </a:t>
            </a:r>
            <a:r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cutting height(</a:t>
            </a:r>
            <a:r>
              <a:rPr kumimoji="1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어깨선</a:t>
            </a:r>
            <a:r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r>
              <a:rPr kumimoji="1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와 단선의 상관관계가 높아 단선 개선을 통해 어깨선 불량 저감 중이며</a:t>
            </a:r>
            <a:r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1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단선이 저감됨에 따라 </a:t>
            </a:r>
            <a:r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CNTT Loss</a:t>
            </a:r>
            <a:r>
              <a:rPr kumimoji="1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도 저감 진행 중</a:t>
            </a:r>
            <a:endParaRPr kumimoji="1" lang="en-US" altLang="ko-K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317AF1-C62B-B14C-3D31-65F49E55C0FB}"/>
              </a:ext>
            </a:extLst>
          </p:cNvPr>
          <p:cNvSpPr txBox="1"/>
          <p:nvPr/>
        </p:nvSpPr>
        <p:spPr>
          <a:xfrm>
            <a:off x="5010691" y="1270549"/>
            <a:ext cx="41248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OT 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수율 개선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: NND Foil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노출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외관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 / Tab pitch(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치수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 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불량 개선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9F6187-14BC-DC72-3BD3-D12F0A5CC821}"/>
              </a:ext>
            </a:extLst>
          </p:cNvPr>
          <p:cNvSpPr txBox="1"/>
          <p:nvPr/>
        </p:nvSpPr>
        <p:spPr>
          <a:xfrm>
            <a:off x="4979376" y="1407701"/>
            <a:ext cx="4797187" cy="26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marR="0" lvl="0" indent="-88900" algn="l" defTabSz="914400" rtl="0" eaLnBrk="1" fontAlgn="base" latinLnBrk="1" hangingPunct="1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85725" algn="l"/>
              </a:tabLst>
              <a:defRPr/>
            </a:pPr>
            <a:r>
              <a:rPr kumimoji="1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▷</a:t>
            </a:r>
            <a:r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Tab pitch, Foil</a:t>
            </a:r>
            <a:r>
              <a:rPr kumimoji="1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노출</a:t>
            </a:r>
            <a:r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, Tab burr </a:t>
            </a:r>
            <a:r>
              <a:rPr kumimoji="1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불량 모니터링 중</a:t>
            </a:r>
            <a:endParaRPr kumimoji="1" lang="en-US" altLang="ko-K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DC1ADB-2477-CDB4-6914-D17E55A3F8CB}"/>
              </a:ext>
            </a:extLst>
          </p:cNvPr>
          <p:cNvSpPr txBox="1"/>
          <p:nvPr/>
        </p:nvSpPr>
        <p:spPr>
          <a:xfrm>
            <a:off x="5010691" y="2395935"/>
            <a:ext cx="383976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MI 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수율 개선 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CNTT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외관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 / Cutting height (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치수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 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불량 개선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28C158-B284-D7C8-0A9D-BB02FE83F097}"/>
              </a:ext>
            </a:extLst>
          </p:cNvPr>
          <p:cNvSpPr txBox="1"/>
          <p:nvPr/>
        </p:nvSpPr>
        <p:spPr>
          <a:xfrm>
            <a:off x="4979376" y="2593415"/>
            <a:ext cx="4836913" cy="447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1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▷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Loader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Shuttle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편심 보정을 통해 재료교체 구간의 어깨선 불량을 저감하였고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단선도 개선하였음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9F0FEF33-CF1B-8DF7-6204-E48890EBC4A6}"/>
              </a:ext>
            </a:extLst>
          </p:cNvPr>
          <p:cNvGraphicFramePr>
            <a:graphicFrameLocks noGrp="1"/>
          </p:cNvGraphicFramePr>
          <p:nvPr/>
        </p:nvGraphicFramePr>
        <p:xfrm>
          <a:off x="844628" y="4207749"/>
          <a:ext cx="6188976" cy="897977"/>
        </p:xfrm>
        <a:graphic>
          <a:graphicData uri="http://schemas.openxmlformats.org/drawingml/2006/table">
            <a:tbl>
              <a:tblPr/>
              <a:tblGrid>
                <a:gridCol w="323266">
                  <a:extLst>
                    <a:ext uri="{9D8B030D-6E8A-4147-A177-3AD203B41FA5}">
                      <a16:colId xmlns:a16="http://schemas.microsoft.com/office/drawing/2014/main" val="3836864001"/>
                    </a:ext>
                  </a:extLst>
                </a:gridCol>
                <a:gridCol w="1021102">
                  <a:extLst>
                    <a:ext uri="{9D8B030D-6E8A-4147-A177-3AD203B41FA5}">
                      <a16:colId xmlns:a16="http://schemas.microsoft.com/office/drawing/2014/main" val="187016343"/>
                    </a:ext>
                  </a:extLst>
                </a:gridCol>
                <a:gridCol w="605576">
                  <a:extLst>
                    <a:ext uri="{9D8B030D-6E8A-4147-A177-3AD203B41FA5}">
                      <a16:colId xmlns:a16="http://schemas.microsoft.com/office/drawing/2014/main" val="3883545405"/>
                    </a:ext>
                  </a:extLst>
                </a:gridCol>
                <a:gridCol w="605576">
                  <a:extLst>
                    <a:ext uri="{9D8B030D-6E8A-4147-A177-3AD203B41FA5}">
                      <a16:colId xmlns:a16="http://schemas.microsoft.com/office/drawing/2014/main" val="4077985060"/>
                    </a:ext>
                  </a:extLst>
                </a:gridCol>
                <a:gridCol w="605576">
                  <a:extLst>
                    <a:ext uri="{9D8B030D-6E8A-4147-A177-3AD203B41FA5}">
                      <a16:colId xmlns:a16="http://schemas.microsoft.com/office/drawing/2014/main" val="438205324"/>
                    </a:ext>
                  </a:extLst>
                </a:gridCol>
                <a:gridCol w="605576">
                  <a:extLst>
                    <a:ext uri="{9D8B030D-6E8A-4147-A177-3AD203B41FA5}">
                      <a16:colId xmlns:a16="http://schemas.microsoft.com/office/drawing/2014/main" val="3708968642"/>
                    </a:ext>
                  </a:extLst>
                </a:gridCol>
                <a:gridCol w="605576">
                  <a:extLst>
                    <a:ext uri="{9D8B030D-6E8A-4147-A177-3AD203B41FA5}">
                      <a16:colId xmlns:a16="http://schemas.microsoft.com/office/drawing/2014/main" val="893647682"/>
                    </a:ext>
                  </a:extLst>
                </a:gridCol>
                <a:gridCol w="605576">
                  <a:extLst>
                    <a:ext uri="{9D8B030D-6E8A-4147-A177-3AD203B41FA5}">
                      <a16:colId xmlns:a16="http://schemas.microsoft.com/office/drawing/2014/main" val="2501162155"/>
                    </a:ext>
                  </a:extLst>
                </a:gridCol>
                <a:gridCol w="605576">
                  <a:extLst>
                    <a:ext uri="{9D8B030D-6E8A-4147-A177-3AD203B41FA5}">
                      <a16:colId xmlns:a16="http://schemas.microsoft.com/office/drawing/2014/main" val="3340318693"/>
                    </a:ext>
                  </a:extLst>
                </a:gridCol>
                <a:gridCol w="605576">
                  <a:extLst>
                    <a:ext uri="{9D8B030D-6E8A-4147-A177-3AD203B41FA5}">
                      <a16:colId xmlns:a16="http://schemas.microsoft.com/office/drawing/2014/main" val="1600577131"/>
                    </a:ext>
                  </a:extLst>
                </a:gridCol>
              </a:tblGrid>
              <a:tr h="14264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ESOT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’26.1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월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월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월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4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월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5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월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6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월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7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월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8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월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09625"/>
                  </a:ext>
                </a:extLst>
              </a:tr>
              <a:tr h="15106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수율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99.49%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99.56%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99.68%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99.79%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99.83%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99.81%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99.79%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99.82%</a:t>
                      </a: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299687"/>
                  </a:ext>
                </a:extLst>
              </a:tr>
              <a:tr h="15106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NG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 마킹 불량률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0.731%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0.584%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0.554%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0.556%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0.296%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0.224%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0.187%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0.162%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088929"/>
                  </a:ext>
                </a:extLst>
              </a:tr>
              <a:tr h="151067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Top3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Foil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노출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0.139%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0.111%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0.057%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0.048%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0.026%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0.029%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0.033%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0.024%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016890"/>
                  </a:ext>
                </a:extLst>
              </a:tr>
              <a:tr h="151067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Tab pitch</a:t>
                      </a:r>
                      <a:endParaRPr lang="ko-KR" altLang="en-US" sz="900" b="0" i="0" u="none" strike="noStrike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0.088%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0.063%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0.035%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0.035%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0.017%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0.016%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0.022%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0.009%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540934"/>
                  </a:ext>
                </a:extLst>
              </a:tr>
              <a:tr h="151067"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Tab burr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0.001%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0.002%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0.006%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0.019%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0.011%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0.041%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0.024%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0.017%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271105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27A49FAD-8FEA-64AB-D403-A5B201AA0CE9}"/>
              </a:ext>
            </a:extLst>
          </p:cNvPr>
          <p:cNvGraphicFramePr>
            <a:graphicFrameLocks noGrp="1"/>
          </p:cNvGraphicFramePr>
          <p:nvPr/>
        </p:nvGraphicFramePr>
        <p:xfrm>
          <a:off x="845514" y="5147248"/>
          <a:ext cx="6188087" cy="1120203"/>
        </p:xfrm>
        <a:graphic>
          <a:graphicData uri="http://schemas.openxmlformats.org/drawingml/2006/table">
            <a:tbl>
              <a:tblPr/>
              <a:tblGrid>
                <a:gridCol w="319055">
                  <a:extLst>
                    <a:ext uri="{9D8B030D-6E8A-4147-A177-3AD203B41FA5}">
                      <a16:colId xmlns:a16="http://schemas.microsoft.com/office/drawing/2014/main" val="3836864001"/>
                    </a:ext>
                  </a:extLst>
                </a:gridCol>
                <a:gridCol w="1007792">
                  <a:extLst>
                    <a:ext uri="{9D8B030D-6E8A-4147-A177-3AD203B41FA5}">
                      <a16:colId xmlns:a16="http://schemas.microsoft.com/office/drawing/2014/main" val="187016343"/>
                    </a:ext>
                  </a:extLst>
                </a:gridCol>
                <a:gridCol w="607655">
                  <a:extLst>
                    <a:ext uri="{9D8B030D-6E8A-4147-A177-3AD203B41FA5}">
                      <a16:colId xmlns:a16="http://schemas.microsoft.com/office/drawing/2014/main" val="3883545405"/>
                    </a:ext>
                  </a:extLst>
                </a:gridCol>
                <a:gridCol w="607655">
                  <a:extLst>
                    <a:ext uri="{9D8B030D-6E8A-4147-A177-3AD203B41FA5}">
                      <a16:colId xmlns:a16="http://schemas.microsoft.com/office/drawing/2014/main" val="4077985060"/>
                    </a:ext>
                  </a:extLst>
                </a:gridCol>
                <a:gridCol w="607655">
                  <a:extLst>
                    <a:ext uri="{9D8B030D-6E8A-4147-A177-3AD203B41FA5}">
                      <a16:colId xmlns:a16="http://schemas.microsoft.com/office/drawing/2014/main" val="438205324"/>
                    </a:ext>
                  </a:extLst>
                </a:gridCol>
                <a:gridCol w="607655">
                  <a:extLst>
                    <a:ext uri="{9D8B030D-6E8A-4147-A177-3AD203B41FA5}">
                      <a16:colId xmlns:a16="http://schemas.microsoft.com/office/drawing/2014/main" val="3708968642"/>
                    </a:ext>
                  </a:extLst>
                </a:gridCol>
                <a:gridCol w="607655">
                  <a:extLst>
                    <a:ext uri="{9D8B030D-6E8A-4147-A177-3AD203B41FA5}">
                      <a16:colId xmlns:a16="http://schemas.microsoft.com/office/drawing/2014/main" val="893647682"/>
                    </a:ext>
                  </a:extLst>
                </a:gridCol>
                <a:gridCol w="607655">
                  <a:extLst>
                    <a:ext uri="{9D8B030D-6E8A-4147-A177-3AD203B41FA5}">
                      <a16:colId xmlns:a16="http://schemas.microsoft.com/office/drawing/2014/main" val="2501162155"/>
                    </a:ext>
                  </a:extLst>
                </a:gridCol>
                <a:gridCol w="607655">
                  <a:extLst>
                    <a:ext uri="{9D8B030D-6E8A-4147-A177-3AD203B41FA5}">
                      <a16:colId xmlns:a16="http://schemas.microsoft.com/office/drawing/2014/main" val="2212067577"/>
                    </a:ext>
                  </a:extLst>
                </a:gridCol>
                <a:gridCol w="607655">
                  <a:extLst>
                    <a:ext uri="{9D8B030D-6E8A-4147-A177-3AD203B41FA5}">
                      <a16:colId xmlns:a16="http://schemas.microsoft.com/office/drawing/2014/main" val="4140402617"/>
                    </a:ext>
                  </a:extLst>
                </a:gridCol>
              </a:tblGrid>
              <a:tr h="15603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ESMI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’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26.1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09625"/>
                  </a:ext>
                </a:extLst>
              </a:tr>
              <a:tr h="160695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수율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98.96%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99.02%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98.99%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99.17%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99.39%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99.40%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99.71%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99.76%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5405078"/>
                  </a:ext>
                </a:extLst>
              </a:tr>
              <a:tr h="160695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NG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마킹 불량률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0.441%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0.307%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0.288%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0.201%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0.196%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0.150%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0.255%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0.168%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088929"/>
                  </a:ext>
                </a:extLst>
              </a:tr>
              <a:tr h="160695"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Top4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CNTT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0.055%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0.050%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0.048%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0.041%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0.037%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0.034%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0.039%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0.035%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016890"/>
                  </a:ext>
                </a:extLst>
              </a:tr>
              <a:tr h="160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외관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_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0.084%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0.042%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0.064%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0.065%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0.066%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0.039%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0.063%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0.047%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540934"/>
                  </a:ext>
                </a:extLst>
              </a:tr>
              <a:tr h="160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Shoulder line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0.030%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0.032%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0.037%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0.025%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0.034%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0.058%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0.045%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0.032%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06359"/>
                  </a:ext>
                </a:extLst>
              </a:tr>
              <a:tr h="1606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Foil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노출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0.071%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0.033%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0.037%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0.024%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0.016%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0.014%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0.030%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0.023%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27110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A17B5E4E-DE40-F370-5572-6B1FCCA54614}"/>
              </a:ext>
            </a:extLst>
          </p:cNvPr>
          <p:cNvSpPr txBox="1"/>
          <p:nvPr/>
        </p:nvSpPr>
        <p:spPr>
          <a:xfrm>
            <a:off x="769736" y="3963430"/>
            <a:ext cx="383976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ESOT/ESMI </a:t>
            </a:r>
            <a:r>
              <a:rPr kumimoji="1" lang="ko-KR" altLang="en-US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수율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및 </a:t>
            </a:r>
            <a:r>
              <a:rPr kumimoji="1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NG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마킹 불량 현황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3A848F-369C-527E-A748-4F693C4BFD2F}"/>
              </a:ext>
            </a:extLst>
          </p:cNvPr>
          <p:cNvSpPr txBox="1"/>
          <p:nvPr/>
        </p:nvSpPr>
        <p:spPr>
          <a:xfrm>
            <a:off x="7033600" y="4609613"/>
            <a:ext cx="2839774" cy="411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7</a:t>
            </a:r>
            <a:r>
              <a:rPr kumimoji="1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월초까지 검사조건 변경으로 인해 </a:t>
            </a:r>
            <a:r>
              <a:rPr kumimoji="1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Foil</a:t>
            </a:r>
            <a:r>
              <a:rPr kumimoji="1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노출과 </a:t>
            </a:r>
            <a:r>
              <a:rPr kumimoji="1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Tab pitch</a:t>
            </a:r>
            <a:r>
              <a:rPr kumimoji="1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의 불량이 일시적으로 증가하였음 </a:t>
            </a:r>
            <a:r>
              <a:rPr kumimoji="1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1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현재는 검사조건 리셋</a:t>
            </a:r>
            <a:r>
              <a:rPr kumimoji="1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985B1D1D-768D-EE12-2A39-49B659A9FB57}"/>
              </a:ext>
            </a:extLst>
          </p:cNvPr>
          <p:cNvGraphicFramePr>
            <a:graphicFrameLocks noGrp="1"/>
          </p:cNvGraphicFramePr>
          <p:nvPr/>
        </p:nvGraphicFramePr>
        <p:xfrm>
          <a:off x="5443538" y="3242512"/>
          <a:ext cx="2839775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955">
                  <a:extLst>
                    <a:ext uri="{9D8B030D-6E8A-4147-A177-3AD203B41FA5}">
                      <a16:colId xmlns:a16="http://schemas.microsoft.com/office/drawing/2014/main" val="2720983781"/>
                    </a:ext>
                  </a:extLst>
                </a:gridCol>
                <a:gridCol w="567955">
                  <a:extLst>
                    <a:ext uri="{9D8B030D-6E8A-4147-A177-3AD203B41FA5}">
                      <a16:colId xmlns:a16="http://schemas.microsoft.com/office/drawing/2014/main" val="2904863391"/>
                    </a:ext>
                  </a:extLst>
                </a:gridCol>
                <a:gridCol w="567955">
                  <a:extLst>
                    <a:ext uri="{9D8B030D-6E8A-4147-A177-3AD203B41FA5}">
                      <a16:colId xmlns:a16="http://schemas.microsoft.com/office/drawing/2014/main" val="3990810299"/>
                    </a:ext>
                  </a:extLst>
                </a:gridCol>
                <a:gridCol w="567955">
                  <a:extLst>
                    <a:ext uri="{9D8B030D-6E8A-4147-A177-3AD203B41FA5}">
                      <a16:colId xmlns:a16="http://schemas.microsoft.com/office/drawing/2014/main" val="3577638423"/>
                    </a:ext>
                  </a:extLst>
                </a:gridCol>
                <a:gridCol w="567955">
                  <a:extLst>
                    <a:ext uri="{9D8B030D-6E8A-4147-A177-3AD203B41FA5}">
                      <a16:colId xmlns:a16="http://schemas.microsoft.com/office/drawing/2014/main" val="11129467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5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6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7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61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양극</a:t>
                      </a:r>
                      <a:endParaRPr lang="en-US" altLang="ko-KR" sz="800" b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0.32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0.36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0.38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>
                          <a:solidFill>
                            <a:srgbClr val="0000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0.25</a:t>
                      </a:r>
                      <a:endParaRPr lang="ko-KR" altLang="en-US" sz="800" b="0">
                        <a:solidFill>
                          <a:srgbClr val="0000F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350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음극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0.14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0.12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0.17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0.08</a:t>
                      </a:r>
                      <a:endParaRPr lang="ko-KR" altLang="en-US" sz="800" b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29969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CB139DA-A0BF-3803-68F1-F0FFC76580F2}"/>
              </a:ext>
            </a:extLst>
          </p:cNvPr>
          <p:cNvSpPr txBox="1"/>
          <p:nvPr/>
        </p:nvSpPr>
        <p:spPr>
          <a:xfrm>
            <a:off x="8261158" y="3437913"/>
            <a:ext cx="1419887" cy="411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</a:t>
            </a:r>
            <a:r>
              <a:rPr kumimoji="1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양극 개선 진행 중 이며</a:t>
            </a:r>
            <a:r>
              <a:rPr kumimoji="1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 7</a:t>
            </a:r>
            <a:r>
              <a:rPr kumimoji="1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대비 </a:t>
            </a:r>
            <a:r>
              <a:rPr kumimoji="1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34% </a:t>
            </a:r>
            <a:r>
              <a:rPr kumimoji="1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저감 중</a:t>
            </a:r>
            <a:endParaRPr kumimoji="1" lang="en-US" altLang="ko-KR" sz="9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429C7A-285A-8B5A-544B-100AE0C6C7EF}"/>
              </a:ext>
            </a:extLst>
          </p:cNvPr>
          <p:cNvSpPr txBox="1"/>
          <p:nvPr/>
        </p:nvSpPr>
        <p:spPr>
          <a:xfrm>
            <a:off x="7332050" y="3005462"/>
            <a:ext cx="1015025" cy="245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1" lang="ko-KR" altLang="en-US" sz="9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단위 </a:t>
            </a:r>
            <a:r>
              <a:rPr kumimoji="1" lang="en-US" altLang="ko-KR" sz="9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[</a:t>
            </a:r>
            <a:r>
              <a:rPr kumimoji="1" lang="ko-KR" altLang="en-US" sz="9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회</a:t>
            </a:r>
            <a:r>
              <a:rPr kumimoji="1" lang="en-US" altLang="ko-KR" sz="9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/10km]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1BB8E5-1967-88A8-5347-C6CE785315DF}"/>
              </a:ext>
            </a:extLst>
          </p:cNvPr>
          <p:cNvSpPr txBox="1"/>
          <p:nvPr/>
        </p:nvSpPr>
        <p:spPr>
          <a:xfrm>
            <a:off x="5367338" y="3005462"/>
            <a:ext cx="1015025" cy="245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1" lang="en-US" altLang="ko-KR" sz="9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※ESMI </a:t>
            </a:r>
            <a:r>
              <a:rPr kumimoji="1" lang="ko-KR" altLang="en-US" sz="9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단선 현황</a:t>
            </a:r>
            <a:endParaRPr kumimoji="1" lang="en-US" altLang="ko-KR" sz="900" b="1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479C57-584F-AFFC-B37E-86830999D468}"/>
              </a:ext>
            </a:extLst>
          </p:cNvPr>
          <p:cNvSpPr txBox="1"/>
          <p:nvPr/>
        </p:nvSpPr>
        <p:spPr>
          <a:xfrm>
            <a:off x="4811437" y="6669360"/>
            <a:ext cx="409086" cy="16927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8 / 9</a:t>
            </a:r>
            <a:endParaRPr kumimoji="0" lang="ko-KR" altLang="en-US" sz="11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9411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실행 단추: 홈으로 이동 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B600AAE1-3CAC-6B62-26DF-BC3FAE911AD9}"/>
              </a:ext>
            </a:extLst>
          </p:cNvPr>
          <p:cNvSpPr/>
          <p:nvPr/>
        </p:nvSpPr>
        <p:spPr>
          <a:xfrm>
            <a:off x="9605010" y="116632"/>
            <a:ext cx="211279" cy="211279"/>
          </a:xfrm>
          <a:prstGeom prst="actionButtonHom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E70E57-D80E-12CB-E7BA-83E81C798BFD}"/>
              </a:ext>
            </a:extLst>
          </p:cNvPr>
          <p:cNvSpPr/>
          <p:nvPr/>
        </p:nvSpPr>
        <p:spPr>
          <a:xfrm>
            <a:off x="183965" y="1034602"/>
            <a:ext cx="432048" cy="5452113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업무내용</a:t>
            </a: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F7D42BB-01B4-5F0D-E360-692774A09D24}"/>
              </a:ext>
            </a:extLst>
          </p:cNvPr>
          <p:cNvGrpSpPr/>
          <p:nvPr/>
        </p:nvGrpSpPr>
        <p:grpSpPr>
          <a:xfrm>
            <a:off x="776537" y="718586"/>
            <a:ext cx="4230314" cy="347659"/>
            <a:chOff x="-1158101" y="188640"/>
            <a:chExt cx="3993161" cy="34765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E3CAD02-BD7F-0F81-E938-BE4F5A364FDC}"/>
                </a:ext>
              </a:extLst>
            </p:cNvPr>
            <p:cNvSpPr txBox="1"/>
            <p:nvPr/>
          </p:nvSpPr>
          <p:spPr>
            <a:xfrm>
              <a:off x="450672" y="188640"/>
              <a:ext cx="958917" cy="3476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진척 사항</a:t>
              </a: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4F2C47E6-7B18-5CE6-1D5E-D0C7FD7D7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158101" y="504656"/>
              <a:ext cx="3993161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D05CA94-E0C1-33DF-3589-5AF42D01A70F}"/>
              </a:ext>
            </a:extLst>
          </p:cNvPr>
          <p:cNvGrpSpPr/>
          <p:nvPr/>
        </p:nvGrpSpPr>
        <p:grpSpPr>
          <a:xfrm>
            <a:off x="5331198" y="718586"/>
            <a:ext cx="4230314" cy="347659"/>
            <a:chOff x="-1515407" y="188640"/>
            <a:chExt cx="4550822" cy="34765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5DCA91A-EE5F-2E3F-B433-8E41235B9CB4}"/>
                </a:ext>
              </a:extLst>
            </p:cNvPr>
            <p:cNvSpPr txBox="1"/>
            <p:nvPr/>
          </p:nvSpPr>
          <p:spPr>
            <a:xfrm>
              <a:off x="374571" y="188640"/>
              <a:ext cx="958917" cy="3476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특이 사항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947296C4-3C14-0D05-A8FA-9949DBD658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515407" y="504656"/>
              <a:ext cx="4550822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" name="제목 3">
            <a:extLst>
              <a:ext uri="{FF2B5EF4-FFF2-40B4-BE49-F238E27FC236}">
                <a16:creationId xmlns:a16="http://schemas.microsoft.com/office/drawing/2014/main" id="{6250791C-1020-740A-06F4-0E4CC652492B}"/>
              </a:ext>
            </a:extLst>
          </p:cNvPr>
          <p:cNvSpPr txBox="1">
            <a:spLocks/>
          </p:cNvSpPr>
          <p:nvPr/>
        </p:nvSpPr>
        <p:spPr>
          <a:xfrm>
            <a:off x="134569" y="116449"/>
            <a:ext cx="4011626" cy="369332"/>
          </a:xfrm>
          <a:prstGeom prst="rect">
            <a:avLst/>
          </a:prstGeo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3.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 월별 진척사항 및 특이사항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(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조립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FDC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팀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)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 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AF53FFBF-9EEE-A878-8DA4-74F5805A9AFC}"/>
              </a:ext>
            </a:extLst>
          </p:cNvPr>
          <p:cNvSpPr txBox="1"/>
          <p:nvPr/>
        </p:nvSpPr>
        <p:spPr>
          <a:xfrm>
            <a:off x="690015" y="1134836"/>
            <a:ext cx="2618586" cy="29662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확산과제 전개 현황  </a:t>
            </a:r>
            <a:endParaRPr kumimoji="1" lang="en-US" altLang="ko-KR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D5BDC88E-9DFF-1EDD-711A-B7F1998DEFB3}"/>
              </a:ext>
            </a:extLst>
          </p:cNvPr>
          <p:cNvSpPr txBox="1"/>
          <p:nvPr/>
        </p:nvSpPr>
        <p:spPr>
          <a:xfrm>
            <a:off x="5318496" y="1134836"/>
            <a:ext cx="2206934" cy="29662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셀 </a:t>
            </a:r>
            <a:r>
              <a:rPr kumimoji="1" lang="ko-KR" altLang="en-US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수율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개선 활동 </a:t>
            </a:r>
            <a:endParaRPr kumimoji="1" lang="en-US" altLang="ko-KR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333C4EE-B62A-0CB9-2A33-D7A42BCC2196}"/>
              </a:ext>
            </a:extLst>
          </p:cNvPr>
          <p:cNvSpPr txBox="1"/>
          <p:nvPr/>
        </p:nvSpPr>
        <p:spPr>
          <a:xfrm>
            <a:off x="5414851" y="1428467"/>
            <a:ext cx="4453050" cy="1039452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0" marR="0" lvl="1" indent="0" algn="l" defTabSz="844083" rtl="0" eaLnBrk="1" fontAlgn="base" latinLnBrk="1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(WA) </a:t>
            </a:r>
            <a:r>
              <a:rPr kumimoji="1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공급부 </a:t>
            </a:r>
            <a:r>
              <a:rPr kumimoji="1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Spool EPC </a:t>
            </a:r>
            <a:r>
              <a:rPr kumimoji="1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이상감지 적확도 향상을 통한 </a:t>
            </a:r>
            <a:r>
              <a:rPr kumimoji="1" lang="en-US" altLang="ko-KR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Y</a:t>
            </a:r>
            <a:r>
              <a:rPr kumimoji="1" lang="ko-KR" altLang="en-US" sz="1100" b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축 위치불량 개선</a:t>
            </a:r>
            <a:endParaRPr kumimoji="1" lang="en-US" altLang="ko-KR" sz="1100" b="1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marL="0" lvl="1" defTabSz="844083" fontAlgn="base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5000"/>
              <a:defRPr/>
            </a:pP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   -. 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전극 공급부 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Spool FDC 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알람 적확도 개선을 위한 재료교체 시점 신호 연결</a:t>
            </a:r>
            <a:endParaRPr kumimoji="1" lang="en-US" altLang="ko-KR" sz="11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  <a:p>
            <a:pPr marL="0" lvl="1" defTabSz="844083" fontAlgn="base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5000"/>
              <a:defRPr/>
            </a:pP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  -. 10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분 데이터 내 안정화 시점 기준으로 변동량 산출하여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,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큰 변동은 감지하고</a:t>
            </a:r>
            <a:b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    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순간적인 변동은 무시하는 로직을 적용하여 적확도 향상 진행  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endParaRPr kumimoji="1" lang="en-US" altLang="ko-KR" sz="11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0C4CAA-F03F-159E-52DA-BCD3C4DBD7EC}"/>
              </a:ext>
            </a:extLst>
          </p:cNvPr>
          <p:cNvSpPr txBox="1"/>
          <p:nvPr/>
        </p:nvSpPr>
        <p:spPr>
          <a:xfrm>
            <a:off x="4811437" y="6669360"/>
            <a:ext cx="409086" cy="16927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9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/ 9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D2C989-D4A7-34C2-243B-160D350741A9}"/>
              </a:ext>
            </a:extLst>
          </p:cNvPr>
          <p:cNvSpPr txBox="1"/>
          <p:nvPr/>
        </p:nvSpPr>
        <p:spPr>
          <a:xfrm>
            <a:off x="739625" y="6266494"/>
            <a:ext cx="2559923" cy="245452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R="0" lvl="0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tabLst/>
              <a:defRPr/>
            </a:pPr>
            <a:r>
              <a:rPr kumimoji="1" lang="en-US" altLang="ko-KR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</a:t>
            </a:r>
            <a:r>
              <a:rPr kumimoji="1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잔여 과제 </a:t>
            </a:r>
            <a:r>
              <a:rPr kumimoji="1" lang="en-US" altLang="ko-KR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1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 </a:t>
            </a:r>
            <a:r>
              <a:rPr kumimoji="1" lang="en-US" altLang="ko-KR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FDC</a:t>
            </a:r>
            <a:r>
              <a:rPr kumimoji="1" lang="ko-KR" altLang="en-US" sz="9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데이터 연결 및 정합성 점검 중</a:t>
            </a:r>
            <a:endParaRPr kumimoji="1" lang="en-US" altLang="ko-KR" sz="9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5363B33-3C41-2AD0-DF77-901BA3A72B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430149"/>
              </p:ext>
            </p:extLst>
          </p:nvPr>
        </p:nvGraphicFramePr>
        <p:xfrm>
          <a:off x="753216" y="1437896"/>
          <a:ext cx="4464950" cy="4864808"/>
        </p:xfrm>
        <a:graphic>
          <a:graphicData uri="http://schemas.openxmlformats.org/drawingml/2006/table">
            <a:tbl>
              <a:tblPr/>
              <a:tblGrid>
                <a:gridCol w="149338">
                  <a:extLst>
                    <a:ext uri="{9D8B030D-6E8A-4147-A177-3AD203B41FA5}">
                      <a16:colId xmlns:a16="http://schemas.microsoft.com/office/drawing/2014/main" val="2498142086"/>
                    </a:ext>
                  </a:extLst>
                </a:gridCol>
                <a:gridCol w="2443275">
                  <a:extLst>
                    <a:ext uri="{9D8B030D-6E8A-4147-A177-3AD203B41FA5}">
                      <a16:colId xmlns:a16="http://schemas.microsoft.com/office/drawing/2014/main" val="4212490870"/>
                    </a:ext>
                  </a:extLst>
                </a:gridCol>
                <a:gridCol w="323962">
                  <a:extLst>
                    <a:ext uri="{9D8B030D-6E8A-4147-A177-3AD203B41FA5}">
                      <a16:colId xmlns:a16="http://schemas.microsoft.com/office/drawing/2014/main" val="3443945286"/>
                    </a:ext>
                  </a:extLst>
                </a:gridCol>
                <a:gridCol w="309675">
                  <a:extLst>
                    <a:ext uri="{9D8B030D-6E8A-4147-A177-3AD203B41FA5}">
                      <a16:colId xmlns:a16="http://schemas.microsoft.com/office/drawing/2014/main" val="1160825938"/>
                    </a:ext>
                  </a:extLst>
                </a:gridCol>
                <a:gridCol w="309675">
                  <a:extLst>
                    <a:ext uri="{9D8B030D-6E8A-4147-A177-3AD203B41FA5}">
                      <a16:colId xmlns:a16="http://schemas.microsoft.com/office/drawing/2014/main" val="633199078"/>
                    </a:ext>
                  </a:extLst>
                </a:gridCol>
                <a:gridCol w="309675">
                  <a:extLst>
                    <a:ext uri="{9D8B030D-6E8A-4147-A177-3AD203B41FA5}">
                      <a16:colId xmlns:a16="http://schemas.microsoft.com/office/drawing/2014/main" val="3528386163"/>
                    </a:ext>
                  </a:extLst>
                </a:gridCol>
                <a:gridCol w="309675">
                  <a:extLst>
                    <a:ext uri="{9D8B030D-6E8A-4147-A177-3AD203B41FA5}">
                      <a16:colId xmlns:a16="http://schemas.microsoft.com/office/drawing/2014/main" val="2653737774"/>
                    </a:ext>
                  </a:extLst>
                </a:gridCol>
                <a:gridCol w="309675">
                  <a:extLst>
                    <a:ext uri="{9D8B030D-6E8A-4147-A177-3AD203B41FA5}">
                      <a16:colId xmlns:a16="http://schemas.microsoft.com/office/drawing/2014/main" val="3292697615"/>
                    </a:ext>
                  </a:extLst>
                </a:gridCol>
              </a:tblGrid>
              <a:tr h="1871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</a:t>
                      </a:r>
                      <a:endParaRPr lang="ko-KR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" marR="72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항목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WA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HL</a:t>
                      </a:r>
                      <a:endParaRPr lang="ko-KR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MILS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OT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HD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HG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273180"/>
                  </a:ext>
                </a:extLst>
              </a:tr>
              <a:tr h="1871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" marR="72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Vision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이상감지(조립)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월)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월)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월)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(~9월)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964285"/>
                  </a:ext>
                </a:extLst>
              </a:tr>
              <a:tr h="1871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" marR="72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히터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전류값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FDC 적용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72753"/>
                  </a:ext>
                </a:extLst>
              </a:tr>
              <a:tr h="1871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" marR="72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 EPC 변동량 모니터링을 통한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Y축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위치불량 개선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월)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423059"/>
                  </a:ext>
                </a:extLst>
              </a:tr>
              <a:tr h="1871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" marR="72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Lami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Data NG 가성 불량 개선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8284334"/>
                  </a:ext>
                </a:extLst>
              </a:tr>
              <a:tr h="1871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" marR="72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LMS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Swing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Clamp의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동작시간을 포지션별로 모델링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210566"/>
                  </a:ext>
                </a:extLst>
              </a:tr>
              <a:tr h="1871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" marR="72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Final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C/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속도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보상량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모니터링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LNS 전극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컷팅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불량 개선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787216"/>
                  </a:ext>
                </a:extLst>
              </a:tr>
              <a:tr h="1871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" marR="72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Normal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Cell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반전기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OUT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Popup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Unit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Cylinder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Leak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사전감지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881607"/>
                  </a:ext>
                </a:extLst>
              </a:tr>
              <a:tr h="1871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" marR="72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STACK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Clamp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Z축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동작이상 사전감지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691819"/>
                  </a:ext>
                </a:extLst>
              </a:tr>
              <a:tr h="1871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" marR="72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합치 </a:t>
                      </a: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가접롤러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Gap 정합화를 통한 AA 치수 공정능력 개선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월)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월)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7388451"/>
                  </a:ext>
                </a:extLst>
              </a:tr>
              <a:tr h="1871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endParaRPr 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" marR="72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D-Stk</a:t>
                      </a:r>
                      <a:r>
                        <a:rPr 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파기솔</a:t>
                      </a:r>
                      <a:r>
                        <a:rPr 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진공압</a:t>
                      </a:r>
                      <a:r>
                        <a:rPr 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이상감지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월)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938713"/>
                  </a:ext>
                </a:extLst>
              </a:tr>
              <a:tr h="1871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11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" marR="72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리니어 모터 온도/</a:t>
                      </a: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부하율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기반의 이상감지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월)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04906"/>
                  </a:ext>
                </a:extLst>
              </a:tr>
              <a:tr h="1871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" marR="72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ADE 기반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라미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컷터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패턴 이상감지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(~12월)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월)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(~9월)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~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월)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280663"/>
                  </a:ext>
                </a:extLst>
              </a:tr>
              <a:tr h="1871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" marR="72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Folding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Align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C/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진공압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변동 FDC 알람 적용 (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bicell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위치불량)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0617485"/>
                  </a:ext>
                </a:extLst>
              </a:tr>
              <a:tr h="1871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" marR="72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PKG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Scrap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집진 유량 FDC 적용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275397"/>
                  </a:ext>
                </a:extLst>
              </a:tr>
              <a:tr h="1871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15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" marR="72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Hibar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Pump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주액량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보정량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모니터링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전해액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주액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산포 개선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301954"/>
                  </a:ext>
                </a:extLst>
              </a:tr>
              <a:tr h="1871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16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" marR="72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PKG 파우치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폴딩테이블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흡착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Pad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이상감지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월)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(~9월)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407160"/>
                  </a:ext>
                </a:extLst>
              </a:tr>
              <a:tr h="1871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17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" marR="72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돌출 불량 확인을 위해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Tab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press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LDC 값 모니터링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334985"/>
                  </a:ext>
                </a:extLst>
              </a:tr>
              <a:tr h="1871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18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" marR="72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PKG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Hibar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Pump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부하율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모니터링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253147"/>
                  </a:ext>
                </a:extLst>
              </a:tr>
              <a:tr h="1871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19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" marR="72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PKG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Forming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Press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SVM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부하율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모니터링 </a:t>
                      </a:r>
                      <a:r>
                        <a:rPr lang="ko-KR" altLang="en-U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구리스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주유 감지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691251"/>
                  </a:ext>
                </a:extLst>
              </a:tr>
              <a:tr h="1871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" marR="72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PKG 레이저 용접 품질 개선위한 질소 공급 유량 값 FDC 적용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627849"/>
                  </a:ext>
                </a:extLst>
              </a:tr>
              <a:tr h="1871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21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" marR="72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PKG LMS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Swing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Clamp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높이 감지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Sensor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추가 개선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32247"/>
                  </a:ext>
                </a:extLst>
              </a:tr>
              <a:tr h="1871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22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" marR="72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AZS 1차, 2차, P&amp;P 진공도 FDC 알람 적용 (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전극접힘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불량)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260172"/>
                  </a:ext>
                </a:extLst>
              </a:tr>
              <a:tr h="1871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23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" marR="72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Probe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Pin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점검 조치 개선 (TBM → CBM 전환)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852513"/>
                  </a:ext>
                </a:extLst>
              </a:tr>
              <a:tr h="1871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24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" marR="72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고온Aging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Crane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진동 센서 알람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7114754"/>
                  </a:ext>
                </a:extLst>
              </a:tr>
              <a:tr h="1871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25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" marR="72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유압실린더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오일 부족현상 CBM 화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비대상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</a:t>
                      </a:r>
                    </a:p>
                  </a:txBody>
                  <a:tcPr marL="7200" marR="72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136094"/>
                  </a:ext>
                </a:extLst>
              </a:tr>
            </a:tbl>
          </a:graphicData>
        </a:graphic>
      </p:graphicFrame>
      <p:sp>
        <p:nvSpPr>
          <p:cNvPr id="265" name="실행 단추: 끝으로 이동 264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0B449099-E942-C889-7E52-DC0DC4A68DFB}"/>
              </a:ext>
            </a:extLst>
          </p:cNvPr>
          <p:cNvSpPr/>
          <p:nvPr/>
        </p:nvSpPr>
        <p:spPr>
          <a:xfrm>
            <a:off x="9404827" y="1506078"/>
            <a:ext cx="180000" cy="126000"/>
          </a:xfrm>
          <a:prstGeom prst="actionButtonEnd">
            <a:avLst/>
          </a:prstGeom>
          <a:solidFill>
            <a:sysClr val="window" lastClr="FFFFFF">
              <a:lumMod val="7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0F32D8E-2B7A-9AD1-AD92-DC3564D1ABED}"/>
              </a:ext>
            </a:extLst>
          </p:cNvPr>
          <p:cNvSpPr txBox="1"/>
          <p:nvPr/>
        </p:nvSpPr>
        <p:spPr>
          <a:xfrm>
            <a:off x="5414851" y="2979944"/>
            <a:ext cx="4453050" cy="2132059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0" marR="0" lvl="1" indent="0" algn="l" defTabSz="844083" rtl="0" eaLnBrk="1" fontAlgn="base" latinLnBrk="1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(</a:t>
            </a:r>
            <a:r>
              <a:rPr kumimoji="1"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OT</a:t>
            </a: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) </a:t>
            </a:r>
            <a:r>
              <a:rPr kumimoji="1" lang="ko-KR" altLang="en-US" sz="11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라미</a:t>
            </a:r>
            <a:r>
              <a:rPr kumimoji="1"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전극 </a:t>
            </a:r>
            <a:r>
              <a:rPr kumimoji="1" lang="ko-KR" altLang="en-US" sz="11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컷터</a:t>
            </a:r>
            <a:r>
              <a:rPr kumimoji="1"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ko-KR" altLang="en-US" sz="11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그리퍼</a:t>
            </a:r>
            <a:r>
              <a:rPr kumimoji="1"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유량 </a:t>
            </a:r>
            <a:r>
              <a:rPr kumimoji="1" lang="en-US" altLang="ko-KR" sz="11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Cpk</a:t>
            </a:r>
            <a:r>
              <a:rPr kumimoji="1" lang="en-US" altLang="ko-KR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ko-KR" altLang="en-US" sz="11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연계 모델링 고도화 운영 </a:t>
            </a:r>
            <a:endParaRPr kumimoji="1" lang="en-US" altLang="ko-KR" sz="11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marL="0" lvl="1" defTabSz="844083" fontAlgn="base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5000"/>
              <a:defRPr/>
            </a:pPr>
            <a:r>
              <a:rPr kumimoji="1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   -. </a:t>
            </a:r>
            <a:r>
              <a:rPr kumimoji="1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배경 </a:t>
            </a:r>
            <a:r>
              <a:rPr kumimoji="1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: ESOT </a:t>
            </a:r>
            <a:r>
              <a:rPr kumimoji="1" lang="ko-KR" altLang="en-US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라미네이션</a:t>
            </a:r>
            <a:r>
              <a:rPr kumimoji="1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</a:t>
            </a:r>
            <a:r>
              <a:rPr kumimoji="1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FDC</a:t>
            </a:r>
            <a:r>
              <a:rPr kumimoji="1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알람 중 </a:t>
            </a:r>
            <a:r>
              <a:rPr kumimoji="1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80% </a:t>
            </a:r>
            <a:r>
              <a:rPr kumimoji="1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이상이 유량 관련 알람이며</a:t>
            </a:r>
            <a:r>
              <a:rPr kumimoji="1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, </a:t>
            </a:r>
            <a:br>
              <a:rPr kumimoji="1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</a:br>
            <a:r>
              <a:rPr kumimoji="1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                 </a:t>
            </a:r>
            <a:r>
              <a:rPr kumimoji="1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불량과의 관련성 확인이 안되는 경우에도 교체를 진행하고 있음</a:t>
            </a: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.</a:t>
            </a:r>
            <a:b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                </a:t>
            </a:r>
            <a:r>
              <a:rPr kumimoji="1"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이에 따라</a:t>
            </a: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, </a:t>
            </a:r>
            <a:r>
              <a:rPr kumimoji="1"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품질과 연계하여 커터 </a:t>
            </a:r>
            <a:r>
              <a:rPr kumimoji="1" lang="ko-KR" altLang="en-US" sz="11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그리퍼를</a:t>
            </a:r>
            <a:r>
              <a:rPr kumimoji="1"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점검 후 교체하려는 </a:t>
            </a:r>
            <a:b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                </a:t>
            </a:r>
            <a:r>
              <a:rPr kumimoji="1"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법인 니즈가 존재</a:t>
            </a: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.</a:t>
            </a:r>
            <a:endParaRPr kumimoji="1" lang="en-US" altLang="ko-KR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  <a:p>
            <a:pPr marL="0" lvl="1" defTabSz="844083" fontAlgn="base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5000"/>
              <a:defRPr/>
            </a:pP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  -. </a:t>
            </a:r>
            <a:r>
              <a:rPr kumimoji="1"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고도화 </a:t>
            </a: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: </a:t>
            </a:r>
            <a:r>
              <a:rPr kumimoji="1"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합치 비전의 </a:t>
            </a: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AA</a:t>
            </a:r>
            <a:r>
              <a:rPr kumimoji="1"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갭</a:t>
            </a: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kumimoji="1"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음극간 거리</a:t>
            </a: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), CC</a:t>
            </a:r>
            <a:r>
              <a:rPr kumimoji="1"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갭</a:t>
            </a: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kumimoji="1"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양극간 거리</a:t>
            </a: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) </a:t>
            </a:r>
            <a:r>
              <a:rPr kumimoji="1"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값의 </a:t>
            </a:r>
            <a:r>
              <a:rPr kumimoji="1" lang="en-US" altLang="ko-KR" sz="1100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Cpk</a:t>
            </a:r>
            <a:r>
              <a:rPr kumimoji="1"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를</a:t>
            </a:r>
            <a:b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                    FDC</a:t>
            </a:r>
            <a:r>
              <a:rPr kumimoji="1"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로 연동하여</a:t>
            </a: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, </a:t>
            </a:r>
            <a:r>
              <a:rPr kumimoji="1"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기존 유량 이상감지 로직에 조건을 추가 </a:t>
            </a: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(8/19).</a:t>
            </a:r>
            <a:b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                    *</a:t>
            </a:r>
            <a:r>
              <a:rPr kumimoji="1"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기존 로직 </a:t>
            </a: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: </a:t>
            </a:r>
            <a:r>
              <a:rPr kumimoji="1"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유량이 </a:t>
            </a: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4.0 </a:t>
            </a:r>
            <a:r>
              <a:rPr kumimoji="1"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이상</a:t>
            </a: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(Warning </a:t>
            </a:r>
            <a:r>
              <a:rPr kumimoji="1"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알람</a:t>
            </a: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), 5.5 </a:t>
            </a:r>
            <a:r>
              <a:rPr kumimoji="1"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이상</a:t>
            </a: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(Critical </a:t>
            </a:r>
            <a:r>
              <a:rPr kumimoji="1" lang="ko-KR" altLang="en-US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알람</a:t>
            </a:r>
            <a:r>
              <a:rPr kumimoji="1" lang="en-US" altLang="ko-KR" sz="11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)</a:t>
            </a:r>
          </a:p>
          <a:p>
            <a:pPr marL="0" lvl="1" defTabSz="844083" fontAlgn="base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5000"/>
              <a:defRPr/>
            </a:pPr>
            <a:r>
              <a:rPr kumimoji="1" lang="en-US" altLang="ko-KR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                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129B9D-75C3-0D25-9F2A-47803A694ED8}"/>
              </a:ext>
            </a:extLst>
          </p:cNvPr>
          <p:cNvSpPr txBox="1"/>
          <p:nvPr/>
        </p:nvSpPr>
        <p:spPr>
          <a:xfrm>
            <a:off x="5318496" y="2713473"/>
            <a:ext cx="2206934" cy="296620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164127" marR="0" lvl="0" indent="-164127" algn="l" defTabSz="844083" rtl="0" eaLnBrk="1" fontAlgn="base" latin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85000"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가동율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개선 활동 </a:t>
            </a:r>
            <a:endParaRPr kumimoji="1" lang="en-US" altLang="ko-KR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실행 단추: 끝으로 이동 1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D742A47F-989F-EEAC-9249-DC3816B21E75}"/>
              </a:ext>
            </a:extLst>
          </p:cNvPr>
          <p:cNvSpPr/>
          <p:nvPr/>
        </p:nvSpPr>
        <p:spPr>
          <a:xfrm>
            <a:off x="9404827" y="3036719"/>
            <a:ext cx="180000" cy="126000"/>
          </a:xfrm>
          <a:prstGeom prst="actionButtonEnd">
            <a:avLst/>
          </a:prstGeom>
          <a:solidFill>
            <a:sysClr val="window" lastClr="FFFFFF">
              <a:lumMod val="7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7632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실행 단추: 홈으로 이동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D64C017-CB33-2DE9-6A8A-0D8331FA08F5}"/>
              </a:ext>
            </a:extLst>
          </p:cNvPr>
          <p:cNvSpPr/>
          <p:nvPr/>
        </p:nvSpPr>
        <p:spPr>
          <a:xfrm>
            <a:off x="9605010" y="465945"/>
            <a:ext cx="211279" cy="211279"/>
          </a:xfrm>
          <a:prstGeom prst="actionButtonHom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" name="제목 3">
            <a:extLst>
              <a:ext uri="{FF2B5EF4-FFF2-40B4-BE49-F238E27FC236}">
                <a16:creationId xmlns:a16="http://schemas.microsoft.com/office/drawing/2014/main" id="{671BDD23-0021-D5EF-85F4-D5C54ECA5CB1}"/>
              </a:ext>
            </a:extLst>
          </p:cNvPr>
          <p:cNvSpPr txBox="1">
            <a:spLocks/>
          </p:cNvSpPr>
          <p:nvPr/>
        </p:nvSpPr>
        <p:spPr>
          <a:xfrm>
            <a:off x="134569" y="116449"/>
            <a:ext cx="3162248" cy="369332"/>
          </a:xfrm>
          <a:prstGeom prst="rect">
            <a:avLst/>
          </a:prstGeo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보조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공정별 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BM/PD Loss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트렌드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68D37A-C042-8D62-8F29-241271864CA9}"/>
              </a:ext>
            </a:extLst>
          </p:cNvPr>
          <p:cNvSpPr txBox="1"/>
          <p:nvPr/>
        </p:nvSpPr>
        <p:spPr>
          <a:xfrm>
            <a:off x="4497248" y="6650310"/>
            <a:ext cx="723275" cy="16927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보조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 1 / 2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E4CC9D5-8DFC-29C7-3BD9-9E3B41312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11" y="677224"/>
            <a:ext cx="4693813" cy="243061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6CB83A2-EB7F-1FDD-12CF-FAD514013C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3981" y="1138145"/>
            <a:ext cx="5132308" cy="190237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6517C02-6842-55B8-3C81-0410CBB0B9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232" y="3228941"/>
            <a:ext cx="9222583" cy="211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131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3">
            <a:extLst>
              <a:ext uri="{FF2B5EF4-FFF2-40B4-BE49-F238E27FC236}">
                <a16:creationId xmlns:a16="http://schemas.microsoft.com/office/drawing/2014/main" id="{671BDD23-0021-D5EF-85F4-D5C54ECA5CB1}"/>
              </a:ext>
            </a:extLst>
          </p:cNvPr>
          <p:cNvSpPr txBox="1">
            <a:spLocks/>
          </p:cNvSpPr>
          <p:nvPr/>
        </p:nvSpPr>
        <p:spPr>
          <a:xfrm>
            <a:off x="134569" y="116449"/>
            <a:ext cx="3162248" cy="369332"/>
          </a:xfrm>
          <a:prstGeom prst="rect">
            <a:avLst/>
          </a:prstGeom>
          <a:solidFill>
            <a:sysClr val="window" lastClr="FFFFFF"/>
          </a:solidFill>
          <a:ln w="12700">
            <a:gradFill>
              <a:gsLst>
                <a:gs pos="0">
                  <a:sysClr val="window" lastClr="FFFFFF">
                    <a:alpha val="0"/>
                    <a:lumMod val="0"/>
                    <a:lumOff val="100000"/>
                  </a:sysClr>
                </a:gs>
                <a:gs pos="98000">
                  <a:sysClr val="window" lastClr="FFFFFF">
                    <a:alpha val="0"/>
                    <a:lumMod val="0"/>
                    <a:lumOff val="100000"/>
                  </a:sysClr>
                </a:gs>
                <a:gs pos="99000">
                  <a:sysClr val="windowText" lastClr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보조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.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공정별  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BM/PD Loss </a:t>
            </a: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rPr>
              <a:t>트렌드</a:t>
            </a:r>
          </a:p>
        </p:txBody>
      </p:sp>
      <p:sp>
        <p:nvSpPr>
          <p:cNvPr id="10" name="실행 단추: 홈으로 이동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FA85A62A-2E81-88BF-0C99-0BC7E4F10BEA}"/>
              </a:ext>
            </a:extLst>
          </p:cNvPr>
          <p:cNvSpPr/>
          <p:nvPr/>
        </p:nvSpPr>
        <p:spPr>
          <a:xfrm>
            <a:off x="9605010" y="465945"/>
            <a:ext cx="211279" cy="211279"/>
          </a:xfrm>
          <a:prstGeom prst="actionButtonHom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D97FBD-1801-A082-A204-1659012D95AF}"/>
              </a:ext>
            </a:extLst>
          </p:cNvPr>
          <p:cNvSpPr txBox="1"/>
          <p:nvPr/>
        </p:nvSpPr>
        <p:spPr>
          <a:xfrm>
            <a:off x="4497248" y="6650310"/>
            <a:ext cx="723275" cy="16927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보조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 2 / 2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D439C98-5C30-5879-85A1-48EFCF7B8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938" y="726261"/>
            <a:ext cx="9159894" cy="5640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1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직사각형 12">
            <a:extLst>
              <a:ext uri="{FF2B5EF4-FFF2-40B4-BE49-F238E27FC236}">
                <a16:creationId xmlns:a16="http://schemas.microsoft.com/office/drawing/2014/main" id="{A8B0E9D9-A263-FD88-30EF-1F5CD78C644E}"/>
              </a:ext>
            </a:extLst>
          </p:cNvPr>
          <p:cNvSpPr/>
          <p:nvPr/>
        </p:nvSpPr>
        <p:spPr>
          <a:xfrm>
            <a:off x="231582" y="1064457"/>
            <a:ext cx="637458" cy="5488743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kumimoji="0" lang="ko-KR" altLang="en-US" sz="1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핵심</a:t>
            </a:r>
          </a:p>
          <a:p>
            <a:pPr algn="ctr">
              <a:lnSpc>
                <a:spcPct val="100000"/>
              </a:lnSpc>
              <a:buNone/>
            </a:pPr>
            <a:r>
              <a:rPr kumimoji="0" lang="ko-KR" altLang="en-US" sz="1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요약</a:t>
            </a:r>
          </a:p>
        </p:txBody>
      </p:sp>
      <p:sp>
        <p:nvSpPr>
          <p:cNvPr id="102" name="직사각형 21">
            <a:extLst>
              <a:ext uri="{FF2B5EF4-FFF2-40B4-BE49-F238E27FC236}">
                <a16:creationId xmlns:a16="http://schemas.microsoft.com/office/drawing/2014/main" id="{2F0D11B2-BC43-0B57-AD5A-9195E3C069F6}"/>
              </a:ext>
            </a:extLst>
          </p:cNvPr>
          <p:cNvSpPr/>
          <p:nvPr/>
        </p:nvSpPr>
        <p:spPr>
          <a:xfrm>
            <a:off x="230485" y="470141"/>
            <a:ext cx="8070186" cy="50359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1차 적용 후 발생한 가성 알람의 원인을 분석하여 </a:t>
            </a:r>
            <a:r>
              <a:rPr kumimoji="0" lang="ko-KR" altLang="en-US" sz="1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전처리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조건을 개선하고 고도화 모델을 검토하였습니다.</a:t>
            </a:r>
          </a:p>
          <a:p>
            <a:pPr algn="l">
              <a:lnSpc>
                <a:spcPct val="100000"/>
              </a:lnSpc>
              <a:buNone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전처리는 </a:t>
            </a:r>
            <a:r>
              <a:rPr kumimoji="0" lang="ko-KR" altLang="en-US" sz="1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Splice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Signal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기반으로, 모델은 군내(10분 내) </a:t>
            </a:r>
            <a:r>
              <a:rPr kumimoji="0" lang="ko-KR" altLang="en-US" sz="1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Max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Jump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방식으로 변경하겠습니다.</a:t>
            </a:r>
          </a:p>
        </p:txBody>
      </p:sp>
      <p:sp>
        <p:nvSpPr>
          <p:cNvPr id="103" name="Text Box 41">
            <a:extLst>
              <a:ext uri="{FF2B5EF4-FFF2-40B4-BE49-F238E27FC236}">
                <a16:creationId xmlns:a16="http://schemas.microsoft.com/office/drawing/2014/main" id="{A789FD68-7AC8-7D3C-7E74-EB18FF0D9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201" y="107395"/>
            <a:ext cx="3666243" cy="335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rm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1">
                <a:solidFill>
                  <a:prstClr val="black"/>
                </a:solidFill>
                <a:latin typeface="Arial Narrow"/>
                <a:ea typeface="LG스마트체 Regular"/>
                <a:cs typeface="Arial" pitchFamily="34" charset="0"/>
              </a:rPr>
              <a:t>보조. WA </a:t>
            </a:r>
            <a:r>
              <a:rPr lang="ko-KR" altLang="en-US" sz="1600" b="1" err="1">
                <a:solidFill>
                  <a:prstClr val="black"/>
                </a:solidFill>
                <a:latin typeface="Arial Narrow"/>
                <a:ea typeface="LG스마트체 Regular"/>
                <a:cs typeface="Arial" pitchFamily="34" charset="0"/>
              </a:rPr>
              <a:t>공급부</a:t>
            </a:r>
            <a:r>
              <a:rPr lang="ko-KR" altLang="en-US" sz="1600" b="1">
                <a:solidFill>
                  <a:prstClr val="black"/>
                </a:solidFill>
                <a:latin typeface="Arial Narrow"/>
                <a:ea typeface="LG스마트체 Regular"/>
                <a:cs typeface="Arial" pitchFamily="34" charset="0"/>
              </a:rPr>
              <a:t> </a:t>
            </a:r>
            <a:r>
              <a:rPr lang="ko-KR" altLang="en-US" sz="1600" b="1" err="1">
                <a:solidFill>
                  <a:prstClr val="black"/>
                </a:solidFill>
                <a:latin typeface="Arial Narrow"/>
                <a:ea typeface="LG스마트체 Regular"/>
                <a:cs typeface="Arial" pitchFamily="34" charset="0"/>
              </a:rPr>
              <a:t>Spool</a:t>
            </a:r>
            <a:r>
              <a:rPr lang="ko-KR" altLang="en-US" sz="1600" b="1">
                <a:solidFill>
                  <a:prstClr val="black"/>
                </a:solidFill>
                <a:latin typeface="Arial Narrow"/>
                <a:ea typeface="LG스마트체 Regular"/>
                <a:cs typeface="Arial" pitchFamily="34" charset="0"/>
              </a:rPr>
              <a:t> EPC </a:t>
            </a:r>
            <a:r>
              <a:rPr lang="en-US" altLang="ko-KR" sz="1600" b="1">
                <a:solidFill>
                  <a:prstClr val="black"/>
                </a:solidFill>
                <a:latin typeface="Arial Narrow"/>
                <a:ea typeface="LG스마트체 Regular"/>
                <a:cs typeface="Arial" pitchFamily="34" charset="0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Arial Narrow"/>
                <a:ea typeface="LG스마트체 Regular"/>
                <a:cs typeface="Arial" pitchFamily="34" charset="0"/>
              </a:rPr>
              <a:t>신규 개발 항목</a:t>
            </a:r>
            <a:r>
              <a:rPr lang="en-US" altLang="ko-KR" sz="1600" b="1">
                <a:solidFill>
                  <a:prstClr val="black"/>
                </a:solidFill>
                <a:latin typeface="Arial Narrow"/>
                <a:ea typeface="LG스마트체 Regular"/>
                <a:cs typeface="Arial" pitchFamily="34" charset="0"/>
              </a:rPr>
              <a:t>)</a:t>
            </a:r>
            <a:endParaRPr kumimoji="0" lang="en-US" altLang="ko-KR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/>
            </a:endParaRPr>
          </a:p>
        </p:txBody>
      </p:sp>
      <p:sp>
        <p:nvSpPr>
          <p:cNvPr id="104" name="TextBox 6">
            <a:extLst>
              <a:ext uri="{FF2B5EF4-FFF2-40B4-BE49-F238E27FC236}">
                <a16:creationId xmlns:a16="http://schemas.microsoft.com/office/drawing/2014/main" id="{1BE27A48-29FB-4908-1002-BFEBEA31C7A8}"/>
              </a:ext>
            </a:extLst>
          </p:cNvPr>
          <p:cNvSpPr txBox="1"/>
          <p:nvPr/>
        </p:nvSpPr>
        <p:spPr>
          <a:xfrm>
            <a:off x="7158899" y="108125"/>
            <a:ext cx="2156226" cy="307777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>
            <a:defPPr>
              <a:defRPr lang="en-US"/>
            </a:defPPr>
            <a:lvl1pPr marR="0" lvl="0" indent="0" defTabSz="914400" fontAlgn="base" latinLnBrk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kumimoji="0" sz="1600" b="1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작성자</a:t>
            </a: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: FDC DX.</a:t>
            </a: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조립</a:t>
            </a: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FDC </a:t>
            </a: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곽인철</a:t>
            </a: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P</a:t>
            </a:r>
          </a:p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작성일자 </a:t>
            </a: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: ’26.08.24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+mn-cs"/>
            </a:endParaRPr>
          </a:p>
        </p:txBody>
      </p:sp>
      <p:sp>
        <p:nvSpPr>
          <p:cNvPr id="106" name="TextBox 30"/>
          <p:cNvSpPr txBox="1"/>
          <p:nvPr/>
        </p:nvSpPr>
        <p:spPr>
          <a:xfrm>
            <a:off x="1000000" y="1082432"/>
            <a:ext cx="8700000" cy="5488743"/>
          </a:xfrm>
          <a:prstGeom prst="rect">
            <a:avLst/>
          </a:prstGeom>
          <a:noFill/>
        </p:spPr>
        <p:txBody>
          <a:bodyPr wrap="square" lIns="36000" tIns="36000" rIns="36000" bIns="36000">
            <a:normAutofit lnSpcReduction="10000"/>
          </a:bodyPr>
          <a:lstStyle/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ko-KR" altLang="en-US" sz="1400" b="1">
                <a:latin typeface="Arial Narrow"/>
                <a:ea typeface="LG스마트체 Regular"/>
              </a:rPr>
              <a:t>1. 배경 · 1차 적용 (7/4)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▪"/>
            </a:pPr>
            <a:r>
              <a:rPr lang="ko-KR" altLang="en-US" sz="1300" b="0" err="1">
                <a:latin typeface="Arial Narrow"/>
                <a:ea typeface="LG스마트체 Regular"/>
              </a:rPr>
              <a:t>Spool</a:t>
            </a:r>
            <a:r>
              <a:rPr lang="ko-KR" altLang="en-US" sz="1300" b="0">
                <a:latin typeface="Arial Narrow"/>
                <a:ea typeface="LG스마트체 Regular"/>
              </a:rPr>
              <a:t> EPC – </a:t>
            </a:r>
            <a:r>
              <a:rPr lang="ko-KR" altLang="en-US" sz="1300" b="0" err="1">
                <a:latin typeface="Arial Narrow"/>
                <a:ea typeface="LG스마트체 Regular"/>
              </a:rPr>
              <a:t>Laser</a:t>
            </a:r>
            <a:r>
              <a:rPr lang="ko-KR" altLang="en-US" sz="1300" b="0">
                <a:latin typeface="Arial Narrow"/>
                <a:ea typeface="LG스마트체 Regular"/>
              </a:rPr>
              <a:t> </a:t>
            </a:r>
            <a:r>
              <a:rPr lang="ko-KR" altLang="en-US" sz="1300" b="0" err="1">
                <a:latin typeface="Arial Narrow"/>
                <a:ea typeface="LG스마트체 Regular"/>
              </a:rPr>
              <a:t>Pointer</a:t>
            </a:r>
            <a:r>
              <a:rPr lang="ko-KR" altLang="en-US" sz="1300" b="0">
                <a:latin typeface="Arial Narrow"/>
                <a:ea typeface="LG스마트체 Regular"/>
              </a:rPr>
              <a:t> 간 </a:t>
            </a:r>
            <a:r>
              <a:rPr lang="ko-KR" altLang="en-US" sz="1300" b="0" err="1">
                <a:latin typeface="Arial Narrow"/>
                <a:ea typeface="LG스마트체 Regular"/>
              </a:rPr>
              <a:t>Y축</a:t>
            </a:r>
            <a:r>
              <a:rPr lang="ko-KR" altLang="en-US" sz="1300" b="0">
                <a:latin typeface="Arial Narrow"/>
                <a:ea typeface="LG스마트체 Regular"/>
              </a:rPr>
              <a:t> 불일치 → </a:t>
            </a:r>
            <a:r>
              <a:rPr lang="ko-KR" altLang="en-US" sz="1300" b="0" err="1">
                <a:latin typeface="Arial Narrow"/>
                <a:ea typeface="LG스마트체 Regular"/>
              </a:rPr>
              <a:t>Theta</a:t>
            </a:r>
            <a:r>
              <a:rPr lang="ko-KR" altLang="en-US" sz="1300" b="0">
                <a:latin typeface="Arial Narrow"/>
                <a:ea typeface="LG스마트체 Regular"/>
              </a:rPr>
              <a:t> 틀어짐 → </a:t>
            </a:r>
            <a:r>
              <a:rPr lang="ko-KR" altLang="en-US" sz="1300" b="0" err="1">
                <a:latin typeface="Arial Narrow"/>
                <a:ea typeface="LG스마트체 Regular"/>
              </a:rPr>
              <a:t>Y축</a:t>
            </a:r>
            <a:r>
              <a:rPr lang="ko-KR" altLang="en-US" sz="1300" b="0">
                <a:latin typeface="Arial Narrow"/>
                <a:ea typeface="LG스마트체 Regular"/>
              </a:rPr>
              <a:t> 불량 (W27 위치 불량률 0.197%, 이 중 </a:t>
            </a:r>
            <a:r>
              <a:rPr lang="ko-KR" altLang="en-US" sz="1300" b="0" err="1">
                <a:latin typeface="Arial Narrow"/>
                <a:ea typeface="LG스마트체 Regular"/>
              </a:rPr>
              <a:t>Y축</a:t>
            </a:r>
            <a:r>
              <a:rPr lang="ko-KR" altLang="en-US" sz="1300" b="0">
                <a:latin typeface="Arial Narrow"/>
                <a:ea typeface="LG스마트체 Regular"/>
              </a:rPr>
              <a:t> 59.16%)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▪"/>
            </a:pPr>
            <a:r>
              <a:rPr lang="ko-KR" altLang="en-US" sz="1300" b="0">
                <a:latin typeface="Arial Narrow"/>
                <a:ea typeface="LG스마트체 Regular"/>
              </a:rPr>
              <a:t>재료교체 시 </a:t>
            </a:r>
            <a:r>
              <a:rPr lang="ko-KR" altLang="en-US" sz="1300" b="0" err="1">
                <a:latin typeface="Arial Narrow"/>
                <a:ea typeface="LG스마트체 Regular"/>
              </a:rPr>
              <a:t>Spool</a:t>
            </a:r>
            <a:r>
              <a:rPr lang="ko-KR" altLang="en-US" sz="1300" b="0">
                <a:latin typeface="Arial Narrow"/>
                <a:ea typeface="LG스마트체 Regular"/>
              </a:rPr>
              <a:t> EPC </a:t>
            </a:r>
            <a:r>
              <a:rPr lang="ko-KR" altLang="en-US" sz="1300" b="0" err="1">
                <a:latin typeface="Arial Narrow"/>
                <a:ea typeface="LG스마트체 Regular"/>
              </a:rPr>
              <a:t>Position</a:t>
            </a:r>
            <a:r>
              <a:rPr lang="ko-KR" altLang="en-US" sz="1300" b="0">
                <a:latin typeface="Arial Narrow"/>
                <a:ea typeface="LG스마트체 Regular"/>
              </a:rPr>
              <a:t> 단차 2mm 이상 빈도 5회 감지 FDC 모델 적용 (</a:t>
            </a:r>
            <a:r>
              <a:rPr lang="ko-KR" altLang="en-US" sz="1300" b="0" err="1">
                <a:latin typeface="Arial Narrow"/>
                <a:ea typeface="LG스마트체 Regular"/>
              </a:rPr>
              <a:t>MEB라인</a:t>
            </a:r>
            <a:r>
              <a:rPr lang="ko-KR" altLang="en-US" sz="1300" b="0">
                <a:latin typeface="Arial Narrow"/>
                <a:ea typeface="LG스마트체 Regular"/>
              </a:rPr>
              <a:t> 112개소, </a:t>
            </a:r>
            <a:r>
              <a:rPr lang="ko-KR" altLang="en-US" sz="1300" b="0" err="1">
                <a:latin typeface="Arial Narrow"/>
                <a:ea typeface="LG스마트체 Regular"/>
              </a:rPr>
              <a:t>전처리</a:t>
            </a:r>
            <a:r>
              <a:rPr lang="ko-KR" altLang="en-US" sz="1300" b="0">
                <a:latin typeface="Arial Narrow"/>
                <a:ea typeface="LG스마트체 Regular"/>
              </a:rPr>
              <a:t> </a:t>
            </a:r>
            <a:r>
              <a:rPr lang="ko-KR" altLang="en-US" sz="1300" b="0" err="1">
                <a:latin typeface="Arial Narrow"/>
                <a:ea typeface="LG스마트체 Regular"/>
              </a:rPr>
              <a:t>Winder</a:t>
            </a:r>
            <a:r>
              <a:rPr lang="ko-KR" altLang="en-US" sz="1300" b="0">
                <a:latin typeface="Arial Narrow"/>
                <a:ea typeface="LG스마트체 Regular"/>
              </a:rPr>
              <a:t> </a:t>
            </a:r>
            <a:r>
              <a:rPr lang="ko-KR" altLang="en-US" sz="1300" b="0" err="1">
                <a:latin typeface="Arial Narrow"/>
                <a:ea typeface="LG스마트체 Regular"/>
              </a:rPr>
              <a:t>Radius</a:t>
            </a:r>
            <a:r>
              <a:rPr lang="ko-KR" altLang="en-US" sz="1300" b="0">
                <a:latin typeface="Arial Narrow"/>
                <a:ea typeface="LG스마트체 Regular"/>
              </a:rPr>
              <a:t>&gt;300)</a:t>
            </a:r>
            <a:endParaRPr lang="en-US" altLang="ko-KR" sz="1300" b="0">
              <a:latin typeface="Arial Narrow"/>
              <a:ea typeface="LG스마트체 Regular"/>
            </a:endParaRP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▪"/>
            </a:pPr>
            <a:endParaRPr lang="en-US" altLang="ko-KR" sz="1300">
              <a:latin typeface="Arial Narrow"/>
              <a:ea typeface="LG스마트체 Regular"/>
            </a:endParaRP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▪"/>
            </a:pPr>
            <a:endParaRPr lang="en-US" altLang="ko-KR" sz="1300" b="0">
              <a:latin typeface="Arial Narrow"/>
              <a:ea typeface="LG스마트체 Regular"/>
            </a:endParaRP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▪"/>
            </a:pPr>
            <a:endParaRPr lang="en-US" altLang="ko-KR" sz="1300">
              <a:latin typeface="Arial Narrow"/>
              <a:ea typeface="LG스마트체 Regular"/>
            </a:endParaRP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▪"/>
            </a:pPr>
            <a:endParaRPr lang="en-US" altLang="ko-KR" sz="1300">
              <a:latin typeface="Arial Narrow"/>
              <a:ea typeface="LG스마트체 Regular"/>
            </a:endParaRP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▪"/>
            </a:pPr>
            <a:endParaRPr lang="en-US" altLang="ko-KR" sz="1300">
              <a:latin typeface="Arial Narrow"/>
              <a:ea typeface="LG스마트체 Regular"/>
            </a:endParaRP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▪"/>
            </a:pPr>
            <a:endParaRPr lang="en-US" altLang="ko-KR" sz="1300" b="0">
              <a:latin typeface="Arial Narrow"/>
              <a:ea typeface="LG스마트체 Regular"/>
            </a:endParaRP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▪"/>
            </a:pPr>
            <a:endParaRPr lang="en-US" altLang="ko-KR" sz="1300">
              <a:latin typeface="Arial Narrow"/>
              <a:ea typeface="LG스마트체 Regular"/>
            </a:endParaRP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▪"/>
            </a:pPr>
            <a:endParaRPr lang="ko-KR" altLang="en-US" sz="1300" b="0">
              <a:latin typeface="Arial Narrow"/>
              <a:ea typeface="LG스마트체 Regular"/>
            </a:endParaRPr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ko-KR" altLang="en-US" sz="1400" b="1">
                <a:latin typeface="Arial Narrow"/>
                <a:ea typeface="LG스마트체 Regular"/>
              </a:rPr>
              <a:t>2. 가성 알람 현상 · 원인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▪"/>
            </a:pPr>
            <a:r>
              <a:rPr lang="ko-KR" altLang="en-US" sz="1300" b="1">
                <a:latin typeface="Arial Narrow"/>
                <a:ea typeface="LG스마트체 Regular"/>
              </a:rPr>
              <a:t>비재료교체 시점 알람 발생 </a:t>
            </a:r>
            <a:r>
              <a:rPr lang="ko-KR" altLang="en-US" sz="1300" b="0">
                <a:latin typeface="Arial Narrow"/>
                <a:ea typeface="LG스마트체 Regular"/>
              </a:rPr>
              <a:t>: 커터 재밍 · 파단 등 정상 조치를 설비 이상으로 감지 (1일 시뮬레이션 </a:t>
            </a:r>
            <a:r>
              <a:rPr lang="ko-KR" altLang="en-US" sz="1300" b="0" err="1">
                <a:latin typeface="Arial Narrow"/>
                <a:ea typeface="LG스마트체 Regular"/>
              </a:rPr>
              <a:t>가성율</a:t>
            </a:r>
            <a:r>
              <a:rPr lang="ko-KR" altLang="en-US" sz="1300" b="0">
                <a:latin typeface="Arial Narrow"/>
                <a:ea typeface="LG스마트체 Regular"/>
              </a:rPr>
              <a:t> 75%)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▪"/>
            </a:pPr>
            <a:r>
              <a:rPr lang="ko-KR" altLang="en-US" sz="1300" b="0">
                <a:latin typeface="Arial Narrow"/>
                <a:ea typeface="LG스마트체 Regular"/>
              </a:rPr>
              <a:t>원인 ① </a:t>
            </a:r>
            <a:r>
              <a:rPr lang="ko-KR" altLang="en-US" sz="1300" b="0" err="1">
                <a:latin typeface="Arial Narrow"/>
                <a:ea typeface="LG스마트체 Regular"/>
              </a:rPr>
              <a:t>전처리</a:t>
            </a:r>
            <a:r>
              <a:rPr lang="ko-KR" altLang="en-US" sz="1300" b="0">
                <a:latin typeface="Arial Narrow"/>
                <a:ea typeface="LG스마트체 Regular"/>
              </a:rPr>
              <a:t> : </a:t>
            </a:r>
            <a:r>
              <a:rPr lang="ko-KR" altLang="en-US" sz="1300" b="0" err="1">
                <a:latin typeface="Arial Narrow"/>
                <a:ea typeface="LG스마트체 Regular"/>
              </a:rPr>
              <a:t>Winder</a:t>
            </a:r>
            <a:r>
              <a:rPr lang="ko-KR" altLang="en-US" sz="1300" b="0">
                <a:latin typeface="Arial Narrow"/>
                <a:ea typeface="LG스마트체 Regular"/>
              </a:rPr>
              <a:t> </a:t>
            </a:r>
            <a:r>
              <a:rPr lang="ko-KR" altLang="en-US" sz="1300" b="0" err="1">
                <a:latin typeface="Arial Narrow"/>
                <a:ea typeface="LG스마트체 Regular"/>
              </a:rPr>
              <a:t>Radius</a:t>
            </a:r>
            <a:r>
              <a:rPr lang="ko-KR" altLang="en-US" sz="1300" b="0">
                <a:latin typeface="Arial Narrow"/>
                <a:ea typeface="LG스마트체 Regular"/>
              </a:rPr>
              <a:t> 필터가 양산 구간까지 포함 (실제 필요 10분 → 2시간 모니터링), </a:t>
            </a:r>
            <a:r>
              <a:rPr lang="ko-KR" altLang="en-US" sz="1300" b="0" err="1">
                <a:latin typeface="Arial Narrow"/>
                <a:ea typeface="LG스마트체 Regular"/>
              </a:rPr>
              <a:t>소권취</a:t>
            </a:r>
            <a:r>
              <a:rPr lang="ko-KR" altLang="en-US" sz="1300" b="0">
                <a:latin typeface="Arial Narrow"/>
                <a:ea typeface="LG스마트체 Regular"/>
              </a:rPr>
              <a:t> 전극 미검 위험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▪"/>
            </a:pPr>
            <a:r>
              <a:rPr lang="ko-KR" altLang="en-US" sz="1300" b="0">
                <a:latin typeface="Arial Narrow"/>
                <a:ea typeface="LG스마트체 Regular"/>
              </a:rPr>
              <a:t>원인 ② 모델 : 10분 </a:t>
            </a:r>
            <a:r>
              <a:rPr lang="ko-KR" altLang="en-US" sz="1300" b="0" err="1">
                <a:latin typeface="Arial Narrow"/>
                <a:ea typeface="LG스마트체 Regular"/>
              </a:rPr>
              <a:t>Median</a:t>
            </a:r>
            <a:r>
              <a:rPr lang="ko-KR" altLang="en-US" sz="1300" b="0">
                <a:latin typeface="Arial Narrow"/>
                <a:ea typeface="LG스마트체 Regular"/>
              </a:rPr>
              <a:t> 간 비교 방식이 </a:t>
            </a:r>
            <a:r>
              <a:rPr lang="ko-KR" altLang="en-US" sz="1300" b="0" err="1">
                <a:latin typeface="Arial Narrow"/>
                <a:ea typeface="LG스마트체 Regular"/>
              </a:rPr>
              <a:t>비생산</a:t>
            </a:r>
            <a:r>
              <a:rPr lang="ko-KR" altLang="en-US" sz="1300" b="0">
                <a:latin typeface="Arial Narrow"/>
                <a:ea typeface="LG스마트체 Regular"/>
              </a:rPr>
              <a:t> 시점 데이터를 계산하여 실제 이상감지에 부적합</a:t>
            </a:r>
            <a:endParaRPr lang="en-US" altLang="ko-KR" sz="1300" b="0">
              <a:latin typeface="Arial Narrow"/>
              <a:ea typeface="LG스마트체 Regular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ko-KR" altLang="en-US" sz="1300" b="0">
              <a:latin typeface="Arial Narrow"/>
              <a:ea typeface="LG스마트체 Regular"/>
            </a:endParaRPr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ko-KR" altLang="en-US" sz="1400" b="1">
                <a:latin typeface="Arial Narrow"/>
                <a:ea typeface="LG스마트체 Regular"/>
              </a:rPr>
              <a:t>3. 개선 내용 (</a:t>
            </a:r>
            <a:r>
              <a:rPr lang="ko-KR" altLang="en-US" sz="1400" b="1" err="1">
                <a:latin typeface="Arial Narrow"/>
                <a:ea typeface="LG스마트체 Regular"/>
              </a:rPr>
              <a:t>전처리</a:t>
            </a:r>
            <a:r>
              <a:rPr lang="ko-KR" altLang="en-US" sz="1400" b="1">
                <a:latin typeface="Arial Narrow"/>
                <a:ea typeface="LG스마트체 Regular"/>
              </a:rPr>
              <a:t> + 모델 고도화)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▪"/>
            </a:pPr>
            <a:r>
              <a:rPr lang="ko-KR" altLang="en-US" sz="1300" b="0" err="1">
                <a:latin typeface="Arial Narrow"/>
                <a:ea typeface="LG스마트체 Regular"/>
              </a:rPr>
              <a:t>전처리</a:t>
            </a:r>
            <a:r>
              <a:rPr lang="ko-KR" altLang="en-US" sz="1300" b="0">
                <a:latin typeface="Arial Narrow"/>
                <a:ea typeface="LG스마트체 Regular"/>
              </a:rPr>
              <a:t> : </a:t>
            </a:r>
            <a:r>
              <a:rPr lang="ko-KR" altLang="en-US" sz="1300" b="0" err="1">
                <a:latin typeface="Arial Narrow"/>
                <a:ea typeface="LG스마트체 Regular"/>
              </a:rPr>
              <a:t>Winder</a:t>
            </a:r>
            <a:r>
              <a:rPr lang="ko-KR" altLang="en-US" sz="1300" b="0">
                <a:latin typeface="Arial Narrow"/>
                <a:ea typeface="LG스마트체 Regular"/>
              </a:rPr>
              <a:t> </a:t>
            </a:r>
            <a:r>
              <a:rPr lang="ko-KR" altLang="en-US" sz="1300" b="0" err="1">
                <a:latin typeface="Arial Narrow"/>
                <a:ea typeface="LG스마트체 Regular"/>
              </a:rPr>
              <a:t>Radius</a:t>
            </a:r>
            <a:r>
              <a:rPr lang="ko-KR" altLang="en-US" sz="1300" b="0">
                <a:latin typeface="Arial Narrow"/>
                <a:ea typeface="LG스마트체 Regular"/>
              </a:rPr>
              <a:t>&gt;300 → </a:t>
            </a:r>
            <a:r>
              <a:rPr lang="ko-KR" altLang="en-US" sz="1300" b="0" err="1">
                <a:latin typeface="Arial Narrow"/>
                <a:ea typeface="LG스마트체 Regular"/>
              </a:rPr>
              <a:t>Splice</a:t>
            </a:r>
            <a:r>
              <a:rPr lang="ko-KR" altLang="en-US" sz="1300" b="0">
                <a:latin typeface="Arial Narrow"/>
                <a:ea typeface="LG스마트체 Regular"/>
              </a:rPr>
              <a:t> </a:t>
            </a:r>
            <a:r>
              <a:rPr lang="ko-KR" altLang="en-US" sz="1300" b="0" err="1">
                <a:latin typeface="Arial Narrow"/>
                <a:ea typeface="LG스마트체 Regular"/>
              </a:rPr>
              <a:t>Signal</a:t>
            </a:r>
            <a:r>
              <a:rPr lang="ko-KR" altLang="en-US" sz="1300" b="0">
                <a:latin typeface="Arial Narrow"/>
                <a:ea typeface="LG스마트체 Regular"/>
              </a:rPr>
              <a:t> 기반 교체 시점 10분(1 </a:t>
            </a:r>
            <a:r>
              <a:rPr lang="ko-KR" altLang="en-US" sz="1300" b="0" err="1">
                <a:latin typeface="Arial Narrow"/>
                <a:ea typeface="LG스마트체 Regular"/>
              </a:rPr>
              <a:t>Run</a:t>
            </a:r>
            <a:r>
              <a:rPr lang="ko-KR" altLang="en-US" sz="1300" b="0">
                <a:latin typeface="Arial Narrow"/>
                <a:ea typeface="LG스마트체 Regular"/>
              </a:rPr>
              <a:t>)만 필터링, 설비 </a:t>
            </a:r>
            <a:r>
              <a:rPr lang="ko-KR" altLang="en-US" sz="1300" b="0" err="1">
                <a:latin typeface="Arial Narrow"/>
                <a:ea typeface="LG스마트체 Regular"/>
              </a:rPr>
              <a:t>Maker별</a:t>
            </a:r>
            <a:r>
              <a:rPr lang="ko-KR" altLang="en-US" sz="1300" b="0">
                <a:latin typeface="Arial Narrow"/>
                <a:ea typeface="LG스마트체 Regular"/>
              </a:rPr>
              <a:t> 조건 분리 적용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▪"/>
            </a:pPr>
            <a:r>
              <a:rPr lang="ko-KR" altLang="en-US" sz="1300" b="0">
                <a:latin typeface="Arial Narrow"/>
                <a:ea typeface="LG스마트체 Regular"/>
              </a:rPr>
              <a:t>모델 : 군간(</a:t>
            </a:r>
            <a:r>
              <a:rPr lang="ko-KR" altLang="en-US" sz="1300" b="0" err="1">
                <a:latin typeface="Arial Narrow"/>
                <a:ea typeface="LG스마트체 Regular"/>
              </a:rPr>
              <a:t>Median</a:t>
            </a:r>
            <a:r>
              <a:rPr lang="ko-KR" altLang="en-US" sz="1300" b="0">
                <a:latin typeface="Arial Narrow"/>
                <a:ea typeface="LG스마트체 Regular"/>
              </a:rPr>
              <a:t> 간) → 군내(10분 내) </a:t>
            </a:r>
            <a:r>
              <a:rPr lang="ko-KR" altLang="en-US" sz="1300" b="0" err="1">
                <a:latin typeface="Arial Narrow"/>
                <a:ea typeface="LG스마트체 Regular"/>
              </a:rPr>
              <a:t>Max</a:t>
            </a:r>
            <a:r>
              <a:rPr lang="ko-KR" altLang="en-US" sz="1300" b="0">
                <a:latin typeface="Arial Narrow"/>
                <a:ea typeface="LG스마트체 Regular"/>
              </a:rPr>
              <a:t> </a:t>
            </a:r>
            <a:r>
              <a:rPr lang="ko-KR" altLang="en-US" sz="1300" b="0" err="1">
                <a:latin typeface="Arial Narrow"/>
                <a:ea typeface="LG스마트체 Regular"/>
              </a:rPr>
              <a:t>Jump</a:t>
            </a:r>
            <a:r>
              <a:rPr lang="ko-KR" altLang="en-US" sz="1300" b="0">
                <a:latin typeface="Arial Narrow"/>
                <a:ea typeface="LG스마트체 Regular"/>
              </a:rPr>
              <a:t> 방식, 안정화 구간 기준 변동량 산출 · 순간 변동은 무시</a:t>
            </a:r>
            <a:endParaRPr lang="en-US" altLang="ko-KR" sz="1300" b="0">
              <a:latin typeface="Arial Narrow"/>
              <a:ea typeface="LG스마트체 Regular"/>
            </a:endParaRP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▪"/>
            </a:pPr>
            <a:endParaRPr lang="ko-KR" altLang="en-US" sz="1300" b="0">
              <a:latin typeface="Arial Narrow"/>
              <a:ea typeface="LG스마트체 Regular"/>
            </a:endParaRPr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ko-KR" altLang="en-US" sz="1400" b="1">
                <a:latin typeface="Arial Narrow"/>
                <a:ea typeface="LG스마트체 Regular"/>
              </a:rPr>
              <a:t>4. 기대 효과 · 향후 계획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▪"/>
            </a:pPr>
            <a:r>
              <a:rPr lang="ko-KR" altLang="en-US" sz="1300" b="0">
                <a:latin typeface="Arial Narrow"/>
                <a:ea typeface="LG스마트체 Regular"/>
              </a:rPr>
              <a:t>정상 조치 상황 제거로 가성 알람 감소 및 감지 적합성 · 감지 속도 향상</a:t>
            </a:r>
          </a:p>
          <a:p>
            <a:pPr marL="228600" indent="-228600">
              <a:lnSpc>
                <a:spcPct val="100000"/>
              </a:lnSpc>
              <a:spcBef>
                <a:spcPts val="300"/>
              </a:spcBef>
              <a:buFont typeface="Arial"/>
              <a:buChar char="▪"/>
            </a:pPr>
            <a:r>
              <a:rPr lang="ko-KR" altLang="en-US" sz="1300" b="0">
                <a:latin typeface="Arial Narrow"/>
                <a:ea typeface="LG스마트체 Regular"/>
              </a:rPr>
              <a:t>경향성 판단 최소 시간 최적화(</a:t>
            </a:r>
            <a:r>
              <a:rPr lang="ko-KR" altLang="en-US" sz="1300" b="0" err="1">
                <a:latin typeface="Arial Narrow"/>
                <a:ea typeface="LG스마트체 Regular"/>
              </a:rPr>
              <a:t>Case</a:t>
            </a:r>
            <a:r>
              <a:rPr lang="ko-KR" altLang="en-US" sz="1300" b="0">
                <a:latin typeface="Arial Narrow"/>
                <a:ea typeface="LG스마트체 Regular"/>
              </a:rPr>
              <a:t> </a:t>
            </a:r>
            <a:r>
              <a:rPr lang="ko-KR" altLang="en-US" sz="1300" b="0" err="1">
                <a:latin typeface="Arial Narrow"/>
                <a:ea typeface="LG스마트체 Regular"/>
              </a:rPr>
              <a:t>Study</a:t>
            </a:r>
            <a:r>
              <a:rPr lang="ko-KR" altLang="en-US" sz="1300" b="0">
                <a:latin typeface="Arial Narrow"/>
                <a:ea typeface="LG스마트체 Regular"/>
              </a:rPr>
              <a:t>), </a:t>
            </a:r>
            <a:r>
              <a:rPr lang="ko-KR" altLang="en-US" sz="1300" b="0" err="1">
                <a:latin typeface="Arial Narrow"/>
                <a:ea typeface="LG스마트체 Regular"/>
              </a:rPr>
              <a:t>Alarm</a:t>
            </a:r>
            <a:r>
              <a:rPr lang="ko-KR" altLang="en-US" sz="1300" b="0">
                <a:latin typeface="Arial Narrow"/>
                <a:ea typeface="LG스마트체 Regular"/>
              </a:rPr>
              <a:t> </a:t>
            </a:r>
            <a:r>
              <a:rPr lang="ko-KR" altLang="en-US" sz="1300" b="0" err="1">
                <a:latin typeface="Arial Narrow"/>
                <a:ea typeface="LG스마트체 Regular"/>
              </a:rPr>
              <a:t>Rule</a:t>
            </a:r>
            <a:r>
              <a:rPr lang="ko-KR" altLang="en-US" sz="1300" b="0">
                <a:latin typeface="Arial Narrow"/>
                <a:ea typeface="LG스마트체 Regular"/>
              </a:rPr>
              <a:t> 설정을 위한 본사 · 법인 </a:t>
            </a:r>
            <a:r>
              <a:rPr lang="ko-KR" altLang="en-US" sz="1300" b="0" err="1">
                <a:latin typeface="Arial Narrow"/>
                <a:ea typeface="LG스마트체 Regular"/>
              </a:rPr>
              <a:t>설비팀</a:t>
            </a:r>
            <a:r>
              <a:rPr lang="ko-KR" altLang="en-US" sz="1300" b="0">
                <a:latin typeface="Arial Narrow"/>
                <a:ea typeface="LG스마트체 Regular"/>
              </a:rPr>
              <a:t> 협의 → 실 조치 연계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4B193D-D98A-CEBD-2C53-F6EE4AD4D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887" y="2083041"/>
            <a:ext cx="2738147" cy="12283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9CC394-8E5E-915B-AF27-52E83D531B2E}"/>
              </a:ext>
            </a:extLst>
          </p:cNvPr>
          <p:cNvSpPr txBox="1"/>
          <p:nvPr/>
        </p:nvSpPr>
        <p:spPr>
          <a:xfrm>
            <a:off x="1171447" y="1808105"/>
            <a:ext cx="19023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[ </a:t>
            </a: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공급부 전극 주행</a:t>
            </a: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Process]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5F4A9A-0D86-F34B-DB44-82CD0F6F2C7E}"/>
              </a:ext>
            </a:extLst>
          </p:cNvPr>
          <p:cNvSpPr txBox="1"/>
          <p:nvPr/>
        </p:nvSpPr>
        <p:spPr>
          <a:xfrm>
            <a:off x="3923444" y="1809238"/>
            <a:ext cx="19023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[ </a:t>
            </a: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공급부 </a:t>
            </a:r>
            <a:r>
              <a:rPr kumimoji="0" lang="ko-KR" altLang="en-US" sz="9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기구부</a:t>
            </a: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 모식도</a:t>
            </a: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]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E21010C-1819-F6C8-9AD2-8F81698C8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730" y="2038937"/>
            <a:ext cx="1890070" cy="127411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8BB3D63-48BE-A257-B577-B266995C5B75}"/>
              </a:ext>
            </a:extLst>
          </p:cNvPr>
          <p:cNvSpPr txBox="1"/>
          <p:nvPr/>
        </p:nvSpPr>
        <p:spPr>
          <a:xfrm>
            <a:off x="5946153" y="1808105"/>
            <a:ext cx="23545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[</a:t>
            </a: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레이저 포인터 조치 전</a:t>
            </a: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/</a:t>
            </a: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후 </a:t>
            </a: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/>
              </a:rPr>
              <a:t>Spool EPC Position]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A662B51-2B9A-3AC3-3770-CE6874E1E2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0700"/>
          <a:stretch>
            <a:fillRect/>
          </a:stretch>
        </p:blipFill>
        <p:spPr>
          <a:xfrm>
            <a:off x="6021607" y="1996427"/>
            <a:ext cx="1890070" cy="1412978"/>
          </a:xfrm>
          <a:prstGeom prst="rect">
            <a:avLst/>
          </a:prstGeom>
        </p:spPr>
      </p:pic>
      <p:graphicFrame>
        <p:nvGraphicFramePr>
          <p:cNvPr id="4" name="개체 3">
            <a:hlinkClick r:id="" action="ppaction://ole?verb=0"/>
            <a:extLst>
              <a:ext uri="{FF2B5EF4-FFF2-40B4-BE49-F238E27FC236}">
                <a16:creationId xmlns:a16="http://schemas.microsoft.com/office/drawing/2014/main" id="{95967200-A280-FBE3-4CCD-28A52859B0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0240278"/>
              </p:ext>
            </p:extLst>
          </p:nvPr>
        </p:nvGraphicFramePr>
        <p:xfrm>
          <a:off x="8760018" y="759491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showAsIcon="1" r:id="rId5" imgW="914553" imgH="771525" progId="PowerPoint.Show.12">
                  <p:embed/>
                </p:oleObj>
              </mc:Choice>
              <mc:Fallback>
                <p:oleObj name="Presentation" showAsIcon="1" r:id="rId5" imgW="914553" imgH="771525" progId="PowerPoint.Show.12">
                  <p:embed/>
                  <p:pic>
                    <p:nvPicPr>
                      <p:cNvPr id="4" name="개체 3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95967200-A280-FBE3-4CCD-28A52859B0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760018" y="759491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실행 단추: 끝으로 이동 5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F8000EB3-A418-AB72-1724-D88CC396E464}"/>
              </a:ext>
            </a:extLst>
          </p:cNvPr>
          <p:cNvSpPr/>
          <p:nvPr/>
        </p:nvSpPr>
        <p:spPr>
          <a:xfrm rot="10800000">
            <a:off x="9509368" y="215696"/>
            <a:ext cx="214348" cy="135744"/>
          </a:xfrm>
          <a:prstGeom prst="actionButtonEnd">
            <a:avLst/>
          </a:prstGeom>
          <a:solidFill>
            <a:sysClr val="window" lastClr="FFFFFF">
              <a:lumMod val="7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BE27A48-29FB-4908-1002-BFEBEA31C7A8}"/>
              </a:ext>
            </a:extLst>
          </p:cNvPr>
          <p:cNvSpPr txBox="1"/>
          <p:nvPr/>
        </p:nvSpPr>
        <p:spPr>
          <a:xfrm>
            <a:off x="7158899" y="108125"/>
            <a:ext cx="2156226" cy="307777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>
            <a:defPPr>
              <a:defRPr lang="en-US"/>
            </a:defPPr>
            <a:lvl1pPr marR="0" lvl="0" indent="0" defTabSz="914400" fontAlgn="base" latinLnBrk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kumimoji="0" sz="1600" b="1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작성자</a:t>
            </a: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: FDC DX.</a:t>
            </a: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조립</a:t>
            </a: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FDC </a:t>
            </a: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정현아</a:t>
            </a: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S</a:t>
            </a:r>
          </a:p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작성일자 </a:t>
            </a: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+mn-cs"/>
              </a:rPr>
              <a:t>: ’26.08.19</a:t>
            </a: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+mn-cs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B630B07-A034-A743-CD61-00847BEBAFA8}"/>
              </a:ext>
            </a:extLst>
          </p:cNvPr>
          <p:cNvGrpSpPr/>
          <p:nvPr/>
        </p:nvGrpSpPr>
        <p:grpSpPr>
          <a:xfrm>
            <a:off x="233553" y="107395"/>
            <a:ext cx="5179639" cy="297269"/>
            <a:chOff x="233552" y="107395"/>
            <a:chExt cx="12305818" cy="297269"/>
          </a:xfrm>
        </p:grpSpPr>
        <p:sp>
          <p:nvSpPr>
            <p:cNvPr id="5" name="Text Box 41">
              <a:extLst>
                <a:ext uri="{FF2B5EF4-FFF2-40B4-BE49-F238E27FC236}">
                  <a16:creationId xmlns:a16="http://schemas.microsoft.com/office/drawing/2014/main" id="{A789FD68-7AC8-7D3C-7E74-EB18FF0D95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201" y="107395"/>
              <a:ext cx="1174518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600" b="1">
                  <a:solidFill>
                    <a:prstClr val="black"/>
                  </a:solidFill>
                  <a:latin typeface="Arial Narrow"/>
                  <a:ea typeface="LG스마트체 Regular"/>
                  <a:cs typeface="Arial" pitchFamily="34" charset="0"/>
                </a:rPr>
                <a:t>보조</a:t>
              </a:r>
              <a:r>
                <a:rPr kumimoji="1" lang="en-US" altLang="ko-KR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Arial" pitchFamily="34" charset="0"/>
                </a:rPr>
                <a:t>. </a:t>
              </a:r>
              <a:r>
                <a:rPr lang="en-US" altLang="ko-KR" sz="1600" b="1">
                  <a:solidFill>
                    <a:prstClr val="black"/>
                  </a:solidFill>
                  <a:latin typeface="Arial Narrow"/>
                  <a:ea typeface="LG스마트체 Regular"/>
                  <a:cs typeface="Arial" pitchFamily="34" charset="0"/>
                </a:rPr>
                <a:t>ESOT </a:t>
              </a:r>
              <a:r>
                <a:rPr lang="ko-KR" altLang="en-US" sz="1600" b="1">
                  <a:solidFill>
                    <a:prstClr val="black"/>
                  </a:solidFill>
                  <a:latin typeface="Arial Narrow"/>
                  <a:ea typeface="LG스마트체 Regular"/>
                  <a:cs typeface="Arial" pitchFamily="34" charset="0"/>
                </a:rPr>
                <a:t>전극 </a:t>
              </a:r>
              <a:r>
                <a:rPr lang="ko-KR" altLang="en-US" sz="1600" b="1" err="1">
                  <a:solidFill>
                    <a:prstClr val="black"/>
                  </a:solidFill>
                  <a:latin typeface="Arial Narrow"/>
                  <a:ea typeface="LG스마트체 Regular"/>
                  <a:cs typeface="Arial" pitchFamily="34" charset="0"/>
                </a:rPr>
                <a:t>컷터</a:t>
              </a:r>
              <a:r>
                <a:rPr lang="ko-KR" altLang="en-US" sz="1600" b="1">
                  <a:solidFill>
                    <a:prstClr val="black"/>
                  </a:solidFill>
                  <a:latin typeface="Arial Narrow"/>
                  <a:ea typeface="LG스마트체 Regular"/>
                  <a:cs typeface="Arial" pitchFamily="34" charset="0"/>
                </a:rPr>
                <a:t> </a:t>
              </a:r>
              <a:r>
                <a:rPr lang="ko-KR" altLang="en-US" sz="1600" b="1" err="1">
                  <a:solidFill>
                    <a:prstClr val="black"/>
                  </a:solidFill>
                  <a:latin typeface="Arial Narrow"/>
                  <a:ea typeface="LG스마트체 Regular"/>
                  <a:cs typeface="Arial" pitchFamily="34" charset="0"/>
                </a:rPr>
                <a:t>그리퍼</a:t>
              </a:r>
              <a:r>
                <a:rPr lang="ko-KR" altLang="en-US" sz="1600" b="1">
                  <a:solidFill>
                    <a:prstClr val="black"/>
                  </a:solidFill>
                  <a:latin typeface="Arial Narrow"/>
                  <a:ea typeface="LG스마트체 Regular"/>
                  <a:cs typeface="Arial" pitchFamily="34" charset="0"/>
                </a:rPr>
                <a:t> 유량 이상감지 고도화</a:t>
              </a:r>
              <a:r>
                <a:rPr lang="en-US" altLang="ko-KR" sz="1600" b="1">
                  <a:solidFill>
                    <a:prstClr val="black"/>
                  </a:solidFill>
                  <a:latin typeface="Arial Narrow"/>
                  <a:ea typeface="LG스마트체 Regular"/>
                  <a:cs typeface="Arial" pitchFamily="34" charset="0"/>
                </a:rPr>
                <a:t> (</a:t>
              </a:r>
              <a:r>
                <a:rPr lang="en-US" altLang="ko-KR" sz="1600" b="1" err="1">
                  <a:solidFill>
                    <a:prstClr val="black"/>
                  </a:solidFill>
                  <a:latin typeface="Arial Narrow"/>
                  <a:ea typeface="LG스마트체 Regular"/>
                  <a:cs typeface="Arial" pitchFamily="34" charset="0"/>
                </a:rPr>
                <a:t>Cpk</a:t>
              </a:r>
              <a:r>
                <a:rPr lang="ko-KR" altLang="en-US" sz="1600" b="1">
                  <a:solidFill>
                    <a:prstClr val="black"/>
                  </a:solidFill>
                  <a:latin typeface="Arial Narrow"/>
                  <a:ea typeface="LG스마트체 Regular"/>
                  <a:cs typeface="Arial" pitchFamily="34" charset="0"/>
                </a:rPr>
                <a:t> 연계</a:t>
              </a:r>
              <a:r>
                <a:rPr kumimoji="1" lang="en-US" altLang="ko-KR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Arial" pitchFamily="34" charset="0"/>
                </a:rPr>
                <a:t>)</a:t>
              </a:r>
              <a:endPara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AF56417E-791B-DCFA-4854-98B64A461E8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33552" y="404664"/>
              <a:ext cx="12305818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4F17D022-9CF7-71E6-D1B2-DF0E2260461C}"/>
              </a:ext>
            </a:extLst>
          </p:cNvPr>
          <p:cNvGrpSpPr/>
          <p:nvPr/>
        </p:nvGrpSpPr>
        <p:grpSpPr>
          <a:xfrm>
            <a:off x="982696" y="3639396"/>
            <a:ext cx="2540796" cy="453783"/>
            <a:chOff x="5241129" y="3108567"/>
            <a:chExt cx="2540796" cy="453783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7ECB7465-27D7-8C56-4D51-AA36FA0C84E5}"/>
                </a:ext>
              </a:extLst>
            </p:cNvPr>
            <p:cNvGrpSpPr/>
            <p:nvPr/>
          </p:nvGrpSpPr>
          <p:grpSpPr>
            <a:xfrm>
              <a:off x="5241129" y="3108567"/>
              <a:ext cx="2540796" cy="453783"/>
              <a:chOff x="5241129" y="3108567"/>
              <a:chExt cx="2540796" cy="453783"/>
            </a:xfrm>
          </p:grpSpPr>
          <p:sp>
            <p:nvSpPr>
              <p:cNvPr id="1347" name="직사각형 1346">
                <a:extLst>
                  <a:ext uri="{FF2B5EF4-FFF2-40B4-BE49-F238E27FC236}">
                    <a16:creationId xmlns:a16="http://schemas.microsoft.com/office/drawing/2014/main" id="{873D3D04-42CD-EA15-1537-34B92B8F77E2}"/>
                  </a:ext>
                </a:extLst>
              </p:cNvPr>
              <p:cNvSpPr/>
              <p:nvPr/>
            </p:nvSpPr>
            <p:spPr>
              <a:xfrm>
                <a:off x="5267325" y="3231679"/>
                <a:ext cx="2514600" cy="330671"/>
              </a:xfrm>
              <a:prstGeom prst="rect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sp>
            <p:nvSpPr>
              <p:cNvPr id="1352" name="TextBox 1351">
                <a:extLst>
                  <a:ext uri="{FF2B5EF4-FFF2-40B4-BE49-F238E27FC236}">
                    <a16:creationId xmlns:a16="http://schemas.microsoft.com/office/drawing/2014/main" id="{E71F6DAC-C701-B583-DF2F-6F71929A180A}"/>
                  </a:ext>
                </a:extLst>
              </p:cNvPr>
              <p:cNvSpPr txBox="1"/>
              <p:nvPr/>
            </p:nvSpPr>
            <p:spPr>
              <a:xfrm>
                <a:off x="5241129" y="3108567"/>
                <a:ext cx="79538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FF"/>
                    </a:highlight>
                    <a:uLnTx/>
                    <a:uFillTx/>
                    <a:latin typeface="Arial Narrow"/>
                    <a:ea typeface="LG스마트체 Regular"/>
                  </a:rPr>
                  <a:t>기존</a:t>
                </a: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A643F0A-7D59-4A93-5DEF-7FEA541B9CB8}"/>
                </a:ext>
              </a:extLst>
            </p:cNvPr>
            <p:cNvSpPr txBox="1"/>
            <p:nvPr/>
          </p:nvSpPr>
          <p:spPr>
            <a:xfrm>
              <a:off x="5488256" y="3279394"/>
              <a:ext cx="221570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(Warning) </a:t>
              </a:r>
              <a:r>
                <a:rPr kumimoji="0" lang="ko-KR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유량 </a:t>
              </a:r>
              <a:r>
                <a:rPr kumimoji="0" lang="en-US" altLang="ko-KR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&gt; 4.0  (Critical) </a:t>
              </a:r>
              <a:r>
                <a:rPr kumimoji="0" lang="ko-KR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유량 </a:t>
              </a:r>
              <a:r>
                <a:rPr kumimoji="0" lang="en-US" altLang="ko-KR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&gt; 5.5</a:t>
              </a:r>
              <a:endPara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</p:grpSp>
      <p:grpSp>
        <p:nvGrpSpPr>
          <p:cNvPr id="1355" name="그룹 1354">
            <a:extLst>
              <a:ext uri="{FF2B5EF4-FFF2-40B4-BE49-F238E27FC236}">
                <a16:creationId xmlns:a16="http://schemas.microsoft.com/office/drawing/2014/main" id="{7E1812A8-84BA-29D7-9FE6-05F4686091B4}"/>
              </a:ext>
            </a:extLst>
          </p:cNvPr>
          <p:cNvGrpSpPr/>
          <p:nvPr/>
        </p:nvGrpSpPr>
        <p:grpSpPr>
          <a:xfrm>
            <a:off x="991031" y="4134882"/>
            <a:ext cx="2550321" cy="561873"/>
            <a:chOff x="5249464" y="3833560"/>
            <a:chExt cx="2550321" cy="561873"/>
          </a:xfrm>
        </p:grpSpPr>
        <p:grpSp>
          <p:nvGrpSpPr>
            <p:cNvPr id="1356" name="그룹 1355">
              <a:extLst>
                <a:ext uri="{FF2B5EF4-FFF2-40B4-BE49-F238E27FC236}">
                  <a16:creationId xmlns:a16="http://schemas.microsoft.com/office/drawing/2014/main" id="{16F61B52-BA53-4720-2EB2-AAF2E5384175}"/>
                </a:ext>
              </a:extLst>
            </p:cNvPr>
            <p:cNvGrpSpPr/>
            <p:nvPr/>
          </p:nvGrpSpPr>
          <p:grpSpPr>
            <a:xfrm>
              <a:off x="5249464" y="3833560"/>
              <a:ext cx="2550321" cy="561873"/>
              <a:chOff x="5231604" y="3123447"/>
              <a:chExt cx="2550321" cy="438903"/>
            </a:xfrm>
          </p:grpSpPr>
          <p:sp>
            <p:nvSpPr>
              <p:cNvPr id="1360" name="직사각형 1359">
                <a:extLst>
                  <a:ext uri="{FF2B5EF4-FFF2-40B4-BE49-F238E27FC236}">
                    <a16:creationId xmlns:a16="http://schemas.microsoft.com/office/drawing/2014/main" id="{D19DDDE6-A374-0B5D-3B95-E2F7A59F3D14}"/>
                  </a:ext>
                </a:extLst>
              </p:cNvPr>
              <p:cNvSpPr/>
              <p:nvPr/>
            </p:nvSpPr>
            <p:spPr>
              <a:xfrm>
                <a:off x="5267325" y="3231679"/>
                <a:ext cx="2514600" cy="330671"/>
              </a:xfrm>
              <a:prstGeom prst="rect">
                <a:avLst/>
              </a:prstGeom>
              <a:noFill/>
              <a:ln w="31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endParaRPr>
              </a:p>
            </p:txBody>
          </p:sp>
          <p:sp>
            <p:nvSpPr>
              <p:cNvPr id="1361" name="TextBox 1360">
                <a:extLst>
                  <a:ext uri="{FF2B5EF4-FFF2-40B4-BE49-F238E27FC236}">
                    <a16:creationId xmlns:a16="http://schemas.microsoft.com/office/drawing/2014/main" id="{E9949BAF-7D40-E743-361E-A94AC54A148F}"/>
                  </a:ext>
                </a:extLst>
              </p:cNvPr>
              <p:cNvSpPr txBox="1"/>
              <p:nvPr/>
            </p:nvSpPr>
            <p:spPr>
              <a:xfrm>
                <a:off x="5231604" y="3123447"/>
                <a:ext cx="79538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FF"/>
                    </a:highlight>
                    <a:uLnTx/>
                    <a:uFillTx/>
                    <a:latin typeface="Arial Narrow"/>
                    <a:ea typeface="LG스마트체 Regular"/>
                  </a:rPr>
                  <a:t>개선</a:t>
                </a:r>
              </a:p>
            </p:txBody>
          </p:sp>
        </p:grpSp>
        <p:sp>
          <p:nvSpPr>
            <p:cNvPr id="1359" name="TextBox 1358">
              <a:extLst>
                <a:ext uri="{FF2B5EF4-FFF2-40B4-BE49-F238E27FC236}">
                  <a16:creationId xmlns:a16="http://schemas.microsoft.com/office/drawing/2014/main" id="{E0612535-88BB-1A89-D05A-FE1E60D8F2B3}"/>
                </a:ext>
              </a:extLst>
            </p:cNvPr>
            <p:cNvSpPr txBox="1"/>
            <p:nvPr/>
          </p:nvSpPr>
          <p:spPr>
            <a:xfrm>
              <a:off x="5487153" y="3995323"/>
              <a:ext cx="22157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(Warning) </a:t>
              </a:r>
              <a:r>
                <a:rPr kumimoji="0" lang="ko-KR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유량 </a:t>
              </a:r>
              <a:r>
                <a:rPr kumimoji="0" lang="en-US" altLang="ko-KR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&gt; 4.0 &amp; </a:t>
              </a:r>
              <a:r>
                <a:rPr kumimoji="0" lang="en-US" altLang="ko-KR" sz="10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AA/CC </a:t>
              </a:r>
              <a:r>
                <a:rPr kumimoji="0" lang="en-US" altLang="ko-KR" sz="1000" b="0" i="0" u="none" strike="noStrike" kern="0" cap="none" spc="0" normalizeH="0" baseline="0" noProof="0" err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Cpk</a:t>
              </a:r>
              <a:r>
                <a:rPr kumimoji="0" lang="en-US" altLang="ko-KR" sz="10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 &lt; 1.33</a:t>
              </a:r>
              <a:r>
                <a:rPr kumimoji="0" lang="en-US" altLang="ko-KR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  </a:t>
              </a:r>
              <a:br>
                <a:rPr kumimoji="0" lang="en-US" altLang="ko-KR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</a:br>
              <a:r>
                <a:rPr kumimoji="0" lang="en-US" altLang="ko-KR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(Critical) </a:t>
              </a:r>
              <a:r>
                <a:rPr kumimoji="0" lang="ko-KR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유량 </a:t>
              </a:r>
              <a:r>
                <a:rPr kumimoji="0" lang="en-US" altLang="ko-KR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&gt; 5.5 &amp; </a:t>
              </a:r>
              <a:r>
                <a:rPr kumimoji="0" lang="en-US" altLang="ko-KR" sz="10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AA/CC </a:t>
              </a:r>
              <a:r>
                <a:rPr kumimoji="0" lang="en-US" altLang="ko-KR" sz="1000" b="0" i="0" u="none" strike="noStrike" kern="0" cap="none" spc="0" normalizeH="0" baseline="0" noProof="0" err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Cpk</a:t>
              </a:r>
              <a:r>
                <a:rPr kumimoji="0" lang="en-US" altLang="ko-KR" sz="10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 Narrow"/>
                  <a:ea typeface="LG스마트체 Regular"/>
                </a:rPr>
                <a:t> &lt; 1.33</a:t>
              </a:r>
              <a:endPara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/>
                <a:ea typeface="LG스마트체 Regular"/>
              </a:endParaRPr>
            </a:p>
          </p:txBody>
        </p:sp>
      </p:grpSp>
      <p:sp>
        <p:nvSpPr>
          <p:cNvPr id="1362" name="TextBox 1361">
            <a:extLst>
              <a:ext uri="{FF2B5EF4-FFF2-40B4-BE49-F238E27FC236}">
                <a16:creationId xmlns:a16="http://schemas.microsoft.com/office/drawing/2014/main" id="{03AF3AFA-6F85-EDD1-73D7-7DBBD5179AD0}"/>
              </a:ext>
            </a:extLst>
          </p:cNvPr>
          <p:cNvSpPr txBox="1"/>
          <p:nvPr/>
        </p:nvSpPr>
        <p:spPr>
          <a:xfrm>
            <a:off x="928522" y="3475298"/>
            <a:ext cx="2965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>
                <a:solidFill>
                  <a:srgbClr val="0000FF"/>
                </a:solidFill>
                <a:latin typeface="Arial Narrow"/>
                <a:ea typeface="LG스마트체 Regular"/>
              </a:rPr>
              <a:t>[</a:t>
            </a:r>
            <a:r>
              <a:rPr lang="ko-KR" altLang="en-US" sz="1000" b="1">
                <a:solidFill>
                  <a:srgbClr val="0000FF"/>
                </a:solidFill>
                <a:latin typeface="Arial Narrow"/>
                <a:ea typeface="LG스마트체 Regular"/>
              </a:rPr>
              <a:t>알고리즘 개선 방향</a:t>
            </a:r>
            <a:r>
              <a:rPr lang="en-US" altLang="ko-KR" sz="1000" b="1">
                <a:solidFill>
                  <a:srgbClr val="0000FF"/>
                </a:solidFill>
                <a:latin typeface="Arial Narrow"/>
                <a:ea typeface="LG스마트체 Regular"/>
              </a:rPr>
              <a:t>]</a:t>
            </a:r>
            <a:endParaRPr lang="ko-KR" altLang="en-US" sz="1000" b="1">
              <a:solidFill>
                <a:srgbClr val="0000FF"/>
              </a:solidFill>
              <a:latin typeface="Arial Narrow"/>
              <a:ea typeface="LG스마트체 Regular"/>
            </a:endParaRPr>
          </a:p>
        </p:txBody>
      </p:sp>
      <p:sp>
        <p:nvSpPr>
          <p:cNvPr id="1369" name="TextBox 1368">
            <a:extLst>
              <a:ext uri="{FF2B5EF4-FFF2-40B4-BE49-F238E27FC236}">
                <a16:creationId xmlns:a16="http://schemas.microsoft.com/office/drawing/2014/main" id="{E9C8BD62-5FEB-391C-3D37-B2ADC1804B29}"/>
              </a:ext>
            </a:extLst>
          </p:cNvPr>
          <p:cNvSpPr txBox="1"/>
          <p:nvPr/>
        </p:nvSpPr>
        <p:spPr>
          <a:xfrm>
            <a:off x="982696" y="4706832"/>
            <a:ext cx="3074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>
                <a:solidFill>
                  <a:srgbClr val="007D00"/>
                </a:solidFill>
                <a:latin typeface="Arial Narrow"/>
                <a:ea typeface="LG스마트체 Regular"/>
              </a:rPr>
              <a:t>*</a:t>
            </a:r>
            <a:r>
              <a:rPr lang="ko-KR" altLang="en-US" sz="900">
                <a:solidFill>
                  <a:srgbClr val="007D00"/>
                </a:solidFill>
                <a:latin typeface="Arial Narrow"/>
                <a:ea typeface="LG스마트체 Regular"/>
              </a:rPr>
              <a:t> 호기 별로 본도</a:t>
            </a:r>
            <a:r>
              <a:rPr lang="en-US" altLang="ko-KR" sz="900">
                <a:solidFill>
                  <a:srgbClr val="007D00"/>
                </a:solidFill>
                <a:latin typeface="Arial Narrow"/>
                <a:ea typeface="LG스마트체 Regular"/>
              </a:rPr>
              <a:t>/</a:t>
            </a:r>
            <a:r>
              <a:rPr lang="ko-KR" altLang="en-US" sz="900">
                <a:solidFill>
                  <a:srgbClr val="007D00"/>
                </a:solidFill>
                <a:latin typeface="Arial Narrow"/>
                <a:ea typeface="LG스마트체 Regular"/>
              </a:rPr>
              <a:t>미러 기준에 따라 비전 치수 매칭이 달라</a:t>
            </a:r>
            <a:br>
              <a:rPr lang="en-US" altLang="ko-KR" sz="900">
                <a:solidFill>
                  <a:srgbClr val="007D00"/>
                </a:solidFill>
                <a:latin typeface="Arial Narrow"/>
                <a:ea typeface="LG스마트체 Regular"/>
              </a:rPr>
            </a:br>
            <a:r>
              <a:rPr lang="en-US" altLang="ko-KR" sz="900">
                <a:solidFill>
                  <a:srgbClr val="007D00"/>
                </a:solidFill>
                <a:latin typeface="Arial Narrow"/>
                <a:ea typeface="LG스마트체 Regular"/>
              </a:rPr>
              <a:t>  </a:t>
            </a:r>
            <a:r>
              <a:rPr lang="ko-KR" altLang="en-US" sz="900">
                <a:solidFill>
                  <a:srgbClr val="007D00"/>
                </a:solidFill>
                <a:latin typeface="Arial Narrow"/>
                <a:ea typeface="LG스마트체 Regular"/>
              </a:rPr>
              <a:t>알고리즘 적용 시 본도</a:t>
            </a:r>
            <a:r>
              <a:rPr lang="en-US" altLang="ko-KR" sz="900">
                <a:solidFill>
                  <a:srgbClr val="007D00"/>
                </a:solidFill>
                <a:latin typeface="Arial Narrow"/>
                <a:ea typeface="LG스마트체 Regular"/>
              </a:rPr>
              <a:t>/</a:t>
            </a:r>
            <a:r>
              <a:rPr lang="ko-KR" altLang="en-US" sz="900">
                <a:solidFill>
                  <a:srgbClr val="007D00"/>
                </a:solidFill>
                <a:latin typeface="Arial Narrow"/>
                <a:ea typeface="LG스마트체 Regular"/>
              </a:rPr>
              <a:t>미러에 따른 로직 구분이 필요함 </a:t>
            </a:r>
          </a:p>
        </p:txBody>
      </p:sp>
      <p:sp>
        <p:nvSpPr>
          <p:cNvPr id="1370" name="이등변 삼각형 1369">
            <a:extLst>
              <a:ext uri="{FF2B5EF4-FFF2-40B4-BE49-F238E27FC236}">
                <a16:creationId xmlns:a16="http://schemas.microsoft.com/office/drawing/2014/main" id="{AA2F3710-B15E-EC87-4114-09D37B85E1D9}"/>
              </a:ext>
            </a:extLst>
          </p:cNvPr>
          <p:cNvSpPr/>
          <p:nvPr/>
        </p:nvSpPr>
        <p:spPr>
          <a:xfrm flipV="1">
            <a:off x="2101482" y="4134168"/>
            <a:ext cx="237434" cy="107976"/>
          </a:xfrm>
          <a:prstGeom prst="triangle">
            <a:avLst/>
          </a:prstGeom>
          <a:solidFill>
            <a:sysClr val="window" lastClr="FFFFFF">
              <a:lumMod val="95000"/>
            </a:sysClr>
          </a:solidFill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pic>
        <p:nvPicPr>
          <p:cNvPr id="1371" name="그림 1370">
            <a:extLst>
              <a:ext uri="{FF2B5EF4-FFF2-40B4-BE49-F238E27FC236}">
                <a16:creationId xmlns:a16="http://schemas.microsoft.com/office/drawing/2014/main" id="{E65E4510-5F9A-D02F-FB72-6AE58B9C5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92" y="5213112"/>
            <a:ext cx="1508158" cy="709503"/>
          </a:xfrm>
          <a:prstGeom prst="rect">
            <a:avLst/>
          </a:prstGeom>
        </p:spPr>
      </p:pic>
      <p:sp>
        <p:nvSpPr>
          <p:cNvPr id="1372" name="TextBox 1371">
            <a:extLst>
              <a:ext uri="{FF2B5EF4-FFF2-40B4-BE49-F238E27FC236}">
                <a16:creationId xmlns:a16="http://schemas.microsoft.com/office/drawing/2014/main" id="{BCEAC6E6-F716-48A9-609B-3E07C98C44E7}"/>
              </a:ext>
            </a:extLst>
          </p:cNvPr>
          <p:cNvSpPr txBox="1"/>
          <p:nvPr/>
        </p:nvSpPr>
        <p:spPr>
          <a:xfrm flipH="1">
            <a:off x="980063" y="5065979"/>
            <a:ext cx="1705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#1-2 </a:t>
            </a:r>
            <a:r>
              <a:rPr lang="ko-KR" altLang="en-US" sz="900" err="1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본기</a:t>
            </a:r>
            <a:r>
              <a:rPr lang="ko-KR" altLang="en-US" sz="90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 </a:t>
            </a:r>
            <a:r>
              <a:rPr lang="ko-KR" altLang="en-US" sz="900" b="1" err="1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양극커터</a:t>
            </a:r>
            <a:r>
              <a:rPr lang="ko-KR" altLang="en-US" sz="90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 </a:t>
            </a:r>
            <a:br>
              <a:rPr lang="en-US" altLang="ko-KR" sz="90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</a:br>
            <a:r>
              <a:rPr lang="en-US" altLang="ko-KR" sz="90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  MC </a:t>
            </a:r>
            <a:r>
              <a:rPr lang="ko-KR" altLang="en-US" sz="90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측 유량</a:t>
            </a:r>
          </a:p>
        </p:txBody>
      </p:sp>
      <p:pic>
        <p:nvPicPr>
          <p:cNvPr id="1373" name="그림 1372">
            <a:extLst>
              <a:ext uri="{FF2B5EF4-FFF2-40B4-BE49-F238E27FC236}">
                <a16:creationId xmlns:a16="http://schemas.microsoft.com/office/drawing/2014/main" id="{95143ABC-1480-444F-878C-2E7DA5DE8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0769" y="5233228"/>
            <a:ext cx="1406507" cy="659300"/>
          </a:xfrm>
          <a:prstGeom prst="rect">
            <a:avLst/>
          </a:prstGeom>
        </p:spPr>
      </p:pic>
      <p:sp>
        <p:nvSpPr>
          <p:cNvPr id="1374" name="TextBox 1373">
            <a:extLst>
              <a:ext uri="{FF2B5EF4-FFF2-40B4-BE49-F238E27FC236}">
                <a16:creationId xmlns:a16="http://schemas.microsoft.com/office/drawing/2014/main" id="{254DFDFC-9A54-0557-460C-65A283B2798C}"/>
              </a:ext>
            </a:extLst>
          </p:cNvPr>
          <p:cNvSpPr txBox="1"/>
          <p:nvPr/>
        </p:nvSpPr>
        <p:spPr>
          <a:xfrm flipH="1">
            <a:off x="2543987" y="5076659"/>
            <a:ext cx="104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#1-2 CC1(MC) </a:t>
            </a:r>
            <a:r>
              <a:rPr lang="en-US" altLang="ko-KR" sz="900" b="1" err="1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Cpk</a:t>
            </a:r>
            <a:endParaRPr lang="ko-KR" altLang="en-US" sz="900" b="1">
              <a:solidFill>
                <a:prstClr val="black"/>
              </a:solidFill>
              <a:highlight>
                <a:srgbClr val="FFFFFF"/>
              </a:highlight>
              <a:latin typeface="Arial Narrow"/>
              <a:ea typeface="LG스마트체 Regular"/>
            </a:endParaRPr>
          </a:p>
        </p:txBody>
      </p:sp>
      <p:sp>
        <p:nvSpPr>
          <p:cNvPr id="1375" name="TextBox 1374">
            <a:extLst>
              <a:ext uri="{FF2B5EF4-FFF2-40B4-BE49-F238E27FC236}">
                <a16:creationId xmlns:a16="http://schemas.microsoft.com/office/drawing/2014/main" id="{07049216-C368-5B19-88B2-29AB205BCE1F}"/>
              </a:ext>
            </a:extLst>
          </p:cNvPr>
          <p:cNvSpPr txBox="1"/>
          <p:nvPr/>
        </p:nvSpPr>
        <p:spPr>
          <a:xfrm flipH="1">
            <a:off x="893683" y="5736022"/>
            <a:ext cx="2015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2</a:t>
            </a:r>
            <a:endParaRPr lang="ko-KR" altLang="en-US" sz="800">
              <a:solidFill>
                <a:prstClr val="black"/>
              </a:solidFill>
              <a:highlight>
                <a:srgbClr val="FFFFFF"/>
              </a:highlight>
              <a:latin typeface="Arial Narrow"/>
              <a:ea typeface="LG스마트체 Regular"/>
            </a:endParaRPr>
          </a:p>
        </p:txBody>
      </p:sp>
      <p:sp>
        <p:nvSpPr>
          <p:cNvPr id="1376" name="TextBox 1375">
            <a:extLst>
              <a:ext uri="{FF2B5EF4-FFF2-40B4-BE49-F238E27FC236}">
                <a16:creationId xmlns:a16="http://schemas.microsoft.com/office/drawing/2014/main" id="{443B1BA9-108E-1C0F-AC0C-9A81C48AFA5C}"/>
              </a:ext>
            </a:extLst>
          </p:cNvPr>
          <p:cNvSpPr txBox="1"/>
          <p:nvPr/>
        </p:nvSpPr>
        <p:spPr>
          <a:xfrm flipH="1">
            <a:off x="890236" y="5635994"/>
            <a:ext cx="2015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79646">
                    <a:lumMod val="75000"/>
                  </a:srgbClr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4</a:t>
            </a:r>
            <a:endParaRPr lang="ko-KR" altLang="en-US" sz="800">
              <a:solidFill>
                <a:srgbClr val="F79646">
                  <a:lumMod val="75000"/>
                </a:srgbClr>
              </a:solidFill>
              <a:highlight>
                <a:srgbClr val="FFFFFF"/>
              </a:highlight>
              <a:latin typeface="Arial Narrow"/>
              <a:ea typeface="LG스마트체 Regular"/>
            </a:endParaRPr>
          </a:p>
        </p:txBody>
      </p:sp>
      <p:sp>
        <p:nvSpPr>
          <p:cNvPr id="1377" name="TextBox 1376">
            <a:extLst>
              <a:ext uri="{FF2B5EF4-FFF2-40B4-BE49-F238E27FC236}">
                <a16:creationId xmlns:a16="http://schemas.microsoft.com/office/drawing/2014/main" id="{D78AE42E-552C-79E6-5CA7-AA63CDC523FF}"/>
              </a:ext>
            </a:extLst>
          </p:cNvPr>
          <p:cNvSpPr txBox="1"/>
          <p:nvPr/>
        </p:nvSpPr>
        <p:spPr>
          <a:xfrm flipH="1">
            <a:off x="847017" y="5549428"/>
            <a:ext cx="3464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5.5</a:t>
            </a:r>
            <a:endParaRPr lang="ko-KR" altLang="en-US" sz="800">
              <a:solidFill>
                <a:srgbClr val="FF0000"/>
              </a:solidFill>
              <a:highlight>
                <a:srgbClr val="FFFFFF"/>
              </a:highlight>
              <a:latin typeface="Arial Narrow"/>
              <a:ea typeface="LG스마트체 Regular"/>
            </a:endParaRPr>
          </a:p>
        </p:txBody>
      </p:sp>
      <p:sp>
        <p:nvSpPr>
          <p:cNvPr id="1378" name="TextBox 1377">
            <a:extLst>
              <a:ext uri="{FF2B5EF4-FFF2-40B4-BE49-F238E27FC236}">
                <a16:creationId xmlns:a16="http://schemas.microsoft.com/office/drawing/2014/main" id="{657C8C09-4247-6450-FACC-27484117EA58}"/>
              </a:ext>
            </a:extLst>
          </p:cNvPr>
          <p:cNvSpPr txBox="1"/>
          <p:nvPr/>
        </p:nvSpPr>
        <p:spPr>
          <a:xfrm flipH="1">
            <a:off x="868014" y="5300346"/>
            <a:ext cx="2817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10</a:t>
            </a:r>
            <a:endParaRPr lang="ko-KR" altLang="en-US" sz="800">
              <a:solidFill>
                <a:prstClr val="black"/>
              </a:solidFill>
              <a:highlight>
                <a:srgbClr val="FFFFFF"/>
              </a:highlight>
              <a:latin typeface="Arial Narrow"/>
              <a:ea typeface="LG스마트체 Regular"/>
            </a:endParaRPr>
          </a:p>
        </p:txBody>
      </p:sp>
      <p:sp>
        <p:nvSpPr>
          <p:cNvPr id="1380" name="TextBox 1379">
            <a:extLst>
              <a:ext uri="{FF2B5EF4-FFF2-40B4-BE49-F238E27FC236}">
                <a16:creationId xmlns:a16="http://schemas.microsoft.com/office/drawing/2014/main" id="{0F050495-A749-4F35-BA6A-3B489663BDFF}"/>
              </a:ext>
            </a:extLst>
          </p:cNvPr>
          <p:cNvSpPr txBox="1"/>
          <p:nvPr/>
        </p:nvSpPr>
        <p:spPr>
          <a:xfrm flipH="1">
            <a:off x="2551870" y="5726077"/>
            <a:ext cx="2817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0</a:t>
            </a:r>
            <a:endParaRPr lang="ko-KR" altLang="en-US" sz="800">
              <a:solidFill>
                <a:prstClr val="black"/>
              </a:solidFill>
              <a:highlight>
                <a:srgbClr val="FFFFFF"/>
              </a:highlight>
              <a:latin typeface="Arial Narrow"/>
              <a:ea typeface="LG스마트체 Regular"/>
            </a:endParaRPr>
          </a:p>
        </p:txBody>
      </p:sp>
      <p:sp>
        <p:nvSpPr>
          <p:cNvPr id="1382" name="TextBox 1381">
            <a:extLst>
              <a:ext uri="{FF2B5EF4-FFF2-40B4-BE49-F238E27FC236}">
                <a16:creationId xmlns:a16="http://schemas.microsoft.com/office/drawing/2014/main" id="{9183F4D0-6575-B5AD-F54C-29E73A385D34}"/>
              </a:ext>
            </a:extLst>
          </p:cNvPr>
          <p:cNvSpPr txBox="1"/>
          <p:nvPr/>
        </p:nvSpPr>
        <p:spPr>
          <a:xfrm flipH="1">
            <a:off x="2460647" y="5570155"/>
            <a:ext cx="3802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1.33</a:t>
            </a:r>
            <a:endParaRPr lang="ko-KR" altLang="en-US" sz="800">
              <a:solidFill>
                <a:srgbClr val="FF0000"/>
              </a:solidFill>
              <a:highlight>
                <a:srgbClr val="FFFFFF"/>
              </a:highlight>
              <a:latin typeface="Arial Narrow"/>
              <a:ea typeface="LG스마트체 Regular"/>
            </a:endParaRPr>
          </a:p>
        </p:txBody>
      </p:sp>
      <p:sp>
        <p:nvSpPr>
          <p:cNvPr id="1384" name="TextBox 1383">
            <a:extLst>
              <a:ext uri="{FF2B5EF4-FFF2-40B4-BE49-F238E27FC236}">
                <a16:creationId xmlns:a16="http://schemas.microsoft.com/office/drawing/2014/main" id="{CD518B1E-2500-7699-DD15-F3042BC4839B}"/>
              </a:ext>
            </a:extLst>
          </p:cNvPr>
          <p:cNvSpPr txBox="1"/>
          <p:nvPr/>
        </p:nvSpPr>
        <p:spPr>
          <a:xfrm flipH="1">
            <a:off x="2508901" y="5356320"/>
            <a:ext cx="3802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prstClr val="black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3.0</a:t>
            </a:r>
            <a:endParaRPr lang="ko-KR" altLang="en-US" sz="800">
              <a:solidFill>
                <a:prstClr val="black"/>
              </a:solidFill>
              <a:highlight>
                <a:srgbClr val="FFFFFF"/>
              </a:highlight>
              <a:latin typeface="Arial Narrow"/>
              <a:ea typeface="LG스마트체 Regular"/>
            </a:endParaRPr>
          </a:p>
        </p:txBody>
      </p:sp>
      <p:cxnSp>
        <p:nvCxnSpPr>
          <p:cNvPr id="1385" name="직선 연결선 1384">
            <a:extLst>
              <a:ext uri="{FF2B5EF4-FFF2-40B4-BE49-F238E27FC236}">
                <a16:creationId xmlns:a16="http://schemas.microsoft.com/office/drawing/2014/main" id="{38F283AA-BE43-F89E-64CE-DCE01FB5A85F}"/>
              </a:ext>
            </a:extLst>
          </p:cNvPr>
          <p:cNvCxnSpPr>
            <a:cxnSpLocks/>
          </p:cNvCxnSpPr>
          <p:nvPr/>
        </p:nvCxnSpPr>
        <p:spPr>
          <a:xfrm flipV="1">
            <a:off x="2700397" y="5664681"/>
            <a:ext cx="1356879" cy="2619"/>
          </a:xfrm>
          <a:prstGeom prst="line">
            <a:avLst/>
          </a:prstGeom>
          <a:noFill/>
          <a:ln w="63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1388" name="직선 연결선 1387">
            <a:extLst>
              <a:ext uri="{FF2B5EF4-FFF2-40B4-BE49-F238E27FC236}">
                <a16:creationId xmlns:a16="http://schemas.microsoft.com/office/drawing/2014/main" id="{74E5E4EC-3EC2-8F53-8D8D-DEE6BB98AB52}"/>
              </a:ext>
            </a:extLst>
          </p:cNvPr>
          <p:cNvCxnSpPr>
            <a:cxnSpLocks/>
          </p:cNvCxnSpPr>
          <p:nvPr/>
        </p:nvCxnSpPr>
        <p:spPr>
          <a:xfrm flipV="1">
            <a:off x="1106691" y="5646494"/>
            <a:ext cx="1356879" cy="2619"/>
          </a:xfrm>
          <a:prstGeom prst="line">
            <a:avLst/>
          </a:prstGeom>
          <a:noFill/>
          <a:ln w="63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1390" name="직선 연결선 1389">
            <a:extLst>
              <a:ext uri="{FF2B5EF4-FFF2-40B4-BE49-F238E27FC236}">
                <a16:creationId xmlns:a16="http://schemas.microsoft.com/office/drawing/2014/main" id="{EFB35532-81AE-5371-AE69-1C25862BBC48}"/>
              </a:ext>
            </a:extLst>
          </p:cNvPr>
          <p:cNvCxnSpPr>
            <a:cxnSpLocks/>
          </p:cNvCxnSpPr>
          <p:nvPr/>
        </p:nvCxnSpPr>
        <p:spPr>
          <a:xfrm flipV="1">
            <a:off x="1097143" y="5732355"/>
            <a:ext cx="1356879" cy="2619"/>
          </a:xfrm>
          <a:prstGeom prst="line">
            <a:avLst/>
          </a:prstGeom>
          <a:noFill/>
          <a:ln w="6350" cap="flat" cmpd="sng" algn="ctr">
            <a:solidFill>
              <a:srgbClr val="F79646"/>
            </a:solidFill>
            <a:prstDash val="solid"/>
          </a:ln>
          <a:effectLst/>
        </p:spPr>
      </p:cxnSp>
      <p:sp>
        <p:nvSpPr>
          <p:cNvPr id="1391" name="TextBox 1390">
            <a:extLst>
              <a:ext uri="{FF2B5EF4-FFF2-40B4-BE49-F238E27FC236}">
                <a16:creationId xmlns:a16="http://schemas.microsoft.com/office/drawing/2014/main" id="{15B94813-F134-891C-DCAA-677E2CE86C82}"/>
              </a:ext>
            </a:extLst>
          </p:cNvPr>
          <p:cNvSpPr txBox="1"/>
          <p:nvPr/>
        </p:nvSpPr>
        <p:spPr>
          <a:xfrm flipH="1">
            <a:off x="2019076" y="5906258"/>
            <a:ext cx="104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>
                <a:solidFill>
                  <a:srgbClr val="FF0000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알람 발생</a:t>
            </a:r>
          </a:p>
        </p:txBody>
      </p:sp>
      <p:sp>
        <p:nvSpPr>
          <p:cNvPr id="1394" name="직사각형 1393">
            <a:extLst>
              <a:ext uri="{FF2B5EF4-FFF2-40B4-BE49-F238E27FC236}">
                <a16:creationId xmlns:a16="http://schemas.microsoft.com/office/drawing/2014/main" id="{11815239-A9F5-5464-4B63-DA262320FD75}"/>
              </a:ext>
            </a:extLst>
          </p:cNvPr>
          <p:cNvSpPr/>
          <p:nvPr/>
        </p:nvSpPr>
        <p:spPr>
          <a:xfrm>
            <a:off x="2101482" y="5203840"/>
            <a:ext cx="376954" cy="710255"/>
          </a:xfrm>
          <a:prstGeom prst="rect">
            <a:avLst/>
          </a:prstGeom>
          <a:noFill/>
          <a:ln w="3175" cap="flat" cmpd="sng" algn="ctr">
            <a:solidFill>
              <a:srgbClr val="FF0000"/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1395" name="직사각형 1394">
            <a:extLst>
              <a:ext uri="{FF2B5EF4-FFF2-40B4-BE49-F238E27FC236}">
                <a16:creationId xmlns:a16="http://schemas.microsoft.com/office/drawing/2014/main" id="{15AB125D-3036-B011-ADBB-496E5AFB6469}"/>
              </a:ext>
            </a:extLst>
          </p:cNvPr>
          <p:cNvSpPr/>
          <p:nvPr/>
        </p:nvSpPr>
        <p:spPr>
          <a:xfrm>
            <a:off x="3674007" y="5203840"/>
            <a:ext cx="376954" cy="710255"/>
          </a:xfrm>
          <a:prstGeom prst="rect">
            <a:avLst/>
          </a:prstGeom>
          <a:noFill/>
          <a:ln w="3175" cap="flat" cmpd="sng" algn="ctr">
            <a:solidFill>
              <a:srgbClr val="0000FF"/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1396" name="TextBox 1395">
            <a:extLst>
              <a:ext uri="{FF2B5EF4-FFF2-40B4-BE49-F238E27FC236}">
                <a16:creationId xmlns:a16="http://schemas.microsoft.com/office/drawing/2014/main" id="{0BBCEFB2-6430-CEA7-815A-6D985555A55E}"/>
              </a:ext>
            </a:extLst>
          </p:cNvPr>
          <p:cNvSpPr txBox="1"/>
          <p:nvPr/>
        </p:nvSpPr>
        <p:spPr>
          <a:xfrm flipH="1">
            <a:off x="3523617" y="5895973"/>
            <a:ext cx="104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err="1">
                <a:solidFill>
                  <a:srgbClr val="0000FF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Cpk</a:t>
            </a:r>
            <a:r>
              <a:rPr lang="en-US" altLang="ko-KR" sz="900" b="1">
                <a:solidFill>
                  <a:srgbClr val="0000FF"/>
                </a:solidFill>
                <a:highlight>
                  <a:srgbClr val="FFFFFF"/>
                </a:highlight>
                <a:latin typeface="Arial Narrow"/>
                <a:ea typeface="LG스마트체 Regular"/>
              </a:rPr>
              <a:t> Good</a:t>
            </a:r>
            <a:endParaRPr lang="ko-KR" altLang="en-US" sz="900" b="1">
              <a:solidFill>
                <a:srgbClr val="0000FF"/>
              </a:solidFill>
              <a:highlight>
                <a:srgbClr val="FFFFFF"/>
              </a:highlight>
              <a:latin typeface="Arial Narrow"/>
              <a:ea typeface="LG스마트체 Regular"/>
            </a:endParaRPr>
          </a:p>
        </p:txBody>
      </p:sp>
      <p:cxnSp>
        <p:nvCxnSpPr>
          <p:cNvPr id="1398" name="직선 화살표 연결선 1397">
            <a:extLst>
              <a:ext uri="{FF2B5EF4-FFF2-40B4-BE49-F238E27FC236}">
                <a16:creationId xmlns:a16="http://schemas.microsoft.com/office/drawing/2014/main" id="{41F4A261-3A36-0D75-C85D-AB4242FB0C06}"/>
              </a:ext>
            </a:extLst>
          </p:cNvPr>
          <p:cNvCxnSpPr>
            <a:cxnSpLocks/>
          </p:cNvCxnSpPr>
          <p:nvPr/>
        </p:nvCxnSpPr>
        <p:spPr>
          <a:xfrm>
            <a:off x="2623898" y="6021674"/>
            <a:ext cx="904722" cy="0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1399" name="TextBox 1398">
            <a:extLst>
              <a:ext uri="{FF2B5EF4-FFF2-40B4-BE49-F238E27FC236}">
                <a16:creationId xmlns:a16="http://schemas.microsoft.com/office/drawing/2014/main" id="{E3399324-283C-07E8-7D75-E486911789C4}"/>
              </a:ext>
            </a:extLst>
          </p:cNvPr>
          <p:cNvSpPr txBox="1"/>
          <p:nvPr/>
        </p:nvSpPr>
        <p:spPr>
          <a:xfrm flipH="1">
            <a:off x="2626260" y="6019203"/>
            <a:ext cx="10429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err="1">
                <a:solidFill>
                  <a:prstClr val="black"/>
                </a:solidFill>
                <a:highlight>
                  <a:srgbClr val="FCE8C7"/>
                </a:highlight>
                <a:latin typeface="Arial Narrow"/>
                <a:ea typeface="LG스마트체 Regular"/>
              </a:rPr>
              <a:t>Cpk</a:t>
            </a:r>
            <a:r>
              <a:rPr lang="ko-KR" altLang="en-US" sz="900" b="1">
                <a:solidFill>
                  <a:prstClr val="black"/>
                </a:solidFill>
                <a:highlight>
                  <a:srgbClr val="FCE8C7"/>
                </a:highlight>
                <a:latin typeface="Arial Narrow"/>
                <a:ea typeface="LG스마트체 Regular"/>
              </a:rPr>
              <a:t> 반영</a:t>
            </a:r>
            <a:r>
              <a:rPr lang="en-US" altLang="ko-KR" sz="900" b="1">
                <a:solidFill>
                  <a:prstClr val="black"/>
                </a:solidFill>
                <a:highlight>
                  <a:srgbClr val="FCE8C7"/>
                </a:highlight>
                <a:latin typeface="Arial Narrow"/>
                <a:ea typeface="LG스마트체 Regular"/>
              </a:rPr>
              <a:t>, </a:t>
            </a:r>
            <a:r>
              <a:rPr lang="ko-KR" altLang="en-US" sz="900" b="1">
                <a:solidFill>
                  <a:prstClr val="black"/>
                </a:solidFill>
                <a:highlight>
                  <a:srgbClr val="FCE8C7"/>
                </a:highlight>
                <a:latin typeface="Arial Narrow"/>
                <a:ea typeface="LG스마트체 Regular"/>
              </a:rPr>
              <a:t>알람</a:t>
            </a:r>
            <a:r>
              <a:rPr lang="en-US" altLang="ko-KR" sz="900" b="1">
                <a:solidFill>
                  <a:prstClr val="black"/>
                </a:solidFill>
                <a:highlight>
                  <a:srgbClr val="FCE8C7"/>
                </a:highlight>
                <a:latin typeface="Arial Narrow"/>
                <a:ea typeface="LG스마트체 Regular"/>
              </a:rPr>
              <a:t>X</a:t>
            </a:r>
            <a:endParaRPr lang="ko-KR" altLang="en-US" sz="900" b="1">
              <a:solidFill>
                <a:prstClr val="black"/>
              </a:solidFill>
              <a:highlight>
                <a:srgbClr val="FCE8C7"/>
              </a:highlight>
              <a:latin typeface="Arial Narrow"/>
              <a:ea typeface="LG스마트체 Regular"/>
            </a:endParaRPr>
          </a:p>
        </p:txBody>
      </p:sp>
      <p:sp>
        <p:nvSpPr>
          <p:cNvPr id="1406" name="TextBox 1405">
            <a:extLst>
              <a:ext uri="{FF2B5EF4-FFF2-40B4-BE49-F238E27FC236}">
                <a16:creationId xmlns:a16="http://schemas.microsoft.com/office/drawing/2014/main" id="{661C55EB-5AC5-6766-7D93-370B74E360A8}"/>
              </a:ext>
            </a:extLst>
          </p:cNvPr>
          <p:cNvSpPr txBox="1"/>
          <p:nvPr/>
        </p:nvSpPr>
        <p:spPr>
          <a:xfrm>
            <a:off x="234122" y="1615068"/>
            <a:ext cx="4453050" cy="1775038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0" marR="0" lvl="1" indent="0" algn="l" defTabSz="844083" rtl="0" eaLnBrk="1" fontAlgn="base" latinLnBrk="1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-. 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배경 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: ESOT </a:t>
            </a:r>
            <a:r>
              <a:rPr kumimoji="1" lang="ko-KR" altLang="en-US" sz="110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라미네이션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FDC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알람 중 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80% 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이상이 유량 관련 알람이며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, </a:t>
            </a:r>
            <a:b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</a:b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                 </a:t>
            </a:r>
            <a:r>
              <a:rPr kumimoji="1" lang="ko-KR" alt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불량과의 관련성 확인이 안되는 경우에도 교체를 진행하고 있음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.</a:t>
            </a:r>
            <a:b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               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이에 따라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,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품질과 연계하여 커터 </a:t>
            </a:r>
            <a:r>
              <a:rPr kumimoji="1" lang="ko-KR" altLang="en-US" sz="110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그리퍼를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점검 후 교체하려는 </a:t>
            </a:r>
            <a:b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               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법인 니즈가 존재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.</a:t>
            </a:r>
            <a:endParaRPr kumimoji="1" lang="en-US" altLang="ko-KR" sz="11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  <a:p>
            <a:pPr marL="0" lvl="1" defTabSz="844083" fontAlgn="base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5000"/>
              <a:defRPr/>
            </a:pP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-.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고도화 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: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합치 비전의 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AA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갭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음극간 거리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), CC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갭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양극간 거리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)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값의 </a:t>
            </a:r>
            <a:r>
              <a:rPr kumimoji="1" lang="en-US" altLang="ko-KR" sz="110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Cpk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를</a:t>
            </a:r>
            <a:b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                FDC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로 연동하여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,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기존 유량 이상감지 로직에 조건을 추가 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(8/19).</a:t>
            </a:r>
            <a:b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                 *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기존 로직 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: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유량이 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4.0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이상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(Warning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알람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), 5.5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이상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(Critical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알람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)</a:t>
            </a:r>
            <a:b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                  +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조건 추가 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: AND AA/CC </a:t>
            </a:r>
            <a:r>
              <a:rPr kumimoji="1" lang="en-US" altLang="ko-KR" sz="110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Cpk</a:t>
            </a:r>
            <a:r>
              <a:rPr kumimoji="1" lang="en-US" altLang="ko-KR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1.33 </a:t>
            </a:r>
            <a:r>
              <a:rPr kumimoji="1" lang="ko-KR" altLang="en-US" sz="110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미만 </a:t>
            </a:r>
            <a:endParaRPr kumimoji="1" lang="en-US" altLang="ko-KR" sz="11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1407" name="TextBox 1406">
            <a:extLst>
              <a:ext uri="{FF2B5EF4-FFF2-40B4-BE49-F238E27FC236}">
                <a16:creationId xmlns:a16="http://schemas.microsoft.com/office/drawing/2014/main" id="{46F49959-5A13-8B41-A8E8-27EEF7C1A5B8}"/>
              </a:ext>
            </a:extLst>
          </p:cNvPr>
          <p:cNvSpPr txBox="1"/>
          <p:nvPr/>
        </p:nvSpPr>
        <p:spPr>
          <a:xfrm>
            <a:off x="961957" y="1090429"/>
            <a:ext cx="2839952" cy="330732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0" marR="0" lvl="1" indent="0" algn="ctr" defTabSz="844083" rtl="0" eaLnBrk="1" fontAlgn="base" latinLnBrk="1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ko-KR" altLang="en-US" sz="1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고도화 배경 및 검토 방향</a:t>
            </a:r>
            <a:endParaRPr kumimoji="1" lang="en-US" altLang="ko-KR" sz="1400" b="1" i="0" u="sng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sp>
        <p:nvSpPr>
          <p:cNvPr id="640" name="화살표: 오른쪽 639">
            <a:extLst>
              <a:ext uri="{FF2B5EF4-FFF2-40B4-BE49-F238E27FC236}">
                <a16:creationId xmlns:a16="http://schemas.microsoft.com/office/drawing/2014/main" id="{A9323CDC-10BC-274D-286F-4D8155D8184B}"/>
              </a:ext>
            </a:extLst>
          </p:cNvPr>
          <p:cNvSpPr/>
          <p:nvPr/>
        </p:nvSpPr>
        <p:spPr>
          <a:xfrm>
            <a:off x="6615465" y="4336781"/>
            <a:ext cx="527842" cy="1838210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641" name="그림 640">
            <a:extLst>
              <a:ext uri="{FF2B5EF4-FFF2-40B4-BE49-F238E27FC236}">
                <a16:creationId xmlns:a16="http://schemas.microsoft.com/office/drawing/2014/main" id="{3B182E6A-E4F0-93CB-ED2C-E5E84CE28D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2269" y="1868449"/>
            <a:ext cx="2356680" cy="1863448"/>
          </a:xfrm>
          <a:prstGeom prst="rect">
            <a:avLst/>
          </a:prstGeom>
        </p:spPr>
      </p:pic>
      <p:pic>
        <p:nvPicPr>
          <p:cNvPr id="642" name="그림 641">
            <a:extLst>
              <a:ext uri="{FF2B5EF4-FFF2-40B4-BE49-F238E27FC236}">
                <a16:creationId xmlns:a16="http://schemas.microsoft.com/office/drawing/2014/main" id="{248C6212-C6FC-A5FF-B2B4-7167F1AA17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8461" y="1868449"/>
            <a:ext cx="2356680" cy="1863448"/>
          </a:xfrm>
          <a:prstGeom prst="rect">
            <a:avLst/>
          </a:prstGeom>
        </p:spPr>
      </p:pic>
      <p:cxnSp>
        <p:nvCxnSpPr>
          <p:cNvPr id="643" name="직선 연결선 642">
            <a:extLst>
              <a:ext uri="{FF2B5EF4-FFF2-40B4-BE49-F238E27FC236}">
                <a16:creationId xmlns:a16="http://schemas.microsoft.com/office/drawing/2014/main" id="{BCBCE8DA-487E-7FAB-646A-E851F1B7B30C}"/>
              </a:ext>
            </a:extLst>
          </p:cNvPr>
          <p:cNvCxnSpPr/>
          <p:nvPr/>
        </p:nvCxnSpPr>
        <p:spPr>
          <a:xfrm>
            <a:off x="4864506" y="2932110"/>
            <a:ext cx="2212206" cy="0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직선 연결선 643">
            <a:extLst>
              <a:ext uri="{FF2B5EF4-FFF2-40B4-BE49-F238E27FC236}">
                <a16:creationId xmlns:a16="http://schemas.microsoft.com/office/drawing/2014/main" id="{4CF11C4E-E321-1B93-0CFD-AE03761107E7}"/>
              </a:ext>
            </a:extLst>
          </p:cNvPr>
          <p:cNvCxnSpPr/>
          <p:nvPr/>
        </p:nvCxnSpPr>
        <p:spPr>
          <a:xfrm>
            <a:off x="7444426" y="2912819"/>
            <a:ext cx="2212206" cy="0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5" name="직사각형 644">
            <a:extLst>
              <a:ext uri="{FF2B5EF4-FFF2-40B4-BE49-F238E27FC236}">
                <a16:creationId xmlns:a16="http://schemas.microsoft.com/office/drawing/2014/main" id="{95310D2E-B947-7B38-4531-B638AFBDD763}"/>
              </a:ext>
            </a:extLst>
          </p:cNvPr>
          <p:cNvSpPr/>
          <p:nvPr/>
        </p:nvSpPr>
        <p:spPr>
          <a:xfrm>
            <a:off x="4784204" y="1792894"/>
            <a:ext cx="113754" cy="18573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646" name="그룹 645">
            <a:extLst>
              <a:ext uri="{FF2B5EF4-FFF2-40B4-BE49-F238E27FC236}">
                <a16:creationId xmlns:a16="http://schemas.microsoft.com/office/drawing/2014/main" id="{A6DCABAF-671C-5C7E-8DE5-B8392571B96E}"/>
              </a:ext>
            </a:extLst>
          </p:cNvPr>
          <p:cNvGrpSpPr/>
          <p:nvPr/>
        </p:nvGrpSpPr>
        <p:grpSpPr>
          <a:xfrm>
            <a:off x="4524353" y="1822934"/>
            <a:ext cx="446052" cy="1897359"/>
            <a:chOff x="171945" y="1150187"/>
            <a:chExt cx="515119" cy="2264960"/>
          </a:xfrm>
        </p:grpSpPr>
        <p:sp>
          <p:nvSpPr>
            <p:cNvPr id="647" name="TextBox 646">
              <a:extLst>
                <a:ext uri="{FF2B5EF4-FFF2-40B4-BE49-F238E27FC236}">
                  <a16:creationId xmlns:a16="http://schemas.microsoft.com/office/drawing/2014/main" id="{285CC2D5-CBBD-9837-4B37-DD1F371D4BD4}"/>
                </a:ext>
              </a:extLst>
            </p:cNvPr>
            <p:cNvSpPr txBox="1"/>
            <p:nvPr/>
          </p:nvSpPr>
          <p:spPr>
            <a:xfrm>
              <a:off x="373300" y="3121222"/>
              <a:ext cx="313764" cy="293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>
                  <a:highlight>
                    <a:srgbClr val="FFFFFF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0</a:t>
              </a:r>
              <a:endParaRPr lang="ko-KR" altLang="en-US" sz="1000">
                <a:highlight>
                  <a:srgbClr val="FFFFFF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649" name="TextBox 648">
              <a:extLst>
                <a:ext uri="{FF2B5EF4-FFF2-40B4-BE49-F238E27FC236}">
                  <a16:creationId xmlns:a16="http://schemas.microsoft.com/office/drawing/2014/main" id="{BD8562EF-D190-4546-B32B-123687FC171F}"/>
                </a:ext>
              </a:extLst>
            </p:cNvPr>
            <p:cNvSpPr txBox="1"/>
            <p:nvPr/>
          </p:nvSpPr>
          <p:spPr>
            <a:xfrm>
              <a:off x="171945" y="2351148"/>
              <a:ext cx="515119" cy="293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>
                  <a:solidFill>
                    <a:srgbClr val="FF0000"/>
                  </a:solidFill>
                  <a:highlight>
                    <a:srgbClr val="FFFFFF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1.33</a:t>
              </a:r>
              <a:endParaRPr lang="ko-KR" altLang="en-US" sz="1000">
                <a:solidFill>
                  <a:srgbClr val="FF0000"/>
                </a:solidFill>
                <a:highlight>
                  <a:srgbClr val="FFFFFF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650" name="TextBox 649">
              <a:extLst>
                <a:ext uri="{FF2B5EF4-FFF2-40B4-BE49-F238E27FC236}">
                  <a16:creationId xmlns:a16="http://schemas.microsoft.com/office/drawing/2014/main" id="{35E66DAF-496E-5C00-0C2B-82763994EDAB}"/>
                </a:ext>
              </a:extLst>
            </p:cNvPr>
            <p:cNvSpPr txBox="1"/>
            <p:nvPr/>
          </p:nvSpPr>
          <p:spPr>
            <a:xfrm>
              <a:off x="282397" y="1150187"/>
              <a:ext cx="404667" cy="293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>
                  <a:highlight>
                    <a:srgbClr val="FFFFFF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3.0</a:t>
              </a:r>
              <a:endParaRPr lang="ko-KR" altLang="en-US" sz="1000">
                <a:highlight>
                  <a:srgbClr val="FFFFFF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651" name="TextBox 650">
              <a:extLst>
                <a:ext uri="{FF2B5EF4-FFF2-40B4-BE49-F238E27FC236}">
                  <a16:creationId xmlns:a16="http://schemas.microsoft.com/office/drawing/2014/main" id="{65C8682B-AC0C-A2F7-9558-2CF2652EC3EC}"/>
                </a:ext>
              </a:extLst>
            </p:cNvPr>
            <p:cNvSpPr txBox="1"/>
            <p:nvPr/>
          </p:nvSpPr>
          <p:spPr>
            <a:xfrm>
              <a:off x="282397" y="1704185"/>
              <a:ext cx="404667" cy="293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>
                  <a:highlight>
                    <a:srgbClr val="FFFFFF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2.0</a:t>
              </a:r>
              <a:endParaRPr lang="ko-KR" altLang="en-US" sz="1000">
                <a:highlight>
                  <a:srgbClr val="FFFFFF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653" name="그룹 652">
            <a:extLst>
              <a:ext uri="{FF2B5EF4-FFF2-40B4-BE49-F238E27FC236}">
                <a16:creationId xmlns:a16="http://schemas.microsoft.com/office/drawing/2014/main" id="{A61BD86F-8C7B-0EC3-D2DE-4A7E67FF0DE1}"/>
              </a:ext>
            </a:extLst>
          </p:cNvPr>
          <p:cNvGrpSpPr/>
          <p:nvPr/>
        </p:nvGrpSpPr>
        <p:grpSpPr>
          <a:xfrm>
            <a:off x="7122448" y="1762852"/>
            <a:ext cx="446052" cy="1927399"/>
            <a:chOff x="8582036" y="1078464"/>
            <a:chExt cx="515119" cy="2300820"/>
          </a:xfrm>
        </p:grpSpPr>
        <p:sp>
          <p:nvSpPr>
            <p:cNvPr id="654" name="직사각형 653">
              <a:extLst>
                <a:ext uri="{FF2B5EF4-FFF2-40B4-BE49-F238E27FC236}">
                  <a16:creationId xmlns:a16="http://schemas.microsoft.com/office/drawing/2014/main" id="{50A6CE4E-E6FA-B3A3-4456-B5567CFB53B9}"/>
                </a:ext>
              </a:extLst>
            </p:cNvPr>
            <p:cNvSpPr/>
            <p:nvPr/>
          </p:nvSpPr>
          <p:spPr>
            <a:xfrm>
              <a:off x="8708851" y="1078464"/>
              <a:ext cx="171943" cy="22172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grpSp>
          <p:nvGrpSpPr>
            <p:cNvPr id="655" name="그룹 654">
              <a:extLst>
                <a:ext uri="{FF2B5EF4-FFF2-40B4-BE49-F238E27FC236}">
                  <a16:creationId xmlns:a16="http://schemas.microsoft.com/office/drawing/2014/main" id="{C7C3AB26-5387-CE6C-B543-2E48EBB7941E}"/>
                </a:ext>
              </a:extLst>
            </p:cNvPr>
            <p:cNvGrpSpPr/>
            <p:nvPr/>
          </p:nvGrpSpPr>
          <p:grpSpPr>
            <a:xfrm>
              <a:off x="8582036" y="1114324"/>
              <a:ext cx="515119" cy="2264960"/>
              <a:chOff x="278801" y="1150187"/>
              <a:chExt cx="515119" cy="2264960"/>
            </a:xfrm>
          </p:grpSpPr>
          <p:sp>
            <p:nvSpPr>
              <p:cNvPr id="656" name="TextBox 655">
                <a:extLst>
                  <a:ext uri="{FF2B5EF4-FFF2-40B4-BE49-F238E27FC236}">
                    <a16:creationId xmlns:a16="http://schemas.microsoft.com/office/drawing/2014/main" id="{E213AAF9-DB5C-0E95-47E0-7C3A1B164DCF}"/>
                  </a:ext>
                </a:extLst>
              </p:cNvPr>
              <p:cNvSpPr txBox="1"/>
              <p:nvPr/>
            </p:nvSpPr>
            <p:spPr>
              <a:xfrm>
                <a:off x="373299" y="3121222"/>
                <a:ext cx="313764" cy="2939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000">
                    <a:highlight>
                      <a:srgbClr val="FFFFFF"/>
                    </a:highlight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0</a:t>
                </a:r>
                <a:endParaRPr lang="ko-KR" altLang="en-US" sz="1000">
                  <a:highlight>
                    <a:srgbClr val="FFFFFF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657" name="TextBox 656">
                <a:extLst>
                  <a:ext uri="{FF2B5EF4-FFF2-40B4-BE49-F238E27FC236}">
                    <a16:creationId xmlns:a16="http://schemas.microsoft.com/office/drawing/2014/main" id="{8BB1E423-BE14-00C6-971A-B94A98027C0E}"/>
                  </a:ext>
                </a:extLst>
              </p:cNvPr>
              <p:cNvSpPr txBox="1"/>
              <p:nvPr/>
            </p:nvSpPr>
            <p:spPr>
              <a:xfrm>
                <a:off x="278801" y="2351148"/>
                <a:ext cx="515119" cy="2939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000">
                    <a:solidFill>
                      <a:srgbClr val="FF0000"/>
                    </a:solidFill>
                    <a:highlight>
                      <a:srgbClr val="FFFFFF"/>
                    </a:highlight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5.5</a:t>
                </a:r>
                <a:endParaRPr lang="ko-KR" altLang="en-US" sz="1000">
                  <a:solidFill>
                    <a:srgbClr val="FF0000"/>
                  </a:solidFill>
                  <a:highlight>
                    <a:srgbClr val="FFFFFF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658" name="TextBox 657">
                <a:extLst>
                  <a:ext uri="{FF2B5EF4-FFF2-40B4-BE49-F238E27FC236}">
                    <a16:creationId xmlns:a16="http://schemas.microsoft.com/office/drawing/2014/main" id="{5D1D5DBA-2DF6-C7E9-42DB-6B48378D881C}"/>
                  </a:ext>
                </a:extLst>
              </p:cNvPr>
              <p:cNvSpPr txBox="1"/>
              <p:nvPr/>
            </p:nvSpPr>
            <p:spPr>
              <a:xfrm>
                <a:off x="282398" y="1150187"/>
                <a:ext cx="404667" cy="2939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000">
                    <a:highlight>
                      <a:srgbClr val="FFFFFF"/>
                    </a:highlight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14</a:t>
                </a:r>
                <a:endParaRPr lang="ko-KR" altLang="en-US" sz="1000">
                  <a:highlight>
                    <a:srgbClr val="FFFFFF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659" name="TextBox 658">
                <a:extLst>
                  <a:ext uri="{FF2B5EF4-FFF2-40B4-BE49-F238E27FC236}">
                    <a16:creationId xmlns:a16="http://schemas.microsoft.com/office/drawing/2014/main" id="{9529287A-9E5D-9FD5-2EC8-4B2AB3B312A3}"/>
                  </a:ext>
                </a:extLst>
              </p:cNvPr>
              <p:cNvSpPr txBox="1"/>
              <p:nvPr/>
            </p:nvSpPr>
            <p:spPr>
              <a:xfrm>
                <a:off x="282398" y="1704185"/>
                <a:ext cx="404667" cy="2939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000">
                    <a:highlight>
                      <a:srgbClr val="FFFFFF"/>
                    </a:highlight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10</a:t>
                </a:r>
                <a:endParaRPr lang="ko-KR" altLang="en-US" sz="1000">
                  <a:highlight>
                    <a:srgbClr val="FFFFFF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409" name="TextBox 1408">
                <a:extLst>
                  <a:ext uri="{FF2B5EF4-FFF2-40B4-BE49-F238E27FC236}">
                    <a16:creationId xmlns:a16="http://schemas.microsoft.com/office/drawing/2014/main" id="{1A45D956-2520-3CBC-28C0-05746E080077}"/>
                  </a:ext>
                </a:extLst>
              </p:cNvPr>
              <p:cNvSpPr txBox="1"/>
              <p:nvPr/>
            </p:nvSpPr>
            <p:spPr>
              <a:xfrm>
                <a:off x="282398" y="1391324"/>
                <a:ext cx="404667" cy="2939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000">
                    <a:highlight>
                      <a:srgbClr val="FFFFFF"/>
                    </a:highlight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12</a:t>
                </a:r>
                <a:endParaRPr lang="ko-KR" altLang="en-US" sz="1000">
                  <a:highlight>
                    <a:srgbClr val="FFFFFF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410" name="TextBox 1409">
                <a:extLst>
                  <a:ext uri="{FF2B5EF4-FFF2-40B4-BE49-F238E27FC236}">
                    <a16:creationId xmlns:a16="http://schemas.microsoft.com/office/drawing/2014/main" id="{2F2344CE-0CDB-5474-39C3-C128732583F6}"/>
                  </a:ext>
                </a:extLst>
              </p:cNvPr>
              <p:cNvSpPr txBox="1"/>
              <p:nvPr/>
            </p:nvSpPr>
            <p:spPr>
              <a:xfrm>
                <a:off x="282398" y="1897191"/>
                <a:ext cx="404667" cy="2939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000">
                    <a:highlight>
                      <a:srgbClr val="FFFFFF"/>
                    </a:highlight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8</a:t>
                </a:r>
                <a:endParaRPr lang="ko-KR" altLang="en-US" sz="1000">
                  <a:highlight>
                    <a:srgbClr val="FFFFFF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</p:grpSp>
      </p:grpSp>
      <p:sp>
        <p:nvSpPr>
          <p:cNvPr id="662" name="TextBox 661">
            <a:extLst>
              <a:ext uri="{FF2B5EF4-FFF2-40B4-BE49-F238E27FC236}">
                <a16:creationId xmlns:a16="http://schemas.microsoft.com/office/drawing/2014/main" id="{8C253B75-1CDE-8A96-A9B3-2D706A705F65}"/>
              </a:ext>
            </a:extLst>
          </p:cNvPr>
          <p:cNvSpPr txBox="1"/>
          <p:nvPr/>
        </p:nvSpPr>
        <p:spPr>
          <a:xfrm>
            <a:off x="7280848" y="3169405"/>
            <a:ext cx="267718" cy="206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FF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endParaRPr lang="ko-KR" altLang="en-US" sz="1000">
              <a:highlight>
                <a:srgbClr val="FFFFFF"/>
              </a:highligh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664" name="직선 화살표 연결선 663">
            <a:extLst>
              <a:ext uri="{FF2B5EF4-FFF2-40B4-BE49-F238E27FC236}">
                <a16:creationId xmlns:a16="http://schemas.microsoft.com/office/drawing/2014/main" id="{A391304A-10C1-1E5B-FC6E-9533A0A4286D}"/>
              </a:ext>
            </a:extLst>
          </p:cNvPr>
          <p:cNvCxnSpPr>
            <a:cxnSpLocks/>
          </p:cNvCxnSpPr>
          <p:nvPr/>
        </p:nvCxnSpPr>
        <p:spPr>
          <a:xfrm>
            <a:off x="5554016" y="2132325"/>
            <a:ext cx="1271482" cy="3609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직선 화살표 연결선 667">
            <a:extLst>
              <a:ext uri="{FF2B5EF4-FFF2-40B4-BE49-F238E27FC236}">
                <a16:creationId xmlns:a16="http://schemas.microsoft.com/office/drawing/2014/main" id="{372412F1-1938-C467-E0A8-23D96131F786}"/>
              </a:ext>
            </a:extLst>
          </p:cNvPr>
          <p:cNvCxnSpPr>
            <a:cxnSpLocks/>
          </p:cNvCxnSpPr>
          <p:nvPr/>
        </p:nvCxnSpPr>
        <p:spPr>
          <a:xfrm flipV="1">
            <a:off x="8348068" y="1994893"/>
            <a:ext cx="809559" cy="73042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9" name="TextBox 668">
            <a:extLst>
              <a:ext uri="{FF2B5EF4-FFF2-40B4-BE49-F238E27FC236}">
                <a16:creationId xmlns:a16="http://schemas.microsoft.com/office/drawing/2014/main" id="{1583CD16-366F-CAC8-19A9-21F68E5A9970}"/>
              </a:ext>
            </a:extLst>
          </p:cNvPr>
          <p:cNvSpPr txBox="1"/>
          <p:nvPr/>
        </p:nvSpPr>
        <p:spPr>
          <a:xfrm>
            <a:off x="5970609" y="2029194"/>
            <a:ext cx="726522" cy="206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rgbClr val="FF0000"/>
                </a:solidFill>
                <a:highlight>
                  <a:srgbClr val="FFFFFF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낮아지는 추세</a:t>
            </a:r>
          </a:p>
        </p:txBody>
      </p:sp>
      <p:sp>
        <p:nvSpPr>
          <p:cNvPr id="670" name="TextBox 669">
            <a:extLst>
              <a:ext uri="{FF2B5EF4-FFF2-40B4-BE49-F238E27FC236}">
                <a16:creationId xmlns:a16="http://schemas.microsoft.com/office/drawing/2014/main" id="{185825FB-A8A2-D0AA-F9BA-4302D198FC16}"/>
              </a:ext>
            </a:extLst>
          </p:cNvPr>
          <p:cNvSpPr txBox="1"/>
          <p:nvPr/>
        </p:nvSpPr>
        <p:spPr>
          <a:xfrm>
            <a:off x="8438690" y="2029933"/>
            <a:ext cx="726522" cy="206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rgbClr val="FF0000"/>
                </a:solidFill>
                <a:highlight>
                  <a:srgbClr val="FFFFFF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유량 증가</a:t>
            </a:r>
          </a:p>
        </p:txBody>
      </p:sp>
      <p:sp>
        <p:nvSpPr>
          <p:cNvPr id="671" name="TextBox 670">
            <a:extLst>
              <a:ext uri="{FF2B5EF4-FFF2-40B4-BE49-F238E27FC236}">
                <a16:creationId xmlns:a16="http://schemas.microsoft.com/office/drawing/2014/main" id="{9CA145F1-D56C-6560-1761-22B3448813E2}"/>
              </a:ext>
            </a:extLst>
          </p:cNvPr>
          <p:cNvSpPr txBox="1"/>
          <p:nvPr/>
        </p:nvSpPr>
        <p:spPr>
          <a:xfrm>
            <a:off x="5379336" y="1624953"/>
            <a:ext cx="1182546" cy="206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FF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AA2 Cpk (10</a:t>
            </a:r>
            <a:r>
              <a:rPr lang="ko-KR" altLang="en-US" sz="1000">
                <a:highlight>
                  <a:srgbClr val="FFFFFF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분 평균</a:t>
            </a:r>
            <a:r>
              <a:rPr lang="en-US" altLang="ko-KR" sz="1000">
                <a:highlight>
                  <a:srgbClr val="FFFFFF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1000">
              <a:highlight>
                <a:srgbClr val="FFFFFF"/>
              </a:highligh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72" name="TextBox 671">
            <a:extLst>
              <a:ext uri="{FF2B5EF4-FFF2-40B4-BE49-F238E27FC236}">
                <a16:creationId xmlns:a16="http://schemas.microsoft.com/office/drawing/2014/main" id="{139D31B3-4AA6-5543-2EA0-B5E62500EE62}"/>
              </a:ext>
            </a:extLst>
          </p:cNvPr>
          <p:cNvSpPr txBox="1"/>
          <p:nvPr/>
        </p:nvSpPr>
        <p:spPr>
          <a:xfrm>
            <a:off x="8046423" y="1624953"/>
            <a:ext cx="1182546" cy="206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highlight>
                  <a:srgbClr val="FFFFFF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유량 </a:t>
            </a:r>
            <a:r>
              <a:rPr lang="en-US" altLang="ko-KR" sz="1000">
                <a:highlight>
                  <a:srgbClr val="FFFFFF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(10</a:t>
            </a:r>
            <a:r>
              <a:rPr lang="ko-KR" altLang="en-US" sz="1000">
                <a:highlight>
                  <a:srgbClr val="FFFFFF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분 최대값</a:t>
            </a:r>
            <a:r>
              <a:rPr lang="en-US" altLang="ko-KR" sz="1000">
                <a:highlight>
                  <a:srgbClr val="FFFFFF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1000">
              <a:highlight>
                <a:srgbClr val="FFFFFF"/>
              </a:highligh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673" name="그림 672">
            <a:extLst>
              <a:ext uri="{FF2B5EF4-FFF2-40B4-BE49-F238E27FC236}">
                <a16:creationId xmlns:a16="http://schemas.microsoft.com/office/drawing/2014/main" id="{EEDFD6C2-65E3-C001-495D-5DEBE2AF5A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8461" y="4291116"/>
            <a:ext cx="2348941" cy="1863448"/>
          </a:xfrm>
          <a:prstGeom prst="rect">
            <a:avLst/>
          </a:prstGeom>
        </p:spPr>
      </p:pic>
      <p:sp>
        <p:nvSpPr>
          <p:cNvPr id="674" name="직사각형 673">
            <a:extLst>
              <a:ext uri="{FF2B5EF4-FFF2-40B4-BE49-F238E27FC236}">
                <a16:creationId xmlns:a16="http://schemas.microsoft.com/office/drawing/2014/main" id="{828E9E89-3FB7-8AFF-D911-0393CBE76E7C}"/>
              </a:ext>
            </a:extLst>
          </p:cNvPr>
          <p:cNvSpPr/>
          <p:nvPr/>
        </p:nvSpPr>
        <p:spPr>
          <a:xfrm>
            <a:off x="7225108" y="4143956"/>
            <a:ext cx="113754" cy="18573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75" name="TextBox 674">
            <a:extLst>
              <a:ext uri="{FF2B5EF4-FFF2-40B4-BE49-F238E27FC236}">
                <a16:creationId xmlns:a16="http://schemas.microsoft.com/office/drawing/2014/main" id="{2B72B55D-3B9A-68BE-357C-44E6BA6683E2}"/>
              </a:ext>
            </a:extLst>
          </p:cNvPr>
          <p:cNvSpPr txBox="1"/>
          <p:nvPr/>
        </p:nvSpPr>
        <p:spPr>
          <a:xfrm>
            <a:off x="7277443" y="5815939"/>
            <a:ext cx="329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FF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0</a:t>
            </a:r>
            <a:endParaRPr lang="ko-KR" altLang="en-US" sz="1000">
              <a:highlight>
                <a:srgbClr val="FFFFFF"/>
              </a:highligh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76" name="TextBox 675">
            <a:extLst>
              <a:ext uri="{FF2B5EF4-FFF2-40B4-BE49-F238E27FC236}">
                <a16:creationId xmlns:a16="http://schemas.microsoft.com/office/drawing/2014/main" id="{4632C6E5-1781-1EAE-073D-965421031BB4}"/>
              </a:ext>
            </a:extLst>
          </p:cNvPr>
          <p:cNvSpPr txBox="1"/>
          <p:nvPr/>
        </p:nvSpPr>
        <p:spPr>
          <a:xfrm>
            <a:off x="7230082" y="5473838"/>
            <a:ext cx="329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FF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1.0</a:t>
            </a:r>
            <a:endParaRPr lang="ko-KR" altLang="en-US" sz="1000">
              <a:highlight>
                <a:srgbClr val="FFFFFF"/>
              </a:highligh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77" name="TextBox 676">
            <a:extLst>
              <a:ext uri="{FF2B5EF4-FFF2-40B4-BE49-F238E27FC236}">
                <a16:creationId xmlns:a16="http://schemas.microsoft.com/office/drawing/2014/main" id="{95DE4F74-4388-A055-2CD4-565BE90C661F}"/>
              </a:ext>
            </a:extLst>
          </p:cNvPr>
          <p:cNvSpPr txBox="1"/>
          <p:nvPr/>
        </p:nvSpPr>
        <p:spPr>
          <a:xfrm>
            <a:off x="7239363" y="5066020"/>
            <a:ext cx="329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FF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2.0</a:t>
            </a:r>
            <a:endParaRPr lang="ko-KR" altLang="en-US" sz="1000">
              <a:highlight>
                <a:srgbClr val="FFFFFF"/>
              </a:highligh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78" name="TextBox 677">
            <a:extLst>
              <a:ext uri="{FF2B5EF4-FFF2-40B4-BE49-F238E27FC236}">
                <a16:creationId xmlns:a16="http://schemas.microsoft.com/office/drawing/2014/main" id="{C8F807D8-A4CB-D864-55E2-27336DD320D4}"/>
              </a:ext>
            </a:extLst>
          </p:cNvPr>
          <p:cNvSpPr txBox="1"/>
          <p:nvPr/>
        </p:nvSpPr>
        <p:spPr>
          <a:xfrm>
            <a:off x="7219430" y="4683280"/>
            <a:ext cx="329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FF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3.0</a:t>
            </a:r>
            <a:endParaRPr lang="ko-KR" altLang="en-US" sz="1000">
              <a:highlight>
                <a:srgbClr val="FFFFFF"/>
              </a:highligh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79" name="TextBox 678">
            <a:extLst>
              <a:ext uri="{FF2B5EF4-FFF2-40B4-BE49-F238E27FC236}">
                <a16:creationId xmlns:a16="http://schemas.microsoft.com/office/drawing/2014/main" id="{6005BE1F-4ED9-F152-AABB-10DFB1BBC840}"/>
              </a:ext>
            </a:extLst>
          </p:cNvPr>
          <p:cNvSpPr txBox="1"/>
          <p:nvPr/>
        </p:nvSpPr>
        <p:spPr>
          <a:xfrm>
            <a:off x="7225108" y="4300204"/>
            <a:ext cx="329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FF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4.0</a:t>
            </a:r>
            <a:endParaRPr lang="ko-KR" altLang="en-US" sz="1000">
              <a:highlight>
                <a:srgbClr val="FFFFFF"/>
              </a:highligh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81" name="TextBox 680">
            <a:extLst>
              <a:ext uri="{FF2B5EF4-FFF2-40B4-BE49-F238E27FC236}">
                <a16:creationId xmlns:a16="http://schemas.microsoft.com/office/drawing/2014/main" id="{C9032853-9837-9F4A-89AF-6054F2958B94}"/>
              </a:ext>
            </a:extLst>
          </p:cNvPr>
          <p:cNvSpPr txBox="1"/>
          <p:nvPr/>
        </p:nvSpPr>
        <p:spPr>
          <a:xfrm>
            <a:off x="7548565" y="5353278"/>
            <a:ext cx="11271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Warning </a:t>
            </a:r>
            <a:r>
              <a:rPr lang="ko-KR" altLang="en-US" sz="1000"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관리선 </a:t>
            </a:r>
            <a:r>
              <a:rPr lang="en-US" altLang="ko-KR" sz="1000"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0.9</a:t>
            </a:r>
            <a:endParaRPr lang="ko-KR" altLang="en-US" sz="1000">
              <a:highlight>
                <a:srgbClr val="FFFF00"/>
              </a:highligh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83" name="TextBox 682">
            <a:extLst>
              <a:ext uri="{FF2B5EF4-FFF2-40B4-BE49-F238E27FC236}">
                <a16:creationId xmlns:a16="http://schemas.microsoft.com/office/drawing/2014/main" id="{CED0634A-E9CF-A818-208D-3A9B80C628D8}"/>
              </a:ext>
            </a:extLst>
          </p:cNvPr>
          <p:cNvSpPr txBox="1"/>
          <p:nvPr/>
        </p:nvSpPr>
        <p:spPr>
          <a:xfrm>
            <a:off x="7548565" y="4605568"/>
            <a:ext cx="11060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1"/>
                </a:solidFill>
                <a:highlight>
                  <a:srgbClr val="FF00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Critical </a:t>
            </a:r>
            <a:r>
              <a:rPr lang="ko-KR" altLang="en-US" sz="1000">
                <a:solidFill>
                  <a:schemeClr val="bg1"/>
                </a:solidFill>
                <a:highlight>
                  <a:srgbClr val="FF00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관리선 </a:t>
            </a:r>
            <a:r>
              <a:rPr lang="en-US" altLang="ko-KR" sz="1000">
                <a:solidFill>
                  <a:schemeClr val="bg1"/>
                </a:solidFill>
                <a:highlight>
                  <a:srgbClr val="FF00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2.9</a:t>
            </a:r>
            <a:endParaRPr lang="ko-KR" altLang="en-US" sz="1000">
              <a:solidFill>
                <a:schemeClr val="bg1"/>
              </a:solidFill>
              <a:highlight>
                <a:srgbClr val="FF0000"/>
              </a:highligh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84" name="폭발: 8pt 683">
            <a:extLst>
              <a:ext uri="{FF2B5EF4-FFF2-40B4-BE49-F238E27FC236}">
                <a16:creationId xmlns:a16="http://schemas.microsoft.com/office/drawing/2014/main" id="{E5D84D06-7590-845C-FEBF-ED51F5626FF4}"/>
              </a:ext>
            </a:extLst>
          </p:cNvPr>
          <p:cNvSpPr/>
          <p:nvPr/>
        </p:nvSpPr>
        <p:spPr>
          <a:xfrm>
            <a:off x="9443122" y="4336781"/>
            <a:ext cx="77101" cy="108320"/>
          </a:xfrm>
          <a:prstGeom prst="irregularSeal1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88" name="폭발: 8pt 687">
            <a:extLst>
              <a:ext uri="{FF2B5EF4-FFF2-40B4-BE49-F238E27FC236}">
                <a16:creationId xmlns:a16="http://schemas.microsoft.com/office/drawing/2014/main" id="{9989A905-2CF9-3B26-6A73-2FFCC7D5221F}"/>
              </a:ext>
            </a:extLst>
          </p:cNvPr>
          <p:cNvSpPr/>
          <p:nvPr/>
        </p:nvSpPr>
        <p:spPr>
          <a:xfrm>
            <a:off x="8675747" y="4336781"/>
            <a:ext cx="77101" cy="108320"/>
          </a:xfrm>
          <a:prstGeom prst="irregularSeal1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91" name="TextBox 690">
            <a:extLst>
              <a:ext uri="{FF2B5EF4-FFF2-40B4-BE49-F238E27FC236}">
                <a16:creationId xmlns:a16="http://schemas.microsoft.com/office/drawing/2014/main" id="{D265FD2C-22FC-C796-7C3D-87F9E7737C5B}"/>
              </a:ext>
            </a:extLst>
          </p:cNvPr>
          <p:cNvSpPr txBox="1"/>
          <p:nvPr/>
        </p:nvSpPr>
        <p:spPr>
          <a:xfrm>
            <a:off x="6547036" y="3571151"/>
            <a:ext cx="4098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FF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8/19</a:t>
            </a:r>
            <a:endParaRPr lang="ko-KR" altLang="en-US" sz="1000">
              <a:highlight>
                <a:srgbClr val="FFFFFF"/>
              </a:highligh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92" name="TextBox 691">
            <a:extLst>
              <a:ext uri="{FF2B5EF4-FFF2-40B4-BE49-F238E27FC236}">
                <a16:creationId xmlns:a16="http://schemas.microsoft.com/office/drawing/2014/main" id="{C00E9025-A20F-81E9-D1EE-3CEE72336712}"/>
              </a:ext>
            </a:extLst>
          </p:cNvPr>
          <p:cNvSpPr txBox="1"/>
          <p:nvPr/>
        </p:nvSpPr>
        <p:spPr>
          <a:xfrm>
            <a:off x="7772698" y="3569691"/>
            <a:ext cx="4098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FF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8/17</a:t>
            </a:r>
            <a:endParaRPr lang="ko-KR" altLang="en-US" sz="1000">
              <a:highlight>
                <a:srgbClr val="FFFFFF"/>
              </a:highligh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89AEBE24-59CE-B7B0-1A60-81DBFB642F62}"/>
              </a:ext>
            </a:extLst>
          </p:cNvPr>
          <p:cNvSpPr txBox="1"/>
          <p:nvPr/>
        </p:nvSpPr>
        <p:spPr>
          <a:xfrm>
            <a:off x="8446444" y="3569691"/>
            <a:ext cx="4098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FF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8/18</a:t>
            </a:r>
            <a:endParaRPr lang="ko-KR" altLang="en-US" sz="1000">
              <a:highlight>
                <a:srgbClr val="FFFFFF"/>
              </a:highligh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94" name="TextBox 693">
            <a:extLst>
              <a:ext uri="{FF2B5EF4-FFF2-40B4-BE49-F238E27FC236}">
                <a16:creationId xmlns:a16="http://schemas.microsoft.com/office/drawing/2014/main" id="{9FAD3152-53C4-59F5-3F6D-E138B8D05AFF}"/>
              </a:ext>
            </a:extLst>
          </p:cNvPr>
          <p:cNvSpPr txBox="1"/>
          <p:nvPr/>
        </p:nvSpPr>
        <p:spPr>
          <a:xfrm>
            <a:off x="9106364" y="3569691"/>
            <a:ext cx="4098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FF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8/19</a:t>
            </a:r>
            <a:endParaRPr lang="ko-KR" altLang="en-US" sz="1000">
              <a:highlight>
                <a:srgbClr val="FFFFFF"/>
              </a:highligh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C186A337-7EEC-1B86-4710-B24F7C253A15}"/>
              </a:ext>
            </a:extLst>
          </p:cNvPr>
          <p:cNvSpPr txBox="1"/>
          <p:nvPr/>
        </p:nvSpPr>
        <p:spPr>
          <a:xfrm>
            <a:off x="7753949" y="5973579"/>
            <a:ext cx="4098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FF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8/17</a:t>
            </a:r>
            <a:endParaRPr lang="ko-KR" altLang="en-US" sz="1000">
              <a:highlight>
                <a:srgbClr val="FFFFFF"/>
              </a:highligh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96" name="TextBox 695">
            <a:extLst>
              <a:ext uri="{FF2B5EF4-FFF2-40B4-BE49-F238E27FC236}">
                <a16:creationId xmlns:a16="http://schemas.microsoft.com/office/drawing/2014/main" id="{3DDCE12F-076C-A7EE-CC19-E5F1E640CFE6}"/>
              </a:ext>
            </a:extLst>
          </p:cNvPr>
          <p:cNvSpPr txBox="1"/>
          <p:nvPr/>
        </p:nvSpPr>
        <p:spPr>
          <a:xfrm>
            <a:off x="8427695" y="5973579"/>
            <a:ext cx="4098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FF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8/18</a:t>
            </a:r>
            <a:endParaRPr lang="ko-KR" altLang="en-US" sz="1000">
              <a:highlight>
                <a:srgbClr val="FFFFFF"/>
              </a:highligh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97" name="TextBox 696">
            <a:extLst>
              <a:ext uri="{FF2B5EF4-FFF2-40B4-BE49-F238E27FC236}">
                <a16:creationId xmlns:a16="http://schemas.microsoft.com/office/drawing/2014/main" id="{5BD78D9C-D873-A630-A922-D6956C6FF1D7}"/>
              </a:ext>
            </a:extLst>
          </p:cNvPr>
          <p:cNvSpPr txBox="1"/>
          <p:nvPr/>
        </p:nvSpPr>
        <p:spPr>
          <a:xfrm>
            <a:off x="9087615" y="5973579"/>
            <a:ext cx="4098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FF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8/19</a:t>
            </a:r>
            <a:endParaRPr lang="ko-KR" altLang="en-US" sz="1000">
              <a:highlight>
                <a:srgbClr val="FFFFFF"/>
              </a:highligh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98" name="TextBox 697">
            <a:extLst>
              <a:ext uri="{FF2B5EF4-FFF2-40B4-BE49-F238E27FC236}">
                <a16:creationId xmlns:a16="http://schemas.microsoft.com/office/drawing/2014/main" id="{664E45A5-5361-6487-6AA0-C0253DDB0BB9}"/>
              </a:ext>
            </a:extLst>
          </p:cNvPr>
          <p:cNvSpPr txBox="1"/>
          <p:nvPr/>
        </p:nvSpPr>
        <p:spPr>
          <a:xfrm>
            <a:off x="8128730" y="4063540"/>
            <a:ext cx="11825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>
                <a:solidFill>
                  <a:srgbClr val="0000FF"/>
                </a:solidFill>
                <a:highlight>
                  <a:srgbClr val="FFFFFF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시뮬레이션 결과</a:t>
            </a:r>
          </a:p>
        </p:txBody>
      </p:sp>
      <p:cxnSp>
        <p:nvCxnSpPr>
          <p:cNvPr id="699" name="직선 연결선 698">
            <a:extLst>
              <a:ext uri="{FF2B5EF4-FFF2-40B4-BE49-F238E27FC236}">
                <a16:creationId xmlns:a16="http://schemas.microsoft.com/office/drawing/2014/main" id="{FFD174AA-2DAB-C9A9-D3E5-F025687E4F8B}"/>
              </a:ext>
            </a:extLst>
          </p:cNvPr>
          <p:cNvCxnSpPr/>
          <p:nvPr/>
        </p:nvCxnSpPr>
        <p:spPr>
          <a:xfrm>
            <a:off x="7452462" y="3035240"/>
            <a:ext cx="2212206" cy="0"/>
          </a:xfrm>
          <a:prstGeom prst="line">
            <a:avLst/>
          </a:prstGeom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0" name="TextBox 699">
            <a:extLst>
              <a:ext uri="{FF2B5EF4-FFF2-40B4-BE49-F238E27FC236}">
                <a16:creationId xmlns:a16="http://schemas.microsoft.com/office/drawing/2014/main" id="{518518FE-099F-71E8-EEB4-3747B7AF0030}"/>
              </a:ext>
            </a:extLst>
          </p:cNvPr>
          <p:cNvSpPr txBox="1"/>
          <p:nvPr/>
        </p:nvSpPr>
        <p:spPr>
          <a:xfrm>
            <a:off x="7236082" y="2938649"/>
            <a:ext cx="340791" cy="206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accent2"/>
                </a:solidFill>
                <a:highlight>
                  <a:srgbClr val="FFFFFF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4.0</a:t>
            </a:r>
            <a:endParaRPr lang="ko-KR" altLang="en-US" sz="1000">
              <a:solidFill>
                <a:schemeClr val="accent2"/>
              </a:solidFill>
              <a:highlight>
                <a:srgbClr val="FFFFFF"/>
              </a:highligh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02" name="TextBox 701">
            <a:extLst>
              <a:ext uri="{FF2B5EF4-FFF2-40B4-BE49-F238E27FC236}">
                <a16:creationId xmlns:a16="http://schemas.microsoft.com/office/drawing/2014/main" id="{7F64C994-6B0C-C6D1-D800-9DF0E53D977A}"/>
              </a:ext>
            </a:extLst>
          </p:cNvPr>
          <p:cNvSpPr txBox="1"/>
          <p:nvPr/>
        </p:nvSpPr>
        <p:spPr>
          <a:xfrm>
            <a:off x="5814617" y="1090429"/>
            <a:ext cx="2839952" cy="330732"/>
          </a:xfrm>
          <a:prstGeom prst="rect">
            <a:avLst/>
          </a:prstGeom>
          <a:noFill/>
        </p:spPr>
        <p:txBody>
          <a:bodyPr wrap="square" lIns="33231" rIns="33231" rtlCol="0">
            <a:spAutoFit/>
          </a:bodyPr>
          <a:lstStyle/>
          <a:p>
            <a:pPr marL="0" marR="0" lvl="1" indent="0" algn="ctr" defTabSz="844083" rtl="0" eaLnBrk="1" fontAlgn="base" latinLnBrk="1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Tx/>
              <a:buSzPct val="85000"/>
              <a:buFontTx/>
              <a:buNone/>
              <a:tabLst/>
              <a:defRPr/>
            </a:pPr>
            <a:r>
              <a:rPr kumimoji="1" lang="ko-KR" altLang="en-US" sz="1400" b="1" u="sng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모델링</a:t>
            </a:r>
            <a:r>
              <a:rPr kumimoji="1" lang="ko-KR" altLang="en-US" sz="1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시뮬레이션 결과</a:t>
            </a:r>
            <a:endParaRPr kumimoji="1" lang="en-US" altLang="ko-KR" sz="1400" b="1" i="0" u="sng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sp>
        <p:nvSpPr>
          <p:cNvPr id="703" name="TextBox 702">
            <a:extLst>
              <a:ext uri="{FF2B5EF4-FFF2-40B4-BE49-F238E27FC236}">
                <a16:creationId xmlns:a16="http://schemas.microsoft.com/office/drawing/2014/main" id="{D4393B91-9D93-0EF8-0BD4-A4AACCA5CD18}"/>
              </a:ext>
            </a:extLst>
          </p:cNvPr>
          <p:cNvSpPr txBox="1"/>
          <p:nvPr/>
        </p:nvSpPr>
        <p:spPr>
          <a:xfrm>
            <a:off x="5185304" y="3569691"/>
            <a:ext cx="4098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FF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8/17</a:t>
            </a:r>
            <a:endParaRPr lang="ko-KR" altLang="en-US" sz="1000">
              <a:highlight>
                <a:srgbClr val="FFFFFF"/>
              </a:highligh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408" name="TextBox 1407">
            <a:extLst>
              <a:ext uri="{FF2B5EF4-FFF2-40B4-BE49-F238E27FC236}">
                <a16:creationId xmlns:a16="http://schemas.microsoft.com/office/drawing/2014/main" id="{759A8970-4CEA-CE01-A340-90BDC5B17FF6}"/>
              </a:ext>
            </a:extLst>
          </p:cNvPr>
          <p:cNvSpPr txBox="1"/>
          <p:nvPr/>
        </p:nvSpPr>
        <p:spPr>
          <a:xfrm>
            <a:off x="5859050" y="3569691"/>
            <a:ext cx="4098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highlight>
                  <a:srgbClr val="FFFFFF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8/18</a:t>
            </a:r>
            <a:endParaRPr lang="ko-KR" altLang="en-US" sz="1000">
              <a:highlight>
                <a:srgbClr val="FFFFFF"/>
              </a:highlight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" name="실행 단추: 홈으로 이동 7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F32947F4-58F6-A4BA-1CA9-F904C027D11A}"/>
              </a:ext>
            </a:extLst>
          </p:cNvPr>
          <p:cNvSpPr/>
          <p:nvPr/>
        </p:nvSpPr>
        <p:spPr>
          <a:xfrm>
            <a:off x="9509368" y="139448"/>
            <a:ext cx="214348" cy="231092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실행 단추: 끝으로 이동 2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A83245B1-516E-EE37-09B7-44754C196B68}"/>
              </a:ext>
            </a:extLst>
          </p:cNvPr>
          <p:cNvSpPr/>
          <p:nvPr/>
        </p:nvSpPr>
        <p:spPr>
          <a:xfrm rot="10800000">
            <a:off x="9509368" y="502021"/>
            <a:ext cx="214348" cy="135744"/>
          </a:xfrm>
          <a:prstGeom prst="actionButtonEnd">
            <a:avLst/>
          </a:prstGeom>
          <a:solidFill>
            <a:sysClr val="window" lastClr="FFFFFF">
              <a:lumMod val="75000"/>
            </a:sys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089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2F0D11B2-BC43-0B57-AD5A-9195E3C069F6}"/>
              </a:ext>
            </a:extLst>
          </p:cNvPr>
          <p:cNvSpPr/>
          <p:nvPr/>
        </p:nvSpPr>
        <p:spPr>
          <a:xfrm>
            <a:off x="254248" y="481793"/>
            <a:ext cx="9523490" cy="63510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marR="0" lvl="0" indent="0" algn="l" defTabSz="844104" rtl="0" eaLnBrk="1" fontAlgn="auto" latinLnBrk="0" hangingPunct="1">
              <a:lnSpc>
                <a:spcPct val="120000"/>
              </a:lnSpc>
              <a:spcBef>
                <a:spcPts val="201"/>
              </a:spcBef>
              <a:spcAft>
                <a:spcPts val="201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PKG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 공정의 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8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월 중 불량 검토 결과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, PD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의 증가 추세에 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1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차로 영향을 미친 요인이 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Tab Cutting 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불량으로 확인되며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, </a:t>
            </a:r>
            <a:b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</a:b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PKG Tap Cutter 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구동부의 동작 이상을 사전 감지하여 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Tab Cutting 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불량을 개선하고자 함</a:t>
            </a:r>
            <a:endParaRPr kumimoji="0" lang="en-US" altLang="ko-KR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굴림" panose="020B0600000101010101" pitchFamily="50" charset="-127"/>
            </a:endParaRPr>
          </a:p>
        </p:txBody>
      </p:sp>
      <p:cxnSp>
        <p:nvCxnSpPr>
          <p:cNvPr id="1705" name="직선 연결선 1704">
            <a:extLst>
              <a:ext uri="{FF2B5EF4-FFF2-40B4-BE49-F238E27FC236}">
                <a16:creationId xmlns:a16="http://schemas.microsoft.com/office/drawing/2014/main" id="{8BD8528C-0859-B973-5AFC-AFAF7A851B62}"/>
              </a:ext>
            </a:extLst>
          </p:cNvPr>
          <p:cNvCxnSpPr>
            <a:cxnSpLocks/>
          </p:cNvCxnSpPr>
          <p:nvPr/>
        </p:nvCxnSpPr>
        <p:spPr>
          <a:xfrm>
            <a:off x="976372" y="4821510"/>
            <a:ext cx="8402526" cy="0"/>
          </a:xfrm>
          <a:prstGeom prst="line">
            <a:avLst/>
          </a:prstGeom>
          <a:noFill/>
          <a:ln w="3175" cap="flat" cmpd="sng" algn="ctr">
            <a:solidFill>
              <a:sysClr val="window" lastClr="FFFFFF">
                <a:lumMod val="65000"/>
              </a:sysClr>
            </a:solidFill>
            <a:prstDash val="dash"/>
          </a:ln>
          <a:effectLst/>
        </p:spPr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2801654-08BC-4A63-9CD5-0B4F540E8B14}"/>
              </a:ext>
            </a:extLst>
          </p:cNvPr>
          <p:cNvSpPr/>
          <p:nvPr/>
        </p:nvSpPr>
        <p:spPr>
          <a:xfrm>
            <a:off x="229614" y="1145020"/>
            <a:ext cx="648000" cy="291002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endParaRPr kumimoji="0" lang="en-US" altLang="ko-KR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DE6958F-40A2-7B7F-2C07-AC06A272AC3A}"/>
              </a:ext>
            </a:extLst>
          </p:cNvPr>
          <p:cNvSpPr/>
          <p:nvPr/>
        </p:nvSpPr>
        <p:spPr>
          <a:xfrm>
            <a:off x="229614" y="6252957"/>
            <a:ext cx="648000" cy="505275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향후</a:t>
            </a:r>
            <a:endParaRPr kumimoji="0" lang="en-US" altLang="ko-KR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계획</a:t>
            </a:r>
            <a:endParaRPr kumimoji="0" lang="en-US" altLang="ko-KR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Text Box 41">
            <a:extLst>
              <a:ext uri="{FF2B5EF4-FFF2-40B4-BE49-F238E27FC236}">
                <a16:creationId xmlns:a16="http://schemas.microsoft.com/office/drawing/2014/main" id="{1F6DDC70-63D2-71B0-6E0D-36E096DEC9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247" y="107398"/>
            <a:ext cx="7650108" cy="277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801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보조</a:t>
            </a:r>
            <a:r>
              <a:rPr kumimoji="1" lang="en-US" altLang="ko-KR" sz="1801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. OT</a:t>
            </a:r>
            <a:r>
              <a:rPr kumimoji="1" lang="ko-KR" altLang="en-US" sz="1801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법인 </a:t>
            </a:r>
            <a:r>
              <a:rPr kumimoji="1" lang="en-US" altLang="ko-KR" sz="1801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PKG </a:t>
            </a:r>
            <a:r>
              <a:rPr kumimoji="1" lang="ko-KR" altLang="en-US" sz="1801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탭 커팅 불량 개선을 위한 양</a:t>
            </a:r>
            <a:r>
              <a:rPr kumimoji="1" lang="en-US" altLang="ko-KR" sz="1801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/</a:t>
            </a:r>
            <a:r>
              <a:rPr kumimoji="1" lang="ko-KR" altLang="en-US" sz="1801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음극 </a:t>
            </a:r>
            <a:r>
              <a:rPr kumimoji="1" lang="en-US" altLang="ko-KR" sz="1801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Tab Cutter </a:t>
            </a:r>
            <a:r>
              <a:rPr kumimoji="1" lang="ko-KR" altLang="en-US" sz="1801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구동부</a:t>
            </a:r>
            <a:r>
              <a:rPr kumimoji="1" lang="ko-KR" altLang="en-US" sz="1801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이상감지 검토</a:t>
            </a:r>
            <a:r>
              <a:rPr kumimoji="1" lang="en-US" altLang="ko-KR" sz="1801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endParaRPr kumimoji="0" lang="en-US" altLang="ko-KR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EA931BD-6EB2-8395-1816-A868B917884B}"/>
              </a:ext>
            </a:extLst>
          </p:cNvPr>
          <p:cNvCxnSpPr>
            <a:cxnSpLocks/>
          </p:cNvCxnSpPr>
          <p:nvPr/>
        </p:nvCxnSpPr>
        <p:spPr bwMode="auto">
          <a:xfrm>
            <a:off x="233551" y="404664"/>
            <a:ext cx="7920000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94755C4-B338-290E-BB54-70EB11D61743}"/>
              </a:ext>
            </a:extLst>
          </p:cNvPr>
          <p:cNvSpPr txBox="1"/>
          <p:nvPr/>
        </p:nvSpPr>
        <p:spPr>
          <a:xfrm>
            <a:off x="1038092" y="1139401"/>
            <a:ext cx="8404998" cy="2966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88902" marR="0" lvl="0" indent="-88902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[’26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년</a:t>
            </a: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 ESOT PKG Tab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Cutter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200" b="1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구동부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동작 이상 기인 </a:t>
            </a: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PD Loss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및 탭 불량 개선</a:t>
            </a:r>
            <a:endParaRPr kumimoji="0" lang="en-US" altLang="ko-KR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EBB506-F893-2C5D-E837-1D8AC204EBD7}"/>
              </a:ext>
            </a:extLst>
          </p:cNvPr>
          <p:cNvSpPr txBox="1"/>
          <p:nvPr/>
        </p:nvSpPr>
        <p:spPr>
          <a:xfrm>
            <a:off x="1038092" y="1533408"/>
            <a:ext cx="8953216" cy="95763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88902" marR="0" lvl="0" indent="-88902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OT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 </a:t>
            </a: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8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중순 </a:t>
            </a: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MES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분석 결과</a:t>
            </a: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PKG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공정 </a:t>
            </a: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PD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의 </a:t>
            </a: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Top 1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불량 원인이 </a:t>
            </a: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Tab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불량으로 확인되며</a:t>
            </a: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Tab Cutting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불량 비중이 높아 개선이 필요함</a:t>
            </a:r>
            <a:b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-. PKG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공정의 일 별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MES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중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PD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비율 확인 결과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8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17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1.8%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에서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8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23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일에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7.2%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까지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배 증가함</a:t>
            </a:r>
            <a:b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-. PD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증가 기간 중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MES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이력 확인 결과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Tab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불량이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1.8%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에서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7.0%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까지 증가하여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0" lang="en-US" altLang="ko-KR" sz="1200" b="0" i="0" u="none" strike="noStrike" kern="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st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원인으로 확인됨</a:t>
            </a:r>
            <a:b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-. Tab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불량 중에서도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Tab Cutting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으로 인한 불량이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17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36%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→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19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52%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로 급증하여 가장 많은 비중을 차지함</a:t>
            </a:r>
            <a:endParaRPr kumimoji="0" lang="en-US" altLang="ko-KR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941" name="직선 연결선 1940">
            <a:extLst>
              <a:ext uri="{FF2B5EF4-FFF2-40B4-BE49-F238E27FC236}">
                <a16:creationId xmlns:a16="http://schemas.microsoft.com/office/drawing/2014/main" id="{D363FE3B-3270-298D-19AA-C674587131FF}"/>
              </a:ext>
            </a:extLst>
          </p:cNvPr>
          <p:cNvCxnSpPr>
            <a:cxnSpLocks/>
          </p:cNvCxnSpPr>
          <p:nvPr/>
        </p:nvCxnSpPr>
        <p:spPr>
          <a:xfrm>
            <a:off x="976372" y="6220945"/>
            <a:ext cx="8402526" cy="0"/>
          </a:xfrm>
          <a:prstGeom prst="line">
            <a:avLst/>
          </a:prstGeom>
          <a:noFill/>
          <a:ln w="3175" cap="flat" cmpd="sng" algn="ctr">
            <a:solidFill>
              <a:sysClr val="window" lastClr="FFFFFF">
                <a:lumMod val="65000"/>
              </a:sysClr>
            </a:solidFill>
            <a:prstDash val="dash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F93CB8E-A0ED-A7DD-4A9A-1F6391230178}"/>
              </a:ext>
            </a:extLst>
          </p:cNvPr>
          <p:cNvSpPr txBox="1"/>
          <p:nvPr/>
        </p:nvSpPr>
        <p:spPr>
          <a:xfrm>
            <a:off x="1108572" y="6257858"/>
            <a:ext cx="8696974" cy="51821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88902" marR="0" lvl="0" indent="-88902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b="1" i="0" u="none" strike="noStrike" kern="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기존 알고리즘을 이용한 이상감지 케이스 누적  </a:t>
            </a:r>
            <a:r>
              <a:rPr kumimoji="0" lang="en-US" altLang="ko-KR" sz="1200" b="1" i="0" u="none" strike="noStrike" kern="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(~9</a:t>
            </a:r>
            <a:r>
              <a:rPr kumimoji="0" lang="ko-KR" altLang="en-US" sz="1200" b="1" i="0" u="none" strike="noStrike" kern="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0" lang="en-US" altLang="ko-KR" sz="1200" b="1" i="0" u="none" strike="noStrike" kern="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  <a:p>
            <a:pPr marL="88902" marR="0" lvl="0" indent="-88902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1" i="0" u="none" strike="noStrike" kern="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Tap</a:t>
            </a:r>
            <a:r>
              <a:rPr kumimoji="0" lang="ko-KR" altLang="en-US" sz="1200" b="1" i="0" u="none" strike="noStrike" kern="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200" b="1" i="0" u="none" strike="noStrike" kern="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Cutter</a:t>
            </a:r>
            <a:r>
              <a:rPr kumimoji="0" lang="ko-KR" altLang="en-US" sz="1200" b="1" i="0" u="none" strike="noStrike" kern="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서보모터 신규 데이터 연동 및 신규 알고리즘 검토 </a:t>
            </a:r>
            <a:r>
              <a:rPr kumimoji="0" lang="en-US" altLang="ko-KR" sz="1200" b="1" i="0" u="none" strike="noStrike" kern="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(~9</a:t>
            </a:r>
            <a:r>
              <a:rPr kumimoji="0" lang="ko-KR" altLang="en-US" sz="1200" b="1" i="0" u="none" strike="noStrike" kern="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0" lang="en-US" altLang="ko-KR" sz="1200" b="1" i="0" u="none" strike="noStrike" kern="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7472536-5491-F549-8DC1-FE8E1752B952}"/>
              </a:ext>
            </a:extLst>
          </p:cNvPr>
          <p:cNvSpPr txBox="1"/>
          <p:nvPr/>
        </p:nvSpPr>
        <p:spPr>
          <a:xfrm>
            <a:off x="1271916" y="5341327"/>
            <a:ext cx="843361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【1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차 기본 이상감지 로직 적용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】 ESOT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양산라인 적용 및 운영 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( 26.9.1~ )</a:t>
            </a: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-.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상부 커터 모터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Z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축 </a:t>
            </a:r>
            <a:r>
              <a:rPr kumimoji="0" lang="ko-KR" alt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부하율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하부 커터 실린더 상승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하강 동작시간을 대상으로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FDC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기본 이상감지 로직인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PEFA, RPC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를 적용함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2A38C0A-13D2-8643-C657-DA3135F046CD}"/>
              </a:ext>
            </a:extLst>
          </p:cNvPr>
          <p:cNvSpPr/>
          <p:nvPr/>
        </p:nvSpPr>
        <p:spPr>
          <a:xfrm>
            <a:off x="229614" y="4880605"/>
            <a:ext cx="648000" cy="1269234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진행</a:t>
            </a:r>
            <a:endParaRPr kumimoji="0" lang="en-US" altLang="ko-KR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현황</a:t>
            </a:r>
            <a:endParaRPr kumimoji="0" lang="en-US" altLang="ko-KR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CA276204-33F0-6CCC-0F4D-6569C13D8535}"/>
              </a:ext>
            </a:extLst>
          </p:cNvPr>
          <p:cNvSpPr/>
          <p:nvPr/>
        </p:nvSpPr>
        <p:spPr>
          <a:xfrm>
            <a:off x="1080774" y="4959684"/>
            <a:ext cx="162000" cy="16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</a:t>
            </a:r>
            <a:endParaRPr kumimoji="0" lang="ko-KR" altLang="en-US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8478E0E-CC77-2A02-2FDF-20ECAA4791A4}"/>
              </a:ext>
            </a:extLst>
          </p:cNvPr>
          <p:cNvSpPr txBox="1"/>
          <p:nvPr/>
        </p:nvSpPr>
        <p:spPr>
          <a:xfrm>
            <a:off x="1271388" y="4870566"/>
            <a:ext cx="8759120" cy="50129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【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데이터 연결 현황 파악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】 (~26.8.31)</a:t>
            </a:r>
            <a:b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-. </a:t>
            </a:r>
            <a:r>
              <a: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상</a:t>
            </a:r>
            <a:r>
              <a:rPr kumimoji="0" lang="en-US" altLang="ko-KR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하부 모터와 실린더에 대해 부분적으로 데이터 연결됨을 확인함 </a:t>
            </a:r>
            <a:r>
              <a:rPr kumimoji="0" lang="en-US" altLang="ko-KR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상부커터</a:t>
            </a:r>
            <a:r>
              <a: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모터위치 </a:t>
            </a:r>
            <a:r>
              <a:rPr kumimoji="0" lang="ko-KR" altLang="en-US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미연동</a:t>
            </a:r>
            <a:r>
              <a:rPr kumimoji="0" lang="en-US" altLang="ko-KR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</a:t>
            </a:r>
            <a:r>
              <a: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하부 커터 모터 데이터와 상부 커터 실린더 데이터 </a:t>
            </a:r>
            <a:r>
              <a:rPr kumimoji="0" lang="ko-KR" altLang="en-US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미연동</a:t>
            </a:r>
            <a:r>
              <a:rPr kumimoji="0" lang="en-US" altLang="ko-KR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en-US" altLang="ko-KR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B4DCEFCA-0026-32E1-D6EC-356E47463F98}"/>
              </a:ext>
            </a:extLst>
          </p:cNvPr>
          <p:cNvSpPr/>
          <p:nvPr/>
        </p:nvSpPr>
        <p:spPr>
          <a:xfrm>
            <a:off x="1090569" y="5393455"/>
            <a:ext cx="162000" cy="16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</a:t>
            </a:r>
            <a:endParaRPr kumimoji="0" lang="ko-KR" altLang="en-US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8B934534-D339-66D5-89E7-1AD1A0FB9346}"/>
              </a:ext>
            </a:extLst>
          </p:cNvPr>
          <p:cNvSpPr/>
          <p:nvPr/>
        </p:nvSpPr>
        <p:spPr>
          <a:xfrm>
            <a:off x="229614" y="1539142"/>
            <a:ext cx="648000" cy="879843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배경</a:t>
            </a:r>
            <a:endParaRPr kumimoji="0" lang="en-US" altLang="ko-KR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0F2BA24F-3E10-26AA-881D-14C831402D2A}"/>
              </a:ext>
            </a:extLst>
          </p:cNvPr>
          <p:cNvCxnSpPr>
            <a:cxnSpLocks/>
          </p:cNvCxnSpPr>
          <p:nvPr/>
        </p:nvCxnSpPr>
        <p:spPr>
          <a:xfrm>
            <a:off x="976372" y="1494317"/>
            <a:ext cx="8402524" cy="0"/>
          </a:xfrm>
          <a:prstGeom prst="line">
            <a:avLst/>
          </a:prstGeom>
          <a:noFill/>
          <a:ln w="3175" cap="flat" cmpd="sng" algn="ctr">
            <a:solidFill>
              <a:sysClr val="window" lastClr="FFFFFF">
                <a:lumMod val="65000"/>
              </a:sysClr>
            </a:solidFill>
            <a:prstDash val="dash"/>
          </a:ln>
          <a:effectLst/>
        </p:spPr>
      </p:cxnSp>
      <p:sp>
        <p:nvSpPr>
          <p:cNvPr id="4" name="실행 단추: 홈으로 이동 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BC27A000-3818-472E-AEFD-A6BAFDC49980}"/>
              </a:ext>
            </a:extLst>
          </p:cNvPr>
          <p:cNvSpPr/>
          <p:nvPr/>
        </p:nvSpPr>
        <p:spPr>
          <a:xfrm>
            <a:off x="9605012" y="161209"/>
            <a:ext cx="211279" cy="211279"/>
          </a:xfrm>
          <a:prstGeom prst="actionButtonHom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5E12F745-08F3-9FE5-B219-0C0CAB63A7D8}"/>
              </a:ext>
            </a:extLst>
          </p:cNvPr>
          <p:cNvSpPr/>
          <p:nvPr/>
        </p:nvSpPr>
        <p:spPr>
          <a:xfrm>
            <a:off x="3233631" y="2522104"/>
            <a:ext cx="2670150" cy="1800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Tab</a:t>
            </a: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Cutter</a:t>
            </a: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9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구동부</a:t>
            </a: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FDC</a:t>
            </a: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데이터 연동 현황</a:t>
            </a:r>
            <a:endParaRPr kumimoji="0" lang="ko-KR" altLang="en-US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BCE2AB3-0893-2134-C9A5-4803424230A4}"/>
              </a:ext>
            </a:extLst>
          </p:cNvPr>
          <p:cNvSpPr/>
          <p:nvPr/>
        </p:nvSpPr>
        <p:spPr>
          <a:xfrm>
            <a:off x="6028076" y="2522107"/>
            <a:ext cx="33912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Tab</a:t>
            </a: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Cutter</a:t>
            </a: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9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구동부</a:t>
            </a: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이상감지 적용 방향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74" name="사각형: 둥근 모서리 1673">
            <a:extLst>
              <a:ext uri="{FF2B5EF4-FFF2-40B4-BE49-F238E27FC236}">
                <a16:creationId xmlns:a16="http://schemas.microsoft.com/office/drawing/2014/main" id="{F58F0EA2-A3AD-3C4C-CC93-FE8A3E908AD1}"/>
              </a:ext>
            </a:extLst>
          </p:cNvPr>
          <p:cNvSpPr/>
          <p:nvPr/>
        </p:nvSpPr>
        <p:spPr>
          <a:xfrm>
            <a:off x="1158136" y="2525319"/>
            <a:ext cx="1951200" cy="1800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Tab Cutter </a:t>
            </a: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설비 </a:t>
            </a:r>
            <a:r>
              <a:rPr kumimoji="0" lang="ko-KR" altLang="en-US" sz="9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구동부</a:t>
            </a: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모식도</a:t>
            </a:r>
            <a:endParaRPr kumimoji="0" lang="ko-KR" altLang="en-US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8ED0BCD2-D115-4CEB-316F-2F1289F5A4A7}"/>
              </a:ext>
            </a:extLst>
          </p:cNvPr>
          <p:cNvGraphicFramePr>
            <a:graphicFrameLocks noGrp="1"/>
          </p:cNvGraphicFramePr>
          <p:nvPr/>
        </p:nvGraphicFramePr>
        <p:xfrm>
          <a:off x="3233631" y="2831684"/>
          <a:ext cx="2670150" cy="17373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6331">
                  <a:extLst>
                    <a:ext uri="{9D8B030D-6E8A-4147-A177-3AD203B41FA5}">
                      <a16:colId xmlns:a16="http://schemas.microsoft.com/office/drawing/2014/main" val="2466539097"/>
                    </a:ext>
                  </a:extLst>
                </a:gridCol>
                <a:gridCol w="949439">
                  <a:extLst>
                    <a:ext uri="{9D8B030D-6E8A-4147-A177-3AD203B41FA5}">
                      <a16:colId xmlns:a16="http://schemas.microsoft.com/office/drawing/2014/main" val="540743713"/>
                    </a:ext>
                  </a:extLst>
                </a:gridCol>
                <a:gridCol w="1384380">
                  <a:extLst>
                    <a:ext uri="{9D8B030D-6E8A-4147-A177-3AD203B41FA5}">
                      <a16:colId xmlns:a16="http://schemas.microsoft.com/office/drawing/2014/main" val="3864385409"/>
                    </a:ext>
                  </a:extLst>
                </a:gridCol>
              </a:tblGrid>
              <a:tr h="2171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파츠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위치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308998"/>
                  </a:ext>
                </a:extLst>
              </a:tr>
              <a:tr h="8686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SVM</a:t>
                      </a:r>
                      <a:endParaRPr lang="ko-KR" altLang="en-US" sz="9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상부 커터 모터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</a:t>
                      </a:r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축 </a:t>
                      </a:r>
                      <a:r>
                        <a:rPr lang="ko-KR" altLang="en-US" sz="90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부하율</a:t>
                      </a:r>
                      <a:r>
                        <a:rPr lang="en-US" altLang="ko-KR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br>
                        <a:rPr lang="en-US" altLang="ko-KR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모터 비지 시그널</a:t>
                      </a:r>
                      <a:r>
                        <a:rPr lang="en-US" altLang="ko-KR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br>
                        <a:rPr lang="en-US" altLang="ko-KR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속도</a:t>
                      </a:r>
                      <a:r>
                        <a:rPr lang="en-US" altLang="ko-KR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br>
                        <a:rPr lang="en-US" altLang="ko-KR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포지션 넘버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4346941"/>
                  </a:ext>
                </a:extLst>
              </a:tr>
              <a:tr h="2171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SVM</a:t>
                      </a:r>
                      <a:endParaRPr lang="ko-KR" altLang="en-US" sz="9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하부 커터 </a:t>
                      </a:r>
                      <a:r>
                        <a:rPr lang="en-US" altLang="ko-KR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z</a:t>
                      </a:r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축 모터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PKG </a:t>
                      </a:r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사용 횟수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6174592"/>
                  </a:ext>
                </a:extLst>
              </a:tr>
              <a:tr h="2171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CYL</a:t>
                      </a:r>
                      <a:endParaRPr lang="ko-KR" altLang="en-US" sz="9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상부 커터 실린더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실린더 압력 </a:t>
                      </a:r>
                      <a:r>
                        <a:rPr lang="en-US" altLang="ko-KR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SV</a:t>
                      </a:r>
                      <a:endParaRPr lang="ko-KR" altLang="en-US" sz="9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3006985"/>
                  </a:ext>
                </a:extLst>
              </a:tr>
              <a:tr h="2171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CYL</a:t>
                      </a:r>
                      <a:endParaRPr lang="ko-KR" altLang="en-US" sz="9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하부 커터 실린더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상승</a:t>
                      </a:r>
                      <a:r>
                        <a:rPr lang="en-US" altLang="ko-KR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하강 동작시간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6907377"/>
                  </a:ext>
                </a:extLst>
              </a:tr>
            </a:tbl>
          </a:graphicData>
        </a:graphic>
      </p:graphicFrame>
      <p:sp>
        <p:nvSpPr>
          <p:cNvPr id="24" name="직사각형 23">
            <a:extLst>
              <a:ext uri="{FF2B5EF4-FFF2-40B4-BE49-F238E27FC236}">
                <a16:creationId xmlns:a16="http://schemas.microsoft.com/office/drawing/2014/main" id="{4744C9D1-D0C1-EACC-9960-6A2D01ECBED8}"/>
              </a:ext>
            </a:extLst>
          </p:cNvPr>
          <p:cNvSpPr/>
          <p:nvPr/>
        </p:nvSpPr>
        <p:spPr>
          <a:xfrm>
            <a:off x="232850" y="2522104"/>
            <a:ext cx="648000" cy="2255383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검토</a:t>
            </a:r>
            <a:endParaRPr kumimoji="0" lang="en-US" altLang="ko-KR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내용</a:t>
            </a:r>
            <a:endParaRPr kumimoji="0" lang="en-US" altLang="ko-KR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55C4D16-70EA-AC09-19F0-D25D9812E34C}"/>
              </a:ext>
            </a:extLst>
          </p:cNvPr>
          <p:cNvGrpSpPr/>
          <p:nvPr/>
        </p:nvGrpSpPr>
        <p:grpSpPr>
          <a:xfrm>
            <a:off x="1262084" y="2735133"/>
            <a:ext cx="1597662" cy="2049086"/>
            <a:chOff x="1002103" y="2735133"/>
            <a:chExt cx="1597662" cy="2049086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385521DF-1902-66EA-0717-70098E27818F}"/>
                </a:ext>
              </a:extLst>
            </p:cNvPr>
            <p:cNvGrpSpPr/>
            <p:nvPr/>
          </p:nvGrpSpPr>
          <p:grpSpPr>
            <a:xfrm>
              <a:off x="1118479" y="2735133"/>
              <a:ext cx="1481286" cy="2005989"/>
              <a:chOff x="1118479" y="2735133"/>
              <a:chExt cx="1481286" cy="2005989"/>
            </a:xfrm>
          </p:grpSpPr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90147ABA-C5B8-E668-7B9E-D64AD84722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11167" r="36255"/>
              <a:stretch/>
            </p:blipFill>
            <p:spPr>
              <a:xfrm>
                <a:off x="1118479" y="2750093"/>
                <a:ext cx="1444918" cy="1991029"/>
              </a:xfrm>
              <a:prstGeom prst="rect">
                <a:avLst/>
              </a:prstGeom>
            </p:spPr>
          </p:pic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5E299641-B523-7728-2D9C-CE06E1CBEAF0}"/>
                  </a:ext>
                </a:extLst>
              </p:cNvPr>
              <p:cNvSpPr/>
              <p:nvPr/>
            </p:nvSpPr>
            <p:spPr>
              <a:xfrm>
                <a:off x="2429435" y="2735133"/>
                <a:ext cx="170330" cy="29260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23D938D-E247-4A1F-3701-FA490DCED687}"/>
                </a:ext>
              </a:extLst>
            </p:cNvPr>
            <p:cNvSpPr txBox="1"/>
            <p:nvPr/>
          </p:nvSpPr>
          <p:spPr>
            <a:xfrm>
              <a:off x="1002103" y="2851038"/>
              <a:ext cx="6205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CE8C7"/>
                  </a:highlight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상부커터</a:t>
              </a:r>
              <a:endPara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CE8C7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CE8C7"/>
                  </a:highlight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Z</a:t>
              </a:r>
              <a:r>
                <a:rPr kumimoji="0" lang="ko-KR" alt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CE8C7"/>
                  </a:highlight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축 모터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1E8C9B7-734E-A71E-2B60-3CDD807C6E4F}"/>
                </a:ext>
              </a:extLst>
            </p:cNvPr>
            <p:cNvSpPr txBox="1"/>
            <p:nvPr/>
          </p:nvSpPr>
          <p:spPr>
            <a:xfrm>
              <a:off x="1242774" y="4419322"/>
              <a:ext cx="116680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CE8C7"/>
                  </a:highlight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하부커터</a:t>
              </a:r>
              <a:r>
                <a:rPr kumimoji="0" lang="en-US" altLang="ko-KR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CE8C7"/>
                  </a:highlight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 Z</a:t>
              </a:r>
              <a:r>
                <a:rPr kumimoji="0" lang="ko-KR" alt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CE8C7"/>
                  </a:highlight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축 모터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B51CC09-39FC-689F-889A-42A3B64CA01E}"/>
                </a:ext>
              </a:extLst>
            </p:cNvPr>
            <p:cNvSpPr txBox="1"/>
            <p:nvPr/>
          </p:nvSpPr>
          <p:spPr>
            <a:xfrm>
              <a:off x="1242774" y="4553387"/>
              <a:ext cx="116680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CE8C7"/>
                  </a:highlight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전</a:t>
              </a:r>
              <a:r>
                <a:rPr kumimoji="0" lang="en-US" altLang="ko-KR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CE8C7"/>
                  </a:highlight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/</a:t>
              </a:r>
              <a:r>
                <a:rPr kumimoji="0" lang="ko-KR" alt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CE8C7"/>
                  </a:highlight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후진 실린더</a:t>
              </a:r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BD8BE89-E3BA-EA13-FEFC-B7202145E732}"/>
              </a:ext>
            </a:extLst>
          </p:cNvPr>
          <p:cNvSpPr/>
          <p:nvPr/>
        </p:nvSpPr>
        <p:spPr>
          <a:xfrm>
            <a:off x="6028685" y="2841605"/>
            <a:ext cx="1600280" cy="1727460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9C58D5-BA21-784B-65DA-DD6561470BC4}"/>
              </a:ext>
            </a:extLst>
          </p:cNvPr>
          <p:cNvSpPr txBox="1"/>
          <p:nvPr/>
        </p:nvSpPr>
        <p:spPr>
          <a:xfrm>
            <a:off x="6331574" y="2733512"/>
            <a:ext cx="10969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AEAEA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AEAEA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차 적용 </a:t>
            </a: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AEAEA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AEAEA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기본 로직</a:t>
            </a: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AEAEA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EAEAEA"/>
              </a:highlight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2B3E7CD-077A-0838-7BA5-E4939E3F1927}"/>
              </a:ext>
            </a:extLst>
          </p:cNvPr>
          <p:cNvSpPr/>
          <p:nvPr/>
        </p:nvSpPr>
        <p:spPr>
          <a:xfrm>
            <a:off x="7778616" y="2841605"/>
            <a:ext cx="1600280" cy="1727460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1A9E42-D1A5-8505-2A96-91EDB7EAFFE9}"/>
              </a:ext>
            </a:extLst>
          </p:cNvPr>
          <p:cNvSpPr txBox="1"/>
          <p:nvPr/>
        </p:nvSpPr>
        <p:spPr>
          <a:xfrm>
            <a:off x="8018329" y="2733512"/>
            <a:ext cx="11208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AEAEA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2</a:t>
            </a: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AEAEA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차 적용 </a:t>
            </a: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AEAEA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AEAEA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신규 로직</a:t>
            </a: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AEAEA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)</a:t>
            </a:r>
            <a:endParaRPr kumimoji="0" lang="ko-KR" altLang="en-US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EAEAEA"/>
              </a:highlight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7EDEA4-CA23-7932-DB5D-89C5B1C6C109}"/>
              </a:ext>
            </a:extLst>
          </p:cNvPr>
          <p:cNvSpPr txBox="1"/>
          <p:nvPr/>
        </p:nvSpPr>
        <p:spPr>
          <a:xfrm>
            <a:off x="7904355" y="1925482"/>
            <a:ext cx="2126153" cy="57797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* Tab Cutting </a:t>
            </a: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불량 관련 </a:t>
            </a:r>
            <a:r>
              <a:rPr kumimoji="0" lang="ko-KR" altLang="en-US" sz="900" b="0" i="0" u="none" strike="noStrike" kern="0" cap="none" spc="0" normalizeH="0" baseline="0" noProof="0" err="1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원인계</a:t>
            </a: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중 </a:t>
            </a:r>
            <a:endParaRPr kumimoji="0" lang="en-US" altLang="ko-KR" sz="900" b="0" i="0" u="none" strike="noStrike" kern="0" cap="none" spc="0" normalizeH="0" baseline="0" noProof="0">
              <a:ln>
                <a:noFill/>
              </a:ln>
              <a:solidFill>
                <a:srgbClr val="007F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주행부에서의 셀 틀어짐 제외한 직접적    </a:t>
            </a:r>
            <a:b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</a:t>
            </a: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구동부를 </a:t>
            </a: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차적으로 검토함</a:t>
            </a:r>
            <a:endParaRPr kumimoji="0" lang="en-US" altLang="ko-KR" sz="900" b="0" i="0" u="none" strike="noStrike" kern="0" cap="none" spc="0" normalizeH="0" baseline="0" noProof="0">
              <a:ln>
                <a:noFill/>
              </a:ln>
              <a:solidFill>
                <a:srgbClr val="007F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E57AE51B-7690-9C05-A064-FACF2DA442B9}"/>
              </a:ext>
            </a:extLst>
          </p:cNvPr>
          <p:cNvGrpSpPr/>
          <p:nvPr/>
        </p:nvGrpSpPr>
        <p:grpSpPr>
          <a:xfrm>
            <a:off x="6122527" y="3113160"/>
            <a:ext cx="1412594" cy="562495"/>
            <a:chOff x="-1980576" y="2877299"/>
            <a:chExt cx="1860218" cy="840772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EDFD1340-B81A-2A69-D278-382E72395D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4649"/>
            <a:stretch/>
          </p:blipFill>
          <p:spPr>
            <a:xfrm>
              <a:off x="-1980576" y="2877299"/>
              <a:ext cx="1860218" cy="840772"/>
            </a:xfrm>
            <a:prstGeom prst="rect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</p:pic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A47A1B39-10BD-DD6C-03CF-C431DAB7E666}"/>
                </a:ext>
              </a:extLst>
            </p:cNvPr>
            <p:cNvCxnSpPr>
              <a:cxnSpLocks/>
            </p:cNvCxnSpPr>
            <p:nvPr/>
          </p:nvCxnSpPr>
          <p:spPr>
            <a:xfrm>
              <a:off x="-1980576" y="3333545"/>
              <a:ext cx="1860218" cy="0"/>
            </a:xfrm>
            <a:prstGeom prst="line">
              <a:avLst/>
            </a:prstGeom>
            <a:ln w="31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61B98E4-2A9A-8007-2B12-5C326F955A99}"/>
              </a:ext>
            </a:extLst>
          </p:cNvPr>
          <p:cNvGrpSpPr/>
          <p:nvPr/>
        </p:nvGrpSpPr>
        <p:grpSpPr>
          <a:xfrm>
            <a:off x="6122527" y="3891110"/>
            <a:ext cx="1412595" cy="615569"/>
            <a:chOff x="6122527" y="3846285"/>
            <a:chExt cx="1412595" cy="615569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726B7BBD-EB27-85D8-80AE-E8BF66510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22527" y="3846285"/>
              <a:ext cx="1412595" cy="615569"/>
            </a:xfrm>
            <a:prstGeom prst="rect">
              <a:avLst/>
            </a:prstGeom>
          </p:spPr>
        </p:pic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5E848BFB-0A91-FE7B-3102-62CDA44304F8}"/>
                </a:ext>
              </a:extLst>
            </p:cNvPr>
            <p:cNvCxnSpPr>
              <a:cxnSpLocks/>
            </p:cNvCxnSpPr>
            <p:nvPr/>
          </p:nvCxnSpPr>
          <p:spPr>
            <a:xfrm>
              <a:off x="6176296" y="4283804"/>
              <a:ext cx="1358826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A97B132A-14D4-9E7B-E00C-45295E834DA7}"/>
              </a:ext>
            </a:extLst>
          </p:cNvPr>
          <p:cNvCxnSpPr/>
          <p:nvPr/>
        </p:nvCxnSpPr>
        <p:spPr>
          <a:xfrm flipV="1">
            <a:off x="6893859" y="3140055"/>
            <a:ext cx="170329" cy="221711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CE2AF0D0-267D-4E32-8F51-85719DEF02A0}"/>
              </a:ext>
            </a:extLst>
          </p:cNvPr>
          <p:cNvCxnSpPr>
            <a:cxnSpLocks/>
          </p:cNvCxnSpPr>
          <p:nvPr/>
        </p:nvCxnSpPr>
        <p:spPr>
          <a:xfrm flipV="1">
            <a:off x="6602429" y="4073621"/>
            <a:ext cx="103174" cy="195310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3986CA4-F9FE-B505-7098-434CC3D0E55F}"/>
              </a:ext>
            </a:extLst>
          </p:cNvPr>
          <p:cNvCxnSpPr>
            <a:cxnSpLocks/>
          </p:cNvCxnSpPr>
          <p:nvPr/>
        </p:nvCxnSpPr>
        <p:spPr>
          <a:xfrm flipV="1">
            <a:off x="6979023" y="3950261"/>
            <a:ext cx="112267" cy="302729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2A0DE74-DA03-0836-4E38-4D30274A39D6}"/>
              </a:ext>
            </a:extLst>
          </p:cNvPr>
          <p:cNvSpPr txBox="1"/>
          <p:nvPr/>
        </p:nvSpPr>
        <p:spPr>
          <a:xfrm>
            <a:off x="6265478" y="2926606"/>
            <a:ext cx="1310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실린더 동작시간 이상감지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739F70-8A65-8416-ED2D-CF9CADA5012E}"/>
              </a:ext>
            </a:extLst>
          </p:cNvPr>
          <p:cNvSpPr txBox="1"/>
          <p:nvPr/>
        </p:nvSpPr>
        <p:spPr>
          <a:xfrm>
            <a:off x="6283615" y="3724380"/>
            <a:ext cx="1310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서보모터 </a:t>
            </a:r>
            <a:r>
              <a:rPr kumimoji="0" lang="ko-KR" altLang="en-US" sz="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부하율</a:t>
            </a: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이상감지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63F1A6F-3F33-36B7-F83F-CC512528A8D1}"/>
              </a:ext>
            </a:extLst>
          </p:cNvPr>
          <p:cNvSpPr txBox="1"/>
          <p:nvPr/>
        </p:nvSpPr>
        <p:spPr>
          <a:xfrm>
            <a:off x="7753869" y="3820829"/>
            <a:ext cx="16138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서보모터 동작 구간 별 </a:t>
            </a:r>
            <a:endParaRPr kumimoji="0" lang="en-US" altLang="ko-KR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부하율</a:t>
            </a: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속도 분석 </a:t>
            </a:r>
            <a:b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endParaRPr kumimoji="0" lang="en-US" altLang="ko-KR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→ 커팅 전</a:t>
            </a: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커팅</a:t>
            </a: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원복 시의 </a:t>
            </a:r>
            <a:endParaRPr kumimoji="0" lang="en-US" altLang="ko-KR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부하율이나 속도의 변화 추적</a:t>
            </a:r>
            <a:endParaRPr kumimoji="0" lang="en-US" altLang="ko-KR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E99E556-9FD5-0965-C56C-8D4951BB0BB2}"/>
              </a:ext>
            </a:extLst>
          </p:cNvPr>
          <p:cNvSpPr txBox="1"/>
          <p:nvPr/>
        </p:nvSpPr>
        <p:spPr>
          <a:xfrm>
            <a:off x="7559868" y="2899730"/>
            <a:ext cx="16138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예시</a:t>
            </a:r>
            <a:r>
              <a:rPr kumimoji="0" lang="en-US" altLang="ko-KR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) </a:t>
            </a: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커팅 동작 시 속도</a:t>
            </a:r>
            <a:endParaRPr kumimoji="0" lang="en-US" altLang="ko-KR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1923" name="그룹 1922">
            <a:extLst>
              <a:ext uri="{FF2B5EF4-FFF2-40B4-BE49-F238E27FC236}">
                <a16:creationId xmlns:a16="http://schemas.microsoft.com/office/drawing/2014/main" id="{015FCCE3-0DB2-8FCB-4F49-BDD7411D36D6}"/>
              </a:ext>
            </a:extLst>
          </p:cNvPr>
          <p:cNvGrpSpPr/>
          <p:nvPr/>
        </p:nvGrpSpPr>
        <p:grpSpPr>
          <a:xfrm>
            <a:off x="7695909" y="3070207"/>
            <a:ext cx="1764751" cy="669980"/>
            <a:chOff x="7643785" y="3016417"/>
            <a:chExt cx="1816878" cy="669980"/>
          </a:xfrm>
        </p:grpSpPr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FDF5D31B-E6BA-5131-08AE-9F0C420710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0333" y="3016417"/>
              <a:ext cx="0" cy="632343"/>
            </a:xfrm>
            <a:prstGeom prst="straightConnector1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22" name="그룹 1921">
              <a:extLst>
                <a:ext uri="{FF2B5EF4-FFF2-40B4-BE49-F238E27FC236}">
                  <a16:creationId xmlns:a16="http://schemas.microsoft.com/office/drawing/2014/main" id="{BF9E2DD7-9D45-3D75-2AD3-847390860044}"/>
                </a:ext>
              </a:extLst>
            </p:cNvPr>
            <p:cNvGrpSpPr/>
            <p:nvPr/>
          </p:nvGrpSpPr>
          <p:grpSpPr>
            <a:xfrm>
              <a:off x="7643785" y="3025031"/>
              <a:ext cx="1816878" cy="661366"/>
              <a:chOff x="7643785" y="3033996"/>
              <a:chExt cx="1816878" cy="661366"/>
            </a:xfrm>
          </p:grpSpPr>
          <p:pic>
            <p:nvPicPr>
              <p:cNvPr id="45" name="그림 44">
                <a:extLst>
                  <a:ext uri="{FF2B5EF4-FFF2-40B4-BE49-F238E27FC236}">
                    <a16:creationId xmlns:a16="http://schemas.microsoft.com/office/drawing/2014/main" id="{93D31CA1-8F27-25E9-EA4A-ABC6AED41B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t="4482"/>
              <a:stretch/>
            </p:blipFill>
            <p:spPr>
              <a:xfrm>
                <a:off x="7892501" y="3072438"/>
                <a:ext cx="1372507" cy="541284"/>
              </a:xfrm>
              <a:prstGeom prst="rect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</p:pic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19B19BC-28BF-5152-BBE3-2531DDB1DCFB}"/>
                  </a:ext>
                </a:extLst>
              </p:cNvPr>
              <p:cNvSpPr txBox="1"/>
              <p:nvPr/>
            </p:nvSpPr>
            <p:spPr>
              <a:xfrm>
                <a:off x="9097453" y="3479918"/>
                <a:ext cx="36321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+mn-cs"/>
                  </a:rPr>
                  <a:t>시간</a:t>
                </a:r>
                <a:endParaRPr kumimoji="0" lang="en-US" altLang="ko-KR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0E8AB80-AF79-642C-D9FB-ACC9B2CB8B6C}"/>
                  </a:ext>
                </a:extLst>
              </p:cNvPr>
              <p:cNvSpPr txBox="1"/>
              <p:nvPr/>
            </p:nvSpPr>
            <p:spPr>
              <a:xfrm>
                <a:off x="7643785" y="3033996"/>
                <a:ext cx="31576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+mn-cs"/>
                  </a:rPr>
                  <a:t>속도</a:t>
                </a:r>
                <a:endParaRPr kumimoji="0" lang="en-US" altLang="ko-KR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endParaRPr>
              </a:p>
            </p:txBody>
          </p:sp>
          <p:cxnSp>
            <p:nvCxnSpPr>
              <p:cNvPr id="63" name="직선 화살표 연결선 62">
                <a:extLst>
                  <a:ext uri="{FF2B5EF4-FFF2-40B4-BE49-F238E27FC236}">
                    <a16:creationId xmlns:a16="http://schemas.microsoft.com/office/drawing/2014/main" id="{4838AC15-9101-75F0-604B-03F443CBE2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50333" y="3646710"/>
                <a:ext cx="1365029" cy="0"/>
              </a:xfrm>
              <a:prstGeom prst="straightConnector1">
                <a:avLst/>
              </a:prstGeom>
              <a:ln w="3175">
                <a:solidFill>
                  <a:schemeClr val="tx1">
                    <a:lumMod val="50000"/>
                    <a:lumOff val="5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924" name="직선 화살표 연결선 1923">
            <a:extLst>
              <a:ext uri="{FF2B5EF4-FFF2-40B4-BE49-F238E27FC236}">
                <a16:creationId xmlns:a16="http://schemas.microsoft.com/office/drawing/2014/main" id="{DC6028B9-FF2F-0C7E-CA81-EAFA5884DDB0}"/>
              </a:ext>
            </a:extLst>
          </p:cNvPr>
          <p:cNvCxnSpPr>
            <a:cxnSpLocks/>
          </p:cNvCxnSpPr>
          <p:nvPr/>
        </p:nvCxnSpPr>
        <p:spPr>
          <a:xfrm flipV="1">
            <a:off x="8241354" y="3137768"/>
            <a:ext cx="149978" cy="244633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6" name="TextBox 1925">
            <a:extLst>
              <a:ext uri="{FF2B5EF4-FFF2-40B4-BE49-F238E27FC236}">
                <a16:creationId xmlns:a16="http://schemas.microsoft.com/office/drawing/2014/main" id="{43F89892-54C1-1E76-37FF-05E1A1C91B0F}"/>
              </a:ext>
            </a:extLst>
          </p:cNvPr>
          <p:cNvSpPr txBox="1"/>
          <p:nvPr/>
        </p:nvSpPr>
        <p:spPr>
          <a:xfrm>
            <a:off x="1180534" y="372990"/>
            <a:ext cx="2314996" cy="24558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8.17~8.26 </a:t>
            </a:r>
            <a:r>
              <a:rPr kumimoji="0" lang="ko-KR" altLang="en-US" sz="900" b="1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중 </a:t>
            </a: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MES </a:t>
            </a:r>
            <a:r>
              <a:rPr kumimoji="0" lang="ko-KR" altLang="en-US" sz="900" b="1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이력 및 </a:t>
            </a: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SPC </a:t>
            </a:r>
            <a:r>
              <a:rPr kumimoji="0" lang="ko-KR" altLang="en-US" sz="900" b="1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데이터  분석</a:t>
            </a:r>
            <a:endParaRPr kumimoji="0" lang="en-US" altLang="ko-KR" sz="900" b="1" i="0" u="none" strike="noStrike" kern="0" cap="none" spc="0" normalizeH="0" baseline="0" noProof="0">
              <a:ln>
                <a:noFill/>
              </a:ln>
              <a:solidFill>
                <a:srgbClr val="007F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27" name="TextBox 1926">
            <a:extLst>
              <a:ext uri="{FF2B5EF4-FFF2-40B4-BE49-F238E27FC236}">
                <a16:creationId xmlns:a16="http://schemas.microsoft.com/office/drawing/2014/main" id="{6C8F537F-37E0-CD90-22EE-B2834F6BD5A5}"/>
              </a:ext>
            </a:extLst>
          </p:cNvPr>
          <p:cNvSpPr txBox="1"/>
          <p:nvPr/>
        </p:nvSpPr>
        <p:spPr>
          <a:xfrm>
            <a:off x="1271916" y="5762404"/>
            <a:ext cx="863408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【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알고리즘 고도화를 위한 데이터 추가 연결 검토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】 ( ~26.9.11 )</a:t>
            </a: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-.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상부 커터 모터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Z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축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Position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및 하부 커터 모터 데이터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부하율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속도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Position, Busy Signal)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와 상부 커터 실린더 데이터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상승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하강 동작시간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연동 준비 중임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28" name="타원 1927">
            <a:extLst>
              <a:ext uri="{FF2B5EF4-FFF2-40B4-BE49-F238E27FC236}">
                <a16:creationId xmlns:a16="http://schemas.microsoft.com/office/drawing/2014/main" id="{464CD1FA-FC98-F49B-9504-328E584F6C91}"/>
              </a:ext>
            </a:extLst>
          </p:cNvPr>
          <p:cNvSpPr/>
          <p:nvPr/>
        </p:nvSpPr>
        <p:spPr>
          <a:xfrm>
            <a:off x="1090569" y="5814532"/>
            <a:ext cx="162000" cy="16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</a:t>
            </a:r>
            <a:endParaRPr kumimoji="0" lang="ko-KR" altLang="en-US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29" name="Text Box 41">
            <a:extLst>
              <a:ext uri="{FF2B5EF4-FFF2-40B4-BE49-F238E27FC236}">
                <a16:creationId xmlns:a16="http://schemas.microsoft.com/office/drawing/2014/main" id="{AB39A327-BD8E-41EB-CC97-AC88AFFC5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8627" y="185769"/>
            <a:ext cx="607539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조립</a:t>
            </a:r>
            <a:r>
              <a:rPr kumimoji="1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FDC</a:t>
            </a:r>
            <a:r>
              <a:rPr kumimoji="1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팀</a:t>
            </a:r>
            <a:endParaRPr kumimoji="0" lang="en-US" altLang="ko-KR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1372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05" name="직선 연결선 1704">
            <a:extLst>
              <a:ext uri="{FF2B5EF4-FFF2-40B4-BE49-F238E27FC236}">
                <a16:creationId xmlns:a16="http://schemas.microsoft.com/office/drawing/2014/main" id="{8BD8528C-0859-B973-5AFC-AFAF7A851B62}"/>
              </a:ext>
            </a:extLst>
          </p:cNvPr>
          <p:cNvCxnSpPr>
            <a:cxnSpLocks/>
          </p:cNvCxnSpPr>
          <p:nvPr/>
        </p:nvCxnSpPr>
        <p:spPr>
          <a:xfrm>
            <a:off x="976372" y="4821510"/>
            <a:ext cx="8402526" cy="0"/>
          </a:xfrm>
          <a:prstGeom prst="line">
            <a:avLst/>
          </a:prstGeom>
          <a:noFill/>
          <a:ln w="3175" cap="flat" cmpd="sng" algn="ctr">
            <a:solidFill>
              <a:sysClr val="window" lastClr="FFFFFF">
                <a:lumMod val="65000"/>
              </a:sysClr>
            </a:solidFill>
            <a:prstDash val="dash"/>
          </a:ln>
          <a:effectLst/>
        </p:spPr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2801654-08BC-4A63-9CD5-0B4F540E8B14}"/>
              </a:ext>
            </a:extLst>
          </p:cNvPr>
          <p:cNvSpPr/>
          <p:nvPr/>
        </p:nvSpPr>
        <p:spPr>
          <a:xfrm>
            <a:off x="229614" y="1145020"/>
            <a:ext cx="648000" cy="291002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endParaRPr kumimoji="0" lang="en-US" altLang="ko-KR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DE6958F-40A2-7B7F-2C07-AC06A272AC3A}"/>
              </a:ext>
            </a:extLst>
          </p:cNvPr>
          <p:cNvSpPr/>
          <p:nvPr/>
        </p:nvSpPr>
        <p:spPr>
          <a:xfrm>
            <a:off x="229614" y="6252957"/>
            <a:ext cx="648000" cy="505275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향후</a:t>
            </a:r>
            <a:endParaRPr kumimoji="0" lang="en-US" altLang="ko-KR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계획</a:t>
            </a:r>
            <a:endParaRPr kumimoji="0" lang="en-US" altLang="ko-KR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EA931BD-6EB2-8395-1816-A868B917884B}"/>
              </a:ext>
            </a:extLst>
          </p:cNvPr>
          <p:cNvCxnSpPr>
            <a:cxnSpLocks/>
          </p:cNvCxnSpPr>
          <p:nvPr/>
        </p:nvCxnSpPr>
        <p:spPr bwMode="auto">
          <a:xfrm>
            <a:off x="233551" y="404664"/>
            <a:ext cx="7920000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94755C4-B338-290E-BB54-70EB11D61743}"/>
              </a:ext>
            </a:extLst>
          </p:cNvPr>
          <p:cNvSpPr txBox="1"/>
          <p:nvPr/>
        </p:nvSpPr>
        <p:spPr>
          <a:xfrm>
            <a:off x="1038092" y="1139401"/>
            <a:ext cx="8404998" cy="2966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88902" marR="0" lvl="0" indent="-88902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[’26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년</a:t>
            </a: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 ESOT PKG </a:t>
            </a:r>
            <a:r>
              <a:rPr kumimoji="0" lang="ko-KR" altLang="en-US" sz="1200" b="1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프리웰더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200" b="1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스택부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파손 및 셀 오염 기인의 </a:t>
            </a:r>
            <a:r>
              <a:rPr kumimoji="0" lang="ko-KR" altLang="en-US" sz="1200" b="1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프리웰더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200" b="1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과용접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방지 및 이물 불량 개선</a:t>
            </a:r>
            <a:endParaRPr kumimoji="0" lang="en-US" altLang="ko-KR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941" name="직선 연결선 1940">
            <a:extLst>
              <a:ext uri="{FF2B5EF4-FFF2-40B4-BE49-F238E27FC236}">
                <a16:creationId xmlns:a16="http://schemas.microsoft.com/office/drawing/2014/main" id="{D363FE3B-3270-298D-19AA-C674587131FF}"/>
              </a:ext>
            </a:extLst>
          </p:cNvPr>
          <p:cNvCxnSpPr>
            <a:cxnSpLocks/>
          </p:cNvCxnSpPr>
          <p:nvPr/>
        </p:nvCxnSpPr>
        <p:spPr>
          <a:xfrm>
            <a:off x="976372" y="6220945"/>
            <a:ext cx="8402526" cy="0"/>
          </a:xfrm>
          <a:prstGeom prst="line">
            <a:avLst/>
          </a:prstGeom>
          <a:noFill/>
          <a:ln w="3175" cap="flat" cmpd="sng" algn="ctr">
            <a:solidFill>
              <a:sysClr val="window" lastClr="FFFFFF">
                <a:lumMod val="65000"/>
              </a:sysClr>
            </a:solidFill>
            <a:prstDash val="dash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F93CB8E-A0ED-A7DD-4A9A-1F6391230178}"/>
              </a:ext>
            </a:extLst>
          </p:cNvPr>
          <p:cNvSpPr txBox="1"/>
          <p:nvPr/>
        </p:nvSpPr>
        <p:spPr>
          <a:xfrm>
            <a:off x="1108572" y="6343240"/>
            <a:ext cx="8696974" cy="2966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88902" marR="0" lvl="0" indent="-88902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b="1" i="0" u="none" strike="noStrike" kern="0" cap="none" spc="-10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프리웰더</a:t>
            </a:r>
            <a:r>
              <a:rPr kumimoji="0" lang="ko-KR" altLang="en-US" sz="1200" b="1" i="0" u="none" strike="noStrike" kern="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피크파워 이상감지  운영 및 케이스 누적 </a:t>
            </a:r>
            <a:r>
              <a:rPr kumimoji="0" lang="en-US" altLang="ko-KR" sz="1200" b="1" i="0" u="none" strike="noStrike" kern="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(</a:t>
            </a:r>
            <a:r>
              <a:rPr kumimoji="0" lang="ko-KR" altLang="en-US" sz="1200" b="1" i="0" u="none" strike="noStrike" kern="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알고리즘 최적화 포함</a:t>
            </a:r>
            <a:r>
              <a:rPr kumimoji="0" lang="en-US" altLang="ko-KR" sz="1200" b="1" i="0" u="none" strike="noStrike" kern="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r>
              <a:rPr kumimoji="0" lang="ko-KR" altLang="en-US" sz="1200" b="1" i="0" u="none" strike="noStrike" kern="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</a:t>
            </a:r>
            <a:r>
              <a:rPr kumimoji="0" lang="en-US" altLang="ko-KR" sz="1200" b="1" i="0" u="none" strike="noStrike" kern="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(~9</a:t>
            </a:r>
            <a:r>
              <a:rPr kumimoji="0" lang="ko-KR" altLang="en-US" sz="1200" b="1" i="0" u="none" strike="noStrike" kern="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0" lang="en-US" altLang="ko-KR" sz="1200" b="1" i="0" u="none" strike="noStrike" kern="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7472536-5491-F549-8DC1-FE8E1752B952}"/>
              </a:ext>
            </a:extLst>
          </p:cNvPr>
          <p:cNvSpPr txBox="1"/>
          <p:nvPr/>
        </p:nvSpPr>
        <p:spPr>
          <a:xfrm>
            <a:off x="1271916" y="5627848"/>
            <a:ext cx="843361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【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이상감지 로직 검토 및 적용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】 ESOT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양산라인 적용 및 운영 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( 26.9.1~ )</a:t>
            </a: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-. </a:t>
            </a:r>
            <a:r>
              <a:rPr kumimoji="0" lang="ko-KR" alt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프리웰더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초음파 </a:t>
            </a:r>
            <a:r>
              <a:rPr kumimoji="0" lang="ko-KR" alt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용접기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피크파워에 대해 과용접을 방지하기 위한 이상감지 로직 검토 및 적용함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2A38C0A-13D2-8643-C657-DA3135F046CD}"/>
              </a:ext>
            </a:extLst>
          </p:cNvPr>
          <p:cNvSpPr/>
          <p:nvPr/>
        </p:nvSpPr>
        <p:spPr>
          <a:xfrm>
            <a:off x="229614" y="4880605"/>
            <a:ext cx="648000" cy="1269234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진행</a:t>
            </a:r>
            <a:endParaRPr kumimoji="0" lang="en-US" altLang="ko-KR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현황</a:t>
            </a:r>
            <a:endParaRPr kumimoji="0" lang="en-US" altLang="ko-KR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CA276204-33F0-6CCC-0F4D-6569C13D8535}"/>
              </a:ext>
            </a:extLst>
          </p:cNvPr>
          <p:cNvSpPr/>
          <p:nvPr/>
        </p:nvSpPr>
        <p:spPr>
          <a:xfrm>
            <a:off x="1080774" y="4959684"/>
            <a:ext cx="162000" cy="16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</a:t>
            </a:r>
            <a:endParaRPr kumimoji="0" lang="ko-KR" altLang="en-US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8478E0E-CC77-2A02-2FDF-20ECAA4791A4}"/>
              </a:ext>
            </a:extLst>
          </p:cNvPr>
          <p:cNvSpPr txBox="1"/>
          <p:nvPr/>
        </p:nvSpPr>
        <p:spPr>
          <a:xfrm>
            <a:off x="1271388" y="4870566"/>
            <a:ext cx="8506148" cy="7008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【PD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이력 기반 데이터 분석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】 (~26.8.31)</a:t>
            </a:r>
            <a:b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-. 7</a:t>
            </a:r>
            <a:r>
              <a: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</a:t>
            </a:r>
            <a:r>
              <a:rPr kumimoji="0" lang="en-US" altLang="ko-KR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12</a:t>
            </a:r>
            <a:r>
              <a: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</a:t>
            </a:r>
            <a:r>
              <a:rPr kumimoji="0" lang="en-US" altLang="ko-KR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MI2 #5-3</a:t>
            </a:r>
            <a:r>
              <a: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호기 </a:t>
            </a:r>
            <a:r>
              <a:rPr kumimoji="0" lang="ko-KR" altLang="en-US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프리웰더</a:t>
            </a:r>
            <a:r>
              <a: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초음파 </a:t>
            </a:r>
            <a:r>
              <a:rPr kumimoji="0" lang="ko-KR" altLang="en-US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용접기</a:t>
            </a:r>
            <a:r>
              <a: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디스크 파손 및 </a:t>
            </a:r>
            <a:r>
              <a:rPr kumimoji="0" lang="ko-KR" altLang="en-US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스택셀</a:t>
            </a:r>
            <a:r>
              <a: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오염에 의해 피크파워 출력에 이상이 있어 과용접으로 인한 </a:t>
            </a:r>
            <a:r>
              <a:rPr kumimoji="0" lang="ko-KR" altLang="en-US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프리웰더</a:t>
            </a:r>
            <a:r>
              <a: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NG </a:t>
            </a:r>
            <a:r>
              <a: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발생함 </a:t>
            </a:r>
            <a:r>
              <a:rPr kumimoji="0" lang="en-US" altLang="ko-KR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br>
              <a:rPr kumimoji="0" lang="en-US" altLang="ko-KR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-. PD </a:t>
            </a:r>
            <a:r>
              <a: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이력을 바탕으로 데이터 분석 시</a:t>
            </a:r>
            <a:r>
              <a:rPr kumimoji="0" lang="en-US" altLang="ko-KR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디스크 파손 혹은 마모 시 피크파워가 상승하여 </a:t>
            </a:r>
            <a:r>
              <a:rPr kumimoji="0" lang="ko-KR" altLang="en-US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과용접되며</a:t>
            </a:r>
            <a:r>
              <a:rPr kumimoji="0" lang="en-US" altLang="ko-KR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스택셀</a:t>
            </a:r>
            <a:r>
              <a: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오염 시 피크파워가 급감하는 경향이 확인됨 </a:t>
            </a:r>
            <a:endParaRPr kumimoji="0" lang="en-US" altLang="ko-KR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B4DCEFCA-0026-32E1-D6EC-356E47463F98}"/>
              </a:ext>
            </a:extLst>
          </p:cNvPr>
          <p:cNvSpPr/>
          <p:nvPr/>
        </p:nvSpPr>
        <p:spPr>
          <a:xfrm>
            <a:off x="1090569" y="5662046"/>
            <a:ext cx="162000" cy="16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</a:t>
            </a:r>
            <a:endParaRPr kumimoji="0" lang="ko-KR" altLang="en-US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8B934534-D339-66D5-89E7-1AD1A0FB9346}"/>
              </a:ext>
            </a:extLst>
          </p:cNvPr>
          <p:cNvSpPr/>
          <p:nvPr/>
        </p:nvSpPr>
        <p:spPr>
          <a:xfrm>
            <a:off x="229614" y="1539142"/>
            <a:ext cx="648000" cy="879843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배경</a:t>
            </a:r>
            <a:endParaRPr kumimoji="0" lang="en-US" altLang="ko-KR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0F2BA24F-3E10-26AA-881D-14C831402D2A}"/>
              </a:ext>
            </a:extLst>
          </p:cNvPr>
          <p:cNvCxnSpPr>
            <a:cxnSpLocks/>
          </p:cNvCxnSpPr>
          <p:nvPr/>
        </p:nvCxnSpPr>
        <p:spPr>
          <a:xfrm>
            <a:off x="976372" y="1494317"/>
            <a:ext cx="8402524" cy="0"/>
          </a:xfrm>
          <a:prstGeom prst="line">
            <a:avLst/>
          </a:prstGeom>
          <a:noFill/>
          <a:ln w="3175" cap="flat" cmpd="sng" algn="ctr">
            <a:solidFill>
              <a:sysClr val="window" lastClr="FFFFFF">
                <a:lumMod val="65000"/>
              </a:sysClr>
            </a:solidFill>
            <a:prstDash val="dash"/>
          </a:ln>
          <a:effectLst/>
        </p:spPr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BCE2AB3-0893-2134-C9A5-4803424230A4}"/>
              </a:ext>
            </a:extLst>
          </p:cNvPr>
          <p:cNvSpPr/>
          <p:nvPr/>
        </p:nvSpPr>
        <p:spPr>
          <a:xfrm>
            <a:off x="6496811" y="2522107"/>
            <a:ext cx="3240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PreWelder</a:t>
            </a: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피크파워 이상감지 적용 결과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74" name="사각형: 둥근 모서리 1673">
            <a:extLst>
              <a:ext uri="{FF2B5EF4-FFF2-40B4-BE49-F238E27FC236}">
                <a16:creationId xmlns:a16="http://schemas.microsoft.com/office/drawing/2014/main" id="{F58F0EA2-A3AD-3C4C-CC93-FE8A3E908AD1}"/>
              </a:ext>
            </a:extLst>
          </p:cNvPr>
          <p:cNvSpPr/>
          <p:nvPr/>
        </p:nvSpPr>
        <p:spPr>
          <a:xfrm>
            <a:off x="1158136" y="2525319"/>
            <a:ext cx="5148000" cy="1800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Pre Welder </a:t>
            </a: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초음파 </a:t>
            </a:r>
            <a:r>
              <a:rPr kumimoji="0" lang="ko-KR" altLang="en-US" sz="9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용접기</a:t>
            </a: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구조 모식도</a:t>
            </a:r>
            <a:endParaRPr kumimoji="0" lang="ko-KR" altLang="en-US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744C9D1-D0C1-EACC-9960-6A2D01ECBED8}"/>
              </a:ext>
            </a:extLst>
          </p:cNvPr>
          <p:cNvSpPr/>
          <p:nvPr/>
        </p:nvSpPr>
        <p:spPr>
          <a:xfrm>
            <a:off x="232850" y="2522104"/>
            <a:ext cx="648000" cy="2255383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검토</a:t>
            </a:r>
            <a:endParaRPr kumimoji="0" lang="en-US" altLang="ko-KR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내용</a:t>
            </a:r>
            <a:endParaRPr kumimoji="0" lang="en-US" altLang="ko-KR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Text Box 41">
            <a:extLst>
              <a:ext uri="{FF2B5EF4-FFF2-40B4-BE49-F238E27FC236}">
                <a16:creationId xmlns:a16="http://schemas.microsoft.com/office/drawing/2014/main" id="{1F6DDC70-63D2-71B0-6E0D-36E096DEC9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247" y="107398"/>
            <a:ext cx="7675178" cy="277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801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보조</a:t>
            </a:r>
            <a:r>
              <a:rPr kumimoji="1" lang="en-US" altLang="ko-KR" sz="1801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. OT</a:t>
            </a:r>
            <a:r>
              <a:rPr kumimoji="1" lang="ko-KR" altLang="en-US" sz="1801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법인 </a:t>
            </a:r>
            <a:r>
              <a:rPr kumimoji="1" lang="en-US" altLang="ko-KR" sz="1801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PKG </a:t>
            </a:r>
            <a:r>
              <a:rPr kumimoji="1" lang="ko-KR" altLang="en-US" sz="1801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과용접</a:t>
            </a:r>
            <a:r>
              <a:rPr kumimoji="1" lang="ko-KR" altLang="en-US" sz="1801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방지 및 이물 개선을 위한 </a:t>
            </a:r>
            <a:r>
              <a:rPr kumimoji="1" lang="ko-KR" altLang="en-US" sz="1801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프리웰더</a:t>
            </a:r>
            <a:r>
              <a:rPr kumimoji="1" lang="ko-KR" altLang="en-US" sz="1801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피크파워 이상감지 검토</a:t>
            </a:r>
            <a:r>
              <a:rPr kumimoji="1" lang="en-US" altLang="ko-KR" sz="1801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endParaRPr kumimoji="0" lang="en-US" altLang="ko-KR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4B1648-A088-7A7F-684F-EC69B59B5860}"/>
              </a:ext>
            </a:extLst>
          </p:cNvPr>
          <p:cNvSpPr txBox="1"/>
          <p:nvPr/>
        </p:nvSpPr>
        <p:spPr>
          <a:xfrm>
            <a:off x="1038092" y="1533408"/>
            <a:ext cx="8953216" cy="96148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88902" marR="0" lvl="0" indent="-88902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OT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 </a:t>
            </a: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8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중순 </a:t>
            </a: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MES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분석 결과</a:t>
            </a: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PKG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공정 </a:t>
            </a: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PD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의 </a:t>
            </a: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Top 2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불량 원인이 이물</a:t>
            </a: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불량으로 확인되어 개선이 필요함</a:t>
            </a:r>
            <a:b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-. PKG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공정의 일 별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MES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중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PD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비율 확인 결과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8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17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1.8%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에서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8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23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일에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7.2%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까지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배 증가함</a:t>
            </a:r>
            <a:b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-. PD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증가 기간 중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MES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이력 확인 결과 이물 불량이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6.6%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를 차지하여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</a:t>
            </a:r>
            <a:r>
              <a:rPr kumimoji="0" lang="en-US" altLang="ko-KR" sz="1200" b="0" i="0" u="none" strike="noStrike" kern="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nd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원인으로 확인됨</a:t>
            </a:r>
            <a:b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-.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이물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불량 이력 확인 시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패키지 </a:t>
            </a:r>
            <a:r>
              <a:rPr kumimoji="0" lang="ko-KR" altLang="en-US" sz="12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기구부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클리닝 이력이 약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66%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이며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 외 용접 및 </a:t>
            </a:r>
            <a:r>
              <a:rPr kumimoji="0" lang="ko-KR" altLang="en-US" sz="12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석션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관련 이물 이력으로 확인되어 용접 이물 개선 필요함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 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A1E59FD-07EE-2BF4-3AE5-73215161C6BD}"/>
              </a:ext>
            </a:extLst>
          </p:cNvPr>
          <p:cNvCxnSpPr>
            <a:cxnSpLocks/>
          </p:cNvCxnSpPr>
          <p:nvPr/>
        </p:nvCxnSpPr>
        <p:spPr>
          <a:xfrm>
            <a:off x="976372" y="1494317"/>
            <a:ext cx="8402524" cy="0"/>
          </a:xfrm>
          <a:prstGeom prst="line">
            <a:avLst/>
          </a:prstGeom>
          <a:noFill/>
          <a:ln w="3175" cap="flat" cmpd="sng" algn="ctr">
            <a:solidFill>
              <a:sysClr val="window" lastClr="FFFFFF">
                <a:lumMod val="65000"/>
              </a:sysClr>
            </a:solidFill>
            <a:prstDash val="dash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EDC337F-3FD8-F649-8FB7-08DE72C3875A}"/>
              </a:ext>
            </a:extLst>
          </p:cNvPr>
          <p:cNvSpPr txBox="1"/>
          <p:nvPr/>
        </p:nvSpPr>
        <p:spPr>
          <a:xfrm>
            <a:off x="7894997" y="1880300"/>
            <a:ext cx="2535761" cy="41177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* PKG </a:t>
            </a: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클리닝 이력은 </a:t>
            </a: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FDC CBM </a:t>
            </a: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활용방안 </a:t>
            </a:r>
            <a:b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</a:t>
            </a: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추가 검토 필요하여 금번 검토에서 제외</a:t>
            </a:r>
            <a:endParaRPr kumimoji="0" lang="en-US" altLang="ko-KR" sz="900" b="0" i="0" u="none" strike="noStrike" kern="0" cap="none" spc="0" normalizeH="0" baseline="0" noProof="0">
              <a:ln>
                <a:noFill/>
              </a:ln>
              <a:solidFill>
                <a:srgbClr val="007F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C6BC738-F787-712C-6C41-C9C9FEA7AA50}"/>
              </a:ext>
            </a:extLst>
          </p:cNvPr>
          <p:cNvGrpSpPr/>
          <p:nvPr/>
        </p:nvGrpSpPr>
        <p:grpSpPr>
          <a:xfrm>
            <a:off x="1080774" y="2794503"/>
            <a:ext cx="1628777" cy="1855492"/>
            <a:chOff x="2988979" y="4391026"/>
            <a:chExt cx="1354617" cy="1971688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2B345D1B-E98F-77F3-3E3D-6F12B7DB72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009" t="18964" r="44404" b="8227"/>
            <a:stretch/>
          </p:blipFill>
          <p:spPr>
            <a:xfrm>
              <a:off x="2988979" y="4391026"/>
              <a:ext cx="1344896" cy="1971688"/>
            </a:xfrm>
            <a:prstGeom prst="rect">
              <a:avLst/>
            </a:prstGeom>
          </p:spPr>
        </p:pic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2E2EE26B-F495-C01B-6E20-42D0BD441F15}"/>
                </a:ext>
              </a:extLst>
            </p:cNvPr>
            <p:cNvSpPr/>
            <p:nvPr/>
          </p:nvSpPr>
          <p:spPr>
            <a:xfrm>
              <a:off x="4197269" y="4893136"/>
              <a:ext cx="146327" cy="10193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FA170DA4-3324-3D06-4936-45CD0C7FD0F9}"/>
              </a:ext>
            </a:extLst>
          </p:cNvPr>
          <p:cNvSpPr txBox="1"/>
          <p:nvPr/>
        </p:nvSpPr>
        <p:spPr>
          <a:xfrm>
            <a:off x="4002003" y="4186121"/>
            <a:ext cx="2362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디스크 </a:t>
            </a:r>
            <a:r>
              <a:rPr kumimoji="0" lang="ko-KR" altLang="en-US" sz="9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이상→에너지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전달 효율 이상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진동 왜곡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)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목표 용접에너지 도달하고자 출력 </a:t>
            </a:r>
            <a:r>
              <a:rPr kumimoji="0" lang="ko-KR" altLang="en-US" sz="9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증가→</a:t>
            </a:r>
            <a:r>
              <a:rPr kumimoji="0" lang="ko-KR" altLang="en-US" sz="900" b="0" i="0" u="sng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과용접</a:t>
            </a:r>
            <a:endParaRPr kumimoji="0" lang="ko-KR" altLang="en-US" sz="900" b="0" i="0" u="sng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B3DD7DFB-DD4B-FCD5-46DF-8E1DB2E97319}"/>
              </a:ext>
            </a:extLst>
          </p:cNvPr>
          <p:cNvGraphicFramePr>
            <a:graphicFrameLocks noGrp="1"/>
          </p:cNvGraphicFramePr>
          <p:nvPr/>
        </p:nvGraphicFramePr>
        <p:xfrm>
          <a:off x="6540736" y="2935499"/>
          <a:ext cx="3164794" cy="8500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7101">
                  <a:extLst>
                    <a:ext uri="{9D8B030D-6E8A-4147-A177-3AD203B41FA5}">
                      <a16:colId xmlns:a16="http://schemas.microsoft.com/office/drawing/2014/main" val="1867588667"/>
                    </a:ext>
                  </a:extLst>
                </a:gridCol>
                <a:gridCol w="2337693">
                  <a:extLst>
                    <a:ext uri="{9D8B030D-6E8A-4147-A177-3AD203B41FA5}">
                      <a16:colId xmlns:a16="http://schemas.microsoft.com/office/drawing/2014/main" val="1860663327"/>
                    </a:ext>
                  </a:extLst>
                </a:gridCol>
              </a:tblGrid>
              <a:tr h="1700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개소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프리웰더</a:t>
                      </a:r>
                      <a:r>
                        <a:rPr lang="ko-KR" altLang="en-US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초음파 </a:t>
                      </a:r>
                      <a:r>
                        <a:rPr lang="ko-KR" altLang="en-US" sz="900" b="1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용접기</a:t>
                      </a:r>
                      <a:endParaRPr lang="ko-KR" altLang="en-US" sz="900" b="1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28263"/>
                  </a:ext>
                </a:extLst>
              </a:tr>
              <a:tr h="1700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데이터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양음극</a:t>
                      </a:r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Peak Power</a:t>
                      </a:r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의 </a:t>
                      </a:r>
                      <a:r>
                        <a:rPr lang="en-US" altLang="ko-KR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분 평균값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0062990"/>
                  </a:ext>
                </a:extLst>
              </a:tr>
              <a:tr h="3400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방식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Moving Avg Target </a:t>
                      </a:r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학습 </a:t>
                      </a:r>
                      <a:r>
                        <a:rPr lang="en-US" altLang="ko-KR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(72 Run)</a:t>
                      </a:r>
                      <a:br>
                        <a:rPr lang="en-US" altLang="ko-KR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lang="en-US" altLang="ko-KR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Target </a:t>
                      </a:r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대비 </a:t>
                      </a:r>
                      <a:r>
                        <a:rPr lang="en-US" altLang="ko-KR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±15% </a:t>
                      </a:r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상하한선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8178207"/>
                  </a:ext>
                </a:extLst>
              </a:tr>
              <a:tr h="1700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알람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 out of 5 Critical</a:t>
                      </a:r>
                      <a:endParaRPr lang="ko-KR" altLang="en-US" sz="9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4402183"/>
                  </a:ext>
                </a:extLst>
              </a:tr>
            </a:tbl>
          </a:graphicData>
        </a:graphic>
      </p:graphicFrame>
      <p:pic>
        <p:nvPicPr>
          <p:cNvPr id="39" name="그림 38">
            <a:extLst>
              <a:ext uri="{FF2B5EF4-FFF2-40B4-BE49-F238E27FC236}">
                <a16:creationId xmlns:a16="http://schemas.microsoft.com/office/drawing/2014/main" id="{3BE8613C-AB7E-3B84-56F2-BEE50CE67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786" y="3888113"/>
            <a:ext cx="1948702" cy="835175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F17C2B43-F07D-E2A2-CD8A-5F01E55B53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7754" y="2909968"/>
            <a:ext cx="1020027" cy="914818"/>
          </a:xfrm>
          <a:prstGeom prst="rect">
            <a:avLst/>
          </a:prstGeom>
        </p:spPr>
      </p:pic>
      <p:grpSp>
        <p:nvGrpSpPr>
          <p:cNvPr id="1924" name="그룹 1923">
            <a:extLst>
              <a:ext uri="{FF2B5EF4-FFF2-40B4-BE49-F238E27FC236}">
                <a16:creationId xmlns:a16="http://schemas.microsoft.com/office/drawing/2014/main" id="{2A59D44F-223A-DFEF-96CF-6DF4C53DAC54}"/>
              </a:ext>
            </a:extLst>
          </p:cNvPr>
          <p:cNvGrpSpPr/>
          <p:nvPr/>
        </p:nvGrpSpPr>
        <p:grpSpPr>
          <a:xfrm>
            <a:off x="2941085" y="2723347"/>
            <a:ext cx="2011916" cy="1168076"/>
            <a:chOff x="2940908" y="2723347"/>
            <a:chExt cx="2241933" cy="1168076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B223151A-711F-3E77-8348-93F3B34949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942616" y="2819330"/>
              <a:ext cx="2240225" cy="10277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E7613F9-6816-22D5-5D42-DE236BB9F43B}"/>
                </a:ext>
              </a:extLst>
            </p:cNvPr>
            <p:cNvSpPr txBox="1"/>
            <p:nvPr/>
          </p:nvSpPr>
          <p:spPr>
            <a:xfrm>
              <a:off x="2940908" y="3134073"/>
              <a:ext cx="5473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변환기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C1608CE-E7F2-6281-1550-C0EA57C99EEC}"/>
                </a:ext>
              </a:extLst>
            </p:cNvPr>
            <p:cNvSpPr txBox="1"/>
            <p:nvPr/>
          </p:nvSpPr>
          <p:spPr>
            <a:xfrm>
              <a:off x="3500496" y="3132503"/>
              <a:ext cx="5473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부스터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EF43895-AB9B-2C35-21C6-0E9F61B8721C}"/>
                </a:ext>
              </a:extLst>
            </p:cNvPr>
            <p:cNvSpPr txBox="1"/>
            <p:nvPr/>
          </p:nvSpPr>
          <p:spPr>
            <a:xfrm>
              <a:off x="4038856" y="3140523"/>
              <a:ext cx="5473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혼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19ADCE9-D68F-6262-A1A4-DBF44390F94E}"/>
                </a:ext>
              </a:extLst>
            </p:cNvPr>
            <p:cNvSpPr txBox="1"/>
            <p:nvPr/>
          </p:nvSpPr>
          <p:spPr>
            <a:xfrm>
              <a:off x="4586177" y="3427739"/>
              <a:ext cx="5473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앤빌</a:t>
              </a:r>
              <a:endPara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A05DEDD-9BD8-039A-8C26-321234572556}"/>
                </a:ext>
              </a:extLst>
            </p:cNvPr>
            <p:cNvSpPr txBox="1"/>
            <p:nvPr/>
          </p:nvSpPr>
          <p:spPr>
            <a:xfrm>
              <a:off x="4017847" y="2723347"/>
              <a:ext cx="5473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FF"/>
                  </a:highlight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디스크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F629870-AB50-27F9-E154-B020E1A0C978}"/>
                </a:ext>
              </a:extLst>
            </p:cNvPr>
            <p:cNvSpPr txBox="1"/>
            <p:nvPr/>
          </p:nvSpPr>
          <p:spPr>
            <a:xfrm>
              <a:off x="3033493" y="3660591"/>
              <a:ext cx="162125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[</a:t>
              </a:r>
              <a:r>
                <a:rPr kumimoji="0" lang="ko-KR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초음파 용접의 </a:t>
              </a:r>
              <a:r>
                <a:rPr kumimoji="0" lang="ko-KR" altLang="en-US" sz="9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스택부</a:t>
              </a:r>
              <a:r>
                <a:rPr kumimoji="0" lang="ko-KR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 구조</a:t>
              </a:r>
              <a:r>
                <a:rPr kumimoji="0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n-cs"/>
                </a:rPr>
                <a:t>]</a:t>
              </a:r>
              <a:endPara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8A511BA3-BD55-EE48-A939-5097F64FEA15}"/>
                </a:ext>
              </a:extLst>
            </p:cNvPr>
            <p:cNvSpPr/>
            <p:nvPr/>
          </p:nvSpPr>
          <p:spPr>
            <a:xfrm>
              <a:off x="4076876" y="2738821"/>
              <a:ext cx="421341" cy="200135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929D4332-DD91-A5DE-1586-B64D80D391A5}"/>
              </a:ext>
            </a:extLst>
          </p:cNvPr>
          <p:cNvCxnSpPr>
            <a:cxnSpLocks/>
            <a:stCxn id="44" idx="3"/>
            <a:endCxn id="43" idx="1"/>
          </p:cNvCxnSpPr>
          <p:nvPr/>
        </p:nvCxnSpPr>
        <p:spPr>
          <a:xfrm>
            <a:off x="4338616" y="2838889"/>
            <a:ext cx="859138" cy="5284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4334538D-29EB-030A-F289-B49A719BD6C9}"/>
              </a:ext>
            </a:extLst>
          </p:cNvPr>
          <p:cNvSpPr txBox="1"/>
          <p:nvPr/>
        </p:nvSpPr>
        <p:spPr>
          <a:xfrm>
            <a:off x="5136508" y="2881092"/>
            <a:ext cx="11160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파손된 디스크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56876CA6-0EBB-F96C-605E-60110B61A6BE}"/>
              </a:ext>
            </a:extLst>
          </p:cNvPr>
          <p:cNvSpPr/>
          <p:nvPr/>
        </p:nvSpPr>
        <p:spPr>
          <a:xfrm>
            <a:off x="2872258" y="4033301"/>
            <a:ext cx="538360" cy="665913"/>
          </a:xfrm>
          <a:prstGeom prst="rect">
            <a:avLst/>
          </a:prstGeom>
          <a:noFill/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77C54DC1-F13F-C4F6-2860-1A0B937C57A3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1737730" y="3077689"/>
            <a:ext cx="1203354" cy="1718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3161D25F-E65D-3568-3581-598AB39F3C56}"/>
              </a:ext>
            </a:extLst>
          </p:cNvPr>
          <p:cNvSpPr/>
          <p:nvPr/>
        </p:nvSpPr>
        <p:spPr>
          <a:xfrm>
            <a:off x="3463027" y="4033301"/>
            <a:ext cx="538360" cy="665913"/>
          </a:xfrm>
          <a:prstGeom prst="rect">
            <a:avLst/>
          </a:prstGeom>
          <a:noFill/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253E1CED-05C4-F8FF-3018-94A8A487824F}"/>
              </a:ext>
            </a:extLst>
          </p:cNvPr>
          <p:cNvSpPr/>
          <p:nvPr/>
        </p:nvSpPr>
        <p:spPr>
          <a:xfrm>
            <a:off x="4052512" y="4033301"/>
            <a:ext cx="2253624" cy="665913"/>
          </a:xfrm>
          <a:prstGeom prst="rect">
            <a:avLst/>
          </a:prstGeom>
          <a:noFill/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8F99048-CC84-2666-C0E1-91D84ADE1E93}"/>
              </a:ext>
            </a:extLst>
          </p:cNvPr>
          <p:cNvSpPr txBox="1"/>
          <p:nvPr/>
        </p:nvSpPr>
        <p:spPr>
          <a:xfrm>
            <a:off x="2883946" y="3925208"/>
            <a:ext cx="5473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AEAEA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변환기</a:t>
            </a:r>
          </a:p>
        </p:txBody>
      </p:sp>
      <p:sp>
        <p:nvSpPr>
          <p:cNvPr id="1920" name="TextBox 1919">
            <a:extLst>
              <a:ext uri="{FF2B5EF4-FFF2-40B4-BE49-F238E27FC236}">
                <a16:creationId xmlns:a16="http://schemas.microsoft.com/office/drawing/2014/main" id="{A17CA86B-54B7-4C29-E665-1F758F3A43E2}"/>
              </a:ext>
            </a:extLst>
          </p:cNvPr>
          <p:cNvSpPr txBox="1"/>
          <p:nvPr/>
        </p:nvSpPr>
        <p:spPr>
          <a:xfrm>
            <a:off x="3495530" y="3925468"/>
            <a:ext cx="5473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AEAEA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부스터</a:t>
            </a:r>
          </a:p>
        </p:txBody>
      </p:sp>
      <p:sp>
        <p:nvSpPr>
          <p:cNvPr id="1921" name="TextBox 1920">
            <a:extLst>
              <a:ext uri="{FF2B5EF4-FFF2-40B4-BE49-F238E27FC236}">
                <a16:creationId xmlns:a16="http://schemas.microsoft.com/office/drawing/2014/main" id="{24B98185-E59F-3A02-C29A-091160418DAD}"/>
              </a:ext>
            </a:extLst>
          </p:cNvPr>
          <p:cNvSpPr txBox="1"/>
          <p:nvPr/>
        </p:nvSpPr>
        <p:spPr>
          <a:xfrm>
            <a:off x="2889185" y="4138846"/>
            <a:ext cx="48557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전기</a:t>
            </a: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E</a:t>
            </a:r>
            <a:b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↓</a:t>
            </a:r>
            <a:b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진동</a:t>
            </a:r>
          </a:p>
        </p:txBody>
      </p:sp>
      <p:sp>
        <p:nvSpPr>
          <p:cNvPr id="1922" name="TextBox 1921">
            <a:extLst>
              <a:ext uri="{FF2B5EF4-FFF2-40B4-BE49-F238E27FC236}">
                <a16:creationId xmlns:a16="http://schemas.microsoft.com/office/drawing/2014/main" id="{3F5CAFCE-8BA2-3809-262A-7AAE042D2E65}"/>
              </a:ext>
            </a:extLst>
          </p:cNvPr>
          <p:cNvSpPr txBox="1"/>
          <p:nvPr/>
        </p:nvSpPr>
        <p:spPr>
          <a:xfrm>
            <a:off x="3379792" y="4127438"/>
            <a:ext cx="713816" cy="485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진동</a:t>
            </a: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증폭</a:t>
            </a:r>
            <a:b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</a:b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혼에 전달</a:t>
            </a:r>
          </a:p>
        </p:txBody>
      </p:sp>
      <p:sp>
        <p:nvSpPr>
          <p:cNvPr id="1923" name="TextBox 1922">
            <a:extLst>
              <a:ext uri="{FF2B5EF4-FFF2-40B4-BE49-F238E27FC236}">
                <a16:creationId xmlns:a16="http://schemas.microsoft.com/office/drawing/2014/main" id="{9DE1AAFD-44C0-C2F4-1E92-A88D5A1D8D55}"/>
              </a:ext>
            </a:extLst>
          </p:cNvPr>
          <p:cNvSpPr txBox="1"/>
          <p:nvPr/>
        </p:nvSpPr>
        <p:spPr>
          <a:xfrm>
            <a:off x="4029279" y="3925208"/>
            <a:ext cx="5473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EAEAEA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디스크</a:t>
            </a:r>
          </a:p>
        </p:txBody>
      </p:sp>
      <p:sp>
        <p:nvSpPr>
          <p:cNvPr id="1927" name="TextBox 1926">
            <a:extLst>
              <a:ext uri="{FF2B5EF4-FFF2-40B4-BE49-F238E27FC236}">
                <a16:creationId xmlns:a16="http://schemas.microsoft.com/office/drawing/2014/main" id="{1EBEBE96-D06D-509E-065E-77BF28902025}"/>
              </a:ext>
            </a:extLst>
          </p:cNvPr>
          <p:cNvSpPr txBox="1"/>
          <p:nvPr/>
        </p:nvSpPr>
        <p:spPr>
          <a:xfrm>
            <a:off x="8445641" y="4192789"/>
            <a:ext cx="1479409" cy="57515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* #2-2 PKG </a:t>
            </a:r>
            <a:r>
              <a:rPr kumimoji="0" lang="ko-KR" altLang="en-US" sz="900" b="0" i="0" u="none" strike="noStrike" kern="0" cap="none" spc="0" normalizeH="0" baseline="0" noProof="0" err="1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프리웰더</a:t>
            </a: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900" b="0" i="0" u="none" strike="noStrike" kern="0" cap="none" spc="0" normalizeH="0" baseline="0" noProof="0" err="1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용접기</a:t>
            </a:r>
            <a:endParaRPr kumimoji="0" lang="en-US" altLang="ko-KR" sz="900" b="0" i="0" u="none" strike="noStrike" kern="0" cap="none" spc="0" normalizeH="0" baseline="0" noProof="0">
              <a:ln>
                <a:noFill/>
              </a:ln>
              <a:solidFill>
                <a:srgbClr val="007F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</a:t>
            </a: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피크파워 이상감지 로직</a:t>
            </a:r>
            <a:b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(‘26/7/24~26/7/26)</a:t>
            </a:r>
          </a:p>
        </p:txBody>
      </p:sp>
      <p:sp>
        <p:nvSpPr>
          <p:cNvPr id="1928" name="TextBox 1927">
            <a:extLst>
              <a:ext uri="{FF2B5EF4-FFF2-40B4-BE49-F238E27FC236}">
                <a16:creationId xmlns:a16="http://schemas.microsoft.com/office/drawing/2014/main" id="{6B92CF88-104D-84A8-BC01-D4CCCE12D636}"/>
              </a:ext>
            </a:extLst>
          </p:cNvPr>
          <p:cNvSpPr txBox="1"/>
          <p:nvPr/>
        </p:nvSpPr>
        <p:spPr>
          <a:xfrm>
            <a:off x="6661060" y="4617233"/>
            <a:ext cx="429539" cy="19499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7/25</a:t>
            </a:r>
          </a:p>
        </p:txBody>
      </p:sp>
      <p:sp>
        <p:nvSpPr>
          <p:cNvPr id="1929" name="TextBox 1928">
            <a:extLst>
              <a:ext uri="{FF2B5EF4-FFF2-40B4-BE49-F238E27FC236}">
                <a16:creationId xmlns:a16="http://schemas.microsoft.com/office/drawing/2014/main" id="{D7D79DB3-D77D-D8D2-4CB4-F0D9827B69DF}"/>
              </a:ext>
            </a:extLst>
          </p:cNvPr>
          <p:cNvSpPr txBox="1"/>
          <p:nvPr/>
        </p:nvSpPr>
        <p:spPr>
          <a:xfrm>
            <a:off x="7465458" y="4617233"/>
            <a:ext cx="429539" cy="19499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7/26</a:t>
            </a:r>
          </a:p>
        </p:txBody>
      </p:sp>
      <p:sp>
        <p:nvSpPr>
          <p:cNvPr id="1931" name="TextBox 1930">
            <a:extLst>
              <a:ext uri="{FF2B5EF4-FFF2-40B4-BE49-F238E27FC236}">
                <a16:creationId xmlns:a16="http://schemas.microsoft.com/office/drawing/2014/main" id="{F15D662D-B139-7124-9777-B70E277B29A9}"/>
              </a:ext>
            </a:extLst>
          </p:cNvPr>
          <p:cNvSpPr txBox="1"/>
          <p:nvPr/>
        </p:nvSpPr>
        <p:spPr>
          <a:xfrm>
            <a:off x="8253516" y="4616984"/>
            <a:ext cx="429539" cy="19499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7/27</a:t>
            </a:r>
          </a:p>
        </p:txBody>
      </p:sp>
      <p:sp>
        <p:nvSpPr>
          <p:cNvPr id="1932" name="TextBox 1931">
            <a:extLst>
              <a:ext uri="{FF2B5EF4-FFF2-40B4-BE49-F238E27FC236}">
                <a16:creationId xmlns:a16="http://schemas.microsoft.com/office/drawing/2014/main" id="{F604047F-EB1A-5CC4-E0E6-C3678B1DB683}"/>
              </a:ext>
            </a:extLst>
          </p:cNvPr>
          <p:cNvSpPr txBox="1"/>
          <p:nvPr/>
        </p:nvSpPr>
        <p:spPr>
          <a:xfrm>
            <a:off x="6365665" y="3903800"/>
            <a:ext cx="429539" cy="19499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1100</a:t>
            </a:r>
          </a:p>
        </p:txBody>
      </p:sp>
      <p:sp>
        <p:nvSpPr>
          <p:cNvPr id="1933" name="TextBox 1932">
            <a:extLst>
              <a:ext uri="{FF2B5EF4-FFF2-40B4-BE49-F238E27FC236}">
                <a16:creationId xmlns:a16="http://schemas.microsoft.com/office/drawing/2014/main" id="{55A5E674-3499-6F48-D8CC-BE5F5740D1F3}"/>
              </a:ext>
            </a:extLst>
          </p:cNvPr>
          <p:cNvSpPr txBox="1"/>
          <p:nvPr/>
        </p:nvSpPr>
        <p:spPr>
          <a:xfrm>
            <a:off x="6362398" y="4061844"/>
            <a:ext cx="429539" cy="19499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1000</a:t>
            </a:r>
          </a:p>
        </p:txBody>
      </p:sp>
      <p:sp>
        <p:nvSpPr>
          <p:cNvPr id="1934" name="TextBox 1933">
            <a:extLst>
              <a:ext uri="{FF2B5EF4-FFF2-40B4-BE49-F238E27FC236}">
                <a16:creationId xmlns:a16="http://schemas.microsoft.com/office/drawing/2014/main" id="{8649D702-86F4-5406-5023-6D206EAFA760}"/>
              </a:ext>
            </a:extLst>
          </p:cNvPr>
          <p:cNvSpPr txBox="1"/>
          <p:nvPr/>
        </p:nvSpPr>
        <p:spPr>
          <a:xfrm>
            <a:off x="6410123" y="4212903"/>
            <a:ext cx="429539" cy="19499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900</a:t>
            </a:r>
          </a:p>
        </p:txBody>
      </p:sp>
      <p:sp>
        <p:nvSpPr>
          <p:cNvPr id="1935" name="TextBox 1934">
            <a:extLst>
              <a:ext uri="{FF2B5EF4-FFF2-40B4-BE49-F238E27FC236}">
                <a16:creationId xmlns:a16="http://schemas.microsoft.com/office/drawing/2014/main" id="{9D672710-24C0-64BA-BEF2-AF33F5DCB0FB}"/>
              </a:ext>
            </a:extLst>
          </p:cNvPr>
          <p:cNvSpPr txBox="1"/>
          <p:nvPr/>
        </p:nvSpPr>
        <p:spPr>
          <a:xfrm>
            <a:off x="6407224" y="4371545"/>
            <a:ext cx="429539" cy="19499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800</a:t>
            </a:r>
          </a:p>
        </p:txBody>
      </p:sp>
      <p:sp>
        <p:nvSpPr>
          <p:cNvPr id="1936" name="TextBox 1935">
            <a:extLst>
              <a:ext uri="{FF2B5EF4-FFF2-40B4-BE49-F238E27FC236}">
                <a16:creationId xmlns:a16="http://schemas.microsoft.com/office/drawing/2014/main" id="{E89FA081-67B6-F13D-1536-7CC3DA06D4B3}"/>
              </a:ext>
            </a:extLst>
          </p:cNvPr>
          <p:cNvSpPr txBox="1"/>
          <p:nvPr/>
        </p:nvSpPr>
        <p:spPr>
          <a:xfrm>
            <a:off x="6407224" y="4524257"/>
            <a:ext cx="429539" cy="19499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700</a:t>
            </a:r>
          </a:p>
        </p:txBody>
      </p:sp>
      <p:sp>
        <p:nvSpPr>
          <p:cNvPr id="1939" name="폭발: 8pt 1938">
            <a:extLst>
              <a:ext uri="{FF2B5EF4-FFF2-40B4-BE49-F238E27FC236}">
                <a16:creationId xmlns:a16="http://schemas.microsoft.com/office/drawing/2014/main" id="{192376AF-0C8B-40AE-0F7D-E7D06759AD09}"/>
              </a:ext>
            </a:extLst>
          </p:cNvPr>
          <p:cNvSpPr/>
          <p:nvPr/>
        </p:nvSpPr>
        <p:spPr>
          <a:xfrm>
            <a:off x="7591425" y="3958228"/>
            <a:ext cx="88490" cy="111268"/>
          </a:xfrm>
          <a:prstGeom prst="irregularSeal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40" name="TextBox 1939">
            <a:extLst>
              <a:ext uri="{FF2B5EF4-FFF2-40B4-BE49-F238E27FC236}">
                <a16:creationId xmlns:a16="http://schemas.microsoft.com/office/drawing/2014/main" id="{20819E41-F21E-5FF2-EE51-A4AAC9F77D71}"/>
              </a:ext>
            </a:extLst>
          </p:cNvPr>
          <p:cNvSpPr txBox="1"/>
          <p:nvPr/>
        </p:nvSpPr>
        <p:spPr>
          <a:xfrm>
            <a:off x="1258449" y="2767090"/>
            <a:ext cx="49116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초음파 </a:t>
            </a:r>
            <a:r>
              <a:rPr kumimoji="0" lang="ko-KR" altLang="en-US" sz="9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용접기</a:t>
            </a:r>
            <a:endParaRPr kumimoji="0" lang="ko-KR" altLang="en-US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FF"/>
              </a:highlight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42" name="사각형: 둥근 모서리 1941">
            <a:extLst>
              <a:ext uri="{FF2B5EF4-FFF2-40B4-BE49-F238E27FC236}">
                <a16:creationId xmlns:a16="http://schemas.microsoft.com/office/drawing/2014/main" id="{E71FFF01-0AFC-C0B0-E7BA-468F16D681A3}"/>
              </a:ext>
            </a:extLst>
          </p:cNvPr>
          <p:cNvSpPr/>
          <p:nvPr/>
        </p:nvSpPr>
        <p:spPr>
          <a:xfrm>
            <a:off x="1258475" y="2773475"/>
            <a:ext cx="491167" cy="36704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40F76C3-938C-54EF-CD45-E688F8D2B9A0}"/>
              </a:ext>
            </a:extLst>
          </p:cNvPr>
          <p:cNvSpPr/>
          <p:nvPr/>
        </p:nvSpPr>
        <p:spPr>
          <a:xfrm>
            <a:off x="254248" y="481793"/>
            <a:ext cx="10010340" cy="64055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marR="0" lvl="0" indent="0" algn="l" defTabSz="844104" rtl="0" eaLnBrk="1" fontAlgn="auto" latinLnBrk="0" hangingPunct="1">
              <a:lnSpc>
                <a:spcPct val="120000"/>
              </a:lnSpc>
              <a:spcBef>
                <a:spcPts val="201"/>
              </a:spcBef>
              <a:spcAft>
                <a:spcPts val="201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PKG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 공정의 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8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월 중 불량 검토 결과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, PD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의 증가 추세에 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2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차로 영향을 미친 요인이 이물 불량으로 확인되며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, </a:t>
            </a:r>
            <a:b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</a:b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과용접에 의해 발생하는 이물을 방지해 이물 불량 개선하고자 초음파 </a:t>
            </a:r>
            <a:r>
              <a:rPr kumimoji="0" lang="ko-KR" altLang="en-US" sz="16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용접기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 피크파워 이상감지를 신규 적용함</a:t>
            </a:r>
            <a:endParaRPr kumimoji="0" lang="en-US" altLang="ko-KR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굴림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8FFA6F-5940-54FE-4C32-270D1713E2B6}"/>
              </a:ext>
            </a:extLst>
          </p:cNvPr>
          <p:cNvSpPr txBox="1"/>
          <p:nvPr/>
        </p:nvSpPr>
        <p:spPr>
          <a:xfrm>
            <a:off x="1180534" y="372990"/>
            <a:ext cx="2314996" cy="24558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8.17~8.26 </a:t>
            </a:r>
            <a:r>
              <a:rPr kumimoji="0" lang="ko-KR" altLang="en-US" sz="900" b="1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중 </a:t>
            </a: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MES </a:t>
            </a:r>
            <a:r>
              <a:rPr kumimoji="0" lang="ko-KR" altLang="en-US" sz="900" b="1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이력 및 </a:t>
            </a: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SPC </a:t>
            </a:r>
            <a:r>
              <a:rPr kumimoji="0" lang="ko-KR" altLang="en-US" sz="900" b="1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데이터  분석</a:t>
            </a:r>
            <a:endParaRPr kumimoji="0" lang="en-US" altLang="ko-KR" sz="900" b="1" i="0" u="none" strike="noStrike" kern="0" cap="none" spc="0" normalizeH="0" baseline="0" noProof="0">
              <a:ln>
                <a:noFill/>
              </a:ln>
              <a:solidFill>
                <a:srgbClr val="007F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" name="Text Box 41">
            <a:extLst>
              <a:ext uri="{FF2B5EF4-FFF2-40B4-BE49-F238E27FC236}">
                <a16:creationId xmlns:a16="http://schemas.microsoft.com/office/drawing/2014/main" id="{D1929EC4-30AC-B0ED-93F0-DA4400664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8627" y="185769"/>
            <a:ext cx="607539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조립</a:t>
            </a:r>
            <a:r>
              <a:rPr kumimoji="1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FDC</a:t>
            </a:r>
            <a:r>
              <a:rPr kumimoji="1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팀</a:t>
            </a:r>
            <a:endParaRPr kumimoji="0" lang="en-US" altLang="ko-KR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" name="실행 단추: 홈으로 이동 8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70EB6674-155B-BFCE-587F-8C24F657DBBC}"/>
              </a:ext>
            </a:extLst>
          </p:cNvPr>
          <p:cNvSpPr/>
          <p:nvPr/>
        </p:nvSpPr>
        <p:spPr>
          <a:xfrm>
            <a:off x="9605012" y="161209"/>
            <a:ext cx="211279" cy="211279"/>
          </a:xfrm>
          <a:prstGeom prst="actionButtonHom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554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05" name="직선 연결선 1704">
            <a:extLst>
              <a:ext uri="{FF2B5EF4-FFF2-40B4-BE49-F238E27FC236}">
                <a16:creationId xmlns:a16="http://schemas.microsoft.com/office/drawing/2014/main" id="{8BD8528C-0859-B973-5AFC-AFAF7A851B62}"/>
              </a:ext>
            </a:extLst>
          </p:cNvPr>
          <p:cNvCxnSpPr>
            <a:cxnSpLocks/>
          </p:cNvCxnSpPr>
          <p:nvPr/>
        </p:nvCxnSpPr>
        <p:spPr>
          <a:xfrm>
            <a:off x="976372" y="4821510"/>
            <a:ext cx="8402526" cy="0"/>
          </a:xfrm>
          <a:prstGeom prst="line">
            <a:avLst/>
          </a:prstGeom>
          <a:noFill/>
          <a:ln w="3175" cap="flat" cmpd="sng" algn="ctr">
            <a:solidFill>
              <a:sysClr val="window" lastClr="FFFFFF">
                <a:lumMod val="65000"/>
              </a:sysClr>
            </a:solidFill>
            <a:prstDash val="dash"/>
          </a:ln>
          <a:effectLst/>
        </p:spPr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2801654-08BC-4A63-9CD5-0B4F540E8B14}"/>
              </a:ext>
            </a:extLst>
          </p:cNvPr>
          <p:cNvSpPr/>
          <p:nvPr/>
        </p:nvSpPr>
        <p:spPr>
          <a:xfrm>
            <a:off x="229614" y="1145020"/>
            <a:ext cx="648000" cy="291002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목표</a:t>
            </a:r>
            <a:endParaRPr kumimoji="0" lang="en-US" altLang="ko-KR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DE6958F-40A2-7B7F-2C07-AC06A272AC3A}"/>
              </a:ext>
            </a:extLst>
          </p:cNvPr>
          <p:cNvSpPr/>
          <p:nvPr/>
        </p:nvSpPr>
        <p:spPr>
          <a:xfrm>
            <a:off x="229614" y="6252957"/>
            <a:ext cx="648000" cy="505275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향후</a:t>
            </a:r>
            <a:endParaRPr kumimoji="0" lang="en-US" altLang="ko-KR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계획</a:t>
            </a:r>
            <a:endParaRPr kumimoji="0" lang="en-US" altLang="ko-KR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EA931BD-6EB2-8395-1816-A868B917884B}"/>
              </a:ext>
            </a:extLst>
          </p:cNvPr>
          <p:cNvCxnSpPr>
            <a:cxnSpLocks/>
          </p:cNvCxnSpPr>
          <p:nvPr/>
        </p:nvCxnSpPr>
        <p:spPr bwMode="auto">
          <a:xfrm>
            <a:off x="233551" y="404664"/>
            <a:ext cx="7920000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94755C4-B338-290E-BB54-70EB11D61743}"/>
              </a:ext>
            </a:extLst>
          </p:cNvPr>
          <p:cNvSpPr txBox="1"/>
          <p:nvPr/>
        </p:nvSpPr>
        <p:spPr>
          <a:xfrm>
            <a:off x="1038092" y="1139401"/>
            <a:ext cx="8404998" cy="2966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88902" marR="0" lvl="0" indent="-88902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[’26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년</a:t>
            </a: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] ESOT PKG </a:t>
            </a:r>
            <a:r>
              <a:rPr kumimoji="0" lang="ko-KR" altLang="en-US" sz="1200" b="1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프리웰더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200" b="1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석션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유량 이상 기인 </a:t>
            </a: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PD Loss(Particle)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및 이물 불량 개선</a:t>
            </a:r>
            <a:endParaRPr kumimoji="0" lang="en-US" altLang="ko-KR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EBB506-F893-2C5D-E837-1D8AC204EBD7}"/>
              </a:ext>
            </a:extLst>
          </p:cNvPr>
          <p:cNvSpPr txBox="1"/>
          <p:nvPr/>
        </p:nvSpPr>
        <p:spPr>
          <a:xfrm>
            <a:off x="1038092" y="1533408"/>
            <a:ext cx="8953216" cy="95763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88902" marR="0" lvl="0" indent="-88902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OT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법인 </a:t>
            </a: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8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중순 </a:t>
            </a: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MES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분석 결과</a:t>
            </a: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PKG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공정 </a:t>
            </a: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PD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의 </a:t>
            </a: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Top 2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불량 원인이 이물</a:t>
            </a: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불량으로 확인되어 개선이 필요함</a:t>
            </a:r>
            <a:b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-. PKG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공정의 일 별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MES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중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PD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비율 확인 결과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8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17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1.8%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에서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8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23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일에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7.2%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까지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배 증가함</a:t>
            </a:r>
            <a:b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-. PD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증가 기간 중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MES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이력 확인 결과 이물 불량이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6.6%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를 차지하여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</a:t>
            </a:r>
            <a:r>
              <a:rPr kumimoji="0" lang="en-US" altLang="ko-KR" sz="1200" b="0" i="0" u="none" strike="noStrike" kern="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nd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원인으로 확인됨</a:t>
            </a:r>
            <a:b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 -.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이물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불량 이력 확인 시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패키지 </a:t>
            </a:r>
            <a:r>
              <a:rPr kumimoji="0" lang="ko-KR" altLang="en-US" sz="12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기구부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클리닝 이력이 약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66%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이며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그 외 용접 및 </a:t>
            </a:r>
            <a:r>
              <a:rPr kumimoji="0" lang="ko-KR" altLang="en-US" sz="12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석션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관련 이물 이력으로 확인되어 </a:t>
            </a:r>
            <a:r>
              <a:rPr kumimoji="0" lang="ko-KR" altLang="en-US" sz="12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석션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관리가 필요함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. </a:t>
            </a:r>
          </a:p>
        </p:txBody>
      </p:sp>
      <p:cxnSp>
        <p:nvCxnSpPr>
          <p:cNvPr id="1941" name="직선 연결선 1940">
            <a:extLst>
              <a:ext uri="{FF2B5EF4-FFF2-40B4-BE49-F238E27FC236}">
                <a16:creationId xmlns:a16="http://schemas.microsoft.com/office/drawing/2014/main" id="{D363FE3B-3270-298D-19AA-C674587131FF}"/>
              </a:ext>
            </a:extLst>
          </p:cNvPr>
          <p:cNvCxnSpPr>
            <a:cxnSpLocks/>
          </p:cNvCxnSpPr>
          <p:nvPr/>
        </p:nvCxnSpPr>
        <p:spPr>
          <a:xfrm>
            <a:off x="976372" y="6220945"/>
            <a:ext cx="8402526" cy="0"/>
          </a:xfrm>
          <a:prstGeom prst="line">
            <a:avLst/>
          </a:prstGeom>
          <a:noFill/>
          <a:ln w="3175" cap="flat" cmpd="sng" algn="ctr">
            <a:solidFill>
              <a:sysClr val="window" lastClr="FFFFFF">
                <a:lumMod val="65000"/>
              </a:sysClr>
            </a:solidFill>
            <a:prstDash val="dash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F93CB8E-A0ED-A7DD-4A9A-1F6391230178}"/>
              </a:ext>
            </a:extLst>
          </p:cNvPr>
          <p:cNvSpPr txBox="1"/>
          <p:nvPr/>
        </p:nvSpPr>
        <p:spPr>
          <a:xfrm>
            <a:off x="1108572" y="6343240"/>
            <a:ext cx="8696974" cy="2966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88902" marR="0" lvl="0" indent="-88902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b="1" i="0" u="none" strike="noStrike" kern="0" cap="none" spc="-10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프리웰더</a:t>
            </a:r>
            <a:r>
              <a:rPr kumimoji="0" lang="ko-KR" altLang="en-US" sz="1200" b="1" i="0" u="none" strike="noStrike" kern="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200" b="1" i="0" u="none" strike="noStrike" kern="0" cap="none" spc="-10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석션</a:t>
            </a:r>
            <a:r>
              <a:rPr kumimoji="0" lang="ko-KR" altLang="en-US" sz="1200" b="1" i="0" u="none" strike="noStrike" kern="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및 </a:t>
            </a:r>
            <a:r>
              <a:rPr kumimoji="0" lang="ko-KR" altLang="en-US" sz="1200" b="1" i="0" u="none" strike="noStrike" kern="0" cap="none" spc="-10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블로워</a:t>
            </a:r>
            <a:r>
              <a:rPr kumimoji="0" lang="ko-KR" altLang="en-US" sz="1200" b="1" i="0" u="none" strike="noStrike" kern="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유량 데이터 분석 및 알고리즘 신규 개발 적용 </a:t>
            </a:r>
            <a:r>
              <a:rPr kumimoji="0" lang="en-US" altLang="ko-KR" sz="1200" b="1" i="0" u="none" strike="noStrike" kern="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(~9</a:t>
            </a:r>
            <a:r>
              <a:rPr kumimoji="0" lang="ko-KR" altLang="en-US" sz="1200" b="1" i="0" u="none" strike="noStrike" kern="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월</a:t>
            </a:r>
            <a:r>
              <a:rPr kumimoji="0" lang="en-US" altLang="ko-KR" sz="1200" b="1" i="0" u="none" strike="noStrike" kern="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7472536-5491-F549-8DC1-FE8E1752B952}"/>
              </a:ext>
            </a:extLst>
          </p:cNvPr>
          <p:cNvSpPr txBox="1"/>
          <p:nvPr/>
        </p:nvSpPr>
        <p:spPr>
          <a:xfrm>
            <a:off x="1271916" y="5627848"/>
            <a:ext cx="843361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【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이상감지 방안 검토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】 ESOT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양산라인 불량 이력 대상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 ~26.9.11 )</a:t>
            </a: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-. SPC+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및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MES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이물 불량 이력에 대해 </a:t>
            </a:r>
            <a:r>
              <a:rPr kumimoji="0" lang="ko-KR" alt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프리웰더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석션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유량을 분석하여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유량 이상에 의한 이물 불량을 방지하기 위한 알고리즘 검토 중임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2A38C0A-13D2-8643-C657-DA3135F046CD}"/>
              </a:ext>
            </a:extLst>
          </p:cNvPr>
          <p:cNvSpPr/>
          <p:nvPr/>
        </p:nvSpPr>
        <p:spPr>
          <a:xfrm>
            <a:off x="229614" y="4880605"/>
            <a:ext cx="648000" cy="1269234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진행</a:t>
            </a:r>
            <a:endParaRPr kumimoji="0" lang="en-US" altLang="ko-KR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현황</a:t>
            </a:r>
            <a:endParaRPr kumimoji="0" lang="en-US" altLang="ko-KR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CA276204-33F0-6CCC-0F4D-6569C13D8535}"/>
              </a:ext>
            </a:extLst>
          </p:cNvPr>
          <p:cNvSpPr/>
          <p:nvPr/>
        </p:nvSpPr>
        <p:spPr>
          <a:xfrm>
            <a:off x="1080774" y="4959684"/>
            <a:ext cx="162000" cy="16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</a:t>
            </a:r>
            <a:endParaRPr kumimoji="0" lang="ko-KR" altLang="en-US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8478E0E-CC77-2A02-2FDF-20ECAA4791A4}"/>
              </a:ext>
            </a:extLst>
          </p:cNvPr>
          <p:cNvSpPr txBox="1"/>
          <p:nvPr/>
        </p:nvSpPr>
        <p:spPr>
          <a:xfrm>
            <a:off x="1271388" y="4870566"/>
            <a:ext cx="8506148" cy="70089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【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문제 현상 및 데이터 연결 현황 파악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】 (~26.8.31)</a:t>
            </a:r>
            <a:b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-. PKG </a:t>
            </a:r>
            <a:r>
              <a: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공정 내 이물 누적을 방지하기 위한 </a:t>
            </a:r>
            <a:r>
              <a:rPr kumimoji="0" lang="ko-KR" altLang="en-US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석션</a:t>
            </a:r>
            <a:r>
              <a:rPr kumimoji="0" lang="en-US" altLang="ko-KR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프리웰더</a:t>
            </a:r>
            <a:r>
              <a:rPr kumimoji="0" lang="en-US" altLang="ko-KR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메인 </a:t>
            </a:r>
            <a:r>
              <a:rPr kumimoji="0" lang="ko-KR" altLang="en-US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웰더</a:t>
            </a:r>
            <a:r>
              <a:rPr kumimoji="0" lang="en-US" altLang="ko-KR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탭 커터 개소</a:t>
            </a:r>
            <a:r>
              <a:rPr kumimoji="0" lang="en-US" altLang="ko-KR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 </a:t>
            </a:r>
            <a:r>
              <a: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중 </a:t>
            </a:r>
            <a:r>
              <a:rPr kumimoji="0" lang="en-US" altLang="ko-KR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FDC </a:t>
            </a:r>
            <a:r>
              <a: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이상감지 적용 현황 검토하여</a:t>
            </a:r>
            <a:r>
              <a:rPr kumimoji="0" lang="en-US" altLang="ko-KR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미관리</a:t>
            </a:r>
            <a:r>
              <a: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개소를 발굴함</a:t>
            </a:r>
            <a:endParaRPr kumimoji="0" lang="en-US" altLang="ko-KR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-. </a:t>
            </a:r>
            <a:r>
              <a: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데이터 확인 결과 </a:t>
            </a:r>
            <a:r>
              <a:rPr kumimoji="0" lang="ko-KR" altLang="en-US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프리웰더</a:t>
            </a:r>
            <a:r>
              <a: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상</a:t>
            </a:r>
            <a:r>
              <a:rPr kumimoji="0" lang="en-US" altLang="ko-KR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하부에 대한 </a:t>
            </a:r>
            <a:r>
              <a:rPr kumimoji="0" lang="ko-KR" altLang="en-US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석션</a:t>
            </a:r>
            <a:r>
              <a: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유량 및 </a:t>
            </a:r>
            <a:r>
              <a:rPr kumimoji="0" lang="ko-KR" altLang="en-US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블로워</a:t>
            </a:r>
            <a:r>
              <a: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유량이 정상 수집되어 이상감지 개발 시 활용 가능함</a:t>
            </a:r>
            <a:r>
              <a:rPr kumimoji="0" lang="en-US" altLang="ko-KR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en-US" altLang="ko-KR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B4DCEFCA-0026-32E1-D6EC-356E47463F98}"/>
              </a:ext>
            </a:extLst>
          </p:cNvPr>
          <p:cNvSpPr/>
          <p:nvPr/>
        </p:nvSpPr>
        <p:spPr>
          <a:xfrm>
            <a:off x="1090569" y="5662046"/>
            <a:ext cx="162000" cy="16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</a:t>
            </a:r>
            <a:endParaRPr kumimoji="0" lang="ko-KR" altLang="en-US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8B934534-D339-66D5-89E7-1AD1A0FB9346}"/>
              </a:ext>
            </a:extLst>
          </p:cNvPr>
          <p:cNvSpPr/>
          <p:nvPr/>
        </p:nvSpPr>
        <p:spPr>
          <a:xfrm>
            <a:off x="229614" y="1539142"/>
            <a:ext cx="648000" cy="879843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배경</a:t>
            </a:r>
            <a:endParaRPr kumimoji="0" lang="en-US" altLang="ko-KR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0F2BA24F-3E10-26AA-881D-14C831402D2A}"/>
              </a:ext>
            </a:extLst>
          </p:cNvPr>
          <p:cNvCxnSpPr>
            <a:cxnSpLocks/>
          </p:cNvCxnSpPr>
          <p:nvPr/>
        </p:nvCxnSpPr>
        <p:spPr>
          <a:xfrm>
            <a:off x="976372" y="1494317"/>
            <a:ext cx="8402524" cy="0"/>
          </a:xfrm>
          <a:prstGeom prst="line">
            <a:avLst/>
          </a:prstGeom>
          <a:noFill/>
          <a:ln w="3175" cap="flat" cmpd="sng" algn="ctr">
            <a:solidFill>
              <a:sysClr val="window" lastClr="FFFFFF">
                <a:lumMod val="65000"/>
              </a:sysClr>
            </a:solidFill>
            <a:prstDash val="dash"/>
          </a:ln>
          <a:effectLst/>
        </p:spPr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BCE2AB3-0893-2134-C9A5-4803424230A4}"/>
              </a:ext>
            </a:extLst>
          </p:cNvPr>
          <p:cNvSpPr/>
          <p:nvPr/>
        </p:nvSpPr>
        <p:spPr>
          <a:xfrm>
            <a:off x="6856000" y="2522107"/>
            <a:ext cx="26712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PKG </a:t>
            </a:r>
            <a:r>
              <a:rPr kumimoji="0" lang="ko-KR" altLang="en-US" sz="9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프리웰더</a:t>
            </a: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9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석션</a:t>
            </a: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유량 이상감지 적용 방향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74" name="사각형: 둥근 모서리 1673">
            <a:extLst>
              <a:ext uri="{FF2B5EF4-FFF2-40B4-BE49-F238E27FC236}">
                <a16:creationId xmlns:a16="http://schemas.microsoft.com/office/drawing/2014/main" id="{F58F0EA2-A3AD-3C4C-CC93-FE8A3E908AD1}"/>
              </a:ext>
            </a:extLst>
          </p:cNvPr>
          <p:cNvSpPr/>
          <p:nvPr/>
        </p:nvSpPr>
        <p:spPr>
          <a:xfrm>
            <a:off x="1158136" y="2525319"/>
            <a:ext cx="5551200" cy="1800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PKG </a:t>
            </a: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공정 내 이물 관리를 위한 </a:t>
            </a:r>
            <a:r>
              <a:rPr kumimoji="0" lang="ko-KR" altLang="en-US" sz="9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석션</a:t>
            </a: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종류 및 이상감지 현황</a:t>
            </a:r>
            <a:endParaRPr kumimoji="0" lang="ko-KR" altLang="en-US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744C9D1-D0C1-EACC-9960-6A2D01ECBED8}"/>
              </a:ext>
            </a:extLst>
          </p:cNvPr>
          <p:cNvSpPr/>
          <p:nvPr/>
        </p:nvSpPr>
        <p:spPr>
          <a:xfrm>
            <a:off x="232850" y="2522104"/>
            <a:ext cx="648000" cy="2255383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검토</a:t>
            </a:r>
            <a:endParaRPr kumimoji="0" lang="en-US" altLang="ko-KR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내용</a:t>
            </a:r>
            <a:endParaRPr kumimoji="0" lang="en-US" altLang="ko-KR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Text Box 41">
            <a:extLst>
              <a:ext uri="{FF2B5EF4-FFF2-40B4-BE49-F238E27FC236}">
                <a16:creationId xmlns:a16="http://schemas.microsoft.com/office/drawing/2014/main" id="{1F6DDC70-63D2-71B0-6E0D-36E096DEC9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247" y="107398"/>
            <a:ext cx="6814366" cy="277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801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보조</a:t>
            </a:r>
            <a:r>
              <a:rPr kumimoji="1" lang="en-US" altLang="ko-KR" sz="1801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. OT</a:t>
            </a:r>
            <a:r>
              <a:rPr kumimoji="1" lang="ko-KR" altLang="en-US" sz="1801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법인 </a:t>
            </a:r>
            <a:r>
              <a:rPr kumimoji="1" lang="en-US" altLang="ko-KR" sz="1801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PKG </a:t>
            </a:r>
            <a:r>
              <a:rPr kumimoji="1" lang="ko-KR" altLang="en-US" sz="1801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용접 이물 개선을 위한 </a:t>
            </a:r>
            <a:r>
              <a:rPr kumimoji="1" lang="ko-KR" altLang="en-US" sz="1801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프리웰더</a:t>
            </a:r>
            <a:r>
              <a:rPr kumimoji="1" lang="ko-KR" altLang="en-US" sz="1801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1" lang="ko-KR" altLang="en-US" sz="1801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석션</a:t>
            </a:r>
            <a:r>
              <a:rPr kumimoji="1" lang="ko-KR" altLang="en-US" sz="1801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유량 이상감지 검토</a:t>
            </a:r>
            <a:r>
              <a:rPr kumimoji="1" lang="en-US" altLang="ko-KR" sz="1801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endParaRPr kumimoji="0" lang="en-US" altLang="ko-KR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2862BB3-2151-A643-9AFD-6E5B549AFCE2}"/>
              </a:ext>
            </a:extLst>
          </p:cNvPr>
          <p:cNvGraphicFramePr>
            <a:graphicFrameLocks noGrp="1"/>
          </p:cNvGraphicFramePr>
          <p:nvPr/>
        </p:nvGraphicFramePr>
        <p:xfrm>
          <a:off x="1147315" y="2779854"/>
          <a:ext cx="5551200" cy="19684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0245">
                  <a:extLst>
                    <a:ext uri="{9D8B030D-6E8A-4147-A177-3AD203B41FA5}">
                      <a16:colId xmlns:a16="http://schemas.microsoft.com/office/drawing/2014/main" val="119992596"/>
                    </a:ext>
                  </a:extLst>
                </a:gridCol>
                <a:gridCol w="1594413">
                  <a:extLst>
                    <a:ext uri="{9D8B030D-6E8A-4147-A177-3AD203B41FA5}">
                      <a16:colId xmlns:a16="http://schemas.microsoft.com/office/drawing/2014/main" val="3620427318"/>
                    </a:ext>
                  </a:extLst>
                </a:gridCol>
                <a:gridCol w="1647560">
                  <a:extLst>
                    <a:ext uri="{9D8B030D-6E8A-4147-A177-3AD203B41FA5}">
                      <a16:colId xmlns:a16="http://schemas.microsoft.com/office/drawing/2014/main" val="890764236"/>
                    </a:ext>
                  </a:extLst>
                </a:gridCol>
                <a:gridCol w="1558982">
                  <a:extLst>
                    <a:ext uri="{9D8B030D-6E8A-4147-A177-3AD203B41FA5}">
                      <a16:colId xmlns:a16="http://schemas.microsoft.com/office/drawing/2014/main" val="3315102708"/>
                    </a:ext>
                  </a:extLst>
                </a:gridCol>
              </a:tblGrid>
              <a:tr h="1691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개소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프리웰더</a:t>
                      </a:r>
                      <a:endParaRPr lang="ko-KR" altLang="en-US" sz="900" b="1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메인 </a:t>
                      </a:r>
                      <a:r>
                        <a:rPr lang="ko-KR" altLang="en-US" sz="900" b="1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웰더</a:t>
                      </a:r>
                      <a:endParaRPr lang="ko-KR" altLang="en-US" sz="900" b="1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탭 커터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62098"/>
                  </a:ext>
                </a:extLst>
              </a:tr>
              <a:tr h="8519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설비 구조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7182"/>
                  </a:ext>
                </a:extLst>
              </a:tr>
              <a:tr h="1691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데이터 유무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</a:t>
                      </a:r>
                      <a:endParaRPr lang="ko-KR" altLang="en-US" sz="900" b="1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</a:t>
                      </a:r>
                      <a:endParaRPr lang="ko-KR" altLang="en-US" sz="900" b="1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</a:t>
                      </a:r>
                      <a:endParaRPr lang="ko-KR" altLang="en-US" sz="900" b="1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373964"/>
                  </a:ext>
                </a:extLst>
              </a:tr>
              <a:tr h="4399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데이터 종류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프리웰더의</a:t>
                      </a:r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석션</a:t>
                      </a:r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유량</a:t>
                      </a:r>
                      <a:br>
                        <a:rPr lang="en-US" altLang="ko-KR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프리웰더의</a:t>
                      </a:r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블로워</a:t>
                      </a:r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유량</a:t>
                      </a:r>
                      <a:endParaRPr lang="en-US" altLang="ko-KR" sz="9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90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프리웰더</a:t>
                      </a:r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상</a:t>
                      </a:r>
                      <a:r>
                        <a:rPr lang="en-US" altLang="ko-KR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하부 </a:t>
                      </a:r>
                      <a:r>
                        <a:rPr lang="ko-KR" altLang="en-US" sz="90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블로워</a:t>
                      </a:r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유량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석션</a:t>
                      </a:r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유량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석션</a:t>
                      </a:r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유량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9598538"/>
                  </a:ext>
                </a:extLst>
              </a:tr>
              <a:tr h="1691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모델링 유무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X (</a:t>
                      </a:r>
                      <a:r>
                        <a:rPr lang="ko-KR" altLang="en-US" sz="900" b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 이상감지 필요</a:t>
                      </a:r>
                      <a:r>
                        <a:rPr lang="en-US" altLang="ko-KR" sz="900" b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900" b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 (</a:t>
                      </a:r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유량 </a:t>
                      </a:r>
                      <a:r>
                        <a:rPr lang="en-US" altLang="ko-KR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Min</a:t>
                      </a:r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의 하한 관리</a:t>
                      </a:r>
                      <a:r>
                        <a:rPr lang="en-US" altLang="ko-KR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9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 (</a:t>
                      </a:r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유량 </a:t>
                      </a:r>
                      <a:r>
                        <a:rPr lang="en-US" altLang="ko-KR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Mean</a:t>
                      </a:r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의 하한 관리</a:t>
                      </a:r>
                      <a:r>
                        <a:rPr lang="en-US" altLang="ko-KR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9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1857630"/>
                  </a:ext>
                </a:extLst>
              </a:tr>
              <a:tr h="1691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필요 작업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데이터 정합성 확인</a:t>
                      </a:r>
                      <a:r>
                        <a:rPr lang="en-US" altLang="ko-KR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모델 검토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모델링 최적화 및 </a:t>
                      </a:r>
                      <a:r>
                        <a:rPr lang="ko-KR" altLang="en-US" sz="90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수율</a:t>
                      </a:r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이력 발굴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모델링 최적화 및 </a:t>
                      </a:r>
                      <a:r>
                        <a:rPr lang="ko-KR" altLang="en-US" sz="90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수율</a:t>
                      </a:r>
                      <a:r>
                        <a:rPr lang="ko-KR" altLang="en-US" sz="90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이력 발굴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9666340"/>
                  </a:ext>
                </a:extLst>
              </a:tr>
            </a:tbl>
          </a:graphicData>
        </a:graphic>
      </p:graphicFrame>
      <p:grpSp>
        <p:nvGrpSpPr>
          <p:cNvPr id="12" name="그룹 11">
            <a:extLst>
              <a:ext uri="{FF2B5EF4-FFF2-40B4-BE49-F238E27FC236}">
                <a16:creationId xmlns:a16="http://schemas.microsoft.com/office/drawing/2014/main" id="{CAA0D5FF-A1A9-4F34-BC28-E909BD3DED86}"/>
              </a:ext>
            </a:extLst>
          </p:cNvPr>
          <p:cNvGrpSpPr/>
          <p:nvPr/>
        </p:nvGrpSpPr>
        <p:grpSpPr>
          <a:xfrm>
            <a:off x="2071784" y="3001330"/>
            <a:ext cx="1254121" cy="755212"/>
            <a:chOff x="4233216" y="4590826"/>
            <a:chExt cx="1215083" cy="159409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9601896-67C5-C0EF-6AD1-1C18261118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1585" t="26342" b="17966"/>
            <a:stretch/>
          </p:blipFill>
          <p:spPr>
            <a:xfrm>
              <a:off x="4233216" y="4590826"/>
              <a:ext cx="1215083" cy="1508177"/>
            </a:xfrm>
            <a:prstGeom prst="rect">
              <a:avLst/>
            </a:prstGeom>
          </p:spPr>
        </p:pic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BA53CA1-5048-9CF5-B76A-6AFC8503F321}"/>
                </a:ext>
              </a:extLst>
            </p:cNvPr>
            <p:cNvSpPr/>
            <p:nvPr/>
          </p:nvSpPr>
          <p:spPr>
            <a:xfrm>
              <a:off x="4233216" y="5969668"/>
              <a:ext cx="91556" cy="2152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2F6175C1-8BDD-7491-8B59-18B285093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232" y="3015546"/>
            <a:ext cx="1254121" cy="713578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80DB4FDB-CAB8-EBAE-BDD4-0B722361049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829"/>
          <a:stretch/>
        </p:blipFill>
        <p:spPr>
          <a:xfrm>
            <a:off x="3698879" y="2992364"/>
            <a:ext cx="1254121" cy="813322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EBC023D3-0708-9A8E-D10D-D98538C6D75A}"/>
              </a:ext>
            </a:extLst>
          </p:cNvPr>
          <p:cNvSpPr/>
          <p:nvPr/>
        </p:nvSpPr>
        <p:spPr>
          <a:xfrm>
            <a:off x="254248" y="481793"/>
            <a:ext cx="9670802" cy="64055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marR="0" lvl="0" indent="0" algn="l" defTabSz="844104" rtl="0" eaLnBrk="1" fontAlgn="auto" latinLnBrk="0" hangingPunct="1">
              <a:lnSpc>
                <a:spcPct val="120000"/>
              </a:lnSpc>
              <a:spcBef>
                <a:spcPts val="201"/>
              </a:spcBef>
              <a:spcAft>
                <a:spcPts val="201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PKG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 공정의 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8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월 중 불량 검토 결과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, PD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의 증가 추세에 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2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차로 영향을 미친 요인이 이물 불량으로 확인되며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, </a:t>
            </a:r>
            <a:b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</a:b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PKG </a:t>
            </a:r>
            <a:r>
              <a:rPr kumimoji="0" lang="ko-KR" altLang="en-US" sz="16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프리웰더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 내 이물용 </a:t>
            </a:r>
            <a:r>
              <a:rPr kumimoji="0" lang="ko-KR" altLang="en-US" sz="16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석션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굴림" panose="020B0600000101010101" pitchFamily="50" charset="-127"/>
              </a:rPr>
              <a:t> 유량의 이상을 감지하여 분진 누적 방지 및 이물 불량을 개선하고자 함</a:t>
            </a:r>
            <a:endParaRPr kumimoji="0" lang="en-US" altLang="ko-KR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굴림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1E35F1-C098-C8BC-3BED-13E6748C3EE8}"/>
              </a:ext>
            </a:extLst>
          </p:cNvPr>
          <p:cNvSpPr txBox="1"/>
          <p:nvPr/>
        </p:nvSpPr>
        <p:spPr>
          <a:xfrm>
            <a:off x="1180534" y="372990"/>
            <a:ext cx="2314996" cy="24558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8.17~8.26 </a:t>
            </a:r>
            <a:r>
              <a:rPr kumimoji="0" lang="ko-KR" altLang="en-US" sz="900" b="1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중 </a:t>
            </a: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MES </a:t>
            </a:r>
            <a:r>
              <a:rPr kumimoji="0" lang="ko-KR" altLang="en-US" sz="900" b="1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이력 및 </a:t>
            </a: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SPC </a:t>
            </a:r>
            <a:r>
              <a:rPr kumimoji="0" lang="ko-KR" altLang="en-US" sz="900" b="1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데이터  분석</a:t>
            </a:r>
            <a:endParaRPr kumimoji="0" lang="en-US" altLang="ko-KR" sz="900" b="1" i="0" u="none" strike="noStrike" kern="0" cap="none" spc="0" normalizeH="0" baseline="0" noProof="0">
              <a:ln>
                <a:noFill/>
              </a:ln>
              <a:solidFill>
                <a:srgbClr val="007F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112D0E48-F9FE-9502-1849-6FCEC04FA6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4000" y="2809308"/>
            <a:ext cx="2072847" cy="1397204"/>
          </a:xfrm>
          <a:prstGeom prst="rect">
            <a:avLst/>
          </a:prstGeom>
        </p:spPr>
      </p:pic>
      <p:sp>
        <p:nvSpPr>
          <p:cNvPr id="38" name="화살표: 아래쪽 37">
            <a:extLst>
              <a:ext uri="{FF2B5EF4-FFF2-40B4-BE49-F238E27FC236}">
                <a16:creationId xmlns:a16="http://schemas.microsoft.com/office/drawing/2014/main" id="{FBCAE237-1B87-E45D-7BB5-FD37CB21D6FC}"/>
              </a:ext>
            </a:extLst>
          </p:cNvPr>
          <p:cNvSpPr/>
          <p:nvPr/>
        </p:nvSpPr>
        <p:spPr>
          <a:xfrm rot="17660236" flipH="1">
            <a:off x="8604832" y="3242130"/>
            <a:ext cx="45719" cy="45911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04E3EE86-E2FC-EEC2-9757-21AFF831F488}"/>
              </a:ext>
            </a:extLst>
          </p:cNvPr>
          <p:cNvSpPr/>
          <p:nvPr/>
        </p:nvSpPr>
        <p:spPr>
          <a:xfrm>
            <a:off x="7869719" y="3399025"/>
            <a:ext cx="278817" cy="153187"/>
          </a:xfrm>
          <a:prstGeom prst="ellipse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356CD76-C421-D8B8-6861-81A3ADB24AD6}"/>
              </a:ext>
            </a:extLst>
          </p:cNvPr>
          <p:cNvSpPr txBox="1"/>
          <p:nvPr/>
        </p:nvSpPr>
        <p:spPr>
          <a:xfrm>
            <a:off x="7458532" y="3216660"/>
            <a:ext cx="1108922" cy="22858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용접 이물 발생 위치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26F4C9-376D-418B-8AA4-D839698BE917}"/>
              </a:ext>
            </a:extLst>
          </p:cNvPr>
          <p:cNvSpPr txBox="1"/>
          <p:nvPr/>
        </p:nvSpPr>
        <p:spPr>
          <a:xfrm>
            <a:off x="8674686" y="3323623"/>
            <a:ext cx="596116" cy="22858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이물 </a:t>
            </a:r>
            <a:r>
              <a:rPr kumimoji="0" lang="ko-KR" altLang="en-US" sz="800" b="0" i="0" u="none" strike="noStrike" kern="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석션</a:t>
            </a:r>
            <a:endParaRPr kumimoji="0" lang="en-US" altLang="ko-KR" sz="80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38C560-EFAC-5EF7-9820-9FDBE0611DA2}"/>
              </a:ext>
            </a:extLst>
          </p:cNvPr>
          <p:cNvSpPr txBox="1"/>
          <p:nvPr/>
        </p:nvSpPr>
        <p:spPr>
          <a:xfrm>
            <a:off x="6879665" y="4231903"/>
            <a:ext cx="3026335" cy="57797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용접 이물 흡입용 </a:t>
            </a:r>
            <a:r>
              <a:rPr kumimoji="0" lang="ko-KR" altLang="en-US" sz="9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석션</a:t>
            </a: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유량에 대해 </a:t>
            </a:r>
            <a:b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1) </a:t>
            </a: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유량의 급진적</a:t>
            </a: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점진적 감소 → </a:t>
            </a:r>
            <a:r>
              <a:rPr kumimoji="0" lang="ko-KR" altLang="en-US" sz="9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석션</a:t>
            </a: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배관 막힘</a:t>
            </a: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/Leak </a:t>
            </a: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이상 감지</a:t>
            </a:r>
            <a:b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2) </a:t>
            </a: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호기 별</a:t>
            </a: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시점 별 이물 불량과 유량 간 분석 → 최적 유량 도출</a:t>
            </a:r>
            <a:endParaRPr kumimoji="0" lang="en-US" altLang="ko-KR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C4640AC-A6F6-8813-FB6B-ED5561ED994C}"/>
              </a:ext>
            </a:extLst>
          </p:cNvPr>
          <p:cNvSpPr txBox="1"/>
          <p:nvPr/>
        </p:nvSpPr>
        <p:spPr>
          <a:xfrm>
            <a:off x="7894997" y="1880300"/>
            <a:ext cx="2535761" cy="41177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* PKG </a:t>
            </a: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클리닝 이력은 </a:t>
            </a: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FDC CBM </a:t>
            </a: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활용방안 </a:t>
            </a:r>
            <a:b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 </a:t>
            </a:r>
            <a:r>
              <a: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srgbClr val="007F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추가 검토 필요하여 금번 검토에서 제외</a:t>
            </a:r>
            <a:endParaRPr kumimoji="0" lang="en-US" altLang="ko-KR" sz="900" b="0" i="0" u="none" strike="noStrike" kern="0" cap="none" spc="0" normalizeH="0" baseline="0" noProof="0">
              <a:ln>
                <a:noFill/>
              </a:ln>
              <a:solidFill>
                <a:srgbClr val="007F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6" name="Text Box 41">
            <a:extLst>
              <a:ext uri="{FF2B5EF4-FFF2-40B4-BE49-F238E27FC236}">
                <a16:creationId xmlns:a16="http://schemas.microsoft.com/office/drawing/2014/main" id="{F368BD13-1236-47A2-22CE-B8D4957B9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8627" y="185769"/>
            <a:ext cx="607539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조립</a:t>
            </a:r>
            <a:r>
              <a:rPr kumimoji="1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FDC</a:t>
            </a:r>
            <a:r>
              <a:rPr kumimoji="1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팀</a:t>
            </a:r>
            <a:endParaRPr kumimoji="0" lang="en-US" altLang="ko-KR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" name="실행 단추: 홈으로 이동 8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B5D1EC04-2B7D-6682-A736-02E51FEB8473}"/>
              </a:ext>
            </a:extLst>
          </p:cNvPr>
          <p:cNvSpPr/>
          <p:nvPr/>
        </p:nvSpPr>
        <p:spPr>
          <a:xfrm>
            <a:off x="9605012" y="161209"/>
            <a:ext cx="211279" cy="211279"/>
          </a:xfrm>
          <a:prstGeom prst="actionButtonHom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9043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ABF5E-D66C-8C06-5256-5A88718FA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1" name="그룹 1340">
            <a:extLst>
              <a:ext uri="{FF2B5EF4-FFF2-40B4-BE49-F238E27FC236}">
                <a16:creationId xmlns:a16="http://schemas.microsoft.com/office/drawing/2014/main" id="{751F3BC8-7B2A-C184-F6F5-A3F2947FAE59}"/>
              </a:ext>
            </a:extLst>
          </p:cNvPr>
          <p:cNvGrpSpPr/>
          <p:nvPr/>
        </p:nvGrpSpPr>
        <p:grpSpPr>
          <a:xfrm>
            <a:off x="233552" y="107395"/>
            <a:ext cx="5682248" cy="297269"/>
            <a:chOff x="233552" y="107395"/>
            <a:chExt cx="5682248" cy="297269"/>
          </a:xfrm>
        </p:grpSpPr>
        <p:sp>
          <p:nvSpPr>
            <p:cNvPr id="1342" name="Text Box 41">
              <a:extLst>
                <a:ext uri="{FF2B5EF4-FFF2-40B4-BE49-F238E27FC236}">
                  <a16:creationId xmlns:a16="http://schemas.microsoft.com/office/drawing/2014/main" id="{84716C8C-24CD-1760-113A-58562EAA2E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200" y="107395"/>
              <a:ext cx="471282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Arial" pitchFamily="34" charset="0"/>
                </a:rPr>
                <a:t>보조</a:t>
              </a:r>
              <a:r>
                <a:rPr kumimoji="1" lang="en-US" altLang="ko-KR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Arial" pitchFamily="34" charset="0"/>
                </a:rPr>
                <a:t>. [ESHG] DNC Cutter </a:t>
              </a:r>
              <a:r>
                <a:rPr kumimoji="1" lang="ko-KR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Arial" pitchFamily="34" charset="0"/>
                </a:rPr>
                <a:t>측압 실린더 </a:t>
              </a:r>
              <a:r>
                <a:rPr kumimoji="1" lang="en-US" altLang="ko-KR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Arial" pitchFamily="34" charset="0"/>
                </a:rPr>
                <a:t>FDC </a:t>
              </a:r>
              <a:r>
                <a:rPr kumimoji="1" lang="ko-KR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Arial" pitchFamily="34" charset="0"/>
                </a:rPr>
                <a:t>알람 적용</a:t>
              </a:r>
              <a:endPara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cxnSp>
          <p:nvCxnSpPr>
            <p:cNvPr id="1343" name="직선 연결선 1342">
              <a:extLst>
                <a:ext uri="{FF2B5EF4-FFF2-40B4-BE49-F238E27FC236}">
                  <a16:creationId xmlns:a16="http://schemas.microsoft.com/office/drawing/2014/main" id="{DD3BBE6D-6902-0D24-C768-6DA3B1C4A9E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33552" y="404664"/>
              <a:ext cx="5682248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036" name="TextBox 2035">
            <a:extLst>
              <a:ext uri="{FF2B5EF4-FFF2-40B4-BE49-F238E27FC236}">
                <a16:creationId xmlns:a16="http://schemas.microsoft.com/office/drawing/2014/main" id="{3BEC0AA8-F805-45B7-8BD3-AA8587DE44C1}"/>
              </a:ext>
            </a:extLst>
          </p:cNvPr>
          <p:cNvSpPr txBox="1"/>
          <p:nvPr/>
        </p:nvSpPr>
        <p:spPr>
          <a:xfrm>
            <a:off x="932728" y="1099719"/>
            <a:ext cx="8270213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배경</a:t>
            </a:r>
            <a:endParaRPr kumimoji="0" lang="en-US" altLang="ko-KR" sz="11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-.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이슈 사항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: ’26/07/14 #1B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Cathode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전극 </a:t>
            </a:r>
            <a:r>
              <a:rPr kumimoji="0" lang="ko-KR" alt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커팅면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품질 이슈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(Burr)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발생 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-.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조치 내역  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    ① 커터 교체 → 교체 후 동일 품질 이슈 사항 지속 발생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    ② 커터 </a:t>
            </a:r>
            <a:r>
              <a:rPr kumimoji="0" lang="ko-KR" alt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딥클리닝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과정에서 측압 실린더 볼트 파손 발견 → 측압 실린더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(3EA)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전체 교체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  </a:t>
            </a: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FDC </a:t>
            </a: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이상감지 방안</a:t>
            </a:r>
            <a:endParaRPr kumimoji="0" lang="en-US" altLang="ko-KR" sz="11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-.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측압 실린더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(LATERAL_PRESSURE_PRESSURE_1~3)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는 상부 칼날을 하부 칼날에 가압하여 전극 절단 시 필요한 압력을 제공하는 역할을 수행함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-.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품질 이슈 발생 시간대 데이터를 분석한 결과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,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설치된 모든 측압 실린더 </a:t>
            </a:r>
            <a:r>
              <a:rPr kumimoji="0" lang="ko-KR" alt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압력값이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동시에 증가하는 경향을 확인함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 → 이에 따라 측압 실린더 압력 상승 경향을 기반으로 이상감지 알고리즘을 개발 및 알람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On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완료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(08/12)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     ⊙ 통계량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en-US" altLang="ko-K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Stdev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     ⊙ </a:t>
            </a:r>
            <a:r>
              <a:rPr kumimoji="0" lang="ko-KR" alt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관리선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: (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고정관리선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) 1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     ⊙ </a:t>
            </a:r>
            <a:r>
              <a:rPr kumimoji="0" lang="ko-KR" alt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알람룰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: 3 out of 3 Critical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-.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추가로 금형 지지 및 승강 기능을 수행하는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Lifter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압력계 데이터를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(AIRBALLLIFTER_PRESSURE)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에 대해 추가 분석 수행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 → 분석 결과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품질 이슈 발생 시간대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Lifter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가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Unclamp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상태로 가동이 가능한 현상 확인함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 → 재발 방지를 위해 해당 조건에 대한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PLC Interlock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적용 완료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(07/24)</a:t>
            </a:r>
          </a:p>
        </p:txBody>
      </p:sp>
      <p:sp>
        <p:nvSpPr>
          <p:cNvPr id="1357" name="TextBox 1356">
            <a:extLst>
              <a:ext uri="{FF2B5EF4-FFF2-40B4-BE49-F238E27FC236}">
                <a16:creationId xmlns:a16="http://schemas.microsoft.com/office/drawing/2014/main" id="{1B016B94-E2D6-9546-76F6-C71C0BF7A511}"/>
              </a:ext>
            </a:extLst>
          </p:cNvPr>
          <p:cNvSpPr txBox="1"/>
          <p:nvPr/>
        </p:nvSpPr>
        <p:spPr>
          <a:xfrm>
            <a:off x="8829889" y="78772"/>
            <a:ext cx="97462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FDC DX.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조립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FDC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팀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김나현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</a:t>
            </a: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FE08C5E-F106-9C15-ACB6-C920B120F9B0}"/>
              </a:ext>
            </a:extLst>
          </p:cNvPr>
          <p:cNvSpPr/>
          <p:nvPr/>
        </p:nvSpPr>
        <p:spPr>
          <a:xfrm>
            <a:off x="220777" y="1099720"/>
            <a:ext cx="706412" cy="1105142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배경</a:t>
            </a:r>
            <a:endParaRPr kumimoji="0" lang="en-US" altLang="ko-KR" sz="11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D1B89AF-9BC0-88D5-2176-86A6C264F72B}"/>
              </a:ext>
            </a:extLst>
          </p:cNvPr>
          <p:cNvSpPr/>
          <p:nvPr/>
        </p:nvSpPr>
        <p:spPr>
          <a:xfrm>
            <a:off x="235866" y="420138"/>
            <a:ext cx="9670134" cy="603618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전극 </a:t>
            </a:r>
            <a:r>
              <a:rPr kumimoji="0" lang="ko-KR" altLang="en-US" sz="16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컷팅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Burr 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품질 이슈 사례 분석을 통해 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FDC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로 수집 중인 측압 실린더 압력 데이터를 활용하여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,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이상감지하기 위한 알고리즘을 개발 및 적용 완료했습니다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.(08/12)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FE8214-C35F-8A0C-EE03-3349574CF127}"/>
              </a:ext>
            </a:extLst>
          </p:cNvPr>
          <p:cNvSpPr txBox="1"/>
          <p:nvPr/>
        </p:nvSpPr>
        <p:spPr>
          <a:xfrm>
            <a:off x="932728" y="4360417"/>
            <a:ext cx="15888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[Trace Data] #1B Cathode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B12ABEB-40A1-48D9-1215-6039A0C5BACA}"/>
              </a:ext>
            </a:extLst>
          </p:cNvPr>
          <p:cNvSpPr/>
          <p:nvPr/>
        </p:nvSpPr>
        <p:spPr>
          <a:xfrm>
            <a:off x="220777" y="2290804"/>
            <a:ext cx="706412" cy="4459778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FDC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검토</a:t>
            </a:r>
            <a:endParaRPr kumimoji="0" lang="en-US" altLang="ko-KR" sz="11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634008-156F-51BB-E716-22318DDAF029}"/>
              </a:ext>
            </a:extLst>
          </p:cNvPr>
          <p:cNvSpPr txBox="1"/>
          <p:nvPr/>
        </p:nvSpPr>
        <p:spPr>
          <a:xfrm>
            <a:off x="5368865" y="4360417"/>
            <a:ext cx="14863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[Trace Data] #1B Anode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2E04ED6-20CF-E990-F164-4CD550DDF819}"/>
              </a:ext>
            </a:extLst>
          </p:cNvPr>
          <p:cNvSpPr/>
          <p:nvPr/>
        </p:nvSpPr>
        <p:spPr>
          <a:xfrm>
            <a:off x="885000" y="4567197"/>
            <a:ext cx="43404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4137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* </a:t>
            </a:r>
            <a:r>
              <a:rPr kumimoji="1" lang="en-US" altLang="ko-KR" sz="900" b="0" i="0" u="none" strike="noStrike" kern="1200" cap="none" spc="0" normalizeH="0" baseline="0" noProof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ToolName</a:t>
            </a:r>
            <a:r>
              <a:rPr kumimoji="1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: ESHG_AUTO_1_A_DNC_1_B_CATHODE_DNC_CT_VC_PRESSURE</a:t>
            </a:r>
          </a:p>
          <a:p>
            <a:pPr marL="84137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   데이터 조회기간</a:t>
            </a:r>
            <a:r>
              <a:rPr kumimoji="1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: ’26/07/08 ~ ’26/07/15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2F5C626-8C3B-0A34-CF10-86C7E9FD4209}"/>
              </a:ext>
            </a:extLst>
          </p:cNvPr>
          <p:cNvSpPr/>
          <p:nvPr/>
        </p:nvSpPr>
        <p:spPr>
          <a:xfrm>
            <a:off x="5294092" y="4554206"/>
            <a:ext cx="43404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4137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* </a:t>
            </a:r>
            <a:r>
              <a:rPr kumimoji="1" lang="en-US" altLang="ko-KR" sz="900" b="0" i="0" u="none" strike="noStrike" kern="1200" cap="none" spc="0" normalizeH="0" baseline="0" noProof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ToolName</a:t>
            </a:r>
            <a:r>
              <a:rPr kumimoji="1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: ESHG_AUTO_1_A_DNC_1_B_ANODE_DNC_CT_VC_PRESSURE</a:t>
            </a:r>
          </a:p>
          <a:p>
            <a:pPr marL="84137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   데이터 조회기간</a:t>
            </a:r>
            <a:r>
              <a:rPr kumimoji="1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: ’26/07/08 ~ ’26/07/15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7C9839C4-300C-3D4E-7D87-3481454AF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045" y="4936529"/>
            <a:ext cx="4246766" cy="1660551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CBD2148D-AE51-8380-38E1-48051BD3D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370" y="4936528"/>
            <a:ext cx="4229199" cy="166055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433F537-D558-0F68-6503-EFBD083BA49B}"/>
              </a:ext>
            </a:extLst>
          </p:cNvPr>
          <p:cNvSpPr txBox="1"/>
          <p:nvPr/>
        </p:nvSpPr>
        <p:spPr>
          <a:xfrm>
            <a:off x="3783266" y="4406267"/>
            <a:ext cx="1041764" cy="279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*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이슈 발생 개소</a:t>
            </a:r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A443A1F-7BF7-7369-717C-4CCD2E2D43C1}"/>
              </a:ext>
            </a:extLst>
          </p:cNvPr>
          <p:cNvSpPr/>
          <p:nvPr/>
        </p:nvSpPr>
        <p:spPr>
          <a:xfrm>
            <a:off x="2059616" y="5531018"/>
            <a:ext cx="714086" cy="23879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FDDF5AE-5549-7176-BC74-B364731B2CAF}"/>
              </a:ext>
            </a:extLst>
          </p:cNvPr>
          <p:cNvSpPr/>
          <p:nvPr/>
        </p:nvSpPr>
        <p:spPr>
          <a:xfrm>
            <a:off x="1578370" y="5250125"/>
            <a:ext cx="1676576" cy="2606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4137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7/11~7/14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기간 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Pressure 0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값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Arial Narrow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F1CC690-4F29-1E21-5A85-A66118CF6B97}"/>
              </a:ext>
            </a:extLst>
          </p:cNvPr>
          <p:cNvSpPr/>
          <p:nvPr/>
        </p:nvSpPr>
        <p:spPr>
          <a:xfrm>
            <a:off x="3674713" y="5417931"/>
            <a:ext cx="1676576" cy="2606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4137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동일 기간 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Pressure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증가</a:t>
            </a:r>
            <a:endParaRPr kumimoji="1" lang="en-US" altLang="ko-K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Arial Narrow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0286DC-F295-A934-3C0B-3CC328E31C6E}"/>
              </a:ext>
            </a:extLst>
          </p:cNvPr>
          <p:cNvSpPr txBox="1"/>
          <p:nvPr/>
        </p:nvSpPr>
        <p:spPr>
          <a:xfrm>
            <a:off x="4304148" y="1802537"/>
            <a:ext cx="19520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*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당시 </a:t>
            </a:r>
            <a:r>
              <a:rPr kumimoji="0" lang="ko-KR" altLang="en-US" sz="900" b="0" i="0" u="none" strike="noStrike" kern="1200" cap="none" spc="0" normalizeH="0" baseline="0" noProof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서보모터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900" b="0" i="0" u="none" strike="noStrike" kern="1200" cap="none" spc="0" normalizeH="0" baseline="0" noProof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부하율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변동 없음</a:t>
            </a:r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" name="실행 단추: 홈으로 이동 3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C2AA6405-005A-6875-6EEB-C18E36407309}"/>
              </a:ext>
            </a:extLst>
          </p:cNvPr>
          <p:cNvSpPr/>
          <p:nvPr/>
        </p:nvSpPr>
        <p:spPr>
          <a:xfrm>
            <a:off x="9593236" y="422466"/>
            <a:ext cx="211279" cy="211279"/>
          </a:xfrm>
          <a:prstGeom prst="actionButtonHom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54976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9C1C0-1972-B01E-5C2B-F7E75EB01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1" name="그룹 1340">
            <a:extLst>
              <a:ext uri="{FF2B5EF4-FFF2-40B4-BE49-F238E27FC236}">
                <a16:creationId xmlns:a16="http://schemas.microsoft.com/office/drawing/2014/main" id="{1916EE02-586B-261A-B3D8-ADE1EC0D77BC}"/>
              </a:ext>
            </a:extLst>
          </p:cNvPr>
          <p:cNvGrpSpPr/>
          <p:nvPr/>
        </p:nvGrpSpPr>
        <p:grpSpPr>
          <a:xfrm>
            <a:off x="233552" y="107395"/>
            <a:ext cx="5772594" cy="297269"/>
            <a:chOff x="233552" y="107395"/>
            <a:chExt cx="5772594" cy="297269"/>
          </a:xfrm>
        </p:grpSpPr>
        <p:sp>
          <p:nvSpPr>
            <p:cNvPr id="1342" name="Text Box 41">
              <a:extLst>
                <a:ext uri="{FF2B5EF4-FFF2-40B4-BE49-F238E27FC236}">
                  <a16:creationId xmlns:a16="http://schemas.microsoft.com/office/drawing/2014/main" id="{C8B23961-D2D5-1B75-4D55-1C6AE4D80F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200" y="107395"/>
              <a:ext cx="574894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Arial" pitchFamily="34" charset="0"/>
                </a:rPr>
                <a:t>보조</a:t>
              </a:r>
              <a:r>
                <a:rPr kumimoji="1" lang="en-US" altLang="ko-KR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Arial" pitchFamily="34" charset="0"/>
                </a:rPr>
                <a:t>. [ESGM2] PKG CESS Buffer Tank Filter </a:t>
              </a:r>
              <a:r>
                <a:rPr kumimoji="1" lang="ko-KR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Arial" pitchFamily="34" charset="0"/>
                </a:rPr>
                <a:t>막힘 </a:t>
              </a:r>
              <a:r>
                <a:rPr kumimoji="1" lang="en-US" altLang="ko-KR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Arial" pitchFamily="34" charset="0"/>
                </a:rPr>
                <a:t>FDC </a:t>
              </a:r>
              <a:r>
                <a:rPr kumimoji="1" lang="ko-KR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Arial" pitchFamily="34" charset="0"/>
                </a:rPr>
                <a:t>알람 적용</a:t>
              </a:r>
              <a:endPara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cxnSp>
          <p:nvCxnSpPr>
            <p:cNvPr id="1343" name="직선 연결선 1342">
              <a:extLst>
                <a:ext uri="{FF2B5EF4-FFF2-40B4-BE49-F238E27FC236}">
                  <a16:creationId xmlns:a16="http://schemas.microsoft.com/office/drawing/2014/main" id="{B5E0363B-E6AC-6C59-60E9-9E671E5262C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33552" y="404664"/>
              <a:ext cx="5682248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036" name="TextBox 2035">
            <a:extLst>
              <a:ext uri="{FF2B5EF4-FFF2-40B4-BE49-F238E27FC236}">
                <a16:creationId xmlns:a16="http://schemas.microsoft.com/office/drawing/2014/main" id="{9324C5B8-2C05-705C-128E-B3FF69F682C1}"/>
              </a:ext>
            </a:extLst>
          </p:cNvPr>
          <p:cNvSpPr txBox="1"/>
          <p:nvPr/>
        </p:nvSpPr>
        <p:spPr>
          <a:xfrm>
            <a:off x="932728" y="1099719"/>
            <a:ext cx="5628464" cy="1615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배경 </a:t>
            </a:r>
            <a:endParaRPr kumimoji="0" lang="en-US" altLang="ko-KR" sz="11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-.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이슈 사항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전해액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Buffer Tank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의 </a:t>
            </a:r>
            <a:r>
              <a:rPr kumimoji="0" lang="ko-KR" alt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차압계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Trend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가 증가시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,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Filter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의 이상 발생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 → 전해액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Tank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를 통과하는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Filter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가 막힘으로써 차압이 증가하는 것으로 추정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  <a:sym typeface="Wingdings" panose="05000000000000000000" pitchFamily="2" charset="2"/>
              </a:rPr>
              <a:t> </a:t>
            </a: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FDC </a:t>
            </a: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이상감지 방안</a:t>
            </a:r>
            <a:endParaRPr kumimoji="0" lang="en-US" altLang="ko-KR" sz="11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 → 압력계 데이터가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4 Psi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이상 상승하는 경우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,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이상감지 알람이 발생할 수 있도록 모델링하고자 함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      ⊙ 통계량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: Max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      ⊙ </a:t>
            </a:r>
            <a:r>
              <a:rPr kumimoji="0" lang="ko-KR" alt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관리선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: (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고정관리선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) 40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      ⊙ </a:t>
            </a:r>
            <a:r>
              <a:rPr kumimoji="0" lang="ko-KR" alt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알람룰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: 2 out of 2 Critical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54C512A-5688-8151-43CD-AAA7EBEC7336}"/>
              </a:ext>
            </a:extLst>
          </p:cNvPr>
          <p:cNvSpPr/>
          <p:nvPr/>
        </p:nvSpPr>
        <p:spPr>
          <a:xfrm>
            <a:off x="860192" y="2890057"/>
            <a:ext cx="38767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4137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* </a:t>
            </a:r>
            <a:r>
              <a:rPr kumimoji="1" lang="en-US" altLang="ko-KR" sz="900" b="0" i="0" u="none" strike="noStrike" kern="1200" cap="none" spc="0" normalizeH="0" baseline="0" noProof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ToolName</a:t>
            </a:r>
            <a:r>
              <a:rPr kumimoji="1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: ESGM2_AUTO_1_A_PKG_1_1_EFS_ELF_CESS_BUFFER_TANK_DPT</a:t>
            </a:r>
          </a:p>
          <a:p>
            <a:pPr marL="84137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  데이터 조회기간</a:t>
            </a:r>
            <a:r>
              <a:rPr kumimoji="1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: ’26/08/19 ~ ’26/0823</a:t>
            </a:r>
          </a:p>
        </p:txBody>
      </p:sp>
      <p:sp>
        <p:nvSpPr>
          <p:cNvPr id="1357" name="TextBox 1356">
            <a:extLst>
              <a:ext uri="{FF2B5EF4-FFF2-40B4-BE49-F238E27FC236}">
                <a16:creationId xmlns:a16="http://schemas.microsoft.com/office/drawing/2014/main" id="{40FD856C-9F94-DB1C-05A1-28C8E6BA112D}"/>
              </a:ext>
            </a:extLst>
          </p:cNvPr>
          <p:cNvSpPr txBox="1"/>
          <p:nvPr/>
        </p:nvSpPr>
        <p:spPr>
          <a:xfrm>
            <a:off x="8829889" y="78772"/>
            <a:ext cx="97462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FDC DX.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조립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FDC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팀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김나현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</a:t>
            </a: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2AC2A5B-87C4-9D91-2B48-543511627621}"/>
              </a:ext>
            </a:extLst>
          </p:cNvPr>
          <p:cNvSpPr/>
          <p:nvPr/>
        </p:nvSpPr>
        <p:spPr>
          <a:xfrm>
            <a:off x="229614" y="1099720"/>
            <a:ext cx="706412" cy="603617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배경</a:t>
            </a:r>
            <a:endParaRPr kumimoji="0" lang="en-US" altLang="ko-KR" sz="11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7EA66F4-A851-7044-AD7C-B89845E35C68}"/>
              </a:ext>
            </a:extLst>
          </p:cNvPr>
          <p:cNvSpPr/>
          <p:nvPr/>
        </p:nvSpPr>
        <p:spPr>
          <a:xfrm>
            <a:off x="235866" y="420138"/>
            <a:ext cx="9670134" cy="603618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PKG CESS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Buffer Tank Filter 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막힘 현상에 대한 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FDC 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이상감지 알고리즘에 대해 모델링 및 알람 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On 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완료했습니다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(08/24).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Filter 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막힘으로 인한 압력 이상을 감지함으로써 기존 일상 점검 항목을 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CBM </a:t>
            </a:r>
            <a:r>
              <a:rPr kumimoji="0" lang="ko-KR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기반 관리 항목을 전환하고자 합니다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4D9D36-8C35-48B2-C56E-52F7CD35BF74}"/>
              </a:ext>
            </a:extLst>
          </p:cNvPr>
          <p:cNvSpPr txBox="1"/>
          <p:nvPr/>
        </p:nvSpPr>
        <p:spPr>
          <a:xfrm>
            <a:off x="932728" y="2697755"/>
            <a:ext cx="13612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[Trace Data] #1-1</a:t>
            </a: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호기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8D59DDF-C9F0-9AEC-F60F-A658A4B16448}"/>
              </a:ext>
            </a:extLst>
          </p:cNvPr>
          <p:cNvSpPr/>
          <p:nvPr/>
        </p:nvSpPr>
        <p:spPr>
          <a:xfrm>
            <a:off x="2648744" y="2282257"/>
            <a:ext cx="440231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4137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*FDC </a:t>
            </a:r>
            <a:r>
              <a:rPr kumimoji="1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데이터 자릿수 </a:t>
            </a:r>
            <a:r>
              <a:rPr kumimoji="1" lang="ko-KR" altLang="en-US" sz="900" b="0" i="0" u="none" strike="noStrike" kern="1200" cap="none" spc="0" normalizeH="0" baseline="0" noProof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수정중이며</a:t>
            </a:r>
            <a:r>
              <a:rPr kumimoji="1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, </a:t>
            </a:r>
            <a:r>
              <a:rPr kumimoji="1" lang="ko-KR" altLang="en-US" sz="900" b="0" i="0" u="none" strike="noStrike" kern="1200" cap="none" spc="0" normalizeH="0" baseline="0" noProof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수정후</a:t>
            </a:r>
            <a:r>
              <a:rPr kumimoji="1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1" lang="ko-KR" altLang="en-US" sz="900" b="0" i="0" u="none" strike="noStrike" kern="1200" cap="none" spc="0" normalizeH="0" baseline="0" noProof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관리선</a:t>
            </a:r>
            <a:r>
              <a:rPr kumimoji="1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 범위 </a:t>
            </a:r>
            <a:r>
              <a:rPr kumimoji="1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4 Psi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4E4FDCD-ECC6-7210-D7D4-B5E0976102B4}"/>
              </a:ext>
            </a:extLst>
          </p:cNvPr>
          <p:cNvSpPr/>
          <p:nvPr/>
        </p:nvSpPr>
        <p:spPr>
          <a:xfrm>
            <a:off x="229614" y="1779301"/>
            <a:ext cx="706412" cy="4941303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FDC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kern="0">
                <a:solidFill>
                  <a:srgbClr val="000000"/>
                </a:solidFill>
                <a:latin typeface="Arial Narrow"/>
                <a:ea typeface="LG스마트체 Regular"/>
              </a:rPr>
              <a:t>검토</a:t>
            </a:r>
            <a:endParaRPr kumimoji="0" lang="en-US" altLang="ko-KR" sz="11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5BEB07D-BA99-ED40-FD49-53481F21740B}"/>
              </a:ext>
            </a:extLst>
          </p:cNvPr>
          <p:cNvSpPr/>
          <p:nvPr/>
        </p:nvSpPr>
        <p:spPr>
          <a:xfrm>
            <a:off x="5296329" y="2890057"/>
            <a:ext cx="38767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4137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* </a:t>
            </a:r>
            <a:r>
              <a:rPr kumimoji="1" lang="en-US" altLang="ko-KR" sz="900" b="0" i="0" u="none" strike="noStrike" kern="1200" cap="none" spc="0" normalizeH="0" baseline="0" noProof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ToolName</a:t>
            </a:r>
            <a:r>
              <a:rPr kumimoji="1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: ESGM2_AUTO_1_A_PKG_2_2_EFS_ELF_CESS_BUFFER_TANK_DPT</a:t>
            </a:r>
          </a:p>
          <a:p>
            <a:pPr marL="84137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  데이터 조회기간</a:t>
            </a:r>
            <a:r>
              <a:rPr kumimoji="1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: ’26/08/19 ~ ’26/0823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620F1C-7073-870E-FFD5-61652E5554CF}"/>
              </a:ext>
            </a:extLst>
          </p:cNvPr>
          <p:cNvSpPr txBox="1"/>
          <p:nvPr/>
        </p:nvSpPr>
        <p:spPr>
          <a:xfrm>
            <a:off x="5368865" y="2697755"/>
            <a:ext cx="13612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[Trace Data] #2-2</a:t>
            </a: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호기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376512A6-9299-613E-7D86-5440008CE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236" y="3259389"/>
            <a:ext cx="4378300" cy="1385290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43A7F54-27F3-40DD-7563-30E2F1902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815" y="3259389"/>
            <a:ext cx="4412421" cy="138529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83D44F28-8A4B-9386-8D90-F30F118B3C09}"/>
              </a:ext>
            </a:extLst>
          </p:cNvPr>
          <p:cNvSpPr txBox="1"/>
          <p:nvPr/>
        </p:nvSpPr>
        <p:spPr>
          <a:xfrm>
            <a:off x="920552" y="3284945"/>
            <a:ext cx="3494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A68FA48-99F4-517B-E3F3-DE20FED7C0FE}"/>
              </a:ext>
            </a:extLst>
          </p:cNvPr>
          <p:cNvSpPr txBox="1"/>
          <p:nvPr/>
        </p:nvSpPr>
        <p:spPr>
          <a:xfrm>
            <a:off x="5296329" y="3289505"/>
            <a:ext cx="433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120</a:t>
            </a: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1C629CBB-FB3F-656A-906E-D012EE431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6391" y="4974231"/>
            <a:ext cx="4281145" cy="1746374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54" name="폭발: 8pt 53">
            <a:extLst>
              <a:ext uri="{FF2B5EF4-FFF2-40B4-BE49-F238E27FC236}">
                <a16:creationId xmlns:a16="http://schemas.microsoft.com/office/drawing/2014/main" id="{150E2909-8E42-A72F-9C54-3C9511F16268}"/>
              </a:ext>
            </a:extLst>
          </p:cNvPr>
          <p:cNvSpPr/>
          <p:nvPr/>
        </p:nvSpPr>
        <p:spPr>
          <a:xfrm>
            <a:off x="6284775" y="5670875"/>
            <a:ext cx="272577" cy="307286"/>
          </a:xfrm>
          <a:prstGeom prst="irregularSeal1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A28D499-E252-0B4F-7723-825F5F6666FD}"/>
              </a:ext>
            </a:extLst>
          </p:cNvPr>
          <p:cNvSpPr/>
          <p:nvPr/>
        </p:nvSpPr>
        <p:spPr>
          <a:xfrm>
            <a:off x="4979888" y="1273934"/>
            <a:ext cx="2690379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4137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*2</a:t>
            </a:r>
            <a:r>
              <a:rPr kumimoji="1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달 주기로 교체해왔으며</a:t>
            </a:r>
            <a:r>
              <a:rPr kumimoji="1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, </a:t>
            </a:r>
            <a:r>
              <a:rPr kumimoji="1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일상 점검 항목에 포함됨</a:t>
            </a:r>
            <a:endParaRPr kumimoji="1" lang="en-US" altLang="ko-KR" sz="9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0EBA9B-A26C-3147-4800-18E47AA567FC}"/>
              </a:ext>
            </a:extLst>
          </p:cNvPr>
          <p:cNvSpPr txBox="1"/>
          <p:nvPr/>
        </p:nvSpPr>
        <p:spPr>
          <a:xfrm>
            <a:off x="6537176" y="5194998"/>
            <a:ext cx="288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시뮬레이션 기반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08/19 14:38PM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FDC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알람 발생함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61F614-261D-D28F-FF9F-9B7C67065673}"/>
              </a:ext>
            </a:extLst>
          </p:cNvPr>
          <p:cNvSpPr txBox="1"/>
          <p:nvPr/>
        </p:nvSpPr>
        <p:spPr>
          <a:xfrm>
            <a:off x="985591" y="5160589"/>
            <a:ext cx="441242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-. [BM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사례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]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08/19 #2-2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호기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Filter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막힘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BM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발생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 (15:44PM)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현장 내 필터 이상감지 및 필터 교체 요청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 (16:45PM)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필터 교체 완료 보고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-.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시뮬레이션 결과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, FDC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알람 발생 시기는 동일 일자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14:38PM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으로 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기존 인지 시점보다 약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시간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사전 이상감지 가능하며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,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 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조치 시간 단축 가능함을 확인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 → </a:t>
            </a: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CESS</a:t>
            </a: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전해액 필터 이상감지 모델링 및 알람 완료 </a:t>
            </a: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(08/25)</a:t>
            </a:r>
            <a:endParaRPr kumimoji="0" lang="ko-KR" altLang="en-US" sz="11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D10A3AB-D4D3-547A-BFCD-95299CA5CAA3}"/>
              </a:ext>
            </a:extLst>
          </p:cNvPr>
          <p:cNvSpPr/>
          <p:nvPr/>
        </p:nvSpPr>
        <p:spPr>
          <a:xfrm>
            <a:off x="6049499" y="3363978"/>
            <a:ext cx="576064" cy="57606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FBF337B2-D381-EA3B-8530-1AD2BBB0434E}"/>
              </a:ext>
            </a:extLst>
          </p:cNvPr>
          <p:cNvSpPr/>
          <p:nvPr/>
        </p:nvSpPr>
        <p:spPr>
          <a:xfrm>
            <a:off x="6192703" y="3940042"/>
            <a:ext cx="289655" cy="977035"/>
          </a:xfrm>
          <a:prstGeom prst="downArrow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77038C-3551-A561-B7A9-DD92F1DCFE99}"/>
              </a:ext>
            </a:extLst>
          </p:cNvPr>
          <p:cNvSpPr txBox="1"/>
          <p:nvPr/>
        </p:nvSpPr>
        <p:spPr>
          <a:xfrm>
            <a:off x="985591" y="4861457"/>
            <a:ext cx="20665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[UVA Data] #2-2</a:t>
            </a: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호기 </a:t>
            </a: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BM</a:t>
            </a: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사례 발굴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" name="실행 단추: 홈으로 이동 3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97009994-8D47-B93B-645B-2AFD60E30CF8}"/>
              </a:ext>
            </a:extLst>
          </p:cNvPr>
          <p:cNvSpPr/>
          <p:nvPr/>
        </p:nvSpPr>
        <p:spPr>
          <a:xfrm>
            <a:off x="9670134" y="433303"/>
            <a:ext cx="211279" cy="211279"/>
          </a:xfrm>
          <a:prstGeom prst="actionButtonHom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61470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2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2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8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9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6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6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70"/>
</p:tagLst>
</file>

<file path=ppt/theme/theme1.xml><?xml version="1.0" encoding="utf-8"?>
<a:theme xmlns:a="http://schemas.openxmlformats.org/drawingml/2006/main" name="19_기본 디자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lIns="0" tIns="0" rIns="0" bIns="0" rtlCol="0">
        <a:spAutoFit/>
      </a:bodyPr>
      <a:lstStyle>
        <a:defPPr>
          <a:defRPr sz="1200" b="1" dirty="0" smtClean="0"/>
        </a:defPPr>
      </a:lstStyle>
    </a:tx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1fefcbb5-b9fb-4d9d-a4eb-a69982cdd6fe}" enabled="0" method="" siteId="{1fefcbb5-b9fb-4d9d-a4eb-a69982cdd6f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473</TotalTime>
  <Words>8669</Words>
  <Application>Microsoft Office PowerPoint</Application>
  <PresentationFormat>A4 용지(210x297mm)</PresentationFormat>
  <Paragraphs>1628</Paragraphs>
  <Slides>19</Slides>
  <Notes>15</Notes>
  <HiddenSlides>0</HiddenSlides>
  <MMClips>0</MMClips>
  <ScaleCrop>false</ScaleCrop>
  <HeadingPairs>
    <vt:vector size="8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4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38" baseType="lpstr">
      <vt:lpstr>LG스마트체 Regular</vt:lpstr>
      <vt:lpstr>LG스마트체2.0 Bold</vt:lpstr>
      <vt:lpstr>LG스마트체2.0 Regular</vt:lpstr>
      <vt:lpstr>LG스마트체2.0 SemiBold</vt:lpstr>
      <vt:lpstr>Wingdings,sans-serif</vt:lpstr>
      <vt:lpstr>굴림</vt:lpstr>
      <vt:lpstr>맑은 고딕</vt:lpstr>
      <vt:lpstr>Aptos</vt:lpstr>
      <vt:lpstr>Aptos Display</vt:lpstr>
      <vt:lpstr>Aptos Narrow</vt:lpstr>
      <vt:lpstr>Arial</vt:lpstr>
      <vt:lpstr>Arial Narrow</vt:lpstr>
      <vt:lpstr>Calibri</vt:lpstr>
      <vt:lpstr>Wingdings</vt:lpstr>
      <vt:lpstr>19_기본 디자인</vt:lpstr>
      <vt:lpstr>Office 테마</vt:lpstr>
      <vt:lpstr>3_Office 테마</vt:lpstr>
      <vt:lpstr>1_Office 테마</vt:lpstr>
      <vt:lpstr>Presentation</vt:lpstr>
      <vt:lpstr>FDC DX담당 9월 업무 보고</vt:lpstr>
      <vt:lpstr>PowerPoint 프레젠테이션</vt:lpstr>
      <vt:lpstr>PowerPoint 프레젠테이션</vt:lpstr>
      <vt:lpstr>2. KPI 8월 진척 사항 (1/5)</vt:lpstr>
      <vt:lpstr>PowerPoint 프레젠테이션</vt:lpstr>
      <vt:lpstr>2. KPI 8월 진척 사항 (3/5)</vt:lpstr>
      <vt:lpstr>2. KPI 8월 진척 사항 (4/5)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박정우(Jeong Woo Park)[jeongwoo]/팀장/경영전략2팀</dc:creator>
  <cp:lastModifiedBy>이재후(JAEHU LEE)[jaehu]/사원/제조DX.기획팀</cp:lastModifiedBy>
  <cp:revision>14</cp:revision>
  <cp:lastPrinted>2025-01-07T12:13:12Z</cp:lastPrinted>
  <dcterms:modified xsi:type="dcterms:W3CDTF">2026-09-08T08:14:31Z</dcterms:modified>
</cp:coreProperties>
</file>