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9" r:id="rId1"/>
    <p:sldMasterId id="2147483721" r:id="rId2"/>
    <p:sldMasterId id="2147483735" r:id="rId3"/>
    <p:sldMasterId id="2147483760" r:id="rId4"/>
    <p:sldMasterId id="2147483805" r:id="rId5"/>
    <p:sldMasterId id="2147483816" r:id="rId6"/>
    <p:sldMasterId id="2147483826" r:id="rId7"/>
  </p:sldMasterIdLst>
  <p:notesMasterIdLst>
    <p:notesMasterId r:id="rId28"/>
  </p:notesMasterIdLst>
  <p:handoutMasterIdLst>
    <p:handoutMasterId r:id="rId29"/>
  </p:handoutMasterIdLst>
  <p:sldIdLst>
    <p:sldId id="2147483397" r:id="rId8"/>
    <p:sldId id="2147483646" r:id="rId9"/>
    <p:sldId id="265" r:id="rId10"/>
    <p:sldId id="2147483568" r:id="rId11"/>
    <p:sldId id="264" r:id="rId12"/>
    <p:sldId id="257" r:id="rId13"/>
    <p:sldId id="2147483564" r:id="rId14"/>
    <p:sldId id="2147483416" r:id="rId15"/>
    <p:sldId id="2147483400" r:id="rId16"/>
    <p:sldId id="256" r:id="rId17"/>
    <p:sldId id="2147483647" r:id="rId18"/>
    <p:sldId id="269" r:id="rId19"/>
    <p:sldId id="2147483567" r:id="rId20"/>
    <p:sldId id="258" r:id="rId21"/>
    <p:sldId id="299" r:id="rId22"/>
    <p:sldId id="263" r:id="rId23"/>
    <p:sldId id="2147483446" r:id="rId24"/>
    <p:sldId id="2147483447" r:id="rId25"/>
    <p:sldId id="2147472734" r:id="rId26"/>
    <p:sldId id="259" r:id="rId27"/>
  </p:sldIdLst>
  <p:sldSz cx="9906000" cy="6858000" type="A4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685DEC3-A0A4-4C6B-9000-9B9306ECF9CF}">
          <p14:sldIdLst>
            <p14:sldId id="2147483397"/>
            <p14:sldId id="2147483646"/>
            <p14:sldId id="265"/>
          </p14:sldIdLst>
        </p14:section>
        <p14:section name="유첨. KPI 8월 진척 사항" id="{2359C2A3-3191-4C79-B672-FDF67D60F3E2}">
          <p14:sldIdLst>
            <p14:sldId id="2147483568"/>
            <p14:sldId id="264"/>
            <p14:sldId id="257"/>
            <p14:sldId id="2147483564"/>
            <p14:sldId id="2147483416"/>
            <p14:sldId id="2147483400"/>
            <p14:sldId id="256"/>
            <p14:sldId id="2147483647"/>
            <p14:sldId id="269"/>
          </p14:sldIdLst>
        </p14:section>
        <p14:section name="유첨.MI_LS RP 역압 자동보정 고도화 후 효과" id="{B4DD5162-6A0B-47DA-A5F1-1D04874DC204}">
          <p14:sldIdLst>
            <p14:sldId id="2147483567"/>
          </p14:sldIdLst>
        </p14:section>
        <p14:section name="유첨.NFF RP SLT 수율저하 원인 분석" id="{06CA0713-E9A5-420E-9618-428D47232490}">
          <p14:sldIdLst>
            <p14:sldId id="258"/>
          </p14:sldIdLst>
        </p14:section>
        <p14:section name="유첨.NND 주행속도 개선을 통한 불량 개선" id="{33D58146-FC44-4A95-91A3-EAE916EBDAC5}">
          <p14:sldIdLst>
            <p14:sldId id="299"/>
            <p14:sldId id="263"/>
          </p14:sldIdLst>
        </p14:section>
        <p14:section name="유첨.MI_LS 스택 계단식 적재" id="{B39433AD-66C1-434E-8938-3657C24FE020}">
          <p14:sldIdLst>
            <p14:sldId id="2147483446"/>
            <p14:sldId id="2147483447"/>
          </p14:sldIdLst>
        </p14:section>
        <p14:section name="유첨. 통합 슬러리 온도 관리 시스템 양산 적용 결과" id="{27D6C1AB-5F2D-42E7-9F51-91CD23DB92FE}">
          <p14:sldIdLst>
            <p14:sldId id="2147472734"/>
          </p14:sldIdLst>
        </p14:section>
        <p14:section name="유첨. 하부분리막 자동보정" id="{E6931B88-F7C3-438A-BAF4-87103CF8449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988">
          <p15:clr>
            <a:srgbClr val="A4A3A4"/>
          </p15:clr>
        </p15:guide>
        <p15:guide id="3" pos="435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FFFF"/>
    <a:srgbClr val="FFFFCC"/>
    <a:srgbClr val="00FF00"/>
    <a:srgbClr val="00FFFF"/>
    <a:srgbClr val="D42627"/>
    <a:srgbClr val="2078B4"/>
    <a:srgbClr val="008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5" autoAdjust="0"/>
    <p:restoredTop sz="96242" autoAdjust="0"/>
  </p:normalViewPr>
  <p:slideViewPr>
    <p:cSldViewPr>
      <p:cViewPr varScale="1">
        <p:scale>
          <a:sx n="107" d="100"/>
          <a:sy n="107" d="100"/>
        </p:scale>
        <p:origin x="3498" y="96"/>
      </p:cViewPr>
      <p:guideLst>
        <p:guide orient="horz" pos="482"/>
        <p:guide pos="988"/>
        <p:guide pos="435"/>
        <p:guide orient="horz" pos="799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666" y="-108"/>
      </p:cViewPr>
      <p:guideLst>
        <p:guide orient="horz" pos="3109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50" b="1"/>
              <a:t>MEB E77A </a:t>
            </a:r>
            <a:r>
              <a:rPr lang="ko-KR" altLang="en-US" sz="1050" b="1"/>
              <a:t>위치불량율 추이</a:t>
            </a:r>
            <a:endParaRPr lang="en-US" altLang="ko-KR" sz="1050" b="1"/>
          </a:p>
        </c:rich>
      </c:tx>
      <c:layout>
        <c:manualLayout>
          <c:xMode val="edge"/>
          <c:yMode val="edge"/>
          <c:x val="8.664630748907649E-3"/>
          <c:y val="0.100737183796554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위치불량추이!$C$13</c:f>
              <c:strCache>
                <c:ptCount val="1"/>
                <c:pt idx="0">
                  <c:v>MEB E77A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6.1214006646092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BE2-4D33-861F-5DEE74FCD3B8}"/>
                </c:ext>
              </c:extLst>
            </c:dLbl>
            <c:dLbl>
              <c:idx val="1"/>
              <c:layout>
                <c:manualLayout>
                  <c:x val="0"/>
                  <c:y val="-6.55864356922415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BE2-4D33-861F-5DEE74FCD3B8}"/>
                </c:ext>
              </c:extLst>
            </c:dLbl>
            <c:dLbl>
              <c:idx val="2"/>
              <c:layout>
                <c:manualLayout>
                  <c:x val="0"/>
                  <c:y val="-6.1214006646092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BE2-4D33-861F-5DEE74FCD3B8}"/>
                </c:ext>
              </c:extLst>
            </c:dLbl>
            <c:dLbl>
              <c:idx val="3"/>
              <c:layout>
                <c:manualLayout>
                  <c:x val="0"/>
                  <c:y val="-6.55864356922416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BE2-4D33-861F-5DEE74FCD3B8}"/>
                </c:ext>
              </c:extLst>
            </c:dLbl>
            <c:dLbl>
              <c:idx val="4"/>
              <c:layout>
                <c:manualLayout>
                  <c:x val="-9.7561439497134306E-17"/>
                  <c:y val="-2.62345742768966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BE2-4D33-861F-5DEE74FCD3B8}"/>
                </c:ext>
              </c:extLst>
            </c:dLbl>
            <c:dLbl>
              <c:idx val="6"/>
              <c:layout>
                <c:manualLayout>
                  <c:x val="-9.7561439497134306E-17"/>
                  <c:y val="3.06070033230459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BE2-4D33-861F-5DEE74FCD3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위치불량추이!$D$6:$N$6</c:f>
              <c:strCache>
                <c:ptCount val="11"/>
                <c:pt idx="0">
                  <c:v>20260814</c:v>
                </c:pt>
                <c:pt idx="1">
                  <c:v>20260815</c:v>
                </c:pt>
                <c:pt idx="2">
                  <c:v>20260816</c:v>
                </c:pt>
                <c:pt idx="3">
                  <c:v>20260817</c:v>
                </c:pt>
                <c:pt idx="4">
                  <c:v>20260818</c:v>
                </c:pt>
                <c:pt idx="5">
                  <c:v>20260819</c:v>
                </c:pt>
                <c:pt idx="6">
                  <c:v>20260820</c:v>
                </c:pt>
                <c:pt idx="7">
                  <c:v>20260821</c:v>
                </c:pt>
                <c:pt idx="8">
                  <c:v>20260822</c:v>
                </c:pt>
                <c:pt idx="9">
                  <c:v>20260823</c:v>
                </c:pt>
                <c:pt idx="10">
                  <c:v>20260824</c:v>
                </c:pt>
              </c:strCache>
            </c:strRef>
          </c:cat>
          <c:val>
            <c:numRef>
              <c:f>위치불량추이!$D$13:$N$13</c:f>
              <c:numCache>
                <c:formatCode>#,##0.000%</c:formatCode>
                <c:ptCount val="11"/>
                <c:pt idx="0">
                  <c:v>1.78587672793E-3</c:v>
                </c:pt>
                <c:pt idx="1">
                  <c:v>1.9021775619819999E-3</c:v>
                </c:pt>
                <c:pt idx="2">
                  <c:v>1.986223910645E-3</c:v>
                </c:pt>
                <c:pt idx="3">
                  <c:v>2.0052874950179998E-3</c:v>
                </c:pt>
                <c:pt idx="4">
                  <c:v>2.121403504221E-3</c:v>
                </c:pt>
                <c:pt idx="5">
                  <c:v>1.9215861761829999E-3</c:v>
                </c:pt>
                <c:pt idx="6">
                  <c:v>1.4021996213599999E-3</c:v>
                </c:pt>
                <c:pt idx="7">
                  <c:v>1.465357236864E-3</c:v>
                </c:pt>
                <c:pt idx="8">
                  <c:v>1.7990928839429999E-3</c:v>
                </c:pt>
                <c:pt idx="9">
                  <c:v>1.5706164290880001E-3</c:v>
                </c:pt>
                <c:pt idx="10">
                  <c:v>1.41E-3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BE2-4D33-861F-5DEE74FCD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1660608"/>
        <c:axId val="725700352"/>
      </c:lineChart>
      <c:catAx>
        <c:axId val="1261660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5700352"/>
        <c:crosses val="autoZero"/>
        <c:auto val="1"/>
        <c:lblAlgn val="ctr"/>
        <c:lblOffset val="100"/>
        <c:noMultiLvlLbl val="0"/>
      </c:catAx>
      <c:valAx>
        <c:axId val="725700352"/>
        <c:scaling>
          <c:orientation val="minMax"/>
          <c:min val="1.3000000000000004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6166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16" tIns="45508" rIns="91016" bIns="45508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89517"/>
            <a:ext cx="5438140" cy="4442699"/>
          </a:xfrm>
          <a:prstGeom prst="rect">
            <a:avLst/>
          </a:prstGeom>
        </p:spPr>
        <p:txBody>
          <a:bodyPr vert="horz" lIns="91016" tIns="45508" rIns="91016" bIns="4550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slide" Target="../slides/slide1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91F4C645-ABDE-4C2B-8039-27118650AB20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722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8149">
              <a:defRPr/>
            </a:pPr>
            <a:fld id="{0E8BEC97-7182-4C18-B0DF-EAF40FCBE660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18149">
                <a:defRPr/>
              </a:pPr>
              <a:t>1</a:t>
            </a:fld>
            <a:endParaRPr lang="ko-KR" altLang="en-US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955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8149">
              <a:defRPr/>
            </a:pPr>
            <a:fld id="{0E8BEC97-7182-4C18-B0DF-EAF40FCBE660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18149">
                <a:defRPr/>
              </a:pPr>
              <a:t>2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317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8052E-B7A7-BC96-214A-A8E77AAB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7C5B85-29C5-6792-54C6-BDD9F2538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5B53D6-4AC7-218E-C6FD-9AAF54015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DB8D64-3CFD-0FDA-7BA3-7D99B38A6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084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234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794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113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919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20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41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115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3089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3472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EDAB2-F4F7-4586-8C9A-D3BDBBE090C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23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EDAB2-F4F7-4586-8C9A-D3BDBBE090C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363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AD3374-25B7-48A7-AE46-74ACC8AE4C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945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AD3374-25B7-48A7-AE46-74ACC8AE4C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594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A981-C1C4-3B06-7A9F-56F1ECDF3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D1625-89DD-4B0E-CDC1-7CB108CA0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1748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9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5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26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22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34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33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02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03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62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157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52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6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4" y="6660775"/>
            <a:ext cx="1015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89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89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5" y="188914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1" y="6677891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07642586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_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/>
          <p:cNvSpPr>
            <a:spLocks noGrp="1"/>
          </p:cNvSpPr>
          <p:nvPr>
            <p:ph idx="1"/>
          </p:nvPr>
        </p:nvSpPr>
        <p:spPr>
          <a:xfrm>
            <a:off x="273050" y="657511"/>
            <a:ext cx="9359900" cy="5032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34568" y="141836"/>
            <a:ext cx="184731" cy="39267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 algn="l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731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9F271-683B-81A5-199F-79BB9A1F8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58446A-53AE-0960-5730-25811E8BD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57681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864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0860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TCLayout.ActiveDocument.1">
                  <p:embed/>
                </p:oleObj>
              </mc:Choice>
              <mc:Fallback>
                <p:oleObj name="think-cell Slide" r:id="rId4" imgW="0" imgH="0" progId="TCLayout.ActiveDocument.1">
                  <p:embed/>
                  <p:pic>
                    <p:nvPicPr>
                      <p:cNvPr id="7" name="개체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B4A50E-BFF7-4536-BB37-AF50881A0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2782" y="6487967"/>
            <a:ext cx="14757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57E84-BEC6-4B1A-95B7-8CE6A868884B}" type="slidenum">
              <a:rPr lang="ko-KR" altLang="en-US" smtClean="0"/>
              <a:pPr/>
              <a:t>‹#›</a:t>
            </a:fld>
            <a:r>
              <a:rPr lang="en-US" altLang="ko-KR"/>
              <a:t>/</a:t>
            </a:r>
            <a:r>
              <a:rPr lang="ko-KR" altLang="en-US"/>
              <a:t>유첨</a:t>
            </a:r>
            <a:r>
              <a:rPr lang="en-US" altLang="ko-KR"/>
              <a:t>-</a:t>
            </a:r>
            <a:r>
              <a:rPr lang="ko-KR" altLang="en-US"/>
              <a:t>제품개발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080881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519546"/>
            <a:ext cx="7429500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8365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56394B-2BA6-4E44-851D-9A45DE5BFAC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34188698"/>
              </p:ext>
            </p:extLst>
          </p:nvPr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232">
            <a:extLst>
              <a:ext uri="{FF2B5EF4-FFF2-40B4-BE49-F238E27FC236}">
                <a16:creationId xmlns:a16="http://schemas.microsoft.com/office/drawing/2014/main" id="{1D6368B3-7B88-4C5A-9CAF-DB342CBD3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467BC4-D058-4962-A412-62F807BB4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56363"/>
            <a:ext cx="2400703" cy="3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00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56" y="2180136"/>
            <a:ext cx="8247088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56" y="2976879"/>
            <a:ext cx="8247088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1CA46-7809-4962-A950-4921143260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76563"/>
            <a:ext cx="2400703" cy="35295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A9C87F-4F1C-4D32-B984-C8570BABB4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24505008"/>
              </p:ext>
            </p:extLst>
          </p:nvPr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232">
            <a:extLst>
              <a:ext uri="{FF2B5EF4-FFF2-40B4-BE49-F238E27FC236}">
                <a16:creationId xmlns:a16="http://schemas.microsoft.com/office/drawing/2014/main" id="{28493CF7-D609-444C-9060-8EB4D48A29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6504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363000" y="612000"/>
            <a:ext cx="91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542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60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6772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1469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3494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519546"/>
            <a:ext cx="7429500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8365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56394B-2BA6-4E44-851D-9A45DE5BFAC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34188698"/>
              </p:ext>
            </p:extLst>
          </p:nvPr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232">
            <a:extLst>
              <a:ext uri="{FF2B5EF4-FFF2-40B4-BE49-F238E27FC236}">
                <a16:creationId xmlns:a16="http://schemas.microsoft.com/office/drawing/2014/main" id="{1D6368B3-7B88-4C5A-9CAF-DB342CBD3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467BC4-D058-4962-A412-62F807BB4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56363"/>
            <a:ext cx="2400703" cy="3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768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56" y="2180136"/>
            <a:ext cx="8247088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56" y="2976879"/>
            <a:ext cx="8247088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1CA46-7809-4962-A950-4921143260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76563"/>
            <a:ext cx="2400703" cy="35295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A9C87F-4F1C-4D32-B984-C8570BABB4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24505008"/>
              </p:ext>
            </p:extLst>
          </p:nvPr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232">
            <a:extLst>
              <a:ext uri="{FF2B5EF4-FFF2-40B4-BE49-F238E27FC236}">
                <a16:creationId xmlns:a16="http://schemas.microsoft.com/office/drawing/2014/main" id="{28493CF7-D609-444C-9060-8EB4D48A29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00857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68669272-76E8-4350-874B-8DCA4A47764A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363000" y="612000"/>
            <a:ext cx="91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726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4F0C6C1B-2CA2-4F14-8C98-7A8083D4B4FF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250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D078BB-1EA9-42D5-B004-F2A66CB01815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BF6C60D-35A1-2B1F-0AC2-2AAFA3632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9219" y="550228"/>
            <a:ext cx="9307562" cy="2666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552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58295A07-3543-4723-A0D5-E65120AE1DFC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736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E2C5A060-FB4E-4AC3-BA1C-9EE3739D44B3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93095" y="6513230"/>
            <a:ext cx="54618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8926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43AE49F7-4FBA-4E2E-B3C9-2C61CDD4BEBB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0970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B3B5B44A-E1F3-4988-95FA-2BA0364A5200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021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D21-2478-449C-9594-F8CA827F90E3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26B7-57C7-454E-B2A7-01EC4AB8D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1725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A981-C1C4-3B06-7A9F-56F1ECDF3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D1625-89DD-4B0E-CDC1-7CB108CA0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497597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F873F-CE4A-4BDD-BB1D-41EAFF3C661F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94D2-06C2-426F-9A28-49F5746F9E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574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6574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0">
            <a:extLst>
              <a:ext uri="{FF2B5EF4-FFF2-40B4-BE49-F238E27FC236}">
                <a16:creationId xmlns:a16="http://schemas.microsoft.com/office/drawing/2014/main" id="{B0E343B9-F6C3-5E42-4368-851E1FDBBF11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sp>
        <p:nvSpPr>
          <p:cNvPr id="3" name="텍스트 개체 틀 40">
            <a:extLst>
              <a:ext uri="{FF2B5EF4-FFF2-40B4-BE49-F238E27FC236}">
                <a16:creationId xmlns:a16="http://schemas.microsoft.com/office/drawing/2014/main" id="{A3223B7F-EA9A-E6E3-208B-F0A75FD6D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" name="텍스트 개체 틀 40">
            <a:extLst>
              <a:ext uri="{FF2B5EF4-FFF2-40B4-BE49-F238E27FC236}">
                <a16:creationId xmlns:a16="http://schemas.microsoft.com/office/drawing/2014/main" id="{268511CE-FCEF-B049-351E-43FCBE5B51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13784999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메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0">
            <a:extLst>
              <a:ext uri="{FF2B5EF4-FFF2-40B4-BE49-F238E27FC236}">
                <a16:creationId xmlns:a16="http://schemas.microsoft.com/office/drawing/2014/main" id="{08E241A2-2D3A-EBE6-1A5C-85708C71626E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32" name="표 1">
            <a:extLst>
              <a:ext uri="{FF2B5EF4-FFF2-40B4-BE49-F238E27FC236}">
                <a16:creationId xmlns:a16="http://schemas.microsoft.com/office/drawing/2014/main" id="{718E4975-0506-DA2A-1FA6-4EAF4C6EE5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51950704"/>
              </p:ext>
            </p:extLst>
          </p:nvPr>
        </p:nvGraphicFramePr>
        <p:xfrm>
          <a:off x="114887" y="907749"/>
          <a:ext cx="9644176" cy="5595102"/>
        </p:xfrm>
        <a:graphic>
          <a:graphicData uri="http://schemas.openxmlformats.org/drawingml/2006/table">
            <a:tbl>
              <a:tblPr/>
              <a:tblGrid>
                <a:gridCol w="93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(W35)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7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latin typeface="+mn-ea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833E550-6C35-B912-9D04-3025DA16CA8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212136"/>
              </p:ext>
            </p:extLst>
          </p:nvPr>
        </p:nvGraphicFramePr>
        <p:xfrm>
          <a:off x="1658655" y="1172698"/>
          <a:ext cx="6996131" cy="5323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40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52691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439779">
                <a:tc gridSpan="2">
                  <a:txBody>
                    <a:bodyPr/>
                    <a:lstStyle/>
                    <a:p>
                      <a:pPr algn="l"/>
                      <a:r>
                        <a:rPr lang="ko-KR" altLang="en-US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(W35) </a:t>
                      </a:r>
                    </a:p>
                    <a:p>
                      <a:pPr algn="l"/>
                      <a:endParaRPr lang="en-US" altLang="ko-KR" sz="900" b="0" baseline="0">
                        <a:solidFill>
                          <a:srgbClr val="1414FE"/>
                        </a:solidFill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86510"/>
                  </a:ext>
                </a:extLst>
              </a:tr>
              <a:tr h="20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467445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A2946D4E-BBC4-726A-5095-CE1D34E083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270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2E83B665-1031-4D74-E928-4F97DA4530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8303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‘26.01</a:t>
            </a:r>
            <a:endParaRPr lang="ko-KR" altLang="en-US"/>
          </a:p>
        </p:txBody>
      </p:sp>
      <p:sp>
        <p:nvSpPr>
          <p:cNvPr id="43" name="텍스트 개체 틀 40">
            <a:extLst>
              <a:ext uri="{FF2B5EF4-FFF2-40B4-BE49-F238E27FC236}">
                <a16:creationId xmlns:a16="http://schemas.microsoft.com/office/drawing/2014/main" id="{C5B514E9-0FFA-75B8-B833-22990642B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027" y="3282350"/>
            <a:ext cx="842682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44" name="텍스트 개체 틀 40">
            <a:extLst>
              <a:ext uri="{FF2B5EF4-FFF2-40B4-BE49-F238E27FC236}">
                <a16:creationId xmlns:a16="http://schemas.microsoft.com/office/drawing/2014/main" id="{02023456-9227-FEDB-5E76-52CB15E70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7869" y="3282350"/>
            <a:ext cx="486127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대상라인</a:t>
            </a:r>
          </a:p>
        </p:txBody>
      </p:sp>
      <p:sp>
        <p:nvSpPr>
          <p:cNvPr id="48" name="텍스트 개체 틀 40">
            <a:extLst>
              <a:ext uri="{FF2B5EF4-FFF2-40B4-BE49-F238E27FC236}">
                <a16:creationId xmlns:a16="http://schemas.microsoft.com/office/drawing/2014/main" id="{2953F6E8-555E-516F-B893-76F047CAF5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9" name="텍스트 개체 틀 40">
            <a:extLst>
              <a:ext uri="{FF2B5EF4-FFF2-40B4-BE49-F238E27FC236}">
                <a16:creationId xmlns:a16="http://schemas.microsoft.com/office/drawing/2014/main" id="{BBF64B4E-6359-2329-7049-7A792C5046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8D9F346F-ACBE-0EF0-67C8-64141A2E84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60650" y="1846263"/>
            <a:ext cx="6066790" cy="4511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내용 입력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15D248-FD7C-CD03-DB87-BE30D482EEC7}"/>
              </a:ext>
            </a:extLst>
          </p:cNvPr>
          <p:cNvSpPr txBox="1"/>
          <p:nvPr userDrawn="1"/>
        </p:nvSpPr>
        <p:spPr>
          <a:xfrm>
            <a:off x="120219" y="224437"/>
            <a:ext cx="1807734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_</a:t>
            </a:r>
            <a:endParaRPr lang="ko-KR" altLang="en-US" sz="800" b="1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EEDAE0-2A1B-19C6-86FD-010928740A2D}"/>
              </a:ext>
            </a:extLst>
          </p:cNvPr>
          <p:cNvSpPr txBox="1"/>
          <p:nvPr userDrawn="1"/>
        </p:nvSpPr>
        <p:spPr>
          <a:xfrm>
            <a:off x="120217" y="653494"/>
            <a:ext cx="1854679" cy="1938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/>
              </a:rPr>
              <a:t>■</a:t>
            </a:r>
            <a:endParaRPr lang="ko-KR" altLang="en-US" sz="800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6" name="텍스트 개체 틀 65">
            <a:extLst>
              <a:ext uri="{FF2B5EF4-FFF2-40B4-BE49-F238E27FC236}">
                <a16:creationId xmlns:a16="http://schemas.microsoft.com/office/drawing/2014/main" id="{D809D1F9-B179-6DF8-979B-8D3F7B3357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76767" y="158676"/>
            <a:ext cx="309721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 err="1"/>
              <a:t>팀이름</a:t>
            </a:r>
            <a:endParaRPr lang="ko-KR" altLang="en-US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BB2B25EF-BB10-29B6-8246-710927BCD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737" y="588519"/>
            <a:ext cx="7554663" cy="220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62B43-2AFE-3CC7-7EBD-B8D3C4BC93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22788" y="1201138"/>
            <a:ext cx="6242050" cy="352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요약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54D41A-9365-5E4C-A1E1-95F9A4D16605}"/>
              </a:ext>
            </a:extLst>
          </p:cNvPr>
          <p:cNvCxnSpPr>
            <a:cxnSpLocks/>
          </p:cNvCxnSpPr>
          <p:nvPr userDrawn="1"/>
        </p:nvCxnSpPr>
        <p:spPr>
          <a:xfrm>
            <a:off x="179237" y="492986"/>
            <a:ext cx="4421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069E48-3BB9-CB50-687B-636ABD3C1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97625" y="1978221"/>
            <a:ext cx="840987" cy="2651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[</a:t>
            </a:r>
            <a:r>
              <a:rPr lang="ko-KR" altLang="en-US"/>
              <a:t>목차 작성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6542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29">
          <p15:clr>
            <a:srgbClr val="FBAE40"/>
          </p15:clr>
        </p15:guide>
        <p15:guide id="2" pos="83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D078BB-1EA9-42D5-B004-F2A66CB01815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BF6C60D-35A1-2B1F-0AC2-2AAFA3632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9219" y="550228"/>
            <a:ext cx="9307562" cy="2666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56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메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0">
            <a:extLst>
              <a:ext uri="{FF2B5EF4-FFF2-40B4-BE49-F238E27FC236}">
                <a16:creationId xmlns:a16="http://schemas.microsoft.com/office/drawing/2014/main" id="{08E241A2-2D3A-EBE6-1A5C-85708C71626E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32" name="표 1">
            <a:extLst>
              <a:ext uri="{FF2B5EF4-FFF2-40B4-BE49-F238E27FC236}">
                <a16:creationId xmlns:a16="http://schemas.microsoft.com/office/drawing/2014/main" id="{718E4975-0506-DA2A-1FA6-4EAF4C6EE5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73230443"/>
              </p:ext>
            </p:extLst>
          </p:nvPr>
        </p:nvGraphicFramePr>
        <p:xfrm>
          <a:off x="114887" y="907749"/>
          <a:ext cx="9644176" cy="5595102"/>
        </p:xfrm>
        <a:graphic>
          <a:graphicData uri="http://schemas.openxmlformats.org/drawingml/2006/table">
            <a:tbl>
              <a:tblPr/>
              <a:tblGrid>
                <a:gridCol w="93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(W35)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7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latin typeface="+mn-ea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833E550-6C35-B912-9D04-3025DA16CA8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26067441"/>
              </p:ext>
            </p:extLst>
          </p:nvPr>
        </p:nvGraphicFramePr>
        <p:xfrm>
          <a:off x="1650029" y="1172698"/>
          <a:ext cx="6996131" cy="5323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40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52691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439779">
                <a:tc gridSpan="2">
                  <a:txBody>
                    <a:bodyPr/>
                    <a:lstStyle/>
                    <a:p>
                      <a:pPr algn="l"/>
                      <a:r>
                        <a:rPr lang="ko-KR" altLang="en-US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(W35) </a:t>
                      </a:r>
                    </a:p>
                    <a:p>
                      <a:pPr algn="l"/>
                      <a:endParaRPr lang="en-US" altLang="ko-KR" sz="900" b="0" baseline="0">
                        <a:solidFill>
                          <a:srgbClr val="1414FE"/>
                        </a:solidFill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86510"/>
                  </a:ext>
                </a:extLst>
              </a:tr>
              <a:tr h="20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467445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A2946D4E-BBC4-726A-5095-CE1D34E083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270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2E83B665-1031-4D74-E928-4F97DA4530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8303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‘26.01</a:t>
            </a:r>
            <a:endParaRPr lang="ko-KR" altLang="en-US"/>
          </a:p>
        </p:txBody>
      </p:sp>
      <p:sp>
        <p:nvSpPr>
          <p:cNvPr id="43" name="텍스트 개체 틀 40">
            <a:extLst>
              <a:ext uri="{FF2B5EF4-FFF2-40B4-BE49-F238E27FC236}">
                <a16:creationId xmlns:a16="http://schemas.microsoft.com/office/drawing/2014/main" id="{C5B514E9-0FFA-75B8-B833-22990642B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027" y="3282350"/>
            <a:ext cx="842682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44" name="텍스트 개체 틀 40">
            <a:extLst>
              <a:ext uri="{FF2B5EF4-FFF2-40B4-BE49-F238E27FC236}">
                <a16:creationId xmlns:a16="http://schemas.microsoft.com/office/drawing/2014/main" id="{02023456-9227-FEDB-5E76-52CB15E70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7869" y="3282350"/>
            <a:ext cx="486127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대상라인</a:t>
            </a:r>
          </a:p>
        </p:txBody>
      </p:sp>
      <p:sp>
        <p:nvSpPr>
          <p:cNvPr id="48" name="텍스트 개체 틀 40">
            <a:extLst>
              <a:ext uri="{FF2B5EF4-FFF2-40B4-BE49-F238E27FC236}">
                <a16:creationId xmlns:a16="http://schemas.microsoft.com/office/drawing/2014/main" id="{2953F6E8-555E-516F-B893-76F047CAF5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9" name="텍스트 개체 틀 40">
            <a:extLst>
              <a:ext uri="{FF2B5EF4-FFF2-40B4-BE49-F238E27FC236}">
                <a16:creationId xmlns:a16="http://schemas.microsoft.com/office/drawing/2014/main" id="{BBF64B4E-6359-2329-7049-7A792C5046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8D9F346F-ACBE-0EF0-67C8-64141A2E84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60650" y="1846263"/>
            <a:ext cx="6066790" cy="4511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내용 입력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15D248-FD7C-CD03-DB87-BE30D482EEC7}"/>
              </a:ext>
            </a:extLst>
          </p:cNvPr>
          <p:cNvSpPr txBox="1"/>
          <p:nvPr userDrawn="1"/>
        </p:nvSpPr>
        <p:spPr>
          <a:xfrm>
            <a:off x="120219" y="224437"/>
            <a:ext cx="1807734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_</a:t>
            </a:r>
            <a:endParaRPr lang="ko-KR" altLang="en-US" sz="800" b="1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EEDAE0-2A1B-19C6-86FD-010928740A2D}"/>
              </a:ext>
            </a:extLst>
          </p:cNvPr>
          <p:cNvSpPr txBox="1"/>
          <p:nvPr userDrawn="1"/>
        </p:nvSpPr>
        <p:spPr>
          <a:xfrm>
            <a:off x="120217" y="653494"/>
            <a:ext cx="1854679" cy="1938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/>
              </a:rPr>
              <a:t>■</a:t>
            </a:r>
            <a:endParaRPr lang="ko-KR" altLang="en-US" sz="800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6" name="텍스트 개체 틀 65">
            <a:extLst>
              <a:ext uri="{FF2B5EF4-FFF2-40B4-BE49-F238E27FC236}">
                <a16:creationId xmlns:a16="http://schemas.microsoft.com/office/drawing/2014/main" id="{D809D1F9-B179-6DF8-979B-8D3F7B3357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76767" y="158676"/>
            <a:ext cx="309721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 err="1"/>
              <a:t>팀이름</a:t>
            </a:r>
            <a:endParaRPr lang="ko-KR" altLang="en-US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BB2B25EF-BB10-29B6-8246-710927BCD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737" y="588519"/>
            <a:ext cx="7554663" cy="220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62B43-2AFE-3CC7-7EBD-B8D3C4BC93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22788" y="1201138"/>
            <a:ext cx="6242050" cy="352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요약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54D41A-9365-5E4C-A1E1-95F9A4D16605}"/>
              </a:ext>
            </a:extLst>
          </p:cNvPr>
          <p:cNvCxnSpPr>
            <a:cxnSpLocks/>
          </p:cNvCxnSpPr>
          <p:nvPr userDrawn="1"/>
        </p:nvCxnSpPr>
        <p:spPr>
          <a:xfrm>
            <a:off x="179237" y="492986"/>
            <a:ext cx="4421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069E48-3BB9-CB50-687B-636ABD3C1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97625" y="1978221"/>
            <a:ext cx="840987" cy="2651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[</a:t>
            </a:r>
            <a:r>
              <a:rPr lang="ko-KR" altLang="en-US"/>
              <a:t>목차 작성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98244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29">
          <p15:clr>
            <a:srgbClr val="FBAE40"/>
          </p15:clr>
        </p15:guide>
        <p15:guide id="2" pos="83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메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0">
            <a:extLst>
              <a:ext uri="{FF2B5EF4-FFF2-40B4-BE49-F238E27FC236}">
                <a16:creationId xmlns:a16="http://schemas.microsoft.com/office/drawing/2014/main" id="{08E241A2-2D3A-EBE6-1A5C-85708C71626E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32" name="표 1">
            <a:extLst>
              <a:ext uri="{FF2B5EF4-FFF2-40B4-BE49-F238E27FC236}">
                <a16:creationId xmlns:a16="http://schemas.microsoft.com/office/drawing/2014/main" id="{718E4975-0506-DA2A-1FA6-4EAF4C6EE5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27902920"/>
              </p:ext>
            </p:extLst>
          </p:nvPr>
        </p:nvGraphicFramePr>
        <p:xfrm>
          <a:off x="114887" y="907749"/>
          <a:ext cx="9644176" cy="5595102"/>
        </p:xfrm>
        <a:graphic>
          <a:graphicData uri="http://schemas.openxmlformats.org/drawingml/2006/table">
            <a:tbl>
              <a:tblPr/>
              <a:tblGrid>
                <a:gridCol w="93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(W35)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7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latin typeface="+mn-ea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833E550-6C35-B912-9D04-3025DA16CA8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737503"/>
              </p:ext>
            </p:extLst>
          </p:nvPr>
        </p:nvGraphicFramePr>
        <p:xfrm>
          <a:off x="1650029" y="1172698"/>
          <a:ext cx="6996131" cy="5323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40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52691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439779">
                <a:tc gridSpan="2">
                  <a:txBody>
                    <a:bodyPr/>
                    <a:lstStyle/>
                    <a:p>
                      <a:pPr algn="l"/>
                      <a:r>
                        <a:rPr lang="ko-KR" altLang="en-US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(W35) </a:t>
                      </a:r>
                    </a:p>
                    <a:p>
                      <a:pPr algn="l"/>
                      <a:endParaRPr lang="en-US" altLang="ko-KR" sz="900" b="0" baseline="0">
                        <a:solidFill>
                          <a:srgbClr val="1414FE"/>
                        </a:solidFill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86510"/>
                  </a:ext>
                </a:extLst>
              </a:tr>
              <a:tr h="20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467445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A2946D4E-BBC4-726A-5095-CE1D34E083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270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2E83B665-1031-4D74-E928-4F97DA4530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8303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‘26.01</a:t>
            </a:r>
            <a:endParaRPr lang="ko-KR" altLang="en-US"/>
          </a:p>
        </p:txBody>
      </p:sp>
      <p:sp>
        <p:nvSpPr>
          <p:cNvPr id="43" name="텍스트 개체 틀 40">
            <a:extLst>
              <a:ext uri="{FF2B5EF4-FFF2-40B4-BE49-F238E27FC236}">
                <a16:creationId xmlns:a16="http://schemas.microsoft.com/office/drawing/2014/main" id="{C5B514E9-0FFA-75B8-B833-22990642B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027" y="3282350"/>
            <a:ext cx="842682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44" name="텍스트 개체 틀 40">
            <a:extLst>
              <a:ext uri="{FF2B5EF4-FFF2-40B4-BE49-F238E27FC236}">
                <a16:creationId xmlns:a16="http://schemas.microsoft.com/office/drawing/2014/main" id="{02023456-9227-FEDB-5E76-52CB15E70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7869" y="3282350"/>
            <a:ext cx="486127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대상라인</a:t>
            </a:r>
          </a:p>
        </p:txBody>
      </p:sp>
      <p:sp>
        <p:nvSpPr>
          <p:cNvPr id="48" name="텍스트 개체 틀 40">
            <a:extLst>
              <a:ext uri="{FF2B5EF4-FFF2-40B4-BE49-F238E27FC236}">
                <a16:creationId xmlns:a16="http://schemas.microsoft.com/office/drawing/2014/main" id="{2953F6E8-555E-516F-B893-76F047CAF5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9" name="텍스트 개체 틀 40">
            <a:extLst>
              <a:ext uri="{FF2B5EF4-FFF2-40B4-BE49-F238E27FC236}">
                <a16:creationId xmlns:a16="http://schemas.microsoft.com/office/drawing/2014/main" id="{BBF64B4E-6359-2329-7049-7A792C5046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8D9F346F-ACBE-0EF0-67C8-64141A2E84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60650" y="1846263"/>
            <a:ext cx="6066790" cy="4511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내용 입력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15D248-FD7C-CD03-DB87-BE30D482EEC7}"/>
              </a:ext>
            </a:extLst>
          </p:cNvPr>
          <p:cNvSpPr txBox="1"/>
          <p:nvPr userDrawn="1"/>
        </p:nvSpPr>
        <p:spPr>
          <a:xfrm>
            <a:off x="120219" y="224437"/>
            <a:ext cx="1807734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_</a:t>
            </a:r>
            <a:endParaRPr lang="ko-KR" altLang="en-US" sz="800" b="1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EEDAE0-2A1B-19C6-86FD-010928740A2D}"/>
              </a:ext>
            </a:extLst>
          </p:cNvPr>
          <p:cNvSpPr txBox="1"/>
          <p:nvPr userDrawn="1"/>
        </p:nvSpPr>
        <p:spPr>
          <a:xfrm>
            <a:off x="120217" y="653494"/>
            <a:ext cx="1854679" cy="1938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/>
              </a:rPr>
              <a:t>■</a:t>
            </a:r>
            <a:endParaRPr lang="ko-KR" altLang="en-US" sz="800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6" name="텍스트 개체 틀 65">
            <a:extLst>
              <a:ext uri="{FF2B5EF4-FFF2-40B4-BE49-F238E27FC236}">
                <a16:creationId xmlns:a16="http://schemas.microsoft.com/office/drawing/2014/main" id="{D809D1F9-B179-6DF8-979B-8D3F7B3357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76767" y="158676"/>
            <a:ext cx="309721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 err="1"/>
              <a:t>팀이름</a:t>
            </a:r>
            <a:endParaRPr lang="ko-KR" altLang="en-US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BB2B25EF-BB10-29B6-8246-710927BCD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737" y="588519"/>
            <a:ext cx="7554663" cy="220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62B43-2AFE-3CC7-7EBD-B8D3C4BC93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22788" y="1201138"/>
            <a:ext cx="6242050" cy="352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요약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54D41A-9365-5E4C-A1E1-95F9A4D16605}"/>
              </a:ext>
            </a:extLst>
          </p:cNvPr>
          <p:cNvCxnSpPr>
            <a:cxnSpLocks/>
          </p:cNvCxnSpPr>
          <p:nvPr userDrawn="1"/>
        </p:nvCxnSpPr>
        <p:spPr>
          <a:xfrm>
            <a:off x="179237" y="492986"/>
            <a:ext cx="4421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069E48-3BB9-CB50-687B-636ABD3C1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97625" y="1978221"/>
            <a:ext cx="840987" cy="2651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[</a:t>
            </a:r>
            <a:r>
              <a:rPr lang="ko-KR" altLang="en-US"/>
              <a:t>목차 작성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4379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29">
          <p15:clr>
            <a:srgbClr val="FBAE40"/>
          </p15:clr>
        </p15:guide>
        <p15:guide id="2" pos="83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서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8100811F-687F-3281-8CE1-309FC13722E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3337003"/>
              </p:ext>
            </p:extLst>
          </p:nvPr>
        </p:nvGraphicFramePr>
        <p:xfrm>
          <a:off x="114887" y="907749"/>
          <a:ext cx="9644176" cy="5595102"/>
        </p:xfrm>
        <a:graphic>
          <a:graphicData uri="http://schemas.openxmlformats.org/drawingml/2006/table">
            <a:tbl>
              <a:tblPr/>
              <a:tblGrid>
                <a:gridCol w="93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(W35)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7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latin typeface="+mn-ea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텍스트 개체 틀 40">
            <a:extLst>
              <a:ext uri="{FF2B5EF4-FFF2-40B4-BE49-F238E27FC236}">
                <a16:creationId xmlns:a16="http://schemas.microsoft.com/office/drawing/2014/main" id="{4105DAF9-4AC1-CFEC-2098-4D8013EA9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270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6" name="텍스트 개체 틀 40">
            <a:extLst>
              <a:ext uri="{FF2B5EF4-FFF2-40B4-BE49-F238E27FC236}">
                <a16:creationId xmlns:a16="http://schemas.microsoft.com/office/drawing/2014/main" id="{490DBB52-15C3-1F1D-008A-6EE3694B6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8303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‘26.01</a:t>
            </a: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56680-FC4B-7686-939F-F74B1768BFB3}"/>
              </a:ext>
            </a:extLst>
          </p:cNvPr>
          <p:cNvSpPr txBox="1"/>
          <p:nvPr userDrawn="1"/>
        </p:nvSpPr>
        <p:spPr>
          <a:xfrm>
            <a:off x="120219" y="224437"/>
            <a:ext cx="1807734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_</a:t>
            </a:r>
            <a:endParaRPr lang="ko-KR" altLang="en-US" sz="800" b="1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FDCEBC-7F09-9AC5-9D7B-38D61384E553}"/>
              </a:ext>
            </a:extLst>
          </p:cNvPr>
          <p:cNvSpPr txBox="1"/>
          <p:nvPr userDrawn="1"/>
        </p:nvSpPr>
        <p:spPr>
          <a:xfrm>
            <a:off x="120217" y="652960"/>
            <a:ext cx="1854679" cy="1938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/>
              </a:rPr>
              <a:t>■</a:t>
            </a:r>
            <a:endParaRPr lang="ko-KR" altLang="en-US" sz="800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5" name="텍스트 개체 틀 65">
            <a:extLst>
              <a:ext uri="{FF2B5EF4-FFF2-40B4-BE49-F238E27FC236}">
                <a16:creationId xmlns:a16="http://schemas.microsoft.com/office/drawing/2014/main" id="{0726766A-CDF3-278E-1EB5-7C2C68A60E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76767" y="158676"/>
            <a:ext cx="309721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 err="1"/>
              <a:t>팀이름</a:t>
            </a:r>
            <a:endParaRPr lang="ko-KR" altLang="en-US"/>
          </a:p>
        </p:txBody>
      </p:sp>
      <p:sp>
        <p:nvSpPr>
          <p:cNvPr id="26" name="텍스트 개체 틀 67">
            <a:extLst>
              <a:ext uri="{FF2B5EF4-FFF2-40B4-BE49-F238E27FC236}">
                <a16:creationId xmlns:a16="http://schemas.microsoft.com/office/drawing/2014/main" id="{9A2B5EB8-D398-8005-ACD3-D3169E4D07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737" y="587984"/>
            <a:ext cx="7784436" cy="246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2058748F-0786-4A6A-4DD3-3AEEA6620CE1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sp>
        <p:nvSpPr>
          <p:cNvPr id="9" name="텍스트 개체 틀 40">
            <a:extLst>
              <a:ext uri="{FF2B5EF4-FFF2-40B4-BE49-F238E27FC236}">
                <a16:creationId xmlns:a16="http://schemas.microsoft.com/office/drawing/2014/main" id="{E8DDF3E4-844A-9143-AB44-F9FC35DE1A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10" name="텍스트 개체 틀 40">
            <a:extLst>
              <a:ext uri="{FF2B5EF4-FFF2-40B4-BE49-F238E27FC236}">
                <a16:creationId xmlns:a16="http://schemas.microsoft.com/office/drawing/2014/main" id="{EEE3520C-1242-77CB-8A00-BE49BA1AE0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  <p:sp>
        <p:nvSpPr>
          <p:cNvPr id="14" name="텍스트 개체 틀 40">
            <a:extLst>
              <a:ext uri="{FF2B5EF4-FFF2-40B4-BE49-F238E27FC236}">
                <a16:creationId xmlns:a16="http://schemas.microsoft.com/office/drawing/2014/main" id="{2699BD04-8DFD-C4E2-D439-13313F9E3B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027" y="3282350"/>
            <a:ext cx="842682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15" name="텍스트 개체 틀 40">
            <a:extLst>
              <a:ext uri="{FF2B5EF4-FFF2-40B4-BE49-F238E27FC236}">
                <a16:creationId xmlns:a16="http://schemas.microsoft.com/office/drawing/2014/main" id="{166C8AFC-C654-89BD-9B56-EFC3B486CB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8189" y="3282350"/>
            <a:ext cx="486127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대상라인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122BAB7-CAF8-6EB7-CD40-D61D70F5B7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4426576"/>
              </p:ext>
            </p:extLst>
          </p:nvPr>
        </p:nvGraphicFramePr>
        <p:xfrm>
          <a:off x="1650029" y="1172698"/>
          <a:ext cx="6972241" cy="5314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218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32023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20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5105569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13" name="텍스트 개체 틀 52">
            <a:extLst>
              <a:ext uri="{FF2B5EF4-FFF2-40B4-BE49-F238E27FC236}">
                <a16:creationId xmlns:a16="http://schemas.microsoft.com/office/drawing/2014/main" id="{10C8CFC5-3A41-A9AA-EB48-C3CE8C8886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56572" y="1357162"/>
            <a:ext cx="5999747" cy="501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내용 입력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ED4D5D-CAA4-81C6-33E6-4C7754F5EAA5}"/>
              </a:ext>
            </a:extLst>
          </p:cNvPr>
          <p:cNvCxnSpPr>
            <a:cxnSpLocks/>
          </p:cNvCxnSpPr>
          <p:nvPr userDrawn="1"/>
        </p:nvCxnSpPr>
        <p:spPr>
          <a:xfrm>
            <a:off x="179237" y="492986"/>
            <a:ext cx="4421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5A8C73CF-FD86-8079-803C-C1EFF46216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97625" y="1978221"/>
            <a:ext cx="840987" cy="2651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[</a:t>
            </a:r>
            <a:r>
              <a:rPr lang="ko-KR" altLang="en-US"/>
              <a:t>목차 작성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013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1801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33795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58860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8887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2306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0531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73437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38041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2265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512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234DF-22EA-4D7B-9540-34D21E4AE6A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3811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965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개체 틀 1">
            <a:extLst>
              <a:ext uri="{FF2B5EF4-FFF2-40B4-BE49-F238E27FC236}">
                <a16:creationId xmlns:a16="http://schemas.microsoft.com/office/drawing/2014/main" id="{A68430DE-0FB8-4C3F-A853-78BCFFF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34" y="329566"/>
            <a:ext cx="8678129" cy="554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B6BFEE-3E50-4AA0-908F-D9FCB678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34" y="912498"/>
            <a:ext cx="8678129" cy="526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23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5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8558A-1595-413E-AD89-BF302E68AF1D}" type="datetimeFigureOut">
              <a:rPr lang="ko-KR" altLang="en-US" smtClean="0"/>
              <a:t>2026-09-09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371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6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3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228606" indent="-228606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9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</p:sldLayoutIdLst>
  <p:hf sldNum="0" hdr="0" ftr="0" dt="0"/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228606" indent="-228606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46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90E2A-CE46-47A2-80AB-8565C30FA357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234DF-22EA-4D7B-9540-34D21E4AE6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8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5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2.png"/><Relationship Id="rId5" Type="http://schemas.openxmlformats.org/officeDocument/2006/relationships/tags" Target="../tags/tag16.xml"/><Relationship Id="rId10" Type="http://schemas.openxmlformats.org/officeDocument/2006/relationships/image" Target="../media/image1.png"/><Relationship Id="rId4" Type="http://schemas.openxmlformats.org/officeDocument/2006/relationships/tags" Target="../tags/tag1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7.xml"/><Relationship Id="rId7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6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slide" Target="slide17.xml"/><Relationship Id="rId4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slide" Target="slide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slide" Target="slide19.xml"/><Relationship Id="rId4" Type="http://schemas.openxmlformats.org/officeDocument/2006/relationships/slide" Target="slide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slide" Target="slide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slide" Target="slide6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slide" Target="slid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7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slide" Target="slid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>
            <p:custDataLst>
              <p:tags r:id="rId1"/>
            </p:custDataLst>
          </p:nvPr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9" name="직사각형 8"/>
            <p:cNvSpPr/>
            <p:nvPr>
              <p:custDataLst>
                <p:tags r:id="rId5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itchFamily="50" charset="-127"/>
                <a:cs typeface="+mn-cs"/>
              </a:endParaRPr>
            </a:p>
          </p:txBody>
        </p:sp>
        <p:pic>
          <p:nvPicPr>
            <p:cNvPr id="10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0" cy="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제목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71375" y="1772997"/>
            <a:ext cx="6377662" cy="707886"/>
          </a:xfrm>
        </p:spPr>
        <p:txBody>
          <a:bodyPr/>
          <a:lstStyle/>
          <a:p>
            <a:r>
              <a:rPr lang="ko-KR" altLang="en-US" sz="4000" b="1" dirty="0">
                <a:latin typeface="Arial Narrow" panose="020B0606020202030204" pitchFamily="34" charset="0"/>
              </a:rPr>
              <a:t>자동보정담당</a:t>
            </a:r>
            <a:r>
              <a:rPr lang="en-US" altLang="ko-KR" sz="4000" b="1" dirty="0">
                <a:latin typeface="Arial Narrow" panose="020B0606020202030204" pitchFamily="34" charset="0"/>
              </a:rPr>
              <a:t> 9</a:t>
            </a:r>
            <a:r>
              <a:rPr lang="ko-KR" altLang="en-US" sz="4000" b="1" dirty="0">
                <a:latin typeface="Arial Narrow" panose="020B0606020202030204" pitchFamily="34" charset="0"/>
              </a:rPr>
              <a:t>월 업무 보고</a:t>
            </a:r>
          </a:p>
        </p:txBody>
      </p:sp>
      <p:sp>
        <p:nvSpPr>
          <p:cNvPr id="15" name="내용 개체 틀 14"/>
          <p:cNvSpPr>
            <a:spLocks noGrp="1"/>
          </p:cNvSpPr>
          <p:nvPr>
            <p:ph sz="quarter" idx="12"/>
            <p:custDataLst>
              <p:tags r:id="rId3"/>
            </p:custDataLst>
          </p:nvPr>
        </p:nvSpPr>
        <p:spPr>
          <a:xfrm>
            <a:off x="1149513" y="5076306"/>
            <a:ext cx="2789728" cy="338554"/>
          </a:xfrm>
        </p:spPr>
        <p:txBody>
          <a:bodyPr wrap="square">
            <a:spAutoFit/>
          </a:bodyPr>
          <a:lstStyle/>
          <a:p>
            <a:pPr marL="0" lvl="0" indent="0"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  <a:cs typeface="+mn-cs"/>
              </a:rPr>
              <a:t>| </a:t>
            </a:r>
            <a:r>
              <a:rPr lang="en-GB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  <a:cs typeface="+mn-cs"/>
              </a:rPr>
              <a:t>2026. 09. 09</a:t>
            </a:r>
          </a:p>
        </p:txBody>
      </p:sp>
      <p:sp>
        <p:nvSpPr>
          <p:cNvPr id="20" name="Rectangle 2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27168" y="3429000"/>
            <a:ext cx="6750168" cy="64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9pPr>
          </a:lstStyle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Summary</a:t>
            </a:r>
          </a:p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월별 진척사항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및 특이사항 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  <a:sym typeface="Wingdings" panose="05000000000000000000" pitchFamily="2" charset="2"/>
            </a:endParaRPr>
          </a:p>
        </p:txBody>
      </p:sp>
      <p:pic>
        <p:nvPicPr>
          <p:cNvPr id="18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3FDADC5C-3F1A-46B6-BB86-18E819CFA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151" y="5156524"/>
            <a:ext cx="839468" cy="36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0696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94A2410-08EB-4889-A06D-9DC96AE8F2F1}"/>
              </a:ext>
            </a:extLst>
          </p:cNvPr>
          <p:cNvGrpSpPr/>
          <p:nvPr/>
        </p:nvGrpSpPr>
        <p:grpSpPr>
          <a:xfrm>
            <a:off x="109414" y="216167"/>
            <a:ext cx="1377300" cy="403380"/>
            <a:chOff x="210051" y="188640"/>
            <a:chExt cx="1377300" cy="40338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1E2063-081D-494C-B0CF-4726185FE0C4}"/>
                </a:ext>
              </a:extLst>
            </p:cNvPr>
            <p:cNvSpPr txBox="1"/>
            <p:nvPr/>
          </p:nvSpPr>
          <p:spPr>
            <a:xfrm>
              <a:off x="210051" y="188640"/>
              <a:ext cx="1377300" cy="40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ko-KR" sz="20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 Summary</a:t>
              </a:r>
              <a:endParaRPr lang="ko-KR" altLang="en-US" sz="2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A8A1400-6342-4AFC-A899-DEDD25B27A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8" y="563654"/>
              <a:ext cx="1169319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27FC96-E8CA-4EB8-B7E5-64A5B2921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27253"/>
              </p:ext>
            </p:extLst>
          </p:nvPr>
        </p:nvGraphicFramePr>
        <p:xfrm>
          <a:off x="272480" y="766123"/>
          <a:ext cx="9396000" cy="5808405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275894619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491233003"/>
                    </a:ext>
                  </a:extLst>
                </a:gridCol>
                <a:gridCol w="3168000">
                  <a:extLst>
                    <a:ext uri="{9D8B030D-6E8A-4147-A177-3AD203B41FA5}">
                      <a16:colId xmlns:a16="http://schemas.microsoft.com/office/drawing/2014/main" val="252859001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433318351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361195585"/>
                    </a:ext>
                  </a:extLst>
                </a:gridCol>
              </a:tblGrid>
              <a:tr h="165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37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제조 운영 </a:t>
                      </a: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AX</a:t>
                      </a:r>
                      <a:b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BM/PD </a:t>
                      </a: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개선</a:t>
                      </a:r>
                      <a:endParaRPr lang="en-US" altLang="ko-KR" sz="900" b="1" kern="1200" spc="-1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R/P, NND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20%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9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’25</a:t>
                      </a: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기준 대비</a:t>
                      </a: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R/P / NND, WA, OT, MI_HL NND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평균 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PD Loss 29.6%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개선</a:t>
                      </a:r>
                      <a:endParaRPr kumimoji="1" lang="en-US" altLang="ko-KR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-. Tension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편차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로딩량 연계 자동보정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단선 발생 자동조치 고도화</a:t>
                      </a:r>
                      <a:b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자동차 법인 대상 수평전개 진행 중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(HG, GM1, GM2)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499626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북미 </a:t>
                      </a: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b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종합 </a:t>
                      </a:r>
                      <a:r>
                        <a:rPr lang="ko-KR" altLang="en-US" sz="900" b="1" kern="1200" spc="-1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개선 </a:t>
                      </a:r>
                      <a:b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(MI2, MI_L,OT, HD)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(3Q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8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북미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ESS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종합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94.8%(0.5%p)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[MI_LS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RP]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역압</a:t>
                      </a:r>
                      <a:r>
                        <a:rPr kumimoji="1"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 자동보정 고도화 양극 전 호기 적용 완료 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[OT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NND] AX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자동보정 파라미터 실시간 최적화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전개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예정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’26.09)</a:t>
                      </a:r>
                      <a:b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[MI_HL LAMI] </a:t>
                      </a:r>
                      <a:r>
                        <a:rPr lang="ko-KR" alt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가감속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자동보정 고도화 및 안정화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(8/10)</a:t>
                      </a:r>
                      <a:b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-. [MI_HL LAMI/PKG]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실시간 품질 이상감지 적용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(8/11,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호기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-. [MI_LS STK] 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계단식 적층으로 인한 </a:t>
                      </a: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Mono Stacking 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원인 분석 </a:t>
                      </a: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(8/27)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852064"/>
                  </a:ext>
                </a:extLst>
              </a:tr>
              <a:tr h="57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 파라미터 실시간 최적화를 통한</a:t>
                      </a:r>
                      <a: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b="1" kern="1200" spc="-10" baseline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95.3% (3Q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94.2%)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8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WA ESS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종합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92.5%(Δ2.0%p)</a:t>
                      </a:r>
                      <a:b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       WA,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NA,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NB,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HM, MI, HG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셀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97.6%(Δ0.2%p)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[WA ROL] Loadcell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비율 자동보정 음극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 적용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(‘26.08)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[WA NND/LAM] NND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재료교체 직전 구간 주행속도 개선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[WA LAMI] MEB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재료교체 구간 위치불량 개선을 위한 로직 적용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(8/18)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.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재료교체 구간 </a:t>
                      </a: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EPC 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보정 </a:t>
                      </a:r>
                      <a:r>
                        <a:rPr lang="ko-KR" altLang="en-US" sz="9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응답성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위치불량 </a:t>
                      </a: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.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재료교체 이음매 구간 예측보정 로직 고도화 </a:t>
                      </a: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로직 보완 진행 중</a:t>
                      </a:r>
                      <a:r>
                        <a:rPr lang="en-US" altLang="ko-KR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[WA L&amp;S] ’26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신규 자동보정 기술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 수평 전개 진행 중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(’26.09)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808684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97.9% (3Q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0369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NFF </a:t>
                      </a: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전극 </a:t>
                      </a:r>
                      <a:r>
                        <a:rPr lang="ko-KR" altLang="en-US" sz="900" b="1" kern="1200" spc="-1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개선 및 수동 보정 최소화</a:t>
                      </a:r>
                      <a:endParaRPr lang="en-US" altLang="ko-KR" sz="900" b="1" kern="1200" spc="-1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 전극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개선</a:t>
                      </a:r>
                      <a:b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전극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98.8% </a:t>
                      </a:r>
                      <a:r>
                        <a:rPr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수동 보정 횟수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60%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이상 저감</a:t>
                      </a:r>
                      <a:b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     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※ 3Q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목표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셀 </a:t>
                      </a:r>
                      <a:r>
                        <a:rPr lang="ko-KR" altLang="en-US" sz="900" b="0" kern="1200" spc="-1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97.5%(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누적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D: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‘26.12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누적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-. 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누적 전극 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98.9%(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0.1%p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[COT]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조건조정 기능 검증 중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유량기반 </a:t>
                      </a:r>
                      <a:r>
                        <a:rPr kumimoji="1" lang="ko-KR" altLang="en-US" sz="9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로딩량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완료 및 효과 산출 중</a:t>
                      </a:r>
                      <a:endParaRPr kumimoji="1"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[COT]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통합 </a:t>
                      </a:r>
                      <a:r>
                        <a:rPr kumimoji="1" lang="ko-KR" altLang="en-US" sz="9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슬러리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온도 관리시스템 기술 개발 및 양산 적용</a:t>
                      </a:r>
                      <a:b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로딩 </a:t>
                      </a:r>
                      <a:r>
                        <a:rPr kumimoji="1" lang="en-US" altLang="ko-KR" sz="9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Cpk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9% 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상승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(1.01 → 1.12), 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로딩 편차 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47% 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(1.59 → 0.84)</a:t>
                      </a:r>
                      <a:b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. 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수동보정 횟수 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90% </a:t>
                      </a:r>
                      <a:r>
                        <a:rPr kumimoji="1"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저감</a:t>
                      </a:r>
                      <a:r>
                        <a:rPr kumimoji="1"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(0.50/10km → 0.05/10km)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74721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셀 공정 자동보정</a:t>
                      </a:r>
                      <a:b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Coverage </a:t>
                      </a: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확대를 </a:t>
                      </a:r>
                      <a:b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통한 </a:t>
                      </a:r>
                      <a: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불량 개선</a:t>
                      </a:r>
                      <a:endParaRPr lang="en-US" altLang="ko-KR" sz="900" b="1" kern="1200" spc="-10" baseline="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개선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Q 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97.7%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97.5%(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D : ‘26.12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누적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</a:t>
                      </a:r>
                      <a:r>
                        <a:rPr lang="ko-KR" altLang="en-US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 셀 </a:t>
                      </a:r>
                      <a:r>
                        <a:rPr lang="ko-KR" altLang="en-US" sz="900" b="1" i="0" u="none" strike="noStrike" spc="-1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en-US" altLang="ko-KR" sz="900" b="1" i="0" u="none" strike="noStrike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97.3%(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900" b="1" i="0" u="none" strike="noStrike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</a:t>
                      </a:r>
                      <a:r>
                        <a:rPr lang="en-US" altLang="ko-KR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%p)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900" b="0" i="0" u="none" strike="noStrike" spc="-4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사행 코어</a:t>
                      </a:r>
                      <a:r>
                        <a:rPr lang="en-US" altLang="ko-KR" sz="900" b="0" i="0" u="none" strike="noStrike" spc="-4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spc="-4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최외곽</a:t>
                      </a:r>
                      <a:r>
                        <a:rPr lang="ko-KR" altLang="en-US" sz="900" b="0" i="0" u="none" strike="noStrike" spc="-4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 개선을 위한 자동보정 고도화 진행 중 </a:t>
                      </a:r>
                      <a:r>
                        <a:rPr lang="en-US" altLang="ko-KR" sz="900" b="0" i="0" u="none" strike="noStrike" spc="-4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(~9/11)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</a:t>
                      </a:r>
                      <a:r>
                        <a:rPr lang="en-US" altLang="ko-KR" sz="9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[</a:t>
                      </a:r>
                      <a:r>
                        <a:rPr lang="ko-KR" altLang="en-US" sz="900" b="0" i="0" u="none" strike="noStrike" spc="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9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900" b="0" i="0" u="none" strike="noStrike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탭</a:t>
                      </a:r>
                      <a:r>
                        <a:rPr lang="en-US" altLang="ko-KR" sz="900" b="0" i="0" u="none" strike="noStrike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꽂힘 </a:t>
                      </a:r>
                      <a:r>
                        <a:rPr lang="ko-KR" altLang="en-US" sz="900" b="0" i="0" u="none" strike="noStrike" spc="-2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과검</a:t>
                      </a:r>
                      <a:r>
                        <a:rPr lang="ko-KR" altLang="en-US" sz="900" b="0" i="0" u="none" strike="noStrike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개선을 위한 </a:t>
                      </a:r>
                      <a:r>
                        <a:rPr lang="ko-KR" altLang="en-US" sz="900" b="0" i="0" u="none" strike="noStrike" spc="-2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권취</a:t>
                      </a:r>
                      <a:r>
                        <a:rPr lang="en-US" altLang="ko-KR" sz="900" b="0" i="0" u="none" strike="noStrike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 자동보정 테스트 진행 중 </a:t>
                      </a:r>
                      <a:r>
                        <a:rPr lang="en-US" altLang="ko-KR" sz="900" b="0" i="0" u="none" strike="noStrike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(8/5 ~)</a:t>
                      </a:r>
                      <a:br>
                        <a:rPr lang="en-US" altLang="ko-KR" sz="9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9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-. [</a:t>
                      </a:r>
                      <a:r>
                        <a:rPr lang="ko-KR" altLang="en-US" sz="9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와인더</a:t>
                      </a:r>
                      <a:r>
                        <a:rPr lang="en-US" altLang="ko-KR" sz="9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] </a:t>
                      </a:r>
                      <a:r>
                        <a:rPr lang="ko-KR" altLang="en-US" sz="9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사행 </a:t>
                      </a:r>
                      <a:r>
                        <a:rPr lang="ko-KR" altLang="en-US" sz="9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과검</a:t>
                      </a:r>
                      <a:r>
                        <a:rPr lang="ko-KR" altLang="en-US" sz="9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개선을 위한 </a:t>
                      </a:r>
                      <a:r>
                        <a:rPr lang="ko-KR" altLang="en-US" sz="9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권취</a:t>
                      </a:r>
                      <a:r>
                        <a:rPr lang="ko-KR" altLang="en-US" sz="9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위치 자동보정 테스트 일정 협의 중</a:t>
                      </a:r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-. [CCR] Crimping</a:t>
                      </a:r>
                      <a:r>
                        <a:rPr lang="ko-KR" altLang="en-US" sz="900" b="0" i="0" u="none" strike="noStrike" kern="1200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b="0" i="0" u="none" strike="noStrike" kern="1200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ko-KR" altLang="en-US" sz="900" b="0" i="0" u="none" strike="noStrike" kern="1200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차 관리 치수 불량 개선을 위한 자동보정 검토 중 </a:t>
                      </a:r>
                      <a:r>
                        <a:rPr lang="en-US" altLang="ko-KR" sz="900" b="0" i="0" u="none" strike="noStrike" kern="1200" spc="-2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(~9/18)</a:t>
                      </a:r>
                      <a:endParaRPr lang="en-US" altLang="ko-KR" sz="900" b="0" i="0" u="none" strike="noStrike" spc="-2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112165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자동보정을 활용한</a:t>
                      </a:r>
                      <a:b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재료비 저감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영역 확대를 통한 원가 절감 기여</a:t>
                      </a:r>
                      <a:b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기여</a:t>
                      </a:r>
                      <a:b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10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저감</a:t>
                      </a:r>
                      <a:b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 요약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확정 실적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10.03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억원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(4Q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기준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23.48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억원 예상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[COT]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질량유량계 자동보정 기능 검증 완료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WA, (A#3, E72B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8/11~14)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.WA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 계획에 따른 효과 검증 일정 논의 중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[COT]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음극 상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/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하층 </a:t>
                      </a:r>
                      <a:r>
                        <a:rPr kumimoji="1" lang="ko-KR" altLang="en-US" sz="9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슬러리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비율 최적화를 통한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Loss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저감 기술 개발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(NNF)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EP2 NFF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완료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(8/22)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효과 산출 방안 수립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(8/24~) 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[MX/COT]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전공정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연계 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슬러리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폐기량 저감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믹서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중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(‘26.09)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. EP2 NFF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기준 약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5.34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억원 폐기 중이며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80%(4.27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억원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절감 목표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[Pack/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모듈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레진 도포 자동보정 수평전개 진행 중</a:t>
                      </a:r>
                      <a:b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WA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증설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대상 확대 적용을 통한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억원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절감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599772"/>
                  </a:ext>
                </a:extLst>
              </a:tr>
            </a:tbl>
          </a:graphicData>
        </a:graphic>
      </p:graphicFrame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C7A8E3A-437F-4B10-AC82-357F9AA267B9}"/>
              </a:ext>
            </a:extLst>
          </p:cNvPr>
          <p:cNvSpPr/>
          <p:nvPr/>
        </p:nvSpPr>
        <p:spPr>
          <a:xfrm>
            <a:off x="2081768" y="985022"/>
            <a:ext cx="327633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CDO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FFCCFE-EB7B-43EB-B0DB-A48226C7EC3D}"/>
              </a:ext>
            </a:extLst>
          </p:cNvPr>
          <p:cNvSpPr/>
          <p:nvPr/>
        </p:nvSpPr>
        <p:spPr>
          <a:xfrm>
            <a:off x="1815781" y="985022"/>
            <a:ext cx="243797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KI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0B35ECC-5AAA-DCC3-D71D-6A04E14BFB86}"/>
              </a:ext>
            </a:extLst>
          </p:cNvPr>
          <p:cNvSpPr/>
          <p:nvPr/>
        </p:nvSpPr>
        <p:spPr>
          <a:xfrm>
            <a:off x="2081768" y="1589926"/>
            <a:ext cx="327633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CDO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420AE6-65E0-C266-5F40-EEB52704E7E7}"/>
              </a:ext>
            </a:extLst>
          </p:cNvPr>
          <p:cNvSpPr/>
          <p:nvPr/>
        </p:nvSpPr>
        <p:spPr>
          <a:xfrm>
            <a:off x="1981778" y="2604710"/>
            <a:ext cx="427623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dirty="0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실행 단추: 앞으로 또는 다음으로 이동 2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288C46D-B40D-F90C-5D0D-EAF55F418F6F}"/>
              </a:ext>
            </a:extLst>
          </p:cNvPr>
          <p:cNvSpPr/>
          <p:nvPr/>
        </p:nvSpPr>
        <p:spPr>
          <a:xfrm>
            <a:off x="9690670" y="4062829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590B653-ED14-2F25-394A-882307AB9726}"/>
              </a:ext>
            </a:extLst>
          </p:cNvPr>
          <p:cNvSpPr/>
          <p:nvPr/>
        </p:nvSpPr>
        <p:spPr>
          <a:xfrm>
            <a:off x="1981778" y="3750244"/>
            <a:ext cx="427623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dirty="0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594AEB4-539A-890A-457F-E692FD72F354}"/>
              </a:ext>
            </a:extLst>
          </p:cNvPr>
          <p:cNvSpPr/>
          <p:nvPr/>
        </p:nvSpPr>
        <p:spPr>
          <a:xfrm>
            <a:off x="1981778" y="4474083"/>
            <a:ext cx="427623" cy="1650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dirty="0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7F9D9B4-3430-CDE5-EC30-BE497A55CA5A}"/>
              </a:ext>
            </a:extLst>
          </p:cNvPr>
          <p:cNvSpPr/>
          <p:nvPr/>
        </p:nvSpPr>
        <p:spPr>
          <a:xfrm>
            <a:off x="1981778" y="5193856"/>
            <a:ext cx="427623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dirty="0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실행 단추: 앞으로 또는 다음으로 이동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253AE4D-FA4C-90D3-9509-0359402F869C}"/>
              </a:ext>
            </a:extLst>
          </p:cNvPr>
          <p:cNvSpPr/>
          <p:nvPr/>
        </p:nvSpPr>
        <p:spPr>
          <a:xfrm>
            <a:off x="9690670" y="5838453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" name="실행 단추: 앞으로 또는 다음으로 이동 3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BB12413-617E-6003-02D7-9AE579DD95CF}"/>
              </a:ext>
            </a:extLst>
          </p:cNvPr>
          <p:cNvSpPr/>
          <p:nvPr/>
        </p:nvSpPr>
        <p:spPr>
          <a:xfrm>
            <a:off x="9690670" y="3065376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실행 단추: 앞으로 또는 다음으로 이동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90C32A2-50B5-758C-94A6-28331C394400}"/>
              </a:ext>
            </a:extLst>
          </p:cNvPr>
          <p:cNvSpPr/>
          <p:nvPr/>
        </p:nvSpPr>
        <p:spPr>
          <a:xfrm>
            <a:off x="9690670" y="1200841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556B88-A25B-E1E0-8AD7-8BF3568E0B72}"/>
              </a:ext>
            </a:extLst>
          </p:cNvPr>
          <p:cNvSpPr txBox="1"/>
          <p:nvPr/>
        </p:nvSpPr>
        <p:spPr>
          <a:xfrm>
            <a:off x="4747655" y="6656752"/>
            <a:ext cx="4106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 / 2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실행 단추: 앞으로 또는 다음으로 이동 30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02DC435F-7834-6C3B-2367-2DDAD7C683B5}"/>
              </a:ext>
            </a:extLst>
          </p:cNvPr>
          <p:cNvSpPr/>
          <p:nvPr/>
        </p:nvSpPr>
        <p:spPr>
          <a:xfrm>
            <a:off x="9690670" y="2075122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실행 단추: 앞으로 또는 다음으로 이동 3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9BEDED88-2992-48C7-73C1-6BF57B24A9E1}"/>
              </a:ext>
            </a:extLst>
          </p:cNvPr>
          <p:cNvSpPr/>
          <p:nvPr/>
        </p:nvSpPr>
        <p:spPr>
          <a:xfrm>
            <a:off x="9690670" y="4777602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867793F-F3C4-03D8-E5E5-40B6A0C37EFB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12251DA1-DFD6-940F-4C7A-F7D1A328B3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F80F59-2EBC-C30D-7E1C-733FA3830546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3110EC9-29BE-D4C1-50A5-B01E3198AA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E18E8B-ADB3-CAD1-5A1C-EA53BA94D763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C0D6C40-BF90-D73C-6D7B-3574E152E2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60BEB31-7752-FAA4-4C29-4994FEA35911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22" name="타원 21">
            <a:extLst>
              <a:ext uri="{FF2B5EF4-FFF2-40B4-BE49-F238E27FC236}">
                <a16:creationId xmlns:a16="http://schemas.microsoft.com/office/drawing/2014/main" id="{E8DCAAF9-4F15-89B0-8A87-7969C82FD24C}"/>
              </a:ext>
            </a:extLst>
          </p:cNvPr>
          <p:cNvSpPr>
            <a:spLocks noChangeAspect="1"/>
          </p:cNvSpPr>
          <p:nvPr/>
        </p:nvSpPr>
        <p:spPr>
          <a:xfrm>
            <a:off x="5855523" y="2786655"/>
            <a:ext cx="180000" cy="1800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600" spc="-30" dirty="0">
              <a:solidFill>
                <a:srgbClr val="FFFFFF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C22C309-E12A-4494-F745-4BCFE9CF3B66}"/>
              </a:ext>
            </a:extLst>
          </p:cNvPr>
          <p:cNvSpPr>
            <a:spLocks noChangeAspect="1"/>
          </p:cNvSpPr>
          <p:nvPr/>
        </p:nvSpPr>
        <p:spPr>
          <a:xfrm>
            <a:off x="5855523" y="4000723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B619465-6B44-0F83-FB58-6669888B2FEC}"/>
              </a:ext>
            </a:extLst>
          </p:cNvPr>
          <p:cNvSpPr>
            <a:spLocks noChangeAspect="1"/>
          </p:cNvSpPr>
          <p:nvPr/>
        </p:nvSpPr>
        <p:spPr>
          <a:xfrm>
            <a:off x="5855523" y="1189772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AB6D7FC-A51C-E975-CEDE-3B2FF544544F}"/>
              </a:ext>
            </a:extLst>
          </p:cNvPr>
          <p:cNvSpPr>
            <a:spLocks noChangeAspect="1"/>
          </p:cNvSpPr>
          <p:nvPr/>
        </p:nvSpPr>
        <p:spPr>
          <a:xfrm>
            <a:off x="5855523" y="4702466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0C8996C-C617-B906-B5A8-F612E16864D7}"/>
              </a:ext>
            </a:extLst>
          </p:cNvPr>
          <p:cNvSpPr>
            <a:spLocks noChangeAspect="1"/>
          </p:cNvSpPr>
          <p:nvPr/>
        </p:nvSpPr>
        <p:spPr>
          <a:xfrm>
            <a:off x="5855523" y="3355589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 dirty="0">
              <a:solidFill>
                <a:srgbClr val="FFFFFF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77274ED-1289-DA6D-E229-9406E12CC6A5}"/>
              </a:ext>
            </a:extLst>
          </p:cNvPr>
          <p:cNvSpPr>
            <a:spLocks noChangeAspect="1"/>
          </p:cNvSpPr>
          <p:nvPr/>
        </p:nvSpPr>
        <p:spPr>
          <a:xfrm>
            <a:off x="5855523" y="5820881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AEBBF2E-408B-1C4F-3337-7E5688C1D2EA}"/>
              </a:ext>
            </a:extLst>
          </p:cNvPr>
          <p:cNvSpPr>
            <a:spLocks noChangeAspect="1"/>
          </p:cNvSpPr>
          <p:nvPr/>
        </p:nvSpPr>
        <p:spPr>
          <a:xfrm>
            <a:off x="5855523" y="1989877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71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94A2410-08EB-4889-A06D-9DC96AE8F2F1}"/>
              </a:ext>
            </a:extLst>
          </p:cNvPr>
          <p:cNvGrpSpPr/>
          <p:nvPr/>
        </p:nvGrpSpPr>
        <p:grpSpPr>
          <a:xfrm>
            <a:off x="109414" y="216167"/>
            <a:ext cx="1377300" cy="403380"/>
            <a:chOff x="210051" y="188640"/>
            <a:chExt cx="1377300" cy="40338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1E2063-081D-494C-B0CF-4726185FE0C4}"/>
                </a:ext>
              </a:extLst>
            </p:cNvPr>
            <p:cNvSpPr txBox="1"/>
            <p:nvPr/>
          </p:nvSpPr>
          <p:spPr>
            <a:xfrm>
              <a:off x="210051" y="188640"/>
              <a:ext cx="1377300" cy="40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ko-KR" sz="20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 Summary</a:t>
              </a:r>
              <a:endParaRPr lang="ko-KR" altLang="en-US" sz="20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A8A1400-6342-4AFC-A899-DEDD25B27A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8" y="563654"/>
              <a:ext cx="1169319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27FC96-E8CA-4EB8-B7E5-64A5B2921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404517"/>
              </p:ext>
            </p:extLst>
          </p:nvPr>
        </p:nvGraphicFramePr>
        <p:xfrm>
          <a:off x="272480" y="726795"/>
          <a:ext cx="9396000" cy="3415349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275894619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491233003"/>
                    </a:ext>
                  </a:extLst>
                </a:gridCol>
                <a:gridCol w="3168000">
                  <a:extLst>
                    <a:ext uri="{9D8B030D-6E8A-4147-A177-3AD203B41FA5}">
                      <a16:colId xmlns:a16="http://schemas.microsoft.com/office/drawing/2014/main" val="252859001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433318351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361195585"/>
                    </a:ext>
                  </a:extLst>
                </a:gridCol>
              </a:tblGrid>
              <a:tr h="165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3700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증산을 위한</a:t>
                      </a:r>
                      <a:br>
                        <a:rPr lang="en-US" altLang="ko-KR" sz="900" b="1" kern="1200" spc="-1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900" b="1" kern="1200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자동보정 고도화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양극 </a:t>
                      </a:r>
                      <a:r>
                        <a:rPr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코터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자동보정 기술 고도화</a:t>
                      </a:r>
                      <a:br>
                        <a:rPr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Q : </a:t>
                      </a:r>
                      <a:r>
                        <a:rPr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설비부동 후 재가동 불량 </a:t>
                      </a:r>
                      <a:r>
                        <a:rPr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20% </a:t>
                      </a:r>
                      <a:r>
                        <a:rPr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이상 개선</a:t>
                      </a:r>
                      <a:br>
                        <a:rPr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         </a:t>
                      </a:r>
                      <a:r>
                        <a:rPr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ESS JF2 </a:t>
                      </a:r>
                      <a:r>
                        <a:rPr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생산법인 </a:t>
                      </a:r>
                      <a:r>
                        <a:rPr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</a:t>
                      </a:r>
                      <a:r>
                        <a:rPr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 적용 완료</a:t>
                      </a:r>
                      <a:b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     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※ 3Q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목표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lang="ko-KR" altLang="en-US" sz="900" b="0" kern="1200" spc="-1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증속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수평전개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(LS,HD,TN)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및 검증</a:t>
                      </a:r>
                      <a:br>
                        <a:rPr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D : ’26.4Q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-.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실적 요약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: HD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법인 양극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호 적용 후 재조건 조정 로스 </a:t>
                      </a:r>
                      <a:b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                    3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 대비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89.58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감소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0.19% 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0.02% 8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,</a:t>
                      </a:r>
                    </a:p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                   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활용률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90%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이상 유지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47.0% 5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98.2% 8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-.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양극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%LEL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농도 기반 제어 알고리즘 개발 </a:t>
                      </a:r>
                      <a:endParaRPr lang="en-US" altLang="ko-KR" sz="900" b="0" i="0" u="none" strike="noStrike" noProof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.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로직 셋업 진행률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100% (5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개 법인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10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대 중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10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대 완료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)</a:t>
                      </a:r>
                    </a:p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.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양산 적용률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60% (5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개 법인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10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대 중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6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대 완료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)</a:t>
                      </a:r>
                      <a:b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.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8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 완료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: HD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양극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2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호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(8/20)</a:t>
                      </a:r>
                      <a:endParaRPr lang="en-US" altLang="ko-KR" sz="900" b="0" i="0" u="none" strike="noStrike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 -.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코터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미스매치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고도화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로직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적용</a:t>
                      </a:r>
                      <a:endParaRPr lang="en-US" altLang="ko-KR" sz="900" b="0" i="0" u="none" strike="noStrike" noProof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.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적용률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90% (5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개 법인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10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대 중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9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대 완료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)</a:t>
                      </a:r>
                      <a:endParaRPr lang="en-US" altLang="ko-KR" sz="900" b="0" noProof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    .8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 완료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: HD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양극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2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호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(8/21), GM_TN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양극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2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호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(8/27)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  ※ HD #3은  28년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샘플생산 예정으로 대상호기에서 제외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94327"/>
                  </a:ext>
                </a:extLst>
              </a:tr>
              <a:tr h="98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차세대 다이 자동보정 기술개발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차세대 다이 보정기술 확보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Q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다이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로딩 </a:t>
                      </a:r>
                      <a:r>
                        <a:rPr kumimoji="1" lang="en-US" altLang="ko-K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2.5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 다이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</a:t>
                      </a:r>
                      <a:r>
                        <a:rPr kumimoji="1" lang="en-US" altLang="ko-K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1.8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b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     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※ 3Q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목표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: [</a:t>
                      </a:r>
                      <a:r>
                        <a:rPr lang="ko-KR" altLang="en-US" sz="900" b="0" kern="1200" spc="-1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대표라인 기능 검증</a:t>
                      </a:r>
                      <a:b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                             [</a:t>
                      </a:r>
                      <a:r>
                        <a:rPr lang="ko-KR" altLang="en-US" sz="900" b="0" kern="1200" spc="-1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분할다이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모델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로직 프로그램 개발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(EP1, Pilot#3)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 : ‘26.4Q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 요약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초크바 로딩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lt"/>
                        </a:rPr>
                        <a:t>Cpk 3.02,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lt"/>
                        </a:rPr>
                        <a:t>분할다이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lt"/>
                        </a:rPr>
                        <a:t>(4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lt"/>
                        </a:rPr>
                        <a:t>개 지표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lt"/>
                        </a:rPr>
                        <a:t>Cpk 2.0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lt"/>
                        </a:rPr>
                        <a:t>이상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lt"/>
                        </a:rPr>
                        <a:t>)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초크바 다이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.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OC PILOT 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 초기 코팅 구간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안정 구간 구분하여 자동보정 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 테스트 완료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(‘26.08)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분할 다이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. AZ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샘플 생산 대응 및 양산 환경대상 성능 검증 준비 진행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(~8/30)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AZ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분할 코팅 시운전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(~8/31)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97041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AI-Agent </a:t>
                      </a: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기반 자동보정 업무 효율화​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AI-Agent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자동보정 업무 효율화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분석 시간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  <a:b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     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※ 3Q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목표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: WA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전극 공정 확대 개발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26.12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WA Lami, COT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 대상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Agent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및 기능 보완 중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 활용률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E2E Daily Report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및 운영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MI_HL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LAMI, COT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 대상 확대 적용 중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-. AI Agent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 요건 정의 및 개발 중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912312"/>
                  </a:ext>
                </a:extLst>
              </a:tr>
            </a:tbl>
          </a:graphicData>
        </a:graphic>
      </p:graphicFrame>
      <p:sp>
        <p:nvSpPr>
          <p:cNvPr id="2" name="실행 단추: 앞으로 또는 다음으로 이동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90C32A2-50B5-758C-94A6-28331C394400}"/>
              </a:ext>
            </a:extLst>
          </p:cNvPr>
          <p:cNvSpPr/>
          <p:nvPr/>
        </p:nvSpPr>
        <p:spPr>
          <a:xfrm>
            <a:off x="9690670" y="2950568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9C11647-36AF-32E0-151F-B89747674ECD}"/>
              </a:ext>
            </a:extLst>
          </p:cNvPr>
          <p:cNvSpPr>
            <a:spLocks noChangeAspect="1"/>
          </p:cNvSpPr>
          <p:nvPr/>
        </p:nvSpPr>
        <p:spPr>
          <a:xfrm>
            <a:off x="5837417" y="3681048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1F2CD3B-1864-2B44-0E8E-A17B11068C16}"/>
              </a:ext>
            </a:extLst>
          </p:cNvPr>
          <p:cNvSpPr>
            <a:spLocks noChangeAspect="1"/>
          </p:cNvSpPr>
          <p:nvPr/>
        </p:nvSpPr>
        <p:spPr>
          <a:xfrm>
            <a:off x="5837417" y="2780928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B9EA4-5626-1719-19D8-99811990C5DE}"/>
              </a:ext>
            </a:extLst>
          </p:cNvPr>
          <p:cNvSpPr txBox="1"/>
          <p:nvPr/>
        </p:nvSpPr>
        <p:spPr>
          <a:xfrm>
            <a:off x="4747655" y="6656752"/>
            <a:ext cx="4106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 / 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8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실행 단추: 앞으로 또는 다음으로 이동 1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54F3B7E-4CB3-7E44-FB4C-ADBF9C7FAF5D}"/>
              </a:ext>
            </a:extLst>
          </p:cNvPr>
          <p:cNvSpPr/>
          <p:nvPr/>
        </p:nvSpPr>
        <p:spPr>
          <a:xfrm>
            <a:off x="9690670" y="3844201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실행 단추: 앞으로 또는 다음으로 이동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CF23779-2300-4284-721B-D28377E52AF3}"/>
              </a:ext>
            </a:extLst>
          </p:cNvPr>
          <p:cNvSpPr/>
          <p:nvPr/>
        </p:nvSpPr>
        <p:spPr>
          <a:xfrm>
            <a:off x="9690670" y="1422442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8B7DBCB-066A-3BF2-414A-1C517A4E9ABD}"/>
              </a:ext>
            </a:extLst>
          </p:cNvPr>
          <p:cNvSpPr>
            <a:spLocks noChangeAspect="1"/>
          </p:cNvSpPr>
          <p:nvPr/>
        </p:nvSpPr>
        <p:spPr>
          <a:xfrm>
            <a:off x="5837417" y="1679218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17D376-4D8A-0980-CCA9-44FC8A6AD87A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39D4580-2F00-BC06-1193-297A34CC65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D1385A-8875-1833-E8BF-4E7A0572060F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7F82DBEE-5EEE-7F83-5BE8-D5C8FF9558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C948CA-89D3-421E-79B9-E12DFF500745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E004A81-E6B3-68D6-2245-6F5C6565E8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783D74D-6E23-20D6-6A1C-74C2D9C69AA9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085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E196-9E49-1397-93DB-205CE06A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AC1AE4A-1888-4AD0-5418-A8F264BC4DAA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1" name="Rectangle 4">
            <a:extLst>
              <a:ext uri="{FF2B5EF4-FFF2-40B4-BE49-F238E27FC236}">
                <a16:creationId xmlns:a16="http://schemas.microsoft.com/office/drawing/2014/main" id="{88236EF2-6A5F-C341-6321-99D847C0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638" y="1891110"/>
            <a:ext cx="448035" cy="17822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2" name="제목 3">
            <a:extLst>
              <a:ext uri="{FF2B5EF4-FFF2-40B4-BE49-F238E27FC236}">
                <a16:creationId xmlns:a16="http://schemas.microsoft.com/office/drawing/2014/main" id="{FF0770B8-0A4F-D51F-D276-56A91147B1E1}"/>
              </a:ext>
            </a:extLst>
          </p:cNvPr>
          <p:cNvSpPr>
            <a:spLocks noGrp="1"/>
          </p:cNvSpPr>
          <p:nvPr/>
        </p:nvSpPr>
        <p:spPr>
          <a:xfrm>
            <a:off x="167520" y="120146"/>
            <a:ext cx="244216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algn="l"/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KPI 08</a:t>
            </a:r>
            <a:r>
              <a:rPr lang="ko-KR" altLang="en-US" dirty="0"/>
              <a:t>월 진척 사항</a:t>
            </a:r>
            <a:r>
              <a:rPr lang="en-US" altLang="ko-KR" dirty="0"/>
              <a:t>(1/9)</a:t>
            </a:r>
            <a:endParaRPr lang="ko-KR" altLang="en-US" dirty="0"/>
          </a:p>
        </p:txBody>
      </p:sp>
      <p:pic>
        <p:nvPicPr>
          <p:cNvPr id="63" name="table">
            <a:extLst>
              <a:ext uri="{FF2B5EF4-FFF2-40B4-BE49-F238E27FC236}">
                <a16:creationId xmlns:a16="http://schemas.microsoft.com/office/drawing/2014/main" id="{4B808B60-2EA7-3B36-FE73-2D4975743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1" y="765370"/>
            <a:ext cx="8862107" cy="984409"/>
          </a:xfrm>
          <a:prstGeom prst="rect">
            <a:avLst/>
          </a:prstGeom>
        </p:spPr>
      </p:pic>
      <p:sp>
        <p:nvSpPr>
          <p:cNvPr id="64" name="Rectangle 4">
            <a:extLst>
              <a:ext uri="{FF2B5EF4-FFF2-40B4-BE49-F238E27FC236}">
                <a16:creationId xmlns:a16="http://schemas.microsoft.com/office/drawing/2014/main" id="{0683AE4F-686E-04D4-12CE-6E70D1C0B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23" y="765371"/>
            <a:ext cx="448035" cy="10129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D702BE0-C2CB-6CEC-E6D5-D9E261BDE21E}"/>
              </a:ext>
            </a:extLst>
          </p:cNvPr>
          <p:cNvGrpSpPr/>
          <p:nvPr/>
        </p:nvGrpSpPr>
        <p:grpSpPr>
          <a:xfrm>
            <a:off x="872533" y="3665681"/>
            <a:ext cx="4008771" cy="341334"/>
            <a:chOff x="961536" y="4488828"/>
            <a:chExt cx="4008771" cy="341334"/>
          </a:xfrm>
        </p:grpSpPr>
        <p:sp>
          <p:nvSpPr>
            <p:cNvPr id="147" name="제목 9">
              <a:extLst>
                <a:ext uri="{FF2B5EF4-FFF2-40B4-BE49-F238E27FC236}">
                  <a16:creationId xmlns:a16="http://schemas.microsoft.com/office/drawing/2014/main" id="{86D12F05-B968-5A1B-1097-B12B16535616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ADC39724-B741-8BD6-6B6A-723C6E4BC8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E274DAF-1FD8-2640-0800-59F2F6D7795E}"/>
              </a:ext>
            </a:extLst>
          </p:cNvPr>
          <p:cNvGrpSpPr/>
          <p:nvPr/>
        </p:nvGrpSpPr>
        <p:grpSpPr>
          <a:xfrm>
            <a:off x="5174028" y="3673387"/>
            <a:ext cx="4553251" cy="333628"/>
            <a:chOff x="5152724" y="4496534"/>
            <a:chExt cx="4221222" cy="333628"/>
          </a:xfrm>
        </p:grpSpPr>
        <p:sp>
          <p:nvSpPr>
            <p:cNvPr id="145" name="제목 9">
              <a:extLst>
                <a:ext uri="{FF2B5EF4-FFF2-40B4-BE49-F238E27FC236}">
                  <a16:creationId xmlns:a16="http://schemas.microsoft.com/office/drawing/2014/main" id="{D104B7F0-7BCC-5639-4AA8-CE88701A3EBA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0F1197FB-DD6C-1B79-31B1-026DA84A75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7" name="Rectangle 4">
            <a:extLst>
              <a:ext uri="{FF2B5EF4-FFF2-40B4-BE49-F238E27FC236}">
                <a16:creationId xmlns:a16="http://schemas.microsoft.com/office/drawing/2014/main" id="{412DBFB1-D3DE-BECC-CFC0-921C0874C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23" y="3767282"/>
            <a:ext cx="448035" cy="3018215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68" name="table">
            <a:extLst>
              <a:ext uri="{FF2B5EF4-FFF2-40B4-BE49-F238E27FC236}">
                <a16:creationId xmlns:a16="http://schemas.microsoft.com/office/drawing/2014/main" id="{9FA9506E-4120-4855-2C90-E38B30986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00" y="1891110"/>
            <a:ext cx="8862108" cy="1786320"/>
          </a:xfrm>
          <a:prstGeom prst="rect">
            <a:avLst/>
          </a:prstGeom>
        </p:spPr>
      </p:pic>
      <p:sp>
        <p:nvSpPr>
          <p:cNvPr id="71" name="TextBox 137">
            <a:extLst>
              <a:ext uri="{FF2B5EF4-FFF2-40B4-BE49-F238E27FC236}">
                <a16:creationId xmlns:a16="http://schemas.microsoft.com/office/drawing/2014/main" id="{4416AD1A-313E-F923-5B8C-DD68EA5FCA60}"/>
              </a:ext>
            </a:extLst>
          </p:cNvPr>
          <p:cNvSpPr txBox="1"/>
          <p:nvPr/>
        </p:nvSpPr>
        <p:spPr>
          <a:xfrm>
            <a:off x="851239" y="4016635"/>
            <a:ext cx="4422743" cy="296620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Tension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편차 자동보정</a:t>
            </a:r>
            <a:endParaRPr kumimoji="1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  <a:sym typeface="Wingdings" panose="05000000000000000000" pitchFamily="2" charset="2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FFC5861-BDBC-5577-9447-7AEECBDAE0A6}"/>
              </a:ext>
            </a:extLst>
          </p:cNvPr>
          <p:cNvCxnSpPr>
            <a:cxnSpLocks/>
          </p:cNvCxnSpPr>
          <p:nvPr/>
        </p:nvCxnSpPr>
        <p:spPr>
          <a:xfrm flipV="1">
            <a:off x="5030252" y="3656445"/>
            <a:ext cx="0" cy="3205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AD5D92E0-0D93-BD36-0227-5E92FF5C49CC}"/>
              </a:ext>
            </a:extLst>
          </p:cNvPr>
          <p:cNvGrpSpPr/>
          <p:nvPr/>
        </p:nvGrpSpPr>
        <p:grpSpPr>
          <a:xfrm>
            <a:off x="1987029" y="1051785"/>
            <a:ext cx="1149008" cy="166650"/>
            <a:chOff x="1464624" y="1215802"/>
            <a:chExt cx="1149008" cy="166650"/>
          </a:xfrm>
        </p:grpSpPr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B4646337-DEF4-84D1-D6D2-7BD97DC8BADA}"/>
                </a:ext>
              </a:extLst>
            </p:cNvPr>
            <p:cNvSpPr/>
            <p:nvPr/>
          </p:nvSpPr>
          <p:spPr>
            <a:xfrm>
              <a:off x="2181632" y="1215802"/>
              <a:ext cx="432000" cy="166650"/>
            </a:xfrm>
            <a:prstGeom prst="round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그룹장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36" name="사각형: 둥근 모서리 135">
              <a:extLst>
                <a:ext uri="{FF2B5EF4-FFF2-40B4-BE49-F238E27FC236}">
                  <a16:creationId xmlns:a16="http://schemas.microsoft.com/office/drawing/2014/main" id="{DC32A573-644A-C6BD-543C-9615DF7E9BDC}"/>
                </a:ext>
              </a:extLst>
            </p:cNvPr>
            <p:cNvSpPr/>
            <p:nvPr/>
          </p:nvSpPr>
          <p:spPr>
            <a:xfrm>
              <a:off x="1823128" y="1215802"/>
              <a:ext cx="324000" cy="166650"/>
            </a:xfrm>
            <a:prstGeom prst="round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CDO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D336E440-9577-0BD0-261A-45CE6A20A5D5}"/>
                </a:ext>
              </a:extLst>
            </p:cNvPr>
            <p:cNvSpPr/>
            <p:nvPr/>
          </p:nvSpPr>
          <p:spPr>
            <a:xfrm>
              <a:off x="1464624" y="1215802"/>
              <a:ext cx="324000" cy="166650"/>
            </a:xfrm>
            <a:prstGeom prst="round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KI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74" name="TextBox 9">
            <a:extLst>
              <a:ext uri="{FF2B5EF4-FFF2-40B4-BE49-F238E27FC236}">
                <a16:creationId xmlns:a16="http://schemas.microsoft.com/office/drawing/2014/main" id="{3ABFE0EB-1E1A-940E-4C5F-2E493B6031CA}"/>
              </a:ext>
            </a:extLst>
          </p:cNvPr>
          <p:cNvSpPr txBox="1"/>
          <p:nvPr/>
        </p:nvSpPr>
        <p:spPr>
          <a:xfrm>
            <a:off x="767457" y="2174807"/>
            <a:ext cx="48772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Tension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자동보정</a:t>
            </a:r>
          </a:p>
        </p:txBody>
      </p:sp>
      <p:sp>
        <p:nvSpPr>
          <p:cNvPr id="75" name="TextBox 10">
            <a:extLst>
              <a:ext uri="{FF2B5EF4-FFF2-40B4-BE49-F238E27FC236}">
                <a16:creationId xmlns:a16="http://schemas.microsoft.com/office/drawing/2014/main" id="{DADD8147-1B03-949D-98FD-7A714EA6CC70}"/>
              </a:ext>
            </a:extLst>
          </p:cNvPr>
          <p:cNvSpPr txBox="1"/>
          <p:nvPr/>
        </p:nvSpPr>
        <p:spPr>
          <a:xfrm>
            <a:off x="766701" y="2927129"/>
            <a:ext cx="70660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로딩량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기반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Feedforward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보정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FF1FC60-9684-1719-B515-A39CB401D7A9}"/>
              </a:ext>
            </a:extLst>
          </p:cNvPr>
          <p:cNvCxnSpPr>
            <a:cxnSpLocks/>
          </p:cNvCxnSpPr>
          <p:nvPr/>
        </p:nvCxnSpPr>
        <p:spPr>
          <a:xfrm>
            <a:off x="766701" y="2540733"/>
            <a:ext cx="51812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5710F52C-78BF-D500-2FAB-F911F288EEE1}"/>
              </a:ext>
            </a:extLst>
          </p:cNvPr>
          <p:cNvCxnSpPr>
            <a:cxnSpLocks/>
          </p:cNvCxnSpPr>
          <p:nvPr/>
        </p:nvCxnSpPr>
        <p:spPr>
          <a:xfrm>
            <a:off x="766701" y="3259359"/>
            <a:ext cx="810768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9FB7DEB9-1D6A-356B-9ACF-26A32F153BB6}"/>
              </a:ext>
            </a:extLst>
          </p:cNvPr>
          <p:cNvSpPr/>
          <p:nvPr/>
        </p:nvSpPr>
        <p:spPr>
          <a:xfrm>
            <a:off x="1296511" y="24726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9" name="TextBox 14">
            <a:extLst>
              <a:ext uri="{FF2B5EF4-FFF2-40B4-BE49-F238E27FC236}">
                <a16:creationId xmlns:a16="http://schemas.microsoft.com/office/drawing/2014/main" id="{67FFCE87-D3C7-D9C1-D53C-9128C3EE9AD9}"/>
              </a:ext>
            </a:extLst>
          </p:cNvPr>
          <p:cNvSpPr txBox="1"/>
          <p:nvPr/>
        </p:nvSpPr>
        <p:spPr>
          <a:xfrm>
            <a:off x="775911" y="2605943"/>
            <a:ext cx="704287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 ESS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A2D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프로그램 설계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C6E36DF-4458-EDFB-5302-5B5EFFBCBEEA}"/>
              </a:ext>
            </a:extLst>
          </p:cNvPr>
          <p:cNvSpPr/>
          <p:nvPr/>
        </p:nvSpPr>
        <p:spPr>
          <a:xfrm>
            <a:off x="1846991" y="24726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TextBox 16">
            <a:extLst>
              <a:ext uri="{FF2B5EF4-FFF2-40B4-BE49-F238E27FC236}">
                <a16:creationId xmlns:a16="http://schemas.microsoft.com/office/drawing/2014/main" id="{BBDF0444-6F84-0294-C3E7-569E5911F970}"/>
              </a:ext>
            </a:extLst>
          </p:cNvPr>
          <p:cNvSpPr txBox="1"/>
          <p:nvPr/>
        </p:nvSpPr>
        <p:spPr>
          <a:xfrm>
            <a:off x="1529568" y="2605943"/>
            <a:ext cx="80527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 적용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기능 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7864F326-AB48-052D-BFF9-3E884110CF75}"/>
              </a:ext>
            </a:extLst>
          </p:cNvPr>
          <p:cNvSpPr/>
          <p:nvPr/>
        </p:nvSpPr>
        <p:spPr>
          <a:xfrm>
            <a:off x="2855153" y="24726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3" name="TextBox 18">
            <a:extLst>
              <a:ext uri="{FF2B5EF4-FFF2-40B4-BE49-F238E27FC236}">
                <a16:creationId xmlns:a16="http://schemas.microsoft.com/office/drawing/2014/main" id="{83FAF562-12BD-29B5-73EC-A99893024880}"/>
              </a:ext>
            </a:extLst>
          </p:cNvPr>
          <p:cNvSpPr txBox="1"/>
          <p:nvPr/>
        </p:nvSpPr>
        <p:spPr>
          <a:xfrm>
            <a:off x="2490753" y="2605943"/>
            <a:ext cx="737950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성능 검증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효과 분석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74F998B4-4740-9829-55E8-0E46470739AF}"/>
              </a:ext>
            </a:extLst>
          </p:cNvPr>
          <p:cNvSpPr/>
          <p:nvPr/>
        </p:nvSpPr>
        <p:spPr>
          <a:xfrm>
            <a:off x="3265382" y="24726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709226FC-C37A-AE00-15FD-79020851B6B7}"/>
              </a:ext>
            </a:extLst>
          </p:cNvPr>
          <p:cNvSpPr txBox="1"/>
          <p:nvPr/>
        </p:nvSpPr>
        <p:spPr>
          <a:xfrm>
            <a:off x="3136037" y="2605943"/>
            <a:ext cx="462233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OT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성능 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A1914916-DD4D-F457-2B96-4CDC6260B04F}"/>
              </a:ext>
            </a:extLst>
          </p:cNvPr>
          <p:cNvSpPr/>
          <p:nvPr/>
        </p:nvSpPr>
        <p:spPr>
          <a:xfrm>
            <a:off x="3949146" y="24726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2" name="TextBox 33">
            <a:extLst>
              <a:ext uri="{FF2B5EF4-FFF2-40B4-BE49-F238E27FC236}">
                <a16:creationId xmlns:a16="http://schemas.microsoft.com/office/drawing/2014/main" id="{85D3ADC8-14A6-4F9B-6456-962DCB458BD3}"/>
              </a:ext>
            </a:extLst>
          </p:cNvPr>
          <p:cNvSpPr txBox="1"/>
          <p:nvPr/>
        </p:nvSpPr>
        <p:spPr>
          <a:xfrm>
            <a:off x="3767540" y="2605943"/>
            <a:ext cx="462233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MI_HL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 전개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B22A8FC2-CDCA-8161-B34C-A6C542A5BF4C}"/>
              </a:ext>
            </a:extLst>
          </p:cNvPr>
          <p:cNvSpPr/>
          <p:nvPr/>
        </p:nvSpPr>
        <p:spPr>
          <a:xfrm>
            <a:off x="4396356" y="24726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7" name="TextBox 35">
            <a:extLst>
              <a:ext uri="{FF2B5EF4-FFF2-40B4-BE49-F238E27FC236}">
                <a16:creationId xmlns:a16="http://schemas.microsoft.com/office/drawing/2014/main" id="{FE954B83-3B2A-1BE6-B755-CA08FA7525D7}"/>
              </a:ext>
            </a:extLst>
          </p:cNvPr>
          <p:cNvSpPr txBox="1"/>
          <p:nvPr/>
        </p:nvSpPr>
        <p:spPr>
          <a:xfrm>
            <a:off x="4250708" y="2605943"/>
            <a:ext cx="462233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MI_HL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성능 검증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08A40420-A155-22DF-B167-4093876524BA}"/>
              </a:ext>
            </a:extLst>
          </p:cNvPr>
          <p:cNvSpPr/>
          <p:nvPr/>
        </p:nvSpPr>
        <p:spPr>
          <a:xfrm>
            <a:off x="3490693" y="319547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0" name="TextBox 44">
            <a:extLst>
              <a:ext uri="{FF2B5EF4-FFF2-40B4-BE49-F238E27FC236}">
                <a16:creationId xmlns:a16="http://schemas.microsoft.com/office/drawing/2014/main" id="{BC297D2B-4A3F-B23C-C6E2-2417A92A15C1}"/>
              </a:ext>
            </a:extLst>
          </p:cNvPr>
          <p:cNvSpPr txBox="1"/>
          <p:nvPr/>
        </p:nvSpPr>
        <p:spPr>
          <a:xfrm>
            <a:off x="3185752" y="3339476"/>
            <a:ext cx="713905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로딩 데이터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연동 기반 준비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66228EA5-DDC6-FF3F-4ED4-BFCEA9F3D04F}"/>
              </a:ext>
            </a:extLst>
          </p:cNvPr>
          <p:cNvSpPr/>
          <p:nvPr/>
        </p:nvSpPr>
        <p:spPr>
          <a:xfrm>
            <a:off x="4512859" y="319547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3" name="TextBox 46">
            <a:extLst>
              <a:ext uri="{FF2B5EF4-FFF2-40B4-BE49-F238E27FC236}">
                <a16:creationId xmlns:a16="http://schemas.microsoft.com/office/drawing/2014/main" id="{0A74DF61-268C-4037-2F27-C78BA93AFDBA}"/>
              </a:ext>
            </a:extLst>
          </p:cNvPr>
          <p:cNvSpPr txBox="1"/>
          <p:nvPr/>
        </p:nvSpPr>
        <p:spPr>
          <a:xfrm>
            <a:off x="4157037" y="3339476"/>
            <a:ext cx="851763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데이터 정합성 검증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1C3E519A-F3A8-B286-8837-F655933DF423}"/>
              </a:ext>
            </a:extLst>
          </p:cNvPr>
          <p:cNvSpPr/>
          <p:nvPr/>
        </p:nvSpPr>
        <p:spPr>
          <a:xfrm>
            <a:off x="6417746" y="319547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5" name="TextBox 50">
            <a:extLst>
              <a:ext uri="{FF2B5EF4-FFF2-40B4-BE49-F238E27FC236}">
                <a16:creationId xmlns:a16="http://schemas.microsoft.com/office/drawing/2014/main" id="{A009F845-9C58-17A9-0F7A-78F3A97D2D86}"/>
              </a:ext>
            </a:extLst>
          </p:cNvPr>
          <p:cNvSpPr txBox="1"/>
          <p:nvPr/>
        </p:nvSpPr>
        <p:spPr>
          <a:xfrm>
            <a:off x="6079088" y="3339476"/>
            <a:ext cx="64497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 개발 및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프로그램 설계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16F2E0F3-9C0F-990C-E5D7-5005FF9F5F82}"/>
              </a:ext>
            </a:extLst>
          </p:cNvPr>
          <p:cNvSpPr/>
          <p:nvPr/>
        </p:nvSpPr>
        <p:spPr>
          <a:xfrm>
            <a:off x="6996773" y="319547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8" name="TextBox 53">
            <a:extLst>
              <a:ext uri="{FF2B5EF4-FFF2-40B4-BE49-F238E27FC236}">
                <a16:creationId xmlns:a16="http://schemas.microsoft.com/office/drawing/2014/main" id="{B6015246-3405-03D9-9FE7-F9ABA05CFB8D}"/>
              </a:ext>
            </a:extLst>
          </p:cNvPr>
          <p:cNvSpPr txBox="1"/>
          <p:nvPr/>
        </p:nvSpPr>
        <p:spPr>
          <a:xfrm>
            <a:off x="6714144" y="3339476"/>
            <a:ext cx="622534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기능 검증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462D902B-56DA-8DA6-3C27-EA97201C34CB}"/>
              </a:ext>
            </a:extLst>
          </p:cNvPr>
          <p:cNvSpPr/>
          <p:nvPr/>
        </p:nvSpPr>
        <p:spPr>
          <a:xfrm>
            <a:off x="7256300" y="319547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1" name="TextBox 55">
            <a:extLst>
              <a:ext uri="{FF2B5EF4-FFF2-40B4-BE49-F238E27FC236}">
                <a16:creationId xmlns:a16="http://schemas.microsoft.com/office/drawing/2014/main" id="{95343A01-7250-B37A-3D21-AAAFCA233622}"/>
              </a:ext>
            </a:extLst>
          </p:cNvPr>
          <p:cNvSpPr txBox="1"/>
          <p:nvPr/>
        </p:nvSpPr>
        <p:spPr>
          <a:xfrm>
            <a:off x="7290208" y="3339476"/>
            <a:ext cx="622534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성능 검증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4B466FEC-9287-FEFD-A6A1-B45BECF3C31E}"/>
              </a:ext>
            </a:extLst>
          </p:cNvPr>
          <p:cNvSpPr/>
          <p:nvPr/>
        </p:nvSpPr>
        <p:spPr>
          <a:xfrm>
            <a:off x="8246615" y="319547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4" name="TextBox 57">
            <a:extLst>
              <a:ext uri="{FF2B5EF4-FFF2-40B4-BE49-F238E27FC236}">
                <a16:creationId xmlns:a16="http://schemas.microsoft.com/office/drawing/2014/main" id="{DF743BD3-033D-3B97-A102-E9965D2778AD}"/>
              </a:ext>
            </a:extLst>
          </p:cNvPr>
          <p:cNvSpPr txBox="1"/>
          <p:nvPr/>
        </p:nvSpPr>
        <p:spPr>
          <a:xfrm>
            <a:off x="8118668" y="3314274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OT, MI2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AC1A5C44-1F2E-3E3A-7E0C-8B44AD07447F}"/>
              </a:ext>
            </a:extLst>
          </p:cNvPr>
          <p:cNvGrpSpPr/>
          <p:nvPr/>
        </p:nvGrpSpPr>
        <p:grpSpPr>
          <a:xfrm>
            <a:off x="6724984" y="1864743"/>
            <a:ext cx="205184" cy="1808643"/>
            <a:chOff x="2687748" y="1123354"/>
            <a:chExt cx="205184" cy="5418763"/>
          </a:xfrm>
        </p:grpSpPr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ADD5D4F-49F8-302B-88EC-3CED4162CBBB}"/>
                </a:ext>
              </a:extLst>
            </p:cNvPr>
            <p:cNvGrpSpPr/>
            <p:nvPr/>
          </p:nvGrpSpPr>
          <p:grpSpPr>
            <a:xfrm>
              <a:off x="2739800" y="1578060"/>
              <a:ext cx="120667" cy="4964057"/>
              <a:chOff x="4835080" y="2510051"/>
              <a:chExt cx="120667" cy="5145973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FEAD36BA-1F6A-C1A7-FC57-55154BA94E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5414" y="2685928"/>
                <a:ext cx="0" cy="4970096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134" name="이등변 삼각형 133">
                <a:extLst>
                  <a:ext uri="{FF2B5EF4-FFF2-40B4-BE49-F238E27FC236}">
                    <a16:creationId xmlns:a16="http://schemas.microsoft.com/office/drawing/2014/main" id="{4D2697B3-4768-CB7F-AD1C-4658036DC5BE}"/>
                  </a:ext>
                </a:extLst>
              </p:cNvPr>
              <p:cNvSpPr/>
              <p:nvPr/>
            </p:nvSpPr>
            <p:spPr>
              <a:xfrm flipV="1">
                <a:off x="4835080" y="2510051"/>
                <a:ext cx="120667" cy="89075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32" name="Text Box 4">
              <a:extLst>
                <a:ext uri="{FF2B5EF4-FFF2-40B4-BE49-F238E27FC236}">
                  <a16:creationId xmlns:a16="http://schemas.microsoft.com/office/drawing/2014/main" id="{457ECF69-7EA5-6917-7ABE-21C83644A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74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116" name="타원 115">
            <a:extLst>
              <a:ext uri="{FF2B5EF4-FFF2-40B4-BE49-F238E27FC236}">
                <a16:creationId xmlns:a16="http://schemas.microsoft.com/office/drawing/2014/main" id="{313B4756-B94E-9AD3-4C2B-AB8110553A4F}"/>
              </a:ext>
            </a:extLst>
          </p:cNvPr>
          <p:cNvSpPr/>
          <p:nvPr/>
        </p:nvSpPr>
        <p:spPr>
          <a:xfrm>
            <a:off x="5038312" y="24726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7" name="TextBox 37">
            <a:extLst>
              <a:ext uri="{FF2B5EF4-FFF2-40B4-BE49-F238E27FC236}">
                <a16:creationId xmlns:a16="http://schemas.microsoft.com/office/drawing/2014/main" id="{C223AA96-BB3F-2779-5262-89E837EEB24E}"/>
              </a:ext>
            </a:extLst>
          </p:cNvPr>
          <p:cNvSpPr txBox="1"/>
          <p:nvPr/>
        </p:nvSpPr>
        <p:spPr>
          <a:xfrm>
            <a:off x="4838657" y="2605943"/>
            <a:ext cx="48627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MI_LS,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HD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80F9CBBE-2563-FCDC-6C63-02EC1DD10A13}"/>
              </a:ext>
            </a:extLst>
          </p:cNvPr>
          <p:cNvSpPr/>
          <p:nvPr/>
        </p:nvSpPr>
        <p:spPr>
          <a:xfrm>
            <a:off x="5461466" y="24726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9" name="TextBox 40">
            <a:extLst>
              <a:ext uri="{FF2B5EF4-FFF2-40B4-BE49-F238E27FC236}">
                <a16:creationId xmlns:a16="http://schemas.microsoft.com/office/drawing/2014/main" id="{B70C44AF-F678-A105-8C19-EA5243744F27}"/>
              </a:ext>
            </a:extLst>
          </p:cNvPr>
          <p:cNvSpPr txBox="1"/>
          <p:nvPr/>
        </p:nvSpPr>
        <p:spPr>
          <a:xfrm>
            <a:off x="5303796" y="2605943"/>
            <a:ext cx="48627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MI_LS,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HD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성능 검증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0" name="TextBox 64">
            <a:extLst>
              <a:ext uri="{FF2B5EF4-FFF2-40B4-BE49-F238E27FC236}">
                <a16:creationId xmlns:a16="http://schemas.microsoft.com/office/drawing/2014/main" id="{0041864B-9AFC-E390-3248-D9A577F85256}"/>
              </a:ext>
            </a:extLst>
          </p:cNvPr>
          <p:cNvSpPr txBox="1"/>
          <p:nvPr/>
        </p:nvSpPr>
        <p:spPr>
          <a:xfrm>
            <a:off x="851239" y="4224785"/>
            <a:ext cx="4422743" cy="271100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-. </a:t>
            </a: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’25</a:t>
            </a: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년 대비 </a:t>
            </a: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PD Loss </a:t>
            </a: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평균 </a:t>
            </a:r>
            <a:r>
              <a:rPr kumimoji="1" lang="en-US" altLang="ko-KR" sz="1050" b="1" dirty="0">
                <a:latin typeface="Arial Narrow"/>
                <a:ea typeface="LG스마트체 Regular"/>
                <a:sym typeface="Wingdings" panose="05000000000000000000" pitchFamily="2" charset="2"/>
              </a:rPr>
              <a:t>29</a:t>
            </a: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.55% </a:t>
            </a: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개선</a:t>
            </a: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 </a:t>
            </a:r>
            <a:r>
              <a:rPr kumimoji="1" lang="ko-KR" altLang="en-US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자동보정 적용 후 기준 </a:t>
            </a:r>
            <a:r>
              <a:rPr kumimoji="1" lang="en-US" altLang="ko-KR" sz="1050" dirty="0">
                <a:latin typeface="Arial Narrow"/>
                <a:ea typeface="LG스마트체 Regular"/>
                <a:sym typeface="Wingdings" panose="05000000000000000000" pitchFamily="2" charset="2"/>
              </a:rPr>
              <a:t>38.30</a:t>
            </a:r>
            <a:r>
              <a:rPr kumimoji="1" lang="en-US" altLang="ko-KR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% </a:t>
            </a:r>
            <a:r>
              <a:rPr kumimoji="1" lang="ko-KR" altLang="en-US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개선</a:t>
            </a:r>
            <a:endParaRPr kumimoji="1" lang="en-US" altLang="ko-KR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22" name="TextBox 68">
            <a:extLst>
              <a:ext uri="{FF2B5EF4-FFF2-40B4-BE49-F238E27FC236}">
                <a16:creationId xmlns:a16="http://schemas.microsoft.com/office/drawing/2014/main" id="{B2E7FFBB-671E-D965-2EC8-143DDD697391}"/>
              </a:ext>
            </a:extLst>
          </p:cNvPr>
          <p:cNvSpPr txBox="1"/>
          <p:nvPr/>
        </p:nvSpPr>
        <p:spPr>
          <a:xfrm>
            <a:off x="851239" y="5716144"/>
            <a:ext cx="4422743" cy="271100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-. </a:t>
            </a:r>
            <a:r>
              <a:rPr kumimoji="1" lang="en-US" altLang="ko-KR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MI_LS,</a:t>
            </a:r>
            <a:r>
              <a:rPr kumimoji="1" lang="ko-KR" altLang="en-US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HD,</a:t>
            </a:r>
            <a:r>
              <a:rPr kumimoji="1" lang="ko-KR" altLang="en-US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NFF</a:t>
            </a:r>
            <a:r>
              <a:rPr kumimoji="1" lang="ko-KR" altLang="en-US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추가 적용</a:t>
            </a:r>
            <a:r>
              <a:rPr kumimoji="1" lang="en-US" altLang="ko-KR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완료</a:t>
            </a:r>
            <a:r>
              <a:rPr kumimoji="1" lang="en-US" altLang="ko-KR" sz="1050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, </a:t>
            </a:r>
            <a:r>
              <a:rPr kumimoji="1" lang="en-US" altLang="ko-KR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HG,</a:t>
            </a:r>
            <a:r>
              <a:rPr kumimoji="1" lang="ko-KR" altLang="en-US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GM1,</a:t>
            </a:r>
            <a:r>
              <a:rPr kumimoji="1" lang="ko-KR" altLang="en-US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GM2</a:t>
            </a:r>
            <a:r>
              <a:rPr kumimoji="1" lang="ko-KR" altLang="en-US" sz="10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자동보정 적용 중</a:t>
            </a:r>
            <a:endParaRPr kumimoji="1" lang="en-US" altLang="ko-KR" sz="1050" dirty="0">
              <a:latin typeface="Arial Narrow"/>
              <a:ea typeface="LG스마트체 Regular"/>
              <a:sym typeface="Wingdings" panose="05000000000000000000" pitchFamily="2" charset="2"/>
            </a:endParaRPr>
          </a:p>
        </p:txBody>
      </p:sp>
      <p:sp>
        <p:nvSpPr>
          <p:cNvPr id="123" name="TextBox 24">
            <a:extLst>
              <a:ext uri="{FF2B5EF4-FFF2-40B4-BE49-F238E27FC236}">
                <a16:creationId xmlns:a16="http://schemas.microsoft.com/office/drawing/2014/main" id="{7F9B12F4-8427-6553-1DD7-01F3FE31D39E}"/>
              </a:ext>
            </a:extLst>
          </p:cNvPr>
          <p:cNvSpPr txBox="1"/>
          <p:nvPr/>
        </p:nvSpPr>
        <p:spPr>
          <a:xfrm>
            <a:off x="5170045" y="4016635"/>
            <a:ext cx="4282950" cy="59105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WA NND PD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저하 개선 방안</a:t>
            </a:r>
            <a:endParaRPr kumimoji="1"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tabLst/>
              <a:defRPr/>
            </a:pP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-.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[NND] 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단선 자동조치 모드 개발 및 적용 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(WA 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설비기술팀 협업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~9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24" name="TextBox 26">
            <a:extLst>
              <a:ext uri="{FF2B5EF4-FFF2-40B4-BE49-F238E27FC236}">
                <a16:creationId xmlns:a16="http://schemas.microsoft.com/office/drawing/2014/main" id="{028A52A8-35AE-18C3-EB54-243999ABB738}"/>
              </a:ext>
            </a:extLst>
          </p:cNvPr>
          <p:cNvSpPr txBox="1"/>
          <p:nvPr/>
        </p:nvSpPr>
        <p:spPr>
          <a:xfrm>
            <a:off x="5170044" y="4764005"/>
            <a:ext cx="4568435" cy="1693028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진행 계획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180975" marR="0" lvl="1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① 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[R/P] </a:t>
            </a:r>
            <a:r>
              <a:rPr kumimoji="1" lang="ko-KR" altLang="en-US" sz="105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로딩량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기반 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Feedforward 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보정</a:t>
            </a:r>
            <a:b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: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WA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분석 및 로직 설계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후 대표호기 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적용 예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</a:t>
            </a:r>
            <a:endParaRPr kumimoji="1" lang="en-US" altLang="ko-KR" sz="105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80975" marR="0" lvl="1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② 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[R/P] Tension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편차 자동보정</a:t>
            </a:r>
            <a:b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: APC 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적용된 자동차 법인 대상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Tension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편차 자동보정 수평전개 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(GM1, GM2, HG)</a:t>
            </a:r>
          </a:p>
          <a:p>
            <a:pPr marL="180975" marR="0" lvl="1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③ 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[R/P] 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단선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자동조치 모드</a:t>
            </a:r>
            <a:b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: HD 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법인 단선</a:t>
            </a:r>
            <a:r>
              <a:rPr kumimoji="1"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자동조치 모드 수평전개</a:t>
            </a:r>
            <a:endParaRPr kumimoji="1" lang="en-US" altLang="ko-KR" sz="105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125" name="TextBox 38">
            <a:extLst>
              <a:ext uri="{FF2B5EF4-FFF2-40B4-BE49-F238E27FC236}">
                <a16:creationId xmlns:a16="http://schemas.microsoft.com/office/drawing/2014/main" id="{00C2F055-0E47-0A16-C4EA-1395DFACBD52}"/>
              </a:ext>
            </a:extLst>
          </p:cNvPr>
          <p:cNvSpPr txBox="1"/>
          <p:nvPr/>
        </p:nvSpPr>
        <p:spPr>
          <a:xfrm>
            <a:off x="3582989" y="4130646"/>
            <a:ext cx="15140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 적용 후 기간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4/1 ~ 8/31 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1A4149EA-3B71-4920-185A-9F80EF395371}"/>
              </a:ext>
            </a:extLst>
          </p:cNvPr>
          <p:cNvSpPr/>
          <p:nvPr/>
        </p:nvSpPr>
        <p:spPr>
          <a:xfrm>
            <a:off x="5493742" y="319547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7" name="TextBox 49">
            <a:extLst>
              <a:ext uri="{FF2B5EF4-FFF2-40B4-BE49-F238E27FC236}">
                <a16:creationId xmlns:a16="http://schemas.microsoft.com/office/drawing/2014/main" id="{5E8F4E38-5435-0436-E3F8-B63ED5978594}"/>
              </a:ext>
            </a:extLst>
          </p:cNvPr>
          <p:cNvSpPr txBox="1"/>
          <p:nvPr/>
        </p:nvSpPr>
        <p:spPr>
          <a:xfrm>
            <a:off x="5287000" y="3339476"/>
            <a:ext cx="553604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데이터 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0D45519E-9B0F-76A8-AE86-459094B1F733}"/>
              </a:ext>
            </a:extLst>
          </p:cNvPr>
          <p:cNvSpPr>
            <a:spLocks noChangeAspect="1"/>
          </p:cNvSpPr>
          <p:nvPr/>
        </p:nvSpPr>
        <p:spPr>
          <a:xfrm>
            <a:off x="9192284" y="1288889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A200D92D-AB1E-7415-F779-AB533F14C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63896"/>
              </p:ext>
            </p:extLst>
          </p:nvPr>
        </p:nvGraphicFramePr>
        <p:xfrm>
          <a:off x="1135716" y="4499288"/>
          <a:ext cx="3802044" cy="1197629"/>
        </p:xfrm>
        <a:graphic>
          <a:graphicData uri="http://schemas.openxmlformats.org/drawingml/2006/table">
            <a:tbl>
              <a:tblPr/>
              <a:tblGrid>
                <a:gridCol w="320172">
                  <a:extLst>
                    <a:ext uri="{9D8B030D-6E8A-4147-A177-3AD203B41FA5}">
                      <a16:colId xmlns:a16="http://schemas.microsoft.com/office/drawing/2014/main" val="1976457716"/>
                    </a:ext>
                  </a:extLst>
                </a:gridCol>
                <a:gridCol w="320172">
                  <a:extLst>
                    <a:ext uri="{9D8B030D-6E8A-4147-A177-3AD203B41FA5}">
                      <a16:colId xmlns:a16="http://schemas.microsoft.com/office/drawing/2014/main" val="3445131160"/>
                    </a:ext>
                  </a:extLst>
                </a:gridCol>
                <a:gridCol w="320172">
                  <a:extLst>
                    <a:ext uri="{9D8B030D-6E8A-4147-A177-3AD203B41FA5}">
                      <a16:colId xmlns:a16="http://schemas.microsoft.com/office/drawing/2014/main" val="2577020207"/>
                    </a:ext>
                  </a:extLst>
                </a:gridCol>
                <a:gridCol w="946663">
                  <a:extLst>
                    <a:ext uri="{9D8B030D-6E8A-4147-A177-3AD203B41FA5}">
                      <a16:colId xmlns:a16="http://schemas.microsoft.com/office/drawing/2014/main" val="3647405807"/>
                    </a:ext>
                  </a:extLst>
                </a:gridCol>
                <a:gridCol w="946663">
                  <a:extLst>
                    <a:ext uri="{9D8B030D-6E8A-4147-A177-3AD203B41FA5}">
                      <a16:colId xmlns:a16="http://schemas.microsoft.com/office/drawing/2014/main" val="1483006142"/>
                    </a:ext>
                  </a:extLst>
                </a:gridCol>
                <a:gridCol w="948202">
                  <a:extLst>
                    <a:ext uri="{9D8B030D-6E8A-4147-A177-3AD203B41FA5}">
                      <a16:colId xmlns:a16="http://schemas.microsoft.com/office/drawing/2014/main" val="3748230591"/>
                    </a:ext>
                  </a:extLst>
                </a:gridCol>
              </a:tblGrid>
              <a:tr h="15111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전설비 기준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593258"/>
                  </a:ext>
                </a:extLst>
              </a:tr>
              <a:tr h="1495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기준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 8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(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89592"/>
                  </a:ext>
                </a:extLst>
              </a:tr>
              <a:tr h="14950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6.94%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5.58%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19.60%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61648"/>
                  </a:ext>
                </a:extLst>
              </a:tr>
              <a:tr h="1495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10.72%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14.07%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-31.25%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096767"/>
                  </a:ext>
                </a:extLst>
              </a:tr>
              <a:tr h="1495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12.50%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32.00%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310404"/>
                  </a:ext>
                </a:extLst>
              </a:tr>
              <a:tr h="1495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13.90%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11.90%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14.39%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216873"/>
                  </a:ext>
                </a:extLst>
              </a:tr>
              <a:tr h="1495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23.65%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5.91%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75.01%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9646"/>
                  </a:ext>
                </a:extLst>
              </a:tr>
              <a:tr h="1495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23.13%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7.50%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67.57%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017757"/>
                  </a:ext>
                </a:extLst>
              </a:tr>
            </a:tbl>
          </a:graphicData>
        </a:graphic>
      </p:graphicFrame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8A64478A-87D4-4E88-C3A1-3CEEC6CD8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450054"/>
              </p:ext>
            </p:extLst>
          </p:nvPr>
        </p:nvGraphicFramePr>
        <p:xfrm>
          <a:off x="1135716" y="5992245"/>
          <a:ext cx="3802044" cy="749123"/>
        </p:xfrm>
        <a:graphic>
          <a:graphicData uri="http://schemas.openxmlformats.org/drawingml/2006/table">
            <a:tbl>
              <a:tblPr/>
              <a:tblGrid>
                <a:gridCol w="320172">
                  <a:extLst>
                    <a:ext uri="{9D8B030D-6E8A-4147-A177-3AD203B41FA5}">
                      <a16:colId xmlns:a16="http://schemas.microsoft.com/office/drawing/2014/main" val="1976457716"/>
                    </a:ext>
                  </a:extLst>
                </a:gridCol>
                <a:gridCol w="320172">
                  <a:extLst>
                    <a:ext uri="{9D8B030D-6E8A-4147-A177-3AD203B41FA5}">
                      <a16:colId xmlns:a16="http://schemas.microsoft.com/office/drawing/2014/main" val="3445131160"/>
                    </a:ext>
                  </a:extLst>
                </a:gridCol>
                <a:gridCol w="320172">
                  <a:extLst>
                    <a:ext uri="{9D8B030D-6E8A-4147-A177-3AD203B41FA5}">
                      <a16:colId xmlns:a16="http://schemas.microsoft.com/office/drawing/2014/main" val="2577020207"/>
                    </a:ext>
                  </a:extLst>
                </a:gridCol>
                <a:gridCol w="946663">
                  <a:extLst>
                    <a:ext uri="{9D8B030D-6E8A-4147-A177-3AD203B41FA5}">
                      <a16:colId xmlns:a16="http://schemas.microsoft.com/office/drawing/2014/main" val="3647405807"/>
                    </a:ext>
                  </a:extLst>
                </a:gridCol>
                <a:gridCol w="946663">
                  <a:extLst>
                    <a:ext uri="{9D8B030D-6E8A-4147-A177-3AD203B41FA5}">
                      <a16:colId xmlns:a16="http://schemas.microsoft.com/office/drawing/2014/main" val="1483006142"/>
                    </a:ext>
                  </a:extLst>
                </a:gridCol>
                <a:gridCol w="948202">
                  <a:extLst>
                    <a:ext uri="{9D8B030D-6E8A-4147-A177-3AD203B41FA5}">
                      <a16:colId xmlns:a16="http://schemas.microsoft.com/office/drawing/2014/main" val="3748230591"/>
                    </a:ext>
                  </a:extLst>
                </a:gridCol>
              </a:tblGrid>
              <a:tr h="15111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전설비 기준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593258"/>
                  </a:ext>
                </a:extLst>
              </a:tr>
              <a:tr h="1495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자동보정 적용 전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자동보정 적용 후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89592"/>
                  </a:ext>
                </a:extLst>
              </a:tr>
              <a:tr h="1495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MI_LS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R/P</a:t>
                      </a:r>
                      <a:endParaRPr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13.33%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12.11%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9.15%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9646"/>
                  </a:ext>
                </a:extLst>
              </a:tr>
              <a:tr h="1495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10.97%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6.42%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41.48%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017757"/>
                  </a:ext>
                </a:extLst>
              </a:tr>
              <a:tr h="1495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EP2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3.62%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46.76%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774423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78351464-FD6F-7E14-5AC5-781C80AF38E2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C8BB3068-043D-1E61-7269-D0F5AE5C1F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D8EC24-9236-EF3A-F8D9-4C405C37CCD3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863B45D8-F724-784B-FB9A-9A2CF0310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D09AA0-7EF4-E656-6BAA-1F0CA532FAA7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B6FAFAA-B2DD-1A29-B4D9-4BAC38C4FA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F05DF8-5769-FF55-6F41-5EFE25B4B1EF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604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106326"/>
              </p:ext>
            </p:extLst>
          </p:nvPr>
        </p:nvGraphicFramePr>
        <p:xfrm>
          <a:off x="735049" y="692696"/>
          <a:ext cx="8862107" cy="984409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709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'26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  <a:endParaRPr kumimoji="0" lang="ko-KR" altLang="en-US" sz="1000" b="1" i="0" u="none" strike="noStrike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  <a:endParaRPr kumimoji="0" lang="ko-KR" altLang="en-US" sz="1000" b="1" i="0" u="none" strike="noStrike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3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북미 </a:t>
                      </a: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b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종합 수율 개선 </a:t>
                      </a:r>
                      <a:b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(MI2, MI_L,OT, HD)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개선</a:t>
                      </a:r>
                      <a:b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(3Q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20%  (</a:t>
                      </a:r>
                      <a:r>
                        <a:rPr lang="ko-KR" altLang="en-US" sz="1000" b="1" i="0" u="none" strike="noStrike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algn="ctr" fontAlgn="ctr"/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20% (</a:t>
                      </a:r>
                      <a:r>
                        <a:rPr lang="ko-KR" alt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692697"/>
            <a:ext cx="448035" cy="98440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839581" y="3525369"/>
            <a:ext cx="4008771" cy="341334"/>
            <a:chOff x="961536" y="4488828"/>
            <a:chExt cx="4008771" cy="341334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6" y="3533075"/>
            <a:ext cx="4553251" cy="333628"/>
            <a:chOff x="5152724" y="4496534"/>
            <a:chExt cx="4221222" cy="333628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536300"/>
            <a:ext cx="448035" cy="3205252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652748"/>
            <a:ext cx="0" cy="3205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38B6CCE-C3C5-F1FD-FBB3-EC82E017D78B}"/>
              </a:ext>
            </a:extLst>
          </p:cNvPr>
          <p:cNvSpPr/>
          <p:nvPr/>
        </p:nvSpPr>
        <p:spPr>
          <a:xfrm>
            <a:off x="2720752" y="1048088"/>
            <a:ext cx="324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CCAA03C-5265-C32A-F45E-8DDEF93B9978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DF8D390-4584-1B56-DAC6-9261FF6BC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708850"/>
            <a:ext cx="448035" cy="17822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26F83461-B600-9981-49C0-004F9E4B9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197404"/>
              </p:ext>
            </p:extLst>
          </p:nvPr>
        </p:nvGraphicFramePr>
        <p:xfrm>
          <a:off x="735048" y="1708850"/>
          <a:ext cx="8862108" cy="1786320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331948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801166"/>
                  </a:ext>
                </a:extLst>
              </a:tr>
            </a:tbl>
          </a:graphicData>
        </a:graphic>
      </p:graphicFrame>
      <p:grpSp>
        <p:nvGrpSpPr>
          <p:cNvPr id="46" name="그룹 1">
            <a:extLst>
              <a:ext uri="{FF2B5EF4-FFF2-40B4-BE49-F238E27FC236}">
                <a16:creationId xmlns:a16="http://schemas.microsoft.com/office/drawing/2014/main" id="{F13C776F-A0C6-A45D-D1E3-FF1E2EA9EA44}"/>
              </a:ext>
            </a:extLst>
          </p:cNvPr>
          <p:cNvGrpSpPr/>
          <p:nvPr/>
        </p:nvGrpSpPr>
        <p:grpSpPr>
          <a:xfrm>
            <a:off x="6682796" y="1843411"/>
            <a:ext cx="205184" cy="1679213"/>
            <a:chOff x="2020628" y="1123354"/>
            <a:chExt cx="205184" cy="5370724"/>
          </a:xfrm>
        </p:grpSpPr>
        <p:grpSp>
          <p:nvGrpSpPr>
            <p:cNvPr id="47" name="그룹 2">
              <a:extLst>
                <a:ext uri="{FF2B5EF4-FFF2-40B4-BE49-F238E27FC236}">
                  <a16:creationId xmlns:a16="http://schemas.microsoft.com/office/drawing/2014/main" id="{7607527B-FA1C-D1A6-AAF3-A7D2AC52D1E3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916018"/>
              <a:chOff x="4167960" y="2510051"/>
              <a:chExt cx="120667" cy="5096174"/>
            </a:xfrm>
          </p:grpSpPr>
          <p:cxnSp>
            <p:nvCxnSpPr>
              <p:cNvPr id="51" name="직선 연결선 167">
                <a:extLst>
                  <a:ext uri="{FF2B5EF4-FFF2-40B4-BE49-F238E27FC236}">
                    <a16:creationId xmlns:a16="http://schemas.microsoft.com/office/drawing/2014/main" id="{401546A0-7C54-D119-A32B-7F1B789BA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920297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52" name="이등변 삼각형 7">
                <a:extLst>
                  <a:ext uri="{FF2B5EF4-FFF2-40B4-BE49-F238E27FC236}">
                    <a16:creationId xmlns:a16="http://schemas.microsoft.com/office/drawing/2014/main" id="{0AC8AFF1-3F27-23A5-E0C7-F21BEADB8C53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49" name="Text Box 4">
              <a:extLst>
                <a:ext uri="{FF2B5EF4-FFF2-40B4-BE49-F238E27FC236}">
                  <a16:creationId xmlns:a16="http://schemas.microsoft.com/office/drawing/2014/main" id="{0C213BEA-02F5-0093-594E-7FB638EAD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5" name="타원 4">
            <a:extLst>
              <a:ext uri="{FF2B5EF4-FFF2-40B4-BE49-F238E27FC236}">
                <a16:creationId xmlns:a16="http://schemas.microsoft.com/office/drawing/2014/main" id="{B211557C-5FB0-B65E-841A-D73C9E426B86}"/>
              </a:ext>
            </a:extLst>
          </p:cNvPr>
          <p:cNvSpPr>
            <a:spLocks noChangeAspect="1"/>
          </p:cNvSpPr>
          <p:nvPr/>
        </p:nvSpPr>
        <p:spPr>
          <a:xfrm>
            <a:off x="9136385" y="1184900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제목 3">
            <a:extLst>
              <a:ext uri="{FF2B5EF4-FFF2-40B4-BE49-F238E27FC236}">
                <a16:creationId xmlns:a16="http://schemas.microsoft.com/office/drawing/2014/main" id="{3335D6D4-BAB7-5187-5642-E14DCDCE37AD}"/>
              </a:ext>
            </a:extLst>
          </p:cNvPr>
          <p:cNvSpPr txBox="1">
            <a:spLocks/>
          </p:cNvSpPr>
          <p:nvPr/>
        </p:nvSpPr>
        <p:spPr>
          <a:xfrm>
            <a:off x="134568" y="116449"/>
            <a:ext cx="244216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algn="l"/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KPI 08</a:t>
            </a:r>
            <a:r>
              <a:rPr lang="ko-KR" altLang="en-US" dirty="0"/>
              <a:t>월 진척 사항</a:t>
            </a:r>
            <a:r>
              <a:rPr lang="en-US" altLang="ko-KR" dirty="0"/>
              <a:t>(2/9)</a:t>
            </a:r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7F288E3-DFD3-33E3-4F02-E3F908AF1071}"/>
              </a:ext>
            </a:extLst>
          </p:cNvPr>
          <p:cNvSpPr txBox="1"/>
          <p:nvPr/>
        </p:nvSpPr>
        <p:spPr>
          <a:xfrm>
            <a:off x="6820888" y="3356992"/>
            <a:ext cx="915883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스택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신규과제 대표호기 적용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E2A7016-2563-5A95-EE7C-A8688E72E191}"/>
              </a:ext>
            </a:extLst>
          </p:cNvPr>
          <p:cNvCxnSpPr>
            <a:cxnSpLocks/>
          </p:cNvCxnSpPr>
          <p:nvPr/>
        </p:nvCxnSpPr>
        <p:spPr>
          <a:xfrm>
            <a:off x="733749" y="2084155"/>
            <a:ext cx="663534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>
            <a:extLst>
              <a:ext uri="{FF2B5EF4-FFF2-40B4-BE49-F238E27FC236}">
                <a16:creationId xmlns:a16="http://schemas.microsoft.com/office/drawing/2014/main" id="{FE933060-6D7B-BEAF-BFBA-B197FD487007}"/>
              </a:ext>
            </a:extLst>
          </p:cNvPr>
          <p:cNvSpPr/>
          <p:nvPr/>
        </p:nvSpPr>
        <p:spPr>
          <a:xfrm>
            <a:off x="1814039" y="201610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B8D47F-E80B-321B-8901-6A58551B7BE0}"/>
              </a:ext>
            </a:extLst>
          </p:cNvPr>
          <p:cNvSpPr txBox="1"/>
          <p:nvPr/>
        </p:nvSpPr>
        <p:spPr>
          <a:xfrm>
            <a:off x="1442809" y="2174693"/>
            <a:ext cx="782265" cy="107722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표준화 코드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完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1E923FAE-C0F6-1BE4-566B-D0EBCFA04390}"/>
              </a:ext>
            </a:extLst>
          </p:cNvPr>
          <p:cNvSpPr/>
          <p:nvPr/>
        </p:nvSpPr>
        <p:spPr>
          <a:xfrm>
            <a:off x="2464000" y="201610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9BC09B-897D-348C-9A62-9AF0F1A0E0C9}"/>
              </a:ext>
            </a:extLst>
          </p:cNvPr>
          <p:cNvSpPr txBox="1"/>
          <p:nvPr/>
        </p:nvSpPr>
        <p:spPr>
          <a:xfrm>
            <a:off x="2135202" y="2174693"/>
            <a:ext cx="811038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조립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]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북미 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Site </a:t>
            </a:r>
            <a:b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수평전개 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(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完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)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9B931F7B-F7F0-D58B-0504-2314DED5C74B}"/>
              </a:ext>
            </a:extLst>
          </p:cNvPr>
          <p:cNvSpPr/>
          <p:nvPr/>
        </p:nvSpPr>
        <p:spPr>
          <a:xfrm>
            <a:off x="3837848" y="201610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13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81234F2-2F6C-8E07-BD0D-8DC82DA93045}"/>
              </a:ext>
            </a:extLst>
          </p:cNvPr>
          <p:cNvSpPr/>
          <p:nvPr/>
        </p:nvSpPr>
        <p:spPr>
          <a:xfrm>
            <a:off x="4300839" y="201610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021C68C-3F77-68E4-0DAE-2018C8AED8A9}"/>
              </a:ext>
            </a:extLst>
          </p:cNvPr>
          <p:cNvSpPr txBox="1"/>
          <p:nvPr/>
        </p:nvSpPr>
        <p:spPr>
          <a:xfrm>
            <a:off x="733749" y="1995457"/>
            <a:ext cx="426084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MI_HL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3BAF51F-4D9A-F6B6-3C0B-EFF9DAF93A46}"/>
              </a:ext>
            </a:extLst>
          </p:cNvPr>
          <p:cNvSpPr/>
          <p:nvPr/>
        </p:nvSpPr>
        <p:spPr>
          <a:xfrm>
            <a:off x="5716604" y="201610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2D5C247-0550-DFA3-CD45-38340133617B}"/>
              </a:ext>
            </a:extLst>
          </p:cNvPr>
          <p:cNvSpPr txBox="1"/>
          <p:nvPr/>
        </p:nvSpPr>
        <p:spPr>
          <a:xfrm>
            <a:off x="5193148" y="2174693"/>
            <a:ext cx="915192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lang="ko-KR" altLang="en-US" sz="7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가감속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b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고도화 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안정화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722D4093-A78E-F243-40CC-1508D638EA29}"/>
              </a:ext>
            </a:extLst>
          </p:cNvPr>
          <p:cNvSpPr/>
          <p:nvPr/>
        </p:nvSpPr>
        <p:spPr>
          <a:xfrm>
            <a:off x="6493288" y="201610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3BE96F7-7496-DEED-96FE-7A81653DEEFF}"/>
              </a:ext>
            </a:extLst>
          </p:cNvPr>
          <p:cNvSpPr txBox="1"/>
          <p:nvPr/>
        </p:nvSpPr>
        <p:spPr>
          <a:xfrm>
            <a:off x="6126040" y="2174693"/>
            <a:ext cx="915192" cy="107722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과검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이상감지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911FA410-EB5A-B072-0897-084D6CEB4438}"/>
              </a:ext>
            </a:extLst>
          </p:cNvPr>
          <p:cNvSpPr/>
          <p:nvPr/>
        </p:nvSpPr>
        <p:spPr>
          <a:xfrm>
            <a:off x="7201735" y="201610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C86FC5B-CBD8-1345-C7DA-037593C5B2B9}"/>
              </a:ext>
            </a:extLst>
          </p:cNvPr>
          <p:cNvSpPr txBox="1"/>
          <p:nvPr/>
        </p:nvSpPr>
        <p:spPr>
          <a:xfrm>
            <a:off x="6852898" y="2174693"/>
            <a:ext cx="915192" cy="107722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이상감지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6EE2C2A7-60E1-8195-9651-A271CA1FA1BA}"/>
              </a:ext>
            </a:extLst>
          </p:cNvPr>
          <p:cNvSpPr/>
          <p:nvPr/>
        </p:nvSpPr>
        <p:spPr>
          <a:xfrm>
            <a:off x="3320044" y="20149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22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2E0993E6-FFE8-43ED-29EC-88145D0FA82B}"/>
              </a:ext>
            </a:extLst>
          </p:cNvPr>
          <p:cNvSpPr/>
          <p:nvPr/>
        </p:nvSpPr>
        <p:spPr>
          <a:xfrm>
            <a:off x="4742968" y="201401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08AD64B-6660-6BE3-9606-6B25632FE631}"/>
              </a:ext>
            </a:extLst>
          </p:cNvPr>
          <p:cNvSpPr txBox="1"/>
          <p:nvPr/>
        </p:nvSpPr>
        <p:spPr>
          <a:xfrm>
            <a:off x="4734936" y="2174693"/>
            <a:ext cx="622404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[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전극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] 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동시절연</a:t>
            </a:r>
            <a:endParaRPr lang="en-US" altLang="ko-KR" sz="7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algn="ctr"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미스매치 고도화</a:t>
            </a:r>
            <a:endParaRPr lang="en-US" altLang="ko-KR" sz="7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941DB58A-F5A3-3D97-E1C0-58D9C8AAFFB8}"/>
              </a:ext>
            </a:extLst>
          </p:cNvPr>
          <p:cNvCxnSpPr>
            <a:cxnSpLocks/>
          </p:cNvCxnSpPr>
          <p:nvPr/>
        </p:nvCxnSpPr>
        <p:spPr>
          <a:xfrm flipV="1">
            <a:off x="733749" y="2556543"/>
            <a:ext cx="6635343" cy="836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3697A8CF-7F39-77DC-1075-5FE7FFD153A1}"/>
              </a:ext>
            </a:extLst>
          </p:cNvPr>
          <p:cNvCxnSpPr>
            <a:cxnSpLocks/>
          </p:cNvCxnSpPr>
          <p:nvPr/>
        </p:nvCxnSpPr>
        <p:spPr>
          <a:xfrm>
            <a:off x="733749" y="2924944"/>
            <a:ext cx="663534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B8C329DE-EEF9-01D9-7672-E728AEE34E78}"/>
              </a:ext>
            </a:extLst>
          </p:cNvPr>
          <p:cNvCxnSpPr>
            <a:cxnSpLocks/>
          </p:cNvCxnSpPr>
          <p:nvPr/>
        </p:nvCxnSpPr>
        <p:spPr>
          <a:xfrm>
            <a:off x="733749" y="3284984"/>
            <a:ext cx="663534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A1F6A6D-3F9A-4848-A18C-67229ABC0D2E}"/>
              </a:ext>
            </a:extLst>
          </p:cNvPr>
          <p:cNvSpPr txBox="1"/>
          <p:nvPr/>
        </p:nvSpPr>
        <p:spPr>
          <a:xfrm>
            <a:off x="733749" y="2377877"/>
            <a:ext cx="426084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MI_LS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A80C213-6222-D663-3889-7639C14D143F}"/>
              </a:ext>
            </a:extLst>
          </p:cNvPr>
          <p:cNvSpPr txBox="1"/>
          <p:nvPr/>
        </p:nvSpPr>
        <p:spPr>
          <a:xfrm>
            <a:off x="733749" y="2750557"/>
            <a:ext cx="426084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OT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3AF9297-83E9-3202-F1EC-83A64F05979A}"/>
              </a:ext>
            </a:extLst>
          </p:cNvPr>
          <p:cNvSpPr txBox="1"/>
          <p:nvPr/>
        </p:nvSpPr>
        <p:spPr>
          <a:xfrm>
            <a:off x="733749" y="3133682"/>
            <a:ext cx="426084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HD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AAD778B4-39BB-ECA2-1C72-3B5A5969C037}"/>
              </a:ext>
            </a:extLst>
          </p:cNvPr>
          <p:cNvSpPr/>
          <p:nvPr/>
        </p:nvSpPr>
        <p:spPr>
          <a:xfrm>
            <a:off x="2464000" y="24925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6798A1E-1AE0-652A-2703-86CCF8F84F74}"/>
              </a:ext>
            </a:extLst>
          </p:cNvPr>
          <p:cNvSpPr txBox="1"/>
          <p:nvPr/>
        </p:nvSpPr>
        <p:spPr>
          <a:xfrm>
            <a:off x="1856656" y="2625847"/>
            <a:ext cx="1381199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북미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Site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完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60DEA418-9C11-AB66-D7F0-D4B352675D04}"/>
              </a:ext>
            </a:extLst>
          </p:cNvPr>
          <p:cNvSpPr/>
          <p:nvPr/>
        </p:nvSpPr>
        <p:spPr>
          <a:xfrm>
            <a:off x="2464000" y="283689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2E464BC-42F5-98B1-28A6-2D13273FE856}"/>
              </a:ext>
            </a:extLst>
          </p:cNvPr>
          <p:cNvSpPr txBox="1"/>
          <p:nvPr/>
        </p:nvSpPr>
        <p:spPr>
          <a:xfrm>
            <a:off x="1856656" y="2970152"/>
            <a:ext cx="1381199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북미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Site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完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F28036DD-44BB-A296-7F40-FF05D272F61A}"/>
              </a:ext>
            </a:extLst>
          </p:cNvPr>
          <p:cNvSpPr/>
          <p:nvPr/>
        </p:nvSpPr>
        <p:spPr>
          <a:xfrm>
            <a:off x="2464000" y="32181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1F706EB-238C-E202-7FF6-4FF9C322CB21}"/>
              </a:ext>
            </a:extLst>
          </p:cNvPr>
          <p:cNvSpPr txBox="1"/>
          <p:nvPr/>
        </p:nvSpPr>
        <p:spPr>
          <a:xfrm>
            <a:off x="1856656" y="3351379"/>
            <a:ext cx="1381199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북미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Site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完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C63307B7-9A6D-CC3E-45AC-9062B28F03EB}"/>
              </a:ext>
            </a:extLst>
          </p:cNvPr>
          <p:cNvSpPr/>
          <p:nvPr/>
        </p:nvSpPr>
        <p:spPr>
          <a:xfrm>
            <a:off x="6465168" y="248206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C7DD5D8-A891-8837-2A94-3F09849D98ED}"/>
              </a:ext>
            </a:extLst>
          </p:cNvPr>
          <p:cNvSpPr txBox="1"/>
          <p:nvPr/>
        </p:nvSpPr>
        <p:spPr>
          <a:xfrm>
            <a:off x="6313665" y="2616611"/>
            <a:ext cx="915883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스택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신규과제 대표호기 적용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15E312BA-327F-79C2-8269-B4C2D3D096C5}"/>
              </a:ext>
            </a:extLst>
          </p:cNvPr>
          <p:cNvSpPr/>
          <p:nvPr/>
        </p:nvSpPr>
        <p:spPr>
          <a:xfrm>
            <a:off x="7221316" y="285533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F0CEE15D-AA18-7FF0-D977-37EC5B849D7A}"/>
              </a:ext>
            </a:extLst>
          </p:cNvPr>
          <p:cNvSpPr/>
          <p:nvPr/>
        </p:nvSpPr>
        <p:spPr>
          <a:xfrm>
            <a:off x="7219948" y="32174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18557C8-2287-F308-4BA7-3798B6DA7A96}"/>
              </a:ext>
            </a:extLst>
          </p:cNvPr>
          <p:cNvSpPr txBox="1"/>
          <p:nvPr/>
        </p:nvSpPr>
        <p:spPr>
          <a:xfrm>
            <a:off x="6820888" y="2971196"/>
            <a:ext cx="915883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스택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신규과제 대표호기 적용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6AF3B6F1-7E53-5EAF-636A-6AD0B824D43E}"/>
              </a:ext>
            </a:extLst>
          </p:cNvPr>
          <p:cNvSpPr/>
          <p:nvPr/>
        </p:nvSpPr>
        <p:spPr>
          <a:xfrm>
            <a:off x="4626793" y="248337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D6206F3-A871-6F28-CCC3-C4487C026C8D}"/>
              </a:ext>
            </a:extLst>
          </p:cNvPr>
          <p:cNvSpPr txBox="1"/>
          <p:nvPr/>
        </p:nvSpPr>
        <p:spPr>
          <a:xfrm>
            <a:off x="4333983" y="2593479"/>
            <a:ext cx="74456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RP Tension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편차 자동보정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9C617659-555A-B1EF-05F8-5F6BB3015671}"/>
              </a:ext>
            </a:extLst>
          </p:cNvPr>
          <p:cNvSpPr/>
          <p:nvPr/>
        </p:nvSpPr>
        <p:spPr>
          <a:xfrm>
            <a:off x="3187214" y="284550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C1D764D-EE8D-DE75-1DE3-532D6729E746}"/>
              </a:ext>
            </a:extLst>
          </p:cNvPr>
          <p:cNvSpPr txBox="1"/>
          <p:nvPr/>
        </p:nvSpPr>
        <p:spPr>
          <a:xfrm>
            <a:off x="3010310" y="2978365"/>
            <a:ext cx="1006586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RP Tension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편차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자동보정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6B862298-36DF-2E0E-D07C-11335038F050}"/>
              </a:ext>
            </a:extLst>
          </p:cNvPr>
          <p:cNvSpPr/>
          <p:nvPr/>
        </p:nvSpPr>
        <p:spPr>
          <a:xfrm>
            <a:off x="5389146" y="32259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8301D76-EF4A-15A6-85C0-F337B4078FB3}"/>
              </a:ext>
            </a:extLst>
          </p:cNvPr>
          <p:cNvSpPr txBox="1"/>
          <p:nvPr/>
        </p:nvSpPr>
        <p:spPr>
          <a:xfrm>
            <a:off x="4873416" y="3336039"/>
            <a:ext cx="74456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RP Tension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편차 자동보정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82E4853-79E6-EC88-F041-122C4C1C8265}"/>
              </a:ext>
            </a:extLst>
          </p:cNvPr>
          <p:cNvSpPr txBox="1"/>
          <p:nvPr/>
        </p:nvSpPr>
        <p:spPr>
          <a:xfrm>
            <a:off x="7042429" y="2592771"/>
            <a:ext cx="744561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동시절연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D7ED52D-CDB6-98DF-4D6E-9B6448040827}"/>
              </a:ext>
            </a:extLst>
          </p:cNvPr>
          <p:cNvSpPr/>
          <p:nvPr/>
        </p:nvSpPr>
        <p:spPr>
          <a:xfrm>
            <a:off x="5456970" y="284380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B72B939-CA3F-854E-51F3-D29D51465FF6}"/>
              </a:ext>
            </a:extLst>
          </p:cNvPr>
          <p:cNvSpPr txBox="1"/>
          <p:nvPr/>
        </p:nvSpPr>
        <p:spPr>
          <a:xfrm>
            <a:off x="5159788" y="2949923"/>
            <a:ext cx="74456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미스매치 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고도화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EAC99D2-A7F3-8069-EC14-5FE4959ADE0D}"/>
              </a:ext>
            </a:extLst>
          </p:cNvPr>
          <p:cNvSpPr/>
          <p:nvPr/>
        </p:nvSpPr>
        <p:spPr>
          <a:xfrm>
            <a:off x="5760231" y="32259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3F069064-B753-8816-8146-353C64ADF200}"/>
              </a:ext>
            </a:extLst>
          </p:cNvPr>
          <p:cNvSpPr/>
          <p:nvPr/>
        </p:nvSpPr>
        <p:spPr>
          <a:xfrm>
            <a:off x="7226002" y="248371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A531784-C542-F891-F318-F34B4552E230}"/>
              </a:ext>
            </a:extLst>
          </p:cNvPr>
          <p:cNvSpPr txBox="1"/>
          <p:nvPr/>
        </p:nvSpPr>
        <p:spPr>
          <a:xfrm>
            <a:off x="7580253" y="2969060"/>
            <a:ext cx="744561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동시절연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772F653-A8AB-3455-644B-B718D8E242B9}"/>
              </a:ext>
            </a:extLst>
          </p:cNvPr>
          <p:cNvSpPr txBox="1"/>
          <p:nvPr/>
        </p:nvSpPr>
        <p:spPr>
          <a:xfrm>
            <a:off x="5716604" y="3399373"/>
            <a:ext cx="622404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동시절연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미스매치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고도화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85119C-648E-C42F-6605-AE535B5A6E4D}"/>
              </a:ext>
            </a:extLst>
          </p:cNvPr>
          <p:cNvSpPr txBox="1"/>
          <p:nvPr/>
        </p:nvSpPr>
        <p:spPr>
          <a:xfrm>
            <a:off x="3451221" y="2174693"/>
            <a:ext cx="915883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0" rIns="36000" bIns="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sym typeface="Wingdings"/>
              </a:rPr>
              <a:t>[</a:t>
            </a:r>
            <a:r>
              <a:rPr lang="ko-KR" altLang="en-US" dirty="0">
                <a:sym typeface="Wingdings"/>
              </a:rPr>
              <a:t>조립</a:t>
            </a:r>
            <a:r>
              <a:rPr lang="en-US" altLang="ko-KR" dirty="0">
                <a:sym typeface="Wingdings"/>
              </a:rPr>
              <a:t>] </a:t>
            </a:r>
            <a:r>
              <a:rPr lang="ko-KR" altLang="en-US" dirty="0" err="1">
                <a:sym typeface="Wingdings"/>
              </a:rPr>
              <a:t>라미</a:t>
            </a:r>
            <a:r>
              <a:rPr lang="en-US" altLang="ko-KR" dirty="0">
                <a:sym typeface="Wingdings"/>
              </a:rPr>
              <a:t>/</a:t>
            </a:r>
            <a:r>
              <a:rPr lang="ko-KR" altLang="en-US" dirty="0">
                <a:sym typeface="Wingdings"/>
              </a:rPr>
              <a:t>스택</a:t>
            </a:r>
            <a:br>
              <a:rPr lang="en-US" altLang="ko-KR" dirty="0">
                <a:sym typeface="Wingdings"/>
              </a:rPr>
            </a:br>
            <a:r>
              <a:rPr lang="ko-KR" altLang="en-US" dirty="0">
                <a:sym typeface="Wingdings"/>
              </a:rPr>
              <a:t>신규과제 대표호기 적용</a:t>
            </a:r>
            <a:endParaRPr lang="en-US" altLang="ko-KR" dirty="0">
              <a:sym typeface="Wingdings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0042383-436B-5521-41FF-61C1542CEBA5}"/>
              </a:ext>
            </a:extLst>
          </p:cNvPr>
          <p:cNvSpPr/>
          <p:nvPr/>
        </p:nvSpPr>
        <p:spPr>
          <a:xfrm>
            <a:off x="4626793" y="248337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051B02-291B-CF5F-290D-D22C6690F294}"/>
              </a:ext>
            </a:extLst>
          </p:cNvPr>
          <p:cNvSpPr txBox="1"/>
          <p:nvPr/>
        </p:nvSpPr>
        <p:spPr>
          <a:xfrm>
            <a:off x="2840287" y="2174693"/>
            <a:ext cx="744561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0" rIns="3600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[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전극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] RP Tension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편차 자동보정</a:t>
            </a:r>
            <a:endParaRPr lang="en-US" altLang="ko-KR" sz="7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173BE9-54E4-C4CC-0438-F1CFC77807F7}"/>
              </a:ext>
            </a:extLst>
          </p:cNvPr>
          <p:cNvSpPr txBox="1"/>
          <p:nvPr/>
        </p:nvSpPr>
        <p:spPr>
          <a:xfrm>
            <a:off x="3987707" y="2174693"/>
            <a:ext cx="1001079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0" rIns="3600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스택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 전개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CCCAE11A-D98E-F4DA-2A0D-EB9EA6CBB41E}"/>
              </a:ext>
            </a:extLst>
          </p:cNvPr>
          <p:cNvSpPr/>
          <p:nvPr/>
        </p:nvSpPr>
        <p:spPr>
          <a:xfrm>
            <a:off x="1260292" y="284550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28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58D6E6-9A22-BDE6-B655-7627D567D709}"/>
              </a:ext>
            </a:extLst>
          </p:cNvPr>
          <p:cNvSpPr txBox="1"/>
          <p:nvPr/>
        </p:nvSpPr>
        <p:spPr>
          <a:xfrm>
            <a:off x="1121927" y="2964272"/>
            <a:ext cx="74456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RP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단선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자동조치 모드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6849EB-D371-54ED-B80C-C2ED7A7FC7C7}"/>
              </a:ext>
            </a:extLst>
          </p:cNvPr>
          <p:cNvSpPr txBox="1"/>
          <p:nvPr/>
        </p:nvSpPr>
        <p:spPr>
          <a:xfrm>
            <a:off x="816727" y="4221088"/>
            <a:ext cx="4404009" cy="668901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[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MI_LS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 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RP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]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양극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역압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 자동보정 고도화</a:t>
            </a:r>
            <a:br>
              <a:rPr lang="en-US" altLang="ko-KR" sz="12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-. Pinhole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로 인한 단선 감소를 위해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Side </a:t>
            </a:r>
            <a:r>
              <a:rPr kumimoji="1" lang="ko-KR" altLang="en-US" sz="1000" dirty="0" err="1">
                <a:latin typeface="Arial Narrow"/>
                <a:ea typeface="LG스마트체 Regular"/>
                <a:sym typeface="Wingdings" panose="05000000000000000000" pitchFamily="2" charset="2"/>
              </a:rPr>
              <a:t>역압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 최소화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양극 전 호기 전개 완료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(8/7)</a:t>
            </a:r>
            <a:b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   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단선 불량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0.5%p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(0.8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% 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→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0.3%),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 수율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0.5%p 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개선 기여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E10715-21B1-397B-264D-566D99A3E374}"/>
              </a:ext>
            </a:extLst>
          </p:cNvPr>
          <p:cNvSpPr txBox="1"/>
          <p:nvPr/>
        </p:nvSpPr>
        <p:spPr>
          <a:xfrm>
            <a:off x="4022718" y="4661969"/>
            <a:ext cx="854509" cy="201975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>
            <a:defPPr>
              <a:defRPr lang="ko-KR"/>
            </a:defPPr>
            <a:lvl1pPr marL="92075" marR="0" lvl="0" indent="-92075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indent="0" algn="r">
              <a:buNone/>
            </a:pPr>
            <a:r>
              <a:rPr lang="ko-KR" altLang="en-US" dirty="0"/>
              <a:t>적용 전</a:t>
            </a:r>
            <a:r>
              <a:rPr lang="en-US" altLang="ko-KR" dirty="0"/>
              <a:t>/</a:t>
            </a:r>
            <a:r>
              <a:rPr lang="ko-KR" altLang="en-US" dirty="0"/>
              <a:t>후 </a:t>
            </a:r>
            <a:r>
              <a:rPr lang="en-US" altLang="ko-KR" dirty="0"/>
              <a:t>2</a:t>
            </a:r>
            <a:r>
              <a:rPr lang="ko-KR" altLang="en-US" dirty="0"/>
              <a:t>주 기준</a:t>
            </a:r>
            <a:endParaRPr lang="en-US" altLang="ko-K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04C000-E155-DA1B-2E6B-6C574A708151}"/>
              </a:ext>
            </a:extLst>
          </p:cNvPr>
          <p:cNvSpPr txBox="1"/>
          <p:nvPr/>
        </p:nvSpPr>
        <p:spPr>
          <a:xfrm>
            <a:off x="5193147" y="4765418"/>
            <a:ext cx="4404009" cy="391774"/>
          </a:xfrm>
          <a:prstGeom prst="rect">
            <a:avLst/>
          </a:prstGeom>
          <a:noFill/>
        </p:spPr>
        <p:txBody>
          <a:bodyPr wrap="square" lIns="33231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OT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NND] </a:t>
            </a:r>
            <a:r>
              <a:rPr lang="en-US" altLang="ko-KR" sz="12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AX</a:t>
            </a:r>
            <a:r>
              <a:rPr lang="ko-KR" altLang="en-US" sz="12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자동보정 파라미터 실시간 최적화 </a:t>
            </a:r>
            <a:br>
              <a:rPr lang="en-US" altLang="ko-KR" sz="12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-.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WA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최신화 버전 기준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수평전개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예정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’26.09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en-US" altLang="ko-KR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4714B7-7751-4E6A-D88F-E4342D51CEDE}"/>
              </a:ext>
            </a:extLst>
          </p:cNvPr>
          <p:cNvSpPr txBox="1"/>
          <p:nvPr/>
        </p:nvSpPr>
        <p:spPr>
          <a:xfrm>
            <a:off x="5203169" y="4333242"/>
            <a:ext cx="4404009" cy="391902"/>
          </a:xfrm>
          <a:prstGeom prst="rect">
            <a:avLst/>
          </a:prstGeom>
          <a:noFill/>
        </p:spPr>
        <p:txBody>
          <a:bodyPr wrap="square" lIns="33231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북미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(OT, HD)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RP] </a:t>
            </a:r>
            <a:r>
              <a:rPr kumimoji="1" lang="ko-KR" altLang="en-US" sz="1200" b="1" kern="1200" cap="none" spc="0" normalizeH="0" baseline="0" noProof="0" dirty="0" err="1">
                <a:ln>
                  <a:noFill/>
                </a:ln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역압</a:t>
            </a:r>
            <a:r>
              <a:rPr kumimoji="1" lang="ko-KR" altLang="en-US" sz="1200" b="1" kern="1200" cap="none" spc="0" normalizeH="0" baseline="0" noProof="0" dirty="0">
                <a:ln>
                  <a:noFill/>
                </a:ln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자동보정 고도화</a:t>
            </a:r>
            <a:br>
              <a:rPr lang="en-US" altLang="ko-KR" sz="12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OT, HD </a:t>
            </a:r>
            <a:r>
              <a:rPr kumimoji="1"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법인 요청에 따른 수평전개 완료 및 검증 예정</a:t>
            </a: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(‘26.09)</a:t>
            </a:r>
          </a:p>
        </p:txBody>
      </p:sp>
      <p:sp>
        <p:nvSpPr>
          <p:cNvPr id="48" name="실행 단추: 앞으로 또는 다음으로 이동 4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02CDFB8-B607-40B5-0C50-15DAEB51AA17}"/>
              </a:ext>
            </a:extLst>
          </p:cNvPr>
          <p:cNvSpPr/>
          <p:nvPr/>
        </p:nvSpPr>
        <p:spPr>
          <a:xfrm>
            <a:off x="3343985" y="4307443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8C82C3D-81B5-FDB2-B965-11B8949AD4B6}"/>
              </a:ext>
            </a:extLst>
          </p:cNvPr>
          <p:cNvSpPr/>
          <p:nvPr/>
        </p:nvSpPr>
        <p:spPr>
          <a:xfrm>
            <a:off x="5996514" y="248206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762BBF-2F55-95BB-D2F1-86375174B873}"/>
              </a:ext>
            </a:extLst>
          </p:cNvPr>
          <p:cNvSpPr txBox="1"/>
          <p:nvPr/>
        </p:nvSpPr>
        <p:spPr>
          <a:xfrm>
            <a:off x="5712738" y="2616611"/>
            <a:ext cx="654594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RP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역압</a:t>
            </a:r>
            <a:endParaRPr lang="en-US" altLang="ko-KR" sz="7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자동보정 고도화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2E08B-68BE-AC00-156A-53A14F8267A9}"/>
              </a:ext>
            </a:extLst>
          </p:cNvPr>
          <p:cNvSpPr txBox="1"/>
          <p:nvPr/>
        </p:nvSpPr>
        <p:spPr>
          <a:xfrm>
            <a:off x="819641" y="3884176"/>
            <a:ext cx="4177653" cy="391902"/>
          </a:xfrm>
          <a:prstGeom prst="rect">
            <a:avLst/>
          </a:prstGeom>
          <a:noFill/>
        </p:spPr>
        <p:txBody>
          <a:bodyPr wrap="square" lIns="33231" tIns="0" rIns="0" bIns="0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북미 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COT] </a:t>
            </a:r>
            <a:r>
              <a:rPr kumimoji="1" lang="ko-KR" altLang="en-US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자동보정 고도화 전개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미스매치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미스매치 고도화 북미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4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 법인 전개 완료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HL(6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 LS (7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OT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(7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 HD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(7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endParaRPr lang="en-US" altLang="ko-KR" sz="1000" b="0" i="0" u="none" strike="noStrike" dirty="0"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CB4F5-FB5F-EE32-DA0F-DA275D0D381A}"/>
              </a:ext>
            </a:extLst>
          </p:cNvPr>
          <p:cNvSpPr txBox="1"/>
          <p:nvPr/>
        </p:nvSpPr>
        <p:spPr>
          <a:xfrm>
            <a:off x="5198713" y="3884176"/>
            <a:ext cx="4763081" cy="391902"/>
          </a:xfrm>
          <a:prstGeom prst="rect">
            <a:avLst/>
          </a:prstGeom>
          <a:noFill/>
        </p:spPr>
        <p:txBody>
          <a:bodyPr wrap="square" lIns="33231" tIns="0" rIns="0" bIns="0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북미 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COT] </a:t>
            </a:r>
            <a:r>
              <a:rPr kumimoji="1" lang="ko-KR" altLang="en-US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자동보정 고도화 전개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미스매치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동시절연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동시절연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(OT, LS 9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  <a:endParaRPr lang="en-US" altLang="ko-KR" sz="1000" b="0" i="0" u="none" strike="noStrike" dirty="0"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549DC-4567-3963-43FC-1A1474C42910}"/>
              </a:ext>
            </a:extLst>
          </p:cNvPr>
          <p:cNvSpPr txBox="1"/>
          <p:nvPr/>
        </p:nvSpPr>
        <p:spPr>
          <a:xfrm>
            <a:off x="816727" y="4822149"/>
            <a:ext cx="4136272" cy="122289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lvl="0" indent="-164127" defTabSz="844083" fontAlgn="base">
              <a:lnSpc>
                <a:spcPct val="120000"/>
              </a:lnSpc>
              <a:buSzPct val="85000"/>
              <a:buFont typeface="Wingdings" panose="05000000000000000000" pitchFamily="2" charset="2"/>
              <a:buChar char="q"/>
              <a:defRPr kumimoji="1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lnSpc>
                <a:spcPct val="120000"/>
              </a:lnSpc>
              <a:buSzPct val="85000"/>
              <a:defRPr kumimoji="1" sz="105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[MI_HL LAMI]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가감속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구간 자동보정 고도화 및 안정화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-.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전극 합치</a:t>
            </a:r>
            <a:r>
              <a:rPr lang="ko-KR" altLang="en-US" sz="1000" b="0" dirty="0">
                <a:solidFill>
                  <a:schemeClr val="tx1"/>
                </a:solidFill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가감속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</a:rPr>
              <a:t>구간 고도화 </a:t>
            </a:r>
            <a:br>
              <a:rPr lang="en-US" altLang="ko-KR" sz="1000" b="0" dirty="0">
                <a:solidFill>
                  <a:schemeClr val="tx1"/>
                </a:solidFill>
              </a:rPr>
            </a:br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en-US" altLang="ko-KR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X</a:t>
            </a:r>
            <a:r>
              <a:rPr lang="ko-KR" altLang="en-US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축 불량률 </a:t>
            </a:r>
            <a:r>
              <a:rPr lang="en-US" altLang="ko-KR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0.033%p</a:t>
            </a:r>
            <a:r>
              <a:rPr lang="ko-KR" altLang="en-US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</a:t>
            </a:r>
            <a:endParaRPr lang="en-US" altLang="ko-KR" sz="1000" b="0" i="0" u="none" strike="noStrike" kern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000" b="0" dirty="0">
                <a:solidFill>
                  <a:schemeClr val="tx1"/>
                </a:solidFill>
              </a:rPr>
              <a:t>    -. </a:t>
            </a:r>
            <a:r>
              <a:rPr lang="ko-KR" altLang="en-US" sz="1000" b="0" dirty="0" err="1">
                <a:solidFill>
                  <a:schemeClr val="tx1"/>
                </a:solidFill>
              </a:rPr>
              <a:t>보정값</a:t>
            </a:r>
            <a:r>
              <a:rPr lang="ko-KR" altLang="en-US" sz="1000" b="0" dirty="0">
                <a:solidFill>
                  <a:schemeClr val="tx1"/>
                </a:solidFill>
              </a:rPr>
              <a:t> </a:t>
            </a:r>
            <a:r>
              <a:rPr lang="en-US" altLang="ko-KR" sz="1000" b="0" dirty="0">
                <a:solidFill>
                  <a:schemeClr val="tx1"/>
                </a:solidFill>
              </a:rPr>
              <a:t>Reset </a:t>
            </a:r>
            <a:r>
              <a:rPr lang="ko-KR" altLang="en-US" sz="1000" b="0" dirty="0">
                <a:solidFill>
                  <a:schemeClr val="tx1"/>
                </a:solidFill>
              </a:rPr>
              <a:t>구간 자동보정 </a:t>
            </a:r>
            <a:r>
              <a:rPr lang="ko-KR" altLang="en-US" sz="1000" b="0" dirty="0" err="1">
                <a:solidFill>
                  <a:schemeClr val="tx1"/>
                </a:solidFill>
              </a:rPr>
              <a:t>적용률</a:t>
            </a:r>
            <a:r>
              <a:rPr lang="ko-KR" altLang="en-US" sz="1000" b="0" dirty="0">
                <a:solidFill>
                  <a:schemeClr val="tx1"/>
                </a:solidFill>
              </a:rPr>
              <a:t> 개선</a:t>
            </a:r>
            <a:br>
              <a:rPr lang="en-US" altLang="ko-KR" sz="1000" b="0" dirty="0">
                <a:solidFill>
                  <a:schemeClr val="tx1"/>
                </a:solidFill>
              </a:rPr>
            </a:br>
            <a:r>
              <a:rPr lang="en-US" altLang="ko-KR" sz="1000" b="0" dirty="0">
                <a:solidFill>
                  <a:schemeClr val="tx1"/>
                </a:solidFill>
              </a:rPr>
              <a:t>       (</a:t>
            </a:r>
            <a:r>
              <a:rPr lang="ko-KR" altLang="en-US" sz="1000" b="0" dirty="0">
                <a:solidFill>
                  <a:schemeClr val="tx1"/>
                </a:solidFill>
              </a:rPr>
              <a:t>정지 후 </a:t>
            </a:r>
            <a:r>
              <a:rPr lang="en-US" altLang="ko-KR" sz="1000" b="0" dirty="0">
                <a:solidFill>
                  <a:schemeClr val="tx1"/>
                </a:solidFill>
              </a:rPr>
              <a:t>3</a:t>
            </a:r>
            <a:r>
              <a:rPr lang="ko-KR" altLang="en-US" sz="1000" b="0" dirty="0">
                <a:solidFill>
                  <a:schemeClr val="tx1"/>
                </a:solidFill>
              </a:rPr>
              <a:t>회 → </a:t>
            </a:r>
            <a:r>
              <a:rPr lang="en-US" altLang="ko-KR" sz="1000" b="0" dirty="0">
                <a:solidFill>
                  <a:schemeClr val="tx1"/>
                </a:solidFill>
              </a:rPr>
              <a:t>1</a:t>
            </a:r>
            <a:r>
              <a:rPr lang="ko-KR" altLang="en-US" sz="1000" b="0" dirty="0">
                <a:solidFill>
                  <a:schemeClr val="tx1"/>
                </a:solidFill>
              </a:rPr>
              <a:t>회 데이터 수집 후 보정</a:t>
            </a:r>
            <a:r>
              <a:rPr lang="en-US" altLang="ko-KR" sz="1000" b="0" dirty="0">
                <a:solidFill>
                  <a:schemeClr val="tx1"/>
                </a:solidFill>
              </a:rPr>
              <a:t>)</a:t>
            </a:r>
            <a:r>
              <a:rPr lang="ko-KR" altLang="en-US" sz="1000" b="0" dirty="0">
                <a:solidFill>
                  <a:schemeClr val="tx1"/>
                </a:solidFill>
              </a:rPr>
              <a:t> </a:t>
            </a:r>
            <a:br>
              <a:rPr lang="en-US" altLang="ko-KR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lang="en-US" altLang="ko-KR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</a:t>
            </a:r>
            <a:r>
              <a:rPr lang="ko-KR" altLang="en-US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기존 학습된 데이터와 유사 </a:t>
            </a:r>
            <a:r>
              <a:rPr lang="en-US" altLang="ko-KR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Case </a:t>
            </a:r>
            <a:r>
              <a:rPr lang="ko-KR" altLang="en-US" sz="1000" b="0" i="0" u="none" strike="noStrike" kern="12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확인 후 즉시 자동보정 값 적용</a:t>
            </a:r>
            <a:endParaRPr lang="en-US" altLang="ko-KR" sz="1000" b="0" i="0" u="none" strike="noStrike" kern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2CE52F-745D-0D17-3E53-957BF5AE6E25}"/>
              </a:ext>
            </a:extLst>
          </p:cNvPr>
          <p:cNvSpPr txBox="1"/>
          <p:nvPr/>
        </p:nvSpPr>
        <p:spPr>
          <a:xfrm>
            <a:off x="2335517" y="5322919"/>
            <a:ext cx="1992925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r>
              <a:rPr lang="en-US" altLang="ko-KR" dirty="0"/>
              <a:t>X</a:t>
            </a:r>
            <a:r>
              <a:rPr lang="ko-KR" altLang="en-US" dirty="0"/>
              <a:t>축 불량 전체 개선 </a:t>
            </a:r>
            <a:r>
              <a:rPr lang="en-US" altLang="ko-KR" dirty="0"/>
              <a:t>0.073%p(0.183% </a:t>
            </a:r>
            <a:r>
              <a:rPr lang="ko-KR" altLang="en-US" dirty="0"/>
              <a:t>→ </a:t>
            </a:r>
            <a:r>
              <a:rPr lang="en-US" altLang="ko-KR" dirty="0"/>
              <a:t>0.110%)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3DEC3-8837-6490-B602-7C6F00049B81}"/>
              </a:ext>
            </a:extLst>
          </p:cNvPr>
          <p:cNvSpPr txBox="1"/>
          <p:nvPr/>
        </p:nvSpPr>
        <p:spPr>
          <a:xfrm>
            <a:off x="3155800" y="5473970"/>
            <a:ext cx="1841494" cy="318924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>
            <a:defPPr>
              <a:defRPr lang="ko-KR"/>
            </a:defPPr>
            <a:lvl1pPr marL="92075" marR="0" lvl="0" indent="-92075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indent="0">
              <a:buNone/>
            </a:pPr>
            <a:r>
              <a:rPr lang="ko-KR" altLang="en-US" dirty="0"/>
              <a:t>보정 값 </a:t>
            </a:r>
            <a:r>
              <a:rPr lang="en-US" altLang="ko-KR" dirty="0"/>
              <a:t>Reset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기구 셋팅 변경 혹은 </a:t>
            </a:r>
            <a:br>
              <a:rPr lang="en-US" altLang="ko-KR" dirty="0"/>
            </a:br>
            <a:r>
              <a:rPr lang="en-US" altLang="ko-KR" dirty="0"/>
              <a:t>                            </a:t>
            </a:r>
            <a:r>
              <a:rPr lang="ko-KR" altLang="en-US" dirty="0"/>
              <a:t>데이터 산포가 크게 발생 시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8CEA67-DF3A-E471-14C0-BDDFE2948373}"/>
              </a:ext>
            </a:extLst>
          </p:cNvPr>
          <p:cNvSpPr txBox="1"/>
          <p:nvPr/>
        </p:nvSpPr>
        <p:spPr>
          <a:xfrm>
            <a:off x="816726" y="6042949"/>
            <a:ext cx="4224869" cy="484235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lvl="0" indent="-164127" defTabSz="844083" fontAlgn="base">
              <a:lnSpc>
                <a:spcPct val="120000"/>
              </a:lnSpc>
              <a:buSzPct val="85000"/>
              <a:buFont typeface="Wingdings" panose="05000000000000000000" pitchFamily="2" charset="2"/>
              <a:buChar char="q"/>
              <a:defRPr kumimoji="1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lnSpc>
                <a:spcPct val="120000"/>
              </a:lnSpc>
              <a:buSzPct val="85000"/>
              <a:defRPr kumimoji="1" sz="105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[MI_</a:t>
            </a:r>
            <a:r>
              <a:rPr lang="en-US" altLang="ko-KR" dirty="0">
                <a:solidFill>
                  <a:schemeClr val="tx1"/>
                </a:solidFill>
              </a:rPr>
              <a:t>LS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STK] </a:t>
            </a:r>
            <a:r>
              <a:rPr lang="ko-KR" altLang="en-US" dirty="0">
                <a:solidFill>
                  <a:schemeClr val="tx1"/>
                </a:solidFill>
              </a:rPr>
              <a:t>계단식 적층이 발생되는 근본 원인 분석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-. </a:t>
            </a:r>
            <a:r>
              <a:rPr lang="en-US" altLang="ko-KR" sz="1000" b="0" dirty="0">
                <a:solidFill>
                  <a:schemeClr val="tx1"/>
                </a:solidFill>
              </a:rPr>
              <a:t>STK</a:t>
            </a:r>
            <a:r>
              <a:rPr lang="ko-KR" altLang="en-US" sz="1000" b="0" dirty="0">
                <a:solidFill>
                  <a:schemeClr val="tx1"/>
                </a:solidFill>
              </a:rPr>
              <a:t> </a:t>
            </a:r>
            <a:r>
              <a:rPr lang="en-US" altLang="ko-KR" sz="1000" b="0" dirty="0">
                <a:solidFill>
                  <a:schemeClr val="tx1"/>
                </a:solidFill>
              </a:rPr>
              <a:t>Y</a:t>
            </a:r>
            <a:r>
              <a:rPr lang="ko-KR" altLang="en-US" sz="1000" b="0" dirty="0">
                <a:solidFill>
                  <a:schemeClr val="tx1"/>
                </a:solidFill>
              </a:rPr>
              <a:t>축 계단형 발생 시</a:t>
            </a:r>
            <a:r>
              <a:rPr lang="en-US" altLang="ko-KR" sz="1000" b="0" dirty="0">
                <a:solidFill>
                  <a:schemeClr val="tx1"/>
                </a:solidFill>
              </a:rPr>
              <a:t>, Mono-cell</a:t>
            </a:r>
            <a:r>
              <a:rPr lang="ko-KR" altLang="en-US" sz="1000" b="0" dirty="0">
                <a:solidFill>
                  <a:schemeClr val="tx1"/>
                </a:solidFill>
              </a:rPr>
              <a:t>이 </a:t>
            </a:r>
            <a:r>
              <a:rPr lang="ko-KR" altLang="en-US" sz="1000" b="0" dirty="0" err="1">
                <a:solidFill>
                  <a:schemeClr val="tx1"/>
                </a:solidFill>
              </a:rPr>
              <a:t>장변</a:t>
            </a:r>
            <a:r>
              <a:rPr lang="ko-KR" altLang="en-US" sz="1000" b="0" dirty="0">
                <a:solidFill>
                  <a:schemeClr val="tx1"/>
                </a:solidFill>
              </a:rPr>
              <a:t> 방향 </a:t>
            </a:r>
            <a:r>
              <a:rPr lang="ko-KR" altLang="en-US" sz="1000" b="0" dirty="0" err="1">
                <a:solidFill>
                  <a:schemeClr val="tx1"/>
                </a:solidFill>
              </a:rPr>
              <a:t>밴딩</a:t>
            </a:r>
            <a:r>
              <a:rPr lang="ko-KR" altLang="en-US" sz="1000" b="0" dirty="0">
                <a:solidFill>
                  <a:schemeClr val="tx1"/>
                </a:solidFill>
              </a:rPr>
              <a:t> 기인으로 발생됨 확인</a:t>
            </a:r>
            <a:r>
              <a:rPr lang="en-US" altLang="ko-KR" sz="1000" b="0" dirty="0">
                <a:solidFill>
                  <a:schemeClr val="tx1"/>
                </a:solidFill>
              </a:rPr>
              <a:t>(8/27)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1B0089-5729-2336-2CE6-7CE1AA13AA12}"/>
              </a:ext>
            </a:extLst>
          </p:cNvPr>
          <p:cNvSpPr txBox="1"/>
          <p:nvPr/>
        </p:nvSpPr>
        <p:spPr>
          <a:xfrm>
            <a:off x="5193147" y="6246299"/>
            <a:ext cx="4136272" cy="576504"/>
          </a:xfrm>
          <a:prstGeom prst="rect">
            <a:avLst/>
          </a:prstGeom>
          <a:noFill/>
        </p:spPr>
        <p:txBody>
          <a:bodyPr wrap="square" lIns="33231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[MI_LS, OT, HD L&amp;S]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스택 고도화 항목 북미 확산전개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-. </a:t>
            </a:r>
            <a:r>
              <a:rPr kumimoji="1" lang="ko-KR" altLang="en-US" sz="1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X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축 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항목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Y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축 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항목 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스택 고도화 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항목 기술적용</a:t>
            </a:r>
            <a:b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별 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PLC 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UMAC 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수정 완료 일정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확인 중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(‘26.09)</a:t>
            </a:r>
            <a:endParaRPr kumimoji="1" lang="en-US" altLang="ko-KR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536644-3598-6F68-E4BF-6FD86A9EB9CC}"/>
              </a:ext>
            </a:extLst>
          </p:cNvPr>
          <p:cNvSpPr txBox="1"/>
          <p:nvPr/>
        </p:nvSpPr>
        <p:spPr>
          <a:xfrm>
            <a:off x="5193146" y="5790399"/>
            <a:ext cx="4763077" cy="391902"/>
          </a:xfrm>
          <a:prstGeom prst="rect">
            <a:avLst/>
          </a:prstGeom>
          <a:noFill/>
        </p:spPr>
        <p:txBody>
          <a:bodyPr wrap="square" lIns="33231" tIns="0" rIns="0" bIns="0" rtlCol="0">
            <a:spAutoFit/>
          </a:bodyPr>
          <a:lstStyle>
            <a:defPPr>
              <a:defRPr lang="ko-KR"/>
            </a:defPPr>
            <a:lvl1pPr marL="164127" lvl="0" indent="-164127" defTabSz="844083" fontAlgn="base">
              <a:lnSpc>
                <a:spcPct val="120000"/>
              </a:lnSpc>
              <a:buSzPct val="85000"/>
              <a:buFont typeface="Wingdings" panose="05000000000000000000" pitchFamily="2" charset="2"/>
              <a:buChar char="q"/>
              <a:defRPr kumimoji="1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lnSpc>
                <a:spcPct val="120000"/>
              </a:lnSpc>
              <a:buSzPct val="85000"/>
              <a:defRPr kumimoji="1" sz="105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lang="en-US" altLang="ko-KR" dirty="0">
                <a:solidFill>
                  <a:schemeClr val="tx1"/>
                </a:solidFill>
              </a:rPr>
              <a:t>[MI_LS STK] </a:t>
            </a:r>
            <a:r>
              <a:rPr lang="ko-KR" altLang="en-US" dirty="0">
                <a:solidFill>
                  <a:schemeClr val="tx1"/>
                </a:solidFill>
              </a:rPr>
              <a:t>계단식 적층 개선 방안 분석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-. STK Y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축 계단식 적층</a:t>
            </a:r>
            <a:r>
              <a:rPr lang="en-US" altLang="ko-KR" sz="1000" b="0" dirty="0">
                <a:solidFill>
                  <a:schemeClr val="tx1"/>
                </a:solidFill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</a:rPr>
              <a:t>현상을 자동보정으로 개선 </a:t>
            </a:r>
            <a:r>
              <a:rPr lang="en-US" altLang="ko-KR" sz="1000" b="0" dirty="0">
                <a:solidFill>
                  <a:schemeClr val="tx1"/>
                </a:solidFill>
              </a:rPr>
              <a:t>or </a:t>
            </a:r>
            <a:r>
              <a:rPr lang="ko-KR" altLang="en-US" sz="1000" b="0" dirty="0">
                <a:solidFill>
                  <a:schemeClr val="tx1"/>
                </a:solidFill>
              </a:rPr>
              <a:t>이상감지 가능 여부 확인 예정</a:t>
            </a:r>
            <a:r>
              <a:rPr lang="en-US" altLang="ko-KR" sz="1000" b="0" dirty="0">
                <a:solidFill>
                  <a:schemeClr val="tx1"/>
                </a:solidFill>
              </a:rPr>
              <a:t>(‘26.09)</a:t>
            </a:r>
            <a:endParaRPr lang="en-US" altLang="ko-KR" sz="1000" b="0" i="0" u="none" strike="noStrike" kern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4A3DD9-E446-B4CB-BE6E-9247BD7F247D}"/>
              </a:ext>
            </a:extLst>
          </p:cNvPr>
          <p:cNvSpPr txBox="1"/>
          <p:nvPr/>
        </p:nvSpPr>
        <p:spPr>
          <a:xfrm>
            <a:off x="5193147" y="5167680"/>
            <a:ext cx="4136272" cy="576568"/>
          </a:xfrm>
          <a:prstGeom prst="rect">
            <a:avLst/>
          </a:prstGeom>
          <a:noFill/>
        </p:spPr>
        <p:txBody>
          <a:bodyPr wrap="square" lIns="33231" tIns="0" rIns="0" bIns="0" rtlCol="0">
            <a:spAutoFit/>
          </a:bodyPr>
          <a:lstStyle>
            <a:defPPr>
              <a:defRPr lang="ko-KR"/>
            </a:defPPr>
            <a:lvl1pPr marL="164127" lvl="0" indent="-164127" defTabSz="844083" fontAlgn="base">
              <a:lnSpc>
                <a:spcPct val="120000"/>
              </a:lnSpc>
              <a:buSzPct val="85000"/>
              <a:buFont typeface="Wingdings" panose="05000000000000000000" pitchFamily="2" charset="2"/>
              <a:buChar char="q"/>
              <a:defRPr kumimoji="1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lnSpc>
                <a:spcPct val="120000"/>
              </a:lnSpc>
              <a:buSzPct val="85000"/>
              <a:defRPr kumimoji="1" sz="105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lang="en-US" altLang="ko-KR" dirty="0">
                <a:solidFill>
                  <a:schemeClr val="tx1"/>
                </a:solidFill>
              </a:rPr>
              <a:t>[MI_HL LAMI]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이상감지 기술적용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indent="0">
              <a:buNone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-.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이상감지 기술적용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lang="en-US" altLang="ko-KR" sz="1000" b="0" dirty="0">
                <a:solidFill>
                  <a:schemeClr val="tx1"/>
                </a:solidFill>
              </a:rPr>
              <a:t>      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ESWA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 중인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과검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(‘26.08)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</a:t>
            </a:r>
            <a:r>
              <a:rPr kumimoji="1" lang="en-US" altLang="ko-KR" sz="1000" b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b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이상감지</a:t>
            </a:r>
            <a:r>
              <a:rPr kumimoji="1" lang="en-US" altLang="ko-KR" sz="1000" b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(‘28.09)</a:t>
            </a:r>
            <a:r>
              <a:rPr kumimoji="1" lang="ko-KR" altLang="en-US" sz="1000" b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기술적용</a:t>
            </a:r>
            <a:endParaRPr lang="en-US" altLang="ko-KR" sz="1000" b="0" i="0" u="none" strike="noStrike" kern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실행 단추: 앞으로 또는 다음으로 이동 1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D90BC81-3958-5CAE-6BDB-FA61A909987F}"/>
              </a:ext>
            </a:extLst>
          </p:cNvPr>
          <p:cNvSpPr/>
          <p:nvPr/>
        </p:nvSpPr>
        <p:spPr>
          <a:xfrm>
            <a:off x="4164553" y="6123157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2CAF5-011E-8727-F0F7-2EEC8AC7EE28}"/>
              </a:ext>
            </a:extLst>
          </p:cNvPr>
          <p:cNvSpPr txBox="1"/>
          <p:nvPr/>
        </p:nvSpPr>
        <p:spPr>
          <a:xfrm>
            <a:off x="2638450" y="23102"/>
            <a:ext cx="1833269" cy="565146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연간 목표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실적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(~’26.0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8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종합 수율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94.3% / 94.8%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0.5%)</a:t>
            </a:r>
            <a:b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전극 수율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98.3% / 98.5%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0.2%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b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     수율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96.0% / 96.2% (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0.2%)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213E5-1568-007E-C5D9-6787012B97CD}"/>
              </a:ext>
            </a:extLst>
          </p:cNvPr>
          <p:cNvSpPr txBox="1"/>
          <p:nvPr/>
        </p:nvSpPr>
        <p:spPr>
          <a:xfrm>
            <a:off x="4304928" y="23102"/>
            <a:ext cx="2952328" cy="688256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법인별 연간 목표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실적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(~’26.08)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MI(HL)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종합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수율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94.8% / 95.1%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0.3%)</a:t>
            </a:r>
            <a:b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MI(LS)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종합 수율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93.7% / 95.4%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1.7%)</a:t>
            </a:r>
            <a:b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ESOT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종합 수율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94.4% / 93.6% 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△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0.8%)</a:t>
            </a:r>
            <a:b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ESHD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종합 수율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92.9% / 94.3% 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1.4%)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CDBD6B7-AE36-A695-E159-C59821DB6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0960" y="2030285"/>
            <a:ext cx="9906000" cy="273817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1EBCB680-4026-6901-6D28-A81DDB845EFA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E1D97C9-7535-074E-3270-EAB5D406C8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CDD329-B775-DE61-E8F1-CB4C495B4458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E3DDFFAC-7525-F0C7-B96D-6F215B2727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8CADCEA-4432-D40E-BCA5-38FFC609766F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5F04F74-4464-8BAD-7945-8F3A869EFE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E44D16-164A-1413-7F6A-5FFA34C72588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635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8" y="116449"/>
            <a:ext cx="2423118" cy="369332"/>
          </a:xfrm>
        </p:spPr>
        <p:txBody>
          <a:bodyPr wrap="square">
            <a:spAutoFit/>
          </a:bodyPr>
          <a:lstStyle/>
          <a:p>
            <a:pPr algn="l"/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KPI 08</a:t>
            </a:r>
            <a:r>
              <a:rPr lang="ko-KR" altLang="en-US" dirty="0"/>
              <a:t>월 진척 사항</a:t>
            </a:r>
            <a:r>
              <a:rPr lang="en-US" altLang="ko-KR" dirty="0"/>
              <a:t>(3/9)</a:t>
            </a:r>
            <a:endParaRPr lang="ko-KR" altLang="en-US" dirty="0"/>
          </a:p>
        </p:txBody>
      </p:sp>
      <p:grpSp>
        <p:nvGrpSpPr>
          <p:cNvPr id="28" name="그룹 27"/>
          <p:cNvGrpSpPr/>
          <p:nvPr/>
        </p:nvGrpSpPr>
        <p:grpSpPr>
          <a:xfrm>
            <a:off x="839581" y="3310812"/>
            <a:ext cx="4008771" cy="341334"/>
            <a:chOff x="961536" y="4488828"/>
            <a:chExt cx="4008771" cy="341334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6" y="3318518"/>
            <a:ext cx="4553251" cy="333628"/>
            <a:chOff x="5152724" y="4496534"/>
            <a:chExt cx="4221222" cy="333628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429000"/>
            <a:ext cx="448035" cy="314457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5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사항</a:t>
            </a:r>
            <a:endParaRPr kumimoji="1" lang="en-US" altLang="ko-KR" sz="13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ECE83E1-E2B9-419E-16A1-E864CAFD4C46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4544199-02D3-AFA2-B830-D3CA5245D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034178"/>
              </p:ext>
            </p:extLst>
          </p:nvPr>
        </p:nvGraphicFramePr>
        <p:xfrm>
          <a:off x="735049" y="761673"/>
          <a:ext cx="8862108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5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5486">
                  <a:extLst>
                    <a:ext uri="{9D8B030D-6E8A-4147-A177-3AD203B41FA5}">
                      <a16:colId xmlns:a16="http://schemas.microsoft.com/office/drawing/2014/main" val="1227580732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'26</a:t>
                      </a:r>
                      <a:r>
                        <a:rPr kumimoji="0" lang="ko-KR" altLang="en-US" sz="1000" b="1" i="0" u="none" strike="noStrike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파라미터</a:t>
                      </a:r>
                      <a:br>
                        <a:rPr lang="en-US" altLang="ko-KR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실시간 최적화를</a:t>
                      </a:r>
                      <a:r>
                        <a:rPr lang="en-US" altLang="ko-KR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통한 </a:t>
                      </a:r>
                      <a:r>
                        <a:rPr lang="ko-KR" altLang="en-US" sz="1000" b="1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5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95.3% (3Q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94.2%)</a:t>
                      </a:r>
                      <a:endParaRPr lang="en-US" altLang="ko-KR" sz="9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자동차 셀 </a:t>
                      </a:r>
                      <a:r>
                        <a:rPr kumimoji="1" lang="ko-KR" altLang="en-US" sz="105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97.9% (3Q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97.8%)</a:t>
                      </a:r>
                      <a:endParaRPr lang="en-US" altLang="ko-KR" sz="9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15% (</a:t>
                      </a:r>
                      <a:r>
                        <a:rPr lang="ko-KR" altLang="en-US" sz="1000" b="1" i="0" u="none" strike="noStrike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15% (</a:t>
                      </a:r>
                      <a:r>
                        <a:rPr lang="ko-KR" alt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A9675962-0205-9A28-9D3B-B37273EAF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C4A8C84-5F4F-8C39-EA16-67AC22D1268F}"/>
              </a:ext>
            </a:extLst>
          </p:cNvPr>
          <p:cNvSpPr/>
          <p:nvPr/>
        </p:nvSpPr>
        <p:spPr>
          <a:xfrm>
            <a:off x="2690813" y="999755"/>
            <a:ext cx="431139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075C9B4A-826A-15F9-A76F-A6895699804F}"/>
              </a:ext>
            </a:extLst>
          </p:cNvPr>
          <p:cNvSpPr>
            <a:spLocks noChangeAspect="1"/>
          </p:cNvSpPr>
          <p:nvPr/>
        </p:nvSpPr>
        <p:spPr>
          <a:xfrm>
            <a:off x="9126451" y="1126017"/>
            <a:ext cx="180000" cy="1800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-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E55E6D-7412-4177-DF4F-B1FC196E4239}"/>
              </a:ext>
            </a:extLst>
          </p:cNvPr>
          <p:cNvSpPr txBox="1"/>
          <p:nvPr/>
        </p:nvSpPr>
        <p:spPr>
          <a:xfrm>
            <a:off x="4342834" y="44624"/>
            <a:ext cx="1927624" cy="688256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연간 목표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실적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(~’26.08)</a:t>
            </a:r>
            <a:b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 셀 수율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97.8% / 97.6%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△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0.2%)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WA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97.2% / 96.2%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△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1.0%)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NA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99.0% / 99.0% (-)</a:t>
            </a:r>
            <a:b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NB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99.0% / 99.1% 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0.1%)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3ACA7-4ADE-D957-1C47-334F6A78FF1D}"/>
              </a:ext>
            </a:extLst>
          </p:cNvPr>
          <p:cNvSpPr txBox="1"/>
          <p:nvPr/>
        </p:nvSpPr>
        <p:spPr>
          <a:xfrm>
            <a:off x="6101966" y="44624"/>
            <a:ext cx="1927624" cy="688256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HM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98.7% / 99.2%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0.5%)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MI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96.6% / 97.2% 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0.6%)</a:t>
            </a:r>
            <a:b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HG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96.8% / 96.7%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△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0.1%)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AE5F3C50-F4A5-0623-7218-8039AA629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8350"/>
            <a:ext cx="448035" cy="17822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99D026FC-8379-5187-E34D-44BAE9E31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337524"/>
              </p:ext>
            </p:extLst>
          </p:nvPr>
        </p:nvGraphicFramePr>
        <p:xfrm>
          <a:off x="735048" y="1518350"/>
          <a:ext cx="8862108" cy="1786320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331948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801166"/>
                  </a:ext>
                </a:extLst>
              </a:tr>
            </a:tbl>
          </a:graphicData>
        </a:graphic>
      </p:graphicFrame>
      <p:grpSp>
        <p:nvGrpSpPr>
          <p:cNvPr id="40" name="그룹 1">
            <a:extLst>
              <a:ext uri="{FF2B5EF4-FFF2-40B4-BE49-F238E27FC236}">
                <a16:creationId xmlns:a16="http://schemas.microsoft.com/office/drawing/2014/main" id="{CAF1D8CD-0D31-CE40-933B-2D722F687FEF}"/>
              </a:ext>
            </a:extLst>
          </p:cNvPr>
          <p:cNvGrpSpPr/>
          <p:nvPr/>
        </p:nvGrpSpPr>
        <p:grpSpPr>
          <a:xfrm>
            <a:off x="6692032" y="1652911"/>
            <a:ext cx="205184" cy="1679213"/>
            <a:chOff x="2020628" y="1123354"/>
            <a:chExt cx="205184" cy="5370724"/>
          </a:xfrm>
        </p:grpSpPr>
        <p:grpSp>
          <p:nvGrpSpPr>
            <p:cNvPr id="47" name="그룹 2">
              <a:extLst>
                <a:ext uri="{FF2B5EF4-FFF2-40B4-BE49-F238E27FC236}">
                  <a16:creationId xmlns:a16="http://schemas.microsoft.com/office/drawing/2014/main" id="{C137D8F1-7A38-162F-505D-FE73F636D155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916018"/>
              <a:chOff x="4167960" y="2510051"/>
              <a:chExt cx="120667" cy="5096174"/>
            </a:xfrm>
          </p:grpSpPr>
          <p:cxnSp>
            <p:nvCxnSpPr>
              <p:cNvPr id="89" name="직선 연결선 167">
                <a:extLst>
                  <a:ext uri="{FF2B5EF4-FFF2-40B4-BE49-F238E27FC236}">
                    <a16:creationId xmlns:a16="http://schemas.microsoft.com/office/drawing/2014/main" id="{233F0E96-0C8B-8907-458D-CD9D3D174A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920297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90" name="이등변 삼각형 7">
                <a:extLst>
                  <a:ext uri="{FF2B5EF4-FFF2-40B4-BE49-F238E27FC236}">
                    <a16:creationId xmlns:a16="http://schemas.microsoft.com/office/drawing/2014/main" id="{8BA9C6A5-7D4C-211D-0F7F-688F7D901473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64" name="Text Box 4">
              <a:extLst>
                <a:ext uri="{FF2B5EF4-FFF2-40B4-BE49-F238E27FC236}">
                  <a16:creationId xmlns:a16="http://schemas.microsoft.com/office/drawing/2014/main" id="{5060AFA3-C387-BDAC-3181-971920AE7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894D7A77-05DA-8614-5AD5-22B22B44E6B7}"/>
              </a:ext>
            </a:extLst>
          </p:cNvPr>
          <p:cNvCxnSpPr>
            <a:cxnSpLocks/>
          </p:cNvCxnSpPr>
          <p:nvPr/>
        </p:nvCxnSpPr>
        <p:spPr>
          <a:xfrm>
            <a:off x="733749" y="2374404"/>
            <a:ext cx="587543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656D0366-74C5-BD8E-9CCE-B2ED69B8B706}"/>
              </a:ext>
            </a:extLst>
          </p:cNvPr>
          <p:cNvCxnSpPr>
            <a:cxnSpLocks/>
          </p:cNvCxnSpPr>
          <p:nvPr/>
        </p:nvCxnSpPr>
        <p:spPr>
          <a:xfrm>
            <a:off x="733749" y="2734444"/>
            <a:ext cx="663534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F2DD0454-7025-82C7-7AAF-C8BED0F3793A}"/>
              </a:ext>
            </a:extLst>
          </p:cNvPr>
          <p:cNvCxnSpPr>
            <a:cxnSpLocks/>
          </p:cNvCxnSpPr>
          <p:nvPr/>
        </p:nvCxnSpPr>
        <p:spPr>
          <a:xfrm>
            <a:off x="733749" y="3094484"/>
            <a:ext cx="535788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AB189B5-B151-9109-0496-5CCAEE1AC0D3}"/>
              </a:ext>
            </a:extLst>
          </p:cNvPr>
          <p:cNvSpPr txBox="1"/>
          <p:nvPr/>
        </p:nvSpPr>
        <p:spPr>
          <a:xfrm>
            <a:off x="733749" y="2560057"/>
            <a:ext cx="532016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MI_HL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4C15A75-0389-E934-5D16-6A2D4B47589E}"/>
              </a:ext>
            </a:extLst>
          </p:cNvPr>
          <p:cNvSpPr txBox="1"/>
          <p:nvPr/>
        </p:nvSpPr>
        <p:spPr>
          <a:xfrm>
            <a:off x="733749" y="2943182"/>
            <a:ext cx="532016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HG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2D99DEA9-06F5-AD2A-FDD8-D80B662154C1}"/>
              </a:ext>
            </a:extLst>
          </p:cNvPr>
          <p:cNvSpPr/>
          <p:nvPr/>
        </p:nvSpPr>
        <p:spPr>
          <a:xfrm>
            <a:off x="1260643" y="23020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E706777-EEC6-ACAC-9FCF-D830122BB223}"/>
              </a:ext>
            </a:extLst>
          </p:cNvPr>
          <p:cNvSpPr txBox="1"/>
          <p:nvPr/>
        </p:nvSpPr>
        <p:spPr>
          <a:xfrm>
            <a:off x="1207413" y="2406772"/>
            <a:ext cx="865267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코드표준화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검증 및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完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511937C1-AAD6-6983-874C-5C1B900E939F}"/>
              </a:ext>
            </a:extLst>
          </p:cNvPr>
          <p:cNvSpPr/>
          <p:nvPr/>
        </p:nvSpPr>
        <p:spPr>
          <a:xfrm>
            <a:off x="2464000" y="264639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16D55E3-56F6-382F-03B8-5C036E2D3834}"/>
              </a:ext>
            </a:extLst>
          </p:cNvPr>
          <p:cNvSpPr txBox="1"/>
          <p:nvPr/>
        </p:nvSpPr>
        <p:spPr>
          <a:xfrm>
            <a:off x="2163738" y="2751077"/>
            <a:ext cx="775559" cy="395869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코드 표준화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完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994AE2B2-2697-532B-6392-BD8E8E8E3199}"/>
              </a:ext>
            </a:extLst>
          </p:cNvPr>
          <p:cNvSpPr/>
          <p:nvPr/>
        </p:nvSpPr>
        <p:spPr>
          <a:xfrm>
            <a:off x="2464000" y="30276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0908EF8-FE6F-65EB-11A6-64D35132326A}"/>
              </a:ext>
            </a:extLst>
          </p:cNvPr>
          <p:cNvSpPr txBox="1"/>
          <p:nvPr/>
        </p:nvSpPr>
        <p:spPr>
          <a:xfrm>
            <a:off x="2021174" y="3145539"/>
            <a:ext cx="994604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]PKG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코드 표준화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D3AA4BE8-076E-5131-49DD-13DE1682B5DA}"/>
              </a:ext>
            </a:extLst>
          </p:cNvPr>
          <p:cNvSpPr/>
          <p:nvPr/>
        </p:nvSpPr>
        <p:spPr>
          <a:xfrm>
            <a:off x="6522318" y="229156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A0AC906B-816F-D1F4-A84F-E7C7B534B74F}"/>
              </a:ext>
            </a:extLst>
          </p:cNvPr>
          <p:cNvSpPr/>
          <p:nvPr/>
        </p:nvSpPr>
        <p:spPr>
          <a:xfrm>
            <a:off x="7221316" y="266483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1C925E5-4143-3079-1F95-D72A92DCB434}"/>
              </a:ext>
            </a:extLst>
          </p:cNvPr>
          <p:cNvSpPr txBox="1"/>
          <p:nvPr/>
        </p:nvSpPr>
        <p:spPr>
          <a:xfrm>
            <a:off x="6820888" y="2751077"/>
            <a:ext cx="915883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스택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신규과제 대표호기 적용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0F46AD58-84FC-A619-9B1A-F4034C02C20D}"/>
              </a:ext>
            </a:extLst>
          </p:cNvPr>
          <p:cNvSpPr/>
          <p:nvPr/>
        </p:nvSpPr>
        <p:spPr>
          <a:xfrm>
            <a:off x="3903600" y="229287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13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2EEC6DD9-2DB6-A11C-6218-3DD89D4CD6C7}"/>
              </a:ext>
            </a:extLst>
          </p:cNvPr>
          <p:cNvSpPr/>
          <p:nvPr/>
        </p:nvSpPr>
        <p:spPr>
          <a:xfrm>
            <a:off x="5140449" y="30354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3B7B5F7-C43C-575C-34AE-16EEFBB6D5A2}"/>
              </a:ext>
            </a:extLst>
          </p:cNvPr>
          <p:cNvSpPr txBox="1"/>
          <p:nvPr/>
        </p:nvSpPr>
        <p:spPr>
          <a:xfrm>
            <a:off x="4868416" y="3145539"/>
            <a:ext cx="744561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AZS 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고도화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7C70CFD-58A4-AB9B-E7FE-DA087797EE8D}"/>
              </a:ext>
            </a:extLst>
          </p:cNvPr>
          <p:cNvSpPr txBox="1"/>
          <p:nvPr/>
        </p:nvSpPr>
        <p:spPr>
          <a:xfrm>
            <a:off x="1015732" y="2206134"/>
            <a:ext cx="258811" cy="290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조립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FAE774D-0172-4BEA-F51A-6118B06F0F18}"/>
              </a:ext>
            </a:extLst>
          </p:cNvPr>
          <p:cNvSpPr txBox="1"/>
          <p:nvPr/>
        </p:nvSpPr>
        <p:spPr>
          <a:xfrm>
            <a:off x="3515780" y="2406772"/>
            <a:ext cx="865267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장변실링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가감속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기술적용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3CF3D719-5E18-4C4C-236B-C30A6060E6DE}"/>
              </a:ext>
            </a:extLst>
          </p:cNvPr>
          <p:cNvSpPr/>
          <p:nvPr/>
        </p:nvSpPr>
        <p:spPr>
          <a:xfrm>
            <a:off x="5717452" y="229287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A03FA06-3B47-526E-7263-3201BEC08838}"/>
              </a:ext>
            </a:extLst>
          </p:cNvPr>
          <p:cNvSpPr txBox="1"/>
          <p:nvPr/>
        </p:nvSpPr>
        <p:spPr>
          <a:xfrm>
            <a:off x="5579866" y="2406772"/>
            <a:ext cx="865267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스택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IP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</a:t>
            </a:r>
            <a:r>
              <a:rPr kumimoji="0" lang="en-US" altLang="ko-KR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BeltPitch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기술적용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C82855AC-926C-0035-7FCE-7075864AD976}"/>
              </a:ext>
            </a:extLst>
          </p:cNvPr>
          <p:cNvSpPr/>
          <p:nvPr/>
        </p:nvSpPr>
        <p:spPr>
          <a:xfrm>
            <a:off x="5470272" y="229287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6B6583E-BAD6-C734-C7D8-2A28A5AD7898}"/>
              </a:ext>
            </a:extLst>
          </p:cNvPr>
          <p:cNvSpPr txBox="1"/>
          <p:nvPr/>
        </p:nvSpPr>
        <p:spPr>
          <a:xfrm>
            <a:off x="4821560" y="2406772"/>
            <a:ext cx="865267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과검이상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감지 기술적용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0519C61-6613-AAB4-2336-DF2B3777C454}"/>
              </a:ext>
            </a:extLst>
          </p:cNvPr>
          <p:cNvSpPr txBox="1"/>
          <p:nvPr/>
        </p:nvSpPr>
        <p:spPr>
          <a:xfrm>
            <a:off x="6320603" y="2406772"/>
            <a:ext cx="865267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재료교체</a:t>
            </a:r>
            <a:b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직후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응답성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개선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DBB4A41-0ED0-8494-33D7-8074F0AA9673}"/>
              </a:ext>
            </a:extLst>
          </p:cNvPr>
          <p:cNvCxnSpPr>
            <a:cxnSpLocks/>
          </p:cNvCxnSpPr>
          <p:nvPr/>
        </p:nvCxnSpPr>
        <p:spPr>
          <a:xfrm>
            <a:off x="733749" y="1893655"/>
            <a:ext cx="7366197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8AF5417-10B5-572B-4FF4-EE88EA335811}"/>
              </a:ext>
            </a:extLst>
          </p:cNvPr>
          <p:cNvSpPr txBox="1"/>
          <p:nvPr/>
        </p:nvSpPr>
        <p:spPr>
          <a:xfrm>
            <a:off x="1015732" y="1804956"/>
            <a:ext cx="258811" cy="327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전극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F7118B0-B70F-C16F-FF51-290EE83FC069}"/>
              </a:ext>
            </a:extLst>
          </p:cNvPr>
          <p:cNvSpPr txBox="1"/>
          <p:nvPr/>
        </p:nvSpPr>
        <p:spPr>
          <a:xfrm>
            <a:off x="733749" y="1804956"/>
            <a:ext cx="258811" cy="691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33AECA48-36B0-D6EA-81C0-E610B49B98CA}"/>
              </a:ext>
            </a:extLst>
          </p:cNvPr>
          <p:cNvSpPr/>
          <p:nvPr/>
        </p:nvSpPr>
        <p:spPr>
          <a:xfrm>
            <a:off x="3352041" y="18244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22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AEDC5C7-1A1D-DF19-4F44-5F5F6F68235B}"/>
              </a:ext>
            </a:extLst>
          </p:cNvPr>
          <p:cNvSpPr txBox="1"/>
          <p:nvPr/>
        </p:nvSpPr>
        <p:spPr>
          <a:xfrm>
            <a:off x="3046263" y="1958865"/>
            <a:ext cx="74456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RP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Tension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편차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자동보정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F2C3E583-5871-FB28-35E3-DA297BBD583B}"/>
              </a:ext>
            </a:extLst>
          </p:cNvPr>
          <p:cNvSpPr/>
          <p:nvPr/>
        </p:nvSpPr>
        <p:spPr>
          <a:xfrm>
            <a:off x="3441427" y="30354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A193C24-B1DA-6B5C-73A7-234EBA202254}"/>
              </a:ext>
            </a:extLst>
          </p:cNvPr>
          <p:cNvSpPr txBox="1"/>
          <p:nvPr/>
        </p:nvSpPr>
        <p:spPr>
          <a:xfrm>
            <a:off x="3149298" y="3145539"/>
            <a:ext cx="744561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조립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</a:t>
            </a: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DNC 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고도화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286D085-FB1D-2021-9DA3-BCD2303BF16B}"/>
              </a:ext>
            </a:extLst>
          </p:cNvPr>
          <p:cNvSpPr txBox="1"/>
          <p:nvPr/>
        </p:nvSpPr>
        <p:spPr>
          <a:xfrm>
            <a:off x="6226276" y="1976179"/>
            <a:ext cx="537595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[COT] 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동시절연 적용</a:t>
            </a:r>
            <a:endParaRPr lang="en-US" altLang="ko-KR" sz="7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EC98E660-A28C-DAD4-B653-660F8AE2FC35}"/>
              </a:ext>
            </a:extLst>
          </p:cNvPr>
          <p:cNvSpPr/>
          <p:nvPr/>
        </p:nvSpPr>
        <p:spPr>
          <a:xfrm>
            <a:off x="6255218" y="183043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7CA7DFF-1B91-F045-8A9A-03D0EAFF875E}"/>
              </a:ext>
            </a:extLst>
          </p:cNvPr>
          <p:cNvSpPr txBox="1"/>
          <p:nvPr/>
        </p:nvSpPr>
        <p:spPr>
          <a:xfrm>
            <a:off x="7726979" y="1976179"/>
            <a:ext cx="865267" cy="215444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[COT] 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미스매치 고도화 적용</a:t>
            </a:r>
            <a:endParaRPr lang="en-US" altLang="ko-KR" sz="7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A4B64C7F-0A90-FFE6-86C4-9C5B908E2E33}"/>
              </a:ext>
            </a:extLst>
          </p:cNvPr>
          <p:cNvSpPr/>
          <p:nvPr/>
        </p:nvSpPr>
        <p:spPr>
          <a:xfrm>
            <a:off x="7955946" y="182926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CDDEA5EC-2AE8-7368-0457-3A365423A8FB}"/>
              </a:ext>
            </a:extLst>
          </p:cNvPr>
          <p:cNvSpPr/>
          <p:nvPr/>
        </p:nvSpPr>
        <p:spPr>
          <a:xfrm>
            <a:off x="4738852" y="18244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16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621E267-9F52-D14F-BB7A-7B7B035361BC}"/>
              </a:ext>
            </a:extLst>
          </p:cNvPr>
          <p:cNvSpPr txBox="1"/>
          <p:nvPr/>
        </p:nvSpPr>
        <p:spPr>
          <a:xfrm>
            <a:off x="4433074" y="1958865"/>
            <a:ext cx="74456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[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] RP</a:t>
            </a:r>
            <a:r>
              <a:rPr lang="ko-KR" altLang="en-US" sz="7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단선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자동조치 모드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8EC44-57F2-97C1-0B3F-E30A5ADB98A1}"/>
              </a:ext>
            </a:extLst>
          </p:cNvPr>
          <p:cNvSpPr txBox="1"/>
          <p:nvPr/>
        </p:nvSpPr>
        <p:spPr>
          <a:xfrm>
            <a:off x="2535208" y="44624"/>
            <a:ext cx="1949688" cy="688256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연간 목표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실적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(~’26.08)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종합 수율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94.5% / 92.5%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△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2.0%) </a:t>
            </a:r>
            <a:b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WA ESS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전극수율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98.3% / 98.4%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0.1%)</a:t>
            </a:r>
          </a:p>
          <a:p>
            <a:pPr latinLnBrk="0"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WA ESS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조립수율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97.4% / 96.5%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△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0.9%)</a:t>
            </a:r>
          </a:p>
          <a:p>
            <a:pPr latinLnBrk="0"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-. WA ESS </a:t>
            </a:r>
            <a:r>
              <a:rPr kumimoji="1"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활성화수율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98.7% / 97.5% (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△</a:t>
            </a: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1.2%)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2E792-D9A1-7F16-7120-9698170C2C44}"/>
              </a:ext>
            </a:extLst>
          </p:cNvPr>
          <p:cNvSpPr txBox="1"/>
          <p:nvPr/>
        </p:nvSpPr>
        <p:spPr>
          <a:xfrm>
            <a:off x="816727" y="3668931"/>
            <a:ext cx="4135678" cy="665695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lvl="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/>
                <a:ea typeface="LG스마트체 Regular"/>
              </a:rPr>
              <a:t>[ESS WA RP] LOADCELL 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비율제어 자동보정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-. 2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차 기준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1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차 압연 비율 유지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대표호기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(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음극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1-1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호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 적용 및 성능 검증 완료</a:t>
            </a:r>
            <a:b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   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주름 발생률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0.3%p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 개선 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(0.4% →0.1%)</a:t>
            </a:r>
            <a:endParaRPr lang="en-US" altLang="ko-KR" sz="1000" b="0" i="0" u="none" strike="noStrike" dirty="0">
              <a:effectLst/>
              <a:latin typeface="Arial Narrow"/>
              <a:ea typeface="LG스마트체 Regula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6D6FA5-5807-125C-CA83-BF35AFCD7869}"/>
              </a:ext>
            </a:extLst>
          </p:cNvPr>
          <p:cNvSpPr txBox="1"/>
          <p:nvPr/>
        </p:nvSpPr>
        <p:spPr>
          <a:xfrm>
            <a:off x="2974876" y="4121401"/>
            <a:ext cx="2300047" cy="195814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>
            <a:defPPr>
              <a:defRPr lang="ko-KR"/>
            </a:defPPr>
            <a:lvl1pPr marL="92075" marR="0" lvl="0" indent="-92075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indent="0">
              <a:buNone/>
            </a:pPr>
            <a:r>
              <a:rPr lang="ko-KR" altLang="en-US" dirty="0"/>
              <a:t>적용 전</a:t>
            </a:r>
            <a:r>
              <a:rPr lang="en-US" altLang="ko-KR" dirty="0"/>
              <a:t>/</a:t>
            </a:r>
            <a:r>
              <a:rPr lang="ko-KR" altLang="en-US" dirty="0"/>
              <a:t>후 </a:t>
            </a:r>
            <a:r>
              <a:rPr lang="en-US" altLang="ko-KR" dirty="0"/>
              <a:t>3</a:t>
            </a:r>
            <a:r>
              <a:rPr lang="ko-KR" altLang="en-US" dirty="0"/>
              <a:t>일 기준 </a:t>
            </a:r>
            <a:r>
              <a:rPr lang="en-US" altLang="ko-KR" dirty="0"/>
              <a:t>(</a:t>
            </a:r>
            <a:r>
              <a:rPr lang="ko-KR" altLang="en-US" dirty="0"/>
              <a:t>법인 제공</a:t>
            </a:r>
            <a:r>
              <a:rPr lang="en-US" altLang="ko-KR" dirty="0"/>
              <a:t>), </a:t>
            </a:r>
            <a:r>
              <a:rPr lang="ko-KR" altLang="en-US" dirty="0"/>
              <a:t>장기 모니터링 중</a:t>
            </a:r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D6CD3E-AEEC-DFAE-3DC0-D66B46B0502E}"/>
              </a:ext>
            </a:extLst>
          </p:cNvPr>
          <p:cNvSpPr txBox="1"/>
          <p:nvPr/>
        </p:nvSpPr>
        <p:spPr>
          <a:xfrm>
            <a:off x="5147630" y="3669355"/>
            <a:ext cx="4135678" cy="484235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lvl="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>
                <a:latin typeface="Arial Narrow"/>
                <a:ea typeface="LG스마트체 Regular"/>
              </a:rPr>
              <a:t>[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자동차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 WA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 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RP] LOADCELL 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비율제어 자동보정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-. </a:t>
            </a:r>
            <a:r>
              <a:rPr kumimoji="1" lang="ko-KR" altLang="en-US" sz="1000" dirty="0">
                <a:latin typeface="Arial Narrow"/>
                <a:ea typeface="LG스마트체 Regular"/>
                <a:sym typeface="Wingdings" panose="05000000000000000000" pitchFamily="2" charset="2"/>
              </a:rPr>
              <a:t>자동차 라인 대상 수평 전개 예정</a:t>
            </a:r>
            <a:r>
              <a:rPr kumimoji="1"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(‘26.09)</a:t>
            </a:r>
            <a:endParaRPr lang="en-US" altLang="ko-KR" sz="1000" b="0" i="0" u="none" strike="noStrike" dirty="0">
              <a:effectLst/>
              <a:latin typeface="Arial Narrow"/>
              <a:ea typeface="LG스마트체 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2EF3E-786A-A429-B5CC-03C751EBA410}"/>
              </a:ext>
            </a:extLst>
          </p:cNvPr>
          <p:cNvSpPr txBox="1"/>
          <p:nvPr/>
        </p:nvSpPr>
        <p:spPr>
          <a:xfrm>
            <a:off x="816727" y="4290226"/>
            <a:ext cx="4135678" cy="668901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 kumimoji="1" sz="12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자동차</a:t>
            </a:r>
            <a:r>
              <a:rPr lang="en-US" altLang="ko-KR" dirty="0"/>
              <a:t> WA NND/LAMI] NND </a:t>
            </a:r>
            <a:r>
              <a:rPr lang="ko-KR" altLang="en-US" dirty="0"/>
              <a:t>재료교체 직전 구간 속도 개선</a:t>
            </a:r>
            <a:br>
              <a:rPr lang="en-US" altLang="ko-KR" dirty="0"/>
            </a:br>
            <a:r>
              <a:rPr lang="en-US" altLang="ko-KR" sz="1000" b="0" dirty="0">
                <a:sym typeface="Wingdings" panose="05000000000000000000" pitchFamily="2" charset="2"/>
              </a:rPr>
              <a:t>-. NND Cutting Height </a:t>
            </a:r>
            <a:r>
              <a:rPr lang="ko-KR" altLang="en-US" sz="1000" b="0" dirty="0">
                <a:sym typeface="Wingdings" panose="05000000000000000000" pitchFamily="2" charset="2"/>
              </a:rPr>
              <a:t>재료교체 직전 구간 </a:t>
            </a:r>
            <a:r>
              <a:rPr lang="en-US" altLang="ko-KR" sz="1000" b="0" dirty="0">
                <a:sym typeface="Wingdings" panose="05000000000000000000" pitchFamily="2" charset="2"/>
              </a:rPr>
              <a:t>0.02%p </a:t>
            </a:r>
            <a:r>
              <a:rPr lang="ko-KR" altLang="en-US" sz="1000" b="0" dirty="0">
                <a:sym typeface="Wingdings" panose="05000000000000000000" pitchFamily="2" charset="2"/>
              </a:rPr>
              <a:t>개선</a:t>
            </a:r>
            <a:r>
              <a:rPr lang="en-US" altLang="ko-KR" sz="1000" b="0" dirty="0">
                <a:sym typeface="Wingdings" panose="05000000000000000000" pitchFamily="2" charset="2"/>
              </a:rPr>
              <a:t>(0.03% </a:t>
            </a:r>
            <a:r>
              <a:rPr lang="ko-KR" altLang="en-US" sz="1000" b="0" dirty="0">
                <a:sym typeface="Wingdings" panose="05000000000000000000" pitchFamily="2" charset="2"/>
              </a:rPr>
              <a:t>→ </a:t>
            </a:r>
            <a:r>
              <a:rPr lang="en-US" altLang="ko-KR" sz="1000" b="0" dirty="0">
                <a:sym typeface="Wingdings" panose="05000000000000000000" pitchFamily="2" charset="2"/>
              </a:rPr>
              <a:t>0.01%)</a:t>
            </a:r>
            <a:br>
              <a:rPr lang="en-US" altLang="ko-KR" sz="1000" b="0" dirty="0">
                <a:sym typeface="Wingdings" panose="05000000000000000000" pitchFamily="2" charset="2"/>
              </a:rPr>
            </a:br>
            <a:r>
              <a:rPr lang="en-US" altLang="ko-KR" sz="1000" b="0" dirty="0">
                <a:sym typeface="Wingdings" panose="05000000000000000000" pitchFamily="2" charset="2"/>
              </a:rPr>
              <a:t>   </a:t>
            </a:r>
            <a:r>
              <a:rPr lang="ko-KR" altLang="en-US" sz="1000" b="0" dirty="0" err="1">
                <a:sym typeface="Wingdings" panose="05000000000000000000" pitchFamily="2" charset="2"/>
              </a:rPr>
              <a:t>전공정</a:t>
            </a:r>
            <a:r>
              <a:rPr lang="ko-KR" altLang="en-US" sz="1000" b="0" dirty="0">
                <a:sym typeface="Wingdings" panose="05000000000000000000" pitchFamily="2" charset="2"/>
              </a:rPr>
              <a:t> 연계 분석 시 </a:t>
            </a:r>
            <a:r>
              <a:rPr lang="en-US" altLang="ko-KR" sz="1000" b="0" dirty="0">
                <a:sym typeface="Wingdings" panose="05000000000000000000" pitchFamily="2" charset="2"/>
              </a:rPr>
              <a:t>LAMI </a:t>
            </a:r>
            <a:r>
              <a:rPr lang="ko-KR" altLang="en-US" sz="1000" b="0" dirty="0">
                <a:sym typeface="Wingdings" panose="05000000000000000000" pitchFamily="2" charset="2"/>
              </a:rPr>
              <a:t>재료교체 구간 불량 </a:t>
            </a:r>
            <a:r>
              <a:rPr lang="en-US" altLang="ko-KR" sz="1000" b="0" dirty="0">
                <a:sym typeface="Wingdings" panose="05000000000000000000" pitchFamily="2" charset="2"/>
              </a:rPr>
              <a:t>0.04%p </a:t>
            </a:r>
            <a:r>
              <a:rPr lang="ko-KR" altLang="en-US" sz="1000" b="0" dirty="0">
                <a:sym typeface="Wingdings" panose="05000000000000000000" pitchFamily="2" charset="2"/>
              </a:rPr>
              <a:t>개선</a:t>
            </a:r>
            <a:r>
              <a:rPr lang="en-US" altLang="ko-KR" sz="1000" b="0" dirty="0">
                <a:sym typeface="Wingdings" panose="05000000000000000000" pitchFamily="2" charset="2"/>
              </a:rPr>
              <a:t>(0.19% </a:t>
            </a:r>
            <a:r>
              <a:rPr lang="ko-KR" altLang="en-US" sz="1000" b="0" dirty="0">
                <a:sym typeface="Wingdings" panose="05000000000000000000" pitchFamily="2" charset="2"/>
              </a:rPr>
              <a:t>→ </a:t>
            </a:r>
            <a:r>
              <a:rPr lang="en-US" altLang="ko-KR" sz="1000" b="0" dirty="0">
                <a:sym typeface="Wingdings" panose="05000000000000000000" pitchFamily="2" charset="2"/>
              </a:rPr>
              <a:t>0.15%)</a:t>
            </a:r>
            <a:endParaRPr lang="en-US" altLang="ko-KR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1DD9B-0BE2-87DA-200F-B45D16DA93E6}"/>
              </a:ext>
            </a:extLst>
          </p:cNvPr>
          <p:cNvSpPr txBox="1"/>
          <p:nvPr/>
        </p:nvSpPr>
        <p:spPr>
          <a:xfrm>
            <a:off x="816727" y="4985771"/>
            <a:ext cx="4135678" cy="665695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 kumimoji="1" sz="12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자동차</a:t>
            </a:r>
            <a:r>
              <a:rPr lang="en-US" altLang="ko-KR" dirty="0"/>
              <a:t> WA LAMI] </a:t>
            </a:r>
            <a:r>
              <a:rPr lang="ko-KR" altLang="en-US" dirty="0"/>
              <a:t>자동보정 이상감지 적용</a:t>
            </a:r>
            <a:br>
              <a:rPr lang="en-US" altLang="ko-KR" dirty="0"/>
            </a:br>
            <a:r>
              <a:rPr lang="en-US" altLang="ko-KR" sz="1000" b="0" dirty="0">
                <a:sym typeface="Wingdings" panose="05000000000000000000" pitchFamily="2" charset="2"/>
              </a:rPr>
              <a:t>-. MEB </a:t>
            </a:r>
            <a:r>
              <a:rPr lang="ko-KR" altLang="en-US" sz="1000" b="0" dirty="0">
                <a:sym typeface="Wingdings" panose="05000000000000000000" pitchFamily="2" charset="2"/>
              </a:rPr>
              <a:t>라인 제어 및 데이터 이상감지 적용 완료 </a:t>
            </a:r>
            <a:r>
              <a:rPr lang="en-US" altLang="ko-KR" sz="1000" b="0" dirty="0">
                <a:sym typeface="Wingdings" panose="05000000000000000000" pitchFamily="2" charset="2"/>
              </a:rPr>
              <a:t>(E77,</a:t>
            </a:r>
            <a:r>
              <a:rPr lang="ko-KR" altLang="en-US" sz="1000" b="0" dirty="0">
                <a:sym typeface="Wingdings" panose="05000000000000000000" pitchFamily="2" charset="2"/>
              </a:rPr>
              <a:t> </a:t>
            </a:r>
            <a:r>
              <a:rPr lang="en-US" altLang="ko-KR" sz="1000" b="0" dirty="0">
                <a:sym typeface="Wingdings" panose="05000000000000000000" pitchFamily="2" charset="2"/>
              </a:rPr>
              <a:t>8/18)</a:t>
            </a:r>
            <a:br>
              <a:rPr lang="en-US" altLang="ko-KR" sz="1000" b="0" dirty="0">
                <a:sym typeface="Wingdings" panose="05000000000000000000" pitchFamily="2" charset="2"/>
              </a:rPr>
            </a:br>
            <a:r>
              <a:rPr lang="en-US" altLang="ko-KR" sz="1000" b="0" dirty="0">
                <a:sym typeface="Wingdings" panose="05000000000000000000" pitchFamily="2" charset="2"/>
              </a:rPr>
              <a:t>-. </a:t>
            </a:r>
            <a:r>
              <a:rPr lang="ko-KR" altLang="en-US" sz="1000" b="0" dirty="0">
                <a:sym typeface="Wingdings" panose="05000000000000000000" pitchFamily="2" charset="2"/>
              </a:rPr>
              <a:t>이상감지 알람 기반 설비 </a:t>
            </a:r>
            <a:r>
              <a:rPr lang="ko-KR" altLang="en-US" sz="1000" b="0" dirty="0" err="1">
                <a:sym typeface="Wingdings" panose="05000000000000000000" pitchFamily="2" charset="2"/>
              </a:rPr>
              <a:t>중알람</a:t>
            </a:r>
            <a:r>
              <a:rPr lang="ko-KR" altLang="en-US" sz="1000" b="0" dirty="0">
                <a:sym typeface="Wingdings" panose="05000000000000000000" pitchFamily="2" charset="2"/>
              </a:rPr>
              <a:t> 활용 위한 </a:t>
            </a:r>
            <a:r>
              <a:rPr lang="en-US" altLang="ko-KR" sz="1000" b="0" dirty="0">
                <a:sym typeface="Wingdings" panose="05000000000000000000" pitchFamily="2" charset="2"/>
              </a:rPr>
              <a:t>Infra </a:t>
            </a:r>
            <a:r>
              <a:rPr lang="ko-KR" altLang="en-US" sz="1000" b="0" dirty="0">
                <a:sym typeface="Wingdings" panose="05000000000000000000" pitchFamily="2" charset="2"/>
              </a:rPr>
              <a:t>구축 </a:t>
            </a:r>
            <a:r>
              <a:rPr lang="en-US" altLang="ko-KR" sz="1000" b="0" dirty="0">
                <a:sym typeface="Wingdings" panose="05000000000000000000" pitchFamily="2" charset="2"/>
              </a:rPr>
              <a:t>(</a:t>
            </a:r>
            <a:r>
              <a:rPr lang="ko-KR" altLang="en-US" sz="1000" b="0" dirty="0">
                <a:sym typeface="Wingdings" panose="05000000000000000000" pitchFamily="2" charset="2"/>
              </a:rPr>
              <a:t>대표호기 검증</a:t>
            </a:r>
            <a:r>
              <a:rPr lang="en-US" altLang="ko-KR" sz="1000" b="0" dirty="0">
                <a:sym typeface="Wingdings" panose="05000000000000000000" pitchFamily="2" charset="2"/>
              </a:rPr>
              <a:t>, 8/20)</a:t>
            </a:r>
            <a:r>
              <a:rPr lang="ko-KR" altLang="en-US" sz="1000" b="0" dirty="0">
                <a:sym typeface="Wingdings" panose="05000000000000000000" pitchFamily="2" charset="2"/>
              </a:rPr>
              <a:t> </a:t>
            </a:r>
            <a:endParaRPr lang="en-US" altLang="ko-KR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F39CA-17B2-E163-E0B6-30FC4F80FDF5}"/>
              </a:ext>
            </a:extLst>
          </p:cNvPr>
          <p:cNvSpPr txBox="1"/>
          <p:nvPr/>
        </p:nvSpPr>
        <p:spPr>
          <a:xfrm>
            <a:off x="5142918" y="4154076"/>
            <a:ext cx="4707203" cy="668901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 kumimoji="1" sz="12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자동차</a:t>
            </a:r>
            <a:r>
              <a:rPr lang="en-US" altLang="ko-KR" dirty="0"/>
              <a:t> WA LAMI] </a:t>
            </a:r>
            <a:r>
              <a:rPr lang="ko-KR" altLang="en-US" dirty="0"/>
              <a:t>자동보정 이상감지 </a:t>
            </a:r>
            <a:r>
              <a:rPr lang="en-US" altLang="ko-KR" dirty="0"/>
              <a:t>Coverage </a:t>
            </a:r>
            <a:r>
              <a:rPr lang="ko-KR" altLang="en-US" dirty="0"/>
              <a:t>확대</a:t>
            </a:r>
            <a:br>
              <a:rPr lang="en-US" altLang="ko-KR" dirty="0"/>
            </a:br>
            <a:r>
              <a:rPr lang="en-US" altLang="ko-KR" sz="1000" b="0" dirty="0">
                <a:sym typeface="Wingdings" panose="05000000000000000000" pitchFamily="2" charset="2"/>
              </a:rPr>
              <a:t>-. </a:t>
            </a:r>
            <a:r>
              <a:rPr lang="ko-KR" altLang="en-US" sz="1000" b="0" dirty="0">
                <a:sym typeface="Wingdings" panose="05000000000000000000" pitchFamily="2" charset="2"/>
              </a:rPr>
              <a:t>실시간 품질 이상감지 기술 개발 </a:t>
            </a:r>
            <a:r>
              <a:rPr lang="en-US" altLang="ko-KR" sz="1000" b="0" dirty="0">
                <a:sym typeface="Wingdings" panose="05000000000000000000" pitchFamily="2" charset="2"/>
              </a:rPr>
              <a:t>(’26.09)</a:t>
            </a:r>
            <a:br>
              <a:rPr lang="en-US" altLang="ko-KR" sz="1000" b="0" dirty="0">
                <a:sym typeface="Wingdings" panose="05000000000000000000" pitchFamily="2" charset="2"/>
              </a:rPr>
            </a:br>
            <a:r>
              <a:rPr lang="en-US" altLang="ko-KR" sz="1000" b="0" dirty="0">
                <a:sym typeface="Wingdings" panose="05000000000000000000" pitchFamily="2" charset="2"/>
              </a:rPr>
              <a:t>   .</a:t>
            </a:r>
            <a:r>
              <a:rPr lang="ko-KR" altLang="en-US" sz="1000" b="0" dirty="0">
                <a:sym typeface="Wingdings" panose="05000000000000000000" pitchFamily="2" charset="2"/>
              </a:rPr>
              <a:t>자동보정으로 해결 할 수 없는 품질 불량</a:t>
            </a:r>
            <a:r>
              <a:rPr lang="en-US" altLang="ko-KR" sz="1000" b="0" dirty="0">
                <a:sym typeface="Wingdings" panose="05000000000000000000" pitchFamily="2" charset="2"/>
              </a:rPr>
              <a:t>(</a:t>
            </a:r>
            <a:r>
              <a:rPr lang="ko-KR" altLang="en-US" sz="1000" b="0" dirty="0">
                <a:sym typeface="Wingdings" panose="05000000000000000000" pitchFamily="2" charset="2"/>
              </a:rPr>
              <a:t>사선 </a:t>
            </a:r>
            <a:r>
              <a:rPr lang="ko-KR" altLang="en-US" sz="1000" b="0" dirty="0" err="1">
                <a:sym typeface="Wingdings" panose="05000000000000000000" pitchFamily="2" charset="2"/>
              </a:rPr>
              <a:t>컷팅</a:t>
            </a:r>
            <a:r>
              <a:rPr lang="en-US" altLang="ko-KR" sz="1000" b="0" dirty="0">
                <a:sym typeface="Wingdings" panose="05000000000000000000" pitchFamily="2" charset="2"/>
              </a:rPr>
              <a:t>,</a:t>
            </a:r>
            <a:r>
              <a:rPr lang="ko-KR" altLang="en-US" sz="1000" b="0" dirty="0">
                <a:sym typeface="Wingdings" panose="05000000000000000000" pitchFamily="2" charset="2"/>
              </a:rPr>
              <a:t> </a:t>
            </a:r>
            <a:r>
              <a:rPr lang="en-US" altLang="ko-KR" sz="1000" b="0" dirty="0">
                <a:sym typeface="Wingdings" panose="05000000000000000000" pitchFamily="2" charset="2"/>
              </a:rPr>
              <a:t>AA</a:t>
            </a:r>
            <a:r>
              <a:rPr lang="ko-KR" altLang="en-US" sz="1000" b="0" dirty="0">
                <a:sym typeface="Wingdings" panose="05000000000000000000" pitchFamily="2" charset="2"/>
              </a:rPr>
              <a:t> 산포</a:t>
            </a:r>
            <a:r>
              <a:rPr lang="en-US" altLang="ko-KR" sz="1000" b="0" dirty="0">
                <a:sym typeface="Wingdings" panose="05000000000000000000" pitchFamily="2" charset="2"/>
              </a:rPr>
              <a:t>) </a:t>
            </a:r>
            <a:r>
              <a:rPr lang="ko-KR" altLang="en-US" sz="1000" b="0" dirty="0">
                <a:sym typeface="Wingdings" panose="05000000000000000000" pitchFamily="2" charset="2"/>
              </a:rPr>
              <a:t>인지 후 빠른 조치 요청</a:t>
            </a:r>
            <a:endParaRPr lang="en-US" altLang="ko-KR" sz="1000" b="0" dirty="0">
              <a:sym typeface="Wingdings" panose="05000000000000000000" pitchFamily="2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21A66-C3BA-EFE9-CC50-D7F7B902C549}"/>
              </a:ext>
            </a:extLst>
          </p:cNvPr>
          <p:cNvSpPr txBox="1"/>
          <p:nvPr/>
        </p:nvSpPr>
        <p:spPr>
          <a:xfrm>
            <a:off x="5142919" y="4827448"/>
            <a:ext cx="4562610" cy="665695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 kumimoji="1" sz="12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자동차</a:t>
            </a:r>
            <a:r>
              <a:rPr lang="en-US" altLang="ko-KR" dirty="0"/>
              <a:t> WA LAMI] </a:t>
            </a:r>
            <a:r>
              <a:rPr lang="ko-KR" altLang="en-US" dirty="0"/>
              <a:t>재료교체 구간 자동보정 고도화</a:t>
            </a:r>
            <a:br>
              <a:rPr lang="en-US" altLang="ko-KR" dirty="0"/>
            </a:br>
            <a:r>
              <a:rPr lang="en-US" altLang="ko-KR" sz="1000" b="0" dirty="0">
                <a:sym typeface="Wingdings" panose="05000000000000000000" pitchFamily="2" charset="2"/>
              </a:rPr>
              <a:t>-. EPC</a:t>
            </a:r>
            <a:r>
              <a:rPr lang="ko-KR" altLang="en-US" sz="1000" b="0" dirty="0">
                <a:sym typeface="Wingdings" panose="05000000000000000000" pitchFamily="2" charset="2"/>
              </a:rPr>
              <a:t> 자동보정 로직 고도화를 통해</a:t>
            </a:r>
            <a:r>
              <a:rPr lang="en-US" altLang="ko-KR" sz="1000" b="0" dirty="0">
                <a:sym typeface="Wingdings" panose="05000000000000000000" pitchFamily="2" charset="2"/>
              </a:rPr>
              <a:t>,</a:t>
            </a:r>
            <a:r>
              <a:rPr lang="ko-KR" altLang="en-US" sz="1000" b="0" dirty="0">
                <a:sym typeface="Wingdings" panose="05000000000000000000" pitchFamily="2" charset="2"/>
              </a:rPr>
              <a:t> 전극 품질 급변에 의한 불량 최소화 추진 </a:t>
            </a:r>
            <a:r>
              <a:rPr lang="en-US" altLang="ko-KR" sz="1000" b="0" dirty="0">
                <a:sym typeface="Wingdings" panose="05000000000000000000" pitchFamily="2" charset="2"/>
              </a:rPr>
              <a:t>(‘26.09)</a:t>
            </a:r>
            <a:br>
              <a:rPr lang="en-US" altLang="ko-KR" sz="1000" b="0" dirty="0">
                <a:sym typeface="Wingdings" panose="05000000000000000000" pitchFamily="2" charset="2"/>
              </a:rPr>
            </a:br>
            <a:r>
              <a:rPr lang="en-US" altLang="ko-KR" sz="1000" b="0" dirty="0">
                <a:sym typeface="Wingdings" panose="05000000000000000000" pitchFamily="2" charset="2"/>
              </a:rPr>
              <a:t>-. </a:t>
            </a:r>
            <a:r>
              <a:rPr kumimoji="1"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재료교체 이음매 구간 예측보정 로직 고도화 </a:t>
            </a:r>
            <a:r>
              <a:rPr kumimoji="1"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</a:t>
            </a:r>
            <a:r>
              <a:rPr kumimoji="1"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차 적용 후 추가 보완 예정</a:t>
            </a:r>
            <a:r>
              <a:rPr kumimoji="1"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’26.09)</a:t>
            </a:r>
            <a:r>
              <a:rPr lang="ko-KR" altLang="en-US" sz="1000" b="0" dirty="0">
                <a:sym typeface="Wingdings" panose="05000000000000000000" pitchFamily="2" charset="2"/>
              </a:rPr>
              <a:t> </a:t>
            </a:r>
            <a:r>
              <a:rPr lang="en-US" altLang="ko-KR" sz="1000" b="0" dirty="0">
                <a:sym typeface="Wingdings" panose="05000000000000000000" pitchFamily="2" charset="2"/>
              </a:rPr>
              <a:t> </a:t>
            </a:r>
            <a:r>
              <a:rPr lang="ko-KR" altLang="en-US" sz="1000" b="0" dirty="0">
                <a:sym typeface="Wingdings" panose="05000000000000000000" pitchFamily="2" charset="2"/>
              </a:rPr>
              <a:t>   </a:t>
            </a:r>
            <a:endParaRPr lang="en-US" altLang="ko-KR" b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C6717A-D9D8-19C2-9870-B7B12882DD43}"/>
              </a:ext>
            </a:extLst>
          </p:cNvPr>
          <p:cNvSpPr txBox="1"/>
          <p:nvPr/>
        </p:nvSpPr>
        <p:spPr>
          <a:xfrm>
            <a:off x="816727" y="5651466"/>
            <a:ext cx="4135678" cy="484235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 kumimoji="1" sz="12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dirty="0"/>
              <a:t>자동차</a:t>
            </a:r>
            <a:r>
              <a:rPr lang="en-US" altLang="ko-KR" dirty="0"/>
              <a:t> 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WA LAMI] MEB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재료교체 구간 로직 </a:t>
            </a:r>
            <a:r>
              <a:rPr lang="ko-KR" altLang="en-US" dirty="0"/>
              <a:t>개선</a:t>
            </a:r>
            <a:b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b="0" dirty="0">
                <a:sym typeface="Wingdings" panose="05000000000000000000" pitchFamily="2" charset="2"/>
              </a:rPr>
              <a:t>-. </a:t>
            </a:r>
            <a:r>
              <a:rPr kumimoji="1"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재료교체 구간 </a:t>
            </a:r>
            <a:r>
              <a:rPr kumimoji="1"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EPC </a:t>
            </a:r>
            <a:r>
              <a:rPr kumimoji="1"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 </a:t>
            </a:r>
            <a:r>
              <a:rPr kumimoji="1" lang="ko-KR" altLang="en-US" sz="1000" b="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응답성</a:t>
            </a:r>
            <a:r>
              <a:rPr kumimoji="1"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</a:t>
            </a:r>
            <a:r>
              <a:rPr kumimoji="1"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(E77 </a:t>
            </a:r>
            <a:r>
              <a:rPr kumimoji="1"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위치불량 </a:t>
            </a:r>
            <a:r>
              <a:rPr kumimoji="1"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0.03%</a:t>
            </a:r>
            <a:r>
              <a:rPr kumimoji="1"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r>
              <a:rPr kumimoji="1"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en-US" altLang="ko-KR" b="0" dirty="0"/>
          </a:p>
        </p:txBody>
      </p:sp>
      <p:sp>
        <p:nvSpPr>
          <p:cNvPr id="14" name="실행 단추: 앞으로 또는 다음으로 이동 1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6D61D7A-DF4C-23AD-F4D7-D36A921E4B06}"/>
              </a:ext>
            </a:extLst>
          </p:cNvPr>
          <p:cNvSpPr/>
          <p:nvPr/>
        </p:nvSpPr>
        <p:spPr>
          <a:xfrm>
            <a:off x="4796958" y="4373784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F852459-2C3F-AA62-D3F4-056075908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862" y="1112673"/>
            <a:ext cx="9906000" cy="48537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D1504863-5DB3-8729-DB52-5378F310B550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C48140B-1264-DEE6-9992-CA643F0BD3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C476910-C0FB-D7A9-E58A-767DB60EC580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E2B25D9-3615-C186-3D23-009C8C1DF6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C05B1B-6B99-1050-A55F-B22DA5213990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E4CFFB7-FDBE-BFC9-2984-7C953039FD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35C1F5A-D0A6-88BA-4127-F93AE65C5133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590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A34086C-7D32-4C1B-D7E4-2AC1ED27015D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2918A22D-E07A-8895-BD14-5BE3DCEC8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832677"/>
              </p:ext>
            </p:extLst>
          </p:nvPr>
        </p:nvGraphicFramePr>
        <p:xfrm>
          <a:off x="735049" y="770224"/>
          <a:ext cx="8862107" cy="697007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838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62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수율 개선 및 수동 보정 최소화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NFF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Q: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98.8% ,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60%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b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※ 3Q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목표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셀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97.5%(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누적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(</a:t>
                      </a:r>
                      <a:r>
                        <a:rPr lang="ko-KR" altLang="en-US" sz="1000" b="1" i="0" u="none" strike="noStrike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en-US" sz="1000" b="1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(</a:t>
                      </a:r>
                      <a:r>
                        <a:rPr lang="ko-KR" alt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9" name="제목 3">
            <a:extLst>
              <a:ext uri="{FF2B5EF4-FFF2-40B4-BE49-F238E27FC236}">
                <a16:creationId xmlns:a16="http://schemas.microsoft.com/office/drawing/2014/main" id="{CAA7651B-8242-C6D6-03FA-97B15A7F1676}"/>
              </a:ext>
            </a:extLst>
          </p:cNvPr>
          <p:cNvSpPr txBox="1">
            <a:spLocks/>
          </p:cNvSpPr>
          <p:nvPr/>
        </p:nvSpPr>
        <p:spPr>
          <a:xfrm>
            <a:off x="134568" y="116449"/>
            <a:ext cx="2487667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algn="l"/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KPI 08</a:t>
            </a:r>
            <a:r>
              <a:rPr lang="ko-KR" altLang="en-US" dirty="0"/>
              <a:t>월 진척 사항</a:t>
            </a:r>
            <a:r>
              <a:rPr lang="en-US" altLang="ko-KR" dirty="0"/>
              <a:t>(4/9)</a:t>
            </a:r>
            <a:endParaRPr lang="ko-KR" altLang="en-US" dirty="0"/>
          </a:p>
        </p:txBody>
      </p:sp>
      <p:sp>
        <p:nvSpPr>
          <p:cNvPr id="137" name="제목 9">
            <a:extLst>
              <a:ext uri="{FF2B5EF4-FFF2-40B4-BE49-F238E27FC236}">
                <a16:creationId xmlns:a16="http://schemas.microsoft.com/office/drawing/2014/main" id="{7972DDEF-DE75-9679-DBA6-0BD6FB16E5C1}"/>
              </a:ext>
            </a:extLst>
          </p:cNvPr>
          <p:cNvSpPr txBox="1">
            <a:spLocks/>
          </p:cNvSpPr>
          <p:nvPr/>
        </p:nvSpPr>
        <p:spPr>
          <a:xfrm>
            <a:off x="7154803" y="3429000"/>
            <a:ext cx="525785" cy="1872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l" defTabSz="957263">
              <a:defRPr sz="2000">
                <a:solidFill>
                  <a:srgbClr val="000000"/>
                </a:solidFill>
                <a:latin typeface="LG스마트체 Bold" pitchFamily="50" charset="-127"/>
                <a:ea typeface="LG스마트체 Bold" pitchFamily="50" charset="-127"/>
                <a:cs typeface="Arial" charset="0"/>
              </a:defRPr>
            </a:lvl1pPr>
          </a:lstStyle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향후 계획</a:t>
            </a:r>
          </a:p>
        </p:txBody>
      </p:sp>
      <p:cxnSp>
        <p:nvCxnSpPr>
          <p:cNvPr id="142" name="직선 연결선 2">
            <a:extLst>
              <a:ext uri="{FF2B5EF4-FFF2-40B4-BE49-F238E27FC236}">
                <a16:creationId xmlns:a16="http://schemas.microsoft.com/office/drawing/2014/main" id="{8F682B66-8A53-91AA-CB8A-BCE8AD8C5A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41072" y="3626363"/>
            <a:ext cx="455324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" name="Rectangle 4">
            <a:extLst>
              <a:ext uri="{FF2B5EF4-FFF2-40B4-BE49-F238E27FC236}">
                <a16:creationId xmlns:a16="http://schemas.microsoft.com/office/drawing/2014/main" id="{09598B48-3CE7-CC63-078E-D81080B3C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482789"/>
            <a:ext cx="448035" cy="328810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CCCDE3DE-3D14-3FC9-117A-55C50F539EA1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4">
            <a:extLst>
              <a:ext uri="{FF2B5EF4-FFF2-40B4-BE49-F238E27FC236}">
                <a16:creationId xmlns:a16="http://schemas.microsoft.com/office/drawing/2014/main" id="{B72AB041-6EEC-3720-AFD6-4A99E550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8351"/>
            <a:ext cx="448035" cy="69700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BB50F471-98EB-62F5-6A15-61B8F02B1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354024"/>
              </p:ext>
            </p:extLst>
          </p:nvPr>
        </p:nvGraphicFramePr>
        <p:xfrm>
          <a:off x="735048" y="1521547"/>
          <a:ext cx="8862108" cy="18517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38663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38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400251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948078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824575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99404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768638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057248"/>
                  </a:ext>
                </a:extLst>
              </a:tr>
              <a:tr h="17493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1627"/>
                  </a:ext>
                </a:extLst>
              </a:tr>
            </a:tbl>
          </a:graphicData>
        </a:graphic>
      </p:graphicFrame>
      <p:sp>
        <p:nvSpPr>
          <p:cNvPr id="148" name="Rectangle 4">
            <a:extLst>
              <a:ext uri="{FF2B5EF4-FFF2-40B4-BE49-F238E27FC236}">
                <a16:creationId xmlns:a16="http://schemas.microsoft.com/office/drawing/2014/main" id="{AFCEF0A5-EBDE-E38C-3A36-7213EB3B3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9147"/>
            <a:ext cx="448035" cy="190985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0D7C0247-9A98-887F-78F5-85CAF74988DC}"/>
              </a:ext>
            </a:extLst>
          </p:cNvPr>
          <p:cNvCxnSpPr>
            <a:cxnSpLocks/>
          </p:cNvCxnSpPr>
          <p:nvPr/>
        </p:nvCxnSpPr>
        <p:spPr>
          <a:xfrm>
            <a:off x="1584115" y="1882827"/>
            <a:ext cx="122934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타원 150">
            <a:extLst>
              <a:ext uri="{FF2B5EF4-FFF2-40B4-BE49-F238E27FC236}">
                <a16:creationId xmlns:a16="http://schemas.microsoft.com/office/drawing/2014/main" id="{850EBDD0-8391-249E-7E25-3279070AB135}"/>
              </a:ext>
            </a:extLst>
          </p:cNvPr>
          <p:cNvSpPr/>
          <p:nvPr/>
        </p:nvSpPr>
        <p:spPr>
          <a:xfrm>
            <a:off x="5747023" y="249409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F250900-9D6C-93D9-AB4A-E4B0E44BC0A7}"/>
              </a:ext>
            </a:extLst>
          </p:cNvPr>
          <p:cNvSpPr txBox="1"/>
          <p:nvPr/>
        </p:nvSpPr>
        <p:spPr>
          <a:xfrm>
            <a:off x="2821993" y="2165073"/>
            <a:ext cx="369259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양산 구간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8FCCE191-4BE2-DE6C-7576-B9C299180A0E}"/>
              </a:ext>
            </a:extLst>
          </p:cNvPr>
          <p:cNvSpPr/>
          <p:nvPr/>
        </p:nvSpPr>
        <p:spPr>
          <a:xfrm>
            <a:off x="2798869" y="181082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D9E7ACAB-154D-B0DC-C984-9D7A39A9B256}"/>
              </a:ext>
            </a:extLst>
          </p:cNvPr>
          <p:cNvSpPr/>
          <p:nvPr/>
        </p:nvSpPr>
        <p:spPr>
          <a:xfrm>
            <a:off x="5750758" y="213051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47B2EEA2-3926-9595-E8AE-C5728E12E269}"/>
              </a:ext>
            </a:extLst>
          </p:cNvPr>
          <p:cNvSpPr/>
          <p:nvPr/>
        </p:nvSpPr>
        <p:spPr>
          <a:xfrm>
            <a:off x="2793548" y="197150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90E013B-B588-D1C9-6407-3534B1B8B773}"/>
              </a:ext>
            </a:extLst>
          </p:cNvPr>
          <p:cNvSpPr txBox="1"/>
          <p:nvPr/>
        </p:nvSpPr>
        <p:spPr>
          <a:xfrm>
            <a:off x="731688" y="1815683"/>
            <a:ext cx="828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분할 </a:t>
            </a: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매니폴드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BA10938-6863-020E-956E-041BCBC7946E}"/>
              </a:ext>
            </a:extLst>
          </p:cNvPr>
          <p:cNvSpPr txBox="1"/>
          <p:nvPr/>
        </p:nvSpPr>
        <p:spPr>
          <a:xfrm>
            <a:off x="731687" y="1989848"/>
            <a:ext cx="828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Dry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절연폭 예측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양극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889BCDD-8299-C758-D438-34B5766162E0}"/>
              </a:ext>
            </a:extLst>
          </p:cNvPr>
          <p:cNvSpPr txBox="1"/>
          <p:nvPr/>
        </p:nvSpPr>
        <p:spPr>
          <a:xfrm>
            <a:off x="731688" y="2164013"/>
            <a:ext cx="828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온도 제어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보정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0F69606-D9A2-F3C9-EE3B-84A3008E3BAF}"/>
              </a:ext>
            </a:extLst>
          </p:cNvPr>
          <p:cNvSpPr txBox="1"/>
          <p:nvPr/>
        </p:nvSpPr>
        <p:spPr>
          <a:xfrm>
            <a:off x="731687" y="2860673"/>
            <a:ext cx="828000" cy="14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유량 기반 상하층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RPM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065F060-CDF8-877F-6A0D-D887C50C30E4}"/>
              </a:ext>
            </a:extLst>
          </p:cNvPr>
          <p:cNvSpPr txBox="1"/>
          <p:nvPr/>
        </p:nvSpPr>
        <p:spPr>
          <a:xfrm>
            <a:off x="731688" y="2512343"/>
            <a:ext cx="828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재조건조정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0E4DA4B-2443-0A6D-16B2-76DBC3FF6819}"/>
              </a:ext>
            </a:extLst>
          </p:cNvPr>
          <p:cNvSpPr txBox="1"/>
          <p:nvPr/>
        </p:nvSpPr>
        <p:spPr>
          <a:xfrm>
            <a:off x="731688" y="2686508"/>
            <a:ext cx="828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초기조건조정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5B546426-46B0-E029-CBC0-F56A485B622F}"/>
              </a:ext>
            </a:extLst>
          </p:cNvPr>
          <p:cNvCxnSpPr>
            <a:cxnSpLocks/>
          </p:cNvCxnSpPr>
          <p:nvPr/>
        </p:nvCxnSpPr>
        <p:spPr>
          <a:xfrm>
            <a:off x="1562735" y="2043506"/>
            <a:ext cx="122934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타원 162">
            <a:extLst>
              <a:ext uri="{FF2B5EF4-FFF2-40B4-BE49-F238E27FC236}">
                <a16:creationId xmlns:a16="http://schemas.microsoft.com/office/drawing/2014/main" id="{349726B3-37E0-438A-D911-DF80CAF478E0}"/>
              </a:ext>
            </a:extLst>
          </p:cNvPr>
          <p:cNvSpPr/>
          <p:nvPr/>
        </p:nvSpPr>
        <p:spPr>
          <a:xfrm>
            <a:off x="3248641" y="212567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203F8AC2-071A-DFB5-7F0C-94EE2CF8315C}"/>
              </a:ext>
            </a:extLst>
          </p:cNvPr>
          <p:cNvCxnSpPr>
            <a:cxnSpLocks/>
            <a:endCxn id="163" idx="2"/>
          </p:cNvCxnSpPr>
          <p:nvPr/>
        </p:nvCxnSpPr>
        <p:spPr>
          <a:xfrm>
            <a:off x="1564683" y="2197671"/>
            <a:ext cx="168395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7DBC56B9-0976-F1FE-EDF1-083F1AF97F47}"/>
              </a:ext>
            </a:extLst>
          </p:cNvPr>
          <p:cNvCxnSpPr>
            <a:cxnSpLocks/>
          </p:cNvCxnSpPr>
          <p:nvPr/>
        </p:nvCxnSpPr>
        <p:spPr>
          <a:xfrm>
            <a:off x="3392641" y="2197639"/>
            <a:ext cx="2358117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9B5D54D5-78E5-7DFF-FC2E-1E0E6E45019F}"/>
              </a:ext>
            </a:extLst>
          </p:cNvPr>
          <p:cNvSpPr txBox="1"/>
          <p:nvPr/>
        </p:nvSpPr>
        <p:spPr>
          <a:xfrm>
            <a:off x="4509273" y="2182254"/>
            <a:ext cx="125892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재조건조정구간</a:t>
            </a:r>
            <a:r>
              <a:rPr kumimoji="1" lang="en-US" altLang="ko-KR" sz="7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, </a:t>
            </a:r>
            <a:r>
              <a:rPr kumimoji="1" lang="ko-KR" altLang="en-US" sz="7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저장탱크 </a:t>
            </a:r>
            <a:r>
              <a:rPr kumimoji="1" lang="ko-KR" altLang="en-US" sz="700" b="0" i="0" u="none" strike="noStrike" kern="1200" cap="none" spc="-7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칠러</a:t>
            </a:r>
            <a:r>
              <a:rPr kumimoji="1" lang="ko-KR" altLang="en-US" sz="7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 냉각수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CFF1943-EA89-22B8-7825-06951C821D32}"/>
              </a:ext>
            </a:extLst>
          </p:cNvPr>
          <p:cNvSpPr txBox="1"/>
          <p:nvPr/>
        </p:nvSpPr>
        <p:spPr>
          <a:xfrm>
            <a:off x="2989345" y="1830082"/>
            <a:ext cx="1136980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>
                <a:sym typeface="Wingdings"/>
              </a:rPr>
              <a:t>대표호기 양극</a:t>
            </a:r>
            <a:r>
              <a:rPr lang="en-US" altLang="ko-KR">
                <a:sym typeface="Wingdings"/>
              </a:rPr>
              <a:t>1</a:t>
            </a:r>
            <a:r>
              <a:rPr lang="ko-KR" altLang="en-US">
                <a:sym typeface="Wingdings"/>
              </a:rPr>
              <a:t>호</a:t>
            </a:r>
            <a:r>
              <a:rPr lang="en-US" altLang="ko-KR">
                <a:sym typeface="Wingdings"/>
              </a:rPr>
              <a:t> </a:t>
            </a:r>
            <a:endParaRPr lang="en-US" altLang="ko-KR" dirty="0">
              <a:sym typeface="Wingding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52397EA-D0D1-8689-E335-15BC6D44F8EA}"/>
              </a:ext>
            </a:extLst>
          </p:cNvPr>
          <p:cNvSpPr txBox="1"/>
          <p:nvPr/>
        </p:nvSpPr>
        <p:spPr>
          <a:xfrm>
            <a:off x="2989345" y="2014028"/>
            <a:ext cx="1136980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>
                <a:sym typeface="Wingdings"/>
              </a:rPr>
              <a:t>대표호기 양극</a:t>
            </a:r>
            <a:r>
              <a:rPr lang="en-US" altLang="ko-KR">
                <a:sym typeface="Wingdings"/>
              </a:rPr>
              <a:t>1</a:t>
            </a:r>
            <a:r>
              <a:rPr lang="ko-KR" altLang="en-US">
                <a:sym typeface="Wingdings"/>
              </a:rPr>
              <a:t>호</a:t>
            </a:r>
            <a:r>
              <a:rPr lang="en-US" altLang="ko-KR">
                <a:sym typeface="Wingdings"/>
              </a:rPr>
              <a:t> </a:t>
            </a:r>
            <a:endParaRPr lang="en-US" altLang="ko-KR" dirty="0">
              <a:sym typeface="Wingdings"/>
            </a:endParaRPr>
          </a:p>
        </p:txBody>
      </p: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EB4CDFEA-108C-210A-4952-5AA9870CF2AA}"/>
              </a:ext>
            </a:extLst>
          </p:cNvPr>
          <p:cNvCxnSpPr>
            <a:cxnSpLocks/>
          </p:cNvCxnSpPr>
          <p:nvPr/>
        </p:nvCxnSpPr>
        <p:spPr>
          <a:xfrm>
            <a:off x="2202569" y="2372427"/>
            <a:ext cx="59630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AB867C7A-5DF0-4666-4FE3-D8227254E274}"/>
              </a:ext>
            </a:extLst>
          </p:cNvPr>
          <p:cNvSpPr txBox="1"/>
          <p:nvPr/>
        </p:nvSpPr>
        <p:spPr>
          <a:xfrm>
            <a:off x="7569629" y="2697655"/>
            <a:ext cx="713540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ym typeface="Wingdings"/>
              </a:rPr>
              <a:t>대표호기 양극</a:t>
            </a:r>
            <a:r>
              <a:rPr lang="en-US" altLang="ko-KR" dirty="0">
                <a:sym typeface="Wingdings"/>
              </a:rPr>
              <a:t>1</a:t>
            </a:r>
            <a:r>
              <a:rPr lang="ko-KR" altLang="en-US" dirty="0">
                <a:sym typeface="Wingdings"/>
              </a:rPr>
              <a:t>호</a:t>
            </a:r>
            <a:r>
              <a:rPr lang="en-US" altLang="ko-KR" dirty="0">
                <a:sym typeface="Wingdings"/>
              </a:rPr>
              <a:t> 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8E658A8-8775-1F24-C289-FD07BBD10720}"/>
              </a:ext>
            </a:extLst>
          </p:cNvPr>
          <p:cNvSpPr txBox="1"/>
          <p:nvPr/>
        </p:nvSpPr>
        <p:spPr>
          <a:xfrm>
            <a:off x="6120276" y="2175146"/>
            <a:ext cx="812359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 양극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1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호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A5D74A1-9586-0B6B-770C-1F3CBBC55D23}"/>
              </a:ext>
            </a:extLst>
          </p:cNvPr>
          <p:cNvSpPr txBox="1"/>
          <p:nvPr/>
        </p:nvSpPr>
        <p:spPr>
          <a:xfrm>
            <a:off x="6120276" y="2347822"/>
            <a:ext cx="812359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 양극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1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호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D3454C2-1770-D0E4-25FB-1E42098D60A0}"/>
              </a:ext>
            </a:extLst>
          </p:cNvPr>
          <p:cNvSpPr txBox="1"/>
          <p:nvPr/>
        </p:nvSpPr>
        <p:spPr>
          <a:xfrm>
            <a:off x="731687" y="2338178"/>
            <a:ext cx="828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Dry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로딩량 예측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F256A769-11EB-B3DB-FF3C-108AEBA29B69}"/>
              </a:ext>
            </a:extLst>
          </p:cNvPr>
          <p:cNvCxnSpPr>
            <a:cxnSpLocks/>
          </p:cNvCxnSpPr>
          <p:nvPr/>
        </p:nvCxnSpPr>
        <p:spPr>
          <a:xfrm>
            <a:off x="2628694" y="2708477"/>
            <a:ext cx="3881619" cy="1144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EDDF7A51-95AD-A262-BD6A-BBB3A4B97578}"/>
              </a:ext>
            </a:extLst>
          </p:cNvPr>
          <p:cNvSpPr txBox="1"/>
          <p:nvPr/>
        </p:nvSpPr>
        <p:spPr>
          <a:xfrm>
            <a:off x="1881888" y="2419217"/>
            <a:ext cx="486352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분석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/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모델 개발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98487B8-3AEA-B2C1-F65A-A60E47C02033}"/>
              </a:ext>
            </a:extLst>
          </p:cNvPr>
          <p:cNvSpPr txBox="1"/>
          <p:nvPr/>
        </p:nvSpPr>
        <p:spPr>
          <a:xfrm>
            <a:off x="2415375" y="2419556"/>
            <a:ext cx="296556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코드 적용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641F8A8-0C61-24E9-420D-F130A5BA27B5}"/>
              </a:ext>
            </a:extLst>
          </p:cNvPr>
          <p:cNvSpPr txBox="1"/>
          <p:nvPr/>
        </p:nvSpPr>
        <p:spPr>
          <a:xfrm>
            <a:off x="2806059" y="2417373"/>
            <a:ext cx="296556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검증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/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보완</a:t>
            </a: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08AC1C98-8DAF-BA9B-8C17-3E29AB0FD369}"/>
              </a:ext>
            </a:extLst>
          </p:cNvPr>
          <p:cNvSpPr/>
          <p:nvPr/>
        </p:nvSpPr>
        <p:spPr>
          <a:xfrm>
            <a:off x="3125972" y="268053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E67F450-5F84-CE16-2BF6-3D01E6C2097C}"/>
              </a:ext>
            </a:extLst>
          </p:cNvPr>
          <p:cNvSpPr txBox="1"/>
          <p:nvPr/>
        </p:nvSpPr>
        <p:spPr>
          <a:xfrm>
            <a:off x="3278372" y="2719157"/>
            <a:ext cx="684483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 초기조건조정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UI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 개발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7E9AD67C-5DF5-9F33-BACA-DC074588FC5B}"/>
              </a:ext>
            </a:extLst>
          </p:cNvPr>
          <p:cNvCxnSpPr>
            <a:cxnSpLocks/>
          </p:cNvCxnSpPr>
          <p:nvPr/>
        </p:nvCxnSpPr>
        <p:spPr>
          <a:xfrm>
            <a:off x="2946193" y="2541299"/>
            <a:ext cx="280083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타원 183">
            <a:extLst>
              <a:ext uri="{FF2B5EF4-FFF2-40B4-BE49-F238E27FC236}">
                <a16:creationId xmlns:a16="http://schemas.microsoft.com/office/drawing/2014/main" id="{5075DED8-9436-9C8B-8EFD-E27D025D31D1}"/>
              </a:ext>
            </a:extLst>
          </p:cNvPr>
          <p:cNvSpPr/>
          <p:nvPr/>
        </p:nvSpPr>
        <p:spPr>
          <a:xfrm>
            <a:off x="3315547" y="25054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17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3B55E89-8562-A50D-76E0-6A2C2BC32D50}"/>
              </a:ext>
            </a:extLst>
          </p:cNvPr>
          <p:cNvSpPr txBox="1"/>
          <p:nvPr/>
        </p:nvSpPr>
        <p:spPr>
          <a:xfrm>
            <a:off x="2759174" y="2553240"/>
            <a:ext cx="450764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개발 컨셉 확정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148DB1A-8149-E921-964D-54C2AD60135F}"/>
              </a:ext>
            </a:extLst>
          </p:cNvPr>
          <p:cNvSpPr/>
          <p:nvPr/>
        </p:nvSpPr>
        <p:spPr>
          <a:xfrm>
            <a:off x="4176120" y="25054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22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A9E060CF-444B-C7E1-8A2B-0F6D02A0A28C}"/>
              </a:ext>
            </a:extLst>
          </p:cNvPr>
          <p:cNvSpPr txBox="1"/>
          <p:nvPr/>
        </p:nvSpPr>
        <p:spPr>
          <a:xfrm>
            <a:off x="3629477" y="2553240"/>
            <a:ext cx="474490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분석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/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모델 개발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4D81950E-454E-44EA-31B0-E83CA4479FCA}"/>
              </a:ext>
            </a:extLst>
          </p:cNvPr>
          <p:cNvSpPr/>
          <p:nvPr/>
        </p:nvSpPr>
        <p:spPr>
          <a:xfrm>
            <a:off x="4798237" y="250267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26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D2FF53-5EE3-880E-829C-6864672A55BB}"/>
              </a:ext>
            </a:extLst>
          </p:cNvPr>
          <p:cNvSpPr txBox="1"/>
          <p:nvPr/>
        </p:nvSpPr>
        <p:spPr>
          <a:xfrm>
            <a:off x="4425351" y="2544400"/>
            <a:ext cx="296556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코드 적용</a:t>
            </a:r>
          </a:p>
        </p:txBody>
      </p: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C539A77F-2320-3B43-61B7-0E557D47A052}"/>
              </a:ext>
            </a:extLst>
          </p:cNvPr>
          <p:cNvCxnSpPr>
            <a:cxnSpLocks/>
          </p:cNvCxnSpPr>
          <p:nvPr/>
        </p:nvCxnSpPr>
        <p:spPr>
          <a:xfrm>
            <a:off x="3220943" y="2367412"/>
            <a:ext cx="123894" cy="166576"/>
          </a:xfrm>
          <a:prstGeom prst="straightConnector1">
            <a:avLst/>
          </a:prstGeom>
          <a:ln w="19050" cap="rnd">
            <a:solidFill>
              <a:srgbClr val="0000FF">
                <a:alpha val="49000"/>
              </a:srgb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F6EAF327-095D-00FE-D777-40C5D9A92230}"/>
              </a:ext>
            </a:extLst>
          </p:cNvPr>
          <p:cNvSpPr txBox="1"/>
          <p:nvPr/>
        </p:nvSpPr>
        <p:spPr>
          <a:xfrm>
            <a:off x="5006450" y="2544400"/>
            <a:ext cx="765594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검증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/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보완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(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온도 통합검증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)</a:t>
            </a:r>
            <a:endParaRPr kumimoji="1" lang="ko-KR" altLang="en-US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맑은 고딕 Semilight"/>
            </a:endParaRP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75A691A4-5551-E706-5DA3-2830C7A83106}"/>
              </a:ext>
            </a:extLst>
          </p:cNvPr>
          <p:cNvCxnSpPr>
            <a:cxnSpLocks/>
          </p:cNvCxnSpPr>
          <p:nvPr/>
        </p:nvCxnSpPr>
        <p:spPr>
          <a:xfrm>
            <a:off x="5147479" y="2205851"/>
            <a:ext cx="12382" cy="320885"/>
          </a:xfrm>
          <a:prstGeom prst="straightConnector1">
            <a:avLst/>
          </a:prstGeom>
          <a:ln w="19050" cap="rnd">
            <a:solidFill>
              <a:srgbClr val="FF0000">
                <a:alpha val="49000"/>
              </a:srgb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474C31A4-5781-DEF5-328B-13CA0E2F9A9E}"/>
              </a:ext>
            </a:extLst>
          </p:cNvPr>
          <p:cNvSpPr txBox="1"/>
          <p:nvPr/>
        </p:nvSpPr>
        <p:spPr>
          <a:xfrm>
            <a:off x="4163704" y="2719157"/>
            <a:ext cx="699872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데이터 수집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/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모델 개발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1513B5E6-0572-CDF9-728D-9578AD490E00}"/>
              </a:ext>
            </a:extLst>
          </p:cNvPr>
          <p:cNvSpPr/>
          <p:nvPr/>
        </p:nvSpPr>
        <p:spPr>
          <a:xfrm>
            <a:off x="5746520" y="268721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B2622CB-09B5-2DAD-E19E-082E2AE38B69}"/>
              </a:ext>
            </a:extLst>
          </p:cNvPr>
          <p:cNvSpPr txBox="1"/>
          <p:nvPr/>
        </p:nvSpPr>
        <p:spPr>
          <a:xfrm>
            <a:off x="2622235" y="2727388"/>
            <a:ext cx="450764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개발 컨셉 확정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63A33ABC-C2E6-DFF2-4D27-9F1336E4B182}"/>
              </a:ext>
            </a:extLst>
          </p:cNvPr>
          <p:cNvSpPr/>
          <p:nvPr/>
        </p:nvSpPr>
        <p:spPr>
          <a:xfrm>
            <a:off x="3974446" y="268053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1B1D7CF9-F5CB-7213-DD6F-61DCF8524811}"/>
              </a:ext>
            </a:extLst>
          </p:cNvPr>
          <p:cNvSpPr/>
          <p:nvPr/>
        </p:nvSpPr>
        <p:spPr>
          <a:xfrm>
            <a:off x="6510313" y="267951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F294903-91B0-FCB2-F445-BDFE05DD31F1}"/>
              </a:ext>
            </a:extLst>
          </p:cNvPr>
          <p:cNvSpPr txBox="1"/>
          <p:nvPr/>
        </p:nvSpPr>
        <p:spPr>
          <a:xfrm>
            <a:off x="6985771" y="2726453"/>
            <a:ext cx="296556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검증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/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보완</a:t>
            </a: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C0B34D49-E537-50A0-0848-22FD225CCFD4}"/>
              </a:ext>
            </a:extLst>
          </p:cNvPr>
          <p:cNvCxnSpPr>
            <a:cxnSpLocks/>
          </p:cNvCxnSpPr>
          <p:nvPr/>
        </p:nvCxnSpPr>
        <p:spPr>
          <a:xfrm>
            <a:off x="5457056" y="2535713"/>
            <a:ext cx="0" cy="190740"/>
          </a:xfrm>
          <a:prstGeom prst="straightConnector1">
            <a:avLst/>
          </a:prstGeom>
          <a:ln w="19050" cap="rnd">
            <a:solidFill>
              <a:srgbClr val="FF0000">
                <a:alpha val="49000"/>
              </a:srgb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0A514CF9-18BB-F9FF-63A6-E1D968E43F05}"/>
              </a:ext>
            </a:extLst>
          </p:cNvPr>
          <p:cNvCxnSpPr>
            <a:cxnSpLocks/>
          </p:cNvCxnSpPr>
          <p:nvPr/>
        </p:nvCxnSpPr>
        <p:spPr>
          <a:xfrm>
            <a:off x="5069787" y="2554065"/>
            <a:ext cx="5816" cy="164412"/>
          </a:xfrm>
          <a:prstGeom prst="straightConnector1">
            <a:avLst/>
          </a:prstGeom>
          <a:ln w="19050" cap="rnd">
            <a:solidFill>
              <a:srgbClr val="0000FF">
                <a:alpha val="49000"/>
              </a:srgb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64427586-E1AA-FF09-B638-520B6AE01CB7}"/>
              </a:ext>
            </a:extLst>
          </p:cNvPr>
          <p:cNvCxnSpPr>
            <a:cxnSpLocks/>
          </p:cNvCxnSpPr>
          <p:nvPr/>
        </p:nvCxnSpPr>
        <p:spPr>
          <a:xfrm>
            <a:off x="4057257" y="2887097"/>
            <a:ext cx="2453056" cy="723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타원 201">
            <a:extLst>
              <a:ext uri="{FF2B5EF4-FFF2-40B4-BE49-F238E27FC236}">
                <a16:creationId xmlns:a16="http://schemas.microsoft.com/office/drawing/2014/main" id="{45D2FF92-483E-270E-B4C0-7A547618EDCB}"/>
              </a:ext>
            </a:extLst>
          </p:cNvPr>
          <p:cNvSpPr/>
          <p:nvPr/>
        </p:nvSpPr>
        <p:spPr>
          <a:xfrm>
            <a:off x="6506927" y="285560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620BCBE-92C9-A4FB-F8E2-7B438917C5BA}"/>
              </a:ext>
            </a:extLst>
          </p:cNvPr>
          <p:cNvSpPr txBox="1"/>
          <p:nvPr/>
        </p:nvSpPr>
        <p:spPr>
          <a:xfrm>
            <a:off x="7579351" y="2864384"/>
            <a:ext cx="737189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ym typeface="Wingdings"/>
              </a:rPr>
              <a:t>대표호기 음극</a:t>
            </a:r>
            <a:r>
              <a:rPr lang="en-US" altLang="ko-KR" dirty="0">
                <a:sym typeface="Wingdings"/>
              </a:rPr>
              <a:t>1</a:t>
            </a:r>
            <a:r>
              <a:rPr lang="ko-KR" altLang="en-US" dirty="0">
                <a:sym typeface="Wingdings"/>
              </a:rPr>
              <a:t>호</a:t>
            </a:r>
            <a:r>
              <a:rPr lang="en-US" altLang="ko-KR" dirty="0">
                <a:sym typeface="Wingdings"/>
              </a:rPr>
              <a:t> </a:t>
            </a:r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336E5021-0882-70E1-85A2-654F37145CED}"/>
              </a:ext>
            </a:extLst>
          </p:cNvPr>
          <p:cNvSpPr/>
          <p:nvPr/>
        </p:nvSpPr>
        <p:spPr>
          <a:xfrm>
            <a:off x="5753482" y="285880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2B009FC-DB99-D001-9449-A702ECF912F8}"/>
              </a:ext>
            </a:extLst>
          </p:cNvPr>
          <p:cNvSpPr txBox="1"/>
          <p:nvPr/>
        </p:nvSpPr>
        <p:spPr>
          <a:xfrm>
            <a:off x="6985771" y="2912777"/>
            <a:ext cx="296556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검증</a:t>
            </a:r>
            <a:r>
              <a:rPr kumimoji="1" lang="en-US" altLang="ko-KR" sz="7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/</a:t>
            </a:r>
            <a:r>
              <a:rPr kumimoji="1" lang="ko-KR" altLang="en-US" sz="7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보완</a:t>
            </a:r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C59E36EC-2328-61CD-57AC-DB27EA42CA0D}"/>
              </a:ext>
            </a:extLst>
          </p:cNvPr>
          <p:cNvSpPr/>
          <p:nvPr/>
        </p:nvSpPr>
        <p:spPr>
          <a:xfrm>
            <a:off x="4282424" y="285686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642A9D3-3127-4093-D8E3-941C9E7CAEC1}"/>
              </a:ext>
            </a:extLst>
          </p:cNvPr>
          <p:cNvSpPr txBox="1"/>
          <p:nvPr/>
        </p:nvSpPr>
        <p:spPr>
          <a:xfrm>
            <a:off x="3821064" y="2903889"/>
            <a:ext cx="450764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개발 컨셉 확정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8861A33F-9A28-E634-294B-85ECB0840F6C}"/>
              </a:ext>
            </a:extLst>
          </p:cNvPr>
          <p:cNvSpPr/>
          <p:nvPr/>
        </p:nvSpPr>
        <p:spPr>
          <a:xfrm>
            <a:off x="5020996" y="285559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5D0C390-58B4-69D2-E990-0341F12A783A}"/>
              </a:ext>
            </a:extLst>
          </p:cNvPr>
          <p:cNvSpPr txBox="1"/>
          <p:nvPr/>
        </p:nvSpPr>
        <p:spPr>
          <a:xfrm>
            <a:off x="4528513" y="2900746"/>
            <a:ext cx="474490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분석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/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모델 개발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34F8ABF-F487-0F48-9681-02FC164AC06C}"/>
              </a:ext>
            </a:extLst>
          </p:cNvPr>
          <p:cNvSpPr txBox="1"/>
          <p:nvPr/>
        </p:nvSpPr>
        <p:spPr>
          <a:xfrm>
            <a:off x="5281336" y="2903082"/>
            <a:ext cx="296556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코드 적용</a:t>
            </a:r>
          </a:p>
        </p:txBody>
      </p: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28D78270-4A9B-A0AD-4786-71899EBFCA50}"/>
              </a:ext>
            </a:extLst>
          </p:cNvPr>
          <p:cNvCxnSpPr>
            <a:cxnSpLocks/>
          </p:cNvCxnSpPr>
          <p:nvPr/>
        </p:nvCxnSpPr>
        <p:spPr>
          <a:xfrm>
            <a:off x="731688" y="3101159"/>
            <a:ext cx="98095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4E4152A2-AD1A-BCEF-4296-53321C131731}"/>
              </a:ext>
            </a:extLst>
          </p:cNvPr>
          <p:cNvSpPr txBox="1"/>
          <p:nvPr/>
        </p:nvSpPr>
        <p:spPr>
          <a:xfrm>
            <a:off x="731687" y="3034838"/>
            <a:ext cx="828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재조건조정 고도화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(RP)</a:t>
            </a: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4834D208-B114-5428-27AD-34D8369A5409}"/>
              </a:ext>
            </a:extLst>
          </p:cNvPr>
          <p:cNvCxnSpPr>
            <a:cxnSpLocks/>
          </p:cNvCxnSpPr>
          <p:nvPr/>
        </p:nvCxnSpPr>
        <p:spPr>
          <a:xfrm>
            <a:off x="1804809" y="3106598"/>
            <a:ext cx="69991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타원 213">
            <a:extLst>
              <a:ext uri="{FF2B5EF4-FFF2-40B4-BE49-F238E27FC236}">
                <a16:creationId xmlns:a16="http://schemas.microsoft.com/office/drawing/2014/main" id="{D0B7A351-9F7B-41BE-E012-EEA2D07F26B1}"/>
              </a:ext>
            </a:extLst>
          </p:cNvPr>
          <p:cNvSpPr/>
          <p:nvPr/>
        </p:nvSpPr>
        <p:spPr>
          <a:xfrm>
            <a:off x="1674540" y="30324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38997489-16A0-2A36-E956-3159A29CA0C8}"/>
              </a:ext>
            </a:extLst>
          </p:cNvPr>
          <p:cNvSpPr/>
          <p:nvPr/>
        </p:nvSpPr>
        <p:spPr>
          <a:xfrm>
            <a:off x="2806059" y="229284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0B2172FE-2233-3AFE-AD7B-D1CE5CFBB332}"/>
              </a:ext>
            </a:extLst>
          </p:cNvPr>
          <p:cNvCxnSpPr>
            <a:cxnSpLocks/>
            <a:stCxn id="215" idx="6"/>
          </p:cNvCxnSpPr>
          <p:nvPr/>
        </p:nvCxnSpPr>
        <p:spPr>
          <a:xfrm>
            <a:off x="2950059" y="2364849"/>
            <a:ext cx="270884" cy="0"/>
          </a:xfrm>
          <a:prstGeom prst="straightConnector1">
            <a:avLst/>
          </a:prstGeom>
          <a:ln w="19050" cap="rnd">
            <a:solidFill>
              <a:srgbClr val="0000FF">
                <a:alpha val="49000"/>
              </a:srgbClr>
            </a:solidFill>
            <a:prstDash val="sysDash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그룹 1">
            <a:extLst>
              <a:ext uri="{FF2B5EF4-FFF2-40B4-BE49-F238E27FC236}">
                <a16:creationId xmlns:a16="http://schemas.microsoft.com/office/drawing/2014/main" id="{F22F4CF3-6DF5-F7F4-AD37-A110E2478EAD}"/>
              </a:ext>
            </a:extLst>
          </p:cNvPr>
          <p:cNvGrpSpPr/>
          <p:nvPr/>
        </p:nvGrpSpPr>
        <p:grpSpPr>
          <a:xfrm>
            <a:off x="6692032" y="1524519"/>
            <a:ext cx="205184" cy="1649665"/>
            <a:chOff x="2034604" y="1185917"/>
            <a:chExt cx="205184" cy="4942459"/>
          </a:xfrm>
        </p:grpSpPr>
        <p:grpSp>
          <p:nvGrpSpPr>
            <p:cNvPr id="218" name="그룹 2">
              <a:extLst>
                <a:ext uri="{FF2B5EF4-FFF2-40B4-BE49-F238E27FC236}">
                  <a16:creationId xmlns:a16="http://schemas.microsoft.com/office/drawing/2014/main" id="{5BD9485F-7B52-DBC8-7799-C16D284FEFF6}"/>
                </a:ext>
              </a:extLst>
            </p:cNvPr>
            <p:cNvGrpSpPr/>
            <p:nvPr/>
          </p:nvGrpSpPr>
          <p:grpSpPr>
            <a:xfrm>
              <a:off x="2101547" y="1608131"/>
              <a:ext cx="71299" cy="4520245"/>
              <a:chOff x="4196827" y="2541224"/>
              <a:chExt cx="71299" cy="4685897"/>
            </a:xfrm>
          </p:grpSpPr>
          <p:cxnSp>
            <p:nvCxnSpPr>
              <p:cNvPr id="220" name="직선 연결선 167">
                <a:extLst>
                  <a:ext uri="{FF2B5EF4-FFF2-40B4-BE49-F238E27FC236}">
                    <a16:creationId xmlns:a16="http://schemas.microsoft.com/office/drawing/2014/main" id="{237935A8-5CB5-579C-7919-97F969AE84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2476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221" name="이등변 삼각형 7">
                <a:extLst>
                  <a:ext uri="{FF2B5EF4-FFF2-40B4-BE49-F238E27FC236}">
                    <a16:creationId xmlns:a16="http://schemas.microsoft.com/office/drawing/2014/main" id="{D6CF0575-BE52-6BB9-DF25-1C6B9E17D69A}"/>
                  </a:ext>
                </a:extLst>
              </p:cNvPr>
              <p:cNvSpPr/>
              <p:nvPr/>
            </p:nvSpPr>
            <p:spPr>
              <a:xfrm flipV="1">
                <a:off x="4196827" y="2541224"/>
                <a:ext cx="71299" cy="141996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219" name="Text Box 4">
              <a:extLst>
                <a:ext uri="{FF2B5EF4-FFF2-40B4-BE49-F238E27FC236}">
                  <a16:creationId xmlns:a16="http://schemas.microsoft.com/office/drawing/2014/main" id="{9DBACADC-CB4F-46A3-9518-D4B78BB54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604" y="1185917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B7113009-AA2D-47F4-2E13-0915AFF46C62}"/>
              </a:ext>
            </a:extLst>
          </p:cNvPr>
          <p:cNvSpPr txBox="1"/>
          <p:nvPr/>
        </p:nvSpPr>
        <p:spPr>
          <a:xfrm>
            <a:off x="731687" y="3209004"/>
            <a:ext cx="828000" cy="14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미스매치 고도화 적용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F20CAD8A-771B-7E19-9858-CF62650AA79E}"/>
              </a:ext>
            </a:extLst>
          </p:cNvPr>
          <p:cNvCxnSpPr>
            <a:cxnSpLocks/>
          </p:cNvCxnSpPr>
          <p:nvPr/>
        </p:nvCxnSpPr>
        <p:spPr>
          <a:xfrm>
            <a:off x="3862644" y="3293644"/>
            <a:ext cx="205200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타원 223">
            <a:extLst>
              <a:ext uri="{FF2B5EF4-FFF2-40B4-BE49-F238E27FC236}">
                <a16:creationId xmlns:a16="http://schemas.microsoft.com/office/drawing/2014/main" id="{9E0558B6-79C2-D1F6-DBDA-8D5ADDC05C25}"/>
              </a:ext>
            </a:extLst>
          </p:cNvPr>
          <p:cNvSpPr/>
          <p:nvPr/>
        </p:nvSpPr>
        <p:spPr>
          <a:xfrm>
            <a:off x="3732376" y="321947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B5FB2B1-A200-3389-00B9-BDA9CC71C579}"/>
              </a:ext>
            </a:extLst>
          </p:cNvPr>
          <p:cNvSpPr txBox="1"/>
          <p:nvPr/>
        </p:nvSpPr>
        <p:spPr>
          <a:xfrm>
            <a:off x="3488767" y="3103618"/>
            <a:ext cx="341119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7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패턴 전환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226" name="타원 225">
            <a:extLst>
              <a:ext uri="{FF2B5EF4-FFF2-40B4-BE49-F238E27FC236}">
                <a16:creationId xmlns:a16="http://schemas.microsoft.com/office/drawing/2014/main" id="{799C2C41-BE0F-9286-60FD-7509A30FFB68}"/>
              </a:ext>
            </a:extLst>
          </p:cNvPr>
          <p:cNvSpPr/>
          <p:nvPr/>
        </p:nvSpPr>
        <p:spPr>
          <a:xfrm>
            <a:off x="4115031" y="321947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27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224D44E-1A2B-D698-5EB1-71D20EA1AD01}"/>
              </a:ext>
            </a:extLst>
          </p:cNvPr>
          <p:cNvSpPr txBox="1"/>
          <p:nvPr/>
        </p:nvSpPr>
        <p:spPr>
          <a:xfrm>
            <a:off x="3962855" y="3100061"/>
            <a:ext cx="296556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음극 적용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A294A097-3746-1087-005E-4291DE85C380}"/>
              </a:ext>
            </a:extLst>
          </p:cNvPr>
          <p:cNvSpPr/>
          <p:nvPr/>
        </p:nvSpPr>
        <p:spPr>
          <a:xfrm>
            <a:off x="5003479" y="321947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E241A2F-4BB1-3CCC-CB4D-0740F76AF4FB}"/>
              </a:ext>
            </a:extLst>
          </p:cNvPr>
          <p:cNvSpPr txBox="1"/>
          <p:nvPr/>
        </p:nvSpPr>
        <p:spPr>
          <a:xfrm>
            <a:off x="4890638" y="3100061"/>
            <a:ext cx="296556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양극 적용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5EB8C589-AC1A-F1AD-1A7A-100F3F4AC617}"/>
              </a:ext>
            </a:extLst>
          </p:cNvPr>
          <p:cNvSpPr/>
          <p:nvPr/>
        </p:nvSpPr>
        <p:spPr>
          <a:xfrm>
            <a:off x="5672013" y="321947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A1674C8F-B298-AD4E-90F6-5ECB5CE45CD6}"/>
              </a:ext>
            </a:extLst>
          </p:cNvPr>
          <p:cNvSpPr txBox="1"/>
          <p:nvPr/>
        </p:nvSpPr>
        <p:spPr>
          <a:xfrm>
            <a:off x="5589583" y="3100061"/>
            <a:ext cx="284693" cy="1077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검증적용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8441E04A-45E1-55CA-612A-85065E11B0D7}"/>
              </a:ext>
            </a:extLst>
          </p:cNvPr>
          <p:cNvSpPr txBox="1"/>
          <p:nvPr/>
        </p:nvSpPr>
        <p:spPr>
          <a:xfrm>
            <a:off x="1584115" y="1805333"/>
            <a:ext cx="206585" cy="136256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완료</a:t>
            </a:r>
            <a:endParaRPr kumimoji="1" lang="en-US" altLang="ko-KR" sz="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CB8FE3A-3512-4694-2D3D-DEDEA718DAAA}"/>
              </a:ext>
            </a:extLst>
          </p:cNvPr>
          <p:cNvSpPr txBox="1"/>
          <p:nvPr/>
        </p:nvSpPr>
        <p:spPr>
          <a:xfrm>
            <a:off x="1584115" y="1977970"/>
            <a:ext cx="206585" cy="136256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완료</a:t>
            </a:r>
            <a:endParaRPr kumimoji="1" lang="en-US" altLang="ko-KR" sz="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EB7EDCB-7B48-565B-52F9-AB90D39EEDD7}"/>
              </a:ext>
            </a:extLst>
          </p:cNvPr>
          <p:cNvSpPr txBox="1"/>
          <p:nvPr/>
        </p:nvSpPr>
        <p:spPr>
          <a:xfrm>
            <a:off x="1578335" y="2341424"/>
            <a:ext cx="206585" cy="136256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완료</a:t>
            </a:r>
            <a:endParaRPr kumimoji="1" lang="en-US" altLang="ko-KR" sz="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07BC0BF-3C6D-F161-656D-D79EC2CD80AE}"/>
              </a:ext>
            </a:extLst>
          </p:cNvPr>
          <p:cNvSpPr txBox="1"/>
          <p:nvPr/>
        </p:nvSpPr>
        <p:spPr>
          <a:xfrm>
            <a:off x="1585156" y="2857812"/>
            <a:ext cx="403292" cy="136256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검증 </a:t>
            </a:r>
            <a:r>
              <a:rPr kumimoji="1" lang="en-US" altLang="ko-KR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(AZ)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38836948-368D-B852-48B7-E1FEA56E537A}"/>
              </a:ext>
            </a:extLst>
          </p:cNvPr>
          <p:cNvSpPr txBox="1"/>
          <p:nvPr/>
        </p:nvSpPr>
        <p:spPr>
          <a:xfrm>
            <a:off x="1584609" y="3208113"/>
            <a:ext cx="206585" cy="136256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검증</a:t>
            </a:r>
            <a:endParaRPr kumimoji="1" lang="en-US" altLang="ko-KR" sz="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A2DAC63-B19A-AB84-A149-B8629FF3F1AC}"/>
              </a:ext>
            </a:extLst>
          </p:cNvPr>
          <p:cNvSpPr txBox="1"/>
          <p:nvPr/>
        </p:nvSpPr>
        <p:spPr>
          <a:xfrm>
            <a:off x="1584115" y="3032962"/>
            <a:ext cx="206585" cy="136256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완료</a:t>
            </a:r>
            <a:endParaRPr kumimoji="1" lang="en-US" altLang="ko-KR" sz="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381D22B-5F83-2D14-E56F-AFBD36AA63AD}"/>
              </a:ext>
            </a:extLst>
          </p:cNvPr>
          <p:cNvSpPr txBox="1"/>
          <p:nvPr/>
        </p:nvSpPr>
        <p:spPr>
          <a:xfrm>
            <a:off x="5188873" y="5158736"/>
            <a:ext cx="4553249" cy="697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[COT]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통합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슬러리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온도 관리 시스템</a:t>
            </a:r>
            <a:b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-. NFF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등속 구간 온도 자동보정 양산 적용 장기효과 검증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(’26.09)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-.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재조건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조정 시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슬러리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온도 자동보정 개발 및 적용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(’26.09)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-.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설비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증속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및 믹서 생산량 증대로 인한 온도 자동보정 지속 대응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A2FB31BE-1829-C75A-A9C3-69EEFCA0D364}"/>
              </a:ext>
            </a:extLst>
          </p:cNvPr>
          <p:cNvSpPr>
            <a:spLocks noChangeAspect="1"/>
          </p:cNvSpPr>
          <p:nvPr/>
        </p:nvSpPr>
        <p:spPr>
          <a:xfrm>
            <a:off x="9139667" y="1116131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>
              <a:solidFill>
                <a:srgbClr val="FFFFFF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44" name="제목 9">
            <a:extLst>
              <a:ext uri="{FF2B5EF4-FFF2-40B4-BE49-F238E27FC236}">
                <a16:creationId xmlns:a16="http://schemas.microsoft.com/office/drawing/2014/main" id="{F07DBEA0-D508-8382-91FF-1C9F68043475}"/>
              </a:ext>
            </a:extLst>
          </p:cNvPr>
          <p:cNvSpPr txBox="1">
            <a:spLocks/>
          </p:cNvSpPr>
          <p:nvPr/>
        </p:nvSpPr>
        <p:spPr>
          <a:xfrm>
            <a:off x="2597103" y="3429000"/>
            <a:ext cx="493725" cy="1872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l" defTabSz="957263">
              <a:defRPr sz="2000">
                <a:solidFill>
                  <a:srgbClr val="000000"/>
                </a:solidFill>
                <a:latin typeface="LG스마트체 Bold" pitchFamily="50" charset="-127"/>
                <a:ea typeface="LG스마트체 Bold" pitchFamily="50" charset="-127"/>
                <a:cs typeface="Arial" charset="0"/>
              </a:defRPr>
            </a:lvl1pPr>
          </a:lstStyle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진척사항</a:t>
            </a:r>
          </a:p>
        </p:txBody>
      </p:sp>
      <p:cxnSp>
        <p:nvCxnSpPr>
          <p:cNvPr id="245" name="직선 연결선 2">
            <a:extLst>
              <a:ext uri="{FF2B5EF4-FFF2-40B4-BE49-F238E27FC236}">
                <a16:creationId xmlns:a16="http://schemas.microsoft.com/office/drawing/2014/main" id="{9414257B-50A6-049D-1F88-8717771C395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9581" y="3626363"/>
            <a:ext cx="400877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46" name="표 245">
            <a:extLst>
              <a:ext uri="{FF2B5EF4-FFF2-40B4-BE49-F238E27FC236}">
                <a16:creationId xmlns:a16="http://schemas.microsoft.com/office/drawing/2014/main" id="{1D3415D8-D6A9-3EF1-132F-C00AF4F6D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321497"/>
              </p:ext>
            </p:extLst>
          </p:nvPr>
        </p:nvGraphicFramePr>
        <p:xfrm>
          <a:off x="901511" y="3836660"/>
          <a:ext cx="1171170" cy="747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234">
                  <a:extLst>
                    <a:ext uri="{9D8B030D-6E8A-4147-A177-3AD203B41FA5}">
                      <a16:colId xmlns:a16="http://schemas.microsoft.com/office/drawing/2014/main" val="472143605"/>
                    </a:ext>
                  </a:extLst>
                </a:gridCol>
                <a:gridCol w="234234">
                  <a:extLst>
                    <a:ext uri="{9D8B030D-6E8A-4147-A177-3AD203B41FA5}">
                      <a16:colId xmlns:a16="http://schemas.microsoft.com/office/drawing/2014/main" val="3930834092"/>
                    </a:ext>
                  </a:extLst>
                </a:gridCol>
                <a:gridCol w="234234">
                  <a:extLst>
                    <a:ext uri="{9D8B030D-6E8A-4147-A177-3AD203B41FA5}">
                      <a16:colId xmlns:a16="http://schemas.microsoft.com/office/drawing/2014/main" val="2390149454"/>
                    </a:ext>
                  </a:extLst>
                </a:gridCol>
                <a:gridCol w="234234">
                  <a:extLst>
                    <a:ext uri="{9D8B030D-6E8A-4147-A177-3AD203B41FA5}">
                      <a16:colId xmlns:a16="http://schemas.microsoft.com/office/drawing/2014/main" val="1112044825"/>
                    </a:ext>
                  </a:extLst>
                </a:gridCol>
                <a:gridCol w="234234">
                  <a:extLst>
                    <a:ext uri="{9D8B030D-6E8A-4147-A177-3AD203B41FA5}">
                      <a16:colId xmlns:a16="http://schemas.microsoft.com/office/drawing/2014/main" val="4141645428"/>
                    </a:ext>
                  </a:extLst>
                </a:gridCol>
              </a:tblGrid>
              <a:tr h="14952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6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6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월별</a:t>
                      </a:r>
                      <a:r>
                        <a:rPr lang="en-US" altLang="ko-KR" sz="6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6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831346"/>
                  </a:ext>
                </a:extLst>
              </a:tr>
              <a:tr h="149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705766"/>
                  </a:ext>
                </a:extLst>
              </a:tr>
              <a:tr h="149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COT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104014"/>
                  </a:ext>
                </a:extLst>
              </a:tr>
              <a:tr h="149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RP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993503"/>
                  </a:ext>
                </a:extLst>
              </a:tr>
              <a:tr h="149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SLT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601775"/>
                  </a:ext>
                </a:extLst>
              </a:tr>
            </a:tbl>
          </a:graphicData>
        </a:graphic>
      </p:graphicFrame>
      <p:sp>
        <p:nvSpPr>
          <p:cNvPr id="249" name="TextBox 248">
            <a:extLst>
              <a:ext uri="{FF2B5EF4-FFF2-40B4-BE49-F238E27FC236}">
                <a16:creationId xmlns:a16="http://schemas.microsoft.com/office/drawing/2014/main" id="{B8F6988D-6050-3BF2-896B-D15C1110672C}"/>
              </a:ext>
            </a:extLst>
          </p:cNvPr>
          <p:cNvSpPr txBox="1"/>
          <p:nvPr/>
        </p:nvSpPr>
        <p:spPr>
          <a:xfrm>
            <a:off x="816727" y="3573016"/>
            <a:ext cx="4203196" cy="279628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NFF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전극 수율 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실적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cxnSp>
        <p:nvCxnSpPr>
          <p:cNvPr id="253" name="직선 화살표 연결선 252">
            <a:extLst>
              <a:ext uri="{FF2B5EF4-FFF2-40B4-BE49-F238E27FC236}">
                <a16:creationId xmlns:a16="http://schemas.microsoft.com/office/drawing/2014/main" id="{3FAED881-9934-1CBF-0FA8-AF29B1F7A783}"/>
              </a:ext>
            </a:extLst>
          </p:cNvPr>
          <p:cNvCxnSpPr>
            <a:cxnSpLocks/>
          </p:cNvCxnSpPr>
          <p:nvPr/>
        </p:nvCxnSpPr>
        <p:spPr>
          <a:xfrm>
            <a:off x="5768199" y="2541299"/>
            <a:ext cx="88611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TextBox 253">
            <a:extLst>
              <a:ext uri="{FF2B5EF4-FFF2-40B4-BE49-F238E27FC236}">
                <a16:creationId xmlns:a16="http://schemas.microsoft.com/office/drawing/2014/main" id="{97586CDF-BF75-D07E-431B-C558DE397582}"/>
              </a:ext>
            </a:extLst>
          </p:cNvPr>
          <p:cNvSpPr txBox="1"/>
          <p:nvPr/>
        </p:nvSpPr>
        <p:spPr>
          <a:xfrm>
            <a:off x="816726" y="5843407"/>
            <a:ext cx="4189723" cy="683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63830" indent="-163830" defTabSz="844083" fontAlgn="base">
              <a:lnSpc>
                <a:spcPct val="11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[COT]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통합 </a:t>
            </a:r>
            <a:r>
              <a:rPr kumimoji="1" lang="ko-KR" altLang="en-US" sz="11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슬러리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 온도 관리 시스템</a:t>
            </a:r>
            <a:br>
              <a:rPr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-. </a:t>
            </a:r>
            <a:r>
              <a:rPr kumimoji="1" lang="ko-KR" altLang="en-US" sz="1000" dirty="0" err="1">
                <a:latin typeface="Arial Narrow"/>
                <a:ea typeface="LG스마트체 Regular"/>
              </a:rPr>
              <a:t>슬러리</a:t>
            </a:r>
            <a:r>
              <a:rPr kumimoji="1" lang="ko-KR" altLang="en-US" sz="1000" dirty="0">
                <a:latin typeface="Arial Narrow"/>
                <a:ea typeface="LG스마트체 Regular"/>
              </a:rPr>
              <a:t> 온도 자동보정</a:t>
            </a:r>
            <a:r>
              <a:rPr kumimoji="1" lang="en-US" altLang="ko-KR" sz="1000" dirty="0">
                <a:latin typeface="Arial Narrow"/>
                <a:ea typeface="LG스마트체 Regular"/>
              </a:rPr>
              <a:t>,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공급탱크 온수제어 고도화 개발</a:t>
            </a:r>
            <a:r>
              <a:rPr kumimoji="1" lang="en-US" altLang="ko-KR" sz="1000" dirty="0">
                <a:latin typeface="Arial Narrow"/>
                <a:ea typeface="LG스마트체 Regular"/>
              </a:rPr>
              <a:t>/</a:t>
            </a:r>
            <a:r>
              <a:rPr kumimoji="1" lang="ko-KR" altLang="en-US" sz="1000" dirty="0">
                <a:latin typeface="Arial Narrow"/>
                <a:ea typeface="LG스마트체 Regular"/>
              </a:rPr>
              <a:t>적용 및 모니터링 중</a:t>
            </a:r>
            <a:b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로딩 </a:t>
            </a:r>
            <a:r>
              <a:rPr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Cpk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9% </a:t>
            </a:r>
            <a:r>
              <a:rPr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상승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(1.01 </a:t>
            </a:r>
            <a:r>
              <a:rPr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1.12), </a:t>
            </a:r>
            <a:r>
              <a:rPr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로딩 편차 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47% </a:t>
            </a:r>
            <a:r>
              <a:rPr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(1.59 </a:t>
            </a:r>
            <a:r>
              <a:rPr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0.84)</a:t>
            </a:r>
            <a:b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수동보정 횟수 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90% </a:t>
            </a:r>
            <a:r>
              <a:rPr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저감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(0.50/10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km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→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0.05/10km</a:t>
            </a:r>
            <a: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latin typeface="Arial Narrow"/>
              <a:ea typeface="LG스마트체 Regular"/>
            </a:endParaRPr>
          </a:p>
        </p:txBody>
      </p:sp>
      <p:grpSp>
        <p:nvGrpSpPr>
          <p:cNvPr id="255" name="그룹 1">
            <a:extLst>
              <a:ext uri="{FF2B5EF4-FFF2-40B4-BE49-F238E27FC236}">
                <a16:creationId xmlns:a16="http://schemas.microsoft.com/office/drawing/2014/main" id="{095140A2-F218-383B-DDD5-E5A8DD7BA3FE}"/>
              </a:ext>
            </a:extLst>
          </p:cNvPr>
          <p:cNvGrpSpPr/>
          <p:nvPr/>
        </p:nvGrpSpPr>
        <p:grpSpPr>
          <a:xfrm>
            <a:off x="8912274" y="1524519"/>
            <a:ext cx="205184" cy="1649665"/>
            <a:chOff x="2034604" y="1185917"/>
            <a:chExt cx="205184" cy="4942459"/>
          </a:xfrm>
        </p:grpSpPr>
        <p:grpSp>
          <p:nvGrpSpPr>
            <p:cNvPr id="256" name="그룹 2">
              <a:extLst>
                <a:ext uri="{FF2B5EF4-FFF2-40B4-BE49-F238E27FC236}">
                  <a16:creationId xmlns:a16="http://schemas.microsoft.com/office/drawing/2014/main" id="{A33D28D9-8709-DC97-3BC7-F47F3A673F10}"/>
                </a:ext>
              </a:extLst>
            </p:cNvPr>
            <p:cNvGrpSpPr/>
            <p:nvPr/>
          </p:nvGrpSpPr>
          <p:grpSpPr>
            <a:xfrm>
              <a:off x="2101547" y="1608131"/>
              <a:ext cx="71299" cy="4520245"/>
              <a:chOff x="4196827" y="2541224"/>
              <a:chExt cx="71299" cy="4685897"/>
            </a:xfrm>
          </p:grpSpPr>
          <p:cxnSp>
            <p:nvCxnSpPr>
              <p:cNvPr id="258" name="직선 연결선 167">
                <a:extLst>
                  <a:ext uri="{FF2B5EF4-FFF2-40B4-BE49-F238E27FC236}">
                    <a16:creationId xmlns:a16="http://schemas.microsoft.com/office/drawing/2014/main" id="{A4ADE15B-9B76-38E7-D338-1752A469F4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2476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3B3BFF"/>
                </a:solidFill>
                <a:prstDash val="sysDot"/>
              </a:ln>
              <a:effectLst/>
            </p:spPr>
          </p:cxnSp>
          <p:sp>
            <p:nvSpPr>
              <p:cNvPr id="259" name="이등변 삼각형 7">
                <a:extLst>
                  <a:ext uri="{FF2B5EF4-FFF2-40B4-BE49-F238E27FC236}">
                    <a16:creationId xmlns:a16="http://schemas.microsoft.com/office/drawing/2014/main" id="{325AC178-22CE-BC5F-D69B-89230408B6FF}"/>
                  </a:ext>
                </a:extLst>
              </p:cNvPr>
              <p:cNvSpPr/>
              <p:nvPr/>
            </p:nvSpPr>
            <p:spPr>
              <a:xfrm flipV="1">
                <a:off x="4196827" y="2541224"/>
                <a:ext cx="71299" cy="141996"/>
              </a:xfrm>
              <a:prstGeom prst="triangle">
                <a:avLst/>
              </a:prstGeom>
              <a:solidFill>
                <a:srgbClr val="3B3B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257" name="Text Box 4">
              <a:extLst>
                <a:ext uri="{FF2B5EF4-FFF2-40B4-BE49-F238E27FC236}">
                  <a16:creationId xmlns:a16="http://schemas.microsoft.com/office/drawing/2014/main" id="{B11317D6-C758-68D6-970B-1D18579B4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604" y="1185917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4D40EB8-5D2C-E7C6-2331-AD67A2B64BE6}"/>
              </a:ext>
            </a:extLst>
          </p:cNvPr>
          <p:cNvSpPr txBox="1"/>
          <p:nvPr/>
        </p:nvSpPr>
        <p:spPr>
          <a:xfrm>
            <a:off x="3859625" y="3708524"/>
            <a:ext cx="10215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r"/>
            <a:r>
              <a:rPr lang="en-US" altLang="ko-KR" dirty="0"/>
              <a:t>10km</a:t>
            </a:r>
            <a:r>
              <a:rPr lang="ko-KR" altLang="en-US" dirty="0"/>
              <a:t>당 수동보정 횟수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13743-CF40-B67D-6639-592018A6B385}"/>
              </a:ext>
            </a:extLst>
          </p:cNvPr>
          <p:cNvSpPr txBox="1"/>
          <p:nvPr/>
        </p:nvSpPr>
        <p:spPr>
          <a:xfrm>
            <a:off x="2620729" y="123908"/>
            <a:ext cx="186144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전극</a:t>
            </a:r>
            <a:r>
              <a:rPr kumimoji="1" lang="en-US" altLang="ko-KR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 </a:t>
            </a:r>
            <a:r>
              <a:rPr kumimoji="1" lang="ko-KR" altLang="en-US" sz="10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수율</a:t>
            </a:r>
            <a:r>
              <a:rPr kumimoji="1" lang="en-US" altLang="ko-KR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(</a:t>
            </a:r>
            <a:r>
              <a:rPr kumimoji="1" lang="ko-KR" altLang="en-US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누적</a:t>
            </a:r>
            <a:r>
              <a:rPr kumimoji="1" lang="en-US" altLang="ko-KR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)</a:t>
            </a:r>
            <a:r>
              <a:rPr kumimoji="1" lang="ko-KR" altLang="en-US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 </a:t>
            </a:r>
            <a:r>
              <a:rPr kumimoji="1" lang="en-US" altLang="ko-KR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: </a:t>
            </a:r>
            <a:r>
              <a:rPr kumimoji="1" lang="en-US" altLang="ko-KR" sz="10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98.9</a:t>
            </a:r>
            <a:r>
              <a:rPr kumimoji="1" lang="en-US" altLang="ko-KR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%</a:t>
            </a:r>
          </a:p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[MX] 100.2% [COT] 99.5%</a:t>
            </a:r>
          </a:p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-7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</a:rPr>
              <a:t>[RP] 99.9%     [SL] 99.3%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3C940C7-FC03-B5DB-E87E-97D28A494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060614"/>
              </p:ext>
            </p:extLst>
          </p:nvPr>
        </p:nvGraphicFramePr>
        <p:xfrm>
          <a:off x="3801036" y="87105"/>
          <a:ext cx="3862768" cy="5729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198">
                  <a:extLst>
                    <a:ext uri="{9D8B030D-6E8A-4147-A177-3AD203B41FA5}">
                      <a16:colId xmlns:a16="http://schemas.microsoft.com/office/drawing/2014/main" val="3049790224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506729959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841681693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4066198197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3284412632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4159888217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2460000008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1318208380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731276393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1907957540"/>
                    </a:ext>
                  </a:extLst>
                </a:gridCol>
                <a:gridCol w="347857">
                  <a:extLst>
                    <a:ext uri="{9D8B030D-6E8A-4147-A177-3AD203B41FA5}">
                      <a16:colId xmlns:a16="http://schemas.microsoft.com/office/drawing/2014/main" val="3853254511"/>
                    </a:ext>
                  </a:extLst>
                </a:gridCol>
              </a:tblGrid>
              <a:tr h="190996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연간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월별 수율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980251"/>
                  </a:ext>
                </a:extLst>
              </a:tr>
              <a:tr h="1909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누계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누계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누계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700" b="1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누계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누계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누계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700" b="1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누계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누계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295489"/>
                  </a:ext>
                </a:extLst>
              </a:tr>
              <a:tr h="1909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수율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98.8%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97.1%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98.0%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98.4%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98.6%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98.7%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98.8%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98.9%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7024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855C62C-01F5-B728-AFF4-7B04BE774E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41072" y="3626363"/>
            <a:ext cx="455324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E8432E1-4889-0824-7BAB-684F5289A7FA}"/>
              </a:ext>
            </a:extLst>
          </p:cNvPr>
          <p:cNvSpPr txBox="1"/>
          <p:nvPr/>
        </p:nvSpPr>
        <p:spPr>
          <a:xfrm>
            <a:off x="5162036" y="3772567"/>
            <a:ext cx="4543493" cy="8697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63830" indent="-163830" defTabSz="844083" fontAlgn="base">
              <a:lnSpc>
                <a:spcPct val="11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[COT]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조건조정 자동보정 개발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/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적용 </a:t>
            </a:r>
            <a:br>
              <a:rPr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-.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초기조건조정</a:t>
            </a:r>
            <a:r>
              <a:rPr kumimoji="1" lang="en-US" altLang="ko-KR" sz="1000" dirty="0">
                <a:latin typeface="Arial Narrow"/>
                <a:ea typeface="LG스마트체 Regular"/>
              </a:rPr>
              <a:t>,</a:t>
            </a:r>
            <a:r>
              <a:rPr kumimoji="1" lang="ko-KR" altLang="en-US" sz="1000" dirty="0">
                <a:latin typeface="Arial Narrow"/>
                <a:ea typeface="LG스마트체 Regular"/>
              </a:rPr>
              <a:t> 재조건조정</a:t>
            </a:r>
            <a:br>
              <a:rPr kumimoji="1" lang="en-US" altLang="ko-KR" sz="1000" dirty="0">
                <a:latin typeface="Arial Narrow"/>
                <a:ea typeface="LG스마트체 Regular"/>
              </a:rPr>
            </a:br>
            <a:r>
              <a:rPr kumimoji="1" lang="en-US" altLang="ko-KR" sz="1000" dirty="0">
                <a:latin typeface="Arial Narrow"/>
                <a:ea typeface="LG스마트체 Regular"/>
              </a:rPr>
              <a:t>   •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초기조건조정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: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연속코팅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 중 추가 </a:t>
            </a:r>
            <a:r>
              <a:rPr kumimoji="1" lang="en-US" altLang="ko-KR" sz="1000" dirty="0" err="1">
                <a:latin typeface="Arial Narrow"/>
                <a:ea typeface="LG스마트체 Regular"/>
              </a:rPr>
              <a:t>기능</a:t>
            </a:r>
            <a:r>
              <a:rPr kumimoji="1" lang="en-US" altLang="ko-KR" sz="1000" dirty="0">
                <a:latin typeface="Arial Narrow"/>
                <a:ea typeface="LG스마트체 Regular"/>
              </a:rPr>
              <a:t> </a:t>
            </a:r>
            <a:r>
              <a:rPr kumimoji="1" lang="en-US" altLang="ko-KR" sz="1000" dirty="0" err="1">
                <a:latin typeface="Arial Narrow"/>
                <a:ea typeface="LG스마트체 Regular"/>
              </a:rPr>
              <a:t>검증</a:t>
            </a:r>
            <a:r>
              <a:rPr kumimoji="1" lang="en-US" altLang="ko-KR" sz="1000" dirty="0">
                <a:latin typeface="Arial Narrow"/>
                <a:ea typeface="LG스마트체 Regular"/>
              </a:rPr>
              <a:t> </a:t>
            </a:r>
            <a:r>
              <a:rPr kumimoji="1" lang="en-US" altLang="ko-KR" sz="1000" dirty="0" err="1">
                <a:latin typeface="Arial Narrow"/>
                <a:ea typeface="LG스마트체 Regular"/>
              </a:rPr>
              <a:t>테스트</a:t>
            </a:r>
            <a:r>
              <a:rPr kumimoji="1" lang="en-US" altLang="ko-KR" sz="1000" dirty="0">
                <a:latin typeface="Arial Narrow"/>
                <a:ea typeface="LG스마트체 Regular"/>
              </a:rPr>
              <a:t> (5</a:t>
            </a:r>
            <a:r>
              <a:rPr kumimoji="1" lang="ko-KR" altLang="en-US" sz="1000" dirty="0">
                <a:latin typeface="Arial Narrow"/>
                <a:ea typeface="LG스마트체 Regular"/>
              </a:rPr>
              <a:t>차 </a:t>
            </a:r>
            <a:r>
              <a:rPr kumimoji="1" lang="en-US" altLang="ko-KR" sz="1000" dirty="0">
                <a:latin typeface="Arial Narrow"/>
                <a:ea typeface="LG스마트체 Regular"/>
              </a:rPr>
              <a:t>9/6)</a:t>
            </a:r>
            <a:b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/>
                <a:ea typeface="LG스마트체 Regular"/>
              </a:rPr>
              <a:t>   •    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재조건조정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: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기</a:t>
            </a:r>
            <a:r>
              <a:rPr lang="ko-KR" altLang="en-US" sz="1000" dirty="0">
                <a:latin typeface="Arial Narrow"/>
                <a:ea typeface="LG스마트체 Regular"/>
              </a:rPr>
              <a:t>능 검증 테스트 (</a:t>
            </a:r>
            <a:r>
              <a:rPr lang="en-US" altLang="ko-KR" sz="1000" dirty="0">
                <a:latin typeface="Arial Narrow"/>
                <a:ea typeface="LG스마트체 Regular"/>
              </a:rPr>
              <a:t>1</a:t>
            </a:r>
            <a:r>
              <a:rPr lang="ko-KR" altLang="en-US" sz="1000" dirty="0">
                <a:latin typeface="Arial Narrow"/>
                <a:ea typeface="LG스마트체 Regular"/>
              </a:rPr>
              <a:t>차 </a:t>
            </a:r>
            <a:r>
              <a:rPr lang="ko-KR" altLang="en-US" sz="1000" strike="sngStrike" dirty="0">
                <a:latin typeface="Arial Narrow"/>
                <a:ea typeface="LG스마트체 Regular"/>
              </a:rPr>
              <a:t>8/25 </a:t>
            </a:r>
            <a:r>
              <a:rPr lang="en-US" altLang="ko-KR" sz="1000" strike="sngStrike" dirty="0">
                <a:latin typeface="Arial Narrow"/>
                <a:ea typeface="LG스마트체 Regular"/>
              </a:rPr>
              <a:t>~ 8/28</a:t>
            </a:r>
            <a:r>
              <a:rPr lang="en-US" altLang="ko-KR" sz="1000" dirty="0">
                <a:latin typeface="Arial Narrow"/>
                <a:ea typeface="LG스마트체 Regular"/>
              </a:rPr>
              <a:t> </a:t>
            </a:r>
            <a:r>
              <a:rPr lang="en-US" altLang="ko-KR" sz="1000" dirty="0">
                <a:latin typeface="Arial Narrow"/>
                <a:ea typeface="LG스마트체 Regular"/>
                <a:sym typeface="Wingdings" panose="05000000000000000000" pitchFamily="2" charset="2"/>
              </a:rPr>
              <a:t> 9/6</a:t>
            </a:r>
            <a:r>
              <a:rPr lang="ko-KR" altLang="en-US" sz="1000" dirty="0">
                <a:latin typeface="Arial Narrow"/>
                <a:ea typeface="LG스마트체 Regular"/>
              </a:rPr>
              <a:t>)</a:t>
            </a:r>
            <a:br>
              <a:rPr kumimoji="1" lang="en-US" altLang="ko-KR" sz="1000" dirty="0">
                <a:latin typeface="Arial Narrow"/>
                <a:ea typeface="LG스마트체 Regular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-.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유량기반 상하층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RPM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자동보정</a:t>
            </a:r>
            <a:r>
              <a:rPr kumimoji="1" lang="ko-KR" altLang="en-US" sz="1000">
                <a:latin typeface="Arial Narrow"/>
                <a:ea typeface="LG스마트체 Regular"/>
              </a:rPr>
              <a:t> </a:t>
            </a:r>
            <a:r>
              <a:rPr kumimoji="1" lang="en-US" altLang="ko-KR" sz="1000">
                <a:latin typeface="Arial Narrow"/>
                <a:ea typeface="LG스마트체 Regular"/>
              </a:rPr>
              <a:t>: </a:t>
            </a:r>
            <a:r>
              <a:rPr kumimoji="1" lang="ko-KR" altLang="en-US" sz="1000">
                <a:latin typeface="Arial Narrow"/>
                <a:ea typeface="LG스마트체 Regular"/>
              </a:rPr>
              <a:t>양산 적용 결과 바탕으로 효과 산출 방안 수립 </a:t>
            </a:r>
            <a:r>
              <a:rPr kumimoji="1" lang="en-US" altLang="ko-KR" sz="1000">
                <a:latin typeface="Arial Narrow"/>
                <a:ea typeface="LG스마트체 Regular"/>
              </a:rPr>
              <a:t>(8/24~)</a:t>
            </a:r>
            <a:endParaRPr kumimoji="1" lang="en-US" altLang="ko-KR" sz="1000" dirty="0">
              <a:latin typeface="Arial Narrow"/>
              <a:ea typeface="LG스마트체 Regula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6909F-5555-F078-66A0-AAA84E905B86}"/>
              </a:ext>
            </a:extLst>
          </p:cNvPr>
          <p:cNvSpPr txBox="1"/>
          <p:nvPr/>
        </p:nvSpPr>
        <p:spPr>
          <a:xfrm>
            <a:off x="816731" y="5256292"/>
            <a:ext cx="4136269" cy="3449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63830" indent="-163830" defTabSz="844083" fontAlgn="base">
              <a:lnSpc>
                <a:spcPct val="11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[COT]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유량 기반 상하층 </a:t>
            </a:r>
            <a:r>
              <a:rPr kumimoji="1" lang="en-US" altLang="ko-KR" sz="1100" b="1" dirty="0">
                <a:latin typeface="Arial Narrow"/>
                <a:ea typeface="LG스마트체 Regular"/>
              </a:rPr>
              <a:t>RPM  </a:t>
            </a:r>
            <a:r>
              <a:rPr kumimoji="1" lang="ko-KR" altLang="en-US" sz="1100" b="1" dirty="0">
                <a:latin typeface="Arial Narrow"/>
                <a:ea typeface="LG스마트체 Regular"/>
              </a:rPr>
              <a:t>자동보정</a:t>
            </a:r>
            <a:br>
              <a:rPr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-.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양산 적용 검증</a:t>
            </a:r>
            <a:r>
              <a:rPr kumimoji="1" lang="en-US" altLang="ko-KR" sz="1000" dirty="0">
                <a:latin typeface="Arial Narrow"/>
                <a:ea typeface="LG스마트체 Regular"/>
              </a:rPr>
              <a:t>(NFF 8/3~8/22)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후</a:t>
            </a:r>
            <a:r>
              <a:rPr kumimoji="1" lang="en-US" altLang="ko-KR" sz="1000" dirty="0">
                <a:latin typeface="Arial Narrow"/>
                <a:ea typeface="LG스마트체 Regular"/>
              </a:rPr>
              <a:t>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방향성 협의 </a:t>
            </a:r>
            <a:r>
              <a:rPr kumimoji="1" lang="en-US" altLang="ko-KR" sz="1000" dirty="0">
                <a:latin typeface="Arial Narrow"/>
                <a:ea typeface="LG스마트체 Regular"/>
              </a:rPr>
              <a:t>(w.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공정기술팀</a:t>
            </a:r>
            <a:r>
              <a:rPr kumimoji="1" lang="en-US" altLang="ko-KR" sz="1000" dirty="0">
                <a:latin typeface="Arial Narrow"/>
                <a:ea typeface="LG스마트체 Regular"/>
              </a:rPr>
              <a:t>,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생산기술팀</a:t>
            </a:r>
            <a:r>
              <a:rPr kumimoji="1" lang="en-US" altLang="ko-KR" sz="1000" dirty="0">
                <a:latin typeface="Arial Narrow"/>
                <a:ea typeface="LG스마트체 Regular"/>
              </a:rPr>
              <a:t>)</a:t>
            </a:r>
            <a:endParaRPr lang="ko-KR" altLang="en-US" sz="1000" dirty="0">
              <a:latin typeface="Arial Narrow"/>
              <a:ea typeface="LG스마트체 Regula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22223-19DA-A512-95F3-15A46F464CD6}"/>
              </a:ext>
            </a:extLst>
          </p:cNvPr>
          <p:cNvSpPr txBox="1"/>
          <p:nvPr/>
        </p:nvSpPr>
        <p:spPr>
          <a:xfrm>
            <a:off x="816727" y="4703154"/>
            <a:ext cx="3981510" cy="5934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63830" indent="-163830" defTabSz="844083" fontAlgn="base">
              <a:lnSpc>
                <a:spcPct val="11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[COT]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조건 조정 자동보정 </a:t>
            </a:r>
            <a:r>
              <a:rPr kumimoji="1" lang="ko-KR" altLang="en-US" sz="1100" b="1" dirty="0">
                <a:latin typeface="Arial Narrow"/>
                <a:ea typeface="LG스마트체 Regular"/>
              </a:rPr>
              <a:t>개발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 </a:t>
            </a:r>
            <a:r>
              <a:rPr kumimoji="1" lang="ko-KR" altLang="en-US" sz="1100" b="1" dirty="0">
                <a:latin typeface="Arial Narrow"/>
                <a:ea typeface="LG스마트체 Regular"/>
              </a:rPr>
              <a:t>진척사항 </a:t>
            </a:r>
            <a:r>
              <a:rPr kumimoji="1" lang="en-US" altLang="ko-KR" sz="1100" dirty="0">
                <a:latin typeface="Arial Narrow"/>
                <a:ea typeface="LG스마트체 Regular"/>
              </a:rPr>
              <a:t>(N32S)</a:t>
            </a:r>
            <a:r>
              <a:rPr kumimoji="1" lang="ko-KR" altLang="en-US" sz="1100" b="1" dirty="0">
                <a:latin typeface="Arial Narrow"/>
                <a:ea typeface="LG스마트체 Regular"/>
              </a:rPr>
              <a:t> </a:t>
            </a:r>
            <a:br>
              <a:rPr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-. </a:t>
            </a:r>
            <a:r>
              <a:rPr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초기조건조정 </a:t>
            </a:r>
            <a:r>
              <a:rPr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완료 및 </a:t>
            </a:r>
            <a:r>
              <a:rPr lang="ko-KR" altLang="en-US" sz="1000" dirty="0">
                <a:latin typeface="Arial Narrow"/>
                <a:ea typeface="LG스마트체 Regular"/>
              </a:rPr>
              <a:t>기능 검증 테스트 총 </a:t>
            </a:r>
            <a:r>
              <a:rPr lang="en-US" altLang="ko-KR" sz="1000" dirty="0">
                <a:latin typeface="Arial Narrow"/>
                <a:ea typeface="LG스마트체 Regular"/>
              </a:rPr>
              <a:t>4</a:t>
            </a:r>
            <a:r>
              <a:rPr lang="ko-KR" altLang="en-US" sz="1000" dirty="0">
                <a:latin typeface="Arial Narrow"/>
                <a:ea typeface="LG스마트체 Regular"/>
              </a:rPr>
              <a:t>회 진행</a:t>
            </a:r>
            <a:r>
              <a:rPr lang="en-US" altLang="ko-KR" sz="1000" dirty="0">
                <a:latin typeface="Arial Narrow"/>
                <a:ea typeface="LG스마트체 Regular"/>
              </a:rPr>
              <a:t>(8/12, 17, 25, 9/1)</a:t>
            </a:r>
            <a:br>
              <a:rPr lang="en-US" altLang="ko-KR" sz="1000" dirty="0">
                <a:latin typeface="Arial Narrow"/>
                <a:ea typeface="LG스마트체 Regular"/>
              </a:rPr>
            </a:br>
            <a:r>
              <a:rPr lang="en-US" altLang="ko-KR" sz="1000" dirty="0">
                <a:latin typeface="Arial Narrow"/>
                <a:ea typeface="LG스마트체 Regular"/>
              </a:rPr>
              <a:t>-.     </a:t>
            </a:r>
            <a:r>
              <a:rPr lang="ko-KR" altLang="en-US" sz="1000" dirty="0">
                <a:latin typeface="Arial Narrow"/>
                <a:ea typeface="LG스마트체 Regular"/>
              </a:rPr>
              <a:t>재조건조정 </a:t>
            </a:r>
            <a:r>
              <a:rPr lang="en-US" altLang="ko-KR" sz="1000" dirty="0">
                <a:latin typeface="Arial Narrow"/>
                <a:ea typeface="LG스마트체 Regular"/>
              </a:rPr>
              <a:t>: </a:t>
            </a:r>
            <a:r>
              <a:rPr lang="ko-KR" altLang="en-US" sz="1000" dirty="0">
                <a:latin typeface="Arial Narrow"/>
                <a:ea typeface="LG스마트체 Regular"/>
              </a:rPr>
              <a:t>개발 완료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644014C-9E59-DF1B-8D57-98C9AB6D9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989230"/>
              </p:ext>
            </p:extLst>
          </p:nvPr>
        </p:nvGraphicFramePr>
        <p:xfrm>
          <a:off x="5434367" y="5916331"/>
          <a:ext cx="3055115" cy="68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4045583793"/>
                    </a:ext>
                  </a:extLst>
                </a:gridCol>
                <a:gridCol w="410617">
                  <a:extLst>
                    <a:ext uri="{9D8B030D-6E8A-4147-A177-3AD203B41FA5}">
                      <a16:colId xmlns:a16="http://schemas.microsoft.com/office/drawing/2014/main" val="2259534628"/>
                    </a:ext>
                  </a:extLst>
                </a:gridCol>
                <a:gridCol w="410617">
                  <a:extLst>
                    <a:ext uri="{9D8B030D-6E8A-4147-A177-3AD203B41FA5}">
                      <a16:colId xmlns:a16="http://schemas.microsoft.com/office/drawing/2014/main" val="448457539"/>
                    </a:ext>
                  </a:extLst>
                </a:gridCol>
                <a:gridCol w="410617">
                  <a:extLst>
                    <a:ext uri="{9D8B030D-6E8A-4147-A177-3AD203B41FA5}">
                      <a16:colId xmlns:a16="http://schemas.microsoft.com/office/drawing/2014/main" val="727692134"/>
                    </a:ext>
                  </a:extLst>
                </a:gridCol>
                <a:gridCol w="410617">
                  <a:extLst>
                    <a:ext uri="{9D8B030D-6E8A-4147-A177-3AD203B41FA5}">
                      <a16:colId xmlns:a16="http://schemas.microsoft.com/office/drawing/2014/main" val="178588404"/>
                    </a:ext>
                  </a:extLst>
                </a:gridCol>
                <a:gridCol w="410617">
                  <a:extLst>
                    <a:ext uri="{9D8B030D-6E8A-4147-A177-3AD203B41FA5}">
                      <a16:colId xmlns:a16="http://schemas.microsoft.com/office/drawing/2014/main" val="703180445"/>
                    </a:ext>
                  </a:extLst>
                </a:gridCol>
              </a:tblGrid>
              <a:tr h="1857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NFF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308206"/>
                  </a:ext>
                </a:extLst>
              </a:tr>
              <a:tr h="1857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생산속도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[m/min]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80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301040"/>
                  </a:ext>
                </a:extLst>
              </a:tr>
              <a:tr h="1857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저장탱크 온도 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900" dirty="0"/>
                        <a:t>℃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32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</a:t>
                      </a:r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7476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55E95C-58F5-5CCF-E6BF-7F08C4AAAC6C}"/>
              </a:ext>
            </a:extLst>
          </p:cNvPr>
          <p:cNvSpPr txBox="1"/>
          <p:nvPr/>
        </p:nvSpPr>
        <p:spPr>
          <a:xfrm>
            <a:off x="807577" y="6548094"/>
            <a:ext cx="4189723" cy="172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63830" indent="-163830" defTabSz="844083" fontAlgn="base">
              <a:lnSpc>
                <a:spcPct val="11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[</a:t>
            </a:r>
            <a:r>
              <a:rPr kumimoji="1" lang="en-US" altLang="ko-KR" sz="1100" b="1" dirty="0">
                <a:latin typeface="Arial Narrow"/>
                <a:ea typeface="LG스마트체 Regular"/>
              </a:rPr>
              <a:t>R/P, SLT]</a:t>
            </a:r>
            <a:r>
              <a:rPr kumimoji="1" lang="ko-KR" altLang="en-US" sz="1000" b="1" dirty="0">
                <a:latin typeface="Arial Narrow"/>
                <a:ea typeface="LG스마트체 Regular"/>
              </a:rPr>
              <a:t> </a:t>
            </a:r>
            <a:r>
              <a:rPr kumimoji="1" lang="ko-KR" altLang="en-US" sz="1000" b="1" dirty="0" err="1">
                <a:latin typeface="Arial Narrow"/>
                <a:ea typeface="LG스마트체 Regular"/>
              </a:rPr>
              <a:t>수율</a:t>
            </a:r>
            <a:r>
              <a:rPr kumimoji="1" lang="ko-KR" altLang="en-US" sz="1000" b="1" dirty="0">
                <a:latin typeface="Arial Narrow"/>
                <a:ea typeface="LG스마트체 Regular"/>
              </a:rPr>
              <a:t> 저하 원인 분석</a:t>
            </a:r>
            <a:endParaRPr kumimoji="1" lang="en-US" altLang="ko-KR" sz="1100" b="1" dirty="0">
              <a:latin typeface="Arial Narrow"/>
              <a:ea typeface="LG스마트체 Regular"/>
            </a:endParaRPr>
          </a:p>
        </p:txBody>
      </p:sp>
      <p:sp>
        <p:nvSpPr>
          <p:cNvPr id="5" name="실행 단추: 앞으로 또는 다음으로 이동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2E65EDF-B7EA-4E83-B9BE-12479C3293E9}"/>
              </a:ext>
            </a:extLst>
          </p:cNvPr>
          <p:cNvSpPr/>
          <p:nvPr/>
        </p:nvSpPr>
        <p:spPr>
          <a:xfrm>
            <a:off x="2589780" y="6575944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53D2E3E-AB5A-5848-5FBC-6111DF1CB2CA}"/>
              </a:ext>
            </a:extLst>
          </p:cNvPr>
          <p:cNvCxnSpPr>
            <a:cxnSpLocks/>
          </p:cNvCxnSpPr>
          <p:nvPr/>
        </p:nvCxnSpPr>
        <p:spPr>
          <a:xfrm>
            <a:off x="6650927" y="2726453"/>
            <a:ext cx="76676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2B2A3D-3CF2-0463-A4EE-278DED6A9B94}"/>
              </a:ext>
            </a:extLst>
          </p:cNvPr>
          <p:cNvSpPr txBox="1"/>
          <p:nvPr/>
        </p:nvSpPr>
        <p:spPr>
          <a:xfrm>
            <a:off x="3197972" y="5070933"/>
            <a:ext cx="18197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회자 까지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구간검증방식으로 진행 하였고</a:t>
            </a:r>
            <a:b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</a:t>
            </a: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회차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연속제어방식 적용하여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Feasibility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검증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DE097C-584E-1936-1E64-B12AD2F3E194}"/>
              </a:ext>
            </a:extLst>
          </p:cNvPr>
          <p:cNvSpPr txBox="1"/>
          <p:nvPr/>
        </p:nvSpPr>
        <p:spPr>
          <a:xfrm>
            <a:off x="7491666" y="3815545"/>
            <a:ext cx="235845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-5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회차에서 연속 제어를 통한 초기조건 조정 테스트 예정</a:t>
            </a:r>
            <a:endParaRPr lang="en-US" altLang="ko-KR" sz="700" b="1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제어로만 조건 조정이 불가능한 케이스 존재</a:t>
            </a: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(Shim 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재설정 등</a:t>
            </a: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실행 단추: 앞으로 또는 다음으로 이동 1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873D939-EAA0-6CB7-B7A6-AE440CE7213A}"/>
              </a:ext>
            </a:extLst>
          </p:cNvPr>
          <p:cNvSpPr/>
          <p:nvPr/>
        </p:nvSpPr>
        <p:spPr>
          <a:xfrm>
            <a:off x="2984984" y="5851772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116F3E1-2925-7549-D4B8-7AE6062B1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621179"/>
              </p:ext>
            </p:extLst>
          </p:nvPr>
        </p:nvGraphicFramePr>
        <p:xfrm>
          <a:off x="2202569" y="3837461"/>
          <a:ext cx="2694810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905">
                  <a:extLst>
                    <a:ext uri="{9D8B030D-6E8A-4147-A177-3AD203B41FA5}">
                      <a16:colId xmlns:a16="http://schemas.microsoft.com/office/drawing/2014/main" val="472143605"/>
                    </a:ext>
                  </a:extLst>
                </a:gridCol>
                <a:gridCol w="391665">
                  <a:extLst>
                    <a:ext uri="{9D8B030D-6E8A-4147-A177-3AD203B41FA5}">
                      <a16:colId xmlns:a16="http://schemas.microsoft.com/office/drawing/2014/main" val="556496577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3755302650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1112044825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4223481431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2206281343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1336988769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500189520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3081366723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2305807014"/>
                    </a:ext>
                  </a:extLst>
                </a:gridCol>
              </a:tblGrid>
              <a:tr h="118684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수동보정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횟수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증감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(%)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831346"/>
                  </a:ext>
                </a:extLst>
              </a:tr>
              <a:tr h="1186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78633"/>
                  </a:ext>
                </a:extLst>
              </a:tr>
              <a:tr h="1186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COT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</a:rPr>
                        <a:t>2466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2199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1536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1608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2433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1286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+897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-322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066872"/>
                  </a:ext>
                </a:extLst>
              </a:tr>
              <a:tr h="1186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11.06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5.03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7.84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728294"/>
                  </a:ext>
                </a:extLst>
              </a:tr>
              <a:tr h="10356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MIX/COT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927615"/>
                  </a:ext>
                </a:extLst>
              </a:tr>
              <a:tr h="118684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SLT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0.307 (5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74309"/>
                  </a:ext>
                </a:extLst>
              </a:tr>
              <a:tr h="118684">
                <a:tc>
                  <a:txBody>
                    <a:bodyPr/>
                    <a:lstStyle/>
                    <a:p>
                      <a:pPr algn="ctr" latinLnBrk="1"/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786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F9B23F2-9B83-3C83-B228-230A7983D530}"/>
              </a:ext>
            </a:extLst>
          </p:cNvPr>
          <p:cNvSpPr txBox="1"/>
          <p:nvPr/>
        </p:nvSpPr>
        <p:spPr>
          <a:xfrm>
            <a:off x="2882974" y="3708524"/>
            <a:ext cx="10215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r"/>
            <a:r>
              <a:rPr lang="en-US" altLang="ko-KR" dirty="0"/>
              <a:t>MIX/COT(</a:t>
            </a:r>
            <a:r>
              <a:rPr lang="ko-KR" altLang="en-US" dirty="0"/>
              <a:t>온도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EBAEC3C-4037-50CF-82B6-966165165347}"/>
              </a:ext>
            </a:extLst>
          </p:cNvPr>
          <p:cNvCxnSpPr>
            <a:cxnSpLocks/>
          </p:cNvCxnSpPr>
          <p:nvPr/>
        </p:nvCxnSpPr>
        <p:spPr>
          <a:xfrm>
            <a:off x="6650927" y="2894329"/>
            <a:ext cx="76676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173EBE1E-DD0D-65DD-0B20-D6A89162E126}"/>
              </a:ext>
            </a:extLst>
          </p:cNvPr>
          <p:cNvSpPr/>
          <p:nvPr/>
        </p:nvSpPr>
        <p:spPr>
          <a:xfrm>
            <a:off x="7363364" y="267951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EF2EA32-8C0E-4221-4BD2-60659DBFBE8C}"/>
              </a:ext>
            </a:extLst>
          </p:cNvPr>
          <p:cNvSpPr/>
          <p:nvPr/>
        </p:nvSpPr>
        <p:spPr>
          <a:xfrm>
            <a:off x="7359978" y="285560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795B8C-F964-335B-4B3B-DF5B9B1EE132}"/>
              </a:ext>
            </a:extLst>
          </p:cNvPr>
          <p:cNvSpPr txBox="1"/>
          <p:nvPr/>
        </p:nvSpPr>
        <p:spPr>
          <a:xfrm>
            <a:off x="973053" y="5616332"/>
            <a:ext cx="39799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상하층 동일 비율 유량이 품질에 중요하다는 의견</a:t>
            </a: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품질영향도 검토 후 선행개발팀 공급보정 과제 만</a:t>
            </a:r>
            <a:b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추진 여부 결정 예정 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CD4542-FCE2-FBBC-B680-33B2CADA0984}"/>
              </a:ext>
            </a:extLst>
          </p:cNvPr>
          <p:cNvSpPr txBox="1"/>
          <p:nvPr/>
        </p:nvSpPr>
        <p:spPr>
          <a:xfrm>
            <a:off x="5185508" y="4685282"/>
            <a:ext cx="4553248" cy="3449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63830" indent="-163830" defTabSz="844083" fontAlgn="base">
              <a:lnSpc>
                <a:spcPct val="11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[COT]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유량 기반 상하층 </a:t>
            </a:r>
            <a:r>
              <a:rPr kumimoji="1" lang="en-US" altLang="ko-KR" sz="1100" b="1" dirty="0">
                <a:latin typeface="Arial Narrow"/>
                <a:ea typeface="LG스마트체 Regular"/>
              </a:rPr>
              <a:t>RPM  </a:t>
            </a:r>
            <a:r>
              <a:rPr kumimoji="1" lang="ko-KR" altLang="en-US" sz="1100" b="1" dirty="0">
                <a:latin typeface="Arial Narrow"/>
                <a:ea typeface="LG스마트체 Regular"/>
              </a:rPr>
              <a:t>자동보정</a:t>
            </a:r>
            <a:br>
              <a:rPr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-.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상하층 유량 비율에 따른 품질</a:t>
            </a:r>
            <a:r>
              <a:rPr kumimoji="1" lang="en-US" altLang="ko-KR" sz="1000" dirty="0">
                <a:latin typeface="Arial Narrow"/>
                <a:ea typeface="LG스마트체 Regular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영향도 분석</a:t>
            </a:r>
            <a:r>
              <a:rPr kumimoji="1" lang="en-US" altLang="ko-KR" sz="1000" dirty="0">
                <a:latin typeface="Arial Narrow"/>
                <a:ea typeface="LG스마트체 Regular"/>
              </a:rPr>
              <a:t>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후 과제 추진 여부 결정 </a:t>
            </a:r>
            <a:r>
              <a:rPr kumimoji="1" lang="en-US" altLang="ko-KR" sz="1000" dirty="0">
                <a:latin typeface="Arial Narrow"/>
                <a:ea typeface="LG스마트체 Regular"/>
              </a:rPr>
              <a:t>(~09/18)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 </a:t>
            </a:r>
            <a:endParaRPr lang="ko-KR" altLang="en-US" sz="1000" dirty="0">
              <a:latin typeface="Arial Narrow"/>
              <a:ea typeface="LG스마트체 Regula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E80925-578F-1A38-0E87-AF52772C4E70}"/>
              </a:ext>
            </a:extLst>
          </p:cNvPr>
          <p:cNvSpPr txBox="1"/>
          <p:nvPr/>
        </p:nvSpPr>
        <p:spPr>
          <a:xfrm>
            <a:off x="6685279" y="5024891"/>
            <a:ext cx="74610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접착력</a:t>
            </a: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로딩두께</a:t>
            </a:r>
            <a:r>
              <a:rPr lang="en-US" altLang="ko-KR" sz="7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5F44E6B-3C3A-F964-F243-0CCC8C3DA778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2E1D80B-F10A-50E7-60AA-3CD8028EF4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D862F9A-80A0-2EFB-7F3F-B4C586ED151F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09D5C901-2A54-3C08-1EFF-DD71395C95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8A09B7-BC58-0F6D-819A-A9DF67F7B783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AEF844F-4A07-A93E-1847-0DD22F90B8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9C2403B-91FE-7CE4-F73A-BE3854E63013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35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3">
            <a:extLst>
              <a:ext uri="{FF2B5EF4-FFF2-40B4-BE49-F238E27FC236}">
                <a16:creationId xmlns:a16="http://schemas.microsoft.com/office/drawing/2014/main" id="{3E5C13C2-1941-187B-E43A-96C8BD92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8" y="116449"/>
            <a:ext cx="2442168" cy="369332"/>
          </a:xfrm>
        </p:spPr>
        <p:txBody>
          <a:bodyPr wrap="square">
            <a:spAutoFit/>
          </a:bodyPr>
          <a:lstStyle/>
          <a:p>
            <a:pPr algn="l"/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KPI 08</a:t>
            </a:r>
            <a:r>
              <a:rPr lang="ko-KR" altLang="en-US" dirty="0"/>
              <a:t>월 진척 사항</a:t>
            </a:r>
            <a:r>
              <a:rPr lang="en-US" altLang="ko-KR" dirty="0"/>
              <a:t>(5/9)</a:t>
            </a:r>
            <a:endParaRPr lang="ko-KR" altLang="en-US" dirty="0"/>
          </a:p>
        </p:txBody>
      </p:sp>
      <p:sp>
        <p:nvSpPr>
          <p:cNvPr id="2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3A6B86D-B330-447C-323D-96BBB6A1B198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37CF9EF-AC3C-EF04-6D10-BA989106973B}"/>
              </a:ext>
            </a:extLst>
          </p:cNvPr>
          <p:cNvGrpSpPr/>
          <p:nvPr/>
        </p:nvGrpSpPr>
        <p:grpSpPr>
          <a:xfrm>
            <a:off x="836603" y="3782272"/>
            <a:ext cx="4008771" cy="341334"/>
            <a:chOff x="961536" y="4488828"/>
            <a:chExt cx="4008771" cy="341334"/>
          </a:xfrm>
        </p:grpSpPr>
        <p:sp>
          <p:nvSpPr>
            <p:cNvPr id="15" name="제목 9">
              <a:extLst>
                <a:ext uri="{FF2B5EF4-FFF2-40B4-BE49-F238E27FC236}">
                  <a16:creationId xmlns:a16="http://schemas.microsoft.com/office/drawing/2014/main" id="{13E80C3B-421B-6505-FFC0-D8EB5123F649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16" name="직선 연결선 2">
              <a:extLst>
                <a:ext uri="{FF2B5EF4-FFF2-40B4-BE49-F238E27FC236}">
                  <a16:creationId xmlns:a16="http://schemas.microsoft.com/office/drawing/2014/main" id="{FED5C320-5CF8-4661-D5DE-8C0FC0C761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3E164D3-87F5-DDFD-AC75-F0AB1AD293C4}"/>
              </a:ext>
            </a:extLst>
          </p:cNvPr>
          <p:cNvGrpSpPr/>
          <p:nvPr/>
        </p:nvGrpSpPr>
        <p:grpSpPr>
          <a:xfrm>
            <a:off x="5093273" y="3789978"/>
            <a:ext cx="4553251" cy="333628"/>
            <a:chOff x="5152724" y="4496534"/>
            <a:chExt cx="4221222" cy="333628"/>
          </a:xfrm>
        </p:grpSpPr>
        <p:sp>
          <p:nvSpPr>
            <p:cNvPr id="23" name="제목 9">
              <a:extLst>
                <a:ext uri="{FF2B5EF4-FFF2-40B4-BE49-F238E27FC236}">
                  <a16:creationId xmlns:a16="http://schemas.microsoft.com/office/drawing/2014/main" id="{6607DB18-A5BE-97F5-9C4F-295897DEB873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24" name="직선 연결선 2">
              <a:extLst>
                <a:ext uri="{FF2B5EF4-FFF2-40B4-BE49-F238E27FC236}">
                  <a16:creationId xmlns:a16="http://schemas.microsoft.com/office/drawing/2014/main" id="{23145D5B-96BB-7854-E933-F5A129D6E7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" name="Rectangle 4">
            <a:extLst>
              <a:ext uri="{FF2B5EF4-FFF2-40B4-BE49-F238E27FC236}">
                <a16:creationId xmlns:a16="http://schemas.microsoft.com/office/drawing/2014/main" id="{6BFD661F-FF5E-99D9-86B6-D0E01F44E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7" y="3879763"/>
            <a:ext cx="448035" cy="2891132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2C4D32B-FB3A-71A5-E937-2D6A01E7AB99}"/>
              </a:ext>
            </a:extLst>
          </p:cNvPr>
          <p:cNvCxnSpPr>
            <a:cxnSpLocks/>
          </p:cNvCxnSpPr>
          <p:nvPr/>
        </p:nvCxnSpPr>
        <p:spPr>
          <a:xfrm flipV="1">
            <a:off x="4970405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0B1EE5B5-A9AF-88C9-C4FB-FD59972F3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648825"/>
              </p:ext>
            </p:extLst>
          </p:nvPr>
        </p:nvGraphicFramePr>
        <p:xfrm>
          <a:off x="735049" y="770223"/>
          <a:ext cx="8862107" cy="863275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09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공정 자동보정 </a:t>
                      </a:r>
                      <a:r>
                        <a:rPr lang="en-US" altLang="ko-KR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Coverage </a:t>
                      </a: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확대를 통한  </a:t>
                      </a:r>
                      <a:endParaRPr lang="en-US" altLang="ko-KR" sz="10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Q: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누적 셀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97.7%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※ 3Q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목표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누적 셀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97.5%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타원 33">
            <a:extLst>
              <a:ext uri="{FF2B5EF4-FFF2-40B4-BE49-F238E27FC236}">
                <a16:creationId xmlns:a16="http://schemas.microsoft.com/office/drawing/2014/main" id="{89893E58-56E5-B1B0-C123-22EDB70CC73C}"/>
              </a:ext>
            </a:extLst>
          </p:cNvPr>
          <p:cNvSpPr>
            <a:spLocks noChangeAspect="1"/>
          </p:cNvSpPr>
          <p:nvPr/>
        </p:nvSpPr>
        <p:spPr>
          <a:xfrm>
            <a:off x="9129194" y="1229956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Rectangle 4">
            <a:extLst>
              <a:ext uri="{FF2B5EF4-FFF2-40B4-BE49-F238E27FC236}">
                <a16:creationId xmlns:a16="http://schemas.microsoft.com/office/drawing/2014/main" id="{A709F5C7-2E88-392F-353E-96C5E3F06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7" y="768350"/>
            <a:ext cx="448035" cy="8604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Rectangle 4">
            <a:extLst>
              <a:ext uri="{FF2B5EF4-FFF2-40B4-BE49-F238E27FC236}">
                <a16:creationId xmlns:a16="http://schemas.microsoft.com/office/drawing/2014/main" id="{B4CBD2FB-B435-9C08-FD7E-F98D01A5A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8" y="1700808"/>
            <a:ext cx="448035" cy="2106922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B4F97A3F-F88D-4440-0717-FFD2FEB0C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04351"/>
              </p:ext>
            </p:extLst>
          </p:nvPr>
        </p:nvGraphicFramePr>
        <p:xfrm>
          <a:off x="732070" y="1697410"/>
          <a:ext cx="8862108" cy="2110320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87992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4D83235A-49AB-7A3A-27A1-F32AA807DDBA}"/>
              </a:ext>
            </a:extLst>
          </p:cNvPr>
          <p:cNvSpPr txBox="1"/>
          <p:nvPr/>
        </p:nvSpPr>
        <p:spPr>
          <a:xfrm>
            <a:off x="737877" y="1978154"/>
            <a:ext cx="1064917" cy="170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Tab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각도 자동보정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765033-4937-F391-8438-AAFA3FD16A59}"/>
              </a:ext>
            </a:extLst>
          </p:cNvPr>
          <p:cNvSpPr txBox="1"/>
          <p:nvPr/>
        </p:nvSpPr>
        <p:spPr>
          <a:xfrm>
            <a:off x="2739450" y="3201274"/>
            <a:ext cx="1668102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Tab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꽂힘 불량 개선 과제 발굴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권취 위치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D4EF114-8A2E-E94A-12CE-E4C055F1BFF4}"/>
              </a:ext>
            </a:extLst>
          </p:cNvPr>
          <p:cNvCxnSpPr>
            <a:cxnSpLocks/>
          </p:cNvCxnSpPr>
          <p:nvPr/>
        </p:nvCxnSpPr>
        <p:spPr>
          <a:xfrm>
            <a:off x="730771" y="2240195"/>
            <a:ext cx="359754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5AAE8FE-B408-0765-47B8-BF40628F4F96}"/>
              </a:ext>
            </a:extLst>
          </p:cNvPr>
          <p:cNvCxnSpPr>
            <a:cxnSpLocks/>
          </p:cNvCxnSpPr>
          <p:nvPr/>
        </p:nvCxnSpPr>
        <p:spPr>
          <a:xfrm>
            <a:off x="2936478" y="3457801"/>
            <a:ext cx="429099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EAC4B213-C051-4C01-A55E-C1C2D661BA4C}"/>
              </a:ext>
            </a:extLst>
          </p:cNvPr>
          <p:cNvSpPr/>
          <p:nvPr/>
        </p:nvSpPr>
        <p:spPr>
          <a:xfrm>
            <a:off x="1348190" y="21617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AD19E9-8292-7354-1D4D-479D0AEF699A}"/>
              </a:ext>
            </a:extLst>
          </p:cNvPr>
          <p:cNvSpPr txBox="1"/>
          <p:nvPr/>
        </p:nvSpPr>
        <p:spPr>
          <a:xfrm>
            <a:off x="1058565" y="2278157"/>
            <a:ext cx="73634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품질항목 현수준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공정 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A0DEE2-780C-E1AB-F39C-F1E2F0E2EA42}"/>
              </a:ext>
            </a:extLst>
          </p:cNvPr>
          <p:cNvSpPr/>
          <p:nvPr/>
        </p:nvSpPr>
        <p:spPr>
          <a:xfrm>
            <a:off x="2193635" y="21617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52106A-DADA-DA32-EF87-90FAFA129D35}"/>
              </a:ext>
            </a:extLst>
          </p:cNvPr>
          <p:cNvSpPr txBox="1"/>
          <p:nvPr/>
        </p:nvSpPr>
        <p:spPr>
          <a:xfrm>
            <a:off x="1852169" y="2278157"/>
            <a:ext cx="82771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자동보정 알고리즘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구상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개발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3C16BF46-CDA5-3DE1-E2E2-495EE431432F}"/>
              </a:ext>
            </a:extLst>
          </p:cNvPr>
          <p:cNvSpPr/>
          <p:nvPr/>
        </p:nvSpPr>
        <p:spPr>
          <a:xfrm>
            <a:off x="2990116" y="21617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4DF69B-5F0B-E1E2-DDC2-7EC346A9407D}"/>
              </a:ext>
            </a:extLst>
          </p:cNvPr>
          <p:cNvSpPr txBox="1"/>
          <p:nvPr/>
        </p:nvSpPr>
        <p:spPr>
          <a:xfrm>
            <a:off x="2732239" y="2278157"/>
            <a:ext cx="644975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 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BD27CC-DFED-A9DA-8E35-52AA31C83508}"/>
              </a:ext>
            </a:extLst>
          </p:cNvPr>
          <p:cNvSpPr txBox="1"/>
          <p:nvPr/>
        </p:nvSpPr>
        <p:spPr>
          <a:xfrm>
            <a:off x="2483520" y="2891352"/>
            <a:ext cx="760392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공정 분석 및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과제 제안서 작성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2093EDA4-3BD5-B29C-AFC0-1D41E21DD1BC}"/>
              </a:ext>
            </a:extLst>
          </p:cNvPr>
          <p:cNvSpPr/>
          <p:nvPr/>
        </p:nvSpPr>
        <p:spPr>
          <a:xfrm>
            <a:off x="3656872" y="21617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91B057-B8D2-86AC-478D-3FD143944B47}"/>
              </a:ext>
            </a:extLst>
          </p:cNvPr>
          <p:cNvSpPr txBox="1"/>
          <p:nvPr/>
        </p:nvSpPr>
        <p:spPr>
          <a:xfrm>
            <a:off x="3527014" y="2278157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자동보정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안정화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A1645F-03F4-FA0B-DAB8-F5CF5FAC1665}"/>
              </a:ext>
            </a:extLst>
          </p:cNvPr>
          <p:cNvSpPr txBox="1"/>
          <p:nvPr/>
        </p:nvSpPr>
        <p:spPr>
          <a:xfrm>
            <a:off x="4099087" y="2278157"/>
            <a:ext cx="577650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 및 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효과분석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A60C17-F75E-A588-2931-EEB73B412ABC}"/>
              </a:ext>
            </a:extLst>
          </p:cNvPr>
          <p:cNvSpPr txBox="1"/>
          <p:nvPr/>
        </p:nvSpPr>
        <p:spPr>
          <a:xfrm>
            <a:off x="737877" y="2591467"/>
            <a:ext cx="1547202" cy="170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사행 보정 고도화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보정 반응성 향상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B808AEB-598B-C537-6972-CA4AD4C9E2DD}"/>
              </a:ext>
            </a:extLst>
          </p:cNvPr>
          <p:cNvCxnSpPr>
            <a:cxnSpLocks/>
          </p:cNvCxnSpPr>
          <p:nvPr/>
        </p:nvCxnSpPr>
        <p:spPr>
          <a:xfrm>
            <a:off x="730771" y="2849406"/>
            <a:ext cx="717847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660152DA-84D6-F7BB-9B94-EDDF32F1A6C1}"/>
              </a:ext>
            </a:extLst>
          </p:cNvPr>
          <p:cNvSpPr/>
          <p:nvPr/>
        </p:nvSpPr>
        <p:spPr>
          <a:xfrm>
            <a:off x="1105812" y="27709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7B1A33-ADB4-DB8F-86D9-90CE1DF67A9F}"/>
              </a:ext>
            </a:extLst>
          </p:cNvPr>
          <p:cNvSpPr txBox="1"/>
          <p:nvPr/>
        </p:nvSpPr>
        <p:spPr>
          <a:xfrm>
            <a:off x="776536" y="2887368"/>
            <a:ext cx="553605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개선안 구현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0DDD70E4-0E7F-20F0-FE7E-3CDF913EAA51}"/>
              </a:ext>
            </a:extLst>
          </p:cNvPr>
          <p:cNvSpPr/>
          <p:nvPr/>
        </p:nvSpPr>
        <p:spPr>
          <a:xfrm>
            <a:off x="1477875" y="27709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3934DA-6075-3074-A556-7D2C7894EDCF}"/>
              </a:ext>
            </a:extLst>
          </p:cNvPr>
          <p:cNvSpPr txBox="1"/>
          <p:nvPr/>
        </p:nvSpPr>
        <p:spPr>
          <a:xfrm>
            <a:off x="1332471" y="2887368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8410153B-5F2D-ECC6-7A79-4E5E19C254DE}"/>
              </a:ext>
            </a:extLst>
          </p:cNvPr>
          <p:cNvSpPr/>
          <p:nvPr/>
        </p:nvSpPr>
        <p:spPr>
          <a:xfrm>
            <a:off x="2792478" y="27848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91E35705-7C47-B4AB-51C3-9F9F3AD2FFC2}"/>
              </a:ext>
            </a:extLst>
          </p:cNvPr>
          <p:cNvSpPr/>
          <p:nvPr/>
        </p:nvSpPr>
        <p:spPr>
          <a:xfrm>
            <a:off x="1828170" y="27709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A7D614-C49B-BCF6-C6DF-9473AF8E822E}"/>
              </a:ext>
            </a:extLst>
          </p:cNvPr>
          <p:cNvSpPr txBox="1"/>
          <p:nvPr/>
        </p:nvSpPr>
        <p:spPr>
          <a:xfrm>
            <a:off x="1714959" y="2887368"/>
            <a:ext cx="553604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 및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효과분석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1C6B1E-B33D-C2EE-BAD7-749C42AECF50}"/>
              </a:ext>
            </a:extLst>
          </p:cNvPr>
          <p:cNvSpPr txBox="1"/>
          <p:nvPr/>
        </p:nvSpPr>
        <p:spPr>
          <a:xfrm>
            <a:off x="2489324" y="2591467"/>
            <a:ext cx="1458563" cy="170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 투입량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 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분리막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잔량 자동보정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791615-1235-0EB7-EEC0-83CF23B2B1F4}"/>
              </a:ext>
            </a:extLst>
          </p:cNvPr>
          <p:cNvSpPr txBox="1"/>
          <p:nvPr/>
        </p:nvSpPr>
        <p:spPr>
          <a:xfrm>
            <a:off x="7757868" y="2922903"/>
            <a:ext cx="499103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ESAZ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8C1D5467-989B-B4BF-C2EF-118E22937C03}"/>
              </a:ext>
            </a:extLst>
          </p:cNvPr>
          <p:cNvSpPr/>
          <p:nvPr/>
        </p:nvSpPr>
        <p:spPr>
          <a:xfrm>
            <a:off x="7909249" y="27848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52750FE-45EF-0928-9E32-3C35563DEBD4}"/>
              </a:ext>
            </a:extLst>
          </p:cNvPr>
          <p:cNvSpPr txBox="1"/>
          <p:nvPr/>
        </p:nvSpPr>
        <p:spPr>
          <a:xfrm>
            <a:off x="3675830" y="2891352"/>
            <a:ext cx="890235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 투입량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(S2, C2)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구현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F4EC9EB4-A6DE-C6EE-69C5-49798FC1E9C1}"/>
              </a:ext>
            </a:extLst>
          </p:cNvPr>
          <p:cNvSpPr/>
          <p:nvPr/>
        </p:nvSpPr>
        <p:spPr>
          <a:xfrm>
            <a:off x="4243912" y="27848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455357-D1D8-9206-37DC-1F03F20341D7}"/>
              </a:ext>
            </a:extLst>
          </p:cNvPr>
          <p:cNvSpPr txBox="1"/>
          <p:nvPr/>
        </p:nvSpPr>
        <p:spPr>
          <a:xfrm>
            <a:off x="6827084" y="2891352"/>
            <a:ext cx="64497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분리막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잔량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 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464880F-BC8B-8C46-843F-ED6F085A6A0C}"/>
              </a:ext>
            </a:extLst>
          </p:cNvPr>
          <p:cNvSpPr/>
          <p:nvPr/>
        </p:nvSpPr>
        <p:spPr>
          <a:xfrm>
            <a:off x="7083476" y="27848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23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186EC29-53D1-FD67-2BA2-1EF267D6FCA0}"/>
              </a:ext>
            </a:extLst>
          </p:cNvPr>
          <p:cNvSpPr txBox="1"/>
          <p:nvPr/>
        </p:nvSpPr>
        <p:spPr>
          <a:xfrm>
            <a:off x="5322810" y="2894107"/>
            <a:ext cx="64497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 투입량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 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DED49507-55E9-F053-A3D9-6F686D9F528F}"/>
              </a:ext>
            </a:extLst>
          </p:cNvPr>
          <p:cNvSpPr/>
          <p:nvPr/>
        </p:nvSpPr>
        <p:spPr>
          <a:xfrm>
            <a:off x="5568640" y="27848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B7F1F50-2217-C8FE-B94C-DC65D7FCA414}"/>
              </a:ext>
            </a:extLst>
          </p:cNvPr>
          <p:cNvSpPr txBox="1"/>
          <p:nvPr/>
        </p:nvSpPr>
        <p:spPr>
          <a:xfrm>
            <a:off x="4623445" y="2891352"/>
            <a:ext cx="734744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분리막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잔량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(S7)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구현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13B15CD-AB8F-87E9-0E91-2BFFB8D4C90B}"/>
              </a:ext>
            </a:extLst>
          </p:cNvPr>
          <p:cNvSpPr/>
          <p:nvPr/>
        </p:nvSpPr>
        <p:spPr>
          <a:xfrm>
            <a:off x="4894248" y="27848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9A4090B-85FF-F559-7F96-D038BEF00BE7}"/>
              </a:ext>
            </a:extLst>
          </p:cNvPr>
          <p:cNvSpPr txBox="1"/>
          <p:nvPr/>
        </p:nvSpPr>
        <p:spPr>
          <a:xfrm>
            <a:off x="2969927" y="3488243"/>
            <a:ext cx="64497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Tab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꽂힘 불량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데이터 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0BDC9C7D-F5BA-9087-5D7F-A07A90150AE0}"/>
              </a:ext>
            </a:extLst>
          </p:cNvPr>
          <p:cNvSpPr/>
          <p:nvPr/>
        </p:nvSpPr>
        <p:spPr>
          <a:xfrm>
            <a:off x="3328853" y="338173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228B0B9-2768-5C1B-4442-D74518EF80CC}"/>
              </a:ext>
            </a:extLst>
          </p:cNvPr>
          <p:cNvSpPr txBox="1"/>
          <p:nvPr/>
        </p:nvSpPr>
        <p:spPr>
          <a:xfrm>
            <a:off x="3611401" y="3488243"/>
            <a:ext cx="669020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상관성 분석 및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과제 정의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8E7CF3C9-3C5E-0174-2449-59474729C7AB}"/>
              </a:ext>
            </a:extLst>
          </p:cNvPr>
          <p:cNvSpPr/>
          <p:nvPr/>
        </p:nvSpPr>
        <p:spPr>
          <a:xfrm>
            <a:off x="3944904" y="338173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7FC9064-BBDC-E335-E9E3-6F693FC039B6}"/>
              </a:ext>
            </a:extLst>
          </p:cNvPr>
          <p:cNvSpPr txBox="1"/>
          <p:nvPr/>
        </p:nvSpPr>
        <p:spPr>
          <a:xfrm>
            <a:off x="4621102" y="3488243"/>
            <a:ext cx="462233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 구현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14A0CC6F-AB5B-56CC-BA2B-C7F56F7894E2}"/>
              </a:ext>
            </a:extLst>
          </p:cNvPr>
          <p:cNvSpPr/>
          <p:nvPr/>
        </p:nvSpPr>
        <p:spPr>
          <a:xfrm>
            <a:off x="4774874" y="338173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19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65CA25A-1D7D-43BF-CF96-70C01CC503C6}"/>
              </a:ext>
            </a:extLst>
          </p:cNvPr>
          <p:cNvSpPr txBox="1"/>
          <p:nvPr/>
        </p:nvSpPr>
        <p:spPr>
          <a:xfrm>
            <a:off x="5604844" y="3488243"/>
            <a:ext cx="553605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 및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효과분석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70448E8E-F577-6B6D-43F3-01C4061EE7CE}"/>
              </a:ext>
            </a:extLst>
          </p:cNvPr>
          <p:cNvSpPr/>
          <p:nvPr/>
        </p:nvSpPr>
        <p:spPr>
          <a:xfrm>
            <a:off x="5796369" y="338173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154FE61-B9A8-7905-B904-058AE5041CF7}"/>
              </a:ext>
            </a:extLst>
          </p:cNvPr>
          <p:cNvSpPr txBox="1"/>
          <p:nvPr/>
        </p:nvSpPr>
        <p:spPr>
          <a:xfrm>
            <a:off x="816186" y="4134124"/>
            <a:ext cx="4119410" cy="715581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사행 불량 개선</a:t>
            </a:r>
            <a:b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사행 불량 유형 정의를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위한 데이터 분석 중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(~9/2)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최외곽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부 불량 개선을 위한 과제 발굴 진행</a:t>
            </a:r>
            <a:b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: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 정렬검사기 활용하여 음극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최외곽부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자동보정 가능 여부 검토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(8/21)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9FBE20-EB39-20A1-7282-0852A4E8321D}"/>
              </a:ext>
            </a:extLst>
          </p:cNvPr>
          <p:cNvSpPr txBox="1"/>
          <p:nvPr/>
        </p:nvSpPr>
        <p:spPr>
          <a:xfrm>
            <a:off x="5146902" y="6003747"/>
            <a:ext cx="4473930" cy="86946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CCR, CBD </a:t>
            </a: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불량률 개선</a:t>
            </a:r>
            <a:b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CCR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공정분석 진행 예정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: Raw Data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바탕으로 자동보정 적용 효과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Simulation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예정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(~9/2)</a:t>
            </a:r>
            <a:b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: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적용 가능 여부 공정 분석 진행 예정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(~9/11)</a:t>
            </a:r>
            <a:b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-. CBD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불량 유형 데이터 분석 진행 예정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6CDB526-6833-F999-568F-22957A39EF5E}"/>
              </a:ext>
            </a:extLst>
          </p:cNvPr>
          <p:cNvSpPr txBox="1"/>
          <p:nvPr/>
        </p:nvSpPr>
        <p:spPr>
          <a:xfrm>
            <a:off x="5146901" y="4136905"/>
            <a:ext cx="4703217" cy="86946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indent="-164127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사행 불량 개선</a:t>
            </a:r>
            <a:b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권취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코어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최외곽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사행 불량 개선을 위한 자동보정 고도화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: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코어 불량률</a:t>
            </a:r>
            <a:r>
              <a:rPr kumimoji="1" lang="en-US" altLang="ko-KR" sz="1000" b="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1)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0.07%,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최외곽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불량률</a:t>
            </a:r>
            <a:r>
              <a:rPr kumimoji="1" lang="en-US" altLang="ko-KR" sz="1000" b="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2)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0.08%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최외곽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구간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자동보정 개발 예정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(~9/11)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② 구간별 사행 자동보정 고도화 예정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최외곽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보정량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증가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~9/11)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03B5DDA-AE3F-B31A-640C-513195784530}"/>
              </a:ext>
            </a:extLst>
          </p:cNvPr>
          <p:cNvSpPr txBox="1"/>
          <p:nvPr/>
        </p:nvSpPr>
        <p:spPr>
          <a:xfrm>
            <a:off x="816186" y="5900104"/>
            <a:ext cx="4473930" cy="407804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CCR </a:t>
            </a: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불량률 개선</a:t>
            </a:r>
            <a:b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CCR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치수 불량률 개선을 위한 자동보정 개발 검토 진행 중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 9/18)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B760A91-B233-8533-0DE5-2A53B6F43890}"/>
              </a:ext>
            </a:extLst>
          </p:cNvPr>
          <p:cNvSpPr txBox="1"/>
          <p:nvPr/>
        </p:nvSpPr>
        <p:spPr>
          <a:xfrm>
            <a:off x="5142004" y="3488243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B7E24370-493D-E094-E99B-58E70F7A44A8}"/>
              </a:ext>
            </a:extLst>
          </p:cNvPr>
          <p:cNvSpPr/>
          <p:nvPr/>
        </p:nvSpPr>
        <p:spPr>
          <a:xfrm>
            <a:off x="5284290" y="338173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0D9B041-8D7B-127B-244B-1A4470B78242}"/>
              </a:ext>
            </a:extLst>
          </p:cNvPr>
          <p:cNvSpPr txBox="1"/>
          <p:nvPr/>
        </p:nvSpPr>
        <p:spPr>
          <a:xfrm>
            <a:off x="5428290" y="35781"/>
            <a:ext cx="839974" cy="6924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셀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셀 </a:t>
            </a:r>
            <a:r>
              <a:rPr lang="ko-KR" altLang="en-US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97.02%</a:t>
            </a:r>
            <a:b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와인더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98.67%</a:t>
            </a:r>
            <a:b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98.87% </a:t>
            </a:r>
            <a:b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활성화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99.45%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D0E8AE5C-95CE-BFFB-BB20-756DF8EC9778}"/>
              </a:ext>
            </a:extLst>
          </p:cNvPr>
          <p:cNvSpPr/>
          <p:nvPr/>
        </p:nvSpPr>
        <p:spPr>
          <a:xfrm>
            <a:off x="6723480" y="338173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EF4E0D10-62B6-7DA9-2E0A-01C4F67D05E0}"/>
              </a:ext>
            </a:extLst>
          </p:cNvPr>
          <p:cNvSpPr/>
          <p:nvPr/>
        </p:nvSpPr>
        <p:spPr>
          <a:xfrm>
            <a:off x="7239867" y="338173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D7AFC1F-F070-2D84-DC39-22FCB15AEA66}"/>
              </a:ext>
            </a:extLst>
          </p:cNvPr>
          <p:cNvSpPr txBox="1"/>
          <p:nvPr/>
        </p:nvSpPr>
        <p:spPr>
          <a:xfrm>
            <a:off x="6472514" y="3488243"/>
            <a:ext cx="654593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Tab 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꽂힘 </a:t>
            </a:r>
            <a:r>
              <a:rPr lang="ko-KR" altLang="en-US" sz="8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과검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b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개선 테스트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7363A05-782E-A9B2-EBEF-A2745111C5FE}"/>
              </a:ext>
            </a:extLst>
          </p:cNvPr>
          <p:cNvSpPr txBox="1"/>
          <p:nvPr/>
        </p:nvSpPr>
        <p:spPr>
          <a:xfrm>
            <a:off x="7088847" y="3488243"/>
            <a:ext cx="669021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사행 검사기</a:t>
            </a:r>
            <a:b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8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과검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개선 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57FC2D1-A16B-DEF4-6DA0-6215B4358E31}"/>
              </a:ext>
            </a:extLst>
          </p:cNvPr>
          <p:cNvSpPr txBox="1"/>
          <p:nvPr/>
        </p:nvSpPr>
        <p:spPr>
          <a:xfrm>
            <a:off x="4846874" y="1981205"/>
            <a:ext cx="1284174" cy="170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사행 보정 고도화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구간별 보정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153" name="그룹 1">
            <a:extLst>
              <a:ext uri="{FF2B5EF4-FFF2-40B4-BE49-F238E27FC236}">
                <a16:creationId xmlns:a16="http://schemas.microsoft.com/office/drawing/2014/main" id="{EB52B8D4-2547-B92C-C3E8-79F3A258EB36}"/>
              </a:ext>
            </a:extLst>
          </p:cNvPr>
          <p:cNvGrpSpPr/>
          <p:nvPr/>
        </p:nvGrpSpPr>
        <p:grpSpPr>
          <a:xfrm>
            <a:off x="6575214" y="1795596"/>
            <a:ext cx="205184" cy="2012134"/>
            <a:chOff x="2020628" y="1123354"/>
            <a:chExt cx="205184" cy="5005022"/>
          </a:xfrm>
        </p:grpSpPr>
        <p:grpSp>
          <p:nvGrpSpPr>
            <p:cNvPr id="154" name="그룹 2">
              <a:extLst>
                <a:ext uri="{FF2B5EF4-FFF2-40B4-BE49-F238E27FC236}">
                  <a16:creationId xmlns:a16="http://schemas.microsoft.com/office/drawing/2014/main" id="{CE245EB7-F902-E0BA-6B67-862C9930DE61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157" name="직선 연결선 167">
                <a:extLst>
                  <a:ext uri="{FF2B5EF4-FFF2-40B4-BE49-F238E27FC236}">
                    <a16:creationId xmlns:a16="http://schemas.microsoft.com/office/drawing/2014/main" id="{A29E85B2-270A-37B2-F6C9-6638A86F55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158" name="이등변 삼각형 7">
                <a:extLst>
                  <a:ext uri="{FF2B5EF4-FFF2-40B4-BE49-F238E27FC236}">
                    <a16:creationId xmlns:a16="http://schemas.microsoft.com/office/drawing/2014/main" id="{7514D55C-611D-083D-5786-3FBCCB4F8C0B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55" name="Text Box 4">
              <a:extLst>
                <a:ext uri="{FF2B5EF4-FFF2-40B4-BE49-F238E27FC236}">
                  <a16:creationId xmlns:a16="http://schemas.microsoft.com/office/drawing/2014/main" id="{B276ACA6-4B1D-E1F2-7CDF-374C374C8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E97E81B7-DC54-C092-D061-A162BCEE2B2D}"/>
              </a:ext>
            </a:extLst>
          </p:cNvPr>
          <p:cNvCxnSpPr>
            <a:cxnSpLocks/>
          </p:cNvCxnSpPr>
          <p:nvPr/>
        </p:nvCxnSpPr>
        <p:spPr>
          <a:xfrm>
            <a:off x="4953000" y="2240195"/>
            <a:ext cx="187408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타원 169">
            <a:extLst>
              <a:ext uri="{FF2B5EF4-FFF2-40B4-BE49-F238E27FC236}">
                <a16:creationId xmlns:a16="http://schemas.microsoft.com/office/drawing/2014/main" id="{1A58A52F-629F-4A29-84A0-A93D977D3429}"/>
              </a:ext>
            </a:extLst>
          </p:cNvPr>
          <p:cNvSpPr/>
          <p:nvPr/>
        </p:nvSpPr>
        <p:spPr>
          <a:xfrm>
            <a:off x="5823786" y="21617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50179C06-6342-3A92-CBED-3184C432266A}"/>
              </a:ext>
            </a:extLst>
          </p:cNvPr>
          <p:cNvSpPr/>
          <p:nvPr/>
        </p:nvSpPr>
        <p:spPr>
          <a:xfrm>
            <a:off x="5453803" y="21617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13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FB9B3113-3D9C-2338-0B00-516F4792675F}"/>
              </a:ext>
            </a:extLst>
          </p:cNvPr>
          <p:cNvSpPr/>
          <p:nvPr/>
        </p:nvSpPr>
        <p:spPr>
          <a:xfrm>
            <a:off x="5053208" y="21617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F99F5927-010C-60A1-83CB-ABFE27267EC8}"/>
              </a:ext>
            </a:extLst>
          </p:cNvPr>
          <p:cNvSpPr/>
          <p:nvPr/>
        </p:nvSpPr>
        <p:spPr>
          <a:xfrm>
            <a:off x="4315732" y="21617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54860D8-2376-ECD7-A491-B65D0C3F4431}"/>
              </a:ext>
            </a:extLst>
          </p:cNvPr>
          <p:cNvSpPr txBox="1"/>
          <p:nvPr/>
        </p:nvSpPr>
        <p:spPr>
          <a:xfrm>
            <a:off x="4817866" y="2278157"/>
            <a:ext cx="553604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1,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4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구간 </a:t>
            </a:r>
            <a:b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보정 테스트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B17C902-9F59-951B-27DF-9010C14DBA2D}"/>
              </a:ext>
            </a:extLst>
          </p:cNvPr>
          <p:cNvSpPr txBox="1"/>
          <p:nvPr/>
        </p:nvSpPr>
        <p:spPr>
          <a:xfrm>
            <a:off x="5310742" y="2278157"/>
            <a:ext cx="438189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수평전개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F81CA94-207E-3567-CA96-1E9828242288}"/>
              </a:ext>
            </a:extLst>
          </p:cNvPr>
          <p:cNvSpPr txBox="1"/>
          <p:nvPr/>
        </p:nvSpPr>
        <p:spPr>
          <a:xfrm>
            <a:off x="5717077" y="2278157"/>
            <a:ext cx="438189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효과분석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BF6A01CF-7AC4-C6B1-3CA3-81ECCE8B9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46439"/>
              </p:ext>
            </p:extLst>
          </p:nvPr>
        </p:nvGraphicFramePr>
        <p:xfrm>
          <a:off x="7478442" y="1624567"/>
          <a:ext cx="2234037" cy="2155148"/>
        </p:xfrm>
        <a:graphic>
          <a:graphicData uri="http://schemas.openxmlformats.org/drawingml/2006/table">
            <a:tbl>
              <a:tblPr/>
              <a:tblGrid>
                <a:gridCol w="362037">
                  <a:extLst>
                    <a:ext uri="{9D8B030D-6E8A-4147-A177-3AD203B41FA5}">
                      <a16:colId xmlns:a16="http://schemas.microsoft.com/office/drawing/2014/main" val="204516045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9670137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046778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913839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47456494"/>
                    </a:ext>
                  </a:extLst>
                </a:gridCol>
              </a:tblGrid>
              <a:tr h="123694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‘26.01</a:t>
                      </a:r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8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26.08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801607"/>
                  </a:ext>
                </a:extLst>
              </a:tr>
              <a:tr h="123694">
                <a:tc gridSpan="2"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06068"/>
                  </a:ext>
                </a:extLst>
              </a:tr>
              <a:tr h="1236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-0.42%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34095"/>
                  </a:ext>
                </a:extLst>
              </a:tr>
              <a:tr h="123694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</a:t>
                      </a:r>
                      <a:b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32109"/>
                  </a:ext>
                </a:extLst>
              </a:tr>
              <a:tr h="157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FTF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상태검사</a:t>
                      </a:r>
                      <a:endParaRPr lang="ko-KR" altLang="en-US" sz="8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409587"/>
                  </a:ext>
                </a:extLst>
              </a:tr>
              <a:tr h="157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FTF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상태검사</a:t>
                      </a:r>
                      <a:endParaRPr lang="ko-KR" altLang="en-US" sz="800" b="0" i="0" u="none" strike="noStrike" baseline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635103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 </a:t>
                      </a:r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꽂힘</a:t>
                      </a:r>
                      <a:endParaRPr lang="ko-KR" altLang="en-US" sz="800" b="0" i="0" u="none" strike="noStrike" baseline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284968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꽂힘</a:t>
                      </a:r>
                      <a:endParaRPr lang="ko-KR" altLang="en-US" sz="800" b="0" i="0" u="none" strike="noStrike" baseline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-0.27%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638238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길이 불량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529190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402004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 </a:t>
                      </a:r>
                      <a:r>
                        <a:rPr lang="ko-KR" altLang="en-US" sz="800" b="0" i="0" u="none" strike="noStrike" baseline="0" dirty="0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포밍</a:t>
                      </a:r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각도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958534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 포밍 각도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642590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표면 불량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698643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분리막</a:t>
                      </a:r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표면 불량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916484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투입량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853901"/>
                  </a:ext>
                </a:extLst>
              </a:tr>
              <a:tr h="123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외 </a:t>
                      </a:r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</a:t>
                      </a:r>
                      <a:r>
                        <a:rPr lang="ko-KR" altLang="en-US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459807"/>
                  </a:ext>
                </a:extLst>
              </a:tr>
            </a:tbl>
          </a:graphicData>
        </a:graphic>
      </p:graphicFrame>
      <p:sp>
        <p:nvSpPr>
          <p:cNvPr id="179" name="TextBox 178">
            <a:extLst>
              <a:ext uri="{FF2B5EF4-FFF2-40B4-BE49-F238E27FC236}">
                <a16:creationId xmlns:a16="http://schemas.microsoft.com/office/drawing/2014/main" id="{C6FEB19F-3AD8-A940-0B82-D68242E6BF01}"/>
              </a:ext>
            </a:extLst>
          </p:cNvPr>
          <p:cNvSpPr txBox="1"/>
          <p:nvPr/>
        </p:nvSpPr>
        <p:spPr>
          <a:xfrm>
            <a:off x="1852169" y="4194403"/>
            <a:ext cx="217687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8</a:t>
            </a:r>
            <a:r>
              <a:rPr lang="ko-KR" altLang="en-US" dirty="0"/>
              <a:t>월 사행 불량률 </a:t>
            </a:r>
            <a:r>
              <a:rPr lang="en-US" altLang="ko-KR" dirty="0"/>
              <a:t>: 0.18% (</a:t>
            </a:r>
            <a:r>
              <a:rPr lang="ko-KR" altLang="en-US" dirty="0" err="1"/>
              <a:t>과검</a:t>
            </a:r>
            <a:r>
              <a:rPr lang="ko-KR" altLang="en-US" dirty="0"/>
              <a:t> 비율 약 </a:t>
            </a:r>
            <a:r>
              <a:rPr lang="en-US" altLang="ko-KR" dirty="0"/>
              <a:t>60%~80%)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4C5A57F-2E1B-8DFC-66DA-1239185A870F}"/>
              </a:ext>
            </a:extLst>
          </p:cNvPr>
          <p:cNvSpPr txBox="1"/>
          <p:nvPr/>
        </p:nvSpPr>
        <p:spPr>
          <a:xfrm>
            <a:off x="816186" y="4846191"/>
            <a:ext cx="4134693" cy="1023357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indent="-164127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05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Tab,</a:t>
            </a:r>
            <a:r>
              <a:rPr kumimoji="1" lang="ko-KR" altLang="en-US" sz="105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사행 </a:t>
            </a:r>
            <a:r>
              <a:rPr kumimoji="1" lang="ko-KR" altLang="en-US" sz="105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</a:t>
            </a: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</a:t>
            </a:r>
            <a:b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음극 탭 꽂힘 </a:t>
            </a:r>
            <a:r>
              <a:rPr kumimoji="1" lang="ko-KR" altLang="en-US" sz="1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과검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</a:t>
            </a:r>
            <a:b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1" lang="en-US" altLang="ko-KR" sz="10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: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최적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권취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위치 자동보정 대표호기 테스트 진행 중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(8/5 ~)</a:t>
            </a:r>
            <a:b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사행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과검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개선</a:t>
            </a:r>
            <a:b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: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젤리롤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권취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시 위치 변동에 의한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과검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개선을 위하여 검사 방식 변경 테스트 </a:t>
            </a:r>
            <a:b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일정 협의 중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8A91721-864C-D013-31D9-4158617A0C50}"/>
              </a:ext>
            </a:extLst>
          </p:cNvPr>
          <p:cNvSpPr txBox="1"/>
          <p:nvPr/>
        </p:nvSpPr>
        <p:spPr>
          <a:xfrm>
            <a:off x="5146902" y="4996629"/>
            <a:ext cx="4744078" cy="1023357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Tab, </a:t>
            </a: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사행 </a:t>
            </a:r>
            <a:r>
              <a:rPr kumimoji="1" lang="ko-KR" altLang="en-US" sz="105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과검</a:t>
            </a:r>
            <a:r>
              <a:rPr kumimoji="1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</a:t>
            </a:r>
            <a:b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음극 탭 꽂힘 검사기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과검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: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대표호기 적용 효과 분석 진행 예정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(~9/18)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: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대표호기 외 설비 확산하여 효과분석 진행 예정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(~9/18)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사행 검사기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</a:t>
            </a:r>
            <a:b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: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고정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ROI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방식으로 변경 테스트 진행 예정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검사기 협력사 인원 부재로 인한 지연 중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F69094C-5800-AFF1-1AF1-9CE3B69F500B}"/>
              </a:ext>
            </a:extLst>
          </p:cNvPr>
          <p:cNvSpPr txBox="1"/>
          <p:nvPr/>
        </p:nvSpPr>
        <p:spPr>
          <a:xfrm>
            <a:off x="2101589" y="4909040"/>
            <a:ext cx="253595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8</a:t>
            </a:r>
            <a:r>
              <a:rPr lang="ko-KR" altLang="en-US" dirty="0"/>
              <a:t>월 음극 탭 꽂힘 불량률 </a:t>
            </a:r>
            <a:r>
              <a:rPr lang="en-US" altLang="ko-KR" dirty="0"/>
              <a:t>: 0.04% (</a:t>
            </a:r>
            <a:r>
              <a:rPr lang="ko-KR" altLang="en-US" dirty="0" err="1"/>
              <a:t>과검</a:t>
            </a:r>
            <a:r>
              <a:rPr lang="ko-KR" altLang="en-US" dirty="0"/>
              <a:t> 비율 약 </a:t>
            </a:r>
            <a:r>
              <a:rPr lang="en-US" altLang="ko-KR" dirty="0"/>
              <a:t>50%~80%)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5C2421E-2986-DAD3-4835-F3A29D2CCDBF}"/>
              </a:ext>
            </a:extLst>
          </p:cNvPr>
          <p:cNvSpPr txBox="1"/>
          <p:nvPr/>
        </p:nvSpPr>
        <p:spPr>
          <a:xfrm>
            <a:off x="2851964" y="5402804"/>
            <a:ext cx="13449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800" dirty="0"/>
              <a:t>┌ 빛 반사에 의한 </a:t>
            </a:r>
            <a:r>
              <a:rPr lang="en-US" altLang="ko-KR" sz="800" dirty="0"/>
              <a:t>Ref ROI </a:t>
            </a:r>
            <a:r>
              <a:rPr lang="ko-KR" altLang="en-US" sz="800" dirty="0"/>
              <a:t>못 찾음</a:t>
            </a:r>
            <a:endParaRPr lang="en-US" altLang="ko-KR" sz="80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805F65A-2B8F-C946-73CB-9DB931D85A7A}"/>
              </a:ext>
            </a:extLst>
          </p:cNvPr>
          <p:cNvSpPr txBox="1"/>
          <p:nvPr/>
        </p:nvSpPr>
        <p:spPr>
          <a:xfrm>
            <a:off x="3261399" y="44624"/>
            <a:ext cx="1899559" cy="6924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연간 목표 </a:t>
            </a:r>
            <a:r>
              <a:rPr lang="en-US" altLang="ko-KR" dirty="0"/>
              <a:t>/ </a:t>
            </a:r>
            <a:r>
              <a:rPr lang="ko-KR" altLang="en-US" dirty="0"/>
              <a:t>실적 </a:t>
            </a:r>
            <a:r>
              <a:rPr lang="en-US" altLang="ko-KR" dirty="0"/>
              <a:t>(’26.08)  </a:t>
            </a:r>
          </a:p>
          <a:p>
            <a:r>
              <a:rPr lang="en-US" altLang="ko-KR" dirty="0"/>
              <a:t> -. </a:t>
            </a:r>
            <a:r>
              <a:rPr lang="ko-KR" altLang="en-US" dirty="0"/>
              <a:t>셀 </a:t>
            </a:r>
            <a:r>
              <a:rPr lang="ko-KR" altLang="en-US" dirty="0" err="1"/>
              <a:t>수율</a:t>
            </a:r>
            <a:r>
              <a:rPr lang="ko-KR" altLang="en-US" dirty="0"/>
              <a:t> </a:t>
            </a:r>
            <a:r>
              <a:rPr lang="en-US" altLang="ko-KR" dirty="0"/>
              <a:t>97.70% / 97.30% (</a:t>
            </a:r>
            <a:r>
              <a:rPr lang="ko-KR" altLang="en-US" dirty="0"/>
              <a:t>△</a:t>
            </a:r>
            <a:r>
              <a:rPr lang="en-US" altLang="ko-KR" dirty="0"/>
              <a:t>0.40%)</a:t>
            </a:r>
            <a:br>
              <a:rPr lang="en-US" altLang="ko-KR" dirty="0"/>
            </a:br>
            <a:r>
              <a:rPr lang="en-US" altLang="ko-KR" dirty="0"/>
              <a:t>     </a:t>
            </a:r>
            <a:r>
              <a:rPr lang="ko-KR" altLang="en-US" dirty="0"/>
              <a:t>와인더 </a:t>
            </a:r>
            <a:r>
              <a:rPr lang="ko-KR" altLang="en-US" dirty="0" err="1"/>
              <a:t>수율</a:t>
            </a:r>
            <a:r>
              <a:rPr lang="ko-KR" altLang="en-US" dirty="0"/>
              <a:t> </a:t>
            </a:r>
            <a:r>
              <a:rPr lang="en-US" altLang="ko-KR" dirty="0"/>
              <a:t>98.80% / 98.63% (</a:t>
            </a:r>
            <a:r>
              <a:rPr lang="ko-KR" altLang="en-US" dirty="0"/>
              <a:t>△</a:t>
            </a:r>
            <a:r>
              <a:rPr lang="en-US" altLang="ko-KR" dirty="0"/>
              <a:t>0.17%)</a:t>
            </a:r>
            <a:br>
              <a:rPr lang="en-US" altLang="ko-KR" dirty="0"/>
            </a:br>
            <a:r>
              <a:rPr lang="en-US" altLang="ko-KR" dirty="0"/>
              <a:t>     </a:t>
            </a:r>
            <a:r>
              <a:rPr lang="ko-KR" altLang="en-US" dirty="0"/>
              <a:t>조립     </a:t>
            </a:r>
            <a:r>
              <a:rPr lang="ko-KR" altLang="en-US" dirty="0" err="1"/>
              <a:t>수율</a:t>
            </a:r>
            <a:r>
              <a:rPr lang="ko-KR" altLang="en-US" dirty="0"/>
              <a:t> </a:t>
            </a:r>
            <a:r>
              <a:rPr lang="en-US" altLang="ko-KR" dirty="0"/>
              <a:t>99.10% / 98.90%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lang="ko-KR" altLang="en-US" dirty="0"/>
              <a:t>△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0.20%)</a:t>
            </a:r>
            <a:br>
              <a:rPr lang="en-US" altLang="ko-KR" dirty="0"/>
            </a:br>
            <a:r>
              <a:rPr lang="en-US" altLang="ko-KR" dirty="0"/>
              <a:t>     </a:t>
            </a:r>
            <a:r>
              <a:rPr lang="ko-KR" altLang="en-US" dirty="0"/>
              <a:t>활성화 </a:t>
            </a:r>
            <a:r>
              <a:rPr lang="ko-KR" altLang="en-US" dirty="0" err="1"/>
              <a:t>수율</a:t>
            </a:r>
            <a:r>
              <a:rPr lang="ko-KR" altLang="en-US" dirty="0"/>
              <a:t> </a:t>
            </a:r>
            <a:r>
              <a:rPr lang="en-US" altLang="ko-KR" dirty="0"/>
              <a:t>99.70% / 99.75%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▽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0.05%)</a:t>
            </a:r>
            <a:endParaRPr lang="en-US" altLang="ko-KR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13AFE53-F62F-0F4C-2467-8B1B2FBCB4D4}"/>
              </a:ext>
            </a:extLst>
          </p:cNvPr>
          <p:cNvSpPr txBox="1"/>
          <p:nvPr/>
        </p:nvSpPr>
        <p:spPr>
          <a:xfrm>
            <a:off x="6533241" y="2264321"/>
            <a:ext cx="736347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코어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 </a:t>
            </a:r>
            <a:r>
              <a:rPr lang="ko-KR" altLang="en-US" sz="8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최외곽부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자동보정 고도화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1900D6B6-E90E-81A2-F0F6-7708D76BF7D7}"/>
              </a:ext>
            </a:extLst>
          </p:cNvPr>
          <p:cNvSpPr/>
          <p:nvPr/>
        </p:nvSpPr>
        <p:spPr>
          <a:xfrm>
            <a:off x="6835315" y="21508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22C69D9-1633-5215-3006-E0C63E57BA98}"/>
              </a:ext>
            </a:extLst>
          </p:cNvPr>
          <p:cNvSpPr txBox="1"/>
          <p:nvPr/>
        </p:nvSpPr>
        <p:spPr>
          <a:xfrm>
            <a:off x="8022092" y="4504782"/>
            <a:ext cx="141705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※ MP2</a:t>
            </a:r>
            <a:r>
              <a:rPr lang="ko-KR" altLang="en-US" dirty="0"/>
              <a:t> </a:t>
            </a:r>
            <a:r>
              <a:rPr lang="en-US" altLang="ko-KR" dirty="0"/>
              <a:t>1~8</a:t>
            </a:r>
            <a:r>
              <a:rPr lang="ko-KR" altLang="en-US" dirty="0"/>
              <a:t>호기</a:t>
            </a:r>
            <a:r>
              <a:rPr lang="en-US" altLang="ko-KR" dirty="0"/>
              <a:t>, 8.3 ~ 8.11</a:t>
            </a:r>
            <a:br>
              <a:rPr lang="en-US" altLang="ko-KR" dirty="0"/>
            </a:br>
            <a:r>
              <a:rPr lang="en-US" altLang="ko-KR" dirty="0"/>
              <a:t>    </a:t>
            </a:r>
            <a:r>
              <a:rPr lang="ko-KR" altLang="en-US" dirty="0"/>
              <a:t>검사기 </a:t>
            </a:r>
            <a:r>
              <a:rPr lang="en-US" altLang="ko-KR" dirty="0"/>
              <a:t>Raw Data </a:t>
            </a:r>
            <a:r>
              <a:rPr lang="ko-KR" altLang="en-US" dirty="0"/>
              <a:t>기준 불량률</a:t>
            </a:r>
            <a:endParaRPr lang="en-US" altLang="ko-KR" dirty="0"/>
          </a:p>
        </p:txBody>
      </p:sp>
      <p:graphicFrame>
        <p:nvGraphicFramePr>
          <p:cNvPr id="207" name="표 206">
            <a:extLst>
              <a:ext uri="{FF2B5EF4-FFF2-40B4-BE49-F238E27FC236}">
                <a16:creationId xmlns:a16="http://schemas.microsoft.com/office/drawing/2014/main" id="{6E275F07-5782-9620-AC32-6E6D6D30A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688678"/>
              </p:ext>
            </p:extLst>
          </p:nvPr>
        </p:nvGraphicFramePr>
        <p:xfrm>
          <a:off x="1130808" y="6275966"/>
          <a:ext cx="2412074" cy="519480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3708754786"/>
                    </a:ext>
                  </a:extLst>
                </a:gridCol>
                <a:gridCol w="451250">
                  <a:extLst>
                    <a:ext uri="{9D8B030D-6E8A-4147-A177-3AD203B41FA5}">
                      <a16:colId xmlns:a16="http://schemas.microsoft.com/office/drawing/2014/main" val="4032568349"/>
                    </a:ext>
                  </a:extLst>
                </a:gridCol>
                <a:gridCol w="449608">
                  <a:extLst>
                    <a:ext uri="{9D8B030D-6E8A-4147-A177-3AD203B41FA5}">
                      <a16:colId xmlns:a16="http://schemas.microsoft.com/office/drawing/2014/main" val="1049308055"/>
                    </a:ext>
                  </a:extLst>
                </a:gridCol>
                <a:gridCol w="449608">
                  <a:extLst>
                    <a:ext uri="{9D8B030D-6E8A-4147-A177-3AD203B41FA5}">
                      <a16:colId xmlns:a16="http://schemas.microsoft.com/office/drawing/2014/main" val="608898440"/>
                    </a:ext>
                  </a:extLst>
                </a:gridCol>
                <a:gridCol w="449608">
                  <a:extLst>
                    <a:ext uri="{9D8B030D-6E8A-4147-A177-3AD203B41FA5}">
                      <a16:colId xmlns:a16="http://schemas.microsoft.com/office/drawing/2014/main" val="4201053898"/>
                    </a:ext>
                  </a:extLst>
                </a:gridCol>
              </a:tblGrid>
              <a:tr h="10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W31</a:t>
                      </a:r>
                      <a:endParaRPr lang="ko-KR" altLang="en-US" sz="8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W32</a:t>
                      </a:r>
                      <a:endParaRPr lang="ko-KR" altLang="en-US" sz="8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W33</a:t>
                      </a:r>
                      <a:endParaRPr lang="ko-KR" altLang="en-US" sz="8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W34</a:t>
                      </a:r>
                      <a:endParaRPr lang="ko-KR" altLang="en-US" sz="8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90538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전체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97.80%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98.32%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99.02%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99.19%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465367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CCR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0.24%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0.37%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0.25%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0.19%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50510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CBD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0.44%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0.32%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0.21%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0.15%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1130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3D6DBA-C997-0BA2-7FE2-7B451A510B35}"/>
              </a:ext>
            </a:extLst>
          </p:cNvPr>
          <p:cNvSpPr txBox="1"/>
          <p:nvPr/>
        </p:nvSpPr>
        <p:spPr>
          <a:xfrm>
            <a:off x="3457751" y="6930401"/>
            <a:ext cx="188673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FF0000"/>
                </a:solidFill>
              </a:rPr>
              <a:t>수정 필요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조립 전제 불량</a:t>
            </a:r>
            <a:r>
              <a:rPr lang="en-US" altLang="ko-KR" dirty="0">
                <a:solidFill>
                  <a:srgbClr val="FF0000"/>
                </a:solidFill>
              </a:rPr>
              <a:t>, CCR </a:t>
            </a:r>
            <a:r>
              <a:rPr lang="ko-KR" altLang="en-US" dirty="0">
                <a:solidFill>
                  <a:srgbClr val="FF0000"/>
                </a:solidFill>
              </a:rPr>
              <a:t>불량 구분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F3FE2-246D-BA55-F45F-C40E58C5F668}"/>
              </a:ext>
            </a:extLst>
          </p:cNvPr>
          <p:cNvSpPr txBox="1"/>
          <p:nvPr/>
        </p:nvSpPr>
        <p:spPr>
          <a:xfrm>
            <a:off x="3611401" y="6278220"/>
            <a:ext cx="110927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sz="800" dirty="0"/>
              <a:t>※ CCR : Cylindrical Crimping</a:t>
            </a:r>
          </a:p>
          <a:p>
            <a:r>
              <a:rPr lang="en-US" altLang="ko-KR" sz="800" spc="-200" dirty="0"/>
              <a:t>                                </a:t>
            </a:r>
            <a:r>
              <a:rPr lang="en-US" altLang="ko-KR" sz="800" spc="-150" dirty="0"/>
              <a:t>                      </a:t>
            </a:r>
            <a:r>
              <a:rPr lang="en-US" altLang="ko-KR" sz="800" spc="-200" dirty="0"/>
              <a:t>        </a:t>
            </a:r>
            <a:r>
              <a:rPr lang="en-US" altLang="ko-KR" sz="800" dirty="0"/>
              <a:t>CBD : Cylindrical Beading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86BA50B-7246-1E1E-1A9B-E0DC821A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555250"/>
              </p:ext>
            </p:extLst>
          </p:nvPr>
        </p:nvGraphicFramePr>
        <p:xfrm>
          <a:off x="10101110" y="2639066"/>
          <a:ext cx="7280540" cy="2311244"/>
        </p:xfrm>
        <a:graphic>
          <a:graphicData uri="http://schemas.openxmlformats.org/drawingml/2006/table">
            <a:tbl>
              <a:tblPr/>
              <a:tblGrid>
                <a:gridCol w="692540">
                  <a:extLst>
                    <a:ext uri="{9D8B030D-6E8A-4147-A177-3AD203B41FA5}">
                      <a16:colId xmlns:a16="http://schemas.microsoft.com/office/drawing/2014/main" val="157028952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2650609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70236687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2298573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19713029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43170051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89654182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3449511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1817336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80265921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34901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0627699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77418408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969416105"/>
                    </a:ext>
                  </a:extLst>
                </a:gridCol>
              </a:tblGrid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목표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1000" b="1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(~8/23)</a:t>
                      </a:r>
                      <a:endParaRPr lang="ko-KR" altLang="en-US" sz="10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W31</a:t>
                      </a:r>
                    </a:p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W32</a:t>
                      </a:r>
                    </a:p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W33</a:t>
                      </a:r>
                    </a:p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W34</a:t>
                      </a:r>
                    </a:p>
                    <a:p>
                      <a:pPr algn="ctr" fontAlgn="ctr"/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b="1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81086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ACW/CCW</a:t>
                      </a:r>
                      <a:endParaRPr lang="ko-KR" altLang="en-US" sz="10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0.11%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0.07%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0.10%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0.07%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0.09%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0.09%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0.08%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87844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CIT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0.15%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0.13%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0.10%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0.09%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0.07%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0.13%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0.16%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0.19%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0.50%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0.29%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421742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ISI/JRI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922608"/>
                  </a:ext>
                </a:extLst>
              </a:tr>
              <a:tr h="1852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CRW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0.18%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0.13%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0.35%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320526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CBD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0.35%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0.27%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0.08%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0.07%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0.15%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0.32%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0.24%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0.44%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0.32%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0.21%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71246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ABW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0.18%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0.27%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0.23%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0.07%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0.15%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0.09%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0.11%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8405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ELF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0.13%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0.34%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0.08%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0.12%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589951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CCR/CSZ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0.20%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0.11%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0.07%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0.26%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0.26%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0.24%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0.37%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0.25%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0.19%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03783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AIA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0.23%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0.38%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0.16%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0.34%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0.33%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0.18%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0.20%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0.20%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0.60%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0.17%</a:t>
                      </a:r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0.16%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0.19%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653545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CTA&amp;IOU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828529"/>
                  </a:ext>
                </a:extLst>
              </a:tr>
              <a:tr h="18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JRS</a:t>
                      </a:r>
                    </a:p>
                  </a:txBody>
                  <a:tcPr marL="7950" marR="7950" marT="79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0.21%</a:t>
                      </a:r>
                      <a:endParaRPr lang="el-GR" sz="10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  <a:endParaRPr lang="ko-KR" altLang="en-US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</a:t>
                      </a: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50" marR="7950" marT="79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425942"/>
                  </a:ext>
                </a:extLst>
              </a:tr>
            </a:tbl>
          </a:graphicData>
        </a:graphic>
      </p:graphicFrame>
      <p:sp>
        <p:nvSpPr>
          <p:cNvPr id="19" name="제목 9">
            <a:extLst>
              <a:ext uri="{FF2B5EF4-FFF2-40B4-BE49-F238E27FC236}">
                <a16:creationId xmlns:a16="http://schemas.microsoft.com/office/drawing/2014/main" id="{4B769C5F-4C81-B48A-2BD0-2468D32825A0}"/>
              </a:ext>
            </a:extLst>
          </p:cNvPr>
          <p:cNvSpPr txBox="1">
            <a:spLocks/>
          </p:cNvSpPr>
          <p:nvPr/>
        </p:nvSpPr>
        <p:spPr>
          <a:xfrm>
            <a:off x="10113509" y="2362067"/>
            <a:ext cx="16850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공정별 불량률 현황</a:t>
            </a:r>
            <a:r>
              <a:rPr kumimoji="1" lang="en-US" altLang="ko-KR" sz="12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월별</a:t>
            </a:r>
            <a:r>
              <a:rPr kumimoji="1" lang="en-US" altLang="ko-KR" sz="12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728475-B319-7EF9-95F2-DCE170EE99EC}"/>
              </a:ext>
            </a:extLst>
          </p:cNvPr>
          <p:cNvSpPr txBox="1"/>
          <p:nvPr/>
        </p:nvSpPr>
        <p:spPr>
          <a:xfrm>
            <a:off x="7804411" y="5000675"/>
            <a:ext cx="204703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sz="800" dirty="0"/>
              <a:t>1) </a:t>
            </a:r>
            <a:r>
              <a:rPr lang="ko-KR" altLang="en-US" sz="800" dirty="0"/>
              <a:t>코어 불량률</a:t>
            </a:r>
            <a:r>
              <a:rPr lang="en-US" altLang="ko-KR" sz="800" dirty="0"/>
              <a:t>: </a:t>
            </a:r>
            <a:r>
              <a:rPr lang="ko-KR" altLang="en-US" sz="800" dirty="0"/>
              <a:t>사행 검사기 </a:t>
            </a:r>
            <a:r>
              <a:rPr lang="en-US" altLang="ko-KR" sz="800" dirty="0"/>
              <a:t>1</a:t>
            </a:r>
            <a:r>
              <a:rPr lang="ko-KR" altLang="en-US" sz="800" dirty="0"/>
              <a:t>구간 </a:t>
            </a:r>
            <a:r>
              <a:rPr lang="en-US" altLang="ko-KR" sz="800" dirty="0"/>
              <a:t>E1, F1 </a:t>
            </a:r>
            <a:r>
              <a:rPr lang="ko-KR" altLang="en-US" sz="800" dirty="0"/>
              <a:t>불량률</a:t>
            </a:r>
            <a:br>
              <a:rPr lang="en-US" altLang="ko-KR" sz="800" dirty="0"/>
            </a:br>
            <a:r>
              <a:rPr lang="en-US" altLang="ko-KR" sz="800" dirty="0"/>
              <a:t>2) </a:t>
            </a:r>
            <a:r>
              <a:rPr lang="ko-KR" altLang="en-US" sz="800" dirty="0" err="1"/>
              <a:t>최외곽</a:t>
            </a:r>
            <a:r>
              <a:rPr lang="ko-KR" altLang="en-US" sz="800" dirty="0"/>
              <a:t> 불량률 </a:t>
            </a:r>
            <a:r>
              <a:rPr lang="en-US" altLang="ko-KR" sz="800" dirty="0"/>
              <a:t>: </a:t>
            </a:r>
            <a:r>
              <a:rPr lang="ko-KR" altLang="en-US" sz="800" dirty="0"/>
              <a:t>사행 검사기 </a:t>
            </a:r>
            <a:r>
              <a:rPr lang="en-US" altLang="ko-KR" sz="800" dirty="0"/>
              <a:t>4</a:t>
            </a:r>
            <a:r>
              <a:rPr lang="ko-KR" altLang="en-US" sz="800" dirty="0"/>
              <a:t>구간 </a:t>
            </a:r>
            <a:r>
              <a:rPr lang="en-US" altLang="ko-KR" sz="800" dirty="0"/>
              <a:t>E1, F1 </a:t>
            </a:r>
            <a:r>
              <a:rPr lang="ko-KR" altLang="en-US" sz="800" dirty="0"/>
              <a:t>불량률</a:t>
            </a:r>
            <a:br>
              <a:rPr lang="en-US" altLang="ko-KR" sz="800" dirty="0"/>
            </a:br>
            <a:r>
              <a:rPr lang="en-US" altLang="ko-KR" sz="800" dirty="0"/>
              <a:t>                                 + </a:t>
            </a:r>
            <a:r>
              <a:rPr lang="ko-KR" altLang="en-US" sz="800" dirty="0"/>
              <a:t>위치 정렬 검사기 </a:t>
            </a:r>
            <a:r>
              <a:rPr lang="en-US" altLang="ko-KR" sz="800" dirty="0"/>
              <a:t>E1 </a:t>
            </a:r>
            <a:r>
              <a:rPr lang="ko-KR" altLang="en-US" sz="800" dirty="0"/>
              <a:t>불량률</a:t>
            </a:r>
            <a:endParaRPr lang="en-US" altLang="ko-KR" sz="800" dirty="0"/>
          </a:p>
        </p:txBody>
      </p:sp>
      <p:sp>
        <p:nvSpPr>
          <p:cNvPr id="21" name="실행 단추: 앞으로 또는 다음으로 이동 2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ECF7373-9C4C-78E7-149C-6361DEFC2B51}"/>
              </a:ext>
            </a:extLst>
          </p:cNvPr>
          <p:cNvSpPr/>
          <p:nvPr/>
        </p:nvSpPr>
        <p:spPr>
          <a:xfrm flipV="1">
            <a:off x="2294187" y="5052155"/>
            <a:ext cx="149132" cy="147538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B84D3F0-1389-08B1-4E74-204FE1D9A07A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D7B29909-19F7-7C7F-B145-C052398913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C3CC4DD-CD9D-BDAA-2C21-793077EEB7EE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4FFB3B9-5805-5AD4-C010-CEAB6E0392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C1DFAF-9B71-5ABE-07DE-D605A8C60D15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997550A-5784-D7ED-F759-004B032320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51E0DE-8114-8BE7-0724-AA783155D0BA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969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9" y="116449"/>
            <a:ext cx="2442168" cy="369332"/>
          </a:xfrm>
        </p:spPr>
        <p:txBody>
          <a:bodyPr wrap="square">
            <a:spAutoFit/>
          </a:bodyPr>
          <a:lstStyle/>
          <a:p>
            <a:pPr algn="l"/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KPI 08</a:t>
            </a:r>
            <a:r>
              <a:rPr lang="ko-KR" altLang="en-US" dirty="0"/>
              <a:t>월 진척 사항</a:t>
            </a:r>
            <a:r>
              <a:rPr lang="en-US" altLang="ko-KR" dirty="0"/>
              <a:t>(6/9)</a:t>
            </a:r>
            <a:endParaRPr lang="ko-KR" altLang="en-US" dirty="0"/>
          </a:p>
        </p:txBody>
      </p:sp>
      <p:grpSp>
        <p:nvGrpSpPr>
          <p:cNvPr id="28" name="그룹 27"/>
          <p:cNvGrpSpPr/>
          <p:nvPr/>
        </p:nvGrpSpPr>
        <p:grpSpPr>
          <a:xfrm>
            <a:off x="839581" y="3301358"/>
            <a:ext cx="4008771" cy="317996"/>
            <a:chOff x="961536" y="4488828"/>
            <a:chExt cx="4008771" cy="317996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7920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6" y="3304870"/>
            <a:ext cx="4553251" cy="317996"/>
            <a:chOff x="5152724" y="4496534"/>
            <a:chExt cx="4221222" cy="317996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796826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98724"/>
            <a:ext cx="448035" cy="3274849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5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B897A4F-47B6-2B85-022C-E013E278F290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E201BAF-427F-86F8-4477-28F16D39BC5F}"/>
              </a:ext>
            </a:extLst>
          </p:cNvPr>
          <p:cNvSpPr>
            <a:spLocks noChangeAspect="1"/>
          </p:cNvSpPr>
          <p:nvPr/>
        </p:nvSpPr>
        <p:spPr>
          <a:xfrm>
            <a:off x="9140471" y="1131972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7F1A561-EF3A-88F2-43BB-FAB5CD8FC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736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046779F-B066-D682-EF4A-D2218A3A4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829502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'26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자동보정을 활용한</a:t>
                      </a:r>
                      <a:b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재료비 저감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영역 확대를 통한 원가 절감 기여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기여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3Q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10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저감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(</a:t>
                      </a:r>
                      <a:r>
                        <a:rPr lang="ko-KR" altLang="en-US" sz="1000" b="1" i="0" u="none" strike="noStrike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 (</a:t>
                      </a:r>
                      <a:r>
                        <a:rPr lang="ko-KR" alt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1570B30C-E9A3-41B9-FE75-FEE9D4D6C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77502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68FFBCF-0EA8-41F0-F3F2-EFACCE15EA4F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626379"/>
          <a:ext cx="8862108" cy="1655541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2600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26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46040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46040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46040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711624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1C3A98D-F574-567B-F13E-2BECD5A9F7AC}"/>
              </a:ext>
            </a:extLst>
          </p:cNvPr>
          <p:cNvSpPr/>
          <p:nvPr/>
        </p:nvSpPr>
        <p:spPr>
          <a:xfrm>
            <a:off x="2690813" y="999755"/>
            <a:ext cx="431139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9" name="그룹 1">
            <a:extLst>
              <a:ext uri="{FF2B5EF4-FFF2-40B4-BE49-F238E27FC236}">
                <a16:creationId xmlns:a16="http://schemas.microsoft.com/office/drawing/2014/main" id="{3DB9949B-507D-D67A-1C7A-3B76217B1B21}"/>
              </a:ext>
            </a:extLst>
          </p:cNvPr>
          <p:cNvGrpSpPr/>
          <p:nvPr/>
        </p:nvGrpSpPr>
        <p:grpSpPr>
          <a:xfrm>
            <a:off x="9001834" y="1589614"/>
            <a:ext cx="205184" cy="1639668"/>
            <a:chOff x="2020628" y="1123354"/>
            <a:chExt cx="205184" cy="4912508"/>
          </a:xfrm>
        </p:grpSpPr>
        <p:grpSp>
          <p:nvGrpSpPr>
            <p:cNvPr id="20" name="그룹 2">
              <a:extLst>
                <a:ext uri="{FF2B5EF4-FFF2-40B4-BE49-F238E27FC236}">
                  <a16:creationId xmlns:a16="http://schemas.microsoft.com/office/drawing/2014/main" id="{5C286AE7-A77A-9604-6105-76A33777A5F8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24" name="직선 연결선 167">
                <a:extLst>
                  <a:ext uri="{FF2B5EF4-FFF2-40B4-BE49-F238E27FC236}">
                    <a16:creationId xmlns:a16="http://schemas.microsoft.com/office/drawing/2014/main" id="{657BAEF3-AA7D-E5B2-CCB3-D4DE720ED8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25" name="이등변 삼각형 7">
                <a:extLst>
                  <a:ext uri="{FF2B5EF4-FFF2-40B4-BE49-F238E27FC236}">
                    <a16:creationId xmlns:a16="http://schemas.microsoft.com/office/drawing/2014/main" id="{FAAFCFB2-B664-904C-DF00-D2BFC1C1039C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23" name="Text Box 4">
              <a:extLst>
                <a:ext uri="{FF2B5EF4-FFF2-40B4-BE49-F238E27FC236}">
                  <a16:creationId xmlns:a16="http://schemas.microsoft.com/office/drawing/2014/main" id="{6E7D7629-BBDB-3921-EF3E-1DEF9F978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kern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5D67A2A-5F8A-4984-783F-4EA0D0223F04}"/>
              </a:ext>
            </a:extLst>
          </p:cNvPr>
          <p:cNvCxnSpPr>
            <a:cxnSpLocks/>
          </p:cNvCxnSpPr>
          <p:nvPr/>
        </p:nvCxnSpPr>
        <p:spPr>
          <a:xfrm>
            <a:off x="1207956" y="2036984"/>
            <a:ext cx="789244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3432F6C-E165-9840-4BB3-0AE0AC2AFDA1}"/>
              </a:ext>
            </a:extLst>
          </p:cNvPr>
          <p:cNvSpPr txBox="1"/>
          <p:nvPr/>
        </p:nvSpPr>
        <p:spPr>
          <a:xfrm>
            <a:off x="7106067" y="2091183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ESOT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9A18B5-86A1-B9C7-6C88-9ECDCBC4DA87}"/>
              </a:ext>
            </a:extLst>
          </p:cNvPr>
          <p:cNvSpPr txBox="1"/>
          <p:nvPr/>
        </p:nvSpPr>
        <p:spPr>
          <a:xfrm>
            <a:off x="3165279" y="1886557"/>
            <a:ext cx="1252770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MI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출장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(Global 1</a:t>
            </a:r>
            <a:r>
              <a:rPr kumimoji="1" lang="en-US" altLang="ko-KR" sz="700" b="0" i="0" u="none" strike="noStrike" kern="1200" cap="none" spc="-70" normalizeH="0" baseline="3000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st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대표호기 적용 및 검증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)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F0D8B7A-51DF-B618-F568-83B6A372FB63}"/>
              </a:ext>
            </a:extLst>
          </p:cNvPr>
          <p:cNvSpPr/>
          <p:nvPr/>
        </p:nvSpPr>
        <p:spPr>
          <a:xfrm>
            <a:off x="7253161" y="19631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DFDD7EC-721A-CB04-F5D6-C21275DCB800}"/>
              </a:ext>
            </a:extLst>
          </p:cNvPr>
          <p:cNvSpPr/>
          <p:nvPr/>
        </p:nvSpPr>
        <p:spPr>
          <a:xfrm>
            <a:off x="7927383" y="197030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03379D-BA4C-E6DA-A38A-0BC22BC87B1A}"/>
              </a:ext>
            </a:extLst>
          </p:cNvPr>
          <p:cNvSpPr txBox="1"/>
          <p:nvPr/>
        </p:nvSpPr>
        <p:spPr>
          <a:xfrm>
            <a:off x="1381919" y="2091183"/>
            <a:ext cx="462233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공정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분석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8BF72D0-BC57-AAD0-39A2-38A9752FA3A9}"/>
              </a:ext>
            </a:extLst>
          </p:cNvPr>
          <p:cNvSpPr/>
          <p:nvPr/>
        </p:nvSpPr>
        <p:spPr>
          <a:xfrm>
            <a:off x="1540205" y="19631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6AC724-95A2-46D2-B316-600FB9CB37A0}"/>
              </a:ext>
            </a:extLst>
          </p:cNvPr>
          <p:cNvSpPr txBox="1"/>
          <p:nvPr/>
        </p:nvSpPr>
        <p:spPr>
          <a:xfrm>
            <a:off x="2983651" y="2091183"/>
            <a:ext cx="577649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APC </a:t>
            </a: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시스템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개발 및 검증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9A28C294-8698-E496-3C7C-3664EFCB0A1B}"/>
              </a:ext>
            </a:extLst>
          </p:cNvPr>
          <p:cNvSpPr/>
          <p:nvPr/>
        </p:nvSpPr>
        <p:spPr>
          <a:xfrm>
            <a:off x="3075260" y="19631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6BCA83-0A28-2F79-BBFB-A904CEE9B73E}"/>
              </a:ext>
            </a:extLst>
          </p:cNvPr>
          <p:cNvSpPr txBox="1"/>
          <p:nvPr/>
        </p:nvSpPr>
        <p:spPr>
          <a:xfrm>
            <a:off x="2521720" y="2091183"/>
            <a:ext cx="462233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로직 개발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9D9BF02-67CC-E963-5379-C4DEADFEB6DB}"/>
              </a:ext>
            </a:extLst>
          </p:cNvPr>
          <p:cNvSpPr/>
          <p:nvPr/>
        </p:nvSpPr>
        <p:spPr>
          <a:xfrm>
            <a:off x="2678743" y="19631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23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31BA73-3179-0F00-0800-23EF8E7FF9C1}"/>
              </a:ext>
            </a:extLst>
          </p:cNvPr>
          <p:cNvSpPr txBox="1"/>
          <p:nvPr/>
        </p:nvSpPr>
        <p:spPr>
          <a:xfrm>
            <a:off x="4178019" y="2091183"/>
            <a:ext cx="462233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적용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검증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D059DFF-4891-A8EA-5289-3F827FD6E3D6}"/>
              </a:ext>
            </a:extLst>
          </p:cNvPr>
          <p:cNvSpPr/>
          <p:nvPr/>
        </p:nvSpPr>
        <p:spPr>
          <a:xfrm>
            <a:off x="4338117" y="19631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E75F01-9702-552D-8CAF-63A70C45DD28}"/>
              </a:ext>
            </a:extLst>
          </p:cNvPr>
          <p:cNvSpPr txBox="1"/>
          <p:nvPr/>
        </p:nvSpPr>
        <p:spPr>
          <a:xfrm>
            <a:off x="7780289" y="2091183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피플웍스</a:t>
            </a:r>
            <a:endParaRPr kumimoji="0" lang="en-US" altLang="ko-KR" sz="8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47934E-F301-3E0B-1752-0A4BA812432A}"/>
              </a:ext>
            </a:extLst>
          </p:cNvPr>
          <p:cNvSpPr txBox="1"/>
          <p:nvPr/>
        </p:nvSpPr>
        <p:spPr>
          <a:xfrm>
            <a:off x="6216314" y="2091183"/>
            <a:ext cx="657799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WA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503913B0-9BE7-5207-6D38-74836B8CC1BF}"/>
              </a:ext>
            </a:extLst>
          </p:cNvPr>
          <p:cNvSpPr/>
          <p:nvPr/>
        </p:nvSpPr>
        <p:spPr>
          <a:xfrm>
            <a:off x="6473212" y="19631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49" name="그룹 1">
            <a:extLst>
              <a:ext uri="{FF2B5EF4-FFF2-40B4-BE49-F238E27FC236}">
                <a16:creationId xmlns:a16="http://schemas.microsoft.com/office/drawing/2014/main" id="{7498131F-B2CA-36BB-C7FD-B1C6A2C0FA60}"/>
              </a:ext>
            </a:extLst>
          </p:cNvPr>
          <p:cNvGrpSpPr/>
          <p:nvPr/>
        </p:nvGrpSpPr>
        <p:grpSpPr>
          <a:xfrm>
            <a:off x="6786401" y="1589614"/>
            <a:ext cx="205184" cy="1670547"/>
            <a:chOff x="2049657" y="1123354"/>
            <a:chExt cx="205184" cy="5005022"/>
          </a:xfrm>
        </p:grpSpPr>
        <p:grpSp>
          <p:nvGrpSpPr>
            <p:cNvPr id="51" name="그룹 2">
              <a:extLst>
                <a:ext uri="{FF2B5EF4-FFF2-40B4-BE49-F238E27FC236}">
                  <a16:creationId xmlns:a16="http://schemas.microsoft.com/office/drawing/2014/main" id="{C7C4C5A1-D58A-7FD7-D5DB-2176B27ED365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54" name="직선 연결선 167">
                <a:extLst>
                  <a:ext uri="{FF2B5EF4-FFF2-40B4-BE49-F238E27FC236}">
                    <a16:creationId xmlns:a16="http://schemas.microsoft.com/office/drawing/2014/main" id="{7AC1D1CC-C1A1-9B49-48A8-236EB38CA7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55" name="이등변 삼각형 7">
                <a:extLst>
                  <a:ext uri="{FF2B5EF4-FFF2-40B4-BE49-F238E27FC236}">
                    <a16:creationId xmlns:a16="http://schemas.microsoft.com/office/drawing/2014/main" id="{90D73132-D9D0-69B7-0E48-492665DFCC4E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53" name="Text Box 4">
              <a:extLst>
                <a:ext uri="{FF2B5EF4-FFF2-40B4-BE49-F238E27FC236}">
                  <a16:creationId xmlns:a16="http://schemas.microsoft.com/office/drawing/2014/main" id="{B9035313-E831-7AA9-6925-F68D87515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9657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C1CE63D-C227-7FF1-A86D-40AC150CC479}"/>
              </a:ext>
            </a:extLst>
          </p:cNvPr>
          <p:cNvSpPr txBox="1"/>
          <p:nvPr/>
        </p:nvSpPr>
        <p:spPr>
          <a:xfrm>
            <a:off x="735810" y="1923118"/>
            <a:ext cx="590152" cy="376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CTP </a:t>
            </a: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레진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0CE1EC-4100-C25C-DFBE-49AE458ABBA7}"/>
              </a:ext>
            </a:extLst>
          </p:cNvPr>
          <p:cNvSpPr txBox="1"/>
          <p:nvPr/>
        </p:nvSpPr>
        <p:spPr>
          <a:xfrm>
            <a:off x="735809" y="2384600"/>
            <a:ext cx="803437" cy="4011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질량유량</a:t>
            </a:r>
            <a:b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적용 및 효과 검증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WA, GM_TN</a:t>
            </a:r>
            <a:endParaRPr kumimoji="0" lang="ko-KR" altLang="en-US" sz="800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FF3112-65F3-7267-06CA-90FCE8A29FD9}"/>
              </a:ext>
            </a:extLst>
          </p:cNvPr>
          <p:cNvSpPr txBox="1"/>
          <p:nvPr/>
        </p:nvSpPr>
        <p:spPr>
          <a:xfrm>
            <a:off x="735809" y="2851527"/>
            <a:ext cx="803437" cy="4145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질량 유량 확산 전개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MI_HL, M</a:t>
            </a:r>
            <a:r>
              <a:rPr lang="en-US" altLang="ko-KR" sz="800" ker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I_LS,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HD, OT, HG</a:t>
            </a:r>
            <a:endParaRPr kumimoji="0" lang="ko-KR" altLang="en-US" sz="800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3E6FD9F8-1BB6-58B6-31B1-793FB774508F}"/>
              </a:ext>
            </a:extLst>
          </p:cNvPr>
          <p:cNvCxnSpPr>
            <a:cxnSpLocks/>
          </p:cNvCxnSpPr>
          <p:nvPr/>
        </p:nvCxnSpPr>
        <p:spPr>
          <a:xfrm>
            <a:off x="2521720" y="2960953"/>
            <a:ext cx="65786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타원 72">
            <a:extLst>
              <a:ext uri="{FF2B5EF4-FFF2-40B4-BE49-F238E27FC236}">
                <a16:creationId xmlns:a16="http://schemas.microsoft.com/office/drawing/2014/main" id="{4D2F830E-DB0F-A9AA-508A-293713D4E431}"/>
              </a:ext>
            </a:extLst>
          </p:cNvPr>
          <p:cNvSpPr/>
          <p:nvPr/>
        </p:nvSpPr>
        <p:spPr>
          <a:xfrm>
            <a:off x="3638127" y="288873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2B7438AB-119A-E5AD-FF1C-18BC7D9D0AA5}"/>
              </a:ext>
            </a:extLst>
          </p:cNvPr>
          <p:cNvSpPr/>
          <p:nvPr/>
        </p:nvSpPr>
        <p:spPr>
          <a:xfrm>
            <a:off x="5106252" y="28818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024477-8D7A-935A-D8D1-2A3E769A4127}"/>
              </a:ext>
            </a:extLst>
          </p:cNvPr>
          <p:cNvSpPr txBox="1"/>
          <p:nvPr/>
        </p:nvSpPr>
        <p:spPr>
          <a:xfrm>
            <a:off x="3407057" y="3049501"/>
            <a:ext cx="681524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  <a:t>PLC</a:t>
            </a: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  <a:t>/</a:t>
            </a: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 데이터 연동</a:t>
            </a:r>
            <a:b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</a:b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r>
              <a:rPr kumimoji="1" lang="en-US" altLang="ko-KR" sz="8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MI_HL, OT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A1C5C4-3490-A249-9A63-0C07422EF0FA}"/>
              </a:ext>
            </a:extLst>
          </p:cNvPr>
          <p:cNvSpPr txBox="1"/>
          <p:nvPr/>
        </p:nvSpPr>
        <p:spPr>
          <a:xfrm>
            <a:off x="4908701" y="3049233"/>
            <a:ext cx="681524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  <a:t>PLC</a:t>
            </a: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  <a:t>/</a:t>
            </a: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 데이터 연동</a:t>
            </a:r>
            <a:b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</a:b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r>
              <a:rPr kumimoji="1" lang="en-US" altLang="ko-KR" sz="8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MI_LS, HD, HG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258A27-3547-23AB-9AF5-7D4DAEC2CE5B}"/>
              </a:ext>
            </a:extLst>
          </p:cNvPr>
          <p:cNvSpPr txBox="1"/>
          <p:nvPr/>
        </p:nvSpPr>
        <p:spPr>
          <a:xfrm>
            <a:off x="2689564" y="3040703"/>
            <a:ext cx="597206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법인 현황 파악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61BEBB73-5805-AB1A-C5A7-1C39D60186F4}"/>
              </a:ext>
            </a:extLst>
          </p:cNvPr>
          <p:cNvSpPr/>
          <p:nvPr/>
        </p:nvSpPr>
        <p:spPr>
          <a:xfrm>
            <a:off x="2863372" y="287744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931B2E92-83E4-C004-3B6F-CAA9DFBDDC1A}"/>
              </a:ext>
            </a:extLst>
          </p:cNvPr>
          <p:cNvSpPr/>
          <p:nvPr/>
        </p:nvSpPr>
        <p:spPr>
          <a:xfrm>
            <a:off x="7303650" y="289045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3550B7-B152-9D82-8C95-784AF71C50F8}"/>
              </a:ext>
            </a:extLst>
          </p:cNvPr>
          <p:cNvSpPr txBox="1"/>
          <p:nvPr/>
        </p:nvSpPr>
        <p:spPr>
          <a:xfrm>
            <a:off x="7162116" y="3050201"/>
            <a:ext cx="505194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수평전개 </a:t>
            </a:r>
            <a:b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</a:br>
            <a:r>
              <a:rPr kumimoji="1" lang="en-US" altLang="ko-KR" sz="8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MI_HL, MI_LS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86EC3B2C-9B67-D638-CD3A-1FA45A2A2EEC}"/>
              </a:ext>
            </a:extLst>
          </p:cNvPr>
          <p:cNvSpPr/>
          <p:nvPr/>
        </p:nvSpPr>
        <p:spPr>
          <a:xfrm>
            <a:off x="8044512" y="288949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8F9BC5F-6F1E-E7BD-291E-B2164BAB64C4}"/>
              </a:ext>
            </a:extLst>
          </p:cNvPr>
          <p:cNvSpPr txBox="1"/>
          <p:nvPr/>
        </p:nvSpPr>
        <p:spPr>
          <a:xfrm>
            <a:off x="7833320" y="3049233"/>
            <a:ext cx="417349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수평전개 </a:t>
            </a:r>
            <a:b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</a:br>
            <a:r>
              <a:rPr kumimoji="1" lang="en-US" altLang="ko-KR" sz="8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OT, HD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B3512304-5691-6839-4693-F235385E72FB}"/>
              </a:ext>
            </a:extLst>
          </p:cNvPr>
          <p:cNvSpPr/>
          <p:nvPr/>
        </p:nvSpPr>
        <p:spPr>
          <a:xfrm>
            <a:off x="8765534" y="288895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0CAF95C-870F-C022-9CCC-44CF2225032E}"/>
              </a:ext>
            </a:extLst>
          </p:cNvPr>
          <p:cNvSpPr txBox="1"/>
          <p:nvPr/>
        </p:nvSpPr>
        <p:spPr>
          <a:xfrm>
            <a:off x="8424083" y="3048695"/>
            <a:ext cx="417349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수평전개 </a:t>
            </a:r>
            <a:br>
              <a:rPr kumimoji="1" lang="en-US" altLang="ko-KR" sz="800" spc="-70">
                <a:latin typeface="Arial Narrow"/>
                <a:ea typeface="LG스마트체 Regular"/>
                <a:cs typeface="맑은 고딕 Semilight"/>
                <a:sym typeface="Wingdings"/>
              </a:rPr>
            </a:br>
            <a:r>
              <a:rPr kumimoji="1" lang="en-US" altLang="ko-KR" sz="8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HG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6E24046-F802-BCA6-7945-93C586E9C28F}"/>
              </a:ext>
            </a:extLst>
          </p:cNvPr>
          <p:cNvCxnSpPr>
            <a:cxnSpLocks/>
          </p:cNvCxnSpPr>
          <p:nvPr/>
        </p:nvCxnSpPr>
        <p:spPr>
          <a:xfrm>
            <a:off x="2521720" y="2471681"/>
            <a:ext cx="487955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C18188-94F3-859B-B01C-CAC653DDA4A1}"/>
              </a:ext>
            </a:extLst>
          </p:cNvPr>
          <p:cNvSpPr txBox="1"/>
          <p:nvPr/>
        </p:nvSpPr>
        <p:spPr>
          <a:xfrm>
            <a:off x="2663443" y="2544003"/>
            <a:ext cx="417349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spc="-70">
                <a:latin typeface="Arial Narrow"/>
                <a:ea typeface="LG스마트체 Regular"/>
                <a:cs typeface="맑은 고딕 Semilight"/>
                <a:sym typeface="Wingdings"/>
              </a:rPr>
              <a:t>코드 검증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C3FD221-B4C6-33F7-BD5B-43047C0B7AB6}"/>
              </a:ext>
            </a:extLst>
          </p:cNvPr>
          <p:cNvSpPr/>
          <p:nvPr/>
        </p:nvSpPr>
        <p:spPr>
          <a:xfrm>
            <a:off x="2864784" y="239988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D07F02-8B78-D5D8-E6B0-84214E66CD13}"/>
              </a:ext>
            </a:extLst>
          </p:cNvPr>
          <p:cNvSpPr txBox="1"/>
          <p:nvPr/>
        </p:nvSpPr>
        <p:spPr>
          <a:xfrm>
            <a:off x="5330469" y="2544003"/>
            <a:ext cx="1006933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>
              <a:defRPr/>
            </a:pPr>
            <a:r>
              <a:rPr kumimoji="1" lang="ko-KR" altLang="en-US" sz="800" b="0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대표호기</a:t>
            </a:r>
            <a:r>
              <a:rPr kumimoji="1" lang="en-US" altLang="ko-KR" sz="800" spc="-70" dirty="0">
                <a:solidFill>
                  <a:srgbClr val="0000FF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r>
              <a:rPr kumimoji="1" lang="ko-KR" altLang="en-US" sz="800" b="0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검증</a:t>
            </a:r>
            <a:r>
              <a:rPr kumimoji="1" lang="en-US" altLang="ko-KR" sz="800" spc="-70" dirty="0">
                <a:solidFill>
                  <a:srgbClr val="0000FF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/</a:t>
            </a:r>
            <a:r>
              <a:rPr kumimoji="1" lang="ko-KR" altLang="en-US" sz="800" b="0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적용</a:t>
            </a:r>
            <a:r>
              <a:rPr kumimoji="1" lang="en-US" altLang="ko-KR" sz="800" b="0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(</a:t>
            </a:r>
            <a:r>
              <a:rPr kumimoji="1" lang="en-US" altLang="ko-KR" sz="800" spc="-70" dirty="0">
                <a:solidFill>
                  <a:srgbClr val="0000FF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25</a:t>
            </a:r>
            <a:r>
              <a:rPr kumimoji="1" lang="en-US" altLang="ko-KR" sz="800" b="0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)</a:t>
            </a:r>
            <a:r>
              <a:rPr kumimoji="1" lang="en-US" altLang="ko-KR" sz="800" spc="-70" dirty="0">
                <a:solidFill>
                  <a:srgbClr val="0000FF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r>
              <a:rPr kumimoji="1" lang="en-US" altLang="ko-KR" sz="800" b="0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WA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422A1B8B-267B-CBDD-FCF6-D16A8F9E3162}"/>
              </a:ext>
            </a:extLst>
          </p:cNvPr>
          <p:cNvSpPr/>
          <p:nvPr/>
        </p:nvSpPr>
        <p:spPr>
          <a:xfrm>
            <a:off x="5817112" y="239988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F7B060-A7BE-D446-67CB-6F09B6BE45BD}"/>
              </a:ext>
            </a:extLst>
          </p:cNvPr>
          <p:cNvSpPr txBox="1"/>
          <p:nvPr/>
        </p:nvSpPr>
        <p:spPr>
          <a:xfrm>
            <a:off x="5237284" y="2645603"/>
            <a:ext cx="1152486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spc="-70" dirty="0">
                <a:latin typeface="Arial Narrow"/>
                <a:ea typeface="LG스마트체 Regular"/>
                <a:cs typeface="맑은 고딕 Semilight"/>
                <a:sym typeface="Wingdings"/>
              </a:rPr>
              <a:t>대표호기 검증</a:t>
            </a:r>
            <a:r>
              <a:rPr kumimoji="1" lang="en-US" altLang="ko-KR" sz="800" spc="-70" dirty="0">
                <a:latin typeface="Arial Narrow"/>
                <a:ea typeface="LG스마트체 Regular"/>
                <a:cs typeface="맑은 고딕 Semilight"/>
                <a:sym typeface="Wingdings"/>
              </a:rPr>
              <a:t>/</a:t>
            </a:r>
            <a:r>
              <a:rPr kumimoji="1" lang="ko-KR" altLang="en-US" sz="800" spc="-70" dirty="0">
                <a:latin typeface="Arial Narrow"/>
                <a:ea typeface="LG스마트체 Regular"/>
                <a:cs typeface="맑은 고딕 Semilight"/>
                <a:sym typeface="Wingdings"/>
              </a:rPr>
              <a:t>적용</a:t>
            </a:r>
            <a:r>
              <a:rPr kumimoji="1" lang="ko-KR" altLang="en-US" sz="800" spc="-70" dirty="0">
                <a:solidFill>
                  <a:srgbClr val="0000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(31)</a:t>
            </a:r>
            <a:r>
              <a:rPr kumimoji="1" lang="en-US" altLang="ko-KR" sz="800" b="0" i="0" u="none" strike="noStrike" kern="1200" cap="none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/>
                <a:ea typeface="돋움"/>
                <a:cs typeface="Arial"/>
                <a:sym typeface="Wingdings"/>
              </a:rPr>
              <a:t> </a:t>
            </a:r>
            <a:r>
              <a:rPr kumimoji="1" lang="en-US" altLang="ko-KR" sz="8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GM_TN</a:t>
            </a:r>
            <a:endParaRPr kumimoji="1" lang="en-US" altLang="ko-KR" sz="800" b="0" i="0" u="none" strike="noStrike" kern="1200" cap="none" spc="-7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맑은 고딕 Semilight"/>
              <a:sym typeface="Wingding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3A4E9B-C099-E331-E95A-DDE1A08EAF0F}"/>
              </a:ext>
            </a:extLst>
          </p:cNvPr>
          <p:cNvSpPr txBox="1"/>
          <p:nvPr/>
        </p:nvSpPr>
        <p:spPr>
          <a:xfrm>
            <a:off x="6356242" y="2544003"/>
            <a:ext cx="535650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수평전개 </a:t>
            </a:r>
            <a:r>
              <a:rPr kumimoji="1" lang="en-US" altLang="ko-KR" sz="8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WA</a:t>
            </a:r>
            <a:br>
              <a:rPr kumimoji="1" lang="en-US" altLang="ko-KR" sz="8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</a:br>
            <a:r>
              <a:rPr kumimoji="1" lang="en-US" altLang="ko-KR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(9 </a:t>
            </a:r>
            <a:r>
              <a:rPr kumimoji="1" lang="ko-KR" altLang="en-US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대</a:t>
            </a:r>
            <a:r>
              <a:rPr kumimoji="1" lang="en-US" altLang="ko-KR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/</a:t>
            </a:r>
            <a:r>
              <a:rPr kumimoji="1" lang="ko-KR" altLang="en-US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총 </a:t>
            </a:r>
            <a:r>
              <a:rPr kumimoji="1" lang="en-US" altLang="ko-KR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10 </a:t>
            </a:r>
            <a:r>
              <a:rPr kumimoji="1" lang="ko-KR" altLang="en-US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대</a:t>
            </a:r>
            <a:r>
              <a:rPr kumimoji="1" lang="en-US" altLang="ko-KR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)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AAADA657-BDCC-D30C-22C2-44164656091B}"/>
              </a:ext>
            </a:extLst>
          </p:cNvPr>
          <p:cNvSpPr/>
          <p:nvPr/>
        </p:nvSpPr>
        <p:spPr>
          <a:xfrm>
            <a:off x="6565021" y="239988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E0A5BD39-0F2B-0E09-AD26-47AD7D4F2EDE}"/>
              </a:ext>
            </a:extLst>
          </p:cNvPr>
          <p:cNvSpPr/>
          <p:nvPr/>
        </p:nvSpPr>
        <p:spPr>
          <a:xfrm>
            <a:off x="5580954" y="240007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25</a:t>
            </a:r>
            <a:endParaRPr lang="en-US" altLang="ko-KR" sz="10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CB6A04-8B1C-42BB-A16A-C1F173ED169F}"/>
              </a:ext>
            </a:extLst>
          </p:cNvPr>
          <p:cNvSpPr txBox="1"/>
          <p:nvPr/>
        </p:nvSpPr>
        <p:spPr>
          <a:xfrm>
            <a:off x="4744739" y="2091183"/>
            <a:ext cx="657799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8305BF4F-CBDE-7AAD-749A-5A40E0273A8E}"/>
              </a:ext>
            </a:extLst>
          </p:cNvPr>
          <p:cNvSpPr/>
          <p:nvPr/>
        </p:nvSpPr>
        <p:spPr>
          <a:xfrm>
            <a:off x="5001637" y="19631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E1DA3-AEC8-A976-10E6-5175FB1983CA}"/>
              </a:ext>
            </a:extLst>
          </p:cNvPr>
          <p:cNvSpPr txBox="1"/>
          <p:nvPr/>
        </p:nvSpPr>
        <p:spPr>
          <a:xfrm>
            <a:off x="784538" y="5167938"/>
            <a:ext cx="4176087" cy="10098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dirty="0">
                <a:latin typeface="Arial Narrow"/>
                <a:ea typeface="LG스마트체 Regular"/>
              </a:rPr>
              <a:t>질량유량 데이터 기반 로딩 자동보정 고도화 및 적용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(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음극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)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/>
                <a:ea typeface="LG스마트체 Regular"/>
              </a:rPr>
              <a:t>- . [OC2.NFF]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양산 적용 완료 </a:t>
            </a:r>
            <a:r>
              <a:rPr kumimoji="1" lang="en-US" altLang="ko-KR" sz="1000" dirty="0">
                <a:latin typeface="Arial Narrow"/>
                <a:ea typeface="LG스마트체 Regular"/>
              </a:rPr>
              <a:t>(OC2 NFF 8/3~8/22)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효과 산출 방안을 수립 </a:t>
            </a:r>
            <a:r>
              <a:rPr kumimoji="1" lang="en-US" altLang="ko-KR" sz="1000" dirty="0">
                <a:latin typeface="Arial Narrow"/>
                <a:ea typeface="LG스마트체 Regular"/>
              </a:rPr>
              <a:t>(8/24~)</a:t>
            </a:r>
            <a:br>
              <a:rPr kumimoji="1" lang="en-US" altLang="ko-KR" sz="1000" dirty="0">
                <a:latin typeface="Arial Narrow"/>
                <a:ea typeface="LG스마트체 Regular"/>
              </a:rPr>
            </a:br>
            <a:r>
              <a:rPr kumimoji="1" lang="en-US" altLang="ko-KR" sz="1000" dirty="0">
                <a:latin typeface="Arial Narrow"/>
                <a:ea typeface="LG스마트체 Regular"/>
              </a:rPr>
              <a:t>- . [WA]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질량 유량계 기반 자동보정 </a:t>
            </a:r>
            <a:r>
              <a:rPr kumimoji="1" lang="en-US" altLang="ko-KR" sz="1000" dirty="0">
                <a:latin typeface="Arial Narrow"/>
                <a:ea typeface="LG스마트체 Regular"/>
              </a:rPr>
              <a:t>: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대표 법인</a:t>
            </a:r>
            <a:r>
              <a:rPr kumimoji="1" lang="en-US" altLang="ko-KR" sz="1000" dirty="0">
                <a:latin typeface="Arial Narrow"/>
                <a:ea typeface="LG스마트체 Regular"/>
              </a:rPr>
              <a:t>(WA)</a:t>
            </a:r>
            <a:r>
              <a:rPr kumimoji="1" lang="ko-KR" altLang="en-US" sz="1000" dirty="0">
                <a:latin typeface="Arial Narrow"/>
                <a:ea typeface="LG스마트체 Regular"/>
              </a:rPr>
              <a:t> 기능 검증 완료 </a:t>
            </a:r>
            <a:r>
              <a:rPr kumimoji="1" lang="en-US" altLang="ko-KR" sz="1000" dirty="0">
                <a:latin typeface="Arial Narrow"/>
                <a:ea typeface="LG스마트체 Regular"/>
              </a:rPr>
              <a:t>(8/11~8/14)</a:t>
            </a:r>
            <a:br>
              <a:rPr kumimoji="1" lang="en-US" altLang="ko-KR" sz="1000" dirty="0">
                <a:latin typeface="Arial Narrow"/>
                <a:ea typeface="LG스마트체 Regular"/>
              </a:rPr>
            </a:br>
            <a:r>
              <a:rPr kumimoji="1" lang="en-US" altLang="ko-KR" sz="1000" dirty="0">
                <a:latin typeface="Arial Narrow"/>
                <a:ea typeface="LG스마트체 Regular"/>
              </a:rPr>
              <a:t>     WA </a:t>
            </a:r>
            <a:r>
              <a:rPr kumimoji="1" lang="ko-KR" altLang="en-US" sz="1000" dirty="0">
                <a:latin typeface="Arial Narrow"/>
                <a:ea typeface="LG스마트체 Regular"/>
              </a:rPr>
              <a:t>생산 계획에 따른 효과검증 일정 논의 중</a:t>
            </a:r>
            <a:br>
              <a:rPr kumimoji="1" lang="en-US" altLang="ko-KR" sz="1000" dirty="0">
                <a:solidFill>
                  <a:srgbClr val="FF0000"/>
                </a:solidFill>
                <a:latin typeface="Arial Narrow"/>
                <a:ea typeface="LG스마트체 Regular"/>
              </a:rPr>
            </a:br>
            <a:r>
              <a:rPr kumimoji="1" lang="ko-KR" altLang="en-US" sz="1050" dirty="0">
                <a:solidFill>
                  <a:srgbClr val="FF0000"/>
                </a:solidFill>
                <a:latin typeface="Arial Narrow"/>
                <a:ea typeface="LG스마트체 Regular"/>
              </a:rPr>
              <a:t> </a:t>
            </a:r>
            <a:r>
              <a:rPr kumimoji="1" lang="en-US" altLang="ko-KR" sz="1050" dirty="0">
                <a:solidFill>
                  <a:srgbClr val="006600"/>
                </a:solidFill>
                <a:latin typeface="Arial Narrow"/>
                <a:ea typeface="LG스마트체 Regular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/>
                <a:ea typeface="LG스마트체 Regular"/>
              </a:rPr>
              <a:t>대표 호기(A#3) </a:t>
            </a:r>
            <a:r>
              <a:rPr lang="en-US" altLang="ko-KR" sz="1000" dirty="0">
                <a:solidFill>
                  <a:srgbClr val="006600"/>
                </a:solidFill>
                <a:latin typeface="Arial Narrow"/>
                <a:ea typeface="LG스마트체 Regular"/>
              </a:rPr>
              <a:t>E72B </a:t>
            </a:r>
            <a:r>
              <a:rPr lang="ko-KR" altLang="en-US" sz="1000" dirty="0">
                <a:solidFill>
                  <a:srgbClr val="006600"/>
                </a:solidFill>
                <a:latin typeface="Arial Narrow"/>
                <a:ea typeface="LG스마트체 Regular"/>
              </a:rPr>
              <a:t>생산계획 변경</a:t>
            </a:r>
            <a:r>
              <a:rPr lang="en-US" altLang="ko-KR" sz="1000" dirty="0">
                <a:solidFill>
                  <a:srgbClr val="006600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/>
                <a:ea typeface="LG스마트체 Regular"/>
              </a:rPr>
              <a:t>7/25 → 8/11</a:t>
            </a:r>
            <a:r>
              <a:rPr lang="en-US" altLang="ko-KR" sz="1000" dirty="0">
                <a:solidFill>
                  <a:srgbClr val="006600"/>
                </a:solidFill>
                <a:latin typeface="Arial Narrow"/>
                <a:ea typeface="LG스마트체 Regular"/>
              </a:rPr>
              <a:t>)</a:t>
            </a:r>
            <a:endParaRPr kumimoji="1" lang="en-US" altLang="ko-KR" sz="1000" dirty="0">
              <a:solidFill>
                <a:srgbClr val="0000FF"/>
              </a:solidFill>
              <a:latin typeface="Arial Narrow"/>
              <a:ea typeface="LG스마트체 Regula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5D777B-0DF7-5C3C-E0B7-BAD777DC6C2A}"/>
              </a:ext>
            </a:extLst>
          </p:cNvPr>
          <p:cNvSpPr txBox="1"/>
          <p:nvPr/>
        </p:nvSpPr>
        <p:spPr>
          <a:xfrm>
            <a:off x="3577228" y="5786559"/>
            <a:ext cx="1361208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defRPr/>
            </a:pPr>
            <a:r>
              <a:rPr kumimoji="1" lang="en-US" altLang="ko-KR" sz="900" dirty="0">
                <a:latin typeface="Arial Narrow"/>
                <a:ea typeface="LG스마트체 Regular"/>
              </a:rPr>
              <a:t>  ※ </a:t>
            </a:r>
            <a:r>
              <a:rPr kumimoji="1" lang="en-US" altLang="ko-KR" dirty="0">
                <a:latin typeface="Arial Narrow"/>
                <a:ea typeface="LG스마트체 Regular"/>
              </a:rPr>
              <a:t>E73A</a:t>
            </a:r>
            <a:r>
              <a:rPr kumimoji="1" lang="ko-KR" altLang="en-US" dirty="0">
                <a:latin typeface="Arial Narrow"/>
                <a:ea typeface="LG스마트체 Regular"/>
              </a:rPr>
              <a:t> 신규 모델 초도 생산 </a:t>
            </a:r>
            <a:endParaRPr kumimoji="1" lang="en-US" altLang="ko-KR" spc="-70" dirty="0">
              <a:solidFill>
                <a:srgbClr val="006600"/>
              </a:solidFill>
              <a:latin typeface="Arial Narrow"/>
              <a:ea typeface="LG스마트체 Regular"/>
              <a:cs typeface="맑은 고딕 Semiligh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A498A6-20C4-222B-71A9-87C9BA2E8016}"/>
              </a:ext>
            </a:extLst>
          </p:cNvPr>
          <p:cNvSpPr txBox="1"/>
          <p:nvPr/>
        </p:nvSpPr>
        <p:spPr>
          <a:xfrm>
            <a:off x="5178252" y="5097176"/>
            <a:ext cx="4553249" cy="49269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[COT] 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질량유량 데이터 기반 자동보정 개발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적용 </a:t>
            </a:r>
            <a:b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유량기반 상하층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RPM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  <a:t>자동보정 </a:t>
            </a:r>
            <a:r>
              <a:rPr kumimoji="1" lang="en-US" altLang="ko-KR" sz="1050" dirty="0">
                <a:latin typeface="Arial Narrow"/>
                <a:ea typeface="LG스마트체 Regular"/>
              </a:rPr>
              <a:t>: </a:t>
            </a:r>
            <a:r>
              <a:rPr kumimoji="1" lang="ko-KR" altLang="en-US" sz="1050" dirty="0">
                <a:latin typeface="Arial Narrow"/>
                <a:ea typeface="LG스마트체 Regular"/>
              </a:rPr>
              <a:t>적용 결과 바탕으로 효과 산출 방안 수립</a:t>
            </a:r>
            <a:r>
              <a:rPr kumimoji="1" lang="en-US" altLang="ko-KR" sz="1050" dirty="0">
                <a:latin typeface="Arial Narrow"/>
                <a:ea typeface="LG스마트체 Regular"/>
              </a:rPr>
              <a:t>(8/24~)</a:t>
            </a:r>
            <a:r>
              <a:rPr kumimoji="1" lang="ko-KR" altLang="en-US" sz="1050" dirty="0">
                <a:latin typeface="Arial Narrow"/>
                <a:ea typeface="LG스마트체 Regular"/>
              </a:rPr>
              <a:t> </a:t>
            </a:r>
            <a:endParaRPr kumimoji="1"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B1E5D08-BA19-1113-900E-685D934A7386}"/>
              </a:ext>
            </a:extLst>
          </p:cNvPr>
          <p:cNvSpPr>
            <a:spLocks noChangeAspect="1"/>
          </p:cNvSpPr>
          <p:nvPr/>
        </p:nvSpPr>
        <p:spPr>
          <a:xfrm>
            <a:off x="9140471" y="1139820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33C190-A91A-1C39-2660-ADD83DEAFA28}"/>
              </a:ext>
            </a:extLst>
          </p:cNvPr>
          <p:cNvSpPr txBox="1"/>
          <p:nvPr/>
        </p:nvSpPr>
        <p:spPr>
          <a:xfrm>
            <a:off x="784539" y="6120556"/>
            <a:ext cx="4190571" cy="2042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/>
                <a:ea typeface="LG스마트체 Regular"/>
              </a:rPr>
              <a:t>PKG 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전해액 </a:t>
            </a:r>
            <a:r>
              <a:rPr kumimoji="1" lang="ko-KR" altLang="en-US" sz="1200" b="1" dirty="0" err="1">
                <a:latin typeface="Arial Narrow"/>
                <a:ea typeface="LG스마트체 Regular"/>
              </a:rPr>
              <a:t>주액량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 자동보정 적용을 통한 재료비 절감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(6.25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억원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/</a:t>
            </a:r>
            <a:r>
              <a:rPr kumimoji="1" lang="ko-KR" altLang="en-US" sz="1200" b="1" dirty="0">
                <a:latin typeface="Arial Narrow"/>
                <a:ea typeface="LG스마트체 Regular"/>
              </a:rPr>
              <a:t>년</a:t>
            </a:r>
            <a:r>
              <a:rPr kumimoji="1" lang="en-US" altLang="ko-KR" sz="1200" b="1" dirty="0">
                <a:latin typeface="Arial Narrow"/>
                <a:ea typeface="LG스마트체 Regular"/>
              </a:rPr>
              <a:t>)]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3A7B73-911F-37A1-112A-8AB1A4D3BF27}"/>
              </a:ext>
            </a:extLst>
          </p:cNvPr>
          <p:cNvSpPr txBox="1"/>
          <p:nvPr/>
        </p:nvSpPr>
        <p:spPr>
          <a:xfrm>
            <a:off x="816727" y="4105384"/>
            <a:ext cx="4208203" cy="1071062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Pack/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모듈 레진 도포 자동보정 수평전개 진행 중</a:t>
            </a:r>
            <a:b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협력사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자사법인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Cell to Pack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 자동보정 수평전개 준비 중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(MI, WA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완료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자사 법인 기준 수평전개 시 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5.7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외주법인 포함 시 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10.3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 절감</a:t>
            </a:r>
            <a:b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-. WA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증설 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Module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대상 확대 적용을 통한 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0.6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 절감</a:t>
            </a:r>
            <a:b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Ford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 기준 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8g/module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저감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(315g → 307g)</a:t>
            </a:r>
            <a:endParaRPr kumimoji="1"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C9913A-CFD8-C468-6387-F90D1074FF5C}"/>
              </a:ext>
            </a:extLst>
          </p:cNvPr>
          <p:cNvSpPr txBox="1"/>
          <p:nvPr/>
        </p:nvSpPr>
        <p:spPr>
          <a:xfrm>
            <a:off x="5151886" y="4101712"/>
            <a:ext cx="4553249" cy="49269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CTP(Cell to Pack) 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 자동보정 수평전개</a:t>
            </a:r>
            <a:b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lang="en-US" altLang="ko-KR" sz="105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05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  <a:r>
              <a:rPr lang="en-US" altLang="ko-KR" sz="105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5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협력사 수평전개 계획 </a:t>
            </a:r>
            <a:r>
              <a:rPr lang="en-US" altLang="ko-KR" sz="105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: OT (’26.09), PW(’26.10), HD(‘26.11)</a:t>
            </a:r>
            <a:endParaRPr kumimoji="1"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5B0384-5A41-D212-3C8F-DD0A5ADB8214}"/>
              </a:ext>
            </a:extLst>
          </p:cNvPr>
          <p:cNvSpPr txBox="1"/>
          <p:nvPr/>
        </p:nvSpPr>
        <p:spPr>
          <a:xfrm>
            <a:off x="752466" y="6336240"/>
            <a:ext cx="4244832" cy="49269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전공정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연계 </a:t>
            </a:r>
            <a:r>
              <a:rPr kumimoji="1" lang="ko-KR" altLang="en-US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슬러리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폐기량 저감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믹서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r>
              <a:rPr kumimoji="1" lang="ko-KR" altLang="en-US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중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(‘26.09)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b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대표호기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 약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5.34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 폐기 중이며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80%(4.27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절감 목표</a:t>
            </a:r>
            <a:endParaRPr kumimoji="1"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실행 단추: 앞으로 또는 다음으로 이동 6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72D90F1-7E85-3AF4-5EEC-644521B40F3B}"/>
              </a:ext>
            </a:extLst>
          </p:cNvPr>
          <p:cNvSpPr/>
          <p:nvPr/>
        </p:nvSpPr>
        <p:spPr>
          <a:xfrm>
            <a:off x="4741245" y="6429548"/>
            <a:ext cx="149195" cy="1476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6408A9-3067-B611-D20A-6A3BF4919C48}"/>
              </a:ext>
            </a:extLst>
          </p:cNvPr>
          <p:cNvSpPr txBox="1"/>
          <p:nvPr/>
        </p:nvSpPr>
        <p:spPr>
          <a:xfrm>
            <a:off x="816727" y="3661766"/>
            <a:ext cx="4208203" cy="46717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실적 요약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확정 실적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10.09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</a:t>
            </a:r>
            <a:b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(Pack/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모듈 레진 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3.84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억원 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+ PKG 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전해액 </a:t>
            </a:r>
            <a:r>
              <a:rPr kumimoji="1" lang="ko-KR" altLang="en-US" sz="900" spc="-70" dirty="0" err="1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주액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 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6.25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억원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)</a:t>
            </a:r>
            <a:endParaRPr kumimoji="1" lang="en-US" altLang="ko-KR" sz="1100" spc="-70" dirty="0">
              <a:solidFill>
                <a:srgbClr val="006600"/>
              </a:solidFill>
              <a:latin typeface="Arial Narrow"/>
              <a:ea typeface="LG스마트체 Regular"/>
              <a:cs typeface="맑은 고딕 Semiligh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9EC1BF-4D2F-B121-2045-97993FDF3A5B}"/>
              </a:ext>
            </a:extLst>
          </p:cNvPr>
          <p:cNvSpPr txBox="1"/>
          <p:nvPr/>
        </p:nvSpPr>
        <p:spPr>
          <a:xfrm>
            <a:off x="5151886" y="3658094"/>
            <a:ext cx="4553249" cy="46717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실적 요약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예상 실적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23.48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</a:t>
            </a:r>
            <a:b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(Pack/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모듈 레진 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12.96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억원 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+ PKG 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전해액 </a:t>
            </a:r>
            <a:r>
              <a:rPr kumimoji="1" lang="ko-KR" altLang="en-US" sz="900" spc="-70" dirty="0" err="1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주액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 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6.25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억원 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+ </a:t>
            </a:r>
            <a:r>
              <a:rPr kumimoji="1" lang="ko-KR" altLang="en-US" sz="900" spc="-70" dirty="0" err="1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코터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 </a:t>
            </a:r>
            <a:r>
              <a:rPr kumimoji="1" lang="ko-KR" altLang="en-US" sz="900" spc="-70" dirty="0" err="1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슬러리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 폐기량 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4.27</a:t>
            </a:r>
            <a:r>
              <a:rPr kumimoji="1" lang="ko-KR" altLang="en-US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억원</a:t>
            </a:r>
            <a:r>
              <a:rPr kumimoji="1" lang="en-US" altLang="ko-KR" sz="900" spc="-70" dirty="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</a:rPr>
              <a:t>)</a:t>
            </a: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602A003F-6358-CA9D-CC63-5A1270BC4CC9}"/>
              </a:ext>
            </a:extLst>
          </p:cNvPr>
          <p:cNvSpPr/>
          <p:nvPr/>
        </p:nvSpPr>
        <p:spPr>
          <a:xfrm>
            <a:off x="8687874" y="197030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2713BC1-747B-92BB-095A-7E7BD585FECA}"/>
              </a:ext>
            </a:extLst>
          </p:cNvPr>
          <p:cNvSpPr txBox="1"/>
          <p:nvPr/>
        </p:nvSpPr>
        <p:spPr>
          <a:xfrm>
            <a:off x="8540780" y="2091183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ESHD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7C7025-B1FF-0995-9E6E-D60BE63DC541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C134074-9F15-92C3-026A-A13D1CE64F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B31876-AD54-BEB1-39E4-41BF05A002BC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AE21073-3ECC-FE4F-789B-D1DFD8605C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051C06D-B44F-1EB7-F092-EE06BC36B76E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B7306D4A-5C41-31B5-B1A3-B31C091E3E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A30F456-6F43-1255-99EA-557A257C1BDB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273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771BE94E-790A-CE26-2321-93FA9DE9E364}"/>
              </a:ext>
            </a:extLst>
          </p:cNvPr>
          <p:cNvSpPr txBox="1"/>
          <p:nvPr/>
        </p:nvSpPr>
        <p:spPr>
          <a:xfrm>
            <a:off x="704528" y="3744464"/>
            <a:ext cx="4157717" cy="7580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코터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신규 로직 적용</a:t>
            </a:r>
            <a:b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-.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HD (7/22, C#1)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재조건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조정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0" lang="en-US" altLang="ko-KR" sz="1000" b="1" kern="1200" cap="none" spc="0" normalizeH="0" baseline="0" noProof="0" dirty="0">
                <a:ln>
                  <a:noFill/>
                </a:ln>
                <a:uLnTx/>
                <a:uFillTx/>
                <a:latin typeface="Arial Narrow"/>
                <a:ea typeface="LG스마트체 Regular"/>
                <a:cs typeface="+mn-cs"/>
              </a:rPr>
              <a:t>3</a:t>
            </a:r>
            <a:r>
              <a:rPr lang="ko-KR" altLang="en-US" sz="1000" b="1" i="0" u="none" strike="noStrike" dirty="0">
                <a:effectLst/>
                <a:latin typeface="Arial Narrow"/>
                <a:ea typeface="LG스마트체 Regular"/>
              </a:rPr>
              <a:t>월 대비 </a:t>
            </a:r>
            <a:r>
              <a:rPr lang="en-US" altLang="ko-KR" sz="1000" b="1" i="0" u="none" strike="noStrike" dirty="0">
                <a:effectLst/>
                <a:latin typeface="Arial Narrow"/>
                <a:ea typeface="LG스마트체 Regular"/>
              </a:rPr>
              <a:t>89.58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%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감소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: </a:t>
            </a:r>
            <a:r>
              <a:rPr lang="en-US" altLang="ko-KR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0.192% (</a:t>
            </a:r>
            <a:r>
              <a:rPr lang="en-US" altLang="ko-KR" sz="100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→ 0.02% (8</a:t>
            </a:r>
            <a:r>
              <a:rPr lang="ko-KR" altLang="en-US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R="0" lvl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      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동시절연 로직 적용 </a:t>
            </a:r>
            <a:r>
              <a:rPr kumimoji="1"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(7/14~30) </a:t>
            </a:r>
            <a:r>
              <a:rPr kumimoji="1" lang="ko-KR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및 업데이트 진행 중</a:t>
            </a:r>
            <a:endParaRPr kumimoji="1" lang="en-US" altLang="ko-KR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735049" y="770223"/>
          <a:ext cx="8862107" cy="863275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09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증산을 위한 코터 자동보정 고도화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건조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양극 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%LEL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농도 기반 제어 알고리즘 개발 및 대표라인 적용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(OT)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및 검증 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[3Q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목표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</a:t>
                      </a:r>
                    </a:p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양극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코터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자동보정 기술 고도화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연간목표</a:t>
                      </a:r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br>
                        <a:rPr lang="en-US" altLang="ko-KR" sz="10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Q: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설비부동 후 재가동 불량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개선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ESS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JF2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생산법인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적용완료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/ D:’26.4Q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886AC133-7682-6B03-60D6-C59E4DC93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8350"/>
            <a:ext cx="448035" cy="8604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D472D93-EAC4-B645-93EC-0C2E8AC14F88}"/>
              </a:ext>
            </a:extLst>
          </p:cNvPr>
          <p:cNvSpPr>
            <a:spLocks noChangeAspect="1"/>
          </p:cNvSpPr>
          <p:nvPr/>
        </p:nvSpPr>
        <p:spPr>
          <a:xfrm>
            <a:off x="9129194" y="1229956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A849AAD-D75E-049C-E223-2379FB65B6B0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제목 3">
            <a:extLst>
              <a:ext uri="{FF2B5EF4-FFF2-40B4-BE49-F238E27FC236}">
                <a16:creationId xmlns:a16="http://schemas.microsoft.com/office/drawing/2014/main" id="{351DE5F0-89F5-CE7E-6529-92F2A887F4AB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244216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3.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KPI 08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월 진척 사항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(7/9)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744996A-BF77-B3EF-B58E-13AFAE8561DA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704501"/>
          <a:ext cx="8838509" cy="1709493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6655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66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47839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47839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478391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813072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27E1D57-6DD5-787C-4FAE-F4AB641B14BC}"/>
              </a:ext>
            </a:extLst>
          </p:cNvPr>
          <p:cNvCxnSpPr>
            <a:cxnSpLocks/>
          </p:cNvCxnSpPr>
          <p:nvPr/>
        </p:nvCxnSpPr>
        <p:spPr>
          <a:xfrm>
            <a:off x="1076601" y="2083102"/>
            <a:ext cx="1916781" cy="341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7739354-AB33-AC25-CD6F-1188C0B7E2D5}"/>
              </a:ext>
            </a:extLst>
          </p:cNvPr>
          <p:cNvCxnSpPr>
            <a:cxnSpLocks/>
          </p:cNvCxnSpPr>
          <p:nvPr/>
        </p:nvCxnSpPr>
        <p:spPr>
          <a:xfrm>
            <a:off x="1059988" y="2559509"/>
            <a:ext cx="592742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216BB4-9374-50B4-286D-C949E0AC60F3}"/>
              </a:ext>
            </a:extLst>
          </p:cNvPr>
          <p:cNvSpPr txBox="1"/>
          <p:nvPr/>
        </p:nvSpPr>
        <p:spPr>
          <a:xfrm>
            <a:off x="725556" y="1993275"/>
            <a:ext cx="563263" cy="44874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양극 건조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 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고도화 </a:t>
            </a:r>
          </a:p>
        </p:txBody>
      </p:sp>
      <p:grpSp>
        <p:nvGrpSpPr>
          <p:cNvPr id="13" name="그룹 1">
            <a:extLst>
              <a:ext uri="{FF2B5EF4-FFF2-40B4-BE49-F238E27FC236}">
                <a16:creationId xmlns:a16="http://schemas.microsoft.com/office/drawing/2014/main" id="{256A012A-8848-59F3-DD57-90E95AEC7615}"/>
              </a:ext>
            </a:extLst>
          </p:cNvPr>
          <p:cNvGrpSpPr/>
          <p:nvPr/>
        </p:nvGrpSpPr>
        <p:grpSpPr>
          <a:xfrm>
            <a:off x="6872120" y="1730440"/>
            <a:ext cx="205184" cy="1701558"/>
            <a:chOff x="2020628" y="1123354"/>
            <a:chExt cx="205184" cy="5097933"/>
          </a:xfrm>
        </p:grpSpPr>
        <p:grpSp>
          <p:nvGrpSpPr>
            <p:cNvPr id="19" name="그룹 2">
              <a:extLst>
                <a:ext uri="{FF2B5EF4-FFF2-40B4-BE49-F238E27FC236}">
                  <a16:creationId xmlns:a16="http://schemas.microsoft.com/office/drawing/2014/main" id="{23D3DC05-0E95-E2AA-C39E-20AEBF4A655C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643227"/>
              <a:chOff x="4167960" y="2510051"/>
              <a:chExt cx="120667" cy="4813385"/>
            </a:xfrm>
          </p:grpSpPr>
          <p:cxnSp>
            <p:nvCxnSpPr>
              <p:cNvPr id="23" name="직선 연결선 167">
                <a:extLst>
                  <a:ext uri="{FF2B5EF4-FFF2-40B4-BE49-F238E27FC236}">
                    <a16:creationId xmlns:a16="http://schemas.microsoft.com/office/drawing/2014/main" id="{0520EE27-FFED-F6B2-8622-FC7E9093F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63750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24" name="이등변 삼각형 7">
                <a:extLst>
                  <a:ext uri="{FF2B5EF4-FFF2-40B4-BE49-F238E27FC236}">
                    <a16:creationId xmlns:a16="http://schemas.microsoft.com/office/drawing/2014/main" id="{8E3203AB-579C-E7A3-F57F-BCEC54EFAEF3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20" name="Text Box 4">
              <a:extLst>
                <a:ext uri="{FF2B5EF4-FFF2-40B4-BE49-F238E27FC236}">
                  <a16:creationId xmlns:a16="http://schemas.microsoft.com/office/drawing/2014/main" id="{BDA61336-9A8A-70F1-9DA6-32A2D8DE8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C060C9F6-38EF-4C6D-142E-655BE8C61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702099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32F1C6-407B-4D63-889F-F5226801A8CB}"/>
              </a:ext>
            </a:extLst>
          </p:cNvPr>
          <p:cNvSpPr txBox="1"/>
          <p:nvPr/>
        </p:nvSpPr>
        <p:spPr>
          <a:xfrm>
            <a:off x="726023" y="2466782"/>
            <a:ext cx="559260" cy="4495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건조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고도화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 전개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29" name="그룹 1">
            <a:extLst>
              <a:ext uri="{FF2B5EF4-FFF2-40B4-BE49-F238E27FC236}">
                <a16:creationId xmlns:a16="http://schemas.microsoft.com/office/drawing/2014/main" id="{FEEA6E3F-0289-C665-8279-5E4FB6D06DDA}"/>
              </a:ext>
            </a:extLst>
          </p:cNvPr>
          <p:cNvGrpSpPr/>
          <p:nvPr/>
        </p:nvGrpSpPr>
        <p:grpSpPr>
          <a:xfrm>
            <a:off x="5673080" y="1802551"/>
            <a:ext cx="231190" cy="1606572"/>
            <a:chOff x="2020628" y="1123354"/>
            <a:chExt cx="205184" cy="5005022"/>
          </a:xfrm>
        </p:grpSpPr>
        <p:grpSp>
          <p:nvGrpSpPr>
            <p:cNvPr id="31" name="그룹 2">
              <a:extLst>
                <a:ext uri="{FF2B5EF4-FFF2-40B4-BE49-F238E27FC236}">
                  <a16:creationId xmlns:a16="http://schemas.microsoft.com/office/drawing/2014/main" id="{E71CDA33-F696-B747-7E45-9BE4CC5F8DA9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35" name="직선 연결선 167">
                <a:extLst>
                  <a:ext uri="{FF2B5EF4-FFF2-40B4-BE49-F238E27FC236}">
                    <a16:creationId xmlns:a16="http://schemas.microsoft.com/office/drawing/2014/main" id="{6F72A6C5-395A-8A9C-1A80-FEE3B83B4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36" name="이등변 삼각형 7">
                <a:extLst>
                  <a:ext uri="{FF2B5EF4-FFF2-40B4-BE49-F238E27FC236}">
                    <a16:creationId xmlns:a16="http://schemas.microsoft.com/office/drawing/2014/main" id="{CAEEF5D2-2560-913E-D0F0-B01E1DE2FC18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33" name="Text Box 4">
              <a:extLst>
                <a:ext uri="{FF2B5EF4-FFF2-40B4-BE49-F238E27FC236}">
                  <a16:creationId xmlns:a16="http://schemas.microsoft.com/office/drawing/2014/main" id="{BA1C647F-A35E-A6DE-5AFA-042014F4A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D085B2CF-56C6-73E3-A9EC-9C8DC59FF856}"/>
              </a:ext>
            </a:extLst>
          </p:cNvPr>
          <p:cNvSpPr txBox="1"/>
          <p:nvPr/>
        </p:nvSpPr>
        <p:spPr>
          <a:xfrm>
            <a:off x="726023" y="2941098"/>
            <a:ext cx="559260" cy="4495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미스매치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고도화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 전개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01CE895-2DF8-B327-1A17-9B32F8A716BF}"/>
              </a:ext>
            </a:extLst>
          </p:cNvPr>
          <p:cNvGrpSpPr/>
          <p:nvPr/>
        </p:nvGrpSpPr>
        <p:grpSpPr>
          <a:xfrm>
            <a:off x="1282547" y="2012346"/>
            <a:ext cx="5703606" cy="1413551"/>
            <a:chOff x="1279637" y="2012346"/>
            <a:chExt cx="6899547" cy="1413551"/>
          </a:xfrm>
        </p:grpSpPr>
        <p:sp>
          <p:nvSpPr>
            <p:cNvPr id="42" name="Oval 113">
              <a:extLst>
                <a:ext uri="{FF2B5EF4-FFF2-40B4-BE49-F238E27FC236}">
                  <a16:creationId xmlns:a16="http://schemas.microsoft.com/office/drawing/2014/main" id="{7EA17DAB-B8BC-31A8-6685-717A9A32C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902" y="2012346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27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FE818B3-C85E-C424-A7FA-8D4AE7F7AA87}"/>
                </a:ext>
              </a:extLst>
            </p:cNvPr>
            <p:cNvSpPr txBox="1"/>
            <p:nvPr/>
          </p:nvSpPr>
          <p:spPr>
            <a:xfrm>
              <a:off x="1279637" y="2198617"/>
              <a:ext cx="471206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고도화 </a:t>
              </a:r>
              <a:endParaRPr kumimoji="0" lang="en-US" altLang="ko-KR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요건 정의</a:t>
              </a:r>
              <a:endParaRPr kumimoji="0" lang="en-US" altLang="ko-KR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4" name="Oval 113">
              <a:extLst>
                <a:ext uri="{FF2B5EF4-FFF2-40B4-BE49-F238E27FC236}">
                  <a16:creationId xmlns:a16="http://schemas.microsoft.com/office/drawing/2014/main" id="{309A9BC9-4E68-6280-BCC1-A8A1B4FF4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300" y="2012346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31</a:t>
              </a:r>
            </a:p>
          </p:txBody>
        </p:sp>
        <p:sp>
          <p:nvSpPr>
            <p:cNvPr id="51" name="Oval 113">
              <a:extLst>
                <a:ext uri="{FF2B5EF4-FFF2-40B4-BE49-F238E27FC236}">
                  <a16:creationId xmlns:a16="http://schemas.microsoft.com/office/drawing/2014/main" id="{D317F872-E1C1-A76C-381F-52FF61ABE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791" y="2012346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23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30C5215-E1D1-677B-A0BF-92C94B8BF3CD}"/>
                </a:ext>
              </a:extLst>
            </p:cNvPr>
            <p:cNvSpPr txBox="1"/>
            <p:nvPr/>
          </p:nvSpPr>
          <p:spPr>
            <a:xfrm>
              <a:off x="1949261" y="2198617"/>
              <a:ext cx="22106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로직</a:t>
              </a:r>
              <a:endParaRPr kumimoji="0" lang="en-US" altLang="ko-KR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개발</a:t>
              </a:r>
              <a:endParaRPr kumimoji="0" lang="en-US" altLang="ko-KR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7B42F42-335A-F0B6-7C12-FEFCDFB7E9F6}"/>
                </a:ext>
              </a:extLst>
            </p:cNvPr>
            <p:cNvSpPr txBox="1"/>
            <p:nvPr/>
          </p:nvSpPr>
          <p:spPr>
            <a:xfrm>
              <a:off x="2461305" y="2198617"/>
              <a:ext cx="692267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대표호기 적용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로직 검증 </a:t>
              </a: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*OT</a:t>
              </a:r>
            </a:p>
          </p:txBody>
        </p:sp>
        <p:sp>
          <p:nvSpPr>
            <p:cNvPr id="55" name="Oval 113">
              <a:extLst>
                <a:ext uri="{FF2B5EF4-FFF2-40B4-BE49-F238E27FC236}">
                  <a16:creationId xmlns:a16="http://schemas.microsoft.com/office/drawing/2014/main" id="{8ECD4EB4-FE9E-23F7-1E0D-18DC8ACB2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248" y="2485764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31</a:t>
              </a:r>
            </a:p>
          </p:txBody>
        </p:sp>
        <p:sp>
          <p:nvSpPr>
            <p:cNvPr id="56" name="Oval 113">
              <a:extLst>
                <a:ext uri="{FF2B5EF4-FFF2-40B4-BE49-F238E27FC236}">
                  <a16:creationId xmlns:a16="http://schemas.microsoft.com/office/drawing/2014/main" id="{502D172B-690E-D25E-1152-9F1771870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843" y="2485764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BFE4C6E-10EF-C5AA-02DE-EE0498AB02D7}"/>
                </a:ext>
              </a:extLst>
            </p:cNvPr>
            <p:cNvSpPr txBox="1"/>
            <p:nvPr/>
          </p:nvSpPr>
          <p:spPr>
            <a:xfrm>
              <a:off x="4094660" y="2638454"/>
              <a:ext cx="478963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GM_TN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 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1,2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OT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 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2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7C8C780-66A1-1D22-92E1-C598BE0D4A42}"/>
                </a:ext>
              </a:extLst>
            </p:cNvPr>
            <p:cNvSpPr txBox="1"/>
            <p:nvPr/>
          </p:nvSpPr>
          <p:spPr>
            <a:xfrm>
              <a:off x="6203448" y="2638454"/>
              <a:ext cx="399459" cy="923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ES_HD 2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80" name="Oval 113">
              <a:extLst>
                <a:ext uri="{FF2B5EF4-FFF2-40B4-BE49-F238E27FC236}">
                  <a16:creationId xmlns:a16="http://schemas.microsoft.com/office/drawing/2014/main" id="{811C2A84-466D-C6F1-9087-75EFED8A0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4990" y="2485764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31</a:t>
              </a:r>
            </a:p>
          </p:txBody>
        </p:sp>
        <p:sp>
          <p:nvSpPr>
            <p:cNvPr id="82" name="Oval 113">
              <a:extLst>
                <a:ext uri="{FF2B5EF4-FFF2-40B4-BE49-F238E27FC236}">
                  <a16:creationId xmlns:a16="http://schemas.microsoft.com/office/drawing/2014/main" id="{ECF156C4-5B9C-8F48-C6DD-C2E8D0A6D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9625" y="2485764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E54353C-83A3-0E2C-CCAF-D600DCB8821A}"/>
                </a:ext>
              </a:extLst>
            </p:cNvPr>
            <p:cNvSpPr txBox="1"/>
            <p:nvPr/>
          </p:nvSpPr>
          <p:spPr>
            <a:xfrm>
              <a:off x="5485955" y="2638454"/>
              <a:ext cx="37231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MI_HL 5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MI_LS 2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7C095F4-6A77-E51C-A23D-3E462F6FB07F}"/>
                </a:ext>
              </a:extLst>
            </p:cNvPr>
            <p:cNvSpPr txBox="1"/>
            <p:nvPr/>
          </p:nvSpPr>
          <p:spPr>
            <a:xfrm>
              <a:off x="7817557" y="2638454"/>
              <a:ext cx="254025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OT 1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C5B8DE35-2578-1BA7-B9C0-924035B06BC2}"/>
                </a:ext>
              </a:extLst>
            </p:cNvPr>
            <p:cNvCxnSpPr>
              <a:cxnSpLocks/>
              <a:endCxn id="5" idx="6"/>
            </p:cNvCxnSpPr>
            <p:nvPr/>
          </p:nvCxnSpPr>
          <p:spPr>
            <a:xfrm>
              <a:off x="3677478" y="3053582"/>
              <a:ext cx="372186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113">
              <a:extLst>
                <a:ext uri="{FF2B5EF4-FFF2-40B4-BE49-F238E27FC236}">
                  <a16:creationId xmlns:a16="http://schemas.microsoft.com/office/drawing/2014/main" id="{73D81C1B-B79C-87D7-B189-02E7E097D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5980" y="2986756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30</a:t>
              </a:r>
            </a:p>
          </p:txBody>
        </p:sp>
        <p:sp>
          <p:nvSpPr>
            <p:cNvPr id="88" name="Oval 113">
              <a:extLst>
                <a:ext uri="{FF2B5EF4-FFF2-40B4-BE49-F238E27FC236}">
                  <a16:creationId xmlns:a16="http://schemas.microsoft.com/office/drawing/2014/main" id="{DBE1B575-A9E6-AB22-4BDC-30EB8136B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9625" y="2991195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31</a:t>
              </a:r>
            </a:p>
          </p:txBody>
        </p:sp>
        <p:sp>
          <p:nvSpPr>
            <p:cNvPr id="89" name="Oval 113">
              <a:extLst>
                <a:ext uri="{FF2B5EF4-FFF2-40B4-BE49-F238E27FC236}">
                  <a16:creationId xmlns:a16="http://schemas.microsoft.com/office/drawing/2014/main" id="{EF29DACB-ED2E-E428-93F8-EEFE24C8C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133" y="2989461"/>
              <a:ext cx="174194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661E004-5734-1D50-1508-0DEE63E6687F}"/>
                </a:ext>
              </a:extLst>
            </p:cNvPr>
            <p:cNvSpPr txBox="1"/>
            <p:nvPr/>
          </p:nvSpPr>
          <p:spPr>
            <a:xfrm>
              <a:off x="4711952" y="3148898"/>
              <a:ext cx="45957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MI_HL 3~5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CAE3558-9CE0-2342-4059-676301D270F9}"/>
                </a:ext>
              </a:extLst>
            </p:cNvPr>
            <p:cNvSpPr txBox="1"/>
            <p:nvPr/>
          </p:nvSpPr>
          <p:spPr>
            <a:xfrm>
              <a:off x="5488014" y="3148898"/>
              <a:ext cx="43242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OT 1,2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HD 1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MI_LS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1,2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B672BA0-D155-9CD7-64BA-D650E359E7AB}"/>
                </a:ext>
              </a:extLst>
            </p:cNvPr>
            <p:cNvSpPr txBox="1"/>
            <p:nvPr/>
          </p:nvSpPr>
          <p:spPr>
            <a:xfrm>
              <a:off x="6224004" y="3148898"/>
              <a:ext cx="41497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GM_TN 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호</a:t>
              </a:r>
              <a:endParaRPr kumimoji="0" lang="en-US" altLang="ko-KR" sz="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HD 2</a:t>
              </a:r>
              <a:r>
                <a:rPr lang="ko-KR" altLang="en-US" sz="60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호</a:t>
              </a:r>
              <a:endPara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01" name="Rectangle 4">
            <a:extLst>
              <a:ext uri="{FF2B5EF4-FFF2-40B4-BE49-F238E27FC236}">
                <a16:creationId xmlns:a16="http://schemas.microsoft.com/office/drawing/2014/main" id="{0012FE15-F9C9-4A40-8B51-8F892C524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486577"/>
            <a:ext cx="448035" cy="325497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B39CF40-FC67-93DE-4B2C-377E2D74B393}"/>
              </a:ext>
            </a:extLst>
          </p:cNvPr>
          <p:cNvSpPr txBox="1"/>
          <p:nvPr/>
        </p:nvSpPr>
        <p:spPr>
          <a:xfrm>
            <a:off x="5123225" y="3717032"/>
            <a:ext cx="4136273" cy="484235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,Sans-Serif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코터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미스매치 고도화 로직 적용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-.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잔여호기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(1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대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수평전개 예정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GM_TN 1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호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(~9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3667F45-22A9-FEF0-ABDC-E7DDCB15A050}"/>
              </a:ext>
            </a:extLst>
          </p:cNvPr>
          <p:cNvSpPr txBox="1"/>
          <p:nvPr/>
        </p:nvSpPr>
        <p:spPr>
          <a:xfrm>
            <a:off x="773526" y="5059417"/>
            <a:ext cx="4157717" cy="13152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극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%LEL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농도 기반 제어 알고리즘 개발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로직 셋업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100%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완료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(5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 법인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대 중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양산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적용률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60%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(5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 법인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대 중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6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대 완료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1) HD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적용 논의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(7/24)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및 양산 적용 진행 중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(~9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.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양극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2호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적용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(8/20),</a:t>
            </a:r>
            <a:r>
              <a:rPr lang="en-US" altLang="ko-KR" sz="1000" dirty="0"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latin typeface="Arial Narrow"/>
                <a:ea typeface="LG스마트체 Regular"/>
              </a:rPr>
              <a:t>양극 </a:t>
            </a:r>
            <a:r>
              <a:rPr lang="en-US" altLang="ko-KR" sz="1000" dirty="0">
                <a:latin typeface="Arial Narrow"/>
                <a:ea typeface="LG스마트체 Regular"/>
              </a:rPr>
              <a:t>1</a:t>
            </a:r>
            <a:r>
              <a:rPr lang="ko-KR" altLang="en-US" sz="1000" dirty="0">
                <a:latin typeface="Arial Narrow"/>
                <a:ea typeface="LG스마트체 Regular"/>
              </a:rPr>
              <a:t>호 법인과 일정 협의 후 진행 예정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</a:t>
            </a:r>
            <a:r>
              <a:rPr lang="en-US" altLang="ko-KR" sz="1000" dirty="0">
                <a:latin typeface="Arial Narrow"/>
                <a:ea typeface="LG스마트체 Regular"/>
              </a:rPr>
              <a:t>2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 MI_HL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양극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3, 4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호기 양산 적용 진행 중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(~9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lang="en-US" altLang="ko-KR" sz="1000" dirty="0">
                <a:latin typeface="Arial Narrow"/>
                <a:ea typeface="LG스마트체 Regular"/>
              </a:rPr>
            </a:br>
            <a:r>
              <a:rPr lang="en-US" altLang="ko-KR" sz="1000" dirty="0">
                <a:latin typeface="Arial Narrow"/>
                <a:ea typeface="LG스마트체 Regular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.양극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3호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G Smart_H Regular"/>
                <a:ea typeface="LG스마트체 Regular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G Smart_H Regular"/>
                <a:ea typeface="LG스마트체 Regular"/>
                <a:cs typeface="+mn-cs"/>
              </a:rPr>
              <a:t>일정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G Smart_H Regular"/>
                <a:ea typeface="LG스마트체 Regular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G Smart_H Regular"/>
                <a:ea typeface="LG스마트체 Regular"/>
                <a:cs typeface="+mn-cs"/>
              </a:rPr>
              <a:t>재조율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G Smart_H Regular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G Smart_H Regular"/>
                <a:ea typeface="LG스마트체 Regular"/>
                <a:cs typeface="+mn-cs"/>
              </a:rPr>
              <a:t>(9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G Smart_H Regular"/>
                <a:ea typeface="LG스마트체 Regular"/>
                <a:cs typeface="+mn-cs"/>
              </a:rPr>
              <a:t>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G Smart_H Regular"/>
                <a:ea typeface="LG스마트체 Regular"/>
                <a:cs typeface="+mn-cs"/>
              </a:rPr>
              <a:t>),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양극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4호 LEL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센서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검교정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이후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예정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8D37DA1-80C2-D6BF-9EED-E52D9238F3D7}"/>
              </a:ext>
            </a:extLst>
          </p:cNvPr>
          <p:cNvSpPr txBox="1"/>
          <p:nvPr/>
        </p:nvSpPr>
        <p:spPr>
          <a:xfrm>
            <a:off x="983829" y="6446084"/>
            <a:ext cx="3912736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/>
                <a:ea typeface="LG스마트체 Regular"/>
                <a:cs typeface="+mn-lt"/>
              </a:rPr>
              <a:t>※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/>
                <a:ea typeface="LG스마트체 Regular"/>
                <a:cs typeface="+mn-lt"/>
              </a:rPr>
              <a:t>대상호기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/>
                <a:ea typeface="LG스마트체 Regular"/>
                <a:cs typeface="+mn-lt"/>
              </a:rPr>
              <a:t>: MI_HL(3 #3,4,5),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/>
                <a:ea typeface="LG스마트체 Regular"/>
                <a:cs typeface="+mn-lt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/>
                <a:ea typeface="LG스마트체 Regular"/>
                <a:cs typeface="+mn-lt"/>
              </a:rPr>
              <a:t>MI_LS(1 #2),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/>
                <a:ea typeface="LG스마트체 Regular"/>
                <a:cs typeface="+mn-lt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/>
                <a:ea typeface="LG스마트체 Regular"/>
                <a:cs typeface="+mn-lt"/>
              </a:rPr>
              <a:t>OT(2 #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1,2),</a:t>
            </a:r>
            <a:r>
              <a:rPr lang="ko-KR" altLang="en-US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 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HD(2 #1,2), GM_TN(2 #1,2)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※ HD</a:t>
            </a:r>
            <a:r>
              <a:rPr lang="ko-KR" altLang="en-US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 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#3</a:t>
            </a:r>
            <a:r>
              <a:rPr lang="ko-KR" altLang="en-US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은 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’28</a:t>
            </a:r>
            <a:r>
              <a:rPr lang="ko-KR" altLang="en-US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년 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Sample </a:t>
            </a:r>
            <a:r>
              <a:rPr lang="ko-KR" altLang="en-US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생산 예정으로 대상 호기에서 제외</a:t>
            </a:r>
            <a:endParaRPr lang="en-US" altLang="ko-KR" sz="900" dirty="0">
              <a:solidFill>
                <a:srgbClr val="008000"/>
              </a:solidFill>
              <a:latin typeface="Arial Narrow"/>
              <a:ea typeface="LG스마트체 Regular"/>
              <a:cs typeface="+mn-lt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3FA272B-0C92-7AB1-4437-2FF725C801F3}"/>
              </a:ext>
            </a:extLst>
          </p:cNvPr>
          <p:cNvSpPr txBox="1"/>
          <p:nvPr/>
        </p:nvSpPr>
        <p:spPr>
          <a:xfrm>
            <a:off x="883094" y="4512011"/>
            <a:ext cx="4240129" cy="5396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미스매치 고도화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적용률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8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0%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법인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 중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 완료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1) HD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호기 적용 완료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(8/21) </a:t>
            </a: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2) GM_TN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호기 적용 완료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(8/27)</a:t>
            </a:r>
            <a:endParaRPr kumimoji="1"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7DDD5249-9E45-B5CC-6534-C3D0398983F0}"/>
              </a:ext>
            </a:extLst>
          </p:cNvPr>
          <p:cNvSpPr/>
          <p:nvPr/>
        </p:nvSpPr>
        <p:spPr>
          <a:xfrm>
            <a:off x="7193374" y="1677520"/>
            <a:ext cx="2485745" cy="1809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A9C28438-75ED-87DC-1D4D-0BEA9287ED72}"/>
              </a:ext>
            </a:extLst>
          </p:cNvPr>
          <p:cNvGraphicFramePr>
            <a:graphicFrameLocks noGrp="1"/>
          </p:cNvGraphicFramePr>
          <p:nvPr/>
        </p:nvGraphicFramePr>
        <p:xfrm>
          <a:off x="7289537" y="1819197"/>
          <a:ext cx="2465251" cy="1588770"/>
        </p:xfrm>
        <a:graphic>
          <a:graphicData uri="http://schemas.openxmlformats.org/drawingml/2006/table">
            <a:tbl>
              <a:tblPr/>
              <a:tblGrid>
                <a:gridCol w="288000">
                  <a:extLst>
                    <a:ext uri="{9D8B030D-6E8A-4147-A177-3AD203B41FA5}">
                      <a16:colId xmlns:a16="http://schemas.microsoft.com/office/drawing/2014/main" val="1558565118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1740805576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1401297064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776211066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3878033285"/>
                    </a:ext>
                  </a:extLst>
                </a:gridCol>
                <a:gridCol w="672302">
                  <a:extLst>
                    <a:ext uri="{9D8B030D-6E8A-4147-A177-3AD203B41FA5}">
                      <a16:colId xmlns:a16="http://schemas.microsoft.com/office/drawing/2014/main" val="995703278"/>
                    </a:ext>
                  </a:extLst>
                </a:gridCol>
              </a:tblGrid>
              <a:tr h="1895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ESS(JF2)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호기</a:t>
                      </a:r>
                      <a:endParaRPr lang="ko-KR" altLang="en-US" sz="1600" b="1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Line Speed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로직 셋업</a:t>
                      </a:r>
                      <a:endParaRPr lang="ko-KR" altLang="en-US" sz="1600" b="1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양산 적용</a:t>
                      </a:r>
                      <a:endParaRPr lang="ko-KR" altLang="en-US" sz="1600" b="1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비고</a:t>
                      </a:r>
                      <a:endParaRPr lang="ko-KR" altLang="en-US" sz="1600" b="1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626902"/>
                  </a:ext>
                </a:extLst>
              </a:tr>
              <a:tr h="10321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◐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진행중 </a:t>
                      </a:r>
                      <a:r>
                        <a:rPr lang="en-US" altLang="ko-KR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</a:t>
                      </a:r>
                      <a:r>
                        <a:rPr lang="ko-KR" altLang="en-US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7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696966"/>
                  </a:ext>
                </a:extLst>
              </a:tr>
              <a:tr h="197968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◐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LEL </a:t>
                      </a:r>
                      <a:r>
                        <a:rPr lang="ko-KR" altLang="en-US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 검교정 후 진행 예정</a:t>
                      </a:r>
                      <a:endParaRPr lang="en-US" altLang="ko-KR" sz="7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23721"/>
                  </a:ext>
                </a:extLst>
              </a:tr>
              <a:tr h="103214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22396"/>
                  </a:ext>
                </a:extLst>
              </a:tr>
              <a:tr h="1032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MI_LS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263603"/>
                  </a:ext>
                </a:extLst>
              </a:tr>
              <a:tr h="1979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◐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LEL </a:t>
                      </a:r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 </a:t>
                      </a:r>
                      <a:r>
                        <a:rPr lang="ko-KR" altLang="en-US" sz="7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검교정</a:t>
                      </a:r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후 진행 예정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605859"/>
                  </a:ext>
                </a:extLst>
              </a:tr>
              <a:tr h="103214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116104"/>
                  </a:ext>
                </a:extLst>
              </a:tr>
              <a:tr h="1032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◐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진행중 </a:t>
                      </a:r>
                      <a:r>
                        <a:rPr lang="en-US" altLang="ko-KR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</a:t>
                      </a:r>
                      <a:r>
                        <a:rPr lang="ko-KR" altLang="en-US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7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62986"/>
                  </a:ext>
                </a:extLst>
              </a:tr>
              <a:tr h="103214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844203"/>
                  </a:ext>
                </a:extLst>
              </a:tr>
              <a:tr h="1032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GM_TN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62836"/>
                  </a:ext>
                </a:extLst>
              </a:tr>
              <a:tr h="103214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855917"/>
                  </a:ext>
                </a:extLst>
              </a:tr>
            </a:tbl>
          </a:graphicData>
        </a:graphic>
      </p:graphicFrame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04194113-5B31-FA41-819C-09C2E6E77149}"/>
              </a:ext>
            </a:extLst>
          </p:cNvPr>
          <p:cNvGraphicFramePr>
            <a:graphicFrameLocks noGrp="1"/>
          </p:cNvGraphicFramePr>
          <p:nvPr/>
        </p:nvGraphicFramePr>
        <p:xfrm>
          <a:off x="8801821" y="1692598"/>
          <a:ext cx="1054735" cy="9144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5214382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623125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6065714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727821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전개 완료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62198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A61BF2DA-7A5F-1626-C22A-799B21A72311}"/>
              </a:ext>
            </a:extLst>
          </p:cNvPr>
          <p:cNvSpPr txBox="1"/>
          <p:nvPr/>
        </p:nvSpPr>
        <p:spPr>
          <a:xfrm>
            <a:off x="7198499" y="1634888"/>
            <a:ext cx="15863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ESS </a:t>
            </a:r>
            <a:r>
              <a:rPr kumimoji="1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양극 </a:t>
            </a:r>
            <a:r>
              <a:rPr kumimoji="1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증속</a:t>
            </a:r>
            <a:r>
              <a:rPr kumimoji="1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설비 및 건조 적용 현황</a:t>
            </a: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3CD4FE5-D332-66EE-3AAB-C9B6D48ECF43}"/>
              </a:ext>
            </a:extLst>
          </p:cNvPr>
          <p:cNvSpPr txBox="1"/>
          <p:nvPr/>
        </p:nvSpPr>
        <p:spPr>
          <a:xfrm>
            <a:off x="5123226" y="4235122"/>
            <a:ext cx="4582304" cy="665695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,Sans-Serif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양극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%LEL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농도 기반 제어 알고리즘 적용 및 로직 검증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-.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잔여호기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(4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대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)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적용 및 검증 예정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: MI_HL 3,4호(~9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월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), HD 1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호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(~9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월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), OT 1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호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(~10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월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" name="Oval 113">
            <a:extLst>
              <a:ext uri="{FF2B5EF4-FFF2-40B4-BE49-F238E27FC236}">
                <a16:creationId xmlns:a16="http://schemas.microsoft.com/office/drawing/2014/main" id="{87FC2BC3-96E2-BB43-49C4-D2B3926D5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895" y="2492912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102235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30</a:t>
            </a:r>
          </a:p>
        </p:txBody>
      </p:sp>
      <p:sp>
        <p:nvSpPr>
          <p:cNvPr id="5" name="Oval 113">
            <a:extLst>
              <a:ext uri="{FF2B5EF4-FFF2-40B4-BE49-F238E27FC236}">
                <a16:creationId xmlns:a16="http://schemas.microsoft.com/office/drawing/2014/main" id="{CFF12435-3C92-163B-2D17-1D140F4DD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495" y="2981582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102235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30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6925B5-A8A4-13F4-EC73-C80490D377F5}"/>
              </a:ext>
            </a:extLst>
          </p:cNvPr>
          <p:cNvSpPr txBox="1"/>
          <p:nvPr/>
        </p:nvSpPr>
        <p:spPr>
          <a:xfrm>
            <a:off x="5923477" y="3148898"/>
            <a:ext cx="485709" cy="923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lvl="0" algn="ctr"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GM_T</a:t>
            </a:r>
            <a:r>
              <a:rPr lang="en-US" altLang="ko-KR" sz="60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HD 2</a:t>
            </a: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9AA5CE-C1FC-A9EA-B9BF-0B6BF07904D9}"/>
              </a:ext>
            </a:extLst>
          </p:cNvPr>
          <p:cNvSpPr txBox="1"/>
          <p:nvPr/>
        </p:nvSpPr>
        <p:spPr>
          <a:xfrm>
            <a:off x="5945483" y="2638454"/>
            <a:ext cx="365485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MI_HL 3,4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ES_HD 1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C2CBD1-F504-B290-95AD-31527E544DCA}"/>
              </a:ext>
            </a:extLst>
          </p:cNvPr>
          <p:cNvSpPr txBox="1"/>
          <p:nvPr/>
        </p:nvSpPr>
        <p:spPr>
          <a:xfrm>
            <a:off x="3527033" y="5697601"/>
            <a:ext cx="1721509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※ </a:t>
            </a:r>
            <a:r>
              <a:rPr lang="en-US" altLang="ko-KR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HD </a:t>
            </a:r>
            <a:r>
              <a:rPr lang="ko-KR" altLang="en-US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양</a:t>
            </a:r>
            <a:r>
              <a:rPr lang="en-US" altLang="ko-KR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1 </a:t>
            </a:r>
            <a:r>
              <a:rPr lang="ko-KR" altLang="en-US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증속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 </a:t>
            </a:r>
            <a:r>
              <a:rPr lang="ko-KR" altLang="en-US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예정 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(</a:t>
            </a:r>
            <a:r>
              <a:rPr lang="en-US" altLang="ko-KR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63</a:t>
            </a:r>
            <a:r>
              <a:rPr lang="ko-KR" altLang="en-US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→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75, </a:t>
            </a:r>
            <a:r>
              <a:rPr lang="en-US" altLang="ko-KR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9</a:t>
            </a:r>
            <a:r>
              <a:rPr lang="ko-KR" altLang="en-US" sz="90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월</a:t>
            </a: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)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00AC517-5B2B-4F1F-DCA0-E40C90B5B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199" y="2691560"/>
            <a:ext cx="5173146" cy="1169935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08C5E449-015C-DDF9-D7E5-D3863FAC1806}"/>
              </a:ext>
            </a:extLst>
          </p:cNvPr>
          <p:cNvGrpSpPr/>
          <p:nvPr/>
        </p:nvGrpSpPr>
        <p:grpSpPr>
          <a:xfrm>
            <a:off x="839581" y="3395524"/>
            <a:ext cx="4008771" cy="317996"/>
            <a:chOff x="961536" y="4488828"/>
            <a:chExt cx="4008771" cy="317996"/>
          </a:xfrm>
        </p:grpSpPr>
        <p:sp>
          <p:nvSpPr>
            <p:cNvPr id="32" name="제목 9">
              <a:extLst>
                <a:ext uri="{FF2B5EF4-FFF2-40B4-BE49-F238E27FC236}">
                  <a16:creationId xmlns:a16="http://schemas.microsoft.com/office/drawing/2014/main" id="{AF85F5FE-F9B7-2CB7-D760-2E09D7C619B8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4" name="직선 연결선 2">
              <a:extLst>
                <a:ext uri="{FF2B5EF4-FFF2-40B4-BE49-F238E27FC236}">
                  <a16:creationId xmlns:a16="http://schemas.microsoft.com/office/drawing/2014/main" id="{06089CDC-CB24-4AB9-8F0A-7B37C81628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7920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E3A9373-42F3-097A-9BF6-AAEA68B8FE0D}"/>
              </a:ext>
            </a:extLst>
          </p:cNvPr>
          <p:cNvGrpSpPr/>
          <p:nvPr/>
        </p:nvGrpSpPr>
        <p:grpSpPr>
          <a:xfrm>
            <a:off x="5141076" y="3399036"/>
            <a:ext cx="4553251" cy="317996"/>
            <a:chOff x="5152724" y="4496534"/>
            <a:chExt cx="4221222" cy="317996"/>
          </a:xfrm>
        </p:grpSpPr>
        <p:sp>
          <p:nvSpPr>
            <p:cNvPr id="38" name="제목 9">
              <a:extLst>
                <a:ext uri="{FF2B5EF4-FFF2-40B4-BE49-F238E27FC236}">
                  <a16:creationId xmlns:a16="http://schemas.microsoft.com/office/drawing/2014/main" id="{9BC7DCE2-093E-E737-9C9D-DB85D183C26D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9" name="직선 연결선 2">
              <a:extLst>
                <a:ext uri="{FF2B5EF4-FFF2-40B4-BE49-F238E27FC236}">
                  <a16:creationId xmlns:a16="http://schemas.microsoft.com/office/drawing/2014/main" id="{6B572EA1-A243-5493-20B8-4768E55D11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796826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860D37D-3AA4-E280-0DB7-6AFFDC97A87C}"/>
              </a:ext>
            </a:extLst>
          </p:cNvPr>
          <p:cNvSpPr txBox="1"/>
          <p:nvPr/>
        </p:nvSpPr>
        <p:spPr>
          <a:xfrm>
            <a:off x="5128452" y="4879084"/>
            <a:ext cx="3136916" cy="230832"/>
          </a:xfrm>
          <a:prstGeom prst="rect">
            <a:avLst/>
          </a:prstGeom>
          <a:noFill/>
        </p:spPr>
        <p:txBody>
          <a:bodyPr wrap="square" lIns="46800" rIns="468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※ ESS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생산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5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개 법인 양극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재조건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조정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Loss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확인 결과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(08.27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기준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)</a:t>
            </a: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140280ED-EAA2-D3C8-BE4E-638EE0890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10779"/>
              </p:ext>
            </p:extLst>
          </p:nvPr>
        </p:nvGraphicFramePr>
        <p:xfrm>
          <a:off x="5141076" y="5099773"/>
          <a:ext cx="4531115" cy="1680210"/>
        </p:xfrm>
        <a:graphic>
          <a:graphicData uri="http://schemas.openxmlformats.org/drawingml/2006/table">
            <a:tbl>
              <a:tblPr/>
              <a:tblGrid>
                <a:gridCol w="459996">
                  <a:extLst>
                    <a:ext uri="{9D8B030D-6E8A-4147-A177-3AD203B41FA5}">
                      <a16:colId xmlns:a16="http://schemas.microsoft.com/office/drawing/2014/main" val="1558565118"/>
                    </a:ext>
                  </a:extLst>
                </a:gridCol>
                <a:gridCol w="210554">
                  <a:extLst>
                    <a:ext uri="{9D8B030D-6E8A-4147-A177-3AD203B41FA5}">
                      <a16:colId xmlns:a16="http://schemas.microsoft.com/office/drawing/2014/main" val="1740805576"/>
                    </a:ext>
                  </a:extLst>
                </a:gridCol>
                <a:gridCol w="260562">
                  <a:extLst>
                    <a:ext uri="{9D8B030D-6E8A-4147-A177-3AD203B41FA5}">
                      <a16:colId xmlns:a16="http://schemas.microsoft.com/office/drawing/2014/main" val="198709572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404715179"/>
                    </a:ext>
                  </a:extLst>
                </a:gridCol>
                <a:gridCol w="682539">
                  <a:extLst>
                    <a:ext uri="{9D8B030D-6E8A-4147-A177-3AD203B41FA5}">
                      <a16:colId xmlns:a16="http://schemas.microsoft.com/office/drawing/2014/main" val="776211066"/>
                    </a:ext>
                  </a:extLst>
                </a:gridCol>
                <a:gridCol w="682539">
                  <a:extLst>
                    <a:ext uri="{9D8B030D-6E8A-4147-A177-3AD203B41FA5}">
                      <a16:colId xmlns:a16="http://schemas.microsoft.com/office/drawing/2014/main" val="3878033285"/>
                    </a:ext>
                  </a:extLst>
                </a:gridCol>
                <a:gridCol w="599022">
                  <a:extLst>
                    <a:ext uri="{9D8B030D-6E8A-4147-A177-3AD203B41FA5}">
                      <a16:colId xmlns:a16="http://schemas.microsoft.com/office/drawing/2014/main" val="2035694010"/>
                    </a:ext>
                  </a:extLst>
                </a:gridCol>
                <a:gridCol w="735791">
                  <a:extLst>
                    <a:ext uri="{9D8B030D-6E8A-4147-A177-3AD203B41FA5}">
                      <a16:colId xmlns:a16="http://schemas.microsoft.com/office/drawing/2014/main" val="3471282083"/>
                    </a:ext>
                  </a:extLst>
                </a:gridCol>
              </a:tblGrid>
              <a:tr h="7169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9525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호기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SOP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생산속도 </a:t>
                      </a:r>
                      <a:r>
                        <a:rPr lang="en-US" altLang="ko-KR" sz="8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(MPM)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2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재조건조정 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(%, 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평균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</a:t>
                      </a:r>
                      <a:endParaRPr kumimoji="0" lang="en-US" altLang="ko-KR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비고</a:t>
                      </a:r>
                      <a:endParaRPr kumimoji="0" lang="en-US" altLang="ko-KR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096606"/>
                  </a:ext>
                </a:extLst>
              </a:tr>
              <a:tr h="7169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26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6902"/>
                  </a:ext>
                </a:extLst>
              </a:tr>
              <a:tr h="7729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대표법인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25.05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60(25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72(26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0.339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53.89%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696966"/>
                  </a:ext>
                </a:extLst>
              </a:tr>
              <a:tr h="71692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25.05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60(25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72(26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0.429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0.167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61.11%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23721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증설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(26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22396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 호기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(#3~5)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0.384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0.176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54.15%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567999"/>
                  </a:ext>
                </a:extLst>
              </a:tr>
              <a:tr h="772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0.128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증설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(26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949508"/>
                  </a:ext>
                </a:extLst>
              </a:tr>
              <a:tr h="772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25.11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0.549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65.61%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139837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 (sample)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증설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(26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67100"/>
                  </a:ext>
                </a:extLst>
              </a:tr>
              <a:tr h="772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0.135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증속 예정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270555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 (sample)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증설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(26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535131"/>
                  </a:ext>
                </a:extLst>
              </a:tr>
              <a:tr h="772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GM_TN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033439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812497"/>
                  </a:ext>
                </a:extLst>
              </a:tr>
            </a:tbl>
          </a:graphicData>
        </a:graphic>
      </p:graphicFrame>
      <p:cxnSp>
        <p:nvCxnSpPr>
          <p:cNvPr id="47" name="직선 연결선 2">
            <a:extLst>
              <a:ext uri="{FF2B5EF4-FFF2-40B4-BE49-F238E27FC236}">
                <a16:creationId xmlns:a16="http://schemas.microsoft.com/office/drawing/2014/main" id="{72AA4658-378E-BFF6-FBDA-DE0A18B8BD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18939" y="4839572"/>
            <a:ext cx="455325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9828C50C-C779-FE85-6FB1-BF1E0166F8D4}"/>
              </a:ext>
            </a:extLst>
          </p:cNvPr>
          <p:cNvGraphicFramePr>
            <a:graphicFrameLocks noGrp="1"/>
          </p:cNvGraphicFramePr>
          <p:nvPr/>
        </p:nvGraphicFramePr>
        <p:xfrm>
          <a:off x="10115044" y="4020783"/>
          <a:ext cx="2830844" cy="2804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837">
                  <a:extLst>
                    <a:ext uri="{9D8B030D-6E8A-4147-A177-3AD203B41FA5}">
                      <a16:colId xmlns:a16="http://schemas.microsoft.com/office/drawing/2014/main" val="1538361273"/>
                    </a:ext>
                  </a:extLst>
                </a:gridCol>
                <a:gridCol w="340837">
                  <a:extLst>
                    <a:ext uri="{9D8B030D-6E8A-4147-A177-3AD203B41FA5}">
                      <a16:colId xmlns:a16="http://schemas.microsoft.com/office/drawing/2014/main" val="961051295"/>
                    </a:ext>
                  </a:extLst>
                </a:gridCol>
                <a:gridCol w="441981">
                  <a:extLst>
                    <a:ext uri="{9D8B030D-6E8A-4147-A177-3AD203B41FA5}">
                      <a16:colId xmlns:a16="http://schemas.microsoft.com/office/drawing/2014/main" val="4129795181"/>
                    </a:ext>
                  </a:extLst>
                </a:gridCol>
                <a:gridCol w="363171">
                  <a:extLst>
                    <a:ext uri="{9D8B030D-6E8A-4147-A177-3AD203B41FA5}">
                      <a16:colId xmlns:a16="http://schemas.microsoft.com/office/drawing/2014/main" val="3267389411"/>
                    </a:ext>
                  </a:extLst>
                </a:gridCol>
                <a:gridCol w="472782">
                  <a:extLst>
                    <a:ext uri="{9D8B030D-6E8A-4147-A177-3AD203B41FA5}">
                      <a16:colId xmlns:a16="http://schemas.microsoft.com/office/drawing/2014/main" val="2606418697"/>
                    </a:ext>
                  </a:extLst>
                </a:gridCol>
                <a:gridCol w="439188">
                  <a:extLst>
                    <a:ext uri="{9D8B030D-6E8A-4147-A177-3AD203B41FA5}">
                      <a16:colId xmlns:a16="http://schemas.microsoft.com/office/drawing/2014/main" val="349707753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544341585"/>
                    </a:ext>
                  </a:extLst>
                </a:gridCol>
              </a:tblGrid>
              <a:tr h="75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  <a:endParaRPr lang="ko-KR" altLang="en-US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  <a:endParaRPr lang="ko-KR" altLang="en-US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재조건조정 </a:t>
                      </a:r>
                      <a:r>
                        <a:rPr lang="en-US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endParaRPr lang="en-US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800" b="1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감소</a:t>
                      </a:r>
                      <a:endParaRPr lang="en-US" altLang="ko-KR" sz="800" b="1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ko-KR" altLang="en-US" sz="8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130774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</a:t>
                      </a:r>
                      <a:r>
                        <a:rPr lang="ko-KR" altLang="en-US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altLang="en-US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altLang="en-US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583206"/>
                  </a:ext>
                </a:extLst>
              </a:tr>
              <a:tr h="75931">
                <a:tc rowSpan="21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로딩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0.073%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0.007%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89.77%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771882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미스매치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0.007%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0.003%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59.17%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587435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</a:t>
                      </a:r>
                      <a:endParaRPr lang="ko-KR" altLang="en-US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0.013%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0.004%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70.87%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130048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접힘</a:t>
                      </a:r>
                      <a:endParaRPr lang="ko-KR" altLang="en-US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0.012%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0.000%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96.68%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87401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폭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0.023%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0.004%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84.76%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797683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0.211%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0.138%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34.33%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4517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0.339%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0.156%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53.89%</a:t>
                      </a:r>
                      <a:endParaRPr lang="en-US" altLang="ko-KR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452436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로딩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0.045%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0.004%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91.65%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465406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미스매치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0.004%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0.001%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84.59%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93695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0.015%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0.001%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92.61%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937381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접힘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0.001%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0.000%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71.82%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921691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폭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0.012%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0.002%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82.26%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22446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0.352%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0.159%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54.88%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666546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  <a:endParaRPr lang="ko-KR" altLang="en-US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0.429%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0.167%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61.11%</a:t>
                      </a:r>
                      <a:endParaRPr lang="en-US" altLang="ko-KR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951336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로딩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0.010%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증설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606991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미스매치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0.001%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519029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0.000%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218616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접힘</a:t>
                      </a:r>
                      <a:endParaRPr lang="ko-KR" altLang="en-US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0.000%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781811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폭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0.002%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5064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0.191%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749413"/>
                  </a:ext>
                </a:extLst>
              </a:tr>
              <a:tr h="75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  <a:endParaRPr lang="ko-KR" altLang="en-US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0.205%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53751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BBF4C00-70EA-648E-A752-2F9A74919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36771"/>
              </p:ext>
            </p:extLst>
          </p:nvPr>
        </p:nvGraphicFramePr>
        <p:xfrm>
          <a:off x="2294248" y="3775410"/>
          <a:ext cx="2508870" cy="348068"/>
        </p:xfrm>
        <a:graphic>
          <a:graphicData uri="http://schemas.openxmlformats.org/drawingml/2006/table">
            <a:tbl>
              <a:tblPr/>
              <a:tblGrid>
                <a:gridCol w="179205">
                  <a:extLst>
                    <a:ext uri="{9D8B030D-6E8A-4147-A177-3AD203B41FA5}">
                      <a16:colId xmlns:a16="http://schemas.microsoft.com/office/drawing/2014/main" val="3281148455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1558565118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2042011827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1740805576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2905540734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4178102104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2065798988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1334365573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1192641950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3047795624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3455418673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4154068536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2178230343"/>
                    </a:ext>
                  </a:extLst>
                </a:gridCol>
                <a:gridCol w="179205">
                  <a:extLst>
                    <a:ext uri="{9D8B030D-6E8A-4147-A177-3AD203B41FA5}">
                      <a16:colId xmlns:a16="http://schemas.microsoft.com/office/drawing/2014/main" val="1792303831"/>
                    </a:ext>
                  </a:extLst>
                </a:gridCol>
              </a:tblGrid>
              <a:tr h="900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양품 </a:t>
                      </a:r>
                      <a:r>
                        <a:rPr lang="ko-KR" altLang="en-US" sz="7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en-US" altLang="ko-KR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</a:t>
                      </a:r>
                      <a:endParaRPr lang="ko-KR" altLang="en-US" sz="7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활용률 </a:t>
                      </a:r>
                      <a:r>
                        <a:rPr lang="en-US" altLang="ko-KR" sz="7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</a:t>
                      </a:r>
                      <a:endParaRPr lang="ko-KR" altLang="en-US" sz="7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재조건조정 </a:t>
                      </a:r>
                      <a:r>
                        <a:rPr lang="en-US" altLang="ko-KR" sz="7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%</a:t>
                      </a:r>
                      <a:endParaRPr lang="ko-KR" altLang="en-US" sz="7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626902"/>
                  </a:ext>
                </a:extLst>
              </a:tr>
              <a:tr h="120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altLang="ko-KR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600" b="1" i="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7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700" b="1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854859"/>
                  </a:ext>
                </a:extLst>
              </a:tr>
              <a:tr h="1206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HD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700" b="0" i="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99.5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  <a:endParaRPr lang="en-US" altLang="ko-KR" sz="7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47.0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85.8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78.0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0.11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</a:t>
                      </a:r>
                      <a:endParaRPr lang="en-US" altLang="ko-KR" sz="7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696966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0D8BF565-0051-FC20-6352-CE77494C8456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1BE234B-C5D1-C432-2E08-FF9E4D7289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322B858-4522-596F-49C0-29C0105AFA8A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77567D5-08A0-65BA-D187-8A575822B0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73F030C-0AF9-46EC-3B60-23158999F7E0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265E92F-A834-01A5-ACEA-3F4D4FDDE3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BEB2367-B58E-B975-EF3C-4AC5412AB0AB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739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4">
            <a:extLst>
              <a:ext uri="{FF2B5EF4-FFF2-40B4-BE49-F238E27FC236}">
                <a16:creationId xmlns:a16="http://schemas.microsoft.com/office/drawing/2014/main" id="{E5A8BC40-C62B-4E90-A33D-4D150AD7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824452"/>
            <a:ext cx="448035" cy="1485622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72000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86614"/>
              </p:ext>
            </p:extLst>
          </p:nvPr>
        </p:nvGraphicFramePr>
        <p:xfrm>
          <a:off x="735049" y="769619"/>
          <a:ext cx="8867136" cy="1015156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31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차세대 다이 자동보정 기술개발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대표라인 기능 검증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분할다이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모델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로직 프로그램 개발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(EP1, Pilot#3) [3Q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목표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 다이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보정기술 확보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[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연간목표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]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</a:t>
                      </a:r>
                      <a:r>
                        <a:rPr lang="en-US" altLang="ko-KR" sz="1000" b="0" kern="1200" spc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Q: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초크바 다이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로딩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Cpk 2.5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이상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, RP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단선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20%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이상 개선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) </a:t>
                      </a:r>
                      <a:br>
                        <a:rPr lang="en-US" altLang="ko-KR" sz="10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 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분할다이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미스매치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Cpk 1.8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이상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) / D:’26.4Q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9619"/>
            <a:ext cx="448035" cy="99468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370227"/>
            <a:ext cx="448035" cy="337132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8146AB-93D7-4C39-8E08-1CD3BC858E83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826027"/>
          <a:ext cx="8862108" cy="1485622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3325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3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54718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664115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0F6AA41B-111D-46C0-AF04-441B7CFAB64A}"/>
              </a:ext>
            </a:extLst>
          </p:cNvPr>
          <p:cNvSpPr txBox="1"/>
          <p:nvPr/>
        </p:nvSpPr>
        <p:spPr>
          <a:xfrm>
            <a:off x="776536" y="2111890"/>
            <a:ext cx="431420" cy="50406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초크바</a:t>
            </a:r>
            <a:endParaRPr kumimoji="0" lang="en-US" altLang="ko-KR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6EAE1DE-4238-4CDC-9248-E01FCFA7A05C}"/>
              </a:ext>
            </a:extLst>
          </p:cNvPr>
          <p:cNvCxnSpPr>
            <a:cxnSpLocks/>
          </p:cNvCxnSpPr>
          <p:nvPr/>
        </p:nvCxnSpPr>
        <p:spPr>
          <a:xfrm>
            <a:off x="1207956" y="2307522"/>
            <a:ext cx="775637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EE018A8-5C26-42D5-B180-CFAC20356082}"/>
              </a:ext>
            </a:extLst>
          </p:cNvPr>
          <p:cNvSpPr txBox="1"/>
          <p:nvPr/>
        </p:nvSpPr>
        <p:spPr>
          <a:xfrm>
            <a:off x="7713021" y="2361721"/>
            <a:ext cx="669020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 적용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 C#6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023D91-FD94-44D0-B823-4FD010FC8768}"/>
              </a:ext>
            </a:extLst>
          </p:cNvPr>
          <p:cNvSpPr txBox="1"/>
          <p:nvPr/>
        </p:nvSpPr>
        <p:spPr>
          <a:xfrm>
            <a:off x="3280811" y="2957465"/>
            <a:ext cx="561619" cy="442035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자동보정 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I/F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구성 공사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EP1, Pilot#3</a:t>
            </a: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76F92ED8-CA84-41C3-860B-6EB3D2BD66C8}"/>
              </a:ext>
            </a:extLst>
          </p:cNvPr>
          <p:cNvCxnSpPr>
            <a:cxnSpLocks/>
          </p:cNvCxnSpPr>
          <p:nvPr/>
        </p:nvCxnSpPr>
        <p:spPr>
          <a:xfrm>
            <a:off x="1207956" y="2916063"/>
            <a:ext cx="775637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CF5FFFCD-926E-495E-9B9F-A1DE3693C5AD}"/>
              </a:ext>
            </a:extLst>
          </p:cNvPr>
          <p:cNvSpPr/>
          <p:nvPr/>
        </p:nvSpPr>
        <p:spPr>
          <a:xfrm>
            <a:off x="3419664" y="28202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E12DD065-FCFF-4983-B4F2-BB7A285773BD}"/>
              </a:ext>
            </a:extLst>
          </p:cNvPr>
          <p:cNvSpPr/>
          <p:nvPr/>
        </p:nvSpPr>
        <p:spPr>
          <a:xfrm>
            <a:off x="2793546" y="28202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89E43CC-DFEF-4498-9804-58BE7CE6E439}"/>
              </a:ext>
            </a:extLst>
          </p:cNvPr>
          <p:cNvSpPr txBox="1"/>
          <p:nvPr/>
        </p:nvSpPr>
        <p:spPr>
          <a:xfrm>
            <a:off x="2494530" y="2957465"/>
            <a:ext cx="736347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시뮬레이션 기반</a:t>
            </a:r>
            <a:b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모델링</a:t>
            </a:r>
          </a:p>
        </p:txBody>
      </p:sp>
      <p:grpSp>
        <p:nvGrpSpPr>
          <p:cNvPr id="124" name="그룹 1">
            <a:extLst>
              <a:ext uri="{FF2B5EF4-FFF2-40B4-BE49-F238E27FC236}">
                <a16:creationId xmlns:a16="http://schemas.microsoft.com/office/drawing/2014/main" id="{35482C0B-D31F-4794-BF55-C236585D84E9}"/>
              </a:ext>
            </a:extLst>
          </p:cNvPr>
          <p:cNvGrpSpPr/>
          <p:nvPr/>
        </p:nvGrpSpPr>
        <p:grpSpPr>
          <a:xfrm>
            <a:off x="8848774" y="1789262"/>
            <a:ext cx="205184" cy="1639668"/>
            <a:chOff x="2020628" y="1123354"/>
            <a:chExt cx="205184" cy="4912508"/>
          </a:xfrm>
        </p:grpSpPr>
        <p:grpSp>
          <p:nvGrpSpPr>
            <p:cNvPr id="132" name="그룹 2">
              <a:extLst>
                <a:ext uri="{FF2B5EF4-FFF2-40B4-BE49-F238E27FC236}">
                  <a16:creationId xmlns:a16="http://schemas.microsoft.com/office/drawing/2014/main" id="{ADBCD9E1-794E-4C0B-9C3B-FA3AFA0586CE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136" name="직선 연결선 167">
                <a:extLst>
                  <a:ext uri="{FF2B5EF4-FFF2-40B4-BE49-F238E27FC236}">
                    <a16:creationId xmlns:a16="http://schemas.microsoft.com/office/drawing/2014/main" id="{6EBC15AD-AEF2-45BD-954C-938D8A233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137" name="이등변 삼각형 7">
                <a:extLst>
                  <a:ext uri="{FF2B5EF4-FFF2-40B4-BE49-F238E27FC236}">
                    <a16:creationId xmlns:a16="http://schemas.microsoft.com/office/drawing/2014/main" id="{E95918B5-92CD-465F-B237-4B648E0576F0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33" name="Text Box 4">
              <a:extLst>
                <a:ext uri="{FF2B5EF4-FFF2-40B4-BE49-F238E27FC236}">
                  <a16:creationId xmlns:a16="http://schemas.microsoft.com/office/drawing/2014/main" id="{C04F6CA9-EE73-4848-B223-798A284D8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839581" y="3284984"/>
            <a:ext cx="4008771" cy="341334"/>
            <a:chOff x="961536" y="4488828"/>
            <a:chExt cx="4008771" cy="341334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6" y="3292690"/>
            <a:ext cx="4553251" cy="333628"/>
            <a:chOff x="5152724" y="4496534"/>
            <a:chExt cx="4221222" cy="333628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062603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타원 149">
            <a:extLst>
              <a:ext uri="{FF2B5EF4-FFF2-40B4-BE49-F238E27FC236}">
                <a16:creationId xmlns:a16="http://schemas.microsoft.com/office/drawing/2014/main" id="{DD2519E2-ACBB-4636-BD1A-A4A8FC37CE06}"/>
              </a:ext>
            </a:extLst>
          </p:cNvPr>
          <p:cNvSpPr/>
          <p:nvPr/>
        </p:nvSpPr>
        <p:spPr>
          <a:xfrm>
            <a:off x="2793546" y="22259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9429C3F5-0E6A-4C62-95C9-502B21B29AB7}"/>
              </a:ext>
            </a:extLst>
          </p:cNvPr>
          <p:cNvSpPr/>
          <p:nvPr/>
        </p:nvSpPr>
        <p:spPr>
          <a:xfrm>
            <a:off x="7965059" y="223367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292BCE-9BB6-B6E1-D8D6-EC370E95E038}"/>
              </a:ext>
            </a:extLst>
          </p:cNvPr>
          <p:cNvSpPr txBox="1"/>
          <p:nvPr/>
        </p:nvSpPr>
        <p:spPr>
          <a:xfrm>
            <a:off x="776536" y="2683035"/>
            <a:ext cx="431420" cy="5745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분할</a:t>
            </a:r>
            <a:endParaRPr kumimoji="0" lang="en-US" altLang="ko-KR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다이</a:t>
            </a:r>
            <a:endParaRPr kumimoji="0" lang="en-US" altLang="ko-KR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7D1BB85-C9E9-28AD-9A21-2256E1026A69}"/>
              </a:ext>
            </a:extLst>
          </p:cNvPr>
          <p:cNvSpPr>
            <a:spLocks noChangeAspect="1"/>
          </p:cNvSpPr>
          <p:nvPr/>
        </p:nvSpPr>
        <p:spPr>
          <a:xfrm>
            <a:off x="9129194" y="1296631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03308D-62F8-22BB-7DDE-787B851FE85A}"/>
              </a:ext>
            </a:extLst>
          </p:cNvPr>
          <p:cNvSpPr txBox="1"/>
          <p:nvPr/>
        </p:nvSpPr>
        <p:spPr>
          <a:xfrm>
            <a:off x="2680481" y="2363475"/>
            <a:ext cx="364450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UI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설계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21860A3-8553-E4B0-B43A-B6064F2E0200}"/>
              </a:ext>
            </a:extLst>
          </p:cNvPr>
          <p:cNvSpPr/>
          <p:nvPr/>
        </p:nvSpPr>
        <p:spPr>
          <a:xfrm>
            <a:off x="4275601" y="28202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00250C-997B-A1B3-8D80-7DA60A0E86C1}"/>
              </a:ext>
            </a:extLst>
          </p:cNvPr>
          <p:cNvSpPr txBox="1"/>
          <p:nvPr/>
        </p:nvSpPr>
        <p:spPr>
          <a:xfrm>
            <a:off x="3917977" y="2957465"/>
            <a:ext cx="693066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코드 구현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3B6396E-1CA7-01DD-07C8-92EF09FB1778}"/>
              </a:ext>
            </a:extLst>
          </p:cNvPr>
          <p:cNvSpPr/>
          <p:nvPr/>
        </p:nvSpPr>
        <p:spPr>
          <a:xfrm>
            <a:off x="7975531" y="281632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9CD538-4521-530A-936A-F5E87C66005A}"/>
              </a:ext>
            </a:extLst>
          </p:cNvPr>
          <p:cNvSpPr txBox="1"/>
          <p:nvPr/>
        </p:nvSpPr>
        <p:spPr>
          <a:xfrm>
            <a:off x="4898326" y="2700286"/>
            <a:ext cx="1068168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Test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진행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(3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회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 6~8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월 中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73E151-18D3-117B-70F1-6D26F2202995}"/>
              </a:ext>
            </a:extLst>
          </p:cNvPr>
          <p:cNvSpPr txBox="1"/>
          <p:nvPr/>
        </p:nvSpPr>
        <p:spPr>
          <a:xfrm>
            <a:off x="7737289" y="2942450"/>
            <a:ext cx="644975" cy="442035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대표호기 적용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기능검증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AZ, NFF#1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D0FEECD-0C1F-F292-247A-A564523D0C5D}"/>
              </a:ext>
            </a:extLst>
          </p:cNvPr>
          <p:cNvSpPr/>
          <p:nvPr/>
        </p:nvSpPr>
        <p:spPr>
          <a:xfrm>
            <a:off x="6513252" y="283894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E4508BE-C5A1-754D-A3F7-445004DE280F}"/>
              </a:ext>
            </a:extLst>
          </p:cNvPr>
          <p:cNvSpPr/>
          <p:nvPr/>
        </p:nvSpPr>
        <p:spPr>
          <a:xfrm>
            <a:off x="4992102" y="283824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EE56B3-A35C-3255-F9B7-FC8FF5C7E454}"/>
              </a:ext>
            </a:extLst>
          </p:cNvPr>
          <p:cNvSpPr txBox="1"/>
          <p:nvPr/>
        </p:nvSpPr>
        <p:spPr>
          <a:xfrm>
            <a:off x="4798006" y="2957465"/>
            <a:ext cx="585664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I/F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구성 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AEB868-ABF0-85BB-A571-7B44DB7CF7EC}"/>
              </a:ext>
            </a:extLst>
          </p:cNvPr>
          <p:cNvSpPr txBox="1"/>
          <p:nvPr/>
        </p:nvSpPr>
        <p:spPr>
          <a:xfrm>
            <a:off x="4455829" y="2737827"/>
            <a:ext cx="464872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EP1, Pilot#3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9" name="연결선: 구부러짐 48">
            <a:extLst>
              <a:ext uri="{FF2B5EF4-FFF2-40B4-BE49-F238E27FC236}">
                <a16:creationId xmlns:a16="http://schemas.microsoft.com/office/drawing/2014/main" id="{B26B3BD9-124E-A311-1E39-1EC0243A6ADF}"/>
              </a:ext>
            </a:extLst>
          </p:cNvPr>
          <p:cNvCxnSpPr>
            <a:cxnSpLocks/>
            <a:stCxn id="24" idx="7"/>
            <a:endCxn id="41" idx="1"/>
          </p:cNvCxnSpPr>
          <p:nvPr/>
        </p:nvCxnSpPr>
        <p:spPr>
          <a:xfrm rot="16200000" flipH="1">
            <a:off x="5457066" y="1782755"/>
            <a:ext cx="18720" cy="2135827"/>
          </a:xfrm>
          <a:prstGeom prst="curvedConnector3">
            <a:avLst>
              <a:gd name="adj1" fmla="val -690096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AB877DE-EC9E-0B3C-FBF0-72DE952E3878}"/>
              </a:ext>
            </a:extLst>
          </p:cNvPr>
          <p:cNvSpPr txBox="1"/>
          <p:nvPr/>
        </p:nvSpPr>
        <p:spPr>
          <a:xfrm>
            <a:off x="6253536" y="2942450"/>
            <a:ext cx="64497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모델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로직 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프로그램 개발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1BF510D-F65B-F6BC-288C-1A7CC24E399D}"/>
              </a:ext>
            </a:extLst>
          </p:cNvPr>
          <p:cNvSpPr/>
          <p:nvPr/>
        </p:nvSpPr>
        <p:spPr>
          <a:xfrm>
            <a:off x="1330733" y="22470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4BE7DE-C158-7525-8261-2BC78415B0B4}"/>
              </a:ext>
            </a:extLst>
          </p:cNvPr>
          <p:cNvSpPr txBox="1"/>
          <p:nvPr/>
        </p:nvSpPr>
        <p:spPr>
          <a:xfrm>
            <a:off x="1244415" y="2392583"/>
            <a:ext cx="699478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다이 설계 확정</a:t>
            </a:r>
            <a:b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코팅 선행기술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B1E3D48-9A76-8735-FF92-D92449FA86B5}"/>
              </a:ext>
            </a:extLst>
          </p:cNvPr>
          <p:cNvSpPr/>
          <p:nvPr/>
        </p:nvSpPr>
        <p:spPr>
          <a:xfrm>
            <a:off x="7244583" y="224750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D9A408-9B76-40F9-475C-87C2BB435B42}"/>
              </a:ext>
            </a:extLst>
          </p:cNvPr>
          <p:cNvSpPr txBox="1"/>
          <p:nvPr/>
        </p:nvSpPr>
        <p:spPr>
          <a:xfrm>
            <a:off x="6898224" y="2369947"/>
            <a:ext cx="851763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알고리즘 기능 검증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OC Pilot3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83E416-6FB1-D569-8387-56927A54BE30}"/>
              </a:ext>
            </a:extLst>
          </p:cNvPr>
          <p:cNvSpPr txBox="1"/>
          <p:nvPr/>
        </p:nvSpPr>
        <p:spPr>
          <a:xfrm>
            <a:off x="5826313" y="2168733"/>
            <a:ext cx="1306919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데이터 확보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(7~9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68" name="연결선: 구부러짐 67">
            <a:extLst>
              <a:ext uri="{FF2B5EF4-FFF2-40B4-BE49-F238E27FC236}">
                <a16:creationId xmlns:a16="http://schemas.microsoft.com/office/drawing/2014/main" id="{26BFF549-C799-406A-B448-F5F408238A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56383" y="1421200"/>
            <a:ext cx="24874" cy="1650852"/>
          </a:xfrm>
          <a:prstGeom prst="curvedConnector3">
            <a:avLst>
              <a:gd name="adj1" fmla="val -434582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B7888B18-C911-EFB5-95FF-FE48940DA5F4}"/>
              </a:ext>
            </a:extLst>
          </p:cNvPr>
          <p:cNvSpPr/>
          <p:nvPr/>
        </p:nvSpPr>
        <p:spPr>
          <a:xfrm>
            <a:off x="7006005" y="28202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AFB1A5-ADCD-F87F-C1D2-C682636D84AA}"/>
              </a:ext>
            </a:extLst>
          </p:cNvPr>
          <p:cNvSpPr txBox="1"/>
          <p:nvPr/>
        </p:nvSpPr>
        <p:spPr>
          <a:xfrm>
            <a:off x="6849234" y="2937715"/>
            <a:ext cx="648182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분할다이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설치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코팅기술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 AZ)</a:t>
            </a:r>
          </a:p>
        </p:txBody>
      </p:sp>
      <p:sp>
        <p:nvSpPr>
          <p:cNvPr id="10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3C590A1-4847-38A2-285F-A06ED03608AC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9" name="그룹 1">
            <a:extLst>
              <a:ext uri="{FF2B5EF4-FFF2-40B4-BE49-F238E27FC236}">
                <a16:creationId xmlns:a16="http://schemas.microsoft.com/office/drawing/2014/main" id="{B1C06259-CC95-4667-259C-75A04EBC29FB}"/>
              </a:ext>
            </a:extLst>
          </p:cNvPr>
          <p:cNvGrpSpPr/>
          <p:nvPr/>
        </p:nvGrpSpPr>
        <p:grpSpPr>
          <a:xfrm>
            <a:off x="6405028" y="1814912"/>
            <a:ext cx="205184" cy="1496738"/>
            <a:chOff x="2020628" y="1123354"/>
            <a:chExt cx="205184" cy="5005022"/>
          </a:xfrm>
        </p:grpSpPr>
        <p:grpSp>
          <p:nvGrpSpPr>
            <p:cNvPr id="23" name="그룹 2">
              <a:extLst>
                <a:ext uri="{FF2B5EF4-FFF2-40B4-BE49-F238E27FC236}">
                  <a16:creationId xmlns:a16="http://schemas.microsoft.com/office/drawing/2014/main" id="{4EF584A0-4EC5-9913-85D2-1015F55FF88E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26" name="직선 연결선 167">
                <a:extLst>
                  <a:ext uri="{FF2B5EF4-FFF2-40B4-BE49-F238E27FC236}">
                    <a16:creationId xmlns:a16="http://schemas.microsoft.com/office/drawing/2014/main" id="{AB7875D8-5D8C-2781-364D-313C7875F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27" name="이등변 삼각형 7">
                <a:extLst>
                  <a:ext uri="{FF2B5EF4-FFF2-40B4-BE49-F238E27FC236}">
                    <a16:creationId xmlns:a16="http://schemas.microsoft.com/office/drawing/2014/main" id="{F0EFC48F-C3F9-43CA-6766-4960F757B94B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A54E06B1-882A-7CB3-EF89-62D34E357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63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AA99C39-6C87-6EF4-0AC0-AC8D69A35E3E}"/>
              </a:ext>
            </a:extLst>
          </p:cNvPr>
          <p:cNvSpPr txBox="1"/>
          <p:nvPr/>
        </p:nvSpPr>
        <p:spPr>
          <a:xfrm>
            <a:off x="9046461" y="2666392"/>
            <a:ext cx="760392" cy="44203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협업 조직</a:t>
            </a:r>
            <a:b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파우치형</a:t>
            </a:r>
            <a:b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코팅공정기술팀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4ED06-A755-F04C-1453-94661D64AD62}"/>
              </a:ext>
            </a:extLst>
          </p:cNvPr>
          <p:cNvSpPr txBox="1"/>
          <p:nvPr/>
        </p:nvSpPr>
        <p:spPr>
          <a:xfrm>
            <a:off x="9046461" y="2230146"/>
            <a:ext cx="808482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협업 조직</a:t>
            </a:r>
            <a:b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코팅선행기술팀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F0699-E127-377E-5147-7790B863C9FB}"/>
              </a:ext>
            </a:extLst>
          </p:cNvPr>
          <p:cNvSpPr txBox="1"/>
          <p:nvPr/>
        </p:nvSpPr>
        <p:spPr>
          <a:xfrm>
            <a:off x="4610487" y="2393709"/>
            <a:ext cx="480901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시뮬레이션 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확보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5915542-45FD-E111-84E5-E2E46698D0EE}"/>
              </a:ext>
            </a:extLst>
          </p:cNvPr>
          <p:cNvSpPr/>
          <p:nvPr/>
        </p:nvSpPr>
        <p:spPr>
          <a:xfrm>
            <a:off x="5007479" y="22259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35E9A2A-5930-049A-61AC-EFE6DB56E164}"/>
              </a:ext>
            </a:extLst>
          </p:cNvPr>
          <p:cNvSpPr/>
          <p:nvPr/>
        </p:nvSpPr>
        <p:spPr>
          <a:xfrm>
            <a:off x="5542819" y="22437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1BE04A-4335-4782-C282-671D822E47EC}"/>
              </a:ext>
            </a:extLst>
          </p:cNvPr>
          <p:cNvSpPr txBox="1"/>
          <p:nvPr/>
        </p:nvSpPr>
        <p:spPr>
          <a:xfrm>
            <a:off x="5348254" y="2401575"/>
            <a:ext cx="572272" cy="246221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알고리즘 개발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모델링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B5A902-2030-75E3-C46B-3B7E992DA8A8}"/>
              </a:ext>
            </a:extLst>
          </p:cNvPr>
          <p:cNvSpPr txBox="1"/>
          <p:nvPr/>
        </p:nvSpPr>
        <p:spPr>
          <a:xfrm>
            <a:off x="3870126" y="2401575"/>
            <a:ext cx="512961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제어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I/F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검토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B6052E66-7E42-801E-2EE7-1DE96D617453}"/>
              </a:ext>
            </a:extLst>
          </p:cNvPr>
          <p:cNvSpPr/>
          <p:nvPr/>
        </p:nvSpPr>
        <p:spPr>
          <a:xfrm>
            <a:off x="4253469" y="223777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A06F426-668A-4E64-E715-2682E740F223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244216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3.</a:t>
            </a: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KPI 08</a:t>
            </a: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월 진척 사항</a:t>
            </a: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(8/9)</a:t>
            </a: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7C0A89-F8E5-CEE3-5546-6475E1DC26C0}"/>
              </a:ext>
            </a:extLst>
          </p:cNvPr>
          <p:cNvSpPr txBox="1">
            <a:spLocks/>
          </p:cNvSpPr>
          <p:nvPr/>
        </p:nvSpPr>
        <p:spPr>
          <a:xfrm>
            <a:off x="816727" y="3573016"/>
            <a:ext cx="4211124" cy="2924134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초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크바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다이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|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목표대비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진척률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100%</a:t>
            </a:r>
            <a:br>
              <a:rPr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-. OC PILOT 3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호기 분할 </a:t>
            </a:r>
            <a:r>
              <a:rPr kumimoji="1" lang="ko-KR" altLang="en-US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초크바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다이 </a:t>
            </a:r>
            <a:r>
              <a:rPr kumimoji="1" lang="ko-KR" altLang="en-US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초크바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자동보정 코팅 테스트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1" lang="en-US" altLang="ko-KR" sz="1050" dirty="0">
                <a:latin typeface="Arial Narrow"/>
                <a:ea typeface="LG스마트체 Regular"/>
              </a:rPr>
              <a:t>8/18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~ </a:t>
            </a:r>
            <a:r>
              <a:rPr kumimoji="1" lang="en-US" altLang="ko-KR" sz="1050" dirty="0">
                <a:latin typeface="Arial Narrow"/>
                <a:ea typeface="LG스마트체 Regular"/>
              </a:rPr>
              <a:t>19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1)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EDGE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기준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Interface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매칭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PLC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및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HMI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수정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PC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프로그램 수정(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~ 8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</a:t>
            </a:r>
            <a:r>
              <a:rPr kumimoji="1" lang="en-US" altLang="ko-KR" sz="1050" dirty="0">
                <a:latin typeface="Arial Narrow"/>
                <a:ea typeface="LG스마트체 Regular"/>
              </a:rPr>
              <a:t>14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2) 테스트 케이스에 따른 코팅 </a:t>
            </a:r>
            <a:r>
              <a:rPr lang="ko-KR" altLang="en-US" sz="1050" dirty="0">
                <a:latin typeface="Arial Narrow"/>
                <a:ea typeface="LG스마트체 Regular"/>
              </a:rPr>
              <a:t>및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데이터 수집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분석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lang="en-US" altLang="ko-KR" sz="1050" dirty="0">
                <a:latin typeface="Arial Narrow"/>
                <a:ea typeface="LG스마트체 Regular"/>
              </a:rPr>
              <a:t>8/18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~ </a:t>
            </a:r>
            <a:r>
              <a:rPr lang="en-US" altLang="ko-KR" sz="1050" dirty="0">
                <a:latin typeface="Arial Narrow"/>
                <a:ea typeface="LG스마트체 Regular"/>
              </a:rPr>
              <a:t>19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</a:t>
            </a:r>
            <a:r>
              <a:rPr lang="ko-KR" altLang="en-US" sz="1050" dirty="0">
                <a:latin typeface="Arial Narrow"/>
                <a:ea typeface="LG스마트체 Regular"/>
              </a:rPr>
              <a:t>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ko-KR" altLang="en-US" sz="1050" dirty="0">
                <a:latin typeface="Arial Narrow"/>
                <a:ea typeface="LG스마트체 Regular"/>
              </a:rPr>
              <a:t> 초기 코팅 구간, 안정 구간 구분하여 자동보정 적용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(w./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코팅선행기술팀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분할 다이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|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목표대비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진척률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100% </a:t>
            </a:r>
            <a:br>
              <a:rPr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-.</a:t>
            </a:r>
            <a:r>
              <a:rPr lang="en-US" altLang="ko-KR" sz="1050" dirty="0">
                <a:latin typeface="Arial Narrow"/>
                <a:ea typeface="LG스마트체 Regular"/>
              </a:rPr>
              <a:t>Pilot </a:t>
            </a:r>
            <a:r>
              <a:rPr lang="ko-KR" altLang="en-US" sz="1050" dirty="0">
                <a:latin typeface="Arial Narrow"/>
                <a:ea typeface="LG스마트체 Regular"/>
              </a:rPr>
              <a:t>대상 기능</a:t>
            </a:r>
            <a:r>
              <a:rPr lang="en-US" altLang="ko-KR" sz="1050" dirty="0">
                <a:latin typeface="Arial Narrow"/>
                <a:ea typeface="LG스마트체 Regular"/>
              </a:rPr>
              <a:t>/ Test </a:t>
            </a:r>
            <a:r>
              <a:rPr lang="ko-KR" altLang="en-US" sz="1050" dirty="0">
                <a:latin typeface="Arial Narrow"/>
                <a:ea typeface="LG스마트체 Regular"/>
              </a:rPr>
              <a:t>완료</a:t>
            </a:r>
            <a:r>
              <a:rPr lang="en-US" altLang="ko-KR" sz="1050" dirty="0">
                <a:latin typeface="Arial Narrow"/>
                <a:ea typeface="LG스마트체 Regular"/>
              </a:rPr>
              <a:t> : 1~3</a:t>
            </a:r>
            <a:r>
              <a:rPr lang="ko-KR" altLang="en-US" sz="1050" dirty="0">
                <a:latin typeface="Arial Narrow"/>
                <a:ea typeface="LG스마트체 Regular"/>
              </a:rPr>
              <a:t>차</a:t>
            </a:r>
            <a:r>
              <a:rPr lang="en-US" altLang="ko-KR" sz="1050" dirty="0">
                <a:latin typeface="Arial Narrow"/>
                <a:ea typeface="LG스마트체 Regular"/>
              </a:rPr>
              <a:t>, </a:t>
            </a:r>
            <a:r>
              <a:rPr lang="ko-KR" altLang="en-US" sz="1050" dirty="0">
                <a:latin typeface="Arial Narrow"/>
                <a:ea typeface="LG스마트체 Regular"/>
              </a:rPr>
              <a:t>음극 단면 저속 코팅 기준 </a:t>
            </a:r>
            <a:r>
              <a:rPr lang="en-US" altLang="ko-KR" sz="1050" dirty="0">
                <a:latin typeface="Arial Narrow"/>
                <a:ea typeface="LG스마트체 Regular"/>
              </a:rPr>
              <a:t>(~’26.7)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-. AZ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샘플생산 대응 및 </a:t>
            </a:r>
            <a:r>
              <a:rPr lang="ko-KR" altLang="en-US" sz="1050" dirty="0">
                <a:latin typeface="Arial Narrow"/>
                <a:ea typeface="LG스마트체 Regular"/>
              </a:rPr>
              <a:t>양산 환경대상 성능 검증 준비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 1) APC </a:t>
            </a:r>
            <a:r>
              <a:rPr lang="ko-KR" altLang="en-US" sz="1050" dirty="0">
                <a:latin typeface="Arial Narrow"/>
                <a:ea typeface="LG스마트체 Regular"/>
              </a:rPr>
              <a:t>환경구성 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    </a:t>
            </a:r>
            <a:r>
              <a:rPr lang="ko-KR" altLang="en-US" sz="1050" dirty="0">
                <a:latin typeface="Arial Narrow"/>
                <a:ea typeface="LG스마트체 Regular"/>
              </a:rPr>
              <a:t> </a:t>
            </a:r>
            <a:r>
              <a:rPr lang="ko-KR" altLang="en-US" sz="1050" dirty="0" err="1">
                <a:latin typeface="Arial Narrow"/>
                <a:ea typeface="LG스마트체 Regular"/>
              </a:rPr>
              <a:t>분할다이</a:t>
            </a:r>
            <a:r>
              <a:rPr lang="ko-KR" altLang="en-US" sz="1050" dirty="0">
                <a:latin typeface="Arial Narrow"/>
                <a:ea typeface="LG스마트체 Regular"/>
              </a:rPr>
              <a:t> 데이터연동 </a:t>
            </a:r>
            <a:r>
              <a:rPr lang="en-US" altLang="ko-KR" sz="1050" dirty="0">
                <a:latin typeface="Arial Narrow"/>
                <a:ea typeface="LG스마트체 Regular"/>
              </a:rPr>
              <a:t>CSR(8/13)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     </a:t>
            </a:r>
            <a:r>
              <a:rPr lang="ko-KR" altLang="en-US" sz="1050" dirty="0" err="1">
                <a:latin typeface="Arial Narrow"/>
                <a:ea typeface="LG스마트체 Regular"/>
              </a:rPr>
              <a:t>분할다이</a:t>
            </a:r>
            <a:r>
              <a:rPr lang="ko-KR" altLang="en-US" sz="1050" dirty="0">
                <a:latin typeface="Arial Narrow"/>
                <a:ea typeface="LG스마트체 Regular"/>
              </a:rPr>
              <a:t> </a:t>
            </a:r>
            <a:r>
              <a:rPr lang="en-US" altLang="ko-KR" sz="1050" dirty="0">
                <a:latin typeface="Arial Narrow"/>
                <a:ea typeface="LG스마트체 Regular"/>
              </a:rPr>
              <a:t>I/F PLC</a:t>
            </a:r>
            <a:r>
              <a:rPr lang="ko-KR" altLang="en-US" sz="1050" dirty="0">
                <a:latin typeface="Arial Narrow"/>
                <a:ea typeface="LG스마트체 Regular"/>
              </a:rPr>
              <a:t> 프로그램 적용</a:t>
            </a:r>
            <a:r>
              <a:rPr lang="en-US" altLang="ko-KR" sz="1050" dirty="0">
                <a:latin typeface="Arial Narrow"/>
                <a:ea typeface="LG스마트체 Regular"/>
              </a:rPr>
              <a:t>(~8/30)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 2) </a:t>
            </a:r>
            <a:r>
              <a:rPr lang="ko-KR" altLang="en-US" sz="1050" dirty="0">
                <a:latin typeface="Arial Narrow"/>
                <a:ea typeface="LG스마트체 Regular"/>
              </a:rPr>
              <a:t>자동보정 프로그램 준비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      APC</a:t>
            </a:r>
            <a:r>
              <a:rPr lang="ko-KR" altLang="en-US" sz="1050" dirty="0">
                <a:latin typeface="Arial Narrow"/>
                <a:ea typeface="LG스마트체 Regular"/>
              </a:rPr>
              <a:t>환경에서 프로그램 운영 가능하도록 보완</a:t>
            </a:r>
            <a:r>
              <a:rPr lang="en-US" altLang="ko-KR" sz="1050" dirty="0">
                <a:latin typeface="Arial Narrow"/>
                <a:ea typeface="LG스마트체 Regular"/>
              </a:rPr>
              <a:t>(8/20)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ko-KR" altLang="en-US" sz="1050" dirty="0">
                <a:latin typeface="Arial Narrow"/>
                <a:ea typeface="LG스마트체 Regular"/>
              </a:rPr>
              <a:t>       시뮬레이션 검증 지속 진행중</a:t>
            </a:r>
            <a:r>
              <a:rPr lang="en-US" altLang="ko-KR" sz="1050" dirty="0">
                <a:latin typeface="Arial Narrow"/>
                <a:ea typeface="LG스마트체 Regular"/>
              </a:rPr>
              <a:t>(~8/30)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815BDE-F3D7-F4B3-D9C0-A325ED5E5DCF}"/>
              </a:ext>
            </a:extLst>
          </p:cNvPr>
          <p:cNvSpPr txBox="1"/>
          <p:nvPr/>
        </p:nvSpPr>
        <p:spPr>
          <a:xfrm>
            <a:off x="3955351" y="6076466"/>
            <a:ext cx="1107372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</a:lstStyle>
          <a:p>
            <a:r>
              <a:rPr lang="en-US" altLang="ko-KR" dirty="0">
                <a:solidFill>
                  <a:srgbClr val="006600"/>
                </a:solidFill>
              </a:rPr>
              <a:t>※ EP1 Pilot#3 Edge </a:t>
            </a:r>
            <a:r>
              <a:rPr lang="ko-KR" altLang="en-US" dirty="0">
                <a:solidFill>
                  <a:srgbClr val="006600"/>
                </a:solidFill>
              </a:rPr>
              <a:t>환경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C13CB-D1DC-F716-537C-D84C71FD7952}"/>
              </a:ext>
            </a:extLst>
          </p:cNvPr>
          <p:cNvSpPr txBox="1"/>
          <p:nvPr/>
        </p:nvSpPr>
        <p:spPr>
          <a:xfrm>
            <a:off x="3150143" y="6298782"/>
            <a:ext cx="1305683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</a:lstStyle>
          <a:p>
            <a:r>
              <a:rPr lang="en-US" altLang="ko-KR" dirty="0">
                <a:solidFill>
                  <a:srgbClr val="006600"/>
                </a:solidFill>
              </a:rPr>
              <a:t>※</a:t>
            </a:r>
            <a:r>
              <a:rPr lang="ko-KR" altLang="en-US" dirty="0">
                <a:solidFill>
                  <a:srgbClr val="006600"/>
                </a:solidFill>
              </a:rPr>
              <a:t> 자동보정 시운전예정</a:t>
            </a:r>
            <a:r>
              <a:rPr lang="en-US" altLang="ko-KR" dirty="0">
                <a:solidFill>
                  <a:srgbClr val="006600"/>
                </a:solidFill>
              </a:rPr>
              <a:t>(8/31)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8B529-EC0D-8E32-39BD-A675363DAFE3}"/>
              </a:ext>
            </a:extLst>
          </p:cNvPr>
          <p:cNvSpPr txBox="1"/>
          <p:nvPr/>
        </p:nvSpPr>
        <p:spPr>
          <a:xfrm>
            <a:off x="5110526" y="3586578"/>
            <a:ext cx="4696324" cy="1268296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초크바 다이</a:t>
            </a:r>
            <a:br>
              <a:rPr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-. OC PILOT 3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호기 분할 초크바 다이 초크바 자동보정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차 코팅 테스트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(8/31 ~ </a:t>
            </a:r>
            <a:r>
              <a:rPr kumimoji="1" lang="en-US" altLang="ko-KR" sz="1050" dirty="0">
                <a:latin typeface="Arial Narrow"/>
                <a:ea typeface="LG스마트체 Regular"/>
              </a:rPr>
              <a:t>9/2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1) </a:t>
            </a:r>
            <a:r>
              <a:rPr kumimoji="1" lang="ko-KR" altLang="en-US" sz="1050" dirty="0">
                <a:latin typeface="Arial Narrow"/>
                <a:ea typeface="LG스마트체 Regular"/>
              </a:rPr>
              <a:t>고도화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로직 개발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(~8/31)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및 파일럿 테스트 검증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(~</a:t>
            </a:r>
            <a:r>
              <a:rPr kumimoji="1" lang="en-US" altLang="ko-KR" sz="1050" dirty="0">
                <a:latin typeface="Arial Narrow"/>
                <a:ea typeface="LG스마트체 Regular"/>
              </a:rPr>
              <a:t>9/2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 2) </a:t>
            </a:r>
            <a:r>
              <a:rPr lang="ko-KR" altLang="en-US" sz="1050" dirty="0">
                <a:latin typeface="Arial Narrow"/>
                <a:ea typeface="LG스마트체 Regular"/>
              </a:rPr>
              <a:t>초기 코팅 구간 고도화 알고리즘 적용(</a:t>
            </a:r>
            <a:r>
              <a:rPr lang="ko-KR" altLang="en-US" sz="1050" dirty="0" err="1">
                <a:latin typeface="Arial Narrow"/>
                <a:ea typeface="LG스마트체 Regular"/>
              </a:rPr>
              <a:t>Adaptive</a:t>
            </a:r>
            <a:r>
              <a:rPr lang="ko-KR" altLang="en-US" sz="1050" dirty="0">
                <a:latin typeface="Arial Narrow"/>
                <a:ea typeface="LG스마트체 Regular"/>
              </a:rPr>
              <a:t> </a:t>
            </a:r>
            <a:r>
              <a:rPr lang="ko-KR" altLang="en-US" sz="1050" dirty="0" err="1">
                <a:latin typeface="Arial Narrow"/>
                <a:ea typeface="LG스마트체 Regular"/>
              </a:rPr>
              <a:t>control</a:t>
            </a:r>
            <a:r>
              <a:rPr lang="ko-KR" altLang="en-US" sz="1050" dirty="0">
                <a:latin typeface="Arial Narrow"/>
                <a:ea typeface="LG스마트체 Regular"/>
              </a:rPr>
              <a:t>)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  (w./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코팅선행기술팀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~</a:t>
            </a:r>
            <a:r>
              <a:rPr lang="en-US" altLang="ko-KR" sz="1050" dirty="0">
                <a:latin typeface="Arial Narrow"/>
                <a:ea typeface="LG스마트체 Regular"/>
              </a:rPr>
              <a:t>9/2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-. </a:t>
            </a:r>
            <a:r>
              <a:rPr kumimoji="1" lang="en-US" altLang="ko-KR" sz="1050" dirty="0">
                <a:latin typeface="Arial Narrow"/>
                <a:ea typeface="LG스마트체 Regular"/>
              </a:rPr>
              <a:t>ESWA</a:t>
            </a:r>
            <a:r>
              <a:rPr kumimoji="1" lang="ko-KR" altLang="en-US" sz="1050" dirty="0">
                <a:latin typeface="Arial Narrow"/>
                <a:ea typeface="LG스마트체 Regular"/>
              </a:rPr>
              <a:t> 양극 6호기 대상 고도화 로직 일정 협의 예정</a:t>
            </a:r>
            <a:r>
              <a:rPr kumimoji="1" lang="en-US" altLang="ko-KR" sz="1050" dirty="0">
                <a:latin typeface="Arial Narrow"/>
                <a:ea typeface="LG스마트체 Regular"/>
              </a:rPr>
              <a:t>(10</a:t>
            </a:r>
            <a:r>
              <a:rPr kumimoji="1" lang="ko-KR" altLang="en-US" sz="1050" dirty="0">
                <a:latin typeface="Arial Narrow"/>
                <a:ea typeface="LG스마트체 Regular"/>
              </a:rPr>
              <a:t>월 초 </a:t>
            </a:r>
            <a:r>
              <a:rPr kumimoji="1" lang="en-US" altLang="ko-KR" sz="1050" dirty="0">
                <a:latin typeface="Arial Narrow"/>
                <a:ea typeface="LG스마트체 Regular"/>
              </a:rPr>
              <a:t>Target)</a:t>
            </a:r>
            <a:endParaRPr lang="en-US" altLang="ko-KR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2D256-1B4C-1BE6-F55C-7376796EE8C2}"/>
              </a:ext>
            </a:extLst>
          </p:cNvPr>
          <p:cNvSpPr txBox="1"/>
          <p:nvPr/>
        </p:nvSpPr>
        <p:spPr>
          <a:xfrm>
            <a:off x="5296649" y="4852803"/>
            <a:ext cx="4408879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※ </a:t>
            </a:r>
            <a:r>
              <a:rPr lang="ko-KR" altLang="en-US" sz="900" dirty="0">
                <a:solidFill>
                  <a:srgbClr val="008000"/>
                </a:solidFill>
                <a:latin typeface="Arial Narrow"/>
                <a:ea typeface="LG스마트체 Regular"/>
                <a:cs typeface="+mn-lt"/>
              </a:rPr>
              <a:t>슬러리 유동 지연 및 과거 제어의 누적 잔존 응답을 고려한 적응형 초크바 제어 알고리즘 설계</a:t>
            </a:r>
            <a:endParaRPr lang="en-US" altLang="ko-KR" sz="900" dirty="0">
              <a:solidFill>
                <a:srgbClr val="008000"/>
              </a:solidFill>
              <a:latin typeface="Arial Narrow"/>
              <a:ea typeface="LG스마트체 Regular"/>
              <a:cs typeface="+mn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F23D39-A872-3CE6-0542-D899AEA571A4}"/>
              </a:ext>
            </a:extLst>
          </p:cNvPr>
          <p:cNvSpPr txBox="1"/>
          <p:nvPr/>
        </p:nvSpPr>
        <p:spPr>
          <a:xfrm>
            <a:off x="5149868" y="5193255"/>
            <a:ext cx="4696324" cy="1268296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,Sans-Serif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분할 다이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-. AZ,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샘플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생산 대응 및 양산 환경 대상 성능 검증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(T37Q C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&amp;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N32S2 4M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샘플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~10/2)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</a:t>
            </a:r>
            <a:r>
              <a:rPr lang="en-US" altLang="ko-KR" sz="1050" dirty="0">
                <a:latin typeface="Arial Narrow"/>
                <a:ea typeface="LG스마트체 Regular"/>
              </a:rPr>
              <a:t>.</a:t>
            </a:r>
            <a:r>
              <a:rPr lang="ko-KR" altLang="en-US" sz="1050" dirty="0">
                <a:latin typeface="Arial Narrow"/>
                <a:ea typeface="LG스마트체 Regular"/>
              </a:rPr>
              <a:t>기존 </a:t>
            </a:r>
            <a:r>
              <a:rPr lang="en-US" altLang="ko-KR" sz="1050" dirty="0">
                <a:latin typeface="Arial Narrow"/>
                <a:ea typeface="LG스마트체 Regular"/>
              </a:rPr>
              <a:t>: Pilot </a:t>
            </a:r>
            <a:r>
              <a:rPr lang="ko-KR" altLang="en-US" sz="1050" dirty="0">
                <a:latin typeface="Arial Narrow"/>
                <a:ea typeface="LG스마트체 Regular"/>
              </a:rPr>
              <a:t>환경</a:t>
            </a:r>
            <a:r>
              <a:rPr lang="en-US" altLang="ko-KR" sz="1050" dirty="0">
                <a:latin typeface="Arial Narrow"/>
                <a:ea typeface="LG스마트체 Regular"/>
              </a:rPr>
              <a:t> / </a:t>
            </a:r>
            <a:r>
              <a:rPr lang="ko-KR" altLang="en-US" sz="1050" dirty="0">
                <a:latin typeface="Arial Narrow"/>
                <a:ea typeface="LG스마트체 Regular"/>
              </a:rPr>
              <a:t>음극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/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단면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 </a:t>
            </a:r>
            <a:r>
              <a:rPr lang="ko-KR" altLang="en-US" sz="1050" dirty="0">
                <a:latin typeface="Arial Narrow"/>
                <a:ea typeface="LG스마트체 Regular"/>
              </a:rPr>
              <a:t>저속 코팅</a:t>
            </a:r>
            <a:r>
              <a:rPr lang="en-US" altLang="ko-KR" sz="1050" dirty="0">
                <a:latin typeface="Arial Narrow"/>
                <a:ea typeface="LG스마트체 Regular"/>
              </a:rPr>
              <a:t>(20m/min) / 6</a:t>
            </a:r>
            <a:r>
              <a:rPr lang="ko-KR" altLang="en-US" sz="1050" dirty="0">
                <a:latin typeface="Arial Narrow"/>
                <a:ea typeface="LG스마트체 Regular"/>
              </a:rPr>
              <a:t>분할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.AZ </a:t>
            </a:r>
            <a:r>
              <a:rPr lang="ko-KR" altLang="en-US" sz="1050" dirty="0">
                <a:latin typeface="Arial Narrow"/>
                <a:ea typeface="LG스마트체 Regular"/>
              </a:rPr>
              <a:t>샘플 </a:t>
            </a:r>
            <a:r>
              <a:rPr lang="en-US" altLang="ko-KR" sz="1050" dirty="0">
                <a:latin typeface="Arial Narrow"/>
                <a:ea typeface="LG스마트체 Regular"/>
              </a:rPr>
              <a:t>: </a:t>
            </a:r>
            <a:r>
              <a:rPr lang="ko-KR" altLang="en-US" sz="1050" dirty="0">
                <a:latin typeface="Arial Narrow"/>
                <a:ea typeface="LG스마트체 Regular"/>
              </a:rPr>
              <a:t>양산조건 </a:t>
            </a:r>
            <a:r>
              <a:rPr lang="en-US" altLang="ko-KR" sz="1050" dirty="0">
                <a:latin typeface="Arial Narrow"/>
                <a:ea typeface="LG스마트체 Regular"/>
              </a:rPr>
              <a:t>/ </a:t>
            </a:r>
            <a:r>
              <a:rPr lang="ko-KR" altLang="en-US" sz="1050" dirty="0">
                <a:latin typeface="Arial Narrow"/>
                <a:ea typeface="LG스마트체 Regular"/>
              </a:rPr>
              <a:t>양극</a:t>
            </a:r>
            <a:r>
              <a:rPr lang="en-US" altLang="ko-KR" sz="1050" dirty="0">
                <a:latin typeface="Arial Narrow"/>
                <a:ea typeface="LG스마트체 Regular"/>
              </a:rPr>
              <a:t>&amp;</a:t>
            </a:r>
            <a:r>
              <a:rPr lang="ko-KR" altLang="en-US" sz="1050" dirty="0">
                <a:latin typeface="Arial Narrow"/>
                <a:ea typeface="LG스마트체 Regular"/>
              </a:rPr>
              <a:t>음극 </a:t>
            </a:r>
            <a:r>
              <a:rPr lang="en-US" altLang="ko-KR" sz="1050" dirty="0">
                <a:latin typeface="Arial Narrow"/>
                <a:ea typeface="LG스마트체 Regular"/>
              </a:rPr>
              <a:t>/ </a:t>
            </a:r>
            <a:r>
              <a:rPr lang="ko-KR" altLang="en-US" sz="1050" dirty="0">
                <a:latin typeface="Arial Narrow"/>
                <a:ea typeface="LG스마트체 Regular"/>
              </a:rPr>
              <a:t>양면 </a:t>
            </a:r>
            <a:r>
              <a:rPr lang="en-US" altLang="ko-KR" sz="1050" dirty="0">
                <a:latin typeface="Arial Narrow"/>
                <a:ea typeface="LG스마트체 Regular"/>
              </a:rPr>
              <a:t>/ </a:t>
            </a:r>
            <a:r>
              <a:rPr lang="ko-KR" altLang="en-US" sz="1050" dirty="0">
                <a:latin typeface="Arial Narrow"/>
                <a:ea typeface="LG스마트체 Regular"/>
              </a:rPr>
              <a:t>고속 코팅</a:t>
            </a:r>
            <a:r>
              <a:rPr lang="en-US" altLang="ko-KR" sz="1050" dirty="0">
                <a:latin typeface="Arial Narrow"/>
                <a:ea typeface="LG스마트체 Regular"/>
              </a:rPr>
              <a:t>(90m/min) / 6&amp;7</a:t>
            </a:r>
            <a:r>
              <a:rPr lang="ko-KR" altLang="en-US" sz="1050" dirty="0">
                <a:latin typeface="Arial Narrow"/>
                <a:ea typeface="LG스마트체 Regular"/>
              </a:rPr>
              <a:t>분할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※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샘플 생산 일정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T27Q 6</a:t>
            </a:r>
            <a:r>
              <a:rPr lang="ko-KR" altLang="en-US" sz="1050" dirty="0">
                <a:latin typeface="Arial Narrow"/>
                <a:ea typeface="LG스마트체 Regular"/>
              </a:rPr>
              <a:t>분할 </a:t>
            </a:r>
            <a:r>
              <a:rPr lang="en-US" altLang="ko-KR" sz="1050" dirty="0">
                <a:latin typeface="Arial Narrow"/>
                <a:ea typeface="LG스마트체 Regular"/>
              </a:rPr>
              <a:t>: </a:t>
            </a:r>
            <a:r>
              <a:rPr lang="ko-KR" altLang="en-US" sz="1050" dirty="0">
                <a:latin typeface="Arial Narrow"/>
                <a:ea typeface="LG스마트체 Regular"/>
              </a:rPr>
              <a:t>양극</a:t>
            </a:r>
            <a:r>
              <a:rPr lang="en-US" altLang="ko-KR" sz="1050" dirty="0">
                <a:latin typeface="Arial Narrow"/>
                <a:ea typeface="LG스마트체 Regular"/>
              </a:rPr>
              <a:t>(~9/5), </a:t>
            </a:r>
            <a:r>
              <a:rPr lang="ko-KR" altLang="en-US" sz="1050" dirty="0">
                <a:latin typeface="Arial Narrow"/>
                <a:ea typeface="LG스마트체 Regular"/>
              </a:rPr>
              <a:t>음극</a:t>
            </a:r>
            <a:r>
              <a:rPr lang="en-US" altLang="ko-KR" sz="1050" dirty="0">
                <a:latin typeface="Arial Narrow"/>
                <a:ea typeface="LG스마트체 Regular"/>
              </a:rPr>
              <a:t>(~9/12)</a:t>
            </a:r>
            <a:br>
              <a:rPr lang="en-US" altLang="ko-KR" sz="1050" dirty="0">
                <a:latin typeface="Arial Narrow"/>
                <a:ea typeface="LG스마트체 Regular"/>
              </a:rPr>
            </a:br>
            <a:r>
              <a:rPr lang="en-US" altLang="ko-KR" sz="1050" dirty="0">
                <a:latin typeface="Arial Narrow"/>
                <a:ea typeface="LG스마트체 Regular"/>
              </a:rPr>
              <a:t>                                 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N32S2 7</a:t>
            </a:r>
            <a:r>
              <a:rPr lang="ko-KR" altLang="en-US" sz="1050" dirty="0">
                <a:latin typeface="Arial Narrow"/>
                <a:ea typeface="LG스마트체 Regular"/>
              </a:rPr>
              <a:t>분할 </a:t>
            </a:r>
            <a:r>
              <a:rPr lang="en-US" altLang="ko-KR" sz="1050" dirty="0">
                <a:latin typeface="Arial Narrow"/>
                <a:ea typeface="LG스마트체 Regular"/>
              </a:rPr>
              <a:t>: </a:t>
            </a:r>
            <a:r>
              <a:rPr lang="ko-KR" altLang="en-US" sz="1050" dirty="0">
                <a:latin typeface="Arial Narrow"/>
                <a:ea typeface="LG스마트체 Regular"/>
              </a:rPr>
              <a:t>양극</a:t>
            </a:r>
            <a:r>
              <a:rPr lang="en-US" altLang="ko-KR" sz="1050" dirty="0">
                <a:latin typeface="Arial Narrow"/>
                <a:ea typeface="LG스마트체 Regular"/>
              </a:rPr>
              <a:t>(~9/18), </a:t>
            </a:r>
            <a:r>
              <a:rPr lang="ko-KR" altLang="en-US" sz="1050" dirty="0">
                <a:latin typeface="Arial Narrow"/>
                <a:ea typeface="LG스마트체 Regular"/>
              </a:rPr>
              <a:t>음극</a:t>
            </a:r>
            <a:r>
              <a:rPr lang="en-US" altLang="ko-KR" sz="1050" dirty="0">
                <a:latin typeface="Arial Narrow"/>
                <a:ea typeface="LG스마트체 Regular"/>
              </a:rPr>
              <a:t>(~10/2)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BB0460E-85D5-A428-A671-94B49F87612C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389D2DBA-76B8-4C49-E82F-C3D3F63BB6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D98336-F03E-9D1E-DB4C-5709A6ED275C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CB61A2E-9F32-2C40-C47D-2BABC7B8B4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2FB200F-C227-60A6-059A-963C7B28477A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D1C8BD7-F9C0-F232-6FAA-E0BBA6C16B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31EC732-2B2E-BEE6-8B70-A5C9D2FA9A4C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893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735049" y="769619"/>
          <a:ext cx="8867136" cy="1015156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31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AI-Agent </a:t>
                      </a:r>
                      <a:r>
                        <a:rPr lang="ko-KR" altLang="en-US" sz="10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자동보정 업무 효율화​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WA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 성능 고도화 및 타 공정 확대 개발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분석 시간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  <a:b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9619"/>
            <a:ext cx="448035" cy="99468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7D1BB85-C9E9-28AD-9A21-2256E1026A69}"/>
              </a:ext>
            </a:extLst>
          </p:cNvPr>
          <p:cNvSpPr>
            <a:spLocks noChangeAspect="1"/>
          </p:cNvSpPr>
          <p:nvPr/>
        </p:nvSpPr>
        <p:spPr>
          <a:xfrm>
            <a:off x="9129194" y="1286678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실행 단추: 홈 21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3C590A1-4847-38A2-285F-A06ED03608AC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24EA10-F7D3-34EB-FE91-C34496518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824452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72000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326C428B-8A6D-5B43-915A-E2343A125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573015"/>
            <a:ext cx="448035" cy="3168535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C906F7A-03B5-0944-5F82-59E234B8672B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826027"/>
          <a:ext cx="8862108" cy="16586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4566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73861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1C829D9-E0C7-0E2A-368A-335E24465BE8}"/>
              </a:ext>
            </a:extLst>
          </p:cNvPr>
          <p:cNvCxnSpPr>
            <a:cxnSpLocks/>
          </p:cNvCxnSpPr>
          <p:nvPr/>
        </p:nvCxnSpPr>
        <p:spPr>
          <a:xfrm>
            <a:off x="1207956" y="2307522"/>
            <a:ext cx="838920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2">
            <a:extLst>
              <a:ext uri="{FF2B5EF4-FFF2-40B4-BE49-F238E27FC236}">
                <a16:creationId xmlns:a16="http://schemas.microsoft.com/office/drawing/2014/main" id="{C74B37D7-9945-2E1D-5451-379DBDE22891}"/>
              </a:ext>
            </a:extLst>
          </p:cNvPr>
          <p:cNvGrpSpPr/>
          <p:nvPr/>
        </p:nvGrpSpPr>
        <p:grpSpPr>
          <a:xfrm>
            <a:off x="6177136" y="1942675"/>
            <a:ext cx="120667" cy="1536920"/>
            <a:chOff x="4167960" y="2510051"/>
            <a:chExt cx="120667" cy="4773415"/>
          </a:xfrm>
        </p:grpSpPr>
        <p:cxnSp>
          <p:nvCxnSpPr>
            <p:cNvPr id="35" name="직선 연결선 167">
              <a:extLst>
                <a:ext uri="{FF2B5EF4-FFF2-40B4-BE49-F238E27FC236}">
                  <a16:creationId xmlns:a16="http://schemas.microsoft.com/office/drawing/2014/main" id="{18A659A6-43D6-5FC5-FA75-707C8745B107}"/>
                </a:ext>
              </a:extLst>
            </p:cNvPr>
            <p:cNvCxnSpPr>
              <a:cxnSpLocks/>
            </p:cNvCxnSpPr>
            <p:nvPr/>
          </p:nvCxnSpPr>
          <p:spPr>
            <a:xfrm>
              <a:off x="4228294" y="2685928"/>
              <a:ext cx="0" cy="4597538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ysDot"/>
            </a:ln>
            <a:effectLst/>
          </p:spPr>
        </p:cxnSp>
        <p:sp>
          <p:nvSpPr>
            <p:cNvPr id="36" name="이등변 삼각형 7">
              <a:extLst>
                <a:ext uri="{FF2B5EF4-FFF2-40B4-BE49-F238E27FC236}">
                  <a16:creationId xmlns:a16="http://schemas.microsoft.com/office/drawing/2014/main" id="{119410E2-8EF0-C330-D90B-909C1CF0AD83}"/>
                </a:ext>
              </a:extLst>
            </p:cNvPr>
            <p:cNvSpPr/>
            <p:nvPr/>
          </p:nvSpPr>
          <p:spPr>
            <a:xfrm flipV="1">
              <a:off x="4167960" y="2510051"/>
              <a:ext cx="120667" cy="89074"/>
            </a:xfrm>
            <a:prstGeom prst="triangle">
              <a:avLst/>
            </a:prstGeom>
            <a:solidFill>
              <a:srgbClr val="FF0000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42" name="Text Box 4">
            <a:extLst>
              <a:ext uri="{FF2B5EF4-FFF2-40B4-BE49-F238E27FC236}">
                <a16:creationId xmlns:a16="http://schemas.microsoft.com/office/drawing/2014/main" id="{9158ECC1-4AFE-9533-1CED-339FE6AEF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737" y="1789262"/>
            <a:ext cx="32220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Phase2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4D19255-4DDD-BE88-3990-69C61383823F}"/>
              </a:ext>
            </a:extLst>
          </p:cNvPr>
          <p:cNvGrpSpPr/>
          <p:nvPr/>
        </p:nvGrpSpPr>
        <p:grpSpPr>
          <a:xfrm>
            <a:off x="839581" y="3471889"/>
            <a:ext cx="4008771" cy="341334"/>
            <a:chOff x="961536" y="4488828"/>
            <a:chExt cx="4008771" cy="341334"/>
          </a:xfrm>
        </p:grpSpPr>
        <p:sp>
          <p:nvSpPr>
            <p:cNvPr id="47" name="제목 9">
              <a:extLst>
                <a:ext uri="{FF2B5EF4-FFF2-40B4-BE49-F238E27FC236}">
                  <a16:creationId xmlns:a16="http://schemas.microsoft.com/office/drawing/2014/main" id="{F79580B3-0DD2-213B-0E4A-0A3A8C8E046C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51" name="직선 연결선 2">
              <a:extLst>
                <a:ext uri="{FF2B5EF4-FFF2-40B4-BE49-F238E27FC236}">
                  <a16:creationId xmlns:a16="http://schemas.microsoft.com/office/drawing/2014/main" id="{01B75415-E244-3EA1-8524-7DA46FF395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647EB7E-9EEA-5EAE-BC23-A48FE8CC0246}"/>
              </a:ext>
            </a:extLst>
          </p:cNvPr>
          <p:cNvGrpSpPr/>
          <p:nvPr/>
        </p:nvGrpSpPr>
        <p:grpSpPr>
          <a:xfrm>
            <a:off x="5141076" y="3479595"/>
            <a:ext cx="4553251" cy="333628"/>
            <a:chOff x="5152724" y="4496534"/>
            <a:chExt cx="4221222" cy="333628"/>
          </a:xfrm>
        </p:grpSpPr>
        <p:sp>
          <p:nvSpPr>
            <p:cNvPr id="54" name="제목 9">
              <a:extLst>
                <a:ext uri="{FF2B5EF4-FFF2-40B4-BE49-F238E27FC236}">
                  <a16:creationId xmlns:a16="http://schemas.microsoft.com/office/drawing/2014/main" id="{289CCD5C-265C-83DD-2902-357F00D7BE3F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56" name="직선 연결선 2">
              <a:extLst>
                <a:ext uri="{FF2B5EF4-FFF2-40B4-BE49-F238E27FC236}">
                  <a16:creationId xmlns:a16="http://schemas.microsoft.com/office/drawing/2014/main" id="{3A96F8C5-6814-970F-AACA-13C92FDF5B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6B050A6-8520-A162-AD48-F150381047E1}"/>
              </a:ext>
            </a:extLst>
          </p:cNvPr>
          <p:cNvCxnSpPr>
            <a:cxnSpLocks/>
          </p:cNvCxnSpPr>
          <p:nvPr/>
        </p:nvCxnSpPr>
        <p:spPr>
          <a:xfrm flipV="1">
            <a:off x="4997300" y="3062603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>
            <a:extLst>
              <a:ext uri="{FF2B5EF4-FFF2-40B4-BE49-F238E27FC236}">
                <a16:creationId xmlns:a16="http://schemas.microsoft.com/office/drawing/2014/main" id="{A59529A6-7669-15EE-B70C-AD8458111C88}"/>
              </a:ext>
            </a:extLst>
          </p:cNvPr>
          <p:cNvSpPr/>
          <p:nvPr/>
        </p:nvSpPr>
        <p:spPr>
          <a:xfrm>
            <a:off x="4232936" y="22437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22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F80D08-913A-8B12-F7AB-9434BCEAB4DC}"/>
              </a:ext>
            </a:extLst>
          </p:cNvPr>
          <p:cNvSpPr txBox="1"/>
          <p:nvPr/>
        </p:nvSpPr>
        <p:spPr>
          <a:xfrm>
            <a:off x="3966842" y="2364576"/>
            <a:ext cx="689073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기본분석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가오픈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DF6617-DA04-D079-3092-B2749D8CF4B8}"/>
              </a:ext>
            </a:extLst>
          </p:cNvPr>
          <p:cNvSpPr txBox="1"/>
          <p:nvPr/>
        </p:nvSpPr>
        <p:spPr>
          <a:xfrm>
            <a:off x="4016896" y="2639711"/>
            <a:ext cx="583699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COT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3C9B7D1-B89E-767A-0757-E0333482BCB8}"/>
              </a:ext>
            </a:extLst>
          </p:cNvPr>
          <p:cNvSpPr/>
          <p:nvPr/>
        </p:nvSpPr>
        <p:spPr>
          <a:xfrm>
            <a:off x="4736992" y="224750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1CE4B1-0A11-9042-A4C9-E3B374054E85}"/>
              </a:ext>
            </a:extLst>
          </p:cNvPr>
          <p:cNvSpPr txBox="1"/>
          <p:nvPr/>
        </p:nvSpPr>
        <p:spPr>
          <a:xfrm>
            <a:off x="4603964" y="2369947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상세분석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가오픈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233BFFE-49D0-FF35-6293-FAE6F52137AA}"/>
              </a:ext>
            </a:extLst>
          </p:cNvPr>
          <p:cNvGrpSpPr/>
          <p:nvPr/>
        </p:nvGrpSpPr>
        <p:grpSpPr>
          <a:xfrm>
            <a:off x="5986610" y="1669883"/>
            <a:ext cx="205184" cy="1815575"/>
            <a:chOff x="4799533" y="1669883"/>
            <a:chExt cx="205184" cy="1815575"/>
          </a:xfrm>
        </p:grpSpPr>
        <p:cxnSp>
          <p:nvCxnSpPr>
            <p:cNvPr id="71" name="직선 연결선 167">
              <a:extLst>
                <a:ext uri="{FF2B5EF4-FFF2-40B4-BE49-F238E27FC236}">
                  <a16:creationId xmlns:a16="http://schemas.microsoft.com/office/drawing/2014/main" id="{43C043B1-B405-A612-EDB2-57415B30A357}"/>
                </a:ext>
              </a:extLst>
            </p:cNvPr>
            <p:cNvCxnSpPr>
              <a:cxnSpLocks/>
            </p:cNvCxnSpPr>
            <p:nvPr/>
          </p:nvCxnSpPr>
          <p:spPr>
            <a:xfrm>
              <a:off x="4898801" y="2023308"/>
              <a:ext cx="0" cy="146215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ysDot"/>
            </a:ln>
            <a:effectLst/>
          </p:spPr>
        </p:cxnSp>
        <p:sp>
          <p:nvSpPr>
            <p:cNvPr id="72" name="이등변 삼각형 7">
              <a:extLst>
                <a:ext uri="{FF2B5EF4-FFF2-40B4-BE49-F238E27FC236}">
                  <a16:creationId xmlns:a16="http://schemas.microsoft.com/office/drawing/2014/main" id="{F11B5066-5048-8082-FE0A-7BEA71952C39}"/>
                </a:ext>
              </a:extLst>
            </p:cNvPr>
            <p:cNvSpPr/>
            <p:nvPr/>
          </p:nvSpPr>
          <p:spPr>
            <a:xfrm flipV="1">
              <a:off x="4840844" y="1966680"/>
              <a:ext cx="120667" cy="28680"/>
            </a:xfrm>
            <a:prstGeom prst="triangle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3" name="Text Box 4">
              <a:extLst>
                <a:ext uri="{FF2B5EF4-FFF2-40B4-BE49-F238E27FC236}">
                  <a16:creationId xmlns:a16="http://schemas.microsoft.com/office/drawing/2014/main" id="{47A52240-07E4-7D02-4A27-33035BA20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533" y="1669883"/>
              <a:ext cx="205184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F4D13205-BDA8-0C15-5EFC-4F1D2B6AF29E}"/>
              </a:ext>
            </a:extLst>
          </p:cNvPr>
          <p:cNvSpPr txBox="1"/>
          <p:nvPr/>
        </p:nvSpPr>
        <p:spPr>
          <a:xfrm>
            <a:off x="3329586" y="2363475"/>
            <a:ext cx="462233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Phase2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과제 착수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2542FFD5-825A-87A3-465E-8D189CB9495D}"/>
              </a:ext>
            </a:extLst>
          </p:cNvPr>
          <p:cNvSpPr/>
          <p:nvPr/>
        </p:nvSpPr>
        <p:spPr>
          <a:xfrm>
            <a:off x="3482835" y="22259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BA192392-4F9B-B3AF-2941-6C904A4906BA}"/>
              </a:ext>
            </a:extLst>
          </p:cNvPr>
          <p:cNvSpPr/>
          <p:nvPr/>
        </p:nvSpPr>
        <p:spPr>
          <a:xfrm>
            <a:off x="5483815" y="223058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6C01BC-6072-5CAF-5ACB-00690AFB66D8}"/>
              </a:ext>
            </a:extLst>
          </p:cNvPr>
          <p:cNvSpPr txBox="1"/>
          <p:nvPr/>
        </p:nvSpPr>
        <p:spPr>
          <a:xfrm>
            <a:off x="776536" y="2158538"/>
            <a:ext cx="431420" cy="5745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법인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1827418-0F97-0A1B-C782-1E04319841FD}"/>
              </a:ext>
            </a:extLst>
          </p:cNvPr>
          <p:cNvSpPr txBox="1"/>
          <p:nvPr/>
        </p:nvSpPr>
        <p:spPr>
          <a:xfrm>
            <a:off x="776536" y="2821585"/>
            <a:ext cx="431420" cy="5745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법인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A6D2756-0C62-E94A-A903-1827BA799779}"/>
              </a:ext>
            </a:extLst>
          </p:cNvPr>
          <p:cNvCxnSpPr>
            <a:cxnSpLocks/>
          </p:cNvCxnSpPr>
          <p:nvPr/>
        </p:nvCxnSpPr>
        <p:spPr>
          <a:xfrm>
            <a:off x="1207956" y="2996952"/>
            <a:ext cx="838920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62D3207C-B3A4-BBA5-E1E2-DDBCD83D209B}"/>
              </a:ext>
            </a:extLst>
          </p:cNvPr>
          <p:cNvSpPr/>
          <p:nvPr/>
        </p:nvSpPr>
        <p:spPr>
          <a:xfrm>
            <a:off x="6422026" y="29202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75929C-3D75-5E20-929D-A4BAF8DA9FBD}"/>
              </a:ext>
            </a:extLst>
          </p:cNvPr>
          <p:cNvSpPr txBox="1"/>
          <p:nvPr/>
        </p:nvSpPr>
        <p:spPr>
          <a:xfrm>
            <a:off x="6257945" y="3062603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MI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법인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B4AD661-322D-0EDD-10CA-7128AAF0E9BD}"/>
              </a:ext>
            </a:extLst>
          </p:cNvPr>
          <p:cNvSpPr txBox="1"/>
          <p:nvPr/>
        </p:nvSpPr>
        <p:spPr>
          <a:xfrm>
            <a:off x="6177136" y="3353956"/>
            <a:ext cx="583699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LAM/COT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152C0E1A-3157-6CC1-F234-E73C5C1EA8C1}"/>
              </a:ext>
            </a:extLst>
          </p:cNvPr>
          <p:cNvSpPr/>
          <p:nvPr/>
        </p:nvSpPr>
        <p:spPr>
          <a:xfrm>
            <a:off x="6020840" y="22328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6E4E80B-8779-40B5-1316-6CD469D94ED2}"/>
              </a:ext>
            </a:extLst>
          </p:cNvPr>
          <p:cNvSpPr txBox="1"/>
          <p:nvPr/>
        </p:nvSpPr>
        <p:spPr>
          <a:xfrm>
            <a:off x="5838979" y="2391205"/>
            <a:ext cx="53436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WA/MI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법인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Agent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오픈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D36E3C99-7414-20A7-FDE4-EE65770BB186}"/>
              </a:ext>
            </a:extLst>
          </p:cNvPr>
          <p:cNvSpPr/>
          <p:nvPr/>
        </p:nvSpPr>
        <p:spPr>
          <a:xfrm>
            <a:off x="8698044" y="29202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78CFA2B-9A5D-E973-9394-F9B20BE76EF3}"/>
              </a:ext>
            </a:extLst>
          </p:cNvPr>
          <p:cNvSpPr txBox="1"/>
          <p:nvPr/>
        </p:nvSpPr>
        <p:spPr>
          <a:xfrm>
            <a:off x="8521940" y="3062603"/>
            <a:ext cx="462233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전공정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확대 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4E6D73E-F31B-E434-4081-B19DB4132F44}"/>
              </a:ext>
            </a:extLst>
          </p:cNvPr>
          <p:cNvSpPr txBox="1"/>
          <p:nvPr/>
        </p:nvSpPr>
        <p:spPr>
          <a:xfrm>
            <a:off x="8319055" y="3353956"/>
            <a:ext cx="851898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R/P, NND, PKG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7257DD3B-1BBB-AA8C-C1EB-CF2FE8661F2D}"/>
              </a:ext>
            </a:extLst>
          </p:cNvPr>
          <p:cNvSpPr/>
          <p:nvPr/>
        </p:nvSpPr>
        <p:spPr>
          <a:xfrm>
            <a:off x="8698044" y="223361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CAB6A2C-E3FF-D64D-14BF-9BC1A21733C8}"/>
              </a:ext>
            </a:extLst>
          </p:cNvPr>
          <p:cNvSpPr txBox="1"/>
          <p:nvPr/>
        </p:nvSpPr>
        <p:spPr>
          <a:xfrm>
            <a:off x="8521940" y="2375975"/>
            <a:ext cx="462233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전공정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확대 적용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66FB218-ED1F-E7E5-0F44-5037A1A3CE8A}"/>
              </a:ext>
            </a:extLst>
          </p:cNvPr>
          <p:cNvSpPr txBox="1"/>
          <p:nvPr/>
        </p:nvSpPr>
        <p:spPr>
          <a:xfrm>
            <a:off x="8319055" y="2624212"/>
            <a:ext cx="851898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R/P, NND, PKG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11" name="그룹 2">
            <a:extLst>
              <a:ext uri="{FF2B5EF4-FFF2-40B4-BE49-F238E27FC236}">
                <a16:creationId xmlns:a16="http://schemas.microsoft.com/office/drawing/2014/main" id="{F83B8B44-32F7-671E-52B5-484AC42756DA}"/>
              </a:ext>
            </a:extLst>
          </p:cNvPr>
          <p:cNvGrpSpPr/>
          <p:nvPr/>
        </p:nvGrpSpPr>
        <p:grpSpPr>
          <a:xfrm>
            <a:off x="9039610" y="1942675"/>
            <a:ext cx="120667" cy="1536920"/>
            <a:chOff x="4167960" y="2510051"/>
            <a:chExt cx="120667" cy="4773415"/>
          </a:xfrm>
        </p:grpSpPr>
        <p:cxnSp>
          <p:nvCxnSpPr>
            <p:cNvPr id="113" name="직선 연결선 167">
              <a:extLst>
                <a:ext uri="{FF2B5EF4-FFF2-40B4-BE49-F238E27FC236}">
                  <a16:creationId xmlns:a16="http://schemas.microsoft.com/office/drawing/2014/main" id="{5805E5AA-7B6F-CFF7-F2F8-F189530EFE8E}"/>
                </a:ext>
              </a:extLst>
            </p:cNvPr>
            <p:cNvCxnSpPr>
              <a:cxnSpLocks/>
            </p:cNvCxnSpPr>
            <p:nvPr/>
          </p:nvCxnSpPr>
          <p:spPr>
            <a:xfrm>
              <a:off x="4228294" y="2685928"/>
              <a:ext cx="0" cy="4597538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ysDot"/>
            </a:ln>
            <a:effectLst/>
          </p:spPr>
        </p:cxnSp>
        <p:sp>
          <p:nvSpPr>
            <p:cNvPr id="114" name="이등변 삼각형 7">
              <a:extLst>
                <a:ext uri="{FF2B5EF4-FFF2-40B4-BE49-F238E27FC236}">
                  <a16:creationId xmlns:a16="http://schemas.microsoft.com/office/drawing/2014/main" id="{F4C59E44-11AD-1635-C9A1-9BD48C255899}"/>
                </a:ext>
              </a:extLst>
            </p:cNvPr>
            <p:cNvSpPr/>
            <p:nvPr/>
          </p:nvSpPr>
          <p:spPr>
            <a:xfrm flipV="1">
              <a:off x="4167960" y="2510051"/>
              <a:ext cx="120667" cy="89074"/>
            </a:xfrm>
            <a:prstGeom prst="triangle">
              <a:avLst/>
            </a:prstGeom>
            <a:solidFill>
              <a:srgbClr val="FF0000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15" name="Text Box 4">
            <a:extLst>
              <a:ext uri="{FF2B5EF4-FFF2-40B4-BE49-F238E27FC236}">
                <a16:creationId xmlns:a16="http://schemas.microsoft.com/office/drawing/2014/main" id="{2262B9B5-ABBA-4696-FB57-8F1FD9ACD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020" y="1789262"/>
            <a:ext cx="20518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완료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pSp>
        <p:nvGrpSpPr>
          <p:cNvPr id="116" name="그룹 2">
            <a:extLst>
              <a:ext uri="{FF2B5EF4-FFF2-40B4-BE49-F238E27FC236}">
                <a16:creationId xmlns:a16="http://schemas.microsoft.com/office/drawing/2014/main" id="{C8A004D3-003E-5500-EC52-3E7144100428}"/>
              </a:ext>
            </a:extLst>
          </p:cNvPr>
          <p:cNvGrpSpPr/>
          <p:nvPr/>
        </p:nvGrpSpPr>
        <p:grpSpPr>
          <a:xfrm>
            <a:off x="3251982" y="1942675"/>
            <a:ext cx="120667" cy="1536920"/>
            <a:chOff x="4167960" y="2510051"/>
            <a:chExt cx="120667" cy="4773415"/>
          </a:xfrm>
        </p:grpSpPr>
        <p:cxnSp>
          <p:nvCxnSpPr>
            <p:cNvPr id="117" name="직선 연결선 167">
              <a:extLst>
                <a:ext uri="{FF2B5EF4-FFF2-40B4-BE49-F238E27FC236}">
                  <a16:creationId xmlns:a16="http://schemas.microsoft.com/office/drawing/2014/main" id="{30A42524-B4C0-C176-9B39-70E2055073B4}"/>
                </a:ext>
              </a:extLst>
            </p:cNvPr>
            <p:cNvCxnSpPr>
              <a:cxnSpLocks/>
            </p:cNvCxnSpPr>
            <p:nvPr/>
          </p:nvCxnSpPr>
          <p:spPr>
            <a:xfrm>
              <a:off x="4228294" y="2685928"/>
              <a:ext cx="0" cy="4597538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ysDot"/>
            </a:ln>
            <a:effectLst/>
          </p:spPr>
        </p:cxnSp>
        <p:sp>
          <p:nvSpPr>
            <p:cNvPr id="118" name="이등변 삼각형 7">
              <a:extLst>
                <a:ext uri="{FF2B5EF4-FFF2-40B4-BE49-F238E27FC236}">
                  <a16:creationId xmlns:a16="http://schemas.microsoft.com/office/drawing/2014/main" id="{2724D948-A9FF-E75B-F6FD-302A5065D1EF}"/>
                </a:ext>
              </a:extLst>
            </p:cNvPr>
            <p:cNvSpPr/>
            <p:nvPr/>
          </p:nvSpPr>
          <p:spPr>
            <a:xfrm flipV="1">
              <a:off x="4167960" y="2510051"/>
              <a:ext cx="120667" cy="89074"/>
            </a:xfrm>
            <a:prstGeom prst="triangle">
              <a:avLst/>
            </a:prstGeom>
            <a:solidFill>
              <a:srgbClr val="FF0000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19" name="Text Box 4">
            <a:extLst>
              <a:ext uri="{FF2B5EF4-FFF2-40B4-BE49-F238E27FC236}">
                <a16:creationId xmlns:a16="http://schemas.microsoft.com/office/drawing/2014/main" id="{BF6E58F7-B40C-30B1-51C6-389ABEFC7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883" y="1789262"/>
            <a:ext cx="32220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Phase1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46506CD-6C59-0739-05FC-DABEE49E39BF}"/>
              </a:ext>
            </a:extLst>
          </p:cNvPr>
          <p:cNvSpPr txBox="1"/>
          <p:nvPr/>
        </p:nvSpPr>
        <p:spPr>
          <a:xfrm>
            <a:off x="2627021" y="2363475"/>
            <a:ext cx="499102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LAMI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Agent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배포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E417F238-DCEE-3193-386A-4EB5EE8E31CA}"/>
              </a:ext>
            </a:extLst>
          </p:cNvPr>
          <p:cNvSpPr/>
          <p:nvPr/>
        </p:nvSpPr>
        <p:spPr>
          <a:xfrm>
            <a:off x="2796539" y="22259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072BC-437A-31CE-2307-31CBC4914259}"/>
              </a:ext>
            </a:extLst>
          </p:cNvPr>
          <p:cNvSpPr txBox="1"/>
          <p:nvPr/>
        </p:nvSpPr>
        <p:spPr>
          <a:xfrm>
            <a:off x="2575666" y="2639711"/>
            <a:ext cx="583699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LAMI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EEDAD-31D5-6616-E661-1F84E747B60E}"/>
              </a:ext>
            </a:extLst>
          </p:cNvPr>
          <p:cNvSpPr txBox="1"/>
          <p:nvPr/>
        </p:nvSpPr>
        <p:spPr>
          <a:xfrm>
            <a:off x="5332903" y="2369947"/>
            <a:ext cx="462233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E2E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운영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" name="제목 3">
            <a:extLst>
              <a:ext uri="{FF2B5EF4-FFF2-40B4-BE49-F238E27FC236}">
                <a16:creationId xmlns:a16="http://schemas.microsoft.com/office/drawing/2014/main" id="{A1994AC6-C954-FFEE-8C85-9549BF3C7856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244216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3.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KPI 08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월 진척 사항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(9/9)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B53405F-CBE5-8DAF-86AF-A42D0869AAB0}"/>
              </a:ext>
            </a:extLst>
          </p:cNvPr>
          <p:cNvGrpSpPr/>
          <p:nvPr/>
        </p:nvGrpSpPr>
        <p:grpSpPr>
          <a:xfrm>
            <a:off x="5141076" y="5128523"/>
            <a:ext cx="4553251" cy="333628"/>
            <a:chOff x="5152724" y="4496534"/>
            <a:chExt cx="4221222" cy="333628"/>
          </a:xfrm>
        </p:grpSpPr>
        <p:sp>
          <p:nvSpPr>
            <p:cNvPr id="17" name="제목 9">
              <a:extLst>
                <a:ext uri="{FF2B5EF4-FFF2-40B4-BE49-F238E27FC236}">
                  <a16:creationId xmlns:a16="http://schemas.microsoft.com/office/drawing/2014/main" id="{03ACD8FC-1A7F-C4C7-3F4D-73A72159C8F9}"/>
                </a:ext>
              </a:extLst>
            </p:cNvPr>
            <p:cNvSpPr txBox="1">
              <a:spLocks/>
            </p:cNvSpPr>
            <p:nvPr/>
          </p:nvSpPr>
          <p:spPr>
            <a:xfrm>
              <a:off x="6885364" y="4496534"/>
              <a:ext cx="755941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적용 효과</a:t>
              </a:r>
              <a:endPara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cxnSp>
          <p:nvCxnSpPr>
            <p:cNvPr id="18" name="직선 연결선 2">
              <a:extLst>
                <a:ext uri="{FF2B5EF4-FFF2-40B4-BE49-F238E27FC236}">
                  <a16:creationId xmlns:a16="http://schemas.microsoft.com/office/drawing/2014/main" id="{B54046F9-4E4A-8617-F64B-882F8C84E1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43CF544-7534-30E2-AA86-EC024D12ABF7}"/>
              </a:ext>
            </a:extLst>
          </p:cNvPr>
          <p:cNvSpPr txBox="1"/>
          <p:nvPr/>
        </p:nvSpPr>
        <p:spPr>
          <a:xfrm>
            <a:off x="8186799" y="5571322"/>
            <a:ext cx="1982149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(WA, MI, MIL, OT, AZ – APC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적용 법인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DAC3B-E128-635A-9B9A-8FEA6D8477EA}"/>
              </a:ext>
            </a:extLst>
          </p:cNvPr>
          <p:cNvSpPr txBox="1">
            <a:spLocks/>
          </p:cNvSpPr>
          <p:nvPr/>
        </p:nvSpPr>
        <p:spPr>
          <a:xfrm>
            <a:off x="816727" y="3816493"/>
            <a:ext cx="4211124" cy="2406428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WA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코터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공정 대상 자동보정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Agent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180975" marR="0" lvl="1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활용률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E2E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 및 배포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완료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. Daily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활용률 메일 서비스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전호기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활용률 현황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수동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자동보정 횟수 제공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. Worst Top1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설비 상세 분석 차트 자동 제공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(LAM)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자동보정 최장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OFF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시점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최다 불량 구간 상세 시각화</a:t>
            </a:r>
            <a:b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(COT)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자동보정 최장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OFF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시점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최다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발생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LOT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상세 시각화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챗봇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서비스 개발 완료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.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기본 분석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활용률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수동보정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APC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알람 조회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시각화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(CTP, CTQ),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상세 분석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재료교체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가감속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수동보정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off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구간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자동보정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 Agent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인수인계 후 </a:t>
            </a:r>
            <a:r>
              <a:rPr kumimoji="1"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고도화 및 운영</a:t>
            </a:r>
            <a:r>
              <a:rPr kumimoji="1"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유지보수 중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28331C-D415-EDE1-9F7E-99893DD67CB7}"/>
              </a:ext>
            </a:extLst>
          </p:cNvPr>
          <p:cNvSpPr txBox="1"/>
          <p:nvPr/>
        </p:nvSpPr>
        <p:spPr>
          <a:xfrm>
            <a:off x="5110526" y="3813726"/>
            <a:ext cx="4795474" cy="501291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,Sans-Serif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확대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수평전개 및 기술 고도화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MI_HL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코터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공정 대상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AI-Agent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기술 확대 적용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(‘26.09)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24D709-F2E2-6F90-55A3-29C6A725DBDF}"/>
              </a:ext>
            </a:extLst>
          </p:cNvPr>
          <p:cNvSpPr txBox="1"/>
          <p:nvPr/>
        </p:nvSpPr>
        <p:spPr>
          <a:xfrm>
            <a:off x="5110526" y="5462654"/>
            <a:ext cx="4795474" cy="704424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,Sans-Serif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Eng’r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인건비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15.85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절감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= 3.17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 *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법인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8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명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(WA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자동보정 담당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FSE/ISE) * 1.1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억원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명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임금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* 40% 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자동보정 분석업무 비중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* 90% (AI-Agent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업무 개선 효과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C77D5EF-5DF6-55CB-7C94-E9B5C57BD688}"/>
              </a:ext>
            </a:extLst>
          </p:cNvPr>
          <p:cNvGrpSpPr/>
          <p:nvPr/>
        </p:nvGrpSpPr>
        <p:grpSpPr>
          <a:xfrm>
            <a:off x="7758397" y="68805"/>
            <a:ext cx="1695182" cy="604476"/>
            <a:chOff x="4232920" y="49957"/>
            <a:chExt cx="1695182" cy="60447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078FF3A-44A6-1E36-069E-942947DA1C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241C08-0933-AF03-A4A3-1B3DF53B6602}"/>
                </a:ext>
              </a:extLst>
            </p:cNvPr>
            <p:cNvSpPr txBox="1"/>
            <p:nvPr/>
          </p:nvSpPr>
          <p:spPr>
            <a:xfrm>
              <a:off x="4458469" y="52657"/>
              <a:ext cx="1206421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2CF1445-A29C-695E-654D-9CC2BBDB4A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733E121-B2B3-682C-4D8E-03B4F88A7FB0}"/>
                </a:ext>
              </a:extLst>
            </p:cNvPr>
            <p:cNvSpPr txBox="1"/>
            <p:nvPr/>
          </p:nvSpPr>
          <p:spPr>
            <a:xfrm>
              <a:off x="4458469" y="477133"/>
              <a:ext cx="1469633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DE5B7A3-8F24-D83B-6AFE-410C20B31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F98A3A1-D675-3824-7F5D-49B29DDD13B4}"/>
                </a:ext>
              </a:extLst>
            </p:cNvPr>
            <p:cNvSpPr txBox="1"/>
            <p:nvPr/>
          </p:nvSpPr>
          <p:spPr>
            <a:xfrm>
              <a:off x="4458469" y="264895"/>
              <a:ext cx="1252907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4339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CF256A76-7CDE-A3C9-34C3-D276266B2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75" y="4068107"/>
            <a:ext cx="9004572" cy="225571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8C19C17-1221-3643-3D15-8825DED81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00" y="1029268"/>
            <a:ext cx="9004572" cy="2255716"/>
          </a:xfrm>
          <a:prstGeom prst="rect">
            <a:avLst/>
          </a:prstGeom>
        </p:spPr>
      </p:pic>
      <p:sp>
        <p:nvSpPr>
          <p:cNvPr id="2" name="실행 단추: 홈으로 이동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D13FCCB-C109-FE0A-B0E9-1E3D1E9392C1}"/>
              </a:ext>
            </a:extLst>
          </p:cNvPr>
          <p:cNvSpPr/>
          <p:nvPr/>
        </p:nvSpPr>
        <p:spPr>
          <a:xfrm>
            <a:off x="9448800" y="195652"/>
            <a:ext cx="266519" cy="251147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F51DE-D057-7C9E-C956-250C69828549}"/>
              </a:ext>
            </a:extLst>
          </p:cNvPr>
          <p:cNvSpPr txBox="1"/>
          <p:nvPr/>
        </p:nvSpPr>
        <p:spPr>
          <a:xfrm>
            <a:off x="174246" y="91407"/>
            <a:ext cx="8811202" cy="31739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defTabSz="895661">
              <a:lnSpc>
                <a:spcPct val="110000"/>
              </a:lnSpc>
              <a:spcBef>
                <a:spcPts val="294"/>
              </a:spcBef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MI_LS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RP </a:t>
            </a:r>
            <a:r>
              <a:rPr kumimoji="1" lang="ko-KR" altLang="en-US" sz="20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역압</a:t>
            </a:r>
            <a:r>
              <a:rPr kumimoji="1"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자동보정 고도화 후 효과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6C4442-3D25-E63E-68E5-25CAD000748E}"/>
              </a:ext>
            </a:extLst>
          </p:cNvPr>
          <p:cNvCxnSpPr>
            <a:cxnSpLocks/>
          </p:cNvCxnSpPr>
          <p:nvPr/>
        </p:nvCxnSpPr>
        <p:spPr>
          <a:xfrm>
            <a:off x="174247" y="466725"/>
            <a:ext cx="4562729" cy="0"/>
          </a:xfrm>
          <a:prstGeom prst="line">
            <a:avLst/>
          </a:prstGeom>
          <a:ln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EF0877-1438-89D3-788E-E36343C118F1}"/>
              </a:ext>
            </a:extLst>
          </p:cNvPr>
          <p:cNvSpPr txBox="1"/>
          <p:nvPr/>
        </p:nvSpPr>
        <p:spPr>
          <a:xfrm>
            <a:off x="118009" y="485259"/>
            <a:ext cx="9787991" cy="330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38163" algn="l"/>
                <a:tab pos="803275" algn="l"/>
                <a:tab pos="985838" algn="l"/>
              </a:tabLst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</a:rPr>
              <a:t>자동보정 고도화 후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</a:t>
            </a:r>
            <a:r>
              <a:rPr lang="ko-KR" altLang="en-US" sz="1400" dirty="0" err="1">
                <a:latin typeface="LG스마트체 Regular" panose="020B0600000101010101" pitchFamily="50" charset="-127"/>
              </a:rPr>
              <a:t>재공불량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 중 단선이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0.8%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→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0.3%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로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63%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개선되어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 수율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0.5%p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상승에 기여했습니다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.(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적용 전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/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후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14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일 비교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9C632D6-46F4-C2CB-91BB-BCFB732AFAE1}"/>
              </a:ext>
            </a:extLst>
          </p:cNvPr>
          <p:cNvSpPr/>
          <p:nvPr/>
        </p:nvSpPr>
        <p:spPr>
          <a:xfrm>
            <a:off x="5370598" y="4329742"/>
            <a:ext cx="3960440" cy="1659647"/>
          </a:xfrm>
          <a:prstGeom prst="rect">
            <a:avLst/>
          </a:prstGeom>
          <a:solidFill>
            <a:srgbClr val="00B0F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4B66D4-DEC6-7B2F-530B-5553DD6D4E58}"/>
              </a:ext>
            </a:extLst>
          </p:cNvPr>
          <p:cNvSpPr txBox="1"/>
          <p:nvPr/>
        </p:nvSpPr>
        <p:spPr>
          <a:xfrm>
            <a:off x="5298962" y="4100526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</a:t>
            </a:r>
            <a:r>
              <a:rPr lang="en-US" altLang="ko-KR" sz="8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 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11BEC9-F4EB-B162-FEF2-541D2243D93C}"/>
              </a:ext>
            </a:extLst>
          </p:cNvPr>
          <p:cNvSpPr/>
          <p:nvPr/>
        </p:nvSpPr>
        <p:spPr>
          <a:xfrm>
            <a:off x="5370598" y="1308847"/>
            <a:ext cx="3960440" cy="1659647"/>
          </a:xfrm>
          <a:prstGeom prst="rect">
            <a:avLst/>
          </a:prstGeom>
          <a:solidFill>
            <a:srgbClr val="00B0F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45985D-27F5-40A4-BE2A-C9DF80E2476A}"/>
              </a:ext>
            </a:extLst>
          </p:cNvPr>
          <p:cNvSpPr txBox="1"/>
          <p:nvPr/>
        </p:nvSpPr>
        <p:spPr>
          <a:xfrm>
            <a:off x="5298962" y="1079631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</a:t>
            </a:r>
            <a:r>
              <a:rPr lang="en-US" altLang="ko-KR" sz="8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 후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931068F-9497-F77F-CDA6-3ABECDEBAF40}"/>
              </a:ext>
            </a:extLst>
          </p:cNvPr>
          <p:cNvCxnSpPr/>
          <p:nvPr/>
        </p:nvCxnSpPr>
        <p:spPr>
          <a:xfrm flipV="1">
            <a:off x="5139716" y="1124744"/>
            <a:ext cx="0" cy="18437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BD7029F-64CD-AA18-CDC4-27921B3DAD6E}"/>
              </a:ext>
            </a:extLst>
          </p:cNvPr>
          <p:cNvCxnSpPr/>
          <p:nvPr/>
        </p:nvCxnSpPr>
        <p:spPr>
          <a:xfrm flipV="1">
            <a:off x="5139716" y="4145639"/>
            <a:ext cx="0" cy="18437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18C8F37-14EA-ACC7-650D-B2645B406C87}"/>
              </a:ext>
            </a:extLst>
          </p:cNvPr>
          <p:cNvSpPr txBox="1"/>
          <p:nvPr/>
        </p:nvSpPr>
        <p:spPr>
          <a:xfrm>
            <a:off x="89204" y="1052773"/>
            <a:ext cx="355867" cy="3231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단선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불량률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53BEBD-37E7-D2D7-6C6A-A24DCE7F6AC6}"/>
              </a:ext>
            </a:extLst>
          </p:cNvPr>
          <p:cNvSpPr txBox="1"/>
          <p:nvPr/>
        </p:nvSpPr>
        <p:spPr>
          <a:xfrm>
            <a:off x="9250920" y="3315459"/>
            <a:ext cx="23724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일자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6BFE8A-1D59-249A-6E04-DBD6F78243A2}"/>
              </a:ext>
            </a:extLst>
          </p:cNvPr>
          <p:cNvSpPr txBox="1"/>
          <p:nvPr/>
        </p:nvSpPr>
        <p:spPr>
          <a:xfrm>
            <a:off x="25012" y="4070737"/>
            <a:ext cx="480901" cy="3231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단선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PD </a:t>
            </a:r>
          </a:p>
          <a:p>
            <a:pPr algn="ctr"/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율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04BB09-7C2C-A2AF-D072-455C7D586977}"/>
              </a:ext>
            </a:extLst>
          </p:cNvPr>
          <p:cNvSpPr txBox="1"/>
          <p:nvPr/>
        </p:nvSpPr>
        <p:spPr>
          <a:xfrm>
            <a:off x="9250920" y="6333423"/>
            <a:ext cx="23724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일자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FC90C5-C1B8-D727-4C66-8D205D0CF9F6}"/>
              </a:ext>
            </a:extLst>
          </p:cNvPr>
          <p:cNvSpPr txBox="1"/>
          <p:nvPr/>
        </p:nvSpPr>
        <p:spPr>
          <a:xfrm>
            <a:off x="166464" y="3581127"/>
            <a:ext cx="9691080" cy="330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38163" algn="l"/>
                <a:tab pos="803275" algn="l"/>
                <a:tab pos="985838" algn="l"/>
              </a:tabLst>
              <a:defRPr/>
            </a:pPr>
            <a:r>
              <a:rPr lang="ko-KR" altLang="en-US" sz="1400" dirty="0">
                <a:latin typeface="LG스마트체 Regular" panose="020B0600000101010101" pitchFamily="50" charset="-127"/>
              </a:rPr>
              <a:t>추가로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10km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당 단선 횟수가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3.22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회 →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0.46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회로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86%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감소하여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PD Loss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율이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13.43%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→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2.14%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로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84%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개선 되었습니다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BC0AA6-4B55-72A5-FDE0-61515A0AB905}"/>
              </a:ext>
            </a:extLst>
          </p:cNvPr>
          <p:cNvSpPr txBox="1"/>
          <p:nvPr/>
        </p:nvSpPr>
        <p:spPr>
          <a:xfrm>
            <a:off x="4002446" y="3872329"/>
            <a:ext cx="2300047" cy="195814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>
            <a:defPPr>
              <a:defRPr lang="ko-KR"/>
            </a:defPPr>
            <a:lvl1pPr marL="92075" marR="0" lvl="0" indent="-92075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indent="0" algn="ctr">
              <a:buNone/>
            </a:pPr>
            <a:r>
              <a:rPr lang="ko-KR" altLang="en-US" b="1" dirty="0"/>
              <a:t>자동보정 적용 시점</a:t>
            </a:r>
            <a:endParaRPr lang="en-US" altLang="ko-KR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91AA84-6C81-11FD-A0F8-5DCF6993FF74}"/>
              </a:ext>
            </a:extLst>
          </p:cNvPr>
          <p:cNvSpPr txBox="1"/>
          <p:nvPr/>
        </p:nvSpPr>
        <p:spPr>
          <a:xfrm>
            <a:off x="4002446" y="832975"/>
            <a:ext cx="2300047" cy="195814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>
            <a:defPPr>
              <a:defRPr lang="ko-KR"/>
            </a:defPPr>
            <a:lvl1pPr marL="92075" marR="0" lvl="0" indent="-92075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indent="0" algn="ctr">
              <a:buNone/>
            </a:pPr>
            <a:r>
              <a:rPr lang="ko-KR" altLang="en-US" b="1" dirty="0"/>
              <a:t>자동보정 적용 시점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37418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0F51DE-D057-7C9E-C956-250C69828549}"/>
              </a:ext>
            </a:extLst>
          </p:cNvPr>
          <p:cNvSpPr txBox="1"/>
          <p:nvPr/>
        </p:nvSpPr>
        <p:spPr>
          <a:xfrm>
            <a:off x="174246" y="91407"/>
            <a:ext cx="8811202" cy="31739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defTabSz="895661">
              <a:lnSpc>
                <a:spcPct val="110000"/>
              </a:lnSpc>
              <a:spcBef>
                <a:spcPts val="294"/>
              </a:spcBef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NFF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전극 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R/P,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SLT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0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저하 원인 분석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6C4442-3D25-E63E-68E5-25CAD000748E}"/>
              </a:ext>
            </a:extLst>
          </p:cNvPr>
          <p:cNvCxnSpPr>
            <a:cxnSpLocks/>
          </p:cNvCxnSpPr>
          <p:nvPr/>
        </p:nvCxnSpPr>
        <p:spPr>
          <a:xfrm>
            <a:off x="174247" y="466725"/>
            <a:ext cx="4562729" cy="0"/>
          </a:xfrm>
          <a:prstGeom prst="line">
            <a:avLst/>
          </a:prstGeom>
          <a:ln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EF0877-1438-89D3-788E-E36343C118F1}"/>
              </a:ext>
            </a:extLst>
          </p:cNvPr>
          <p:cNvSpPr txBox="1"/>
          <p:nvPr/>
        </p:nvSpPr>
        <p:spPr>
          <a:xfrm>
            <a:off x="118009" y="485259"/>
            <a:ext cx="9787991" cy="330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38163" algn="l"/>
                <a:tab pos="803275" algn="l"/>
                <a:tab pos="985838" algn="l"/>
              </a:tabLst>
              <a:defRPr/>
            </a:pPr>
            <a:r>
              <a:rPr lang="en-US" altLang="ko-KR" sz="1400" dirty="0">
                <a:latin typeface="LG스마트체 Regular" panose="020B0600000101010101" pitchFamily="50" charset="-127"/>
              </a:rPr>
              <a:t>8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월 기준 누적 </a:t>
            </a:r>
            <a:r>
              <a:rPr lang="ko-KR" altLang="en-US" sz="1400" dirty="0" err="1">
                <a:latin typeface="LG스마트체 Regular" panose="020B0600000101010101" pitchFamily="50" charset="-127"/>
              </a:rPr>
              <a:t>수율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98.9 %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이며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7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월 누적 </a:t>
            </a:r>
            <a:r>
              <a:rPr lang="ko-KR" altLang="en-US" sz="1400" dirty="0" err="1">
                <a:latin typeface="LG스마트체 Regular" panose="020B0600000101010101" pitchFamily="50" charset="-127"/>
              </a:rPr>
              <a:t>수율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 대비 </a:t>
            </a:r>
            <a:r>
              <a:rPr lang="en-US" altLang="ko-KR" sz="1400" dirty="0">
                <a:solidFill>
                  <a:srgbClr val="0000FF"/>
                </a:solidFill>
                <a:latin typeface="LG스마트체 Regular" panose="020B0600000101010101" pitchFamily="50" charset="-127"/>
              </a:rPr>
              <a:t>0.1%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상승 하였습니다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459BF53-59D3-96BE-554F-0E2CB741B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493786"/>
              </p:ext>
            </p:extLst>
          </p:nvPr>
        </p:nvGraphicFramePr>
        <p:xfrm>
          <a:off x="598013" y="2886041"/>
          <a:ext cx="2338763" cy="975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8703">
                  <a:extLst>
                    <a:ext uri="{9D8B030D-6E8A-4147-A177-3AD203B41FA5}">
                      <a16:colId xmlns:a16="http://schemas.microsoft.com/office/drawing/2014/main" val="472143605"/>
                    </a:ext>
                  </a:extLst>
                </a:gridCol>
                <a:gridCol w="448703">
                  <a:extLst>
                    <a:ext uri="{9D8B030D-6E8A-4147-A177-3AD203B41FA5}">
                      <a16:colId xmlns:a16="http://schemas.microsoft.com/office/drawing/2014/main" val="3930834092"/>
                    </a:ext>
                  </a:extLst>
                </a:gridCol>
                <a:gridCol w="448703">
                  <a:extLst>
                    <a:ext uri="{9D8B030D-6E8A-4147-A177-3AD203B41FA5}">
                      <a16:colId xmlns:a16="http://schemas.microsoft.com/office/drawing/2014/main" val="2390149454"/>
                    </a:ext>
                  </a:extLst>
                </a:gridCol>
                <a:gridCol w="433233">
                  <a:extLst>
                    <a:ext uri="{9D8B030D-6E8A-4147-A177-3AD203B41FA5}">
                      <a16:colId xmlns:a16="http://schemas.microsoft.com/office/drawing/2014/main" val="1112044825"/>
                    </a:ext>
                  </a:extLst>
                </a:gridCol>
                <a:gridCol w="559421">
                  <a:extLst>
                    <a:ext uri="{9D8B030D-6E8A-4147-A177-3AD203B41FA5}">
                      <a16:colId xmlns:a16="http://schemas.microsoft.com/office/drawing/2014/main" val="4141645428"/>
                    </a:ext>
                  </a:extLst>
                </a:gridCol>
              </a:tblGrid>
              <a:tr h="48750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수율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831346"/>
                  </a:ext>
                </a:extLst>
              </a:tr>
              <a:tr h="48750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98.9(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0.2)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70576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E33E25A-03CE-7A9A-D9D2-6ABC93ED2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93982"/>
              </p:ext>
            </p:extLst>
          </p:nvPr>
        </p:nvGraphicFramePr>
        <p:xfrm>
          <a:off x="460131" y="1144489"/>
          <a:ext cx="4708896" cy="989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356">
                  <a:extLst>
                    <a:ext uri="{9D8B030D-6E8A-4147-A177-3AD203B41FA5}">
                      <a16:colId xmlns:a16="http://schemas.microsoft.com/office/drawing/2014/main" val="3049790224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506729959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841681693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4066198197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3284412632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4159888217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2460000008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1318208380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731276393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1907957540"/>
                    </a:ext>
                  </a:extLst>
                </a:gridCol>
                <a:gridCol w="424054">
                  <a:extLst>
                    <a:ext uri="{9D8B030D-6E8A-4147-A177-3AD203B41FA5}">
                      <a16:colId xmlns:a16="http://schemas.microsoft.com/office/drawing/2014/main" val="3853254511"/>
                    </a:ext>
                  </a:extLst>
                </a:gridCol>
              </a:tblGrid>
              <a:tr h="32967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항목</a:t>
                      </a:r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8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월별 누적 수율</a:t>
                      </a:r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980251"/>
                  </a:ext>
                </a:extLst>
              </a:tr>
              <a:tr h="329672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실적</a:t>
                      </a:r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누계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900" b="0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누계</a:t>
                      </a:r>
                      <a:endParaRPr lang="ko-KR" altLang="en-US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900" b="0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누계</a:t>
                      </a:r>
                      <a:endParaRPr lang="ko-KR" altLang="en-US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누계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누계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누계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7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누계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누계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295489"/>
                  </a:ext>
                </a:extLst>
              </a:tr>
              <a:tr h="329672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전극 수율</a:t>
                      </a:r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98.9%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97.1%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98.4%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98.7%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98.9%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570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110F55C-B732-807C-AF23-0B1EE39A6FB5}"/>
              </a:ext>
            </a:extLst>
          </p:cNvPr>
          <p:cNvSpPr txBox="1"/>
          <p:nvPr/>
        </p:nvSpPr>
        <p:spPr>
          <a:xfrm>
            <a:off x="128464" y="836712"/>
            <a:ext cx="6506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▶ 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KPI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기준 월별 누적 </a:t>
            </a:r>
            <a:r>
              <a:rPr lang="ko-KR" altLang="en-US" sz="14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수율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_ 4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점</a:t>
            </a:r>
            <a:r>
              <a:rPr lang="en-US" altLang="ko-KR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누적 </a:t>
            </a:r>
            <a:r>
              <a:rPr lang="ko-KR" altLang="en-US" sz="1200" dirty="0" err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수율</a:t>
            </a:r>
            <a:r>
              <a:rPr lang="ko-KR" altLang="en-US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기준 </a:t>
            </a:r>
            <a:r>
              <a:rPr lang="en-US" altLang="ko-KR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ko-KR" altLang="en-US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점 </a:t>
            </a:r>
            <a:r>
              <a:rPr lang="en-US" altLang="ko-KR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- 99%, 4</a:t>
            </a:r>
            <a:r>
              <a:rPr lang="ko-KR" altLang="en-US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점 </a:t>
            </a:r>
            <a:r>
              <a:rPr lang="en-US" altLang="ko-KR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 98.9%, 3</a:t>
            </a:r>
            <a:r>
              <a:rPr lang="ko-KR" altLang="en-US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점 </a:t>
            </a:r>
            <a:r>
              <a:rPr lang="en-US" altLang="ko-KR" sz="12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 98.8%)</a:t>
            </a:r>
            <a:endParaRPr lang="ko-KR" altLang="en-US" sz="1400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F4B271-CE74-BC68-5F02-3615983EC8CA}"/>
              </a:ext>
            </a:extLst>
          </p:cNvPr>
          <p:cNvSpPr txBox="1"/>
          <p:nvPr/>
        </p:nvSpPr>
        <p:spPr>
          <a:xfrm>
            <a:off x="127591" y="2284971"/>
            <a:ext cx="6506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▷ 월별 전극 </a:t>
            </a:r>
            <a:r>
              <a:rPr lang="ko-KR" altLang="en-US" sz="14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수율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월 전극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수율은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98.8 %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로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7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월 대비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0.2%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하락</a:t>
            </a:r>
            <a:endParaRPr lang="ko-KR" altLang="en-US" sz="1400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1A78F35-3313-FD93-C953-C5ABFD6FA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887440"/>
              </p:ext>
            </p:extLst>
          </p:nvPr>
        </p:nvGraphicFramePr>
        <p:xfrm>
          <a:off x="5169024" y="2886042"/>
          <a:ext cx="2664296" cy="975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343">
                  <a:extLst>
                    <a:ext uri="{9D8B030D-6E8A-4147-A177-3AD203B41FA5}">
                      <a16:colId xmlns:a16="http://schemas.microsoft.com/office/drawing/2014/main" val="472143605"/>
                    </a:ext>
                  </a:extLst>
                </a:gridCol>
                <a:gridCol w="497343">
                  <a:extLst>
                    <a:ext uri="{9D8B030D-6E8A-4147-A177-3AD203B41FA5}">
                      <a16:colId xmlns:a16="http://schemas.microsoft.com/office/drawing/2014/main" val="3930834092"/>
                    </a:ext>
                  </a:extLst>
                </a:gridCol>
                <a:gridCol w="497343">
                  <a:extLst>
                    <a:ext uri="{9D8B030D-6E8A-4147-A177-3AD203B41FA5}">
                      <a16:colId xmlns:a16="http://schemas.microsoft.com/office/drawing/2014/main" val="2390149454"/>
                    </a:ext>
                  </a:extLst>
                </a:gridCol>
                <a:gridCol w="480196">
                  <a:extLst>
                    <a:ext uri="{9D8B030D-6E8A-4147-A177-3AD203B41FA5}">
                      <a16:colId xmlns:a16="http://schemas.microsoft.com/office/drawing/2014/main" val="1112044825"/>
                    </a:ext>
                  </a:extLst>
                </a:gridCol>
                <a:gridCol w="692071">
                  <a:extLst>
                    <a:ext uri="{9D8B030D-6E8A-4147-A177-3AD203B41FA5}">
                      <a16:colId xmlns:a16="http://schemas.microsoft.com/office/drawing/2014/main" val="4141645428"/>
                    </a:ext>
                  </a:extLst>
                </a:gridCol>
              </a:tblGrid>
              <a:tr h="32500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수율</a:t>
                      </a:r>
                      <a:endParaRPr lang="ko-KR" altLang="en-US" sz="9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831346"/>
                  </a:ext>
                </a:extLst>
              </a:tr>
              <a:tr h="32500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99.8(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0.17)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993503"/>
                  </a:ext>
                </a:extLst>
              </a:tr>
              <a:tr h="32500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SLT</a:t>
                      </a:r>
                      <a:endParaRPr lang="ko-KR" altLang="en-US" sz="9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99.3(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0.12)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0177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D0890B4-9BA5-A5E9-0BB8-FF2E6A32A2A9}"/>
              </a:ext>
            </a:extLst>
          </p:cNvPr>
          <p:cNvSpPr txBox="1"/>
          <p:nvPr/>
        </p:nvSpPr>
        <p:spPr>
          <a:xfrm>
            <a:off x="4664968" y="2307115"/>
            <a:ext cx="6506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▷ 월별 공정별 </a:t>
            </a:r>
            <a:r>
              <a:rPr lang="ko-KR" altLang="en-US" sz="14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수율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kumimoji="1" lang="en-US" altLang="ko-KR" sz="14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r>
              <a:rPr kumimoji="1" lang="ko-KR" altLang="en-US" sz="14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대비 </a:t>
            </a:r>
            <a:r>
              <a:rPr kumimoji="1" lang="en-US" altLang="ko-KR" sz="14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R/P </a:t>
            </a:r>
            <a:r>
              <a:rPr kumimoji="1"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0.17% </a:t>
            </a:r>
            <a:r>
              <a:rPr kumimoji="1" lang="ko-KR" altLang="en-US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하락</a:t>
            </a:r>
            <a:r>
              <a:rPr kumimoji="1" lang="en-US" altLang="ko-KR" sz="14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SLT </a:t>
            </a:r>
            <a:r>
              <a:rPr kumimoji="1"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0.12% </a:t>
            </a:r>
            <a:r>
              <a:rPr kumimoji="1" lang="ko-KR" altLang="en-US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하락</a:t>
            </a:r>
            <a:endParaRPr lang="ko-KR" altLang="en-US" sz="14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1B15C4-AFEC-1D3B-DB3D-77C3F4C65C46}"/>
              </a:ext>
            </a:extLst>
          </p:cNvPr>
          <p:cNvSpPr txBox="1"/>
          <p:nvPr/>
        </p:nvSpPr>
        <p:spPr>
          <a:xfrm>
            <a:off x="127590" y="4085461"/>
            <a:ext cx="10081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▶ 원인 분석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(7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대비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조치 현황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kumimoji="1" lang="en-US" altLang="ko-KR" sz="14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R/P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저하 원인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양극 원자재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(Al foil)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기인 단선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Loss,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전체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수율에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0.05%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수준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나머지 </a:t>
            </a:r>
            <a:r>
              <a:rPr kumimoji="1"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0.12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%(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형교환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0.05,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미확인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0.07)</a:t>
            </a:r>
            <a:b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 - SLT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저하 원인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음극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코터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공정 표면불량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분화구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전체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수율에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0.09%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수준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나머지 </a:t>
            </a:r>
            <a:r>
              <a:rPr kumimoji="1"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0.03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%(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주름</a:t>
            </a:r>
            <a:r>
              <a:rPr kumimoji="1"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0.01, </a:t>
            </a:r>
            <a:r>
              <a:rPr kumimoji="1" lang="ko-KR" altLang="en-US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미확인 </a:t>
            </a:r>
            <a:r>
              <a:rPr kumimoji="1"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0.02)</a:t>
            </a:r>
            <a:endParaRPr lang="ko-KR" altLang="en-US" sz="14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81627C9A-E541-E3F9-BB3D-9EA0C6429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374573"/>
              </p:ext>
            </p:extLst>
          </p:nvPr>
        </p:nvGraphicFramePr>
        <p:xfrm>
          <a:off x="595196" y="4824125"/>
          <a:ext cx="4896544" cy="13780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740">
                  <a:extLst>
                    <a:ext uri="{9D8B030D-6E8A-4147-A177-3AD203B41FA5}">
                      <a16:colId xmlns:a16="http://schemas.microsoft.com/office/drawing/2014/main" val="2925515762"/>
                    </a:ext>
                  </a:extLst>
                </a:gridCol>
                <a:gridCol w="704924">
                  <a:extLst>
                    <a:ext uri="{9D8B030D-6E8A-4147-A177-3AD203B41FA5}">
                      <a16:colId xmlns:a16="http://schemas.microsoft.com/office/drawing/2014/main" val="4269936015"/>
                    </a:ext>
                  </a:extLst>
                </a:gridCol>
                <a:gridCol w="704924">
                  <a:extLst>
                    <a:ext uri="{9D8B030D-6E8A-4147-A177-3AD203B41FA5}">
                      <a16:colId xmlns:a16="http://schemas.microsoft.com/office/drawing/2014/main" val="399011208"/>
                    </a:ext>
                  </a:extLst>
                </a:gridCol>
                <a:gridCol w="1030101">
                  <a:extLst>
                    <a:ext uri="{9D8B030D-6E8A-4147-A177-3AD203B41FA5}">
                      <a16:colId xmlns:a16="http://schemas.microsoft.com/office/drawing/2014/main" val="4177517665"/>
                    </a:ext>
                  </a:extLst>
                </a:gridCol>
                <a:gridCol w="1392855">
                  <a:extLst>
                    <a:ext uri="{9D8B030D-6E8A-4147-A177-3AD203B41FA5}">
                      <a16:colId xmlns:a16="http://schemas.microsoft.com/office/drawing/2014/main" val="2082325256"/>
                    </a:ext>
                  </a:extLst>
                </a:gridCol>
              </a:tblGrid>
              <a:tr h="368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주요 </a:t>
                      </a:r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Loss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투입량 대비 </a:t>
                      </a:r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(%)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  치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354772"/>
                  </a:ext>
                </a:extLst>
              </a:tr>
              <a:tr h="504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R/P</a:t>
                      </a:r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단선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1,518 m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1,809 m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0.05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 0.14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원자재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(Al foil)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기인 단선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SQA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 원자재 관리 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975143"/>
                  </a:ext>
                </a:extLst>
              </a:tr>
              <a:tr h="504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</a:t>
                      </a:r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SL </a:t>
                      </a:r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표면불량</a:t>
                      </a:r>
                      <a:endParaRPr lang="en-US" altLang="ko-KR" sz="9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분화구</a:t>
                      </a:r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3,502 m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6,166 m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0.12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 0.32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모노펌프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믹서 온수 불림 세정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36848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6FBC931A-7234-9BE2-D298-6C8D3C680668}"/>
              </a:ext>
            </a:extLst>
          </p:cNvPr>
          <p:cNvSpPr txBox="1"/>
          <p:nvPr/>
        </p:nvSpPr>
        <p:spPr>
          <a:xfrm>
            <a:off x="118009" y="6309320"/>
            <a:ext cx="10811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▷ 추후 자동보정 적용 후 예상 기여 </a:t>
            </a:r>
            <a:r>
              <a:rPr lang="ko-KR" altLang="en-US" sz="14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수율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SLT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 자동보정 적용 시 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기준 음극 두께 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0.02%,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크랙 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0.12%,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ko-KR" altLang="en-US" sz="14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전체 </a:t>
            </a:r>
            <a:r>
              <a:rPr lang="ko-KR" altLang="en-US" sz="1400" dirty="0" err="1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수율</a:t>
            </a:r>
            <a:r>
              <a:rPr lang="ko-KR" altLang="en-US" sz="14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약 </a:t>
            </a:r>
            <a:r>
              <a:rPr lang="en-US" altLang="ko-KR" sz="14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0.05% </a:t>
            </a:r>
            <a:r>
              <a:rPr lang="ko-KR" altLang="en-US" sz="14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</a:t>
            </a:r>
            <a:r>
              <a:rPr lang="en-US" altLang="ko-KR" sz="14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4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 기여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예상됩니다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1" name="실행 단추: 홈으로 이동 4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DAC12B7-1A9F-DA7F-8184-C080E69382FC}"/>
              </a:ext>
            </a:extLst>
          </p:cNvPr>
          <p:cNvSpPr/>
          <p:nvPr/>
        </p:nvSpPr>
        <p:spPr>
          <a:xfrm>
            <a:off x="9448800" y="195652"/>
            <a:ext cx="266519" cy="251147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49CF7D6-50F2-FB7B-4945-27AA01073C52}"/>
              </a:ext>
            </a:extLst>
          </p:cNvPr>
          <p:cNvSpPr/>
          <p:nvPr/>
        </p:nvSpPr>
        <p:spPr>
          <a:xfrm>
            <a:off x="4295597" y="85403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95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16FFE1B-5336-8449-70D7-2F93BBEF0681}"/>
              </a:ext>
            </a:extLst>
          </p:cNvPr>
          <p:cNvSpPr txBox="1"/>
          <p:nvPr/>
        </p:nvSpPr>
        <p:spPr>
          <a:xfrm>
            <a:off x="161384" y="561272"/>
            <a:ext cx="9668416" cy="515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48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LAMI 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재료교체 구간 불량 분석 결과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NND 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재료교체 구간에 급변하는 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Cutting Height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로 인해 불량이 발생하는 현상을 확인하였습니다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  <a:p>
            <a:pPr marL="0" marR="0" lvl="0" indent="0" algn="l" defTabSz="448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NND Cutting Height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가 급변하는 경우 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LAMI 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공정에서 불량이 다발하며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해당 구간에서는 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NG 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마킹 불량 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60%, 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위치 불량 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40% </a:t>
            </a:r>
            <a:r>
              <a:rPr kumimoji="1" lang="ko-KR" altLang="en-US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정도 발생합니다</a:t>
            </a:r>
            <a:r>
              <a:rPr kumimoji="1" lang="en-US" altLang="ko-KR" sz="1374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</p:txBody>
      </p:sp>
      <p:sp>
        <p:nvSpPr>
          <p:cNvPr id="36" name="제목 4">
            <a:extLst>
              <a:ext uri="{FF2B5EF4-FFF2-40B4-BE49-F238E27FC236}">
                <a16:creationId xmlns:a16="http://schemas.microsoft.com/office/drawing/2014/main" id="{352782FD-3495-D4DB-7456-196000273472}"/>
              </a:ext>
            </a:extLst>
          </p:cNvPr>
          <p:cNvSpPr txBox="1">
            <a:spLocks/>
          </p:cNvSpPr>
          <p:nvPr/>
        </p:nvSpPr>
        <p:spPr>
          <a:xfrm>
            <a:off x="160122" y="188417"/>
            <a:ext cx="7183571" cy="3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726" tIns="44863" rIns="89726" bIns="44863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9730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6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NND UW </a:t>
            </a:r>
            <a:r>
              <a:rPr kumimoji="0" lang="ko-KR" altLang="en-US" sz="1963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컷팅</a:t>
            </a:r>
            <a:r>
              <a:rPr kumimoji="0" lang="ko-KR" altLang="en-US" sz="196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 전 주행속도 변경에 따른 불량 분석</a:t>
            </a:r>
            <a:r>
              <a:rPr kumimoji="0" lang="en-US" altLang="ko-KR" sz="196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(1/2)</a:t>
            </a:r>
            <a:endParaRPr kumimoji="0" lang="ko-KR" altLang="en-US" sz="1963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/>
              <a:ea typeface="LG스마트체 Regular"/>
              <a:cs typeface="+mj-cs"/>
            </a:endParaRP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EA2BF72E-B7B9-CFE9-E495-15E9EB084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2209" y="1227529"/>
            <a:ext cx="4518988" cy="5442021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8973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76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charset="0"/>
            </a:endParaRP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C0F7AD76-9F45-C945-F7CE-1F55F887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4971" y="1095586"/>
            <a:ext cx="2752157" cy="267451"/>
          </a:xfrm>
          <a:prstGeom prst="rect">
            <a:avLst/>
          </a:prstGeom>
          <a:solidFill>
            <a:srgbClr val="FFFFFF">
              <a:lumMod val="85000"/>
            </a:srgb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LAMI </a:t>
            </a:r>
            <a:r>
              <a:rPr kumimoji="0" lang="ko-KR" altLang="en-US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공정 </a:t>
            </a:r>
            <a:r>
              <a:rPr kumimoji="0" lang="en-US" altLang="ko-KR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Y</a:t>
            </a:r>
            <a:r>
              <a:rPr kumimoji="0" lang="ko-KR" altLang="en-US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축 위치</a:t>
            </a:r>
            <a:r>
              <a:rPr kumimoji="0" lang="en-US" altLang="ko-KR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 </a:t>
            </a:r>
            <a:r>
              <a:rPr kumimoji="0" lang="ko-KR" altLang="en-US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불량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C130576D-8B93-92CC-052A-5AA3348C5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74" y="1227529"/>
            <a:ext cx="4518988" cy="5442021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8973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76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charset="0"/>
            </a:endParaRPr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FE5CB995-F9CD-4318-CE57-603DB4401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134" y="1095586"/>
            <a:ext cx="2752157" cy="267451"/>
          </a:xfrm>
          <a:prstGeom prst="rect">
            <a:avLst/>
          </a:prstGeom>
          <a:solidFill>
            <a:srgbClr val="FFFFFF">
              <a:lumMod val="85000"/>
            </a:srgb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NND </a:t>
            </a:r>
            <a:r>
              <a:rPr kumimoji="0" lang="ko-KR" altLang="en-US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공정 </a:t>
            </a:r>
            <a:r>
              <a:rPr kumimoji="0" lang="en-US" altLang="ko-KR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Cutting Height </a:t>
            </a:r>
            <a:r>
              <a:rPr kumimoji="0" lang="ko-KR" altLang="en-US" sz="1268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불량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1E99F-2A4E-16B9-337E-14E783E1A24A}"/>
              </a:ext>
            </a:extLst>
          </p:cNvPr>
          <p:cNvSpPr txBox="1"/>
          <p:nvPr/>
        </p:nvSpPr>
        <p:spPr>
          <a:xfrm>
            <a:off x="7065825" y="-2045"/>
            <a:ext cx="2459683" cy="227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그룹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자동보정담당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자동보정선행개발팀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사각형 설명선 24">
            <a:extLst>
              <a:ext uri="{FF2B5EF4-FFF2-40B4-BE49-F238E27FC236}">
                <a16:creationId xmlns:a16="http://schemas.microsoft.com/office/drawing/2014/main" id="{3731FBC1-61BE-5EA1-C3FE-E9C9747EB55A}"/>
              </a:ext>
            </a:extLst>
          </p:cNvPr>
          <p:cNvSpPr/>
          <p:nvPr/>
        </p:nvSpPr>
        <p:spPr bwMode="auto">
          <a:xfrm>
            <a:off x="159279" y="1464623"/>
            <a:ext cx="4539183" cy="737965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5975" anchor="t"/>
          <a:lstStyle/>
          <a:p>
            <a:pPr marL="0" marR="0" lvl="1" indent="0" algn="l" defTabSz="1022807" rtl="0" eaLnBrk="1" fontAlgn="base" latinLnBrk="1" hangingPunct="1">
              <a:lnSpc>
                <a:spcPct val="130000"/>
              </a:lnSpc>
              <a:spcBef>
                <a:spcPts val="393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7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○ 현상 확인</a:t>
            </a:r>
            <a:br>
              <a:rPr kumimoji="1" lang="en-US" altLang="ko-KR" sz="107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</a:b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     - 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권경 센서를 활용하여 재료교체 직전에 일시적으로 </a:t>
            </a:r>
            <a:r>
              <a:rPr kumimoji="1" lang="ko-KR" altLang="en-US" sz="10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선속을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변경</a:t>
            </a:r>
            <a:b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</a:b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        . 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속도 변동 폭과 유지 시간은 호기 마다 상이함</a:t>
            </a:r>
            <a:endParaRPr kumimoji="1"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30" name="사각형 설명선 24">
            <a:extLst>
              <a:ext uri="{FF2B5EF4-FFF2-40B4-BE49-F238E27FC236}">
                <a16:creationId xmlns:a16="http://schemas.microsoft.com/office/drawing/2014/main" id="{5F1BC15E-1E97-CD30-C85A-286342F42639}"/>
              </a:ext>
            </a:extLst>
          </p:cNvPr>
          <p:cNvSpPr/>
          <p:nvPr/>
        </p:nvSpPr>
        <p:spPr bwMode="auto">
          <a:xfrm>
            <a:off x="4955775" y="1464624"/>
            <a:ext cx="4770751" cy="698472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5975" anchor="t"/>
          <a:lstStyle/>
          <a:p>
            <a:pPr marL="0" marR="0" lvl="1" indent="0" algn="l" defTabSz="1022807" rtl="0" eaLnBrk="1" fontAlgn="base" latinLnBrk="1" hangingPunct="1">
              <a:lnSpc>
                <a:spcPct val="130000"/>
              </a:lnSpc>
              <a:spcBef>
                <a:spcPts val="393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7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○ 현상 확인</a:t>
            </a:r>
            <a:br>
              <a:rPr kumimoji="1" lang="en-US" altLang="ko-KR" sz="107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</a:b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     NND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에서 확정 된 양극 </a:t>
            </a: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Tab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부의 </a:t>
            </a: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Cutting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</a:t>
            </a: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Height 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변동이 </a:t>
            </a: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LAMI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의 </a:t>
            </a: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AC_C1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에 반영 됨</a:t>
            </a:r>
            <a:endParaRPr kumimoji="1"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C03977F-DA82-2BE3-5F1E-B3EEC4DC6530}"/>
              </a:ext>
            </a:extLst>
          </p:cNvPr>
          <p:cNvGrpSpPr/>
          <p:nvPr/>
        </p:nvGrpSpPr>
        <p:grpSpPr>
          <a:xfrm>
            <a:off x="283582" y="2107475"/>
            <a:ext cx="4340334" cy="3884022"/>
            <a:chOff x="352161" y="1659999"/>
            <a:chExt cx="4705615" cy="3134251"/>
          </a:xfrm>
        </p:grpSpPr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DC4BAFA9-D0CB-FBBB-E2AE-41AFA5DF2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824"/>
            <a:stretch/>
          </p:blipFill>
          <p:spPr>
            <a:xfrm>
              <a:off x="2799998" y="3460750"/>
              <a:ext cx="2257778" cy="1333500"/>
            </a:xfrm>
            <a:prstGeom prst="rect">
              <a:avLst/>
            </a:prstGeom>
          </p:spPr>
        </p:pic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88FB5DEA-3C3A-77F9-0F08-0589310A7C45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585"/>
            <a:stretch/>
          </p:blipFill>
          <p:spPr>
            <a:xfrm>
              <a:off x="375197" y="3454399"/>
              <a:ext cx="2257778" cy="1339629"/>
            </a:xfrm>
            <a:prstGeom prst="rect">
              <a:avLst/>
            </a:prstGeom>
          </p:spPr>
        </p:pic>
        <p:sp>
          <p:nvSpPr>
            <p:cNvPr id="88" name="Rectangle 11">
              <a:extLst>
                <a:ext uri="{FF2B5EF4-FFF2-40B4-BE49-F238E27FC236}">
                  <a16:creationId xmlns:a16="http://schemas.microsoft.com/office/drawing/2014/main" id="{DAEED507-EE20-A143-E9E9-B59A7BA3A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068" y="1659999"/>
              <a:ext cx="1392373" cy="180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32608" tIns="32608" rIns="32608" bIns="32608" anchor="ctr"/>
            <a:lstStyle/>
            <a:p>
              <a:pPr marL="0" marR="0" lvl="0" indent="0" algn="ctr" defTabSz="82829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20-1C 3</a:t>
              </a:r>
              <a:r>
                <a:rPr kumimoji="0" lang="ko-KR" altLang="en-US" sz="9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월</a:t>
              </a:r>
              <a:r>
                <a:rPr kumimoji="0" lang="en-US" altLang="ko-KR" sz="9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22</a:t>
              </a:r>
              <a:r>
                <a:rPr kumimoji="0" lang="ko-KR" altLang="en-US" sz="9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일</a:t>
              </a:r>
            </a:p>
          </p:txBody>
        </p: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FA5BCEE7-06EC-46E8-5578-F34E0AD2B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5058"/>
            <a:stretch/>
          </p:blipFill>
          <p:spPr>
            <a:xfrm>
              <a:off x="2799998" y="2728281"/>
              <a:ext cx="2257778" cy="64991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906DE3A-13A4-27B8-AC6F-DFAA1DF193B4}"/>
                </a:ext>
              </a:extLst>
            </p:cNvPr>
            <p:cNvSpPr txBox="1"/>
            <p:nvPr/>
          </p:nvSpPr>
          <p:spPr>
            <a:xfrm>
              <a:off x="2821510" y="2761133"/>
              <a:ext cx="12049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Top Cutting Height</a:t>
              </a:r>
              <a:endPara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A38C264-9DF2-06E9-A48E-678A5E5D2677}"/>
                </a:ext>
              </a:extLst>
            </p:cNvPr>
            <p:cNvSpPr txBox="1"/>
            <p:nvPr/>
          </p:nvSpPr>
          <p:spPr>
            <a:xfrm>
              <a:off x="2832549" y="3437180"/>
              <a:ext cx="74567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장비 </a:t>
              </a:r>
              <a:r>
                <a:rPr kumimoji="0" lang="ko-KR" altLang="en-US" sz="8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선속</a:t>
              </a:r>
              <a:endPara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FA6AD61-185F-81DE-1657-DFD183C01632}"/>
                </a:ext>
              </a:extLst>
            </p:cNvPr>
            <p:cNvSpPr txBox="1"/>
            <p:nvPr/>
          </p:nvSpPr>
          <p:spPr>
            <a:xfrm>
              <a:off x="2832550" y="4066479"/>
              <a:ext cx="866016" cy="190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재료교체 신호</a:t>
              </a:r>
            </a:p>
          </p:txBody>
        </p:sp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136C67E4-1424-B490-996D-E73EB2A2C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2215" y="1870753"/>
              <a:ext cx="2291812" cy="832598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8DD4A2E-9D37-E472-59C3-C258B4C37AED}"/>
                </a:ext>
              </a:extLst>
            </p:cNvPr>
            <p:cNvSpPr txBox="1"/>
            <p:nvPr/>
          </p:nvSpPr>
          <p:spPr>
            <a:xfrm>
              <a:off x="2821511" y="1968597"/>
              <a:ext cx="1802320" cy="299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Top Cutting Height</a:t>
              </a:r>
              <a:b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</a:br>
              <a: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Box-plot</a:t>
              </a:r>
              <a:endPara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97D4316-D2FE-1DCB-5C7C-7B6B1FF4B7CE}"/>
                </a:ext>
              </a:extLst>
            </p:cNvPr>
            <p:cNvSpPr txBox="1"/>
            <p:nvPr/>
          </p:nvSpPr>
          <p:spPr>
            <a:xfrm>
              <a:off x="2845291" y="3544258"/>
              <a:ext cx="7165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1000mm/s</a:t>
              </a:r>
              <a:endPara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6F44D46-3A0A-5DB4-D3A0-95B8C5888382}"/>
                </a:ext>
              </a:extLst>
            </p:cNvPr>
            <p:cNvSpPr txBox="1"/>
            <p:nvPr/>
          </p:nvSpPr>
          <p:spPr>
            <a:xfrm>
              <a:off x="3172976" y="3804001"/>
              <a:ext cx="7165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600mm/s</a:t>
              </a:r>
              <a:endPara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EDDDFC90-3C45-B11D-9D26-CD7425B72FBD}"/>
                </a:ext>
              </a:extLst>
            </p:cNvPr>
            <p:cNvGrpSpPr/>
            <p:nvPr/>
          </p:nvGrpSpPr>
          <p:grpSpPr>
            <a:xfrm>
              <a:off x="3366622" y="3198901"/>
              <a:ext cx="512295" cy="611100"/>
              <a:chOff x="3366622" y="3198900"/>
              <a:chExt cx="512295" cy="1144851"/>
            </a:xfrm>
          </p:grpSpPr>
          <p:cxnSp>
            <p:nvCxnSpPr>
              <p:cNvPr id="111" name="직선 화살표 연결선 110">
                <a:extLst>
                  <a:ext uri="{FF2B5EF4-FFF2-40B4-BE49-F238E27FC236}">
                    <a16:creationId xmlns:a16="http://schemas.microsoft.com/office/drawing/2014/main" id="{1C5CCBB5-0BF7-E57E-D541-F09D5F1399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6622" y="4343751"/>
                <a:ext cx="363796" cy="0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화살표 연결선 111">
                <a:extLst>
                  <a:ext uri="{FF2B5EF4-FFF2-40B4-BE49-F238E27FC236}">
                    <a16:creationId xmlns:a16="http://schemas.microsoft.com/office/drawing/2014/main" id="{F04FFDC7-0C6E-0569-C4EC-DDE9C2FB36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80687" y="3198900"/>
                <a:ext cx="150584" cy="111992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화살표 연결선 112">
                <a:extLst>
                  <a:ext uri="{FF2B5EF4-FFF2-40B4-BE49-F238E27FC236}">
                    <a16:creationId xmlns:a16="http://schemas.microsoft.com/office/drawing/2014/main" id="{19FDCBBF-A931-53FB-051F-01C5E7F962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4478" y="3198900"/>
                <a:ext cx="150584" cy="111992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화살표 연결선 113">
                <a:extLst>
                  <a:ext uri="{FF2B5EF4-FFF2-40B4-BE49-F238E27FC236}">
                    <a16:creationId xmlns:a16="http://schemas.microsoft.com/office/drawing/2014/main" id="{5B413E16-97DC-7681-2B85-4B6F0BC94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5121" y="3198900"/>
                <a:ext cx="363796" cy="0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C11E35B9-54C1-3E11-976A-3AFF30E347A6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4812"/>
            <a:stretch/>
          </p:blipFill>
          <p:spPr>
            <a:xfrm>
              <a:off x="375197" y="2728281"/>
              <a:ext cx="2257778" cy="656269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0E70E46-BD80-7DF1-53FB-ABE83FE068EE}"/>
                </a:ext>
              </a:extLst>
            </p:cNvPr>
            <p:cNvSpPr txBox="1"/>
            <p:nvPr/>
          </p:nvSpPr>
          <p:spPr>
            <a:xfrm>
              <a:off x="395288" y="2761133"/>
              <a:ext cx="12049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Top Cutting Height</a:t>
              </a:r>
              <a:endPara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D5C8EC9-1500-7756-F5D0-7CDF15CBD329}"/>
                </a:ext>
              </a:extLst>
            </p:cNvPr>
            <p:cNvSpPr txBox="1"/>
            <p:nvPr/>
          </p:nvSpPr>
          <p:spPr>
            <a:xfrm>
              <a:off x="406327" y="3437180"/>
              <a:ext cx="74567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장비 </a:t>
              </a:r>
              <a:r>
                <a:rPr kumimoji="0" lang="ko-KR" altLang="en-US" sz="8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선속</a:t>
              </a:r>
              <a:endPara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677E813-2E6B-E3FE-CFF5-D8D7F78B74E8}"/>
                </a:ext>
              </a:extLst>
            </p:cNvPr>
            <p:cNvSpPr txBox="1"/>
            <p:nvPr/>
          </p:nvSpPr>
          <p:spPr>
            <a:xfrm>
              <a:off x="406327" y="4066479"/>
              <a:ext cx="866016" cy="190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재료교체 신호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D06EB5C-0251-D2E0-C592-4F4434CD68E1}"/>
                </a:ext>
              </a:extLst>
            </p:cNvPr>
            <p:cNvSpPr txBox="1"/>
            <p:nvPr/>
          </p:nvSpPr>
          <p:spPr>
            <a:xfrm>
              <a:off x="871530" y="3869782"/>
              <a:ext cx="716592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400mm/s</a:t>
              </a:r>
              <a:endPara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B9E2C18-89B5-007E-B62E-2EE55653E2C8}"/>
                </a:ext>
              </a:extLst>
            </p:cNvPr>
            <p:cNvSpPr txBox="1"/>
            <p:nvPr/>
          </p:nvSpPr>
          <p:spPr>
            <a:xfrm>
              <a:off x="476251" y="3599408"/>
              <a:ext cx="7165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900mm/s</a:t>
              </a:r>
              <a:endPara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3C77E45F-2D05-7FE7-D452-717029D6077B}"/>
                </a:ext>
              </a:extLst>
            </p:cNvPr>
            <p:cNvGrpSpPr/>
            <p:nvPr/>
          </p:nvGrpSpPr>
          <p:grpSpPr>
            <a:xfrm>
              <a:off x="1143809" y="3381806"/>
              <a:ext cx="328845" cy="523444"/>
              <a:chOff x="1143809" y="3381806"/>
              <a:chExt cx="328845" cy="1052996"/>
            </a:xfrm>
          </p:grpSpPr>
          <p:cxnSp>
            <p:nvCxnSpPr>
              <p:cNvPr id="107" name="직선 화살표 연결선 106">
                <a:extLst>
                  <a:ext uri="{FF2B5EF4-FFF2-40B4-BE49-F238E27FC236}">
                    <a16:creationId xmlns:a16="http://schemas.microsoft.com/office/drawing/2014/main" id="{96690725-4668-B363-1AF5-16DE8C318F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6738" y="3390672"/>
                <a:ext cx="155366" cy="10206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화살표 연결선 107">
                <a:extLst>
                  <a:ext uri="{FF2B5EF4-FFF2-40B4-BE49-F238E27FC236}">
                    <a16:creationId xmlns:a16="http://schemas.microsoft.com/office/drawing/2014/main" id="{01B1D4DC-49F2-5DD2-ADC9-4A864C3A9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809" y="4434802"/>
                <a:ext cx="160550" cy="0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화살표 연결선 108">
                <a:extLst>
                  <a:ext uri="{FF2B5EF4-FFF2-40B4-BE49-F238E27FC236}">
                    <a16:creationId xmlns:a16="http://schemas.microsoft.com/office/drawing/2014/main" id="{4C36111B-31BF-6E07-82F5-5644245250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2104" y="3381806"/>
                <a:ext cx="160550" cy="0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화살표 연결선 109">
                <a:extLst>
                  <a:ext uri="{FF2B5EF4-FFF2-40B4-BE49-F238E27FC236}">
                    <a16:creationId xmlns:a16="http://schemas.microsoft.com/office/drawing/2014/main" id="{1759274B-0128-D705-0B78-1C3AB19563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7130" y="3390672"/>
                <a:ext cx="155366" cy="10206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E78ED074-73FA-D2A3-BCB2-287883D6F1B9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2161" y="1870753"/>
              <a:ext cx="2291213" cy="832598"/>
            </a:xfrm>
            <a:prstGeom prst="rect">
              <a:avLst/>
            </a:prstGeom>
          </p:spPr>
        </p:pic>
        <p:sp>
          <p:nvSpPr>
            <p:cNvPr id="106" name="Rectangle 11">
              <a:extLst>
                <a:ext uri="{FF2B5EF4-FFF2-40B4-BE49-F238E27FC236}">
                  <a16:creationId xmlns:a16="http://schemas.microsoft.com/office/drawing/2014/main" id="{6013C1AC-875F-6F3E-2766-C1EFAB29B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546" y="1659999"/>
              <a:ext cx="1392373" cy="180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32608" tIns="32608" rIns="32608" bIns="32608" anchor="ctr"/>
            <a:lstStyle/>
            <a:p>
              <a:pPr marL="0" marR="0" lvl="0" indent="0" algn="ctr" defTabSz="82829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22-1C 3</a:t>
              </a:r>
              <a:r>
                <a:rPr kumimoji="0" lang="ko-KR" altLang="en-US" sz="9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월</a:t>
              </a:r>
              <a:r>
                <a:rPr kumimoji="0" lang="en-US" altLang="ko-KR" sz="9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01</a:t>
              </a:r>
              <a:r>
                <a:rPr kumimoji="0" lang="ko-KR" altLang="en-US" sz="9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일</a:t>
              </a:r>
            </a:p>
          </p:txBody>
        </p:sp>
      </p:grpSp>
      <p:sp>
        <p:nvSpPr>
          <p:cNvPr id="115" name="사각형 설명선 24">
            <a:extLst>
              <a:ext uri="{FF2B5EF4-FFF2-40B4-BE49-F238E27FC236}">
                <a16:creationId xmlns:a16="http://schemas.microsoft.com/office/drawing/2014/main" id="{12D83605-31A8-1CE6-023A-8849D53F235E}"/>
              </a:ext>
            </a:extLst>
          </p:cNvPr>
          <p:cNvSpPr/>
          <p:nvPr/>
        </p:nvSpPr>
        <p:spPr bwMode="auto">
          <a:xfrm>
            <a:off x="159279" y="5949537"/>
            <a:ext cx="4539183" cy="737965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5975" anchor="t"/>
          <a:lstStyle/>
          <a:p>
            <a:pPr marL="0" marR="0" lvl="1" indent="0" algn="l" defTabSz="1022807" rtl="0" eaLnBrk="1" fontAlgn="base" latinLnBrk="1" hangingPunct="1">
              <a:lnSpc>
                <a:spcPct val="130000"/>
              </a:lnSpc>
              <a:spcBef>
                <a:spcPts val="393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7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○ 속도 변경 이유</a:t>
            </a:r>
            <a:br>
              <a:rPr kumimoji="1" lang="en-US" altLang="ko-KR" sz="107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</a:b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     - 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주행전극 소진 후 신규전극으로 재료교체 직전 </a:t>
            </a: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PET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와 전극 </a:t>
            </a:r>
            <a:r>
              <a:rPr kumimoji="1" lang="ko-KR" altLang="en-US" sz="10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연결부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파단 발생에 따른 </a:t>
            </a:r>
            <a:b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</a:b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      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</a:t>
            </a:r>
            <a:r>
              <a:rPr kumimoji="1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PD </a:t>
            </a:r>
            <a:r>
              <a:rPr kumimoji="1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개선을 목적으로 속도 변경</a:t>
            </a:r>
            <a:endParaRPr kumimoji="1"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ACC0494D-2C75-F91F-8B85-C40DF8201711}"/>
              </a:ext>
            </a:extLst>
          </p:cNvPr>
          <p:cNvGrpSpPr/>
          <p:nvPr/>
        </p:nvGrpSpPr>
        <p:grpSpPr>
          <a:xfrm>
            <a:off x="5278223" y="1992491"/>
            <a:ext cx="4178101" cy="3018762"/>
            <a:chOff x="356953" y="1141519"/>
            <a:chExt cx="4178101" cy="4219149"/>
          </a:xfrm>
        </p:grpSpPr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0B43115C-0A88-F607-9ED4-5FD9B83C6691}"/>
                </a:ext>
              </a:extLst>
            </p:cNvPr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6953" y="1141519"/>
              <a:ext cx="4178100" cy="1080000"/>
            </a:xfrm>
            <a:prstGeom prst="rect">
              <a:avLst/>
            </a:prstGeom>
          </p:spPr>
        </p:pic>
        <p:pic>
          <p:nvPicPr>
            <p:cNvPr id="118" name="그림 117">
              <a:extLst>
                <a:ext uri="{FF2B5EF4-FFF2-40B4-BE49-F238E27FC236}">
                  <a16:creationId xmlns:a16="http://schemas.microsoft.com/office/drawing/2014/main" id="{8221AA81-97AA-6710-5560-F37BCDF53DB6}"/>
                </a:ext>
              </a:extLst>
            </p:cNvPr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053" y="2300780"/>
              <a:ext cx="4140000" cy="1080000"/>
            </a:xfrm>
            <a:prstGeom prst="rect">
              <a:avLst/>
            </a:prstGeom>
          </p:spPr>
        </p:pic>
        <p:cxnSp>
          <p:nvCxnSpPr>
            <p:cNvPr id="119" name="직선 화살표 연결선 118">
              <a:extLst>
                <a:ext uri="{FF2B5EF4-FFF2-40B4-BE49-F238E27FC236}">
                  <a16:creationId xmlns:a16="http://schemas.microsoft.com/office/drawing/2014/main" id="{42392D0E-FBB9-BE37-5171-93F578CA4FEB}"/>
                </a:ext>
              </a:extLst>
            </p:cNvPr>
            <p:cNvCxnSpPr/>
            <p:nvPr/>
          </p:nvCxnSpPr>
          <p:spPr>
            <a:xfrm>
              <a:off x="3474720" y="1417674"/>
              <a:ext cx="0" cy="753428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CE19D95-0668-6393-CFF4-B1653556FD9A}"/>
                </a:ext>
              </a:extLst>
            </p:cNvPr>
            <p:cNvSpPr txBox="1"/>
            <p:nvPr/>
          </p:nvSpPr>
          <p:spPr>
            <a:xfrm>
              <a:off x="3397249" y="1819940"/>
              <a:ext cx="7873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1.8mm </a:t>
              </a:r>
              <a:r>
                <a:rPr kumimoji="0" lang="ko-KR" alt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변동</a:t>
              </a:r>
            </a:p>
          </p:txBody>
        </p: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A900C736-4EF8-A455-0BE0-3995BAB6F768}"/>
                </a:ext>
              </a:extLst>
            </p:cNvPr>
            <p:cNvCxnSpPr>
              <a:cxnSpLocks/>
            </p:cNvCxnSpPr>
            <p:nvPr/>
          </p:nvCxnSpPr>
          <p:spPr>
            <a:xfrm>
              <a:off x="3474720" y="2605272"/>
              <a:ext cx="0" cy="40854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9E0A4FE-5737-7930-88D8-6D4EF36675AE}"/>
                </a:ext>
              </a:extLst>
            </p:cNvPr>
            <p:cNvSpPr txBox="1"/>
            <p:nvPr/>
          </p:nvSpPr>
          <p:spPr>
            <a:xfrm>
              <a:off x="3478894" y="2893864"/>
              <a:ext cx="7873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0.8mm </a:t>
              </a:r>
              <a:r>
                <a:rPr kumimoji="0" lang="ko-KR" alt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변동</a:t>
              </a:r>
            </a:p>
          </p:txBody>
        </p:sp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EE477B67-2DBD-0F1B-B8F2-41E31D825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2470" y="3436350"/>
              <a:ext cx="4102584" cy="1924318"/>
            </a:xfrm>
            <a:prstGeom prst="rect">
              <a:avLst/>
            </a:prstGeom>
          </p:spPr>
        </p:pic>
      </p:grpSp>
      <p:sp>
        <p:nvSpPr>
          <p:cNvPr id="124" name="사각형 설명선 24">
            <a:extLst>
              <a:ext uri="{FF2B5EF4-FFF2-40B4-BE49-F238E27FC236}">
                <a16:creationId xmlns:a16="http://schemas.microsoft.com/office/drawing/2014/main" id="{CC1376B7-DA24-2693-1E49-177A1F93727C}"/>
              </a:ext>
            </a:extLst>
          </p:cNvPr>
          <p:cNvSpPr/>
          <p:nvPr/>
        </p:nvSpPr>
        <p:spPr bwMode="auto">
          <a:xfrm>
            <a:off x="4955775" y="5056381"/>
            <a:ext cx="4770751" cy="698472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5975" anchor="t"/>
          <a:lstStyle/>
          <a:p>
            <a:pPr marL="0" marR="0" lvl="1" indent="0" algn="l" defTabSz="1022807" rtl="0" eaLnBrk="1" fontAlgn="base" latinLnBrk="1" hangingPunct="1">
              <a:lnSpc>
                <a:spcPct val="130000"/>
              </a:lnSpc>
              <a:spcBef>
                <a:spcPts val="393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7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○ 발생 원인</a:t>
            </a:r>
            <a:endParaRPr kumimoji="1"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35" name="Rectangle 11">
            <a:extLst>
              <a:ext uri="{FF2B5EF4-FFF2-40B4-BE49-F238E27FC236}">
                <a16:creationId xmlns:a16="http://schemas.microsoft.com/office/drawing/2014/main" id="{2230C7FF-F172-CC23-7859-29113BD17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399" y="5276719"/>
            <a:ext cx="983145" cy="21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l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1. Cutting Height</a:t>
            </a:r>
            <a:r>
              <a:rPr kumimoji="0" lang="ko-KR" altLang="en-US" sz="9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가 정상인 경우</a:t>
            </a:r>
          </a:p>
        </p:txBody>
      </p:sp>
      <p:sp>
        <p:nvSpPr>
          <p:cNvPr id="142" name="Rectangle 11">
            <a:extLst>
              <a:ext uri="{FF2B5EF4-FFF2-40B4-BE49-F238E27FC236}">
                <a16:creationId xmlns:a16="http://schemas.microsoft.com/office/drawing/2014/main" id="{86943173-AABB-FFB2-5F5D-B9A4D4E00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224" y="5276719"/>
            <a:ext cx="983145" cy="21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l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2. Cutting Height</a:t>
            </a:r>
            <a:r>
              <a:rPr kumimoji="0" lang="ko-KR" altLang="en-US" sz="9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가 </a:t>
            </a:r>
            <a:r>
              <a:rPr kumimoji="0" lang="en-US" altLang="ko-KR" sz="9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Spec </a:t>
            </a:r>
            <a:r>
              <a:rPr kumimoji="0" lang="ko-KR" altLang="en-US" sz="9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대비 작은 경우</a:t>
            </a:r>
            <a:endParaRPr kumimoji="0" lang="en-US" altLang="ko-KR" sz="9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pitchFamily="34" charset="0"/>
            </a:endParaRPr>
          </a:p>
        </p:txBody>
      </p: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3FA1B4E-E90A-793D-D2D5-6E944284A457}"/>
              </a:ext>
            </a:extLst>
          </p:cNvPr>
          <p:cNvGrpSpPr/>
          <p:nvPr/>
        </p:nvGrpSpPr>
        <p:grpSpPr>
          <a:xfrm>
            <a:off x="5098160" y="5506358"/>
            <a:ext cx="4188823" cy="1085850"/>
            <a:chOff x="5098160" y="5549900"/>
            <a:chExt cx="4188823" cy="1085850"/>
          </a:xfrm>
        </p:grpSpPr>
        <p:sp>
          <p:nvSpPr>
            <p:cNvPr id="176" name="모서리가 둥근 직사각형 636">
              <a:extLst>
                <a:ext uri="{FF2B5EF4-FFF2-40B4-BE49-F238E27FC236}">
                  <a16:creationId xmlns:a16="http://schemas.microsoft.com/office/drawing/2014/main" id="{10D5B8CC-A16E-9801-4802-651E8FA6A68C}"/>
                </a:ext>
              </a:extLst>
            </p:cNvPr>
            <p:cNvSpPr/>
            <p:nvPr/>
          </p:nvSpPr>
          <p:spPr bwMode="auto">
            <a:xfrm>
              <a:off x="5400988" y="6141267"/>
              <a:ext cx="1713044" cy="494483"/>
            </a:xfrm>
            <a:prstGeom prst="roundRect">
              <a:avLst/>
            </a:prstGeom>
            <a:solidFill>
              <a:srgbClr val="BFB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2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979488" algn="l"/>
                </a:tabLst>
                <a:defRPr/>
              </a:pPr>
              <a:endPara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  <a:cs typeface="+mn-cs"/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E081420-341D-E549-07CF-E71E68896A0F}"/>
                </a:ext>
              </a:extLst>
            </p:cNvPr>
            <p:cNvSpPr/>
            <p:nvPr/>
          </p:nvSpPr>
          <p:spPr>
            <a:xfrm>
              <a:off x="5406132" y="5812413"/>
              <a:ext cx="1691832" cy="233582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  <a:cs typeface="+mn-cs"/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03BABEE2-FB6B-2AB7-98D2-CB4925BA0440}"/>
                </a:ext>
              </a:extLst>
            </p:cNvPr>
            <p:cNvSpPr/>
            <p:nvPr/>
          </p:nvSpPr>
          <p:spPr>
            <a:xfrm>
              <a:off x="5394631" y="5951485"/>
              <a:ext cx="1717426" cy="113559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763B6425-CAA5-E058-7952-699BB8144897}"/>
                </a:ext>
              </a:extLst>
            </p:cNvPr>
            <p:cNvSpPr/>
            <p:nvPr/>
          </p:nvSpPr>
          <p:spPr>
            <a:xfrm>
              <a:off x="5397376" y="6126729"/>
              <a:ext cx="1720180" cy="16406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52FE0440-3CDC-AF14-7582-08DD205A5D33}"/>
                </a:ext>
              </a:extLst>
            </p:cNvPr>
            <p:cNvCxnSpPr>
              <a:cxnSpLocks/>
            </p:cNvCxnSpPr>
            <p:nvPr/>
          </p:nvCxnSpPr>
          <p:spPr>
            <a:xfrm>
              <a:off x="5396802" y="6238283"/>
              <a:ext cx="377913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9E0E1E03-0B9E-657D-77AD-3A14B320F39D}"/>
                </a:ext>
              </a:extLst>
            </p:cNvPr>
            <p:cNvCxnSpPr>
              <a:cxnSpLocks/>
            </p:cNvCxnSpPr>
            <p:nvPr/>
          </p:nvCxnSpPr>
          <p:spPr>
            <a:xfrm>
              <a:off x="6759157" y="6238283"/>
              <a:ext cx="377913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C43125DB-454F-D808-D93D-0EC57D0132B3}"/>
                </a:ext>
              </a:extLst>
            </p:cNvPr>
            <p:cNvCxnSpPr>
              <a:cxnSpLocks/>
            </p:cNvCxnSpPr>
            <p:nvPr/>
          </p:nvCxnSpPr>
          <p:spPr>
            <a:xfrm>
              <a:off x="5765385" y="6558491"/>
              <a:ext cx="993772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47611738-BD6F-CD75-A73F-D0BCD1BB61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0050" y="6238413"/>
              <a:ext cx="0" cy="323762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ADE3B731-29AB-F9D9-6AA3-35D98A48B5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3822" y="6240086"/>
              <a:ext cx="0" cy="32208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AA83405B-E7B6-CB5B-C3E2-A847C2CCE27A}"/>
                </a:ext>
              </a:extLst>
            </p:cNvPr>
            <p:cNvSpPr/>
            <p:nvPr/>
          </p:nvSpPr>
          <p:spPr>
            <a:xfrm>
              <a:off x="5406132" y="5552509"/>
              <a:ext cx="1691832" cy="184120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  <a:cs typeface="+mn-cs"/>
              </a:endParaRPr>
            </a:p>
          </p:txBody>
        </p: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DF20805F-845D-F0F8-CCE1-8B7844E112A5}"/>
                </a:ext>
              </a:extLst>
            </p:cNvPr>
            <p:cNvCxnSpPr>
              <a:cxnSpLocks/>
            </p:cNvCxnSpPr>
            <p:nvPr/>
          </p:nvCxnSpPr>
          <p:spPr>
            <a:xfrm>
              <a:off x="5402802" y="5678173"/>
              <a:ext cx="1706275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D54F91B0-E52C-BB75-3C55-E2D6B3BF8D7C}"/>
                </a:ext>
              </a:extLst>
            </p:cNvPr>
            <p:cNvGrpSpPr/>
            <p:nvPr/>
          </p:nvGrpSpPr>
          <p:grpSpPr>
            <a:xfrm>
              <a:off x="5395772" y="5747164"/>
              <a:ext cx="1720439" cy="58324"/>
              <a:chOff x="391886" y="1402079"/>
              <a:chExt cx="3283131" cy="139337"/>
            </a:xfrm>
          </p:grpSpPr>
          <p:cxnSp>
            <p:nvCxnSpPr>
              <p:cNvPr id="188" name="직선 연결선 187">
                <a:extLst>
                  <a:ext uri="{FF2B5EF4-FFF2-40B4-BE49-F238E27FC236}">
                    <a16:creationId xmlns:a16="http://schemas.microsoft.com/office/drawing/2014/main" id="{E41362A7-4425-0870-0E82-652DEE1DC1CE}"/>
                  </a:ext>
                </a:extLst>
              </p:cNvPr>
              <p:cNvCxnSpPr/>
              <p:nvPr/>
            </p:nvCxnSpPr>
            <p:spPr>
              <a:xfrm>
                <a:off x="391886" y="1402079"/>
                <a:ext cx="3283131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>
                <a:extLst>
                  <a:ext uri="{FF2B5EF4-FFF2-40B4-BE49-F238E27FC236}">
                    <a16:creationId xmlns:a16="http://schemas.microsoft.com/office/drawing/2014/main" id="{D848D8CD-05FD-BC72-2FF4-2E6B75D325F6}"/>
                  </a:ext>
                </a:extLst>
              </p:cNvPr>
              <p:cNvCxnSpPr/>
              <p:nvPr/>
            </p:nvCxnSpPr>
            <p:spPr>
              <a:xfrm>
                <a:off x="391886" y="1541416"/>
                <a:ext cx="3283131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AC02AD49-3E55-E590-4A25-B1780E5FF3C8}"/>
                </a:ext>
              </a:extLst>
            </p:cNvPr>
            <p:cNvSpPr/>
            <p:nvPr/>
          </p:nvSpPr>
          <p:spPr>
            <a:xfrm>
              <a:off x="7550895" y="5549900"/>
              <a:ext cx="1691831" cy="184120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  <a:cs typeface="+mn-cs"/>
              </a:endParaRPr>
            </a:p>
          </p:txBody>
        </p:sp>
        <p:sp>
          <p:nvSpPr>
            <p:cNvPr id="159" name="모서리가 둥근 직사각형 636">
              <a:extLst>
                <a:ext uri="{FF2B5EF4-FFF2-40B4-BE49-F238E27FC236}">
                  <a16:creationId xmlns:a16="http://schemas.microsoft.com/office/drawing/2014/main" id="{5713C4AE-6AAA-6BB0-9102-BDF377C4261F}"/>
                </a:ext>
              </a:extLst>
            </p:cNvPr>
            <p:cNvSpPr/>
            <p:nvPr/>
          </p:nvSpPr>
          <p:spPr bwMode="auto">
            <a:xfrm>
              <a:off x="7550902" y="6138658"/>
              <a:ext cx="1713043" cy="494483"/>
            </a:xfrm>
            <a:prstGeom prst="roundRect">
              <a:avLst/>
            </a:prstGeom>
            <a:solidFill>
              <a:srgbClr val="BFB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2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979488" algn="l"/>
                </a:tabLst>
                <a:defRPr/>
              </a:pPr>
              <a:endParaRPr kumimoji="1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  <a:cs typeface="+mn-cs"/>
              </a:endParaRP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6F257E71-4F48-EE51-0FF3-14EFBA2E4893}"/>
                </a:ext>
              </a:extLst>
            </p:cNvPr>
            <p:cNvSpPr/>
            <p:nvPr/>
          </p:nvSpPr>
          <p:spPr>
            <a:xfrm>
              <a:off x="7556046" y="5809803"/>
              <a:ext cx="1691831" cy="233582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  <a:cs typeface="+mn-cs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45685F50-F3F6-ECF5-F99C-CCF4F1AABF1E}"/>
                </a:ext>
              </a:extLst>
            </p:cNvPr>
            <p:cNvSpPr/>
            <p:nvPr/>
          </p:nvSpPr>
          <p:spPr>
            <a:xfrm>
              <a:off x="7543120" y="5948876"/>
              <a:ext cx="1717426" cy="113559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0DDA2995-B0B6-3382-293A-EAA7075BB82D}"/>
                </a:ext>
              </a:extLst>
            </p:cNvPr>
            <p:cNvSpPr/>
            <p:nvPr/>
          </p:nvSpPr>
          <p:spPr>
            <a:xfrm>
              <a:off x="7547289" y="6124120"/>
              <a:ext cx="1714171" cy="16406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A95B627-9895-72CE-DAA1-70C4D2A3F2E0}"/>
                </a:ext>
              </a:extLst>
            </p:cNvPr>
            <p:cNvCxnSpPr>
              <a:cxnSpLocks/>
            </p:cNvCxnSpPr>
            <p:nvPr/>
          </p:nvCxnSpPr>
          <p:spPr>
            <a:xfrm>
              <a:off x="7546716" y="6171881"/>
              <a:ext cx="377913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7D164247-8E01-96A1-1F25-CB792B6D11C6}"/>
                </a:ext>
              </a:extLst>
            </p:cNvPr>
            <p:cNvCxnSpPr>
              <a:cxnSpLocks/>
            </p:cNvCxnSpPr>
            <p:nvPr/>
          </p:nvCxnSpPr>
          <p:spPr>
            <a:xfrm>
              <a:off x="8909070" y="6171881"/>
              <a:ext cx="377913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678FD3A7-FDE9-4B62-2141-88644CC344C3}"/>
                </a:ext>
              </a:extLst>
            </p:cNvPr>
            <p:cNvCxnSpPr>
              <a:cxnSpLocks/>
            </p:cNvCxnSpPr>
            <p:nvPr/>
          </p:nvCxnSpPr>
          <p:spPr>
            <a:xfrm>
              <a:off x="7552049" y="5585921"/>
              <a:ext cx="1706274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D97D2D63-313F-4EC0-F5DA-0046D35AB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9964" y="6171881"/>
              <a:ext cx="0" cy="342603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D35FBF5D-DE57-9E6E-A3B7-7D145ECFD2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3735" y="6176091"/>
              <a:ext cx="0" cy="342603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D07649B8-E6FC-564E-7808-4EAE16029510}"/>
                </a:ext>
              </a:extLst>
            </p:cNvPr>
            <p:cNvCxnSpPr>
              <a:cxnSpLocks/>
            </p:cNvCxnSpPr>
            <p:nvPr/>
          </p:nvCxnSpPr>
          <p:spPr>
            <a:xfrm>
              <a:off x="7919964" y="6515008"/>
              <a:ext cx="993772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F9076140-A196-4C27-9918-9DFF849255E5}"/>
                </a:ext>
              </a:extLst>
            </p:cNvPr>
            <p:cNvGrpSpPr/>
            <p:nvPr/>
          </p:nvGrpSpPr>
          <p:grpSpPr>
            <a:xfrm>
              <a:off x="7541507" y="5744879"/>
              <a:ext cx="1720438" cy="59062"/>
              <a:chOff x="391886" y="1402079"/>
              <a:chExt cx="3283131" cy="139337"/>
            </a:xfrm>
          </p:grpSpPr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F0B15D38-A08E-50C8-CC38-ABAD53CA5D82}"/>
                  </a:ext>
                </a:extLst>
              </p:cNvPr>
              <p:cNvCxnSpPr/>
              <p:nvPr/>
            </p:nvCxnSpPr>
            <p:spPr>
              <a:xfrm>
                <a:off x="391886" y="1402079"/>
                <a:ext cx="3283131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8F7FA8DD-6C15-5357-AAA7-32C730FB7E1C}"/>
                  </a:ext>
                </a:extLst>
              </p:cNvPr>
              <p:cNvCxnSpPr/>
              <p:nvPr/>
            </p:nvCxnSpPr>
            <p:spPr>
              <a:xfrm>
                <a:off x="391886" y="1541416"/>
                <a:ext cx="3283131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6B958E87-C9DC-90EA-6646-5ECF50946C7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547799" y="6060054"/>
              <a:ext cx="0" cy="183584"/>
            </a:xfrm>
            <a:prstGeom prst="straightConnector1">
              <a:avLst/>
            </a:prstGeom>
            <a:solidFill>
              <a:srgbClr val="4F81BD"/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triangle" w="sm" len="sm"/>
              <a:tailEnd type="triangle" w="sm" len="sm"/>
            </a:ln>
            <a:effectLst/>
          </p:spPr>
        </p:cxnSp>
        <p:sp>
          <p:nvSpPr>
            <p:cNvPr id="147" name="TextBox 166">
              <a:extLst>
                <a:ext uri="{FF2B5EF4-FFF2-40B4-BE49-F238E27FC236}">
                  <a16:creationId xmlns:a16="http://schemas.microsoft.com/office/drawing/2014/main" id="{E3DEBBA6-96F6-82E5-DC4F-3C10E5FB1C4E}"/>
                </a:ext>
              </a:extLst>
            </p:cNvPr>
            <p:cNvSpPr txBox="1"/>
            <p:nvPr/>
          </p:nvSpPr>
          <p:spPr>
            <a:xfrm>
              <a:off x="5098160" y="5881764"/>
              <a:ext cx="378587" cy="62983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/>
                  <a:cs typeface="+mn-cs"/>
                </a:rPr>
                <a:t>Cutting Height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  <a:cs typeface="+mn-cs"/>
              </a:endParaRPr>
            </a:p>
          </p:txBody>
        </p:sp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9D748311-BB5F-221F-7D86-42DFD5AAC2E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693534" y="6062435"/>
              <a:ext cx="0" cy="114866"/>
            </a:xfrm>
            <a:prstGeom prst="straightConnector1">
              <a:avLst/>
            </a:prstGeom>
            <a:solidFill>
              <a:srgbClr val="4F81BD"/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triangle" w="sm" len="sm"/>
              <a:tailEnd type="triangle" w="sm" len="sm"/>
            </a:ln>
            <a:effectLst/>
          </p:spPr>
        </p:cxnSp>
        <p:sp>
          <p:nvSpPr>
            <p:cNvPr id="157" name="TextBox 166">
              <a:extLst>
                <a:ext uri="{FF2B5EF4-FFF2-40B4-BE49-F238E27FC236}">
                  <a16:creationId xmlns:a16="http://schemas.microsoft.com/office/drawing/2014/main" id="{B432B30E-1477-FECB-DB71-4B459148F897}"/>
                </a:ext>
              </a:extLst>
            </p:cNvPr>
            <p:cNvSpPr txBox="1"/>
            <p:nvPr/>
          </p:nvSpPr>
          <p:spPr>
            <a:xfrm>
              <a:off x="7243895" y="5826163"/>
              <a:ext cx="378587" cy="62983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/>
                  <a:cs typeface="+mn-cs"/>
                </a:rPr>
                <a:t>Cutting Height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  <a:cs typeface="+mn-cs"/>
              </a:endParaRPr>
            </a:p>
          </p:txBody>
        </p:sp>
      </p:grpSp>
      <p:sp>
        <p:nvSpPr>
          <p:cNvPr id="4" name="실행 단추: 홈 219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09F53DF5-2002-02DE-2FF5-BC167EF8231C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957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470B5AD2-43B4-BBA6-BF02-CF1D8116F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47" r="-371" b="-2052"/>
          <a:stretch/>
        </p:blipFill>
        <p:spPr>
          <a:xfrm>
            <a:off x="706325" y="3386053"/>
            <a:ext cx="4047844" cy="115392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5E286AC-B2FB-C69E-6741-4D7C16B557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343"/>
          <a:stretch/>
        </p:blipFill>
        <p:spPr>
          <a:xfrm>
            <a:off x="5112181" y="3406776"/>
            <a:ext cx="4067159" cy="105953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92BBFDF-7ED7-4FB8-D06E-638A3485032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9533" y="5569597"/>
            <a:ext cx="4015184" cy="10546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B0233C-32B9-5866-1EC1-786D39CC054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4257" y="5560785"/>
            <a:ext cx="4067159" cy="1054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01EBDF-E2AB-A0B9-923E-FC639A608D00}"/>
              </a:ext>
            </a:extLst>
          </p:cNvPr>
          <p:cNvSpPr txBox="1"/>
          <p:nvPr/>
        </p:nvSpPr>
        <p:spPr>
          <a:xfrm>
            <a:off x="7065825" y="-2045"/>
            <a:ext cx="2459683" cy="3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그룹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자동보정담당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자동보정선행개발팀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그룹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.FDC DX.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전극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FDC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팀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0B319-CF9E-5940-706A-47579F6F246B}"/>
              </a:ext>
            </a:extLst>
          </p:cNvPr>
          <p:cNvSpPr txBox="1"/>
          <p:nvPr/>
        </p:nvSpPr>
        <p:spPr>
          <a:xfrm>
            <a:off x="161384" y="561272"/>
            <a:ext cx="9668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48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NND 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양극 어깨선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Item 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확산 적용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(8/19)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후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LAMI MEB 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라인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E77A 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모델 기준 위치 불량율이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0.196%→0.153%(0.043%</a:t>
            </a:r>
            <a:r>
              <a:rPr kumimoji="1" lang="en-US" altLang="ko-KR" sz="1370" b="1" kern="0" dirty="0">
                <a:solidFill>
                  <a:prstClr val="black"/>
                </a:solidFill>
                <a:latin typeface="Arial Narrow"/>
                <a:ea typeface="LG스마트체 Regular"/>
              </a:rPr>
              <a:t>p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↓)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로</a:t>
            </a:r>
            <a:b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약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42%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개선 되었으며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가장 개선이 많이 된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13Line 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기준으로 속도 변동 별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NND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및 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LAMI 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재료교체 구간 그래 확인하였습니다</a:t>
            </a:r>
            <a:r>
              <a:rPr kumimoji="1" lang="en-US" altLang="ko-KR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F1BC7B4-363E-E4EB-DF3B-4C374BDBE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168" y="3120619"/>
            <a:ext cx="2278070" cy="267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68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As-was : 8/14~8/18 1100mm/s </a:t>
            </a:r>
            <a:r>
              <a:rPr kumimoji="0" lang="ko-KR" altLang="en-US" sz="1268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→ </a:t>
            </a:r>
            <a:r>
              <a:rPr kumimoji="0" lang="en-US" altLang="ko-KR" sz="1268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300mm/s</a:t>
            </a:r>
            <a:endParaRPr kumimoji="0" lang="ko-KR" altLang="en-US" sz="1268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pitchFamily="34" charset="0"/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CA15DFD4-42BC-E1EB-D885-1753837A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058" y="3120619"/>
            <a:ext cx="2278070" cy="267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68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As-is 8/20~8/24 1100mm/s </a:t>
            </a:r>
            <a:r>
              <a:rPr kumimoji="0" lang="ko-KR" altLang="en-US" sz="1268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→ </a:t>
            </a:r>
            <a:r>
              <a:rPr kumimoji="0" lang="en-US" altLang="ko-KR" sz="1268" b="1" i="0" u="sng" strike="noStrike" kern="0" cap="none" spc="0" normalizeH="0" baseline="0" noProof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1000mm/s</a:t>
            </a:r>
            <a:endParaRPr kumimoji="0" lang="ko-KR" altLang="en-US" sz="1268" b="1" i="0" u="sng" strike="noStrike" kern="0" cap="none" spc="0" normalizeH="0" baseline="0" noProof="0">
              <a:ln>
                <a:noFill/>
              </a:ln>
              <a:solidFill>
                <a:srgbClr val="1414FE"/>
              </a:solidFill>
              <a:effectLst/>
              <a:uLnTx/>
              <a:uFillTx/>
              <a:latin typeface="Arial Narrow"/>
              <a:ea typeface="LG스마트체 Regular"/>
              <a:cs typeface="Arial" pitchFamily="34" charset="0"/>
            </a:endParaRPr>
          </a:p>
        </p:txBody>
      </p:sp>
      <p:sp>
        <p:nvSpPr>
          <p:cNvPr id="23" name="제목 4">
            <a:extLst>
              <a:ext uri="{FF2B5EF4-FFF2-40B4-BE49-F238E27FC236}">
                <a16:creationId xmlns:a16="http://schemas.microsoft.com/office/drawing/2014/main" id="{78B70C3D-6867-BA0D-A798-0DFA6383ECF1}"/>
              </a:ext>
            </a:extLst>
          </p:cNvPr>
          <p:cNvSpPr txBox="1">
            <a:spLocks/>
          </p:cNvSpPr>
          <p:nvPr/>
        </p:nvSpPr>
        <p:spPr>
          <a:xfrm>
            <a:off x="160122" y="188417"/>
            <a:ext cx="7457174" cy="3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726" tIns="44863" rIns="89726" bIns="44863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9730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6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NND UW </a:t>
            </a:r>
            <a:r>
              <a:rPr kumimoji="0" lang="ko-KR" altLang="en-US" sz="1963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컷팅</a:t>
            </a:r>
            <a:r>
              <a:rPr kumimoji="0" lang="ko-KR" altLang="en-US" sz="196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 전 주행속도 최적화 수평전개 </a:t>
            </a:r>
            <a:r>
              <a:rPr kumimoji="0" lang="en-US" altLang="ko-KR" sz="196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LAMI </a:t>
            </a:r>
            <a:r>
              <a:rPr kumimoji="0" lang="ko-KR" altLang="en-US" sz="196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위치 불량률 개선</a:t>
            </a:r>
            <a:r>
              <a:rPr kumimoji="0" lang="en-US" altLang="ko-KR" sz="196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j-cs"/>
              </a:rPr>
              <a:t>(2/2)</a:t>
            </a:r>
            <a:endParaRPr kumimoji="0" lang="ko-KR" altLang="en-US" sz="1963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/>
              <a:ea typeface="LG스마트체 Regular"/>
              <a:cs typeface="+mj-cs"/>
            </a:endParaRPr>
          </a:p>
        </p:txBody>
      </p:sp>
      <p:sp>
        <p:nvSpPr>
          <p:cNvPr id="54" name="Rectangle 11">
            <a:extLst>
              <a:ext uri="{FF2B5EF4-FFF2-40B4-BE49-F238E27FC236}">
                <a16:creationId xmlns:a16="http://schemas.microsoft.com/office/drawing/2014/main" id="{F06468EA-EDCB-88C8-7219-5BF5C90FE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19" y="3406713"/>
            <a:ext cx="452625" cy="98922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NND</a:t>
            </a:r>
            <a:b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Cutting</a:t>
            </a:r>
            <a:b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Height</a:t>
            </a:r>
            <a:b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13-C</a:t>
            </a:r>
            <a:endParaRPr kumimoji="0" lang="ko-KR" alt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pitchFamily="34" charset="0"/>
            </a:endParaRPr>
          </a:p>
        </p:txBody>
      </p:sp>
      <p:sp>
        <p:nvSpPr>
          <p:cNvPr id="56" name="Rectangle 11">
            <a:extLst>
              <a:ext uri="{FF2B5EF4-FFF2-40B4-BE49-F238E27FC236}">
                <a16:creationId xmlns:a16="http://schemas.microsoft.com/office/drawing/2014/main" id="{9C63F74E-4C70-81C1-5F8A-23054D46A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19" y="5679254"/>
            <a:ext cx="452625" cy="9254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LAMI</a:t>
            </a:r>
            <a:b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AC_C1</a:t>
            </a:r>
            <a:b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13Line</a:t>
            </a:r>
            <a:endParaRPr kumimoji="0" lang="ko-KR" alt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C8CB4E1-47B4-1D27-3D5E-BCD4B65F449C}"/>
              </a:ext>
            </a:extLst>
          </p:cNvPr>
          <p:cNvSpPr/>
          <p:nvPr/>
        </p:nvSpPr>
        <p:spPr>
          <a:xfrm>
            <a:off x="2016083" y="3429318"/>
            <a:ext cx="798001" cy="925393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C7F7E26-7895-4802-7045-9CC8A53A2231}"/>
              </a:ext>
            </a:extLst>
          </p:cNvPr>
          <p:cNvSpPr/>
          <p:nvPr/>
        </p:nvSpPr>
        <p:spPr>
          <a:xfrm>
            <a:off x="6446181" y="3429318"/>
            <a:ext cx="766863" cy="925393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BC5211-1E7E-3B6B-B8BC-22518B49C7D8}"/>
              </a:ext>
            </a:extLst>
          </p:cNvPr>
          <p:cNvSpPr txBox="1"/>
          <p:nvPr/>
        </p:nvSpPr>
        <p:spPr>
          <a:xfrm>
            <a:off x="1882761" y="3395506"/>
            <a:ext cx="106464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UW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D1FC87-1E0A-DB17-103A-932D1CF7A798}"/>
              </a:ext>
            </a:extLst>
          </p:cNvPr>
          <p:cNvSpPr txBox="1"/>
          <p:nvPr/>
        </p:nvSpPr>
        <p:spPr>
          <a:xfrm>
            <a:off x="6327771" y="3395506"/>
            <a:ext cx="106464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UW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0" name="Rectangle 11">
            <a:extLst>
              <a:ext uri="{FF2B5EF4-FFF2-40B4-BE49-F238E27FC236}">
                <a16:creationId xmlns:a16="http://schemas.microsoft.com/office/drawing/2014/main" id="{9BBBBECE-FC7A-60C9-9725-DB03CF69D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22" y="1992659"/>
            <a:ext cx="452625" cy="11492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LAMI</a:t>
            </a:r>
            <a:b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E77A</a:t>
            </a:r>
            <a:b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개선</a:t>
            </a:r>
            <a:b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결과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1DE8C53-44FB-760B-AB6A-16EC8718CBA8}"/>
              </a:ext>
            </a:extLst>
          </p:cNvPr>
          <p:cNvSpPr/>
          <p:nvPr/>
        </p:nvSpPr>
        <p:spPr>
          <a:xfrm>
            <a:off x="3099348" y="5700460"/>
            <a:ext cx="1638354" cy="873296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C99FC19-C992-B7F9-A098-7989AF3B52CD}"/>
              </a:ext>
            </a:extLst>
          </p:cNvPr>
          <p:cNvSpPr/>
          <p:nvPr/>
        </p:nvSpPr>
        <p:spPr>
          <a:xfrm>
            <a:off x="7481132" y="5700460"/>
            <a:ext cx="1680790" cy="873296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B6DDC6-2636-9FE0-6DE6-4F7C3245E2C3}"/>
              </a:ext>
            </a:extLst>
          </p:cNvPr>
          <p:cNvSpPr txBox="1"/>
          <p:nvPr/>
        </p:nvSpPr>
        <p:spPr>
          <a:xfrm>
            <a:off x="3397937" y="5673706"/>
            <a:ext cx="106464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신재료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581856-E0D7-1D28-E2B2-7056FBD802DB}"/>
              </a:ext>
            </a:extLst>
          </p:cNvPr>
          <p:cNvSpPr txBox="1"/>
          <p:nvPr/>
        </p:nvSpPr>
        <p:spPr>
          <a:xfrm>
            <a:off x="7825529" y="5673706"/>
            <a:ext cx="106464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신재료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83578A4-D5E5-FA0D-077D-1745967457BC}"/>
              </a:ext>
            </a:extLst>
          </p:cNvPr>
          <p:cNvGrpSpPr/>
          <p:nvPr/>
        </p:nvGrpSpPr>
        <p:grpSpPr>
          <a:xfrm>
            <a:off x="5101550" y="2100690"/>
            <a:ext cx="56203" cy="718682"/>
            <a:chOff x="0" y="-25374"/>
            <a:chExt cx="56203" cy="1455777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05954495-2A46-A627-DC48-9BEA98D4A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0"/>
              <a:ext cx="0" cy="14304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이등변 삼각형 34">
              <a:extLst>
                <a:ext uri="{FF2B5EF4-FFF2-40B4-BE49-F238E27FC236}">
                  <a16:creationId xmlns:a16="http://schemas.microsoft.com/office/drawing/2014/main" id="{795830E6-7B52-0D5D-FE33-619D4B1F7B56}"/>
                </a:ext>
              </a:extLst>
            </p:cNvPr>
            <p:cNvSpPr/>
            <p:nvPr/>
          </p:nvSpPr>
          <p:spPr>
            <a:xfrm rot="5400000">
              <a:off x="-24046" y="-1081"/>
              <a:ext cx="104542" cy="55956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sp>
        <p:nvSpPr>
          <p:cNvPr id="33" name="TextBox 99">
            <a:extLst>
              <a:ext uri="{FF2B5EF4-FFF2-40B4-BE49-F238E27FC236}">
                <a16:creationId xmlns:a16="http://schemas.microsoft.com/office/drawing/2014/main" id="{C6130D39-21FB-4090-3F8F-4B1F807FB3DB}"/>
              </a:ext>
            </a:extLst>
          </p:cNvPr>
          <p:cNvSpPr txBox="1"/>
          <p:nvPr/>
        </p:nvSpPr>
        <p:spPr>
          <a:xfrm>
            <a:off x="5243338" y="2075567"/>
            <a:ext cx="243567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NND UW 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컷팅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구간 속도 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SV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최적화</a:t>
            </a: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645D01F8-60E4-4E33-6253-7F5847A1B0FD}"/>
              </a:ext>
            </a:extLst>
          </p:cNvPr>
          <p:cNvGraphicFramePr>
            <a:graphicFrameLocks/>
          </p:cNvGraphicFramePr>
          <p:nvPr/>
        </p:nvGraphicFramePr>
        <p:xfrm>
          <a:off x="1027696" y="1864304"/>
          <a:ext cx="7776673" cy="1301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3EE17C99-6FDB-DB19-DF03-549D228B5364}"/>
              </a:ext>
            </a:extLst>
          </p:cNvPr>
          <p:cNvGrpSpPr/>
          <p:nvPr/>
        </p:nvGrpSpPr>
        <p:grpSpPr>
          <a:xfrm>
            <a:off x="160919" y="4547415"/>
            <a:ext cx="9063332" cy="1119534"/>
            <a:chOff x="160919" y="1041326"/>
            <a:chExt cx="9063332" cy="111953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38A3186-7076-0B1D-72B3-BC2C47177CDF}"/>
                </a:ext>
              </a:extLst>
            </p:cNvPr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17" r="-2247"/>
            <a:stretch/>
          </p:blipFill>
          <p:spPr>
            <a:xfrm>
              <a:off x="706323" y="1050087"/>
              <a:ext cx="4141630" cy="1110773"/>
            </a:xfrm>
            <a:prstGeom prst="rect">
              <a:avLst/>
            </a:prstGeom>
          </p:spPr>
        </p:pic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EA026A78-0DDD-8532-928F-9723EEE4D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19" y="1041326"/>
              <a:ext cx="452625" cy="9991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lIns="32608" tIns="32608" rIns="32608" bIns="32608" anchor="ctr"/>
            <a:lstStyle/>
            <a:p>
              <a:pPr marL="0" marR="0" lvl="0" indent="0" algn="ctr" defTabSz="82829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NND</a:t>
              </a:r>
              <a:br>
                <a:rPr kumimoji="0" lang="en-US" altLang="ko-KR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</a:br>
              <a:r>
                <a:rPr kumimoji="0" lang="en-US" altLang="ko-KR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Feeding</a:t>
              </a:r>
              <a:br>
                <a:rPr kumimoji="0" lang="en-US" altLang="ko-KR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</a:br>
              <a:r>
                <a:rPr kumimoji="0" lang="en-US" altLang="ko-KR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Speed</a:t>
              </a:r>
              <a:endPara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EC8F1457-5A7D-2D52-C737-51745E7DE82E}"/>
                </a:ext>
              </a:extLst>
            </p:cNvPr>
            <p:cNvGrpSpPr/>
            <p:nvPr/>
          </p:nvGrpSpPr>
          <p:grpSpPr>
            <a:xfrm>
              <a:off x="893231" y="1083733"/>
              <a:ext cx="3831170" cy="908033"/>
              <a:chOff x="893231" y="1083733"/>
              <a:chExt cx="3831170" cy="90803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2C26AE60-39AD-825D-5C05-0CF5367F4F7B}"/>
                  </a:ext>
                </a:extLst>
              </p:cNvPr>
              <p:cNvSpPr/>
              <p:nvPr/>
            </p:nvSpPr>
            <p:spPr>
              <a:xfrm>
                <a:off x="901697" y="1083733"/>
                <a:ext cx="3814236" cy="9080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6AC275EC-9D82-5450-71EA-59D668BF7D72}"/>
                  </a:ext>
                </a:extLst>
              </p:cNvPr>
              <p:cNvCxnSpPr/>
              <p:nvPr/>
            </p:nvCxnSpPr>
            <p:spPr>
              <a:xfrm>
                <a:off x="893231" y="1133346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6FE9BFD5-FB62-765F-6F4A-E1D8E6D78C55}"/>
                  </a:ext>
                </a:extLst>
              </p:cNvPr>
              <p:cNvCxnSpPr/>
              <p:nvPr/>
            </p:nvCxnSpPr>
            <p:spPr>
              <a:xfrm>
                <a:off x="893231" y="1256115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B80B8498-D041-5110-FC79-B0EEFEF84569}"/>
                  </a:ext>
                </a:extLst>
              </p:cNvPr>
              <p:cNvCxnSpPr/>
              <p:nvPr/>
            </p:nvCxnSpPr>
            <p:spPr>
              <a:xfrm>
                <a:off x="893231" y="1387347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8634048D-94FD-E1D5-1967-EE9716999FC7}"/>
                  </a:ext>
                </a:extLst>
              </p:cNvPr>
              <p:cNvCxnSpPr/>
              <p:nvPr/>
            </p:nvCxnSpPr>
            <p:spPr>
              <a:xfrm>
                <a:off x="893231" y="1510116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66C6608D-F692-84AF-9130-350106903B46}"/>
                  </a:ext>
                </a:extLst>
              </p:cNvPr>
              <p:cNvCxnSpPr/>
              <p:nvPr/>
            </p:nvCxnSpPr>
            <p:spPr>
              <a:xfrm>
                <a:off x="893231" y="1637115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7A77CEE6-34E1-CAA3-0C33-2E68368EE363}"/>
                  </a:ext>
                </a:extLst>
              </p:cNvPr>
              <p:cNvCxnSpPr/>
              <p:nvPr/>
            </p:nvCxnSpPr>
            <p:spPr>
              <a:xfrm>
                <a:off x="893231" y="1768347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18AA4D39-F3CF-35EC-5768-9E50BFD5BFE9}"/>
                  </a:ext>
                </a:extLst>
              </p:cNvPr>
              <p:cNvCxnSpPr/>
              <p:nvPr/>
            </p:nvCxnSpPr>
            <p:spPr>
              <a:xfrm>
                <a:off x="893231" y="1891116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2E6F81-E712-FDCD-1938-B8463380BDD9}"/>
                </a:ext>
              </a:extLst>
            </p:cNvPr>
            <p:cNvSpPr txBox="1"/>
            <p:nvPr/>
          </p:nvSpPr>
          <p:spPr>
            <a:xfrm>
              <a:off x="1634258" y="1776335"/>
              <a:ext cx="818749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300mm/s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D0671A5-045F-2286-DA97-DA4AEB3BB2CA}"/>
                </a:ext>
              </a:extLst>
            </p:cNvPr>
            <p:cNvGrpSpPr/>
            <p:nvPr/>
          </p:nvGrpSpPr>
          <p:grpSpPr>
            <a:xfrm>
              <a:off x="888999" y="1317494"/>
              <a:ext cx="3843868" cy="499533"/>
              <a:chOff x="888999" y="1321724"/>
              <a:chExt cx="3843868" cy="499533"/>
            </a:xfrm>
          </p:grpSpPr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21F6DC47-BA18-841F-E6EA-3796B5625B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12433" y="1321724"/>
                <a:ext cx="4234" cy="499533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40A1E47B-01C4-9FA4-039A-F63B08FA20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999" y="1321724"/>
                <a:ext cx="969434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90F681AF-EBE2-3BDB-D7B1-00C437465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8199" y="1321724"/>
                <a:ext cx="2624668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4C54505E-AFDE-D0BA-5160-15270D5CB5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8432" y="1821257"/>
                <a:ext cx="262468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FB17D744-3A7C-D858-51AB-4370139435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58432" y="1321724"/>
                <a:ext cx="4234" cy="499533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D45C9D-DE73-0140-D2BA-FA8404054627}"/>
                </a:ext>
              </a:extLst>
            </p:cNvPr>
            <p:cNvSpPr txBox="1"/>
            <p:nvPr/>
          </p:nvSpPr>
          <p:spPr>
            <a:xfrm>
              <a:off x="1163375" y="1133346"/>
              <a:ext cx="818749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1100mm/s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CC1B3D9-BB77-ED00-ADEF-1334EA0A791A}"/>
                </a:ext>
              </a:extLst>
            </p:cNvPr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17" r="-2247"/>
            <a:stretch/>
          </p:blipFill>
          <p:spPr>
            <a:xfrm>
              <a:off x="5082621" y="1050087"/>
              <a:ext cx="4141630" cy="1110773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E74F36C-AF5F-B4BB-78E1-B979422EA560}"/>
                </a:ext>
              </a:extLst>
            </p:cNvPr>
            <p:cNvGrpSpPr/>
            <p:nvPr/>
          </p:nvGrpSpPr>
          <p:grpSpPr>
            <a:xfrm>
              <a:off x="5269529" y="1083733"/>
              <a:ext cx="3831170" cy="908033"/>
              <a:chOff x="893231" y="1083733"/>
              <a:chExt cx="3831170" cy="908033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BBD5864-A646-DC2B-92F4-2CB06E49428F}"/>
                  </a:ext>
                </a:extLst>
              </p:cNvPr>
              <p:cNvSpPr/>
              <p:nvPr/>
            </p:nvSpPr>
            <p:spPr>
              <a:xfrm>
                <a:off x="901697" y="1083733"/>
                <a:ext cx="3814236" cy="9080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A9194C8B-61FD-2195-EE14-0AD924F1D6A6}"/>
                  </a:ext>
                </a:extLst>
              </p:cNvPr>
              <p:cNvCxnSpPr/>
              <p:nvPr/>
            </p:nvCxnSpPr>
            <p:spPr>
              <a:xfrm>
                <a:off x="893231" y="1133346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0CE71142-4190-DEF3-1BA4-BA8F7AB80BAE}"/>
                  </a:ext>
                </a:extLst>
              </p:cNvPr>
              <p:cNvCxnSpPr/>
              <p:nvPr/>
            </p:nvCxnSpPr>
            <p:spPr>
              <a:xfrm>
                <a:off x="893231" y="1256115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4F9D3043-1039-5DC3-F95B-BC2161CF2A7C}"/>
                  </a:ext>
                </a:extLst>
              </p:cNvPr>
              <p:cNvCxnSpPr/>
              <p:nvPr/>
            </p:nvCxnSpPr>
            <p:spPr>
              <a:xfrm>
                <a:off x="893231" y="1387347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15C8DF41-DD6A-E730-2A4A-ACA666F59E77}"/>
                  </a:ext>
                </a:extLst>
              </p:cNvPr>
              <p:cNvCxnSpPr/>
              <p:nvPr/>
            </p:nvCxnSpPr>
            <p:spPr>
              <a:xfrm>
                <a:off x="893231" y="1510116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40888C88-4643-A2CF-F93A-817D180F68E9}"/>
                  </a:ext>
                </a:extLst>
              </p:cNvPr>
              <p:cNvCxnSpPr/>
              <p:nvPr/>
            </p:nvCxnSpPr>
            <p:spPr>
              <a:xfrm>
                <a:off x="893231" y="1637115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817935BE-BD0C-8CCE-BC15-AA3E2704BD5B}"/>
                  </a:ext>
                </a:extLst>
              </p:cNvPr>
              <p:cNvCxnSpPr/>
              <p:nvPr/>
            </p:nvCxnSpPr>
            <p:spPr>
              <a:xfrm>
                <a:off x="893231" y="1768347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A98087F5-8ABD-DF78-84DE-E2B064F16401}"/>
                  </a:ext>
                </a:extLst>
              </p:cNvPr>
              <p:cNvCxnSpPr/>
              <p:nvPr/>
            </p:nvCxnSpPr>
            <p:spPr>
              <a:xfrm>
                <a:off x="893231" y="1891116"/>
                <a:ext cx="383117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2C4E1D-E906-BA54-DFEA-9A56BFBB1970}"/>
                </a:ext>
              </a:extLst>
            </p:cNvPr>
            <p:cNvSpPr txBox="1"/>
            <p:nvPr/>
          </p:nvSpPr>
          <p:spPr>
            <a:xfrm>
              <a:off x="6010556" y="1352967"/>
              <a:ext cx="818749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1000mm/s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275B566-F881-93E4-D1BA-F50D9D9776EB}"/>
                </a:ext>
              </a:extLst>
            </p:cNvPr>
            <p:cNvGrpSpPr/>
            <p:nvPr/>
          </p:nvGrpSpPr>
          <p:grpSpPr>
            <a:xfrm>
              <a:off x="5265297" y="1317495"/>
              <a:ext cx="3843868" cy="66805"/>
              <a:chOff x="888999" y="1321724"/>
              <a:chExt cx="3843868" cy="499533"/>
            </a:xfrm>
          </p:grpSpPr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AE51C281-CF34-70D5-9FC7-9152358BCC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12433" y="1321724"/>
                <a:ext cx="4234" cy="499533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7A813A12-1564-D2FE-BF7F-E5FC29978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999" y="1321724"/>
                <a:ext cx="969434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8DF4AAD6-EE20-239B-D2B1-1D9AB25209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8199" y="1321724"/>
                <a:ext cx="2624668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26C02B89-E90D-CB94-19A5-D076DEE38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8432" y="1821257"/>
                <a:ext cx="262468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0247B82D-F30D-B5E5-304F-1D81044E39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58432" y="1321724"/>
                <a:ext cx="4234" cy="499533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E768A6C-B019-A83F-3D36-39605268C400}"/>
                </a:ext>
              </a:extLst>
            </p:cNvPr>
            <p:cNvSpPr txBox="1"/>
            <p:nvPr/>
          </p:nvSpPr>
          <p:spPr>
            <a:xfrm>
              <a:off x="5539673" y="1133346"/>
              <a:ext cx="818749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1100mm/s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3653CD49-14AF-EBB0-6F0E-67FCE72C9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704739"/>
              </p:ext>
            </p:extLst>
          </p:nvPr>
        </p:nvGraphicFramePr>
        <p:xfrm>
          <a:off x="901697" y="1085992"/>
          <a:ext cx="8299717" cy="817300"/>
        </p:xfrm>
        <a:graphic>
          <a:graphicData uri="http://schemas.openxmlformats.org/drawingml/2006/table">
            <a:tbl>
              <a:tblPr/>
              <a:tblGrid>
                <a:gridCol w="1294873">
                  <a:extLst>
                    <a:ext uri="{9D8B030D-6E8A-4147-A177-3AD203B41FA5}">
                      <a16:colId xmlns:a16="http://schemas.microsoft.com/office/drawing/2014/main" val="2700016206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3976958460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2407083873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2984140766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1569744411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2927071208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285856652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2316485851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1734730007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3651701009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1354389415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4004406097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1647244143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1594507595"/>
                    </a:ext>
                  </a:extLst>
                </a:gridCol>
                <a:gridCol w="500346">
                  <a:extLst>
                    <a:ext uri="{9D8B030D-6E8A-4147-A177-3AD203B41FA5}">
                      <a16:colId xmlns:a16="http://schemas.microsoft.com/office/drawing/2014/main" val="1727393072"/>
                    </a:ext>
                  </a:extLst>
                </a:gridCol>
              </a:tblGrid>
              <a:tr h="164810">
                <a:tc rowSpan="2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  <a:endParaRPr lang="en-US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277676"/>
                  </a:ext>
                </a:extLst>
              </a:tr>
              <a:tr h="16481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Before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After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Before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After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Before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After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Before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After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Before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After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Before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After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Before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After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060441"/>
                  </a:ext>
                </a:extLst>
              </a:tr>
              <a:tr h="23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마킹 중</a:t>
                      </a:r>
                      <a:b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Cutting Height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0.250%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0.160%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0.228%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0.090%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0.299%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0.170%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0.129%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0.106%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0.282%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0.172%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0.23%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0.14%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(0.09%</a:t>
                      </a:r>
                      <a:r>
                        <a:rPr lang="ko-KR" altLang="en-US" sz="800" b="1" i="0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  <a:r>
                        <a:rPr lang="en-US" altLang="ko-KR" sz="800" b="1" i="0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800" b="1" i="0" u="none" strike="noStrike" kern="1200" baseline="0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406827"/>
                  </a:ext>
                </a:extLst>
              </a:tr>
              <a:tr h="23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재료교체 직전 구간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Cutting Height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0.183%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0.159%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0.035%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0.000%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0.029%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0.015%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0.017%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0.012%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0.016%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0.011%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800" b="1" i="0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(0.02%</a:t>
                      </a:r>
                      <a:r>
                        <a:rPr lang="ko-KR" altLang="en-US" sz="800" b="1" i="0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  <a:r>
                        <a:rPr lang="en-US" altLang="ko-KR" sz="800" b="1" i="0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800" b="1" i="0" u="none" strike="noStrike" kern="1200" baseline="0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25241"/>
                  </a:ext>
                </a:extLst>
              </a:tr>
            </a:tbl>
          </a:graphicData>
        </a:graphic>
      </p:graphicFrame>
      <p:sp>
        <p:nvSpPr>
          <p:cNvPr id="68" name="Rectangle 11">
            <a:extLst>
              <a:ext uri="{FF2B5EF4-FFF2-40B4-BE49-F238E27FC236}">
                <a16:creationId xmlns:a16="http://schemas.microsoft.com/office/drawing/2014/main" id="{9E018C52-B9A2-7BA9-26CD-E7B13DD35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22" y="1079863"/>
            <a:ext cx="452625" cy="8273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2608" tIns="32608" rIns="32608" bIns="32608" anchor="ctr"/>
          <a:lstStyle/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NND</a:t>
            </a:r>
          </a:p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불량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pitchFamily="34" charset="0"/>
            </a:endParaRPr>
          </a:p>
          <a:p>
            <a:pPr marL="0" marR="0" lvl="0" indent="0" algn="ctr" defTabSz="8282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개선</a:t>
            </a:r>
            <a:b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</a:b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itchFamily="34" charset="0"/>
              </a:rPr>
              <a:t>결과</a:t>
            </a:r>
          </a:p>
        </p:txBody>
      </p:sp>
      <p:sp>
        <p:nvSpPr>
          <p:cNvPr id="43" name="실행 단추: 홈 219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C846AB05-9692-FC8D-EF9A-3AE726228C1A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299385-568E-6E58-B9F7-047DFB7F1F4D}"/>
              </a:ext>
            </a:extLst>
          </p:cNvPr>
          <p:cNvSpPr txBox="1"/>
          <p:nvPr/>
        </p:nvSpPr>
        <p:spPr>
          <a:xfrm>
            <a:off x="6719818" y="2099859"/>
            <a:ext cx="26101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위치 </a:t>
            </a:r>
            <a:r>
              <a:rPr kumimoji="1" lang="ko-KR" altLang="en-US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불량율</a:t>
            </a:r>
            <a:r>
              <a:rPr kumimoji="1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1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0.196% → 0.153% (0.043%p↓)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644479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>
            <a:extLst>
              <a:ext uri="{FF2B5EF4-FFF2-40B4-BE49-F238E27FC236}">
                <a16:creationId xmlns:a16="http://schemas.microsoft.com/office/drawing/2014/main" id="{6EEC90DA-0010-473A-BA28-ACAEC689F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3" y="3018"/>
            <a:ext cx="7632024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MI_LS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Stack Y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축 계단형 적재 이슈 원인 분석</a:t>
            </a:r>
          </a:p>
        </p:txBody>
      </p:sp>
      <p:sp>
        <p:nvSpPr>
          <p:cNvPr id="6" name="Line 54">
            <a:extLst>
              <a:ext uri="{FF2B5EF4-FFF2-40B4-BE49-F238E27FC236}">
                <a16:creationId xmlns:a16="http://schemas.microsoft.com/office/drawing/2014/main" id="{531EBFAF-37C0-4B62-A005-5DE5838E4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2" y="303041"/>
            <a:ext cx="367013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32F303-F784-4EAA-835E-47D1D54B9547}"/>
              </a:ext>
            </a:extLst>
          </p:cNvPr>
          <p:cNvSpPr txBox="1"/>
          <p:nvPr/>
        </p:nvSpPr>
        <p:spPr>
          <a:xfrm>
            <a:off x="116462" y="323251"/>
            <a:ext cx="9786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defTabSz="44865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137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</a:lstStyle>
          <a:p>
            <a:r>
              <a:rPr lang="en-US" altLang="ko-KR" dirty="0"/>
              <a:t>MI_LS</a:t>
            </a:r>
            <a:r>
              <a:rPr lang="ko-KR" altLang="en-US" dirty="0"/>
              <a:t>의 스택 전체 불량률은 약 </a:t>
            </a:r>
            <a:r>
              <a:rPr lang="en-US" altLang="ko-KR" dirty="0"/>
              <a:t>0.25% </a:t>
            </a:r>
            <a:r>
              <a:rPr lang="ko-KR" altLang="en-US" dirty="0"/>
              <a:t>수준이며</a:t>
            </a:r>
            <a:r>
              <a:rPr lang="en-US" altLang="ko-KR" dirty="0"/>
              <a:t>, </a:t>
            </a:r>
            <a:r>
              <a:rPr lang="ko-KR" altLang="en-US" dirty="0"/>
              <a:t>이 중 계단식 적재에 따른 불량률은 약 </a:t>
            </a:r>
            <a:r>
              <a:rPr lang="en-US" altLang="ko-KR" dirty="0"/>
              <a:t>0.06%</a:t>
            </a:r>
            <a:r>
              <a:rPr lang="ko-KR" altLang="en-US" dirty="0"/>
              <a:t>로 전체 위치 불량의 약 </a:t>
            </a:r>
            <a:r>
              <a:rPr lang="en-US" altLang="ko-KR" dirty="0"/>
              <a:t>20%</a:t>
            </a:r>
            <a:r>
              <a:rPr lang="ko-KR" altLang="en-US" dirty="0"/>
              <a:t>를 차지하고 있습니다</a:t>
            </a:r>
            <a:r>
              <a:rPr lang="en-US" altLang="ko-KR" dirty="0"/>
              <a:t>. </a:t>
            </a:r>
            <a:r>
              <a:rPr lang="ko-KR" altLang="en-US" dirty="0"/>
              <a:t>따라서 계단식 적재 현상에 대해 사전 인지하고 데이터 기반 분석을 통해 개선 대책을 수립하겠습니다</a:t>
            </a:r>
            <a:r>
              <a:rPr lang="en-US" altLang="ko-KR" dirty="0"/>
              <a:t>. 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884D93FD-EC17-4FEE-B047-AEAF7C70BF53}"/>
              </a:ext>
            </a:extLst>
          </p:cNvPr>
          <p:cNvSpPr/>
          <p:nvPr/>
        </p:nvSpPr>
        <p:spPr>
          <a:xfrm>
            <a:off x="58732" y="1083732"/>
            <a:ext cx="4779525" cy="571150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69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9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A29877B3-FCF1-4AF6-A307-CBD1A4CA7F31}"/>
              </a:ext>
            </a:extLst>
          </p:cNvPr>
          <p:cNvSpPr/>
          <p:nvPr/>
        </p:nvSpPr>
        <p:spPr>
          <a:xfrm>
            <a:off x="1448537" y="980728"/>
            <a:ext cx="2133946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81" tIns="45691" rIns="91381" bIns="456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69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현상 및 원인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72E0B8AB-C323-47C6-8BEE-C90CB7B55632}"/>
              </a:ext>
            </a:extLst>
          </p:cNvPr>
          <p:cNvSpPr/>
          <p:nvPr/>
        </p:nvSpPr>
        <p:spPr>
          <a:xfrm>
            <a:off x="4918698" y="1083733"/>
            <a:ext cx="4900234" cy="571150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69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9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7BBC051-59EF-4CB4-AC9B-F2F5BE2EEAB2}"/>
              </a:ext>
            </a:extLst>
          </p:cNvPr>
          <p:cNvSpPr/>
          <p:nvPr/>
        </p:nvSpPr>
        <p:spPr>
          <a:xfrm>
            <a:off x="6323519" y="980728"/>
            <a:ext cx="2133946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81" tIns="45691" rIns="91381" bIns="456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69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예상 원인 메커니즘 및 향후 계획</a:t>
            </a:r>
          </a:p>
        </p:txBody>
      </p:sp>
      <p:sp>
        <p:nvSpPr>
          <p:cNvPr id="169" name="Text Box 5">
            <a:extLst>
              <a:ext uri="{FF2B5EF4-FFF2-40B4-BE49-F238E27FC236}">
                <a16:creationId xmlns:a16="http://schemas.microsoft.com/office/drawing/2014/main" id="{3F3C5949-1E03-4AB4-B82C-2CC485D9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219" y="1302573"/>
            <a:ext cx="893974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8435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분석 결과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A292161-C578-490D-B738-3C2AA3AAFF04}"/>
              </a:ext>
            </a:extLst>
          </p:cNvPr>
          <p:cNvSpPr txBox="1"/>
          <p:nvPr/>
        </p:nvSpPr>
        <p:spPr>
          <a:xfrm>
            <a:off x="5031788" y="1446353"/>
            <a:ext cx="4709159" cy="826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1.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주 원인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재료 기인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장변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밴딩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분석 결과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설비 제어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보정 및 검사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오검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측면에서는 특이 이상이 없는 것으로    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확인되었습니다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본 현상은 재료 기인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장변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밴딩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으로 판단되며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설비 기구적 요인과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공정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간 상호 영향이 해당 현상을 더욱 악화시키는 것으로 추정됩니다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</a:t>
            </a:r>
          </a:p>
        </p:txBody>
      </p:sp>
      <p:sp>
        <p:nvSpPr>
          <p:cNvPr id="208" name="Text Box 5">
            <a:extLst>
              <a:ext uri="{FF2B5EF4-FFF2-40B4-BE49-F238E27FC236}">
                <a16:creationId xmlns:a16="http://schemas.microsoft.com/office/drawing/2014/main" id="{2C4AAF8A-C889-4298-A806-C7D0C61F5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513" y="5471174"/>
            <a:ext cx="454816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8435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향후 계획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BCFEC-29FB-6365-917B-F11818493943}"/>
              </a:ext>
            </a:extLst>
          </p:cNvPr>
          <p:cNvSpPr txBox="1"/>
          <p:nvPr/>
        </p:nvSpPr>
        <p:spPr>
          <a:xfrm>
            <a:off x="8055517" y="62763"/>
            <a:ext cx="1515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자료제작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조립자동보정팀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B3A8216C-359D-B122-5E69-3DE53D213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53" y="1302573"/>
            <a:ext cx="1283484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8435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현상 분석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CE44EA-7F8B-DCE7-96CB-32B95F70ACFB}"/>
              </a:ext>
            </a:extLst>
          </p:cNvPr>
          <p:cNvSpPr txBox="1"/>
          <p:nvPr/>
        </p:nvSpPr>
        <p:spPr>
          <a:xfrm>
            <a:off x="193482" y="1446353"/>
            <a:ext cx="4612429" cy="81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7917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554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형태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Stack Align Y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축 계단식 적재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우상향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우하향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발생 시점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비정기적 발생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        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설비 정지 후 재가동 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재료 교체 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정상 운전 구간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발생 위치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Table 1, Table 2, Table 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에서 무작위 발생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131993E-81A0-82F3-00F6-16A2C0BCFA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201"/>
          <a:stretch/>
        </p:blipFill>
        <p:spPr>
          <a:xfrm>
            <a:off x="378877" y="2326379"/>
            <a:ext cx="2027002" cy="1436656"/>
          </a:xfrm>
          <a:prstGeom prst="rect">
            <a:avLst/>
          </a:prstGeom>
        </p:spPr>
      </p:pic>
      <p:pic>
        <p:nvPicPr>
          <p:cNvPr id="19" name="그림 18" descr="레드, 자동차 부품, 오토바이, 자동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09D152C-7785-CF6B-298A-67A92F5D6B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9"/>
          <a:stretch/>
        </p:blipFill>
        <p:spPr>
          <a:xfrm rot="5400000">
            <a:off x="2988240" y="1877961"/>
            <a:ext cx="1243901" cy="21464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FF3F013-F925-1420-65A0-AFB746394DA7}"/>
              </a:ext>
            </a:extLst>
          </p:cNvPr>
          <p:cNvSpPr txBox="1"/>
          <p:nvPr/>
        </p:nvSpPr>
        <p:spPr>
          <a:xfrm>
            <a:off x="370141" y="2325465"/>
            <a:ext cx="511233" cy="10772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Stack-RX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85993B-B2AF-950B-2D1C-1990DA2DFA84}"/>
              </a:ext>
            </a:extLst>
          </p:cNvPr>
          <p:cNvSpPr txBox="1"/>
          <p:nvPr/>
        </p:nvSpPr>
        <p:spPr>
          <a:xfrm>
            <a:off x="386465" y="2835579"/>
            <a:ext cx="511233" cy="10772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Stack-RY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6E1F76-ECB1-A0C4-74A1-040B8D3FAFA2}"/>
              </a:ext>
            </a:extLst>
          </p:cNvPr>
          <p:cNvSpPr txBox="1"/>
          <p:nvPr/>
        </p:nvSpPr>
        <p:spPr>
          <a:xfrm>
            <a:off x="386465" y="3313255"/>
            <a:ext cx="511233" cy="10772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Stack-RA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A0E4C3-5ECF-DA01-027F-AEAEE72AB582}"/>
              </a:ext>
            </a:extLst>
          </p:cNvPr>
          <p:cNvSpPr txBox="1"/>
          <p:nvPr/>
        </p:nvSpPr>
        <p:spPr>
          <a:xfrm>
            <a:off x="2792811" y="3643048"/>
            <a:ext cx="160016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실물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–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계단형 적재 확인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2C5827-D189-5353-37B6-FF04CD79457F}"/>
              </a:ext>
            </a:extLst>
          </p:cNvPr>
          <p:cNvSpPr txBox="1"/>
          <p:nvPr/>
        </p:nvSpPr>
        <p:spPr>
          <a:xfrm>
            <a:off x="755816" y="3643048"/>
            <a:ext cx="160016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데이터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–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계단형 적재 확인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7" name="Text Box 5">
            <a:extLst>
              <a:ext uri="{FF2B5EF4-FFF2-40B4-BE49-F238E27FC236}">
                <a16:creationId xmlns:a16="http://schemas.microsoft.com/office/drawing/2014/main" id="{695A01F4-DBF8-1E26-1E65-CC87027B6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53" y="4082263"/>
            <a:ext cx="1283484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8435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가능 원인인자 분류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48DA53-F9AD-3A92-49C3-7E7AC33A69B6}"/>
              </a:ext>
            </a:extLst>
          </p:cNvPr>
          <p:cNvSpPr txBox="1"/>
          <p:nvPr/>
        </p:nvSpPr>
        <p:spPr>
          <a:xfrm>
            <a:off x="328456" y="4717379"/>
            <a:ext cx="1016714" cy="1748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Y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축 위치변동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2A2DCE-5443-466B-1E5C-E65DBEEDCC55}"/>
              </a:ext>
            </a:extLst>
          </p:cNvPr>
          <p:cNvSpPr txBox="1"/>
          <p:nvPr/>
        </p:nvSpPr>
        <p:spPr>
          <a:xfrm>
            <a:off x="1732685" y="4735555"/>
            <a:ext cx="1016714" cy="1384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설비 제어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/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보정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00A42B-B0F4-55BB-1D97-F4673DD5FCC4}"/>
              </a:ext>
            </a:extLst>
          </p:cNvPr>
          <p:cNvSpPr txBox="1"/>
          <p:nvPr/>
        </p:nvSpPr>
        <p:spPr>
          <a:xfrm>
            <a:off x="3229981" y="4735555"/>
            <a:ext cx="1016714" cy="1384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Aling 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제어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C44A24-FDD6-421D-2039-3621E82B5FA7}"/>
              </a:ext>
            </a:extLst>
          </p:cNvPr>
          <p:cNvSpPr txBox="1"/>
          <p:nvPr/>
        </p:nvSpPr>
        <p:spPr>
          <a:xfrm>
            <a:off x="3229981" y="4969462"/>
            <a:ext cx="1016714" cy="1384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수동 보정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8B54B8-5A53-6707-0F19-2AC840A67640}"/>
              </a:ext>
            </a:extLst>
          </p:cNvPr>
          <p:cNvSpPr txBox="1"/>
          <p:nvPr/>
        </p:nvSpPr>
        <p:spPr>
          <a:xfrm>
            <a:off x="3229981" y="5190656"/>
            <a:ext cx="1016714" cy="1384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Belt Pitch 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보정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86368F8-0FB4-D949-4CF5-9E8111812061}"/>
              </a:ext>
            </a:extLst>
          </p:cNvPr>
          <p:cNvSpPr txBox="1"/>
          <p:nvPr/>
        </p:nvSpPr>
        <p:spPr>
          <a:xfrm>
            <a:off x="3229981" y="5401925"/>
            <a:ext cx="1016714" cy="1384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X, Y, T 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자동보정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4FC23811-EB83-7A4F-4016-9DECB1A810CC}"/>
              </a:ext>
            </a:extLst>
          </p:cNvPr>
          <p:cNvCxnSpPr>
            <a:stCxn id="58" idx="3"/>
            <a:endCxn id="59" idx="1"/>
          </p:cNvCxnSpPr>
          <p:nvPr/>
        </p:nvCxnSpPr>
        <p:spPr>
          <a:xfrm>
            <a:off x="1345170" y="4804805"/>
            <a:ext cx="387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CFDB249E-FD9F-4C3A-7484-4EB492226ACE}"/>
              </a:ext>
            </a:extLst>
          </p:cNvPr>
          <p:cNvCxnSpPr>
            <a:cxnSpLocks/>
            <a:stCxn id="59" idx="3"/>
            <a:endCxn id="65" idx="1"/>
          </p:cNvCxnSpPr>
          <p:nvPr/>
        </p:nvCxnSpPr>
        <p:spPr>
          <a:xfrm>
            <a:off x="2749399" y="4804805"/>
            <a:ext cx="480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15B7EEFD-FE60-35F1-9E0E-B9DD94DDC0C3}"/>
              </a:ext>
            </a:extLst>
          </p:cNvPr>
          <p:cNvCxnSpPr>
            <a:stCxn id="59" idx="3"/>
            <a:endCxn id="66" idx="1"/>
          </p:cNvCxnSpPr>
          <p:nvPr/>
        </p:nvCxnSpPr>
        <p:spPr>
          <a:xfrm>
            <a:off x="2749399" y="4804805"/>
            <a:ext cx="480582" cy="2339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6E9D681-24F7-E877-5F71-B642D765BF50}"/>
              </a:ext>
            </a:extLst>
          </p:cNvPr>
          <p:cNvSpPr txBox="1"/>
          <p:nvPr/>
        </p:nvSpPr>
        <p:spPr>
          <a:xfrm>
            <a:off x="1732685" y="5999019"/>
            <a:ext cx="1016714" cy="1384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검사 </a:t>
            </a:r>
            <a:r>
              <a:rPr kumimoji="1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오검</a:t>
            </a:r>
            <a:endParaRPr kumimoji="1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/>
              <a:ea typeface="LG스마트체 Regular"/>
              <a:cs typeface="+mn-cs"/>
            </a:endParaRP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7AC38ACA-DF0D-3DAF-F44D-46AF6FFD69F4}"/>
              </a:ext>
            </a:extLst>
          </p:cNvPr>
          <p:cNvCxnSpPr>
            <a:cxnSpLocks/>
            <a:stCxn id="58" idx="3"/>
            <a:endCxn id="95" idx="1"/>
          </p:cNvCxnSpPr>
          <p:nvPr/>
        </p:nvCxnSpPr>
        <p:spPr>
          <a:xfrm>
            <a:off x="1345170" y="4804805"/>
            <a:ext cx="387515" cy="12634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BC65E75D-53F9-9800-4253-9BDEEFA9FB02}"/>
              </a:ext>
            </a:extLst>
          </p:cNvPr>
          <p:cNvSpPr txBox="1"/>
          <p:nvPr/>
        </p:nvSpPr>
        <p:spPr>
          <a:xfrm>
            <a:off x="1732685" y="6281979"/>
            <a:ext cx="1016714" cy="1384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재료 기인</a:t>
            </a:r>
          </a:p>
        </p:txBody>
      </p: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E6BB3C4A-8A8C-2108-1AF0-B287B111F307}"/>
              </a:ext>
            </a:extLst>
          </p:cNvPr>
          <p:cNvCxnSpPr>
            <a:cxnSpLocks/>
            <a:stCxn id="58" idx="3"/>
            <a:endCxn id="100" idx="1"/>
          </p:cNvCxnSpPr>
          <p:nvPr/>
        </p:nvCxnSpPr>
        <p:spPr>
          <a:xfrm>
            <a:off x="1345170" y="4804805"/>
            <a:ext cx="387515" cy="15464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D6037DE0-57D0-A027-47F5-D73A5B4D7755}"/>
              </a:ext>
            </a:extLst>
          </p:cNvPr>
          <p:cNvSpPr txBox="1"/>
          <p:nvPr/>
        </p:nvSpPr>
        <p:spPr>
          <a:xfrm>
            <a:off x="1732685" y="5711707"/>
            <a:ext cx="1016714" cy="1384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설비 기구 기인</a:t>
            </a: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9E51EC71-05D4-A451-B5A5-F38C51A0D227}"/>
              </a:ext>
            </a:extLst>
          </p:cNvPr>
          <p:cNvCxnSpPr>
            <a:cxnSpLocks/>
            <a:stCxn id="58" idx="3"/>
            <a:endCxn id="106" idx="1"/>
          </p:cNvCxnSpPr>
          <p:nvPr/>
        </p:nvCxnSpPr>
        <p:spPr>
          <a:xfrm>
            <a:off x="1345170" y="4804805"/>
            <a:ext cx="387515" cy="9761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35A655E-7466-D11F-6AC4-2462296579CF}"/>
              </a:ext>
            </a:extLst>
          </p:cNvPr>
          <p:cNvSpPr txBox="1"/>
          <p:nvPr/>
        </p:nvSpPr>
        <p:spPr>
          <a:xfrm>
            <a:off x="3229981" y="6281979"/>
            <a:ext cx="1016714" cy="1384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Bending</a:t>
            </a:r>
            <a:endParaRPr kumimoji="1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/>
              <a:ea typeface="LG스마트체 Regular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CACE22D-B627-D8B2-AB39-0F1804F66549}"/>
              </a:ext>
            </a:extLst>
          </p:cNvPr>
          <p:cNvSpPr txBox="1"/>
          <p:nvPr/>
        </p:nvSpPr>
        <p:spPr>
          <a:xfrm>
            <a:off x="3229981" y="5711707"/>
            <a:ext cx="1016714" cy="1384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Belt 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형태</a:t>
            </a: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F3A7E46E-F7AB-1F6F-A8F9-7AC95145136D}"/>
              </a:ext>
            </a:extLst>
          </p:cNvPr>
          <p:cNvCxnSpPr>
            <a:cxnSpLocks/>
            <a:stCxn id="106" idx="3"/>
            <a:endCxn id="115" idx="1"/>
          </p:cNvCxnSpPr>
          <p:nvPr/>
        </p:nvCxnSpPr>
        <p:spPr>
          <a:xfrm>
            <a:off x="2749399" y="5780957"/>
            <a:ext cx="480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FE00619-875F-696E-25BA-68BB14C44E46}"/>
              </a:ext>
            </a:extLst>
          </p:cNvPr>
          <p:cNvCxnSpPr>
            <a:cxnSpLocks/>
            <a:stCxn id="100" idx="3"/>
            <a:endCxn id="112" idx="1"/>
          </p:cNvCxnSpPr>
          <p:nvPr/>
        </p:nvCxnSpPr>
        <p:spPr>
          <a:xfrm>
            <a:off x="2749399" y="6351229"/>
            <a:ext cx="480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B873794D-6C16-D9B9-5EE3-1D7F6B415E6A}"/>
              </a:ext>
            </a:extLst>
          </p:cNvPr>
          <p:cNvSpPr txBox="1"/>
          <p:nvPr/>
        </p:nvSpPr>
        <p:spPr>
          <a:xfrm>
            <a:off x="1732685" y="6513539"/>
            <a:ext cx="1016714" cy="1384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공정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(</a:t>
            </a:r>
            <a:r>
              <a:rPr kumimoji="1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라미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)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간 영향</a:t>
            </a: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69184256-0B53-CE96-7180-22C6D9DE1034}"/>
              </a:ext>
            </a:extLst>
          </p:cNvPr>
          <p:cNvCxnSpPr>
            <a:cxnSpLocks/>
            <a:stCxn id="58" idx="3"/>
            <a:endCxn id="129" idx="1"/>
          </p:cNvCxnSpPr>
          <p:nvPr/>
        </p:nvCxnSpPr>
        <p:spPr>
          <a:xfrm>
            <a:off x="1345170" y="4804805"/>
            <a:ext cx="387515" cy="17779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96218040-5DEA-F2B1-5D5F-8E47536EBD8D}"/>
              </a:ext>
            </a:extLst>
          </p:cNvPr>
          <p:cNvSpPr txBox="1"/>
          <p:nvPr/>
        </p:nvSpPr>
        <p:spPr>
          <a:xfrm>
            <a:off x="3229981" y="6513539"/>
            <a:ext cx="1016714" cy="1384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18000" rIns="0" bIns="18000" anchor="ctr">
            <a:spAutoFit/>
          </a:bodyPr>
          <a:lstStyle>
            <a:defPPr>
              <a:defRPr lang="ko-KR"/>
            </a:defPPr>
            <a:lvl1pPr algn="ctr">
              <a:defRPr kumimoji="1" sz="900" b="1">
                <a:latin typeface="+mn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재료교체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/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+mn-cs"/>
              </a:rPr>
              <a:t>정상 시점</a:t>
            </a: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3BDC82A2-B86F-1AE3-24FA-14D95F734BC2}"/>
              </a:ext>
            </a:extLst>
          </p:cNvPr>
          <p:cNvCxnSpPr>
            <a:cxnSpLocks/>
            <a:stCxn id="129" idx="3"/>
            <a:endCxn id="134" idx="1"/>
          </p:cNvCxnSpPr>
          <p:nvPr/>
        </p:nvCxnSpPr>
        <p:spPr>
          <a:xfrm>
            <a:off x="2749399" y="6582789"/>
            <a:ext cx="480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8F55437D-D7B8-BBFA-F855-2FA19670BAC6}"/>
              </a:ext>
            </a:extLst>
          </p:cNvPr>
          <p:cNvSpPr txBox="1"/>
          <p:nvPr/>
        </p:nvSpPr>
        <p:spPr>
          <a:xfrm>
            <a:off x="193482" y="4227409"/>
            <a:ext cx="4612429" cy="44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7917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554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Y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축 계단식 적재 현상에 영향을 줄 수 있는 인자를 설비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 관점으로 구분하여 분석한 결과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현재까지 검사는 정상적으로 수행되고 있음을 확인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39" name="연결선: 꺾임 138">
            <a:extLst>
              <a:ext uri="{FF2B5EF4-FFF2-40B4-BE49-F238E27FC236}">
                <a16:creationId xmlns:a16="http://schemas.microsoft.com/office/drawing/2014/main" id="{BC6E9CF4-7B05-D93E-288D-6F11D02878D3}"/>
              </a:ext>
            </a:extLst>
          </p:cNvPr>
          <p:cNvCxnSpPr>
            <a:cxnSpLocks/>
            <a:stCxn id="59" idx="3"/>
            <a:endCxn id="67" idx="1"/>
          </p:cNvCxnSpPr>
          <p:nvPr/>
        </p:nvCxnSpPr>
        <p:spPr>
          <a:xfrm>
            <a:off x="2749399" y="4804805"/>
            <a:ext cx="480582" cy="4551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8152FC23-12C4-B2F4-D9DB-16202038DB7E}"/>
              </a:ext>
            </a:extLst>
          </p:cNvPr>
          <p:cNvCxnSpPr>
            <a:cxnSpLocks/>
            <a:stCxn id="59" idx="3"/>
            <a:endCxn id="75" idx="1"/>
          </p:cNvCxnSpPr>
          <p:nvPr/>
        </p:nvCxnSpPr>
        <p:spPr>
          <a:xfrm>
            <a:off x="2749399" y="4804805"/>
            <a:ext cx="480582" cy="6663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5" name="그림 144">
            <a:extLst>
              <a:ext uri="{FF2B5EF4-FFF2-40B4-BE49-F238E27FC236}">
                <a16:creationId xmlns:a16="http://schemas.microsoft.com/office/drawing/2014/main" id="{2392C69B-18BD-D745-4CFB-BA636E2266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79" t="17787" r="5373" b="40192"/>
          <a:stretch/>
        </p:blipFill>
        <p:spPr>
          <a:xfrm>
            <a:off x="5321445" y="2361233"/>
            <a:ext cx="1359303" cy="709035"/>
          </a:xfrm>
          <a:prstGeom prst="rect">
            <a:avLst/>
          </a:prstGeom>
        </p:spPr>
      </p:pic>
      <p:pic>
        <p:nvPicPr>
          <p:cNvPr id="146" name="그림 145">
            <a:extLst>
              <a:ext uri="{FF2B5EF4-FFF2-40B4-BE49-F238E27FC236}">
                <a16:creationId xmlns:a16="http://schemas.microsoft.com/office/drawing/2014/main" id="{23DFC738-B7B1-2FD1-AA85-9BA3087530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85" t="20215" b="32491"/>
          <a:stretch/>
        </p:blipFill>
        <p:spPr>
          <a:xfrm>
            <a:off x="6730347" y="2364892"/>
            <a:ext cx="1466459" cy="706971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E30BDF5E-594E-FC6A-C405-FFA92A97CDD7}"/>
              </a:ext>
            </a:extLst>
          </p:cNvPr>
          <p:cNvSpPr txBox="1"/>
          <p:nvPr/>
        </p:nvSpPr>
        <p:spPr>
          <a:xfrm>
            <a:off x="8220390" y="2369501"/>
            <a:ext cx="1676373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MI_LS 2-2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호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일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시경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계단식 적재가 발생한 시점의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Mono-cell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상태를 확인한 결과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한쪽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Tab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부만 바닥에서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이격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되어 있는 현상 확인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BD44C5-C404-57EC-5E33-CCB0DE5CB4ED}"/>
              </a:ext>
            </a:extLst>
          </p:cNvPr>
          <p:cNvSpPr txBox="1"/>
          <p:nvPr/>
        </p:nvSpPr>
        <p:spPr>
          <a:xfrm>
            <a:off x="5031788" y="3293144"/>
            <a:ext cx="4709159" cy="853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2.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부 원인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설비 기구 기인</a:t>
            </a:r>
            <a:b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장변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밴딩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현상이 발생하는 사이트는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MI_LS, HD, OT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로 확인되었습니다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반면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동일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현상이 발생하지 않는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MI_HL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의 경우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Conveyor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열 벨트로 구성되어 있으며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밴딩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발생 사이트의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Conveyor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구조와 차이가 있는 것으로 확인되었습니다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02FCF0B-7604-3862-DF9F-5F611E16AFC5}"/>
              </a:ext>
            </a:extLst>
          </p:cNvPr>
          <p:cNvSpPr txBox="1"/>
          <p:nvPr/>
        </p:nvSpPr>
        <p:spPr>
          <a:xfrm>
            <a:off x="5031788" y="4169703"/>
            <a:ext cx="4709159" cy="1241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3.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부 원인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공정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간 영향</a:t>
            </a:r>
            <a:b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계단식 적재가 발생한 시점을 분석한 결과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약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40%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양극 재료 교체 구간과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연관되어 있는 것으로 확인되었습니다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재료 교체 과정에서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Y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축 위치 변동이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발생하였으며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해당 시점의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Align Cy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데이터에서도 동일한 변동이 확인되었습니다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또한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Cell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Conveyor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벨트 상에서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편측으로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치우치는 현상이 관측되어 적재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안정성에 영향을 미친 것으로 판단됩니다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B2F8D5-9436-BD12-94A3-F800D083626B}"/>
              </a:ext>
            </a:extLst>
          </p:cNvPr>
          <p:cNvSpPr txBox="1"/>
          <p:nvPr/>
        </p:nvSpPr>
        <p:spPr>
          <a:xfrm>
            <a:off x="5097016" y="5676518"/>
            <a:ext cx="4643931" cy="632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defTabSz="457200" latinLnBrk="0">
              <a:lnSpc>
                <a:spcPct val="120000"/>
              </a:lnSpc>
              <a:defRPr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1. Global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Site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대상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장변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밴딩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Long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Edge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Bending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 기인 계단식 적재 현황 분석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2. 계단식 적재 발생 사전 인지 방안 분석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3. LAMI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Final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Vision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데이터 연계 분석을 통한 발생 조건 규명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85D959-BF1E-2490-FBE6-F78EC38B2B05}"/>
              </a:ext>
            </a:extLst>
          </p:cNvPr>
          <p:cNvSpPr/>
          <p:nvPr/>
        </p:nvSpPr>
        <p:spPr bwMode="auto">
          <a:xfrm rot="20352034">
            <a:off x="4071753" y="4717064"/>
            <a:ext cx="576064" cy="179856"/>
          </a:xfrm>
          <a:prstGeom prst="rect">
            <a:avLst/>
          </a:prstGeom>
          <a:solidFill>
            <a:srgbClr val="0000FF"/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영향 인자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87E975-C720-883C-3B2C-DDD3DA0C0F5E}"/>
              </a:ext>
            </a:extLst>
          </p:cNvPr>
          <p:cNvSpPr/>
          <p:nvPr/>
        </p:nvSpPr>
        <p:spPr bwMode="auto">
          <a:xfrm rot="20352034">
            <a:off x="4071753" y="4949601"/>
            <a:ext cx="576064" cy="179856"/>
          </a:xfrm>
          <a:prstGeom prst="rect">
            <a:avLst/>
          </a:prstGeom>
          <a:solidFill>
            <a:srgbClr val="0000FF"/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영향 인자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43A019-48BA-CF6E-BBF7-CAF578795CE8}"/>
              </a:ext>
            </a:extLst>
          </p:cNvPr>
          <p:cNvSpPr/>
          <p:nvPr/>
        </p:nvSpPr>
        <p:spPr bwMode="auto">
          <a:xfrm rot="20352034">
            <a:off x="4071753" y="5182374"/>
            <a:ext cx="576064" cy="179856"/>
          </a:xfrm>
          <a:prstGeom prst="rect">
            <a:avLst/>
          </a:prstGeom>
          <a:solidFill>
            <a:srgbClr val="0000FF"/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영향 인자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6F7F27-80F0-AD59-2E02-481B2D64653F}"/>
              </a:ext>
            </a:extLst>
          </p:cNvPr>
          <p:cNvSpPr/>
          <p:nvPr/>
        </p:nvSpPr>
        <p:spPr bwMode="auto">
          <a:xfrm rot="20352034">
            <a:off x="4071753" y="5399119"/>
            <a:ext cx="576064" cy="179856"/>
          </a:xfrm>
          <a:prstGeom prst="rect">
            <a:avLst/>
          </a:prstGeom>
          <a:solidFill>
            <a:srgbClr val="0000FF"/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영향 인자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BA92EA-0FE9-27BB-E3E0-76613862FC03}"/>
              </a:ext>
            </a:extLst>
          </p:cNvPr>
          <p:cNvSpPr/>
          <p:nvPr/>
        </p:nvSpPr>
        <p:spPr bwMode="auto">
          <a:xfrm rot="20352034">
            <a:off x="2605759" y="5968752"/>
            <a:ext cx="576064" cy="179856"/>
          </a:xfrm>
          <a:prstGeom prst="rect">
            <a:avLst/>
          </a:prstGeom>
          <a:solidFill>
            <a:srgbClr val="0000FF"/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영향 인자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25413C-58DA-18A5-6E2C-CC2E986BE7C4}"/>
              </a:ext>
            </a:extLst>
          </p:cNvPr>
          <p:cNvSpPr/>
          <p:nvPr/>
        </p:nvSpPr>
        <p:spPr bwMode="auto">
          <a:xfrm rot="20352034">
            <a:off x="4071753" y="6185762"/>
            <a:ext cx="576064" cy="179856"/>
          </a:xfrm>
          <a:prstGeom prst="rect">
            <a:avLst/>
          </a:prstGeom>
          <a:solidFill>
            <a:schemeClr val="accent2">
              <a:lumMod val="50000"/>
            </a:schemeClr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주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영향인자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C944A1-A561-E4BD-DF90-94BB60F30488}"/>
              </a:ext>
            </a:extLst>
          </p:cNvPr>
          <p:cNvSpPr/>
          <p:nvPr/>
        </p:nvSpPr>
        <p:spPr bwMode="auto">
          <a:xfrm rot="20352034">
            <a:off x="4071752" y="5700275"/>
            <a:ext cx="576064" cy="17985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부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영향인자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32D1794-A33B-9403-54E6-ED86F3AEF97D}"/>
              </a:ext>
            </a:extLst>
          </p:cNvPr>
          <p:cNvSpPr/>
          <p:nvPr/>
        </p:nvSpPr>
        <p:spPr bwMode="auto">
          <a:xfrm rot="20352034">
            <a:off x="4071752" y="6492859"/>
            <a:ext cx="576064" cy="17985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부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영향인자</a:t>
            </a:r>
          </a:p>
        </p:txBody>
      </p:sp>
      <p:sp>
        <p:nvSpPr>
          <p:cNvPr id="26" name="실행 단추: 홈 21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DEEB430C-0C44-3812-FFBF-4730A9F963B7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233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>
            <a:extLst>
              <a:ext uri="{FF2B5EF4-FFF2-40B4-BE49-F238E27FC236}">
                <a16:creationId xmlns:a16="http://schemas.microsoft.com/office/drawing/2014/main" id="{6EEC90DA-0010-473A-BA28-ACAEC689F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3" y="3018"/>
            <a:ext cx="7632024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밴딩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검증을 위한 데이터 분석</a:t>
            </a:r>
          </a:p>
        </p:txBody>
      </p:sp>
      <p:sp>
        <p:nvSpPr>
          <p:cNvPr id="6" name="Line 54">
            <a:extLst>
              <a:ext uri="{FF2B5EF4-FFF2-40B4-BE49-F238E27FC236}">
                <a16:creationId xmlns:a16="http://schemas.microsoft.com/office/drawing/2014/main" id="{531EBFAF-37C0-4B62-A005-5DE5838E4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2" y="303041"/>
            <a:ext cx="2373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BCFEC-29FB-6365-917B-F11818493943}"/>
              </a:ext>
            </a:extLst>
          </p:cNvPr>
          <p:cNvSpPr txBox="1"/>
          <p:nvPr/>
        </p:nvSpPr>
        <p:spPr>
          <a:xfrm>
            <a:off x="8055517" y="62763"/>
            <a:ext cx="1515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자료제작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조립자동보정팀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A66789-1D79-DF4B-455E-FC10A3C72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703" y="1269047"/>
            <a:ext cx="6613587" cy="545446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523119-D74B-74C0-38E3-2FB504F299C9}"/>
              </a:ext>
            </a:extLst>
          </p:cNvPr>
          <p:cNvSpPr/>
          <p:nvPr/>
        </p:nvSpPr>
        <p:spPr bwMode="auto">
          <a:xfrm>
            <a:off x="200472" y="1340768"/>
            <a:ext cx="2952328" cy="607875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t"/>
          <a:lstStyle/>
          <a:p>
            <a:pPr marL="0" marR="0" lvl="0" indent="0" algn="l" defTabSz="1042298" rtl="0" eaLnBrk="1" fontAlgn="base" latinLnBrk="0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전장길이 측정 방식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*. Align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비전 상하부에서 카메라 끝단에서 양극 끝단까지 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거리를 측정하고 이를 합산하여 양극 전장길이 측정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D15966-D75B-B8AB-F916-5990F5FAAB49}"/>
              </a:ext>
            </a:extLst>
          </p:cNvPr>
          <p:cNvSpPr txBox="1"/>
          <p:nvPr/>
        </p:nvSpPr>
        <p:spPr>
          <a:xfrm>
            <a:off x="331782" y="2131932"/>
            <a:ext cx="18122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상부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Align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비전 검사 측정 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459B979-1A9A-2F3B-1333-24369E64BDBF}"/>
              </a:ext>
            </a:extLst>
          </p:cNvPr>
          <p:cNvGrpSpPr/>
          <p:nvPr/>
        </p:nvGrpSpPr>
        <p:grpSpPr>
          <a:xfrm>
            <a:off x="553004" y="2402799"/>
            <a:ext cx="1409533" cy="3054542"/>
            <a:chOff x="655105" y="4549756"/>
            <a:chExt cx="851750" cy="188388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4EE6ABF-4B47-8C54-A04F-439033E93CD3}"/>
                </a:ext>
              </a:extLst>
            </p:cNvPr>
            <p:cNvSpPr/>
            <p:nvPr/>
          </p:nvSpPr>
          <p:spPr>
            <a:xfrm flipH="1">
              <a:off x="655105" y="4649734"/>
              <a:ext cx="851750" cy="16649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B4F4309-02C3-96D7-C590-0456332C2676}"/>
                </a:ext>
              </a:extLst>
            </p:cNvPr>
            <p:cNvSpPr/>
            <p:nvPr/>
          </p:nvSpPr>
          <p:spPr>
            <a:xfrm flipH="1">
              <a:off x="757648" y="4700444"/>
              <a:ext cx="622127" cy="155417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87D2D5F-3492-147F-1C5C-39F03E93C555}"/>
                </a:ext>
              </a:extLst>
            </p:cNvPr>
            <p:cNvSpPr/>
            <p:nvPr/>
          </p:nvSpPr>
          <p:spPr>
            <a:xfrm flipH="1">
              <a:off x="957250" y="4549756"/>
              <a:ext cx="222926" cy="150235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B64410C-2984-3E39-AEFF-C81B44A088B1}"/>
                </a:ext>
              </a:extLst>
            </p:cNvPr>
            <p:cNvSpPr/>
            <p:nvPr/>
          </p:nvSpPr>
          <p:spPr>
            <a:xfrm flipH="1">
              <a:off x="847820" y="4755619"/>
              <a:ext cx="443095" cy="143031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C678D33-AB01-8920-2CFA-D86B6F795EB0}"/>
                </a:ext>
              </a:extLst>
            </p:cNvPr>
            <p:cNvSpPr/>
            <p:nvPr/>
          </p:nvSpPr>
          <p:spPr>
            <a:xfrm flipH="1">
              <a:off x="957906" y="6192712"/>
              <a:ext cx="222926" cy="2409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8149B49-F71E-5190-9857-6987F30FC6A0}"/>
              </a:ext>
            </a:extLst>
          </p:cNvPr>
          <p:cNvSpPr/>
          <p:nvPr/>
        </p:nvSpPr>
        <p:spPr>
          <a:xfrm>
            <a:off x="331781" y="4594604"/>
            <a:ext cx="1812202" cy="1066752"/>
          </a:xfrm>
          <a:prstGeom prst="rect">
            <a:avLst/>
          </a:prstGeom>
          <a:solidFill>
            <a:schemeClr val="accent1">
              <a:alpha val="1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74E8DA6-8FAD-425F-7665-5F0F647C80CC}"/>
              </a:ext>
            </a:extLst>
          </p:cNvPr>
          <p:cNvSpPr/>
          <p:nvPr/>
        </p:nvSpPr>
        <p:spPr>
          <a:xfrm>
            <a:off x="1143396" y="3841986"/>
            <a:ext cx="234890" cy="2301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705EBAA-A9AB-E720-6D52-4B434DC446D3}"/>
              </a:ext>
            </a:extLst>
          </p:cNvPr>
          <p:cNvSpPr/>
          <p:nvPr/>
        </p:nvSpPr>
        <p:spPr>
          <a:xfrm>
            <a:off x="152724" y="3185375"/>
            <a:ext cx="2142711" cy="207604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 Smart UI Regular" panose="020B0500000101010101" pitchFamily="50" charset="-127"/>
                <a:cs typeface="+mn-cs"/>
              </a:rPr>
              <a:t>OP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 Smart UI Regular" panose="020B0500000101010101" pitchFamily="50" charset="-127"/>
                <a:cs typeface="+mn-cs"/>
              </a:rPr>
              <a:t>부 컨베이어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D118CA-EACE-BBFA-4213-C2A6E853C5EC}"/>
              </a:ext>
            </a:extLst>
          </p:cNvPr>
          <p:cNvSpPr/>
          <p:nvPr/>
        </p:nvSpPr>
        <p:spPr>
          <a:xfrm>
            <a:off x="154501" y="4243566"/>
            <a:ext cx="2170695" cy="168653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 Smart UI Regular" panose="020B0500000101010101" pitchFamily="50" charset="-127"/>
                <a:cs typeface="+mn-cs"/>
              </a:rPr>
              <a:t>MC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 Smart UI Regular" panose="020B0500000101010101" pitchFamily="50" charset="-127"/>
                <a:cs typeface="+mn-cs"/>
              </a:rPr>
              <a:t>부 컨베이어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3F0B8FA-5C52-F514-48ED-17E1CDD979BD}"/>
              </a:ext>
            </a:extLst>
          </p:cNvPr>
          <p:cNvCxnSpPr/>
          <p:nvPr/>
        </p:nvCxnSpPr>
        <p:spPr>
          <a:xfrm>
            <a:off x="1042398" y="2736587"/>
            <a:ext cx="0" cy="379246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1A3CB4A-8887-980E-56B2-A0A16AD79DB4}"/>
              </a:ext>
            </a:extLst>
          </p:cNvPr>
          <p:cNvCxnSpPr>
            <a:cxnSpLocks/>
          </p:cNvCxnSpPr>
          <p:nvPr/>
        </p:nvCxnSpPr>
        <p:spPr>
          <a:xfrm>
            <a:off x="1042398" y="4594604"/>
            <a:ext cx="0" cy="461110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6BCF24-1D78-FF43-9BC1-00969E7C7136}"/>
              </a:ext>
            </a:extLst>
          </p:cNvPr>
          <p:cNvSpPr txBox="1"/>
          <p:nvPr/>
        </p:nvSpPr>
        <p:spPr>
          <a:xfrm>
            <a:off x="116462" y="323251"/>
            <a:ext cx="97869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defTabSz="44865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137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</a:lstStyle>
          <a:p>
            <a:r>
              <a:rPr lang="en-US" altLang="ko-KR" dirty="0"/>
              <a:t>ESMI_LS</a:t>
            </a:r>
            <a:r>
              <a:rPr lang="ko-KR" altLang="en-US" dirty="0"/>
              <a:t>의 계단식 적재 발생 구간을 분석한 결과</a:t>
            </a:r>
            <a:r>
              <a:rPr lang="en-US" altLang="ko-KR" dirty="0"/>
              <a:t>, Mono Align </a:t>
            </a:r>
            <a:r>
              <a:rPr lang="ko-KR" altLang="en-US" dirty="0"/>
              <a:t>비전에서 측정되는 양극 전장 길이가 감소하는 경향이 확인되었습니다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Mono-cell</a:t>
            </a:r>
            <a:r>
              <a:rPr lang="ko-KR" altLang="en-US" dirty="0"/>
              <a:t>에 전장 방향 </a:t>
            </a:r>
            <a:r>
              <a:rPr lang="ko-KR" altLang="en-US" dirty="0" err="1"/>
              <a:t>밴딩이</a:t>
            </a:r>
            <a:r>
              <a:rPr lang="ko-KR" altLang="en-US" dirty="0"/>
              <a:t> 발생했음을 시사하며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ko-KR" altLang="en-US" dirty="0" err="1"/>
              <a:t>밴딩으로</a:t>
            </a:r>
            <a:r>
              <a:rPr lang="ko-KR" altLang="en-US" dirty="0"/>
              <a:t> 인해 </a:t>
            </a:r>
            <a:r>
              <a:rPr lang="en-US" altLang="ko-KR" dirty="0"/>
              <a:t>Mono Align </a:t>
            </a:r>
            <a:r>
              <a:rPr lang="ko-KR" altLang="en-US" dirty="0"/>
              <a:t>비전에서 양극 중심 위치를 </a:t>
            </a:r>
            <a:r>
              <a:rPr lang="ko-KR" altLang="en-US" dirty="0" err="1"/>
              <a:t>오인식함에</a:t>
            </a:r>
            <a:r>
              <a:rPr lang="ko-KR" altLang="en-US" dirty="0"/>
              <a:t> 따라 계단식 적재가 발생하는 것으로 판단됩니다</a:t>
            </a:r>
            <a:r>
              <a:rPr lang="en-US" altLang="ko-KR" dirty="0"/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AB7F92B-E1C5-0E6B-8197-DA7AD94B3AD1}"/>
              </a:ext>
            </a:extLst>
          </p:cNvPr>
          <p:cNvCxnSpPr>
            <a:cxnSpLocks/>
          </p:cNvCxnSpPr>
          <p:nvPr/>
        </p:nvCxnSpPr>
        <p:spPr>
          <a:xfrm>
            <a:off x="3624158" y="3518938"/>
            <a:ext cx="29793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E22849E-17D0-9A30-4DA0-CE0D6B0DE360}"/>
              </a:ext>
            </a:extLst>
          </p:cNvPr>
          <p:cNvCxnSpPr>
            <a:cxnSpLocks/>
          </p:cNvCxnSpPr>
          <p:nvPr/>
        </p:nvCxnSpPr>
        <p:spPr>
          <a:xfrm>
            <a:off x="6796871" y="3590946"/>
            <a:ext cx="29435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D4980A4-5B99-53B1-DC72-7BEC596A557F}"/>
              </a:ext>
            </a:extLst>
          </p:cNvPr>
          <p:cNvSpPr txBox="1"/>
          <p:nvPr/>
        </p:nvSpPr>
        <p:spPr>
          <a:xfrm>
            <a:off x="331782" y="5555916"/>
            <a:ext cx="18122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상부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Align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비전 검사 측정 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4FBCCB-7A46-BF44-C84E-A11DD80D1E58}"/>
              </a:ext>
            </a:extLst>
          </p:cNvPr>
          <p:cNvSpPr/>
          <p:nvPr/>
        </p:nvSpPr>
        <p:spPr>
          <a:xfrm>
            <a:off x="331781" y="2125912"/>
            <a:ext cx="1812202" cy="989921"/>
          </a:xfrm>
          <a:prstGeom prst="rect">
            <a:avLst/>
          </a:prstGeom>
          <a:solidFill>
            <a:schemeClr val="accent1">
              <a:alpha val="1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4C8334-3E92-9287-967F-313C57C9F334}"/>
              </a:ext>
            </a:extLst>
          </p:cNvPr>
          <p:cNvSpPr txBox="1"/>
          <p:nvPr/>
        </p:nvSpPr>
        <p:spPr>
          <a:xfrm>
            <a:off x="871921" y="2884834"/>
            <a:ext cx="91714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전장길이 측정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AE91E7-428C-7E7B-8904-E92D6B6CC8FF}"/>
              </a:ext>
            </a:extLst>
          </p:cNvPr>
          <p:cNvSpPr txBox="1"/>
          <p:nvPr/>
        </p:nvSpPr>
        <p:spPr>
          <a:xfrm>
            <a:off x="871921" y="4715990"/>
            <a:ext cx="91714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전장길이 측정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실행 단추: 홈 21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87835B5-B168-756C-B696-55201F8EEBF4}"/>
              </a:ext>
            </a:extLst>
          </p:cNvPr>
          <p:cNvSpPr/>
          <p:nvPr/>
        </p:nvSpPr>
        <p:spPr>
          <a:xfrm>
            <a:off x="9634122" y="34918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775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53934-343F-84F7-5113-4EFFE82C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텍스트 개체 틀 2">
            <a:extLst>
              <a:ext uri="{FF2B5EF4-FFF2-40B4-BE49-F238E27FC236}">
                <a16:creationId xmlns:a16="http://schemas.microsoft.com/office/drawing/2014/main" id="{DD9742A9-A3C8-11DB-EA45-F429C82E93EF}"/>
              </a:ext>
            </a:extLst>
          </p:cNvPr>
          <p:cNvSpPr txBox="1">
            <a:spLocks/>
          </p:cNvSpPr>
          <p:nvPr/>
        </p:nvSpPr>
        <p:spPr>
          <a:xfrm>
            <a:off x="291281" y="641229"/>
            <a:ext cx="9311082" cy="42178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28606" indent="-228606" algn="l" defTabSz="914422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8" indent="-228606" algn="l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9" indent="-228606" algn="l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1" indent="-228606" algn="l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2" indent="-228606" algn="l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5" indent="-228606" algn="l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8" indent="-228606" algn="l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코터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슬러리온도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SV </a:t>
            </a:r>
            <a:r>
              <a:rPr kumimoji="0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수동조작건수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1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:351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 8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:34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건으로 </a:t>
            </a:r>
            <a:r>
              <a:rPr kumimoji="0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▼</a:t>
            </a:r>
            <a:r>
              <a:rPr kumimoji="0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90% </a:t>
            </a:r>
            <a:r>
              <a:rPr kumimoji="0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감소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하였습니다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.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</a:b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적용 전후 기술 효과는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로딩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Cpk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: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 ▲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9% ,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로딩좌우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평균 편차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▼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47% ,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슬러리온도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 산포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▼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44%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개선되었습니다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  <a:sym typeface="Wingdings" panose="05000000000000000000" pitchFamily="2" charset="2"/>
              </a:rPr>
              <a:t>.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Microsoft GothicNeo"/>
            </a:endParaRPr>
          </a:p>
        </p:txBody>
      </p:sp>
      <p:sp>
        <p:nvSpPr>
          <p:cNvPr id="26" name="제목 2">
            <a:extLst>
              <a:ext uri="{FF2B5EF4-FFF2-40B4-BE49-F238E27FC236}">
                <a16:creationId xmlns:a16="http://schemas.microsoft.com/office/drawing/2014/main" id="{D624E2EB-BCFC-42DF-C607-3299553B4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211800"/>
            <a:ext cx="4676885" cy="324000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latin typeface="Arial Narrow" panose="020B0606020202030204" pitchFamily="34" charset="0"/>
              </a:rPr>
              <a:t>유첨</a:t>
            </a:r>
            <a:r>
              <a:rPr lang="en-US" altLang="ko-KR" b="1" dirty="0">
                <a:latin typeface="Arial Narrow" panose="020B0606020202030204" pitchFamily="34" charset="0"/>
              </a:rPr>
              <a:t>.</a:t>
            </a:r>
            <a:r>
              <a:rPr lang="ko-KR" altLang="en-US" b="1" dirty="0">
                <a:latin typeface="Arial Narrow" panose="020B0606020202030204" pitchFamily="34" charset="0"/>
              </a:rPr>
              <a:t> 통합 </a:t>
            </a:r>
            <a:r>
              <a:rPr lang="ko-KR" altLang="en-US" b="1" dirty="0" err="1">
                <a:latin typeface="Arial Narrow" panose="020B0606020202030204" pitchFamily="34" charset="0"/>
              </a:rPr>
              <a:t>슬러리온도</a:t>
            </a:r>
            <a:r>
              <a:rPr lang="ko-KR" altLang="en-US" b="1" dirty="0">
                <a:latin typeface="Arial Narrow" panose="020B0606020202030204" pitchFamily="34" charset="0"/>
              </a:rPr>
              <a:t> 관리시스템 양산 적용 결과</a:t>
            </a:r>
            <a:endParaRPr lang="en-US" altLang="ko-KR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5A23191-22BF-07B8-B015-5F96BD9C463D}"/>
              </a:ext>
            </a:extLst>
          </p:cNvPr>
          <p:cNvGraphicFramePr>
            <a:graphicFrameLocks noGrp="1"/>
          </p:cNvGraphicFramePr>
          <p:nvPr/>
        </p:nvGraphicFramePr>
        <p:xfrm>
          <a:off x="5192366" y="5518440"/>
          <a:ext cx="4556139" cy="975360"/>
        </p:xfrm>
        <a:graphic>
          <a:graphicData uri="http://schemas.openxmlformats.org/drawingml/2006/table">
            <a:tbl>
              <a:tblPr firstRow="1" bandRow="1"/>
              <a:tblGrid>
                <a:gridCol w="1512000">
                  <a:extLst>
                    <a:ext uri="{9D8B030D-6E8A-4147-A177-3AD203B41FA5}">
                      <a16:colId xmlns:a16="http://schemas.microsoft.com/office/drawing/2014/main" val="289970437"/>
                    </a:ext>
                  </a:extLst>
                </a:gridCol>
                <a:gridCol w="810040">
                  <a:extLst>
                    <a:ext uri="{9D8B030D-6E8A-4147-A177-3AD203B41FA5}">
                      <a16:colId xmlns:a16="http://schemas.microsoft.com/office/drawing/2014/main" val="3137401533"/>
                    </a:ext>
                  </a:extLst>
                </a:gridCol>
                <a:gridCol w="810040">
                  <a:extLst>
                    <a:ext uri="{9D8B030D-6E8A-4147-A177-3AD203B41FA5}">
                      <a16:colId xmlns:a16="http://schemas.microsoft.com/office/drawing/2014/main" val="2162992459"/>
                    </a:ext>
                  </a:extLst>
                </a:gridCol>
                <a:gridCol w="810040">
                  <a:extLst>
                    <a:ext uri="{9D8B030D-6E8A-4147-A177-3AD203B41FA5}">
                      <a16:colId xmlns:a16="http://schemas.microsoft.com/office/drawing/2014/main" val="3473501024"/>
                    </a:ext>
                  </a:extLst>
                </a:gridCol>
                <a:gridCol w="614019">
                  <a:extLst>
                    <a:ext uri="{9D8B030D-6E8A-4147-A177-3AD203B41FA5}">
                      <a16:colId xmlns:a16="http://schemas.microsoft.com/office/drawing/2014/main" val="845623224"/>
                    </a:ext>
                  </a:extLst>
                </a:gridCol>
              </a:tblGrid>
              <a:tr h="17253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증감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591073"/>
                  </a:ext>
                </a:extLst>
              </a:tr>
              <a:tr h="1725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수동조작건수</a:t>
                      </a:r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/(10km)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0.497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0.022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0.053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90%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936535"/>
                  </a:ext>
                </a:extLst>
              </a:tr>
              <a:tr h="172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COT (</a:t>
                      </a:r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 수동조작건수</a:t>
                      </a:r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351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21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34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279829"/>
                  </a:ext>
                </a:extLst>
              </a:tr>
              <a:tr h="1725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생산량</a:t>
                      </a:r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7068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9742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6473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4756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E0154A-3A93-8EE2-EC6B-5E93F1BCD255}"/>
              </a:ext>
            </a:extLst>
          </p:cNvPr>
          <p:cNvSpPr txBox="1"/>
          <p:nvPr/>
        </p:nvSpPr>
        <p:spPr>
          <a:xfrm>
            <a:off x="8514725" y="5306019"/>
            <a:ext cx="1251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양산 모델 기준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양극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713B236-4BE6-BD15-5EFB-4903DC900347}"/>
              </a:ext>
            </a:extLst>
          </p:cNvPr>
          <p:cNvGraphicFramePr>
            <a:graphicFrameLocks noGrp="1"/>
          </p:cNvGraphicFramePr>
          <p:nvPr/>
        </p:nvGraphicFramePr>
        <p:xfrm>
          <a:off x="133590" y="5532051"/>
          <a:ext cx="4629600" cy="1051560"/>
        </p:xfrm>
        <a:graphic>
          <a:graphicData uri="http://schemas.openxmlformats.org/drawingml/2006/table">
            <a:tbl>
              <a:tblPr firstRow="1" bandRow="1"/>
              <a:tblGrid>
                <a:gridCol w="792000">
                  <a:extLst>
                    <a:ext uri="{9D8B030D-6E8A-4147-A177-3AD203B41FA5}">
                      <a16:colId xmlns:a16="http://schemas.microsoft.com/office/drawing/2014/main" val="352431137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303590012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3854382995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406257866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645790297"/>
                    </a:ext>
                  </a:extLst>
                </a:gridCol>
              </a:tblGrid>
              <a:tr h="287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 </a:t>
                      </a:r>
                      <a:r>
                        <a:rPr lang="en-US" altLang="ko-KR" sz="9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Top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rgbClr val="3737FF"/>
                          </a:solidFill>
                        </a:rPr>
                        <a:t>로딩프로파일</a:t>
                      </a:r>
                      <a:r>
                        <a:rPr lang="en-US" altLang="ko-KR" sz="900" b="1" dirty="0" err="1">
                          <a:solidFill>
                            <a:srgbClr val="3737FF"/>
                          </a:solidFill>
                        </a:rPr>
                        <a:t>Cpk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rgbClr val="3737FF"/>
                          </a:solidFill>
                        </a:rPr>
                        <a:t>로딩 좌우</a:t>
                      </a:r>
                      <a:r>
                        <a:rPr lang="en-US" altLang="ko-KR" sz="900" b="1" dirty="0">
                          <a:solidFill>
                            <a:srgbClr val="3737FF"/>
                          </a:solidFill>
                        </a:rPr>
                        <a:t>-</a:t>
                      </a:r>
                      <a:br>
                        <a:rPr lang="en-US" altLang="ko-KR" sz="900" b="1" dirty="0">
                          <a:solidFill>
                            <a:srgbClr val="3737FF"/>
                          </a:solidFill>
                        </a:rPr>
                      </a:br>
                      <a:r>
                        <a:rPr lang="ko-KR" altLang="en-US" sz="900" b="1" dirty="0">
                          <a:solidFill>
                            <a:srgbClr val="3737FF"/>
                          </a:solidFill>
                        </a:rPr>
                        <a:t>전체평균 편차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err="1">
                          <a:solidFill>
                            <a:srgbClr val="3737FF"/>
                          </a:solidFill>
                        </a:rPr>
                        <a:t>슬러리온도</a:t>
                      </a:r>
                      <a:r>
                        <a:rPr lang="ko-KR" altLang="en-US" sz="900" b="1" dirty="0">
                          <a:solidFill>
                            <a:srgbClr val="3737FF"/>
                          </a:solidFill>
                        </a:rPr>
                        <a:t> </a:t>
                      </a:r>
                      <a:br>
                        <a:rPr lang="en-US" altLang="ko-KR" sz="900" b="1" dirty="0">
                          <a:solidFill>
                            <a:srgbClr val="3737FF"/>
                          </a:solidFill>
                        </a:rPr>
                      </a:br>
                      <a:r>
                        <a:rPr lang="en-US" altLang="ko-KR" sz="900" b="1" dirty="0">
                          <a:solidFill>
                            <a:srgbClr val="3737FF"/>
                          </a:solidFill>
                        </a:rPr>
                        <a:t>SV-PV </a:t>
                      </a:r>
                      <a:r>
                        <a:rPr lang="ko-KR" altLang="en-US" sz="900" b="1" dirty="0">
                          <a:solidFill>
                            <a:srgbClr val="3737FF"/>
                          </a:solidFill>
                        </a:rPr>
                        <a:t>평균</a:t>
                      </a:r>
                      <a:r>
                        <a:rPr lang="en-US" altLang="ko-KR" sz="900" b="1" dirty="0">
                          <a:solidFill>
                            <a:srgbClr val="3737FF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3737FF"/>
                          </a:solidFill>
                        </a:rPr>
                        <a:t>℃</a:t>
                      </a:r>
                      <a:r>
                        <a:rPr lang="en-US" altLang="ko-KR" sz="900" b="1" dirty="0">
                          <a:solidFill>
                            <a:srgbClr val="3737FF"/>
                          </a:solidFill>
                        </a:rPr>
                        <a:t>)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rgbClr val="3737FF"/>
                          </a:solidFill>
                        </a:rPr>
                        <a:t>슬러리온도</a:t>
                      </a:r>
                      <a:r>
                        <a:rPr lang="en-US" altLang="ko-KR" sz="900" b="1" dirty="0">
                          <a:solidFill>
                            <a:srgbClr val="3737FF"/>
                          </a:solidFill>
                        </a:rPr>
                        <a:t>PV </a:t>
                      </a:r>
                      <a:br>
                        <a:rPr lang="en-US" altLang="ko-KR" sz="900" b="1" dirty="0">
                          <a:solidFill>
                            <a:srgbClr val="3737FF"/>
                          </a:solidFill>
                        </a:rPr>
                      </a:br>
                      <a:r>
                        <a:rPr lang="ko-KR" altLang="en-US" sz="900" b="1" dirty="0">
                          <a:solidFill>
                            <a:srgbClr val="3737FF"/>
                          </a:solidFill>
                        </a:rPr>
                        <a:t>산포</a:t>
                      </a:r>
                      <a:r>
                        <a:rPr lang="en-US" altLang="ko-KR" sz="900" b="1" dirty="0">
                          <a:solidFill>
                            <a:srgbClr val="3737FF"/>
                          </a:solidFill>
                        </a:rPr>
                        <a:t>(Max-Min)(</a:t>
                      </a:r>
                      <a:r>
                        <a:rPr lang="ko-KR" altLang="en-US" sz="900" b="1" dirty="0">
                          <a:solidFill>
                            <a:srgbClr val="3737FF"/>
                          </a:solidFill>
                        </a:rPr>
                        <a:t>℃</a:t>
                      </a:r>
                      <a:r>
                        <a:rPr lang="en-US" altLang="ko-KR" sz="900" b="1" dirty="0">
                          <a:solidFill>
                            <a:srgbClr val="3737FF"/>
                          </a:solidFill>
                        </a:rPr>
                        <a:t>)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113292127"/>
                  </a:ext>
                </a:extLst>
              </a:tr>
              <a:tr h="179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1.013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1.587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0.9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619434352"/>
                  </a:ext>
                </a:extLst>
              </a:tr>
              <a:tr h="179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후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1.118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0.84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0.1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01801984"/>
                  </a:ext>
                </a:extLst>
              </a:tr>
              <a:tr h="179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증감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▲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9%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47%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44%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0374336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84EE4C8-A86D-630F-A9EE-547F8CE5E73D}"/>
              </a:ext>
            </a:extLst>
          </p:cNvPr>
          <p:cNvSpPr txBox="1"/>
          <p:nvPr/>
        </p:nvSpPr>
        <p:spPr>
          <a:xfrm>
            <a:off x="3879571" y="5325069"/>
            <a:ext cx="1251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※ Dry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로딩 기준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E8E1FB9-CD54-E504-C3D4-2F73C0A9880E}"/>
              </a:ext>
            </a:extLst>
          </p:cNvPr>
          <p:cNvSpPr/>
          <p:nvPr/>
        </p:nvSpPr>
        <p:spPr>
          <a:xfrm>
            <a:off x="152640" y="1219266"/>
            <a:ext cx="4566936" cy="288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As-Was (8/28 0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~8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9378038-D942-3160-DB63-680F56B15915}"/>
              </a:ext>
            </a:extLst>
          </p:cNvPr>
          <p:cNvSpPr/>
          <p:nvPr/>
        </p:nvSpPr>
        <p:spPr>
          <a:xfrm>
            <a:off x="5161144" y="1219266"/>
            <a:ext cx="4592215" cy="288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As-Is (8/28 11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~17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5F0DB7-5939-C47C-41F1-81AA39593341}"/>
              </a:ext>
            </a:extLst>
          </p:cNvPr>
          <p:cNvSpPr txBox="1"/>
          <p:nvPr/>
        </p:nvSpPr>
        <p:spPr>
          <a:xfrm>
            <a:off x="5123270" y="5306019"/>
            <a:ext cx="1251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▷ 월별 수동조작건수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C58689-3198-9574-3A82-EED9BE253D6B}"/>
              </a:ext>
            </a:extLst>
          </p:cNvPr>
          <p:cNvSpPr txBox="1"/>
          <p:nvPr/>
        </p:nvSpPr>
        <p:spPr>
          <a:xfrm>
            <a:off x="89246" y="5306019"/>
            <a:ext cx="1251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▷ 기술 효과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CBD1FE-48E2-CDE1-486B-D4FD2B27B542}"/>
              </a:ext>
            </a:extLst>
          </p:cNvPr>
          <p:cNvGrpSpPr/>
          <p:nvPr/>
        </p:nvGrpSpPr>
        <p:grpSpPr>
          <a:xfrm>
            <a:off x="10042545" y="4914003"/>
            <a:ext cx="3869372" cy="1803923"/>
            <a:chOff x="10332405" y="3000858"/>
            <a:chExt cx="4958285" cy="2508216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3D4794C-DBC5-26E5-22A0-5763EA2A5E87}"/>
                </a:ext>
              </a:extLst>
            </p:cNvPr>
            <p:cNvGrpSpPr/>
            <p:nvPr/>
          </p:nvGrpSpPr>
          <p:grpSpPr>
            <a:xfrm>
              <a:off x="14082139" y="4788367"/>
              <a:ext cx="1208551" cy="456639"/>
              <a:chOff x="5982251" y="691520"/>
              <a:chExt cx="1208551" cy="456639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328484D-5426-765F-5244-0B71BA759EFC}"/>
                  </a:ext>
                </a:extLst>
              </p:cNvPr>
              <p:cNvSpPr txBox="1"/>
              <p:nvPr/>
            </p:nvSpPr>
            <p:spPr>
              <a:xfrm>
                <a:off x="6094186" y="917327"/>
                <a:ext cx="109661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 defTabSz="998538">
                  <a:spcBef>
                    <a:spcPts val="600"/>
                  </a:spcBef>
                  <a:defRPr sz="11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ctr" defTabSz="998538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로딩 평균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CF8556-679B-49BD-F6C4-0EB8F67E2F3B}"/>
                  </a:ext>
                </a:extLst>
              </p:cNvPr>
              <p:cNvSpPr txBox="1"/>
              <p:nvPr/>
            </p:nvSpPr>
            <p:spPr>
              <a:xfrm>
                <a:off x="6086014" y="691520"/>
                <a:ext cx="109661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 defTabSz="998538">
                  <a:spcBef>
                    <a:spcPts val="600"/>
                  </a:spcBef>
                  <a:defRPr sz="11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ctr" defTabSz="998538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로딩 단면</a:t>
                </a:r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E8A77D8B-01C2-4F93-287B-52F5D4022CC6}"/>
                  </a:ext>
                </a:extLst>
              </p:cNvPr>
              <p:cNvCxnSpPr/>
              <p:nvPr/>
            </p:nvCxnSpPr>
            <p:spPr>
              <a:xfrm>
                <a:off x="5982251" y="813733"/>
                <a:ext cx="36000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3C08F2FC-C96C-AD28-7ADD-20702EAC7284}"/>
                  </a:ext>
                </a:extLst>
              </p:cNvPr>
              <p:cNvCxnSpPr/>
              <p:nvPr/>
            </p:nvCxnSpPr>
            <p:spPr>
              <a:xfrm>
                <a:off x="5982251" y="1027489"/>
                <a:ext cx="360000" cy="0"/>
              </a:xfrm>
              <a:prstGeom prst="line">
                <a:avLst/>
              </a:prstGeom>
              <a:ln w="28575">
                <a:solidFill>
                  <a:srgbClr val="0000F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A28AD92-90B2-49D2-5A9A-67C9630A05E9}"/>
                </a:ext>
              </a:extLst>
            </p:cNvPr>
            <p:cNvGrpSpPr/>
            <p:nvPr/>
          </p:nvGrpSpPr>
          <p:grpSpPr>
            <a:xfrm>
              <a:off x="10332405" y="3000858"/>
              <a:ext cx="4680000" cy="2508216"/>
              <a:chOff x="10332405" y="3000858"/>
              <a:chExt cx="4680000" cy="2508216"/>
            </a:xfrm>
          </p:grpSpPr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844E642A-A388-093C-F2ED-3EA3F953994F}"/>
                  </a:ext>
                </a:extLst>
              </p:cNvPr>
              <p:cNvCxnSpPr/>
              <p:nvPr/>
            </p:nvCxnSpPr>
            <p:spPr>
              <a:xfrm>
                <a:off x="10512457" y="4310789"/>
                <a:ext cx="4298866" cy="0"/>
              </a:xfrm>
              <a:prstGeom prst="line">
                <a:avLst/>
              </a:prstGeom>
              <a:ln w="28575">
                <a:solidFill>
                  <a:srgbClr val="0000F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37245CD3-0CE8-663C-6108-2684B2C9B1EC}"/>
                  </a:ext>
                </a:extLst>
              </p:cNvPr>
              <p:cNvGrpSpPr/>
              <p:nvPr/>
            </p:nvGrpSpPr>
            <p:grpSpPr>
              <a:xfrm>
                <a:off x="10668444" y="3250478"/>
                <a:ext cx="4007922" cy="1777317"/>
                <a:chOff x="611579" y="4246637"/>
                <a:chExt cx="4007922" cy="1777317"/>
              </a:xfrm>
            </p:grpSpPr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D7717038-A049-AC30-2D71-5B6675CB63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79" y="4246637"/>
                  <a:ext cx="1056904" cy="1558488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432B0A47-6EFF-4459-BC00-CB935F976D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92286" y="4362970"/>
                  <a:ext cx="1027215" cy="1442155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자유형: 도형 30">
                  <a:extLst>
                    <a:ext uri="{FF2B5EF4-FFF2-40B4-BE49-F238E27FC236}">
                      <a16:creationId xmlns:a16="http://schemas.microsoft.com/office/drawing/2014/main" id="{B9D7304F-17B3-84DC-00F5-6DAE533EC8F0}"/>
                    </a:ext>
                  </a:extLst>
                </p:cNvPr>
                <p:cNvSpPr/>
                <p:nvPr/>
              </p:nvSpPr>
              <p:spPr>
                <a:xfrm>
                  <a:off x="1662545" y="5801276"/>
                  <a:ext cx="1929741" cy="222678"/>
                </a:xfrm>
                <a:custGeom>
                  <a:avLst/>
                  <a:gdLst>
                    <a:gd name="connsiteX0" fmla="*/ 0 w 1929741"/>
                    <a:gd name="connsiteY0" fmla="*/ 0 h 250041"/>
                    <a:gd name="connsiteX1" fmla="*/ 184068 w 1929741"/>
                    <a:gd name="connsiteY1" fmla="*/ 154380 h 250041"/>
                    <a:gd name="connsiteX2" fmla="*/ 463138 w 1929741"/>
                    <a:gd name="connsiteY2" fmla="*/ 231569 h 250041"/>
                    <a:gd name="connsiteX3" fmla="*/ 997528 w 1929741"/>
                    <a:gd name="connsiteY3" fmla="*/ 249382 h 250041"/>
                    <a:gd name="connsiteX4" fmla="*/ 1620982 w 1929741"/>
                    <a:gd name="connsiteY4" fmla="*/ 231569 h 250041"/>
                    <a:gd name="connsiteX5" fmla="*/ 1834738 w 1929741"/>
                    <a:gd name="connsiteY5" fmla="*/ 106878 h 250041"/>
                    <a:gd name="connsiteX6" fmla="*/ 1929741 w 1929741"/>
                    <a:gd name="connsiteY6" fmla="*/ 11876 h 250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29741" h="250041">
                      <a:moveTo>
                        <a:pt x="0" y="0"/>
                      </a:moveTo>
                      <a:cubicBezTo>
                        <a:pt x="53439" y="57892"/>
                        <a:pt x="106878" y="115785"/>
                        <a:pt x="184068" y="154380"/>
                      </a:cubicBezTo>
                      <a:cubicBezTo>
                        <a:pt x="261258" y="192975"/>
                        <a:pt x="327561" y="215735"/>
                        <a:pt x="463138" y="231569"/>
                      </a:cubicBezTo>
                      <a:cubicBezTo>
                        <a:pt x="598715" y="247403"/>
                        <a:pt x="804554" y="249382"/>
                        <a:pt x="997528" y="249382"/>
                      </a:cubicBezTo>
                      <a:cubicBezTo>
                        <a:pt x="1190502" y="249382"/>
                        <a:pt x="1481447" y="255320"/>
                        <a:pt x="1620982" y="231569"/>
                      </a:cubicBezTo>
                      <a:cubicBezTo>
                        <a:pt x="1760517" y="207818"/>
                        <a:pt x="1783278" y="143493"/>
                        <a:pt x="1834738" y="106878"/>
                      </a:cubicBezTo>
                      <a:cubicBezTo>
                        <a:pt x="1886198" y="70263"/>
                        <a:pt x="1907969" y="41069"/>
                        <a:pt x="1929741" y="11876"/>
                      </a:cubicBezTo>
                    </a:path>
                  </a:pathLst>
                </a:custGeom>
                <a:ln w="28575">
                  <a:solidFill>
                    <a:srgbClr val="FF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5C1AE988-1B10-7E19-5E68-C7A29AF14C06}"/>
                  </a:ext>
                </a:extLst>
              </p:cNvPr>
              <p:cNvSpPr/>
              <p:nvPr/>
            </p:nvSpPr>
            <p:spPr>
              <a:xfrm>
                <a:off x="10332405" y="3000858"/>
                <a:ext cx="4680000" cy="250821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 w="0">
                    <a:solidFill>
                      <a:prstClr val="white">
                        <a:lumMod val="7500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854A33-A29B-94C6-1719-3CD9EF052E41}"/>
                  </a:ext>
                </a:extLst>
              </p:cNvPr>
              <p:cNvSpPr txBox="1"/>
              <p:nvPr/>
            </p:nvSpPr>
            <p:spPr>
              <a:xfrm>
                <a:off x="10992047" y="3022868"/>
                <a:ext cx="3360716" cy="363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defTabSz="998538">
                  <a:spcBef>
                    <a:spcPts val="600"/>
                  </a:spcBef>
                  <a:defRPr sz="16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ctr" defTabSz="998538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로딩 프로파일   좌우</a:t>
                </a: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-</a:t>
                </a: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전체평균  편차  계산</a:t>
                </a:r>
              </a:p>
            </p:txBody>
          </p:sp>
          <p:cxnSp>
            <p:nvCxnSpPr>
              <p:cNvPr id="23" name="직선 화살표 연결선 22">
                <a:extLst>
                  <a:ext uri="{FF2B5EF4-FFF2-40B4-BE49-F238E27FC236}">
                    <a16:creationId xmlns:a16="http://schemas.microsoft.com/office/drawing/2014/main" id="{7B38FB3B-CD28-59DA-53AD-7879F738AA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7526" y="3340580"/>
                <a:ext cx="0" cy="97020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A8281154-0881-2E57-5596-E0A2D2AA8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78025" y="3420616"/>
                <a:ext cx="0" cy="890174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1BC013-DF70-AF98-65F2-E20ED760E6B8}"/>
                  </a:ext>
                </a:extLst>
              </p:cNvPr>
              <p:cNvSpPr txBox="1"/>
              <p:nvPr/>
            </p:nvSpPr>
            <p:spPr>
              <a:xfrm>
                <a:off x="10406588" y="3643023"/>
                <a:ext cx="390525" cy="363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①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5B68AC9-07DB-53C8-B346-F5280CA86F2E}"/>
                  </a:ext>
                </a:extLst>
              </p:cNvPr>
              <p:cNvSpPr txBox="1"/>
              <p:nvPr/>
            </p:nvSpPr>
            <p:spPr>
              <a:xfrm>
                <a:off x="14588795" y="3643023"/>
                <a:ext cx="390525" cy="363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②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D5CBB7-9D59-B109-0D23-0B5930F53FFA}"/>
                  </a:ext>
                </a:extLst>
              </p:cNvPr>
              <p:cNvSpPr txBox="1"/>
              <p:nvPr/>
            </p:nvSpPr>
            <p:spPr>
              <a:xfrm>
                <a:off x="10992047" y="5224033"/>
                <a:ext cx="33607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defTabSz="998538">
                  <a:spcBef>
                    <a:spcPts val="600"/>
                  </a:spcBef>
                  <a:defRPr sz="16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ctr" defTabSz="998538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 </a:t>
                </a: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①</a:t>
                </a: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,</a:t>
                </a: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② 평균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B8C420C-3188-DCC0-F0F4-AE9FE0703BB3}"/>
              </a:ext>
            </a:extLst>
          </p:cNvPr>
          <p:cNvGrpSpPr/>
          <p:nvPr/>
        </p:nvGrpSpPr>
        <p:grpSpPr>
          <a:xfrm>
            <a:off x="-714" y="1567369"/>
            <a:ext cx="9862734" cy="3629986"/>
            <a:chOff x="-714" y="1567369"/>
            <a:chExt cx="9862734" cy="362998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84E529D-9465-6A25-2052-5E32B4ABB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2176" y="2897349"/>
              <a:ext cx="4869844" cy="968400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FD95A18-DE9E-7C5A-3DDE-2C5C737DE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714" y="2887824"/>
              <a:ext cx="4859990" cy="969656"/>
            </a:xfrm>
            <a:prstGeom prst="rect">
              <a:avLst/>
            </a:prstGeom>
          </p:spPr>
        </p:pic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FDC8B983-BBF4-340D-5357-68AF62744973}"/>
                </a:ext>
              </a:extLst>
            </p:cNvPr>
            <p:cNvGrpSpPr/>
            <p:nvPr/>
          </p:nvGrpSpPr>
          <p:grpSpPr>
            <a:xfrm>
              <a:off x="0" y="1567369"/>
              <a:ext cx="9862020" cy="3629986"/>
              <a:chOff x="0" y="1567369"/>
              <a:chExt cx="9862020" cy="3629986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0B9F6C81-BDD5-0FA9-CE0E-C39B4C3892AD}"/>
                  </a:ext>
                </a:extLst>
              </p:cNvPr>
              <p:cNvGrpSpPr/>
              <p:nvPr/>
            </p:nvGrpSpPr>
            <p:grpSpPr>
              <a:xfrm>
                <a:off x="0" y="1567369"/>
                <a:ext cx="9862020" cy="3629986"/>
                <a:chOff x="0" y="1883015"/>
                <a:chExt cx="9862020" cy="3629986"/>
              </a:xfrm>
            </p:grpSpPr>
            <p:pic>
              <p:nvPicPr>
                <p:cNvPr id="12" name="그림 11">
                  <a:extLst>
                    <a:ext uri="{FF2B5EF4-FFF2-40B4-BE49-F238E27FC236}">
                      <a16:creationId xmlns:a16="http://schemas.microsoft.com/office/drawing/2014/main" id="{B51AEF77-8D8C-73FF-6605-385B38FB3E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246" y="1883015"/>
                  <a:ext cx="4688601" cy="1303551"/>
                </a:xfrm>
                <a:prstGeom prst="rect">
                  <a:avLst/>
                </a:prstGeom>
              </p:spPr>
            </p:pic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1CAEE323-C7AC-9E6B-21DC-5538A0C96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69090" y="1883015"/>
                  <a:ext cx="4747664" cy="1303551"/>
                </a:xfrm>
                <a:prstGeom prst="rect">
                  <a:avLst/>
                </a:prstGeom>
              </p:spPr>
            </p:pic>
            <p:pic>
              <p:nvPicPr>
                <p:cNvPr id="17" name="그림 16">
                  <a:extLst>
                    <a:ext uri="{FF2B5EF4-FFF2-40B4-BE49-F238E27FC236}">
                      <a16:creationId xmlns:a16="http://schemas.microsoft.com/office/drawing/2014/main" id="{8510E2B6-6BCD-F751-5969-6864EF768F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t="43775"/>
                <a:stretch/>
              </p:blipFill>
              <p:spPr>
                <a:xfrm>
                  <a:off x="0" y="4204971"/>
                  <a:ext cx="4859990" cy="1308030"/>
                </a:xfrm>
                <a:prstGeom prst="rect">
                  <a:avLst/>
                </a:prstGeom>
              </p:spPr>
            </p:pic>
            <p:pic>
              <p:nvPicPr>
                <p:cNvPr id="19" name="그림 18">
                  <a:extLst>
                    <a:ext uri="{FF2B5EF4-FFF2-40B4-BE49-F238E27FC236}">
                      <a16:creationId xmlns:a16="http://schemas.microsoft.com/office/drawing/2014/main" id="{BC161808-1FB1-6488-FEB9-8D30D7BFE8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rcRect t="45921"/>
                <a:stretch/>
              </p:blipFill>
              <p:spPr>
                <a:xfrm>
                  <a:off x="4930488" y="4207824"/>
                  <a:ext cx="4931532" cy="1254028"/>
                </a:xfrm>
                <a:prstGeom prst="rect">
                  <a:avLst/>
                </a:prstGeom>
              </p:spPr>
            </p:pic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F03BC13-C053-AB83-97A9-769FE718873B}"/>
                  </a:ext>
                </a:extLst>
              </p:cNvPr>
              <p:cNvSpPr txBox="1"/>
              <p:nvPr/>
            </p:nvSpPr>
            <p:spPr>
              <a:xfrm>
                <a:off x="2831930" y="3889325"/>
                <a:ext cx="156209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(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공급탱크 </a:t>
                </a: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슬러리온도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SV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, PV)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2FE3573-363D-2CF8-FFD9-9B2175CDE585}"/>
                  </a:ext>
                </a:extLst>
              </p:cNvPr>
              <p:cNvSpPr txBox="1"/>
              <p:nvPr/>
            </p:nvSpPr>
            <p:spPr>
              <a:xfrm>
                <a:off x="7821240" y="3889325"/>
                <a:ext cx="156209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(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공급탱크 </a:t>
                </a: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슬러리온도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SV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, PV)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5DFF8EF-F4A2-81FA-2B5D-16560FA9AA77}"/>
                  </a:ext>
                </a:extLst>
              </p:cNvPr>
              <p:cNvSpPr txBox="1"/>
              <p:nvPr/>
            </p:nvSpPr>
            <p:spPr>
              <a:xfrm>
                <a:off x="141943" y="4289307"/>
                <a:ext cx="37226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SV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730B652-4355-9878-4209-1A7E75BD1FB1}"/>
                  </a:ext>
                </a:extLst>
              </p:cNvPr>
              <p:cNvSpPr txBox="1"/>
              <p:nvPr/>
            </p:nvSpPr>
            <p:spPr>
              <a:xfrm>
                <a:off x="812820" y="4244450"/>
                <a:ext cx="37226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PV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33982B-818A-CDA1-6063-B9490414E486}"/>
                  </a:ext>
                </a:extLst>
              </p:cNvPr>
              <p:cNvSpPr txBox="1"/>
              <p:nvPr/>
            </p:nvSpPr>
            <p:spPr>
              <a:xfrm>
                <a:off x="2630492" y="2850195"/>
                <a:ext cx="137466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(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로딩 좌우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-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평균 편차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C50568-E0E3-94E5-21C5-B44A64302FEE}"/>
                  </a:ext>
                </a:extLst>
              </p:cNvPr>
              <p:cNvSpPr txBox="1"/>
              <p:nvPr/>
            </p:nvSpPr>
            <p:spPr>
              <a:xfrm>
                <a:off x="7650167" y="2850195"/>
                <a:ext cx="137466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(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로딩 좌우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-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평균 편차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D833B1E-F723-BF8A-DEE9-1A55A6073F3F}"/>
              </a:ext>
            </a:extLst>
          </p:cNvPr>
          <p:cNvSpPr txBox="1"/>
          <p:nvPr/>
        </p:nvSpPr>
        <p:spPr>
          <a:xfrm>
            <a:off x="3758889" y="1480110"/>
            <a:ext cx="1251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양극 탑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Dry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로딩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B63BD6-5EA8-6825-1F0F-5F5E347F995A}"/>
              </a:ext>
            </a:extLst>
          </p:cNvPr>
          <p:cNvSpPr txBox="1"/>
          <p:nvPr/>
        </p:nvSpPr>
        <p:spPr>
          <a:xfrm>
            <a:off x="8218347" y="73125"/>
            <a:ext cx="1356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자동보정선행개발팀</a:t>
            </a:r>
          </a:p>
        </p:txBody>
      </p:sp>
      <p:sp>
        <p:nvSpPr>
          <p:cNvPr id="5" name="실행 단추: 홈으로 이동 4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038651EB-32C8-F9C3-3655-F17AF31EE0DE}"/>
              </a:ext>
            </a:extLst>
          </p:cNvPr>
          <p:cNvSpPr/>
          <p:nvPr/>
        </p:nvSpPr>
        <p:spPr>
          <a:xfrm>
            <a:off x="9500249" y="74673"/>
            <a:ext cx="317196" cy="268052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462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53934-343F-84F7-5113-4EFFE82C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D624E2EB-BCFC-42DF-C607-3299553B4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211800"/>
            <a:ext cx="4676885" cy="324000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latin typeface="Arial Narrow" panose="020B0606020202030204" pitchFamily="34" charset="0"/>
              </a:rPr>
              <a:t>유첨</a:t>
            </a:r>
            <a:r>
              <a:rPr lang="en-US" altLang="ko-KR" b="1" dirty="0">
                <a:latin typeface="Arial Narrow" panose="020B0606020202030204" pitchFamily="34" charset="0"/>
              </a:rPr>
              <a:t>.</a:t>
            </a:r>
            <a:r>
              <a:rPr lang="ko-KR" altLang="en-US" b="1" dirty="0">
                <a:latin typeface="Arial Narrow" panose="020B0606020202030204" pitchFamily="34" charset="0"/>
              </a:rPr>
              <a:t> 음극 탭 꽂힘 불량 개선</a:t>
            </a:r>
            <a:r>
              <a:rPr lang="en-US" altLang="ko-KR" b="1" dirty="0">
                <a:latin typeface="Arial Narrow" panose="020B0606020202030204" pitchFamily="34" charset="0"/>
              </a:rPr>
              <a:t>(</a:t>
            </a:r>
            <a:r>
              <a:rPr lang="ko-KR" altLang="en-US" b="1" dirty="0">
                <a:latin typeface="Arial Narrow" panose="020B0606020202030204" pitchFamily="34" charset="0"/>
              </a:rPr>
              <a:t>하부 </a:t>
            </a:r>
            <a:r>
              <a:rPr lang="ko-KR" altLang="en-US" b="1" dirty="0" err="1">
                <a:latin typeface="Arial Narrow" panose="020B0606020202030204" pitchFamily="34" charset="0"/>
              </a:rPr>
              <a:t>분리막</a:t>
            </a:r>
            <a:r>
              <a:rPr lang="ko-KR" altLang="en-US" b="1" dirty="0">
                <a:latin typeface="Arial Narrow" panose="020B0606020202030204" pitchFamily="34" charset="0"/>
              </a:rPr>
              <a:t> 자동보정</a:t>
            </a:r>
            <a:r>
              <a:rPr lang="en-US" altLang="ko-KR" b="1" dirty="0">
                <a:latin typeface="Arial Narrow" panose="020B0606020202030204" pitchFamily="34" charset="0"/>
              </a:rPr>
              <a:t>)</a:t>
            </a:r>
            <a:endParaRPr lang="en-US" altLang="ko-KR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B63BD6-5EA8-6825-1F0F-5F5E347F995A}"/>
              </a:ext>
            </a:extLst>
          </p:cNvPr>
          <p:cNvSpPr txBox="1"/>
          <p:nvPr/>
        </p:nvSpPr>
        <p:spPr>
          <a:xfrm>
            <a:off x="8218347" y="73125"/>
            <a:ext cx="1356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조립자동보정팀</a:t>
            </a:r>
          </a:p>
        </p:txBody>
      </p:sp>
      <p:sp>
        <p:nvSpPr>
          <p:cNvPr id="5" name="실행 단추: 홈으로 이동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38651EB-32C8-F9C3-3655-F17AF31EE0DE}"/>
              </a:ext>
            </a:extLst>
          </p:cNvPr>
          <p:cNvSpPr/>
          <p:nvPr/>
        </p:nvSpPr>
        <p:spPr>
          <a:xfrm>
            <a:off x="9500249" y="74673"/>
            <a:ext cx="317196" cy="268052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84CEC5-CDE7-9B28-53C6-FACA0275A7CA}"/>
              </a:ext>
            </a:extLst>
          </p:cNvPr>
          <p:cNvSpPr txBox="1"/>
          <p:nvPr/>
        </p:nvSpPr>
        <p:spPr>
          <a:xfrm>
            <a:off x="116462" y="723301"/>
            <a:ext cx="9786965" cy="724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defTabSz="44865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137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</a:lstStyle>
          <a:p>
            <a:pPr marL="0" marR="0" lvl="0" indent="0" algn="l" defTabSz="448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음극 탭 꽂힘 불량은 2026년 8월 기준 0.04% 수준으로 발생하고 있으며, 전체 사행 불량률 0.18% 중 약 22%를 차지하고 있습니다. 특히 특정 설비에서 불량 발생률이 높게 나타나 설비 간 편차가 존재하는 것으로 확인되었습니다. 이에 따라 설비별 편차를 최소화하고, 음극 탭 꽂힘 </a:t>
            </a:r>
            <a:r>
              <a:rPr kumimoji="1" lang="ko-KR" altLang="en-US" sz="137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과검</a:t>
            </a:r>
            <a:r>
              <a:rPr kumimoji="1" lang="ko-KR" altLang="en-US" sz="137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및 불량률을 개선하여 전체 사행 불량률 저감을 추진하고자 합니다.</a:t>
            </a:r>
          </a:p>
        </p:txBody>
      </p:sp>
      <p:sp>
        <p:nvSpPr>
          <p:cNvPr id="51" name="Text Box 5">
            <a:extLst>
              <a:ext uri="{FF2B5EF4-FFF2-40B4-BE49-F238E27FC236}">
                <a16:creationId xmlns:a16="http://schemas.microsoft.com/office/drawing/2014/main" id="{8B48097F-7604-B1CB-6E1A-14232C70A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52" y="1640269"/>
            <a:ext cx="169160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8435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MP2 8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월 기준 불량현황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02AD6DD0-E27E-E4F3-130F-B58F6150AB8C}"/>
              </a:ext>
            </a:extLst>
          </p:cNvPr>
          <p:cNvGraphicFramePr>
            <a:graphicFrameLocks noGrp="1"/>
          </p:cNvGraphicFramePr>
          <p:nvPr/>
        </p:nvGraphicFramePr>
        <p:xfrm>
          <a:off x="317510" y="1882353"/>
          <a:ext cx="2434580" cy="2438400"/>
        </p:xfrm>
        <a:graphic>
          <a:graphicData uri="http://schemas.openxmlformats.org/drawingml/2006/table">
            <a:tbl>
              <a:tblPr/>
              <a:tblGrid>
                <a:gridCol w="486916">
                  <a:extLst>
                    <a:ext uri="{9D8B030D-6E8A-4147-A177-3AD203B41FA5}">
                      <a16:colId xmlns:a16="http://schemas.microsoft.com/office/drawing/2014/main" val="712279285"/>
                    </a:ext>
                  </a:extLst>
                </a:gridCol>
                <a:gridCol w="973832">
                  <a:extLst>
                    <a:ext uri="{9D8B030D-6E8A-4147-A177-3AD203B41FA5}">
                      <a16:colId xmlns:a16="http://schemas.microsoft.com/office/drawing/2014/main" val="3013646301"/>
                    </a:ext>
                  </a:extLst>
                </a:gridCol>
                <a:gridCol w="486916">
                  <a:extLst>
                    <a:ext uri="{9D8B030D-6E8A-4147-A177-3AD203B41FA5}">
                      <a16:colId xmlns:a16="http://schemas.microsoft.com/office/drawing/2014/main" val="2719244747"/>
                    </a:ext>
                  </a:extLst>
                </a:gridCol>
                <a:gridCol w="486916">
                  <a:extLst>
                    <a:ext uri="{9D8B030D-6E8A-4147-A177-3AD203B41FA5}">
                      <a16:colId xmlns:a16="http://schemas.microsoft.com/office/drawing/2014/main" val="2988583984"/>
                    </a:ext>
                  </a:extLst>
                </a:gridCol>
              </a:tblGrid>
              <a:tr h="113021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26.08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846775"/>
                  </a:ext>
                </a:extLst>
              </a:tr>
              <a:tr h="11302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721822"/>
                  </a:ext>
                </a:extLst>
              </a:tr>
              <a:tr h="113021"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불량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672168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020348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양극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FTF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상태검사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877685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음극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FTF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상태검사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592492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양극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Tab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꽂힘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464451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음극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Tab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꽂힘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564448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전극 길이 불량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323328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519513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양극 포밍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각도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4535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음극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포밍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각도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453162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전극 표면 불량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367155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분리막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표면 불량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213971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투입량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58227"/>
                  </a:ext>
                </a:extLst>
              </a:tr>
              <a:tr h="113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항목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5701"/>
                  </a:ext>
                </a:extLst>
              </a:tr>
            </a:tbl>
          </a:graphicData>
        </a:graphic>
      </p:graphicFrame>
      <p:sp>
        <p:nvSpPr>
          <p:cNvPr id="54" name="Text Box 5">
            <a:extLst>
              <a:ext uri="{FF2B5EF4-FFF2-40B4-BE49-F238E27FC236}">
                <a16:creationId xmlns:a16="http://schemas.microsoft.com/office/drawing/2014/main" id="{FF755100-9A33-57D7-1567-F53B89C08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52" y="4349532"/>
            <a:ext cx="169160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8435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적용 결과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BABDFAAB-3D5A-3999-AB55-36274FF32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01" y="4762537"/>
            <a:ext cx="5615772" cy="205951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2241920-6EE5-EE18-087C-CDA98E776869}"/>
              </a:ext>
            </a:extLst>
          </p:cNvPr>
          <p:cNvSpPr txBox="1"/>
          <p:nvPr/>
        </p:nvSpPr>
        <p:spPr>
          <a:xfrm>
            <a:off x="364112" y="4518809"/>
            <a:ext cx="9458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defTabSz="44865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137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</a:lstStyle>
          <a:p>
            <a:pPr marL="0" marR="0" lvl="0" indent="0" algn="l" defTabSz="448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2~6호기 적용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(8/5)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결과, 적용 전 대비 불량률이 0.06%p 개선(0.088% → 0.028%)되었으며, 현재 2-2호 설비를 추가 적용하여 추가 검증을 진행 중입니다.</a:t>
            </a:r>
          </a:p>
        </p:txBody>
      </p:sp>
      <p:pic>
        <p:nvPicPr>
          <p:cNvPr id="60" name="그림 59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E01BEC4-6DC6-04D5-F2FC-9EBA84FBC3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840" y="1882352"/>
            <a:ext cx="4757464" cy="243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64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70"/>
</p:tagLst>
</file>

<file path=ppt/theme/theme1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0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1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6350" algn="ctr">
          <a:noFill/>
          <a:miter lim="800000"/>
          <a:headEnd/>
          <a:tailEnd/>
        </a:ln>
        <a:effectLst/>
      </a:spPr>
      <a:bodyPr lIns="0" tIns="0" rIns="0" bIns="0" anchor="t"/>
      <a:lstStyle>
        <a:defPPr marL="0" marR="0" indent="0" algn="l" defTabSz="1042298" rtl="0" eaLnBrk="1" fontAlgn="base" latinLnBrk="0" hangingPunct="1">
          <a:lnSpc>
            <a:spcPct val="120000"/>
          </a:lnSpc>
          <a:spcBef>
            <a:spcPts val="400"/>
          </a:spcBef>
          <a:spcAft>
            <a:spcPct val="0"/>
          </a:spcAft>
          <a:buClrTx/>
          <a:buSzTx/>
          <a:buFontTx/>
          <a:buNone/>
          <a:tabLst/>
          <a:defRPr kumimoji="1" sz="1050" b="0" i="0" u="none" strike="noStrike" kern="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 Narrow" panose="020B0606020202030204" pitchFamily="34" charset="0"/>
            <a:ea typeface="LG스마트체 Regular" panose="020B0600000101010101" pitchFamily="50" charset="-127"/>
            <a:cs typeface="Arial" panose="020B0604020202020204" pitchFamily="34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77465</TotalTime>
  <Words>10571</Words>
  <Application>Microsoft Office PowerPoint</Application>
  <PresentationFormat>A4 용지(210x297mm)</PresentationFormat>
  <Paragraphs>2010</Paragraphs>
  <Slides>20</Slides>
  <Notes>18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7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40" baseType="lpstr">
      <vt:lpstr>LG스마트체 Regular</vt:lpstr>
      <vt:lpstr>LG스마트체 Regular</vt:lpstr>
      <vt:lpstr>LG스마트체2.0 Bold</vt:lpstr>
      <vt:lpstr>LG스마트체2.0 Regular</vt:lpstr>
      <vt:lpstr>LG스마트체2.0 SemiBold</vt:lpstr>
      <vt:lpstr>Wingdings,Sans-Serif</vt:lpstr>
      <vt:lpstr>굴림</vt:lpstr>
      <vt:lpstr>맑은 고딕</vt:lpstr>
      <vt:lpstr>Arial</vt:lpstr>
      <vt:lpstr>Arial Narrow</vt:lpstr>
      <vt:lpstr>Calibri</vt:lpstr>
      <vt:lpstr>Wingdings</vt:lpstr>
      <vt:lpstr>19_기본 디자인</vt:lpstr>
      <vt:lpstr>Office 테마</vt:lpstr>
      <vt:lpstr>20_기본 디자인</vt:lpstr>
      <vt:lpstr>2_Office 테마</vt:lpstr>
      <vt:lpstr>5_Office 테마</vt:lpstr>
      <vt:lpstr>21_기본 디자인</vt:lpstr>
      <vt:lpstr>3_Office 테마</vt:lpstr>
      <vt:lpstr>think-cell Slide</vt:lpstr>
      <vt:lpstr>자동보정담당 9월 업무 보고</vt:lpstr>
      <vt:lpstr>PowerPoint 프레젠테이션</vt:lpstr>
      <vt:lpstr>PowerPoint 프레젠테이션</vt:lpstr>
      <vt:lpstr>PowerPoint 프레젠테이션</vt:lpstr>
      <vt:lpstr>PowerPoint 프레젠테이션</vt:lpstr>
      <vt:lpstr>3. KPI 08월 진척 사항(3/9)</vt:lpstr>
      <vt:lpstr>PowerPoint 프레젠테이션</vt:lpstr>
      <vt:lpstr>3. KPI 08월 진척 사항(5/9)</vt:lpstr>
      <vt:lpstr>3. KPI 08월 진척 사항(6/9)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유첨. 통합 슬러리온도 관리시스템 양산 적용 결과</vt:lpstr>
      <vt:lpstr>유첨. 음극 탭 꽂힘 불량 개선(하부 분리막 자동보정)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박정우(Jeong Woo Park)[jeongwoo]/팀장/경영전략2팀</dc:creator>
  <cp:lastModifiedBy>이재후(JAEHU LEE)[jaehu]/사원/제조DX.기획팀</cp:lastModifiedBy>
  <cp:revision>2727</cp:revision>
  <cp:lastPrinted>2025-01-07T12:13:12Z</cp:lastPrinted>
  <dcterms:modified xsi:type="dcterms:W3CDTF">2026-09-09T01:53:25Z</dcterms:modified>
</cp:coreProperties>
</file>