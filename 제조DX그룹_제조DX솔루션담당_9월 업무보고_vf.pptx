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9" r:id="rId1"/>
    <p:sldMasterId id="2147483756" r:id="rId2"/>
    <p:sldMasterId id="2147483770" r:id="rId3"/>
    <p:sldMasterId id="2147483774" r:id="rId4"/>
    <p:sldMasterId id="2147483789" r:id="rId5"/>
    <p:sldMasterId id="2147483802" r:id="rId6"/>
    <p:sldMasterId id="2147483814" r:id="rId7"/>
  </p:sldMasterIdLst>
  <p:notesMasterIdLst>
    <p:notesMasterId r:id="rId39"/>
  </p:notesMasterIdLst>
  <p:handoutMasterIdLst>
    <p:handoutMasterId r:id="rId40"/>
  </p:handoutMasterIdLst>
  <p:sldIdLst>
    <p:sldId id="2147483397" r:id="rId8"/>
    <p:sldId id="265" r:id="rId9"/>
    <p:sldId id="269" r:id="rId10"/>
    <p:sldId id="2147483406" r:id="rId11"/>
    <p:sldId id="258" r:id="rId12"/>
    <p:sldId id="2147483407" r:id="rId13"/>
    <p:sldId id="2147483646" r:id="rId14"/>
    <p:sldId id="263" r:id="rId15"/>
    <p:sldId id="276" r:id="rId16"/>
    <p:sldId id="280" r:id="rId17"/>
    <p:sldId id="274" r:id="rId18"/>
    <p:sldId id="2147483647" r:id="rId19"/>
    <p:sldId id="256" r:id="rId20"/>
    <p:sldId id="257" r:id="rId21"/>
    <p:sldId id="267" r:id="rId22"/>
    <p:sldId id="266" r:id="rId23"/>
    <p:sldId id="270" r:id="rId24"/>
    <p:sldId id="271" r:id="rId25"/>
    <p:sldId id="272" r:id="rId26"/>
    <p:sldId id="299" r:id="rId27"/>
    <p:sldId id="296" r:id="rId28"/>
    <p:sldId id="261" r:id="rId29"/>
    <p:sldId id="262" r:id="rId30"/>
    <p:sldId id="2147483551" r:id="rId31"/>
    <p:sldId id="260" r:id="rId32"/>
    <p:sldId id="2147483598" r:id="rId33"/>
    <p:sldId id="2078" r:id="rId34"/>
    <p:sldId id="2076" r:id="rId35"/>
    <p:sldId id="2077" r:id="rId36"/>
    <p:sldId id="2079" r:id="rId37"/>
    <p:sldId id="2085" r:id="rId38"/>
  </p:sldIdLst>
  <p:sldSz cx="9906000" cy="6858000" type="A4"/>
  <p:notesSz cx="6797675" cy="987266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B685DEC3-A0A4-4C6B-9000-9B9306ECF9CF}">
          <p14:sldIdLst>
            <p14:sldId id="2147483397"/>
            <p14:sldId id="265"/>
            <p14:sldId id="269"/>
            <p14:sldId id="2147483406"/>
            <p14:sldId id="258"/>
            <p14:sldId id="2147483407"/>
            <p14:sldId id="2147483646"/>
            <p14:sldId id="263"/>
            <p14:sldId id="276"/>
            <p14:sldId id="280"/>
          </p14:sldIdLst>
        </p14:section>
        <p14:section name="보조.북미ESS 셀수율" id="{B4DD5162-6A0B-47DA-A5F1-1D04874DC204}">
          <p14:sldIdLst>
            <p14:sldId id="274"/>
            <p14:sldId id="2147483647"/>
            <p14:sldId id="256"/>
            <p14:sldId id="257"/>
          </p14:sldIdLst>
        </p14:section>
        <p14:section name="보조_LNS 수율개선 솔루션" id="{90E5DAD5-8DE1-4AF5-B88C-E820A9B355E4}">
          <p14:sldIdLst>
            <p14:sldId id="267"/>
            <p14:sldId id="266"/>
            <p14:sldId id="270"/>
            <p14:sldId id="271"/>
            <p14:sldId id="272"/>
            <p14:sldId id="299"/>
          </p14:sldIdLst>
        </p14:section>
        <p14:section name="보조.고질불량 수율개선" id="{6D1E5ECB-25F0-443F-A350-8FF510647B1E}">
          <p14:sldIdLst>
            <p14:sldId id="296"/>
          </p14:sldIdLst>
        </p14:section>
        <p14:section name="보조.WA수율" id="{189607FA-25DC-4F18-B5DC-FBAA195BE6B1}">
          <p14:sldIdLst>
            <p14:sldId id="261"/>
            <p14:sldId id="262"/>
          </p14:sldIdLst>
        </p14:section>
        <p14:section name="보조.라미 NG 마킹 불량 분석" id="{1C10B60F-E8B5-452D-AB9F-A24987D2201C}">
          <p14:sldIdLst>
            <p14:sldId id="2147483551"/>
          </p14:sldIdLst>
        </p14:section>
        <p14:section name="보조. Q-grade 불량 분석" id="{ED7D7A6F-9B48-4AC4-8BA5-76720A027B06}">
          <p14:sldIdLst>
            <p14:sldId id="260"/>
          </p14:sldIdLst>
        </p14:section>
        <p14:section name="보조. 스택 NG 불량 분석" id="{2A5A5E2B-2380-46E6-92BF-B1B3E92EC6DF}">
          <p14:sldIdLst>
            <p14:sldId id="2147483598"/>
          </p14:sldIdLst>
        </p14:section>
        <p14:section name="보조.WA수율 상세" id="{2ACF814B-EDC9-4C46-9658-5233E85F867B}">
          <p14:sldIdLst>
            <p14:sldId id="2078"/>
            <p14:sldId id="2076"/>
            <p14:sldId id="2077"/>
            <p14:sldId id="2079"/>
            <p14:sldId id="2085"/>
          </p14:sldIdLst>
        </p14:section>
      </p14:sectionLst>
    </p:ext>
    <p:ext uri="{EFAFB233-063F-42B5-8137-9DF3F51BA10A}">
      <p15:sldGuideLst xmlns:p15="http://schemas.microsoft.com/office/powerpoint/2012/main">
        <p15:guide id="1" orient="horz" pos="482" userDrawn="1">
          <p15:clr>
            <a:srgbClr val="A4A3A4"/>
          </p15:clr>
        </p15:guide>
        <p15:guide id="2" pos="988">
          <p15:clr>
            <a:srgbClr val="A4A3A4"/>
          </p15:clr>
        </p15:guide>
        <p15:guide id="3" pos="435" userDrawn="1">
          <p15:clr>
            <a:srgbClr val="A4A3A4"/>
          </p15:clr>
        </p15:guide>
      </p15:sldGuideLst>
    </p:ext>
    <p:ext uri="{2D200454-40CA-4A62-9FC3-DE9A4176ACB9}">
      <p15:notesGuideLst xmlns:p15="http://schemas.microsoft.com/office/powerpoint/2012/main">
        <p15:guide id="1" orient="horz" pos="3109"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00"/>
    <a:srgbClr val="1414FE"/>
    <a:srgbClr val="008000"/>
    <a:srgbClr val="FFFFCC"/>
    <a:srgbClr val="000066"/>
    <a:srgbClr val="FFFF00"/>
    <a:srgbClr val="FFFF99"/>
    <a:srgbClr val="FF7C8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60" autoAdjust="0"/>
    <p:restoredTop sz="96370" autoAdjust="0"/>
  </p:normalViewPr>
  <p:slideViewPr>
    <p:cSldViewPr>
      <p:cViewPr>
        <p:scale>
          <a:sx n="100" d="100"/>
          <a:sy n="100" d="100"/>
        </p:scale>
        <p:origin x="3750" y="234"/>
      </p:cViewPr>
      <p:guideLst>
        <p:guide orient="horz" pos="482"/>
        <p:guide pos="988"/>
        <p:guide pos="4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3666" y="-108"/>
      </p:cViewPr>
      <p:guideLst>
        <p:guide orient="horz" pos="3109"/>
        <p:guide pos="214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60" cy="493634"/>
          </a:xfrm>
          <a:prstGeom prst="rect">
            <a:avLst/>
          </a:prstGeom>
        </p:spPr>
        <p:txBody>
          <a:bodyPr vert="horz" lIns="91016" tIns="45508" rIns="91016" bIns="45508" rtlCol="0"/>
          <a:lstStyle>
            <a:lvl1pPr algn="l">
              <a:defRPr sz="1200"/>
            </a:lvl1pPr>
          </a:lstStyle>
          <a:p>
            <a:endParaRPr lang="ko-KR" altLang="en-US" dirty="0"/>
          </a:p>
        </p:txBody>
      </p:sp>
      <p:sp>
        <p:nvSpPr>
          <p:cNvPr id="3" name="날짜 개체 틀 2"/>
          <p:cNvSpPr>
            <a:spLocks noGrp="1"/>
          </p:cNvSpPr>
          <p:nvPr>
            <p:ph type="dt" sz="quarter" idx="1"/>
          </p:nvPr>
        </p:nvSpPr>
        <p:spPr>
          <a:xfrm>
            <a:off x="3850444" y="1"/>
            <a:ext cx="2945660" cy="493634"/>
          </a:xfrm>
          <a:prstGeom prst="rect">
            <a:avLst/>
          </a:prstGeom>
        </p:spPr>
        <p:txBody>
          <a:bodyPr vert="horz" lIns="91016" tIns="45508" rIns="91016" bIns="45508" rtlCol="0"/>
          <a:lstStyle>
            <a:lvl1pPr algn="r">
              <a:defRPr sz="1200"/>
            </a:lvl1pPr>
          </a:lstStyle>
          <a:p>
            <a:fld id="{B2BCA65B-4A64-4C09-B6AF-22726F39C5D6}" type="datetimeFigureOut">
              <a:rPr lang="ko-KR" altLang="en-US" smtClean="0"/>
              <a:t>2026-09-08</a:t>
            </a:fld>
            <a:endParaRPr lang="ko-KR" altLang="en-US" dirty="0"/>
          </a:p>
        </p:txBody>
      </p:sp>
      <p:sp>
        <p:nvSpPr>
          <p:cNvPr id="4" name="바닥글 개체 틀 3"/>
          <p:cNvSpPr>
            <a:spLocks noGrp="1"/>
          </p:cNvSpPr>
          <p:nvPr>
            <p:ph type="ftr" sz="quarter" idx="2"/>
          </p:nvPr>
        </p:nvSpPr>
        <p:spPr>
          <a:xfrm>
            <a:off x="1" y="9377317"/>
            <a:ext cx="2945660" cy="493634"/>
          </a:xfrm>
          <a:prstGeom prst="rect">
            <a:avLst/>
          </a:prstGeom>
        </p:spPr>
        <p:txBody>
          <a:bodyPr vert="horz" lIns="91016" tIns="45508" rIns="91016" bIns="45508" rtlCol="0" anchor="b"/>
          <a:lstStyle>
            <a:lvl1pPr algn="l">
              <a:defRPr sz="1200"/>
            </a:lvl1pPr>
          </a:lstStyle>
          <a:p>
            <a:endParaRPr lang="ko-KR" altLang="en-US" dirty="0"/>
          </a:p>
        </p:txBody>
      </p:sp>
      <p:sp>
        <p:nvSpPr>
          <p:cNvPr id="5" name="슬라이드 번호 개체 틀 4"/>
          <p:cNvSpPr>
            <a:spLocks noGrp="1"/>
          </p:cNvSpPr>
          <p:nvPr>
            <p:ph type="sldNum" sz="quarter" idx="3"/>
          </p:nvPr>
        </p:nvSpPr>
        <p:spPr>
          <a:xfrm>
            <a:off x="3850444" y="9377317"/>
            <a:ext cx="2945660" cy="493634"/>
          </a:xfrm>
          <a:prstGeom prst="rect">
            <a:avLst/>
          </a:prstGeom>
        </p:spPr>
        <p:txBody>
          <a:bodyPr vert="horz" lIns="91016" tIns="45508" rIns="91016" bIns="45508" rtlCol="0" anchor="b"/>
          <a:lstStyle>
            <a:lvl1pPr algn="r">
              <a:defRPr sz="1200"/>
            </a:lvl1pPr>
          </a:lstStyle>
          <a:p>
            <a:fld id="{855DBB3B-02F1-4B6B-B52B-D48CB606F0BE}" type="slidenum">
              <a:rPr lang="ko-KR" altLang="en-US" smtClean="0"/>
              <a:t>‹#›</a:t>
            </a:fld>
            <a:endParaRPr lang="ko-KR" altLang="en-US" dirty="0"/>
          </a:p>
        </p:txBody>
      </p:sp>
    </p:spTree>
    <p:extLst>
      <p:ext uri="{BB962C8B-B14F-4D97-AF65-F5344CB8AC3E}">
        <p14:creationId xmlns:p14="http://schemas.microsoft.com/office/powerpoint/2010/main" val="31555983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60" cy="493634"/>
          </a:xfrm>
          <a:prstGeom prst="rect">
            <a:avLst/>
          </a:prstGeom>
        </p:spPr>
        <p:txBody>
          <a:bodyPr vert="horz" lIns="91016" tIns="45508" rIns="91016" bIns="45508" rtlCol="0"/>
          <a:lstStyle>
            <a:lvl1pPr algn="l">
              <a:defRPr sz="1200"/>
            </a:lvl1pPr>
          </a:lstStyle>
          <a:p>
            <a:endParaRPr lang="ko-KR" altLang="en-US" dirty="0"/>
          </a:p>
        </p:txBody>
      </p:sp>
      <p:sp>
        <p:nvSpPr>
          <p:cNvPr id="3" name="날짜 개체 틀 2"/>
          <p:cNvSpPr>
            <a:spLocks noGrp="1"/>
          </p:cNvSpPr>
          <p:nvPr>
            <p:ph type="dt" idx="1"/>
          </p:nvPr>
        </p:nvSpPr>
        <p:spPr>
          <a:xfrm>
            <a:off x="3850444" y="1"/>
            <a:ext cx="2945660" cy="493634"/>
          </a:xfrm>
          <a:prstGeom prst="rect">
            <a:avLst/>
          </a:prstGeom>
        </p:spPr>
        <p:txBody>
          <a:bodyPr vert="horz" lIns="91016" tIns="45508" rIns="91016" bIns="45508" rtlCol="0"/>
          <a:lstStyle>
            <a:lvl1pPr algn="r">
              <a:defRPr sz="1200"/>
            </a:lvl1pPr>
          </a:lstStyle>
          <a:p>
            <a:fld id="{67702084-E320-4FCE-8E72-C66EF9DD46EA}" type="datetimeFigureOut">
              <a:rPr lang="ko-KR" altLang="en-US" smtClean="0"/>
              <a:t>2026-09-08</a:t>
            </a:fld>
            <a:endParaRPr lang="ko-KR" altLang="en-US" dirty="0"/>
          </a:p>
        </p:txBody>
      </p:sp>
      <p:sp>
        <p:nvSpPr>
          <p:cNvPr id="4" name="슬라이드 이미지 개체 틀 3"/>
          <p:cNvSpPr>
            <a:spLocks noGrp="1" noRot="1" noChangeAspect="1"/>
          </p:cNvSpPr>
          <p:nvPr>
            <p:ph type="sldImg" idx="2"/>
          </p:nvPr>
        </p:nvSpPr>
        <p:spPr>
          <a:xfrm>
            <a:off x="725488" y="741363"/>
            <a:ext cx="5346700" cy="3700462"/>
          </a:xfrm>
          <a:prstGeom prst="rect">
            <a:avLst/>
          </a:prstGeom>
          <a:noFill/>
          <a:ln w="12700">
            <a:solidFill>
              <a:prstClr val="black"/>
            </a:solidFill>
          </a:ln>
        </p:spPr>
        <p:txBody>
          <a:bodyPr vert="horz" lIns="91016" tIns="45508" rIns="91016" bIns="45508" rtlCol="0" anchor="ctr"/>
          <a:lstStyle/>
          <a:p>
            <a:endParaRPr lang="ko-KR" altLang="en-US" dirty="0"/>
          </a:p>
        </p:txBody>
      </p:sp>
      <p:sp>
        <p:nvSpPr>
          <p:cNvPr id="5" name="슬라이드 노트 개체 틀 4"/>
          <p:cNvSpPr>
            <a:spLocks noGrp="1"/>
          </p:cNvSpPr>
          <p:nvPr>
            <p:ph type="body" sz="quarter" idx="3"/>
          </p:nvPr>
        </p:nvSpPr>
        <p:spPr>
          <a:xfrm>
            <a:off x="679768" y="4689517"/>
            <a:ext cx="5438140" cy="4442699"/>
          </a:xfrm>
          <a:prstGeom prst="rect">
            <a:avLst/>
          </a:prstGeom>
        </p:spPr>
        <p:txBody>
          <a:bodyPr vert="horz" lIns="91016" tIns="45508" rIns="91016" bIns="45508"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377317"/>
            <a:ext cx="2945660" cy="493634"/>
          </a:xfrm>
          <a:prstGeom prst="rect">
            <a:avLst/>
          </a:prstGeom>
        </p:spPr>
        <p:txBody>
          <a:bodyPr vert="horz" lIns="91016" tIns="45508" rIns="91016" bIns="4550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377317"/>
            <a:ext cx="2945660" cy="493634"/>
          </a:xfrm>
          <a:prstGeom prst="rect">
            <a:avLst/>
          </a:prstGeom>
        </p:spPr>
        <p:txBody>
          <a:bodyPr vert="horz" lIns="91016" tIns="45508" rIns="91016" bIns="45508" rtlCol="0" anchor="b"/>
          <a:lstStyle>
            <a:lvl1pPr algn="r">
              <a:defRPr sz="1200"/>
            </a:lvl1pPr>
          </a:lstStyle>
          <a:p>
            <a:fld id="{90FC5283-F698-4B70-A5AB-FFCC0F08C4AB}" type="slidenum">
              <a:rPr lang="ko-KR" altLang="en-US" smtClean="0"/>
              <a:t>‹#›</a:t>
            </a:fld>
            <a:endParaRPr lang="ko-KR" altLang="en-US" dirty="0"/>
          </a:p>
        </p:txBody>
      </p:sp>
    </p:spTree>
    <p:extLst>
      <p:ext uri="{BB962C8B-B14F-4D97-AF65-F5344CB8AC3E}">
        <p14:creationId xmlns:p14="http://schemas.microsoft.com/office/powerpoint/2010/main" val="32787184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slide" Target="../slides/slide1.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custDataLst>
              <p:tags r:id="rId1"/>
            </p:custDataLst>
          </p:nvPr>
        </p:nvSpPr>
        <p:spPr/>
      </p:sp>
      <p:sp>
        <p:nvSpPr>
          <p:cNvPr id="3" name="슬라이드 노트 개체 틀 2"/>
          <p:cNvSpPr>
            <a:spLocks noGrp="1"/>
          </p:cNvSpPr>
          <p:nvPr>
            <p:ph type="body" idx="1"/>
            <p:custDataLst>
              <p:tags r:id="rId2"/>
            </p:custDataLst>
          </p:nvPr>
        </p:nvSpPr>
        <p:spPr/>
        <p:txBody>
          <a:bodyPr/>
          <a:lstStyle/>
          <a:p>
            <a:endParaRPr lang="ko-KR" altLang="en-US" dirty="0"/>
          </a:p>
        </p:txBody>
      </p:sp>
      <p:sp>
        <p:nvSpPr>
          <p:cNvPr id="4" name="슬라이드 번호 개체 틀 3"/>
          <p:cNvSpPr>
            <a:spLocks noGrp="1"/>
          </p:cNvSpPr>
          <p:nvPr>
            <p:ph type="sldNum" sz="quarter" idx="10"/>
            <p:custDataLst>
              <p:tags r:id="rId3"/>
            </p:custDataLst>
          </p:nvPr>
        </p:nvSpPr>
        <p:spPr/>
        <p:txBody>
          <a:bodyPr/>
          <a:lstStyle/>
          <a:p>
            <a:fld id="{91F4C645-ABDE-4C2B-8039-27118650AB20}" type="slidenum">
              <a:rPr lang="ko-KR" altLang="en-US" smtClean="0"/>
              <a:t>0</a:t>
            </a:fld>
            <a:endParaRPr lang="ko-KR" altLang="en-US" dirty="0"/>
          </a:p>
        </p:txBody>
      </p:sp>
    </p:spTree>
    <p:extLst>
      <p:ext uri="{BB962C8B-B14F-4D97-AF65-F5344CB8AC3E}">
        <p14:creationId xmlns:p14="http://schemas.microsoft.com/office/powerpoint/2010/main" val="487222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800"/>
          </a:p>
        </p:txBody>
      </p:sp>
      <p:sp>
        <p:nvSpPr>
          <p:cNvPr id="4" name="슬라이드 번호 개체 틀 3"/>
          <p:cNvSpPr>
            <a:spLocks noGrp="1"/>
          </p:cNvSpPr>
          <p:nvPr>
            <p:ph type="sldNum" sz="quarter" idx="10"/>
          </p:nvPr>
        </p:nvSpPr>
        <p:spPr/>
        <p:txBody>
          <a:bodyPr/>
          <a:lstStyle/>
          <a:p>
            <a:pPr marL="0" marR="0" lvl="0" indent="0" algn="r" defTabSz="918149" rtl="0" eaLnBrk="1" fontAlgn="auto" latinLnBrk="1" hangingPunct="1">
              <a:lnSpc>
                <a:spcPct val="100000"/>
              </a:lnSpc>
              <a:spcBef>
                <a:spcPts val="0"/>
              </a:spcBef>
              <a:spcAft>
                <a:spcPts val="0"/>
              </a:spcAft>
              <a:buClrTx/>
              <a:buSzTx/>
              <a:buFontTx/>
              <a:buNone/>
              <a:tabLst/>
              <a:defRPr/>
            </a:pPr>
            <a:fld id="{0E8BEC97-7182-4C18-B0DF-EAF40FCBE660}" type="slidenum">
              <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rPr>
              <a:pPr marL="0" marR="0" lvl="0" indent="0" algn="r" defTabSz="918149"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4134536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800"/>
          </a:p>
        </p:txBody>
      </p:sp>
      <p:sp>
        <p:nvSpPr>
          <p:cNvPr id="4" name="슬라이드 번호 개체 틀 3"/>
          <p:cNvSpPr>
            <a:spLocks noGrp="1"/>
          </p:cNvSpPr>
          <p:nvPr>
            <p:ph type="sldNum" sz="quarter" idx="10"/>
          </p:nvPr>
        </p:nvSpPr>
        <p:spPr/>
        <p:txBody>
          <a:bodyPr/>
          <a:lstStyle/>
          <a:p>
            <a:pPr marL="0" marR="0" lvl="0" indent="0" algn="r" defTabSz="918149" rtl="0" eaLnBrk="1" fontAlgn="auto" latinLnBrk="1" hangingPunct="1">
              <a:lnSpc>
                <a:spcPct val="100000"/>
              </a:lnSpc>
              <a:spcBef>
                <a:spcPts val="0"/>
              </a:spcBef>
              <a:spcAft>
                <a:spcPts val="0"/>
              </a:spcAft>
              <a:buClrTx/>
              <a:buSzTx/>
              <a:buFontTx/>
              <a:buNone/>
              <a:tabLst/>
              <a:defRPr/>
            </a:pPr>
            <a:fld id="{0E8BEC97-7182-4C18-B0DF-EAF40FCBE660}" type="slidenum">
              <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rPr>
              <a:pPr marL="0" marR="0" lvl="0" indent="0" algn="r" defTabSz="918149" rtl="0" eaLnBrk="1" fontAlgn="auto" latinLnBrk="1"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396125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800"/>
          </a:p>
        </p:txBody>
      </p:sp>
      <p:sp>
        <p:nvSpPr>
          <p:cNvPr id="4" name="슬라이드 번호 개체 틀 3"/>
          <p:cNvSpPr>
            <a:spLocks noGrp="1"/>
          </p:cNvSpPr>
          <p:nvPr>
            <p:ph type="sldNum" sz="quarter" idx="10"/>
          </p:nvPr>
        </p:nvSpPr>
        <p:spPr/>
        <p:txBody>
          <a:bodyPr/>
          <a:lstStyle/>
          <a:p>
            <a:pPr defTabSz="918149">
              <a:defRPr/>
            </a:pPr>
            <a:fld id="{0E8BEC97-7182-4C18-B0DF-EAF40FCBE660}" type="slidenum">
              <a:rPr lang="ko-KR" altLang="en-US">
                <a:solidFill>
                  <a:prstClr val="black"/>
                </a:solidFill>
                <a:latin typeface="맑은 고딕"/>
                <a:ea typeface="맑은 고딕" panose="020B0503020000020004" pitchFamily="50" charset="-127"/>
              </a:rPr>
              <a:pPr defTabSz="918149">
                <a:defRPr/>
              </a:pPr>
              <a:t>3</a:t>
            </a:fld>
            <a:endParaRPr lang="ko-KR" altLang="en-US">
              <a:solidFill>
                <a:prstClr val="black"/>
              </a:solidFill>
              <a:latin typeface="맑은 고딕"/>
              <a:ea typeface="맑은 고딕" panose="020B0503020000020004" pitchFamily="50" charset="-127"/>
            </a:endParaRPr>
          </a:p>
        </p:txBody>
      </p:sp>
    </p:spTree>
    <p:extLst>
      <p:ext uri="{BB962C8B-B14F-4D97-AF65-F5344CB8AC3E}">
        <p14:creationId xmlns:p14="http://schemas.microsoft.com/office/powerpoint/2010/main" val="1421285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E41039A5-F15E-4D53-A269-DEFDEEC1DEFA}" type="slidenum">
              <a:rPr kumimoji="1" lang="en-US" altLang="ko-KR" sz="1200" b="0" i="0" u="none" strike="noStrike" kern="1200" cap="none" spc="0" normalizeH="0" baseline="0" noProof="0" smtClean="0">
                <a:ln>
                  <a:noFill/>
                </a:ln>
                <a:solidFill>
                  <a:srgbClr val="000000"/>
                </a:solidFill>
                <a:effectLst/>
                <a:uLnTx/>
                <a:uFillTx/>
                <a:latin typeface="굴림" pitchFamily="50" charset="-127"/>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a:t>
            </a:fld>
            <a:endParaRPr kumimoji="1" lang="en-US" altLang="ko-KR" sz="1200" b="0" i="0" u="none" strike="noStrike" kern="1200" cap="none" spc="0" normalizeH="0" baseline="0" noProof="0">
              <a:ln>
                <a:noFill/>
              </a:ln>
              <a:solidFill>
                <a:srgbClr val="000000"/>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628290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E41039A5-F15E-4D53-A269-DEFDEEC1DEFA}" type="slidenum">
              <a:rPr kumimoji="1" lang="en-US" altLang="ko-KR" sz="1200" b="0" i="0" u="none" strike="noStrike" kern="1200" cap="none" spc="0" normalizeH="0" baseline="0" noProof="0" smtClean="0">
                <a:ln>
                  <a:noFill/>
                </a:ln>
                <a:solidFill>
                  <a:srgbClr val="000000"/>
                </a:solidFill>
                <a:effectLst/>
                <a:uLnTx/>
                <a:uFillTx/>
                <a:latin typeface="굴림" pitchFamily="50" charset="-127"/>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5</a:t>
            </a:fld>
            <a:endParaRPr kumimoji="1" lang="en-US" altLang="ko-KR" sz="1200" b="0" i="0" u="none" strike="noStrike" kern="1200" cap="none" spc="0" normalizeH="0" baseline="0" noProof="0">
              <a:ln>
                <a:noFill/>
              </a:ln>
              <a:solidFill>
                <a:srgbClr val="000000"/>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628290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E41039A5-F15E-4D53-A269-DEFDEEC1DEFA}" type="slidenum">
              <a:rPr kumimoji="1" lang="en-US" altLang="ko-KR" sz="1200" b="0" i="0" u="none" strike="noStrike" kern="1200" cap="none" spc="0" normalizeH="0" baseline="0" noProof="0" smtClean="0">
                <a:ln>
                  <a:noFill/>
                </a:ln>
                <a:solidFill>
                  <a:srgbClr val="000000"/>
                </a:solidFill>
                <a:effectLst/>
                <a:uLnTx/>
                <a:uFillTx/>
                <a:latin typeface="굴림" pitchFamily="50" charset="-127"/>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6</a:t>
            </a:fld>
            <a:endParaRPr kumimoji="1" lang="en-US" altLang="ko-KR" sz="1200" b="0" i="0" u="none" strike="noStrike" kern="1200" cap="none" spc="0" normalizeH="0" baseline="0" noProof="0">
              <a:ln>
                <a:noFill/>
              </a:ln>
              <a:solidFill>
                <a:srgbClr val="000000"/>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628290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E41039A5-F15E-4D53-A269-DEFDEEC1DEFA}" type="slidenum">
              <a:rPr kumimoji="1" lang="en-US" altLang="ko-KR" sz="1200" b="0" i="0" u="none" strike="noStrike" kern="1200" cap="none" spc="0" normalizeH="0" baseline="0" noProof="0" smtClean="0">
                <a:ln>
                  <a:noFill/>
                </a:ln>
                <a:solidFill>
                  <a:srgbClr val="000000"/>
                </a:solidFill>
                <a:effectLst/>
                <a:uLnTx/>
                <a:uFillTx/>
                <a:latin typeface="굴림" pitchFamily="50" charset="-127"/>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7</a:t>
            </a:fld>
            <a:endParaRPr kumimoji="1" lang="en-US" altLang="ko-KR" sz="1200" b="0" i="0" u="none" strike="noStrike" kern="1200" cap="none" spc="0" normalizeH="0" baseline="0" noProof="0">
              <a:ln>
                <a:noFill/>
              </a:ln>
              <a:solidFill>
                <a:srgbClr val="000000"/>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805556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E41039A5-F15E-4D53-A269-DEFDEEC1DEFA}" type="slidenum">
              <a:rPr kumimoji="1" lang="en-US" altLang="ko-KR" sz="1200" b="0" i="0" u="none" strike="noStrike" kern="1200" cap="none" spc="0" normalizeH="0" baseline="0" noProof="0" smtClean="0">
                <a:ln>
                  <a:noFill/>
                </a:ln>
                <a:solidFill>
                  <a:srgbClr val="000000"/>
                </a:solidFill>
                <a:effectLst/>
                <a:uLnTx/>
                <a:uFillTx/>
                <a:latin typeface="굴림" pitchFamily="50" charset="-127"/>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8</a:t>
            </a:fld>
            <a:endParaRPr kumimoji="1" lang="en-US" altLang="ko-KR" sz="1200" b="0" i="0" u="none" strike="noStrike" kern="1200" cap="none" spc="0" normalizeH="0" baseline="0" noProof="0">
              <a:ln>
                <a:noFill/>
              </a:ln>
              <a:solidFill>
                <a:srgbClr val="000000"/>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41685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E41039A5-F15E-4D53-A269-DEFDEEC1DEFA}" type="slidenum">
              <a:rPr kumimoji="1" lang="en-US" altLang="ko-KR" sz="1200" b="0" i="0" u="none" strike="noStrike" kern="1200" cap="none" spc="0" normalizeH="0" baseline="0" noProof="0" smtClean="0">
                <a:ln>
                  <a:noFill/>
                </a:ln>
                <a:solidFill>
                  <a:srgbClr val="000000"/>
                </a:solidFill>
                <a:effectLst/>
                <a:uLnTx/>
                <a:uFillTx/>
                <a:latin typeface="굴림" pitchFamily="50" charset="-127"/>
                <a:ea typeface="굴림" pitchFamily="50"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9</a:t>
            </a:fld>
            <a:endParaRPr kumimoji="1" lang="en-US" altLang="ko-KR" sz="1200" b="0" i="0" u="none" strike="noStrike" kern="1200" cap="none" spc="0" normalizeH="0" baseline="0" noProof="0">
              <a:ln>
                <a:noFill/>
              </a:ln>
              <a:solidFill>
                <a:srgbClr val="000000"/>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066239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800" dirty="0"/>
          </a:p>
        </p:txBody>
      </p:sp>
      <p:sp>
        <p:nvSpPr>
          <p:cNvPr id="4" name="슬라이드 번호 개체 틀 3"/>
          <p:cNvSpPr>
            <a:spLocks noGrp="1"/>
          </p:cNvSpPr>
          <p:nvPr>
            <p:ph type="sldNum" sz="quarter" idx="10"/>
          </p:nvPr>
        </p:nvSpPr>
        <p:spPr/>
        <p:txBody>
          <a:bodyPr/>
          <a:lstStyle/>
          <a:p>
            <a:pPr marL="0" marR="0" lvl="0" indent="0" algn="r" defTabSz="918149" rtl="0" eaLnBrk="1" fontAlgn="auto" latinLnBrk="1" hangingPunct="1">
              <a:lnSpc>
                <a:spcPct val="100000"/>
              </a:lnSpc>
              <a:spcBef>
                <a:spcPts val="0"/>
              </a:spcBef>
              <a:spcAft>
                <a:spcPts val="0"/>
              </a:spcAft>
              <a:buClrTx/>
              <a:buSzTx/>
              <a:buFontTx/>
              <a:buNone/>
              <a:tabLst/>
              <a:defRPr/>
            </a:pPr>
            <a:fld id="{0E8BEC97-7182-4C18-B0DF-EAF40FCBE660}" type="slidenum">
              <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rPr>
              <a:pPr marL="0" marR="0" lvl="0" indent="0" algn="r" defTabSz="918149" rtl="0" eaLnBrk="1" fontAlgn="auto" latinLnBrk="1" hangingPunct="1">
                <a:lnSpc>
                  <a:spcPct val="100000"/>
                </a:lnSpc>
                <a:spcBef>
                  <a:spcPts val="0"/>
                </a:spcBef>
                <a:spcAft>
                  <a:spcPts val="0"/>
                </a:spcAft>
                <a:buClrTx/>
                <a:buSzTx/>
                <a:buFontTx/>
                <a:buNone/>
                <a:tabLst/>
                <a:defRPr/>
              </a:pPr>
              <a:t>10</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3820378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25DB05A9-57CE-481A-AC16-5D6535FE9867}" type="slidenum">
              <a:rPr kumimoji="0" lang="ko-KR" altLang="en-US" sz="1200" b="0" i="0" u="none" strike="noStrike" kern="1200" cap="none" spc="0" normalizeH="0" baseline="0" noProof="0" smtClean="0">
                <a:ln>
                  <a:noFill/>
                </a:ln>
                <a:solidFill>
                  <a:prstClr val="black"/>
                </a:solidFill>
                <a:effectLst/>
                <a:uLnTx/>
                <a:uFillTx/>
                <a:latin typeface="맑은 고딕"/>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11</a:t>
            </a:fld>
            <a:endPar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658937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303D-5295-A37D-6765-D0CD7A2A67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FE839DE-5754-811B-1B85-EBBDE2001BC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C3FE474-9FBC-6F72-0393-92A5055F992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A1E42EC7-4B06-3363-775C-942374A9373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3357BD-C79B-451F-92FF-5B98AE72E82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1179275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03357BD-C79B-451F-92FF-5B98AE72E82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183604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800" dirty="0"/>
          </a:p>
        </p:txBody>
      </p:sp>
      <p:sp>
        <p:nvSpPr>
          <p:cNvPr id="4" name="슬라이드 번호 개체 틀 3"/>
          <p:cNvSpPr>
            <a:spLocks noGrp="1"/>
          </p:cNvSpPr>
          <p:nvPr>
            <p:ph type="sldNum" sz="quarter" idx="10"/>
          </p:nvPr>
        </p:nvSpPr>
        <p:spPr/>
        <p:txBody>
          <a:bodyPr/>
          <a:lstStyle/>
          <a:p>
            <a:pPr marL="0" marR="0" lvl="0" indent="0" algn="r" defTabSz="918149" rtl="0" eaLnBrk="1" fontAlgn="auto" latinLnBrk="1" hangingPunct="1">
              <a:lnSpc>
                <a:spcPct val="100000"/>
              </a:lnSpc>
              <a:spcBef>
                <a:spcPts val="0"/>
              </a:spcBef>
              <a:spcAft>
                <a:spcPts val="0"/>
              </a:spcAft>
              <a:buClrTx/>
              <a:buSzTx/>
              <a:buFontTx/>
              <a:buNone/>
              <a:tabLst/>
              <a:defRPr/>
            </a:pPr>
            <a:fld id="{0E8BEC97-7182-4C18-B0DF-EAF40FCBE660}" type="slidenum">
              <a:rPr kumimoji="0" lang="ko-KR" altLang="en-US" sz="12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rPr>
              <a:pPr marL="0" marR="0" lvl="0" indent="0" algn="r" defTabSz="918149" rtl="0" eaLnBrk="1" fontAlgn="auto" latinLnBrk="1" hangingPunct="1">
                <a:lnSpc>
                  <a:spcPct val="100000"/>
                </a:lnSpc>
                <a:spcBef>
                  <a:spcPts val="0"/>
                </a:spcBef>
                <a:spcAft>
                  <a:spcPts val="0"/>
                </a:spcAft>
                <a:buClrTx/>
                <a:buSzTx/>
                <a:buFontTx/>
                <a:buNone/>
                <a:tabLst/>
                <a:defRPr/>
              </a:pPr>
              <a:t>19</a:t>
            </a:fld>
            <a:endParaRPr kumimoji="0" lang="ko-KR" altLang="en-US" sz="12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2259791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865438" y="850900"/>
            <a:ext cx="3317875" cy="2297113"/>
          </a:xfrm>
          <a:prstGeom prst="rect">
            <a:avLst/>
          </a:prstGeom>
        </p:spPr>
      </p:sp>
      <p:sp>
        <p:nvSpPr>
          <p:cNvPr id="3" name="슬라이드 노트 개체 틀 2"/>
          <p:cNvSpPr>
            <a:spLocks noGrp="1"/>
          </p:cNvSpPr>
          <p:nvPr>
            <p:ph type="body" idx="1"/>
          </p:nvPr>
        </p:nvSpPr>
        <p:spPr>
          <a:xfrm>
            <a:off x="904804" y="3276164"/>
            <a:ext cx="7238432" cy="2680498"/>
          </a:xfrm>
          <a:prstGeom prst="rect">
            <a:avLst/>
          </a:prstGeom>
        </p:spPr>
        <p:txBody>
          <a:bodyPr/>
          <a:lstStyle/>
          <a:p>
            <a:endParaRPr lang="ko-KR" altLang="en-US" dirty="0"/>
          </a:p>
        </p:txBody>
      </p:sp>
      <p:sp>
        <p:nvSpPr>
          <p:cNvPr id="4" name="슬라이드 번호 개체 틀 3"/>
          <p:cNvSpPr>
            <a:spLocks noGrp="1"/>
          </p:cNvSpPr>
          <p:nvPr>
            <p:ph type="sldNum" sz="quarter" idx="10"/>
          </p:nvPr>
        </p:nvSpPr>
        <p:spPr/>
        <p:txBody>
          <a:bodyPr/>
          <a:lstStyle/>
          <a:p>
            <a:pPr marL="0" marR="0" lvl="0" indent="0" algn="ctr" defTabSz="453222" rtl="0" eaLnBrk="1" fontAlgn="auto" latinLnBrk="0" hangingPunct="1">
              <a:lnSpc>
                <a:spcPct val="100000"/>
              </a:lnSpc>
              <a:spcBef>
                <a:spcPts val="0"/>
              </a:spcBef>
              <a:spcAft>
                <a:spcPts val="0"/>
              </a:spcAft>
              <a:buClrTx/>
              <a:buSzTx/>
              <a:buFontTx/>
              <a:buNone/>
              <a:tabLst/>
              <a:defRPr/>
            </a:pPr>
            <a:fld id="{EAABB562-1F47-44B2-9DF8-F2AB0EAE6872}" type="slidenum">
              <a:rPr kumimoji="0" lang="ko-KR" altLang="en-US" sz="8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pPr marL="0" marR="0" lvl="0" indent="0" algn="ctr" defTabSz="453222" rtl="0" eaLnBrk="1" fontAlgn="auto" latinLnBrk="0" hangingPunct="1">
                <a:lnSpc>
                  <a:spcPct val="100000"/>
                </a:lnSpc>
                <a:spcBef>
                  <a:spcPts val="0"/>
                </a:spcBef>
                <a:spcAft>
                  <a:spcPts val="0"/>
                </a:spcAft>
                <a:buClrTx/>
                <a:buSzTx/>
                <a:buFontTx/>
                <a:buNone/>
                <a:tabLst/>
                <a:defRPr/>
              </a:pPr>
              <a:t>20</a:t>
            </a:fld>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2823944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FC503-A1F4-C13A-CF1F-195483A7A9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149329-B657-FDEB-C70D-7CDD76E47B56}"/>
              </a:ext>
            </a:extLst>
          </p:cNvPr>
          <p:cNvSpPr>
            <a:spLocks noGrp="1" noRot="1" noChangeAspect="1"/>
          </p:cNvSpPr>
          <p:nvPr>
            <p:ph type="sldImg"/>
          </p:nvPr>
        </p:nvSpPr>
        <p:spPr>
          <a:xfrm>
            <a:off x="2865438" y="850900"/>
            <a:ext cx="3317875" cy="2297113"/>
          </a:xfrm>
          <a:prstGeom prst="rect">
            <a:avLst/>
          </a:prstGeom>
        </p:spPr>
      </p:sp>
      <p:sp>
        <p:nvSpPr>
          <p:cNvPr id="3" name="슬라이드 노트 개체 틀 2">
            <a:extLst>
              <a:ext uri="{FF2B5EF4-FFF2-40B4-BE49-F238E27FC236}">
                <a16:creationId xmlns:a16="http://schemas.microsoft.com/office/drawing/2014/main" id="{F442E20F-4301-C875-C141-84CA561A7C93}"/>
              </a:ext>
            </a:extLst>
          </p:cNvPr>
          <p:cNvSpPr>
            <a:spLocks noGrp="1"/>
          </p:cNvSpPr>
          <p:nvPr>
            <p:ph type="body" idx="1"/>
          </p:nvPr>
        </p:nvSpPr>
        <p:spPr>
          <a:xfrm>
            <a:off x="904804" y="3276164"/>
            <a:ext cx="7238432" cy="2680498"/>
          </a:xfrm>
          <a:prstGeom prst="rect">
            <a:avLst/>
          </a:prstGeom>
        </p:spPr>
        <p:txBody>
          <a:bodyPr/>
          <a:lstStyle/>
          <a:p>
            <a:endParaRPr lang="ko-KR" altLang="en-US" dirty="0"/>
          </a:p>
        </p:txBody>
      </p:sp>
      <p:sp>
        <p:nvSpPr>
          <p:cNvPr id="4" name="슬라이드 번호 개체 틀 3">
            <a:extLst>
              <a:ext uri="{FF2B5EF4-FFF2-40B4-BE49-F238E27FC236}">
                <a16:creationId xmlns:a16="http://schemas.microsoft.com/office/drawing/2014/main" id="{0A835C8D-BE04-A7D3-9FC4-C0488E34798A}"/>
              </a:ext>
            </a:extLst>
          </p:cNvPr>
          <p:cNvSpPr>
            <a:spLocks noGrp="1"/>
          </p:cNvSpPr>
          <p:nvPr>
            <p:ph type="sldNum" sz="quarter" idx="10"/>
          </p:nvPr>
        </p:nvSpPr>
        <p:spPr/>
        <p:txBody>
          <a:bodyPr/>
          <a:lstStyle/>
          <a:p>
            <a:pPr algn="ctr" defTabSz="453222" latinLnBrk="0">
              <a:defRPr/>
            </a:pPr>
            <a:fld id="{EAABB562-1F47-44B2-9DF8-F2AB0EAE6872}" type="slidenum">
              <a:rPr lang="ko-KR" altLang="en-US" sz="800">
                <a:solidFill>
                  <a:prstClr val="black"/>
                </a:solidFill>
                <a:latin typeface="맑은 고딕" panose="020F0502020204030204"/>
                <a:ea typeface="맑은 고딕" panose="020B0503020000020004" pitchFamily="50" charset="-127"/>
              </a:rPr>
              <a:pPr algn="ctr" defTabSz="453222" latinLnBrk="0">
                <a:defRPr/>
              </a:pPr>
              <a:t>21</a:t>
            </a:fld>
            <a:endParaRPr lang="ko-KR" altLang="en-US" sz="800" dirty="0">
              <a:solidFill>
                <a:prstClr val="black"/>
              </a:solidFill>
              <a:latin typeface="맑은 고딕" panose="020F0502020204030204"/>
              <a:ea typeface="맑은 고딕" panose="020B0503020000020004" pitchFamily="50" charset="-127"/>
            </a:endParaRPr>
          </a:p>
        </p:txBody>
      </p:sp>
    </p:spTree>
    <p:extLst>
      <p:ext uri="{BB962C8B-B14F-4D97-AF65-F5344CB8AC3E}">
        <p14:creationId xmlns:p14="http://schemas.microsoft.com/office/powerpoint/2010/main" val="208006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75609-09E3-B21A-6B6A-7D7C5074616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8E5F689-1597-81EC-38EA-7105AD8EFE8F}"/>
              </a:ext>
            </a:extLst>
          </p:cNvPr>
          <p:cNvSpPr>
            <a:spLocks noGrp="1" noRot="1" noChangeAspect="1"/>
          </p:cNvSpPr>
          <p:nvPr>
            <p:ph type="sldImg"/>
          </p:nvPr>
        </p:nvSpPr>
        <p:spPr>
          <a:xfrm>
            <a:off x="2865438" y="850900"/>
            <a:ext cx="3317875" cy="2297113"/>
          </a:xfrm>
          <a:prstGeom prst="rect">
            <a:avLst/>
          </a:prstGeom>
        </p:spPr>
      </p:sp>
      <p:sp>
        <p:nvSpPr>
          <p:cNvPr id="3" name="슬라이드 노트 개체 틀 2">
            <a:extLst>
              <a:ext uri="{FF2B5EF4-FFF2-40B4-BE49-F238E27FC236}">
                <a16:creationId xmlns:a16="http://schemas.microsoft.com/office/drawing/2014/main" id="{A2AA722B-9405-27C2-AA4E-77F1ED71BCC6}"/>
              </a:ext>
            </a:extLst>
          </p:cNvPr>
          <p:cNvSpPr>
            <a:spLocks noGrp="1"/>
          </p:cNvSpPr>
          <p:nvPr>
            <p:ph type="body" idx="1"/>
          </p:nvPr>
        </p:nvSpPr>
        <p:spPr>
          <a:xfrm>
            <a:off x="904804" y="3276164"/>
            <a:ext cx="7238432" cy="2680498"/>
          </a:xfrm>
          <a:prstGeom prst="rect">
            <a:avLst/>
          </a:prstGeom>
        </p:spPr>
        <p:txBody>
          <a:bodyPr/>
          <a:lstStyle/>
          <a:p>
            <a:endParaRPr lang="ko-KR" altLang="en-US" dirty="0"/>
          </a:p>
        </p:txBody>
      </p:sp>
      <p:sp>
        <p:nvSpPr>
          <p:cNvPr id="4" name="슬라이드 번호 개체 틀 3">
            <a:extLst>
              <a:ext uri="{FF2B5EF4-FFF2-40B4-BE49-F238E27FC236}">
                <a16:creationId xmlns:a16="http://schemas.microsoft.com/office/drawing/2014/main" id="{F0B1346D-9C3D-503E-70A4-A5B53BD4FD5C}"/>
              </a:ext>
            </a:extLst>
          </p:cNvPr>
          <p:cNvSpPr>
            <a:spLocks noGrp="1"/>
          </p:cNvSpPr>
          <p:nvPr>
            <p:ph type="sldNum" sz="quarter" idx="10"/>
          </p:nvPr>
        </p:nvSpPr>
        <p:spPr/>
        <p:txBody>
          <a:bodyPr/>
          <a:lstStyle/>
          <a:p>
            <a:pPr algn="ctr" defTabSz="453222" latinLnBrk="0">
              <a:defRPr/>
            </a:pPr>
            <a:fld id="{EAABB562-1F47-44B2-9DF8-F2AB0EAE6872}" type="slidenum">
              <a:rPr lang="ko-KR" altLang="en-US" sz="800">
                <a:solidFill>
                  <a:prstClr val="black"/>
                </a:solidFill>
                <a:latin typeface="맑은 고딕" panose="020F0502020204030204"/>
                <a:ea typeface="맑은 고딕" panose="020B0503020000020004" pitchFamily="50" charset="-127"/>
              </a:rPr>
              <a:pPr algn="ctr" defTabSz="453222" latinLnBrk="0">
                <a:defRPr/>
              </a:pPr>
              <a:t>22</a:t>
            </a:fld>
            <a:endParaRPr lang="ko-KR" altLang="en-US" sz="800" dirty="0">
              <a:solidFill>
                <a:prstClr val="black"/>
              </a:solidFill>
              <a:latin typeface="맑은 고딕" panose="020F0502020204030204"/>
              <a:ea typeface="맑은 고딕" panose="020B0503020000020004" pitchFamily="50" charset="-127"/>
            </a:endParaRPr>
          </a:p>
        </p:txBody>
      </p:sp>
    </p:spTree>
    <p:extLst>
      <p:ext uri="{BB962C8B-B14F-4D97-AF65-F5344CB8AC3E}">
        <p14:creationId xmlns:p14="http://schemas.microsoft.com/office/powerpoint/2010/main" val="34412538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49F61A5-735D-46E6-8E78-77372AA24824}"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ko-KR" altLang="en-US" sz="12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288623632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1.png"/><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7.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1.png"/><Relationship Id="rId5" Type="http://schemas.openxmlformats.org/officeDocument/2006/relationships/tags" Target="../tags/tag14.xml"/><Relationship Id="rId10" Type="http://schemas.openxmlformats.org/officeDocument/2006/relationships/slideMaster" Target="../slideMasters/slideMaster2.xml"/><Relationship Id="rId4" Type="http://schemas.openxmlformats.org/officeDocument/2006/relationships/tags" Target="../tags/tag13.xml"/><Relationship Id="rId9" Type="http://schemas.openxmlformats.org/officeDocument/2006/relationships/tags" Target="../tags/tag1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1.png"/><Relationship Id="rId5" Type="http://schemas.openxmlformats.org/officeDocument/2006/relationships/tags" Target="../tags/tag23.xml"/><Relationship Id="rId10" Type="http://schemas.openxmlformats.org/officeDocument/2006/relationships/slideMaster" Target="../slideMasters/slideMaster4.xml"/><Relationship Id="rId4" Type="http://schemas.openxmlformats.org/officeDocument/2006/relationships/tags" Target="../tags/tag22.xml"/><Relationship Id="rId9" Type="http://schemas.openxmlformats.org/officeDocument/2006/relationships/tags" Target="../tags/tag2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2" name="제목 1"/>
          <p:cNvSpPr>
            <a:spLocks noGrp="1"/>
          </p:cNvSpPr>
          <p:nvPr>
            <p:ph type="ctrTitle"/>
            <p:custDataLst>
              <p:tags r:id="rId1"/>
            </p:custDataLst>
          </p:nvPr>
        </p:nvSpPr>
        <p:spPr>
          <a:xfrm>
            <a:off x="1050752" y="1863716"/>
            <a:ext cx="7189342" cy="584775"/>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custDataLst>
              <p:tags r:id="rId2"/>
            </p:custDataLst>
          </p:nvPr>
        </p:nvSpPr>
        <p:spPr bwMode="gray">
          <a:xfrm>
            <a:off x="4442044" y="6660775"/>
            <a:ext cx="10150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a:ea typeface="맑은 고딕" pitchFamily="50" charset="-127"/>
              </a:defRPr>
            </a:lvl1pPr>
            <a:lvl2pPr marL="742950" indent="-285750" eaLnBrk="0" hangingPunct="0">
              <a:defRPr kumimoji="1" sz="1200" b="1">
                <a:solidFill>
                  <a:schemeClr val="tx1"/>
                </a:solidFill>
                <a:latin typeface="Arial"/>
                <a:ea typeface="맑은 고딕" pitchFamily="50" charset="-127"/>
              </a:defRPr>
            </a:lvl2pPr>
            <a:lvl3pPr marL="1143000" indent="-228600" eaLnBrk="0" hangingPunct="0">
              <a:defRPr kumimoji="1" sz="1200" b="1">
                <a:solidFill>
                  <a:schemeClr val="tx1"/>
                </a:solidFill>
                <a:latin typeface="Arial"/>
                <a:ea typeface="맑은 고딕" pitchFamily="50" charset="-127"/>
              </a:defRPr>
            </a:lvl3pPr>
            <a:lvl4pPr marL="1600200" indent="-228600" eaLnBrk="0" hangingPunct="0">
              <a:defRPr kumimoji="1" sz="1200" b="1">
                <a:solidFill>
                  <a:schemeClr val="tx1"/>
                </a:solidFill>
                <a:latin typeface="Arial"/>
                <a:ea typeface="맑은 고딕" pitchFamily="50" charset="-127"/>
              </a:defRPr>
            </a:lvl4pPr>
            <a:lvl5pPr marL="2057400" indent="-228600" eaLnBrk="0" hangingPunct="0">
              <a:defRPr kumimoji="1" sz="1200" b="1">
                <a:solidFill>
                  <a:schemeClr val="tx1"/>
                </a:solidFill>
                <a:latin typeface="Arial"/>
                <a:ea typeface="맑은 고딕" pitchFamily="50" charset="-127"/>
              </a:defRPr>
            </a:lvl5pPr>
            <a:lvl6pPr marL="25146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6pPr>
            <a:lvl7pPr marL="29718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7pPr>
            <a:lvl8pPr marL="34290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8pPr>
            <a:lvl9pPr marL="38862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9pPr>
          </a:lstStyle>
          <a:p>
            <a:pPr algn="dist" eaLnBrk="1" latinLnBrk="0" hangingPunct="1">
              <a:spcBef>
                <a:spcPct val="50000"/>
              </a:spcBef>
            </a:pPr>
            <a:r>
              <a:rPr lang="ko-KR" altLang="en-US" sz="800" b="1">
                <a:solidFill>
                  <a:srgbClr val="A50034"/>
                </a:solidFill>
                <a:latin typeface="LG스마트체2.0 SemiBold" panose="020B0600000101010101" pitchFamily="50" charset="-127"/>
                <a:ea typeface="LG스마트체2.0 SemiBold" panose="020B0600000101010101" pitchFamily="50" charset="-127"/>
              </a:rPr>
              <a:t>｜</a:t>
            </a:r>
            <a:r>
              <a:rPr lang="en-US" altLang="ko-KR" sz="800" b="0">
                <a:solidFill>
                  <a:srgbClr val="A50034"/>
                </a:solidFill>
                <a:latin typeface="LG스마트체2.0 Bold" panose="020B0600000101010101" pitchFamily="50" charset="-127"/>
                <a:ea typeface="LG스마트체2.0 Bold" panose="020B0600000101010101" pitchFamily="50" charset="-127"/>
              </a:rPr>
              <a:t>CONFIDENTIAL</a:t>
            </a:r>
            <a:r>
              <a:rPr lang="ko-KR" altLang="en-US" sz="800" b="1">
                <a:solidFill>
                  <a:srgbClr val="A50034"/>
                </a:solidFill>
                <a:latin typeface="LG스마트체2.0 SemiBold" panose="020B0600000101010101" pitchFamily="50" charset="-127"/>
                <a:ea typeface="LG스마트체2.0 SemiBold" panose="020B0600000101010101" pitchFamily="50" charset="-127"/>
              </a:rPr>
              <a:t>｜</a:t>
            </a:r>
            <a:endParaRPr lang="en-US" altLang="ko-KR" sz="800"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custDataLst>
              <p:tags r:id="rId3"/>
            </p:custDataLst>
          </p:nvPr>
        </p:nvSpPr>
        <p:spPr>
          <a:xfrm>
            <a:off x="1208089" y="2565400"/>
            <a:ext cx="6961187"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181" indent="0">
              <a:buNone/>
              <a:defRPr lang="ko-KR" altLang="en-US" smtClean="0"/>
            </a:lvl2pPr>
            <a:lvl3pPr marL="914361" indent="0">
              <a:buNone/>
              <a:defRPr lang="ko-KR" altLang="en-US" smtClean="0"/>
            </a:lvl3pPr>
            <a:lvl4pPr marL="1371543" indent="0">
              <a:buNone/>
              <a:defRPr lang="ko-KR" altLang="en-US" smtClean="0"/>
            </a:lvl4pPr>
            <a:lvl5pPr marL="1828724" indent="0">
              <a:buNone/>
              <a:defRPr lang="ko-KR" altLang="en-US"/>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custDataLst>
              <p:tags r:id="rId4"/>
            </p:custDataLst>
          </p:nvPr>
        </p:nvSpPr>
        <p:spPr>
          <a:xfrm>
            <a:off x="1208089" y="5176203"/>
            <a:ext cx="6960333"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buNone/>
              <a:defRPr lang="ko-KR" altLang="en-US" smtClean="0"/>
            </a:lvl2pPr>
            <a:lvl3pPr marL="914361" indent="0">
              <a:buNone/>
              <a:defRPr lang="ko-KR" altLang="en-US" smtClean="0"/>
            </a:lvl3pPr>
            <a:lvl4pPr marL="1371543" indent="0">
              <a:buNone/>
              <a:defRPr lang="ko-KR" altLang="en-US" smtClean="0"/>
            </a:lvl4pPr>
            <a:lvl5pPr marL="1828724" indent="0">
              <a:buNone/>
              <a:defRPr lang="ko-KR" altLang="en-US"/>
            </a:lvl5pPr>
          </a:lstStyle>
          <a:p>
            <a:pPr lvl="0">
              <a:spcBef>
                <a:spcPct val="0"/>
              </a:spcBef>
              <a:buNone/>
            </a:pPr>
            <a:r>
              <a:rPr lang="ko-KR" altLang="en-US"/>
              <a:t>마스터 텍스트 스타일을 편집합니다</a:t>
            </a:r>
          </a:p>
        </p:txBody>
      </p:sp>
      <p:grpSp>
        <p:nvGrpSpPr>
          <p:cNvPr id="12" name="그룹 11"/>
          <p:cNvGrpSpPr/>
          <p:nvPr userDrawn="1">
            <p:custDataLst>
              <p:tags r:id="rId5"/>
            </p:custDataLst>
          </p:nvPr>
        </p:nvGrpSpPr>
        <p:grpSpPr>
          <a:xfrm>
            <a:off x="200025" y="188914"/>
            <a:ext cx="9505950" cy="6480175"/>
            <a:chOff x="200025" y="188913"/>
            <a:chExt cx="9505950" cy="6480175"/>
          </a:xfrm>
        </p:grpSpPr>
        <p:sp>
          <p:nvSpPr>
            <p:cNvPr id="17" name="직사각형 16"/>
            <p:cNvSpPr/>
            <p:nvPr>
              <p:custDataLst>
                <p:tags r:id="rId7"/>
              </p:custDataLst>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sz="1800"/>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8"/>
              </p:custDataLst>
            </p:nvPr>
          </p:nvPicPr>
          <p:blipFill>
            <a:blip r:embed="rId11">
              <a:extLst>
                <a:ext uri="{28A0092B-C50C-407E-A947-70E740481C1C}">
                  <a14:useLocalDpi xmlns:a14="http://schemas.microsoft.com/office/drawing/2010/main" val="0"/>
                </a:ext>
              </a:extLst>
            </a:blip>
            <a:srcRect r="88574" b="66436"/>
            <a:stretch>
              <a:fill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9"/>
              </p:custDataLst>
            </p:nvPr>
          </p:nvPicPr>
          <p:blipFill>
            <a:blip r:embed="rId12">
              <a:extLst>
                <a:ext uri="{28A0092B-C50C-407E-A947-70E740481C1C}">
                  <a14:useLocalDpi xmlns:a14="http://schemas.microsoft.com/office/drawing/2010/main" val="0"/>
                </a:ext>
              </a:extLst>
            </a:blip>
            <a:srcRect l="77355" t="77614"/>
            <a:stretch>
              <a:fill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sp useBgFill="1">
        <p:nvSpPr>
          <p:cNvPr id="3" name="직사각형 2"/>
          <p:cNvSpPr/>
          <p:nvPr userDrawn="1">
            <p:custDataLst>
              <p:tags r:id="rId6"/>
            </p:custDataLst>
          </p:nvPr>
        </p:nvSpPr>
        <p:spPr>
          <a:xfrm>
            <a:off x="9273481" y="6677891"/>
            <a:ext cx="632519" cy="162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181707238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6"/>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2999818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5_제목_Head">
    <p:spTree>
      <p:nvGrpSpPr>
        <p:cNvPr id="1" name=""/>
        <p:cNvGrpSpPr/>
        <p:nvPr/>
      </p:nvGrpSpPr>
      <p:grpSpPr>
        <a:xfrm>
          <a:off x="0" y="0"/>
          <a:ext cx="0" cy="0"/>
          <a:chOff x="0" y="0"/>
          <a:chExt cx="0" cy="0"/>
        </a:xfrm>
      </p:grpSpPr>
      <p:sp>
        <p:nvSpPr>
          <p:cNvPr id="9" name="내용 개체 틀 3"/>
          <p:cNvSpPr>
            <a:spLocks noGrp="1"/>
          </p:cNvSpPr>
          <p:nvPr>
            <p:ph idx="1"/>
          </p:nvPr>
        </p:nvSpPr>
        <p:spPr>
          <a:xfrm>
            <a:off x="273050" y="657511"/>
            <a:ext cx="9359900" cy="503237"/>
          </a:xfrm>
          <a:prstGeom prst="rect">
            <a:avLst/>
          </a:prstGeom>
        </p:spPr>
        <p:txBody>
          <a:bodyPr/>
          <a:lstStyle>
            <a:lvl1pPr marL="0" indent="0">
              <a:buFontTx/>
              <a:buNone/>
              <a:defRPr sz="1600" b="1">
                <a:latin typeface="LG스마트체 Regular" panose="020B0600000101010101" pitchFamily="50" charset="-127"/>
                <a:ea typeface="LG스마트체 Regular" panose="020B0600000101010101" pitchFamily="50" charset="-127"/>
              </a:defRPr>
            </a:lvl1pPr>
          </a:lstStyle>
          <a:p>
            <a:endParaRPr lang="en-US" altLang="ko-KR"/>
          </a:p>
        </p:txBody>
      </p:sp>
      <p:sp>
        <p:nvSpPr>
          <p:cNvPr id="11" name="제목 1"/>
          <p:cNvSpPr>
            <a:spLocks noGrp="1"/>
          </p:cNvSpPr>
          <p:nvPr>
            <p:ph type="title"/>
          </p:nvPr>
        </p:nvSpPr>
        <p:spPr>
          <a:xfrm>
            <a:off x="134568" y="141836"/>
            <a:ext cx="184731" cy="392672"/>
          </a:xfr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none" lIns="91440" tIns="45720" rIns="91440" bIns="45720" numCol="1" anchor="ctr" anchorCtr="0" compatLnSpc="1">
            <a:prstTxWarp prst="textNoShape">
              <a:avLst/>
            </a:prstTxWarp>
            <a:spAutoFit/>
          </a:bodyPr>
          <a:lstStyle>
            <a:lvl1pPr>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defRPr>
            </a:lvl1pPr>
          </a:lstStyle>
          <a:p>
            <a:pPr lvl="0" algn="l" eaLnBrk="0" fontAlgn="base" hangingPunct="0">
              <a:lnSpc>
                <a:spcPct val="120000"/>
              </a:lnSpc>
              <a:spcBef>
                <a:spcPts val="600"/>
              </a:spcBef>
              <a:spcAft>
                <a:spcPct val="0"/>
              </a:spcAft>
            </a:pPr>
            <a:endParaRPr lang="ko-KR" altLang="en-US"/>
          </a:p>
        </p:txBody>
      </p:sp>
    </p:spTree>
    <p:extLst>
      <p:ext uri="{BB962C8B-B14F-4D97-AF65-F5344CB8AC3E}">
        <p14:creationId xmlns:p14="http://schemas.microsoft.com/office/powerpoint/2010/main" val="3304399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제목 슬라이드">
    <p:spTree>
      <p:nvGrpSpPr>
        <p:cNvPr id="1" name=""/>
        <p:cNvGrpSpPr/>
        <p:nvPr/>
      </p:nvGrpSpPr>
      <p:grpSpPr>
        <a:xfrm>
          <a:off x="0" y="0"/>
          <a:ext cx="0" cy="0"/>
          <a:chOff x="0" y="0"/>
          <a:chExt cx="0" cy="0"/>
        </a:xfrm>
      </p:grpSpPr>
      <p:sp>
        <p:nvSpPr>
          <p:cNvPr id="8" name="Text Box 2">
            <a:extLst>
              <a:ext uri="{FF2B5EF4-FFF2-40B4-BE49-F238E27FC236}">
                <a16:creationId xmlns:a16="http://schemas.microsoft.com/office/drawing/2014/main" id="{AC5A138C-4A2F-2D58-3A5E-D9F37C0B3CFC}"/>
              </a:ext>
            </a:extLst>
          </p:cNvPr>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latinLnBrk="0" hangingPunct="1">
              <a:spcBef>
                <a:spcPct val="50000"/>
              </a:spcBef>
            </a:pPr>
            <a:r>
              <a:rPr lang="ko-KR" altLang="en-US" sz="800" b="1" dirty="0">
                <a:solidFill>
                  <a:srgbClr val="595959"/>
                </a:solidFill>
                <a:latin typeface="LG스마트체2.0 SemiBold" panose="020B0600000101010101" pitchFamily="50" charset="-127"/>
                <a:ea typeface="LG스마트체2.0 SemiBold" panose="020B0600000101010101" pitchFamily="50" charset="-127"/>
              </a:rPr>
              <a:t>｜</a:t>
            </a:r>
            <a:r>
              <a:rPr lang="en-US" altLang="ko-KR" sz="800" b="0" dirty="0">
                <a:solidFill>
                  <a:srgbClr val="595959"/>
                </a:solidFill>
                <a:latin typeface="LG스마트체2.0 Bold" panose="020B0600000101010101" pitchFamily="50" charset="-127"/>
                <a:ea typeface="LG스마트체2.0 Bold" panose="020B0600000101010101" pitchFamily="50" charset="-127"/>
              </a:rPr>
              <a:t>CONFIDENTIAL</a:t>
            </a:r>
            <a:r>
              <a:rPr lang="ko-KR" altLang="en-US" sz="800" b="1" dirty="0">
                <a:solidFill>
                  <a:srgbClr val="595959"/>
                </a:solidFill>
                <a:latin typeface="LG스마트체2.0 SemiBold" panose="020B0600000101010101" pitchFamily="50" charset="-127"/>
                <a:ea typeface="LG스마트체2.0 SemiBold" panose="020B0600000101010101" pitchFamily="50" charset="-127"/>
              </a:rPr>
              <a:t>｜</a:t>
            </a:r>
            <a:endParaRPr lang="en-US" altLang="ko-KR" sz="800" b="1" dirty="0">
              <a:solidFill>
                <a:srgbClr val="595959"/>
              </a:solidFill>
              <a:latin typeface="LG스마트체2.0 SemiBold" panose="020B0600000101010101" pitchFamily="50" charset="-127"/>
              <a:ea typeface="LG스마트체2.0 SemiBold" panose="020B0600000101010101" pitchFamily="50" charset="-127"/>
            </a:endParaRPr>
          </a:p>
        </p:txBody>
      </p:sp>
      <p:cxnSp>
        <p:nvCxnSpPr>
          <p:cNvPr id="9" name="직선 연결선 8">
            <a:extLst>
              <a:ext uri="{FF2B5EF4-FFF2-40B4-BE49-F238E27FC236}">
                <a16:creationId xmlns:a16="http://schemas.microsoft.com/office/drawing/2014/main" id="{8F37E0B9-8BCF-B440-9910-7532DCFD023B}"/>
              </a:ext>
            </a:extLst>
          </p:cNvPr>
          <p:cNvCxnSpPr/>
          <p:nvPr userDrawn="1"/>
        </p:nvCxnSpPr>
        <p:spPr>
          <a:xfrm>
            <a:off x="200025" y="544512"/>
            <a:ext cx="950595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416B927A-6F3B-1B2D-20A9-FF1ED30C99A5}"/>
              </a:ext>
            </a:extLst>
          </p:cNvPr>
          <p:cNvCxnSpPr/>
          <p:nvPr userDrawn="1"/>
        </p:nvCxnSpPr>
        <p:spPr>
          <a:xfrm>
            <a:off x="200026" y="6654879"/>
            <a:ext cx="95059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0069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863713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8CBA59-ABCD-8461-59B8-DAE688BD393C}"/>
              </a:ext>
            </a:extLst>
          </p:cNvPr>
          <p:cNvSpPr>
            <a:spLocks noGrp="1"/>
          </p:cNvSpPr>
          <p:nvPr>
            <p:ph type="ctrTitle"/>
          </p:nvPr>
        </p:nvSpPr>
        <p:spPr>
          <a:xfrm>
            <a:off x="1238250" y="1122363"/>
            <a:ext cx="7429500" cy="2387600"/>
          </a:xfrm>
        </p:spPr>
        <p:txBody>
          <a:bodyPr anchor="b"/>
          <a:lstStyle>
            <a:lvl1pPr algn="ctr">
              <a:defRPr sz="4875"/>
            </a:lvl1pPr>
          </a:lstStyle>
          <a:p>
            <a:r>
              <a:rPr lang="ko-KR" altLang="en-US"/>
              <a:t>마스터 제목 스타일 편집</a:t>
            </a:r>
          </a:p>
        </p:txBody>
      </p:sp>
      <p:sp>
        <p:nvSpPr>
          <p:cNvPr id="3" name="부제목 2">
            <a:extLst>
              <a:ext uri="{FF2B5EF4-FFF2-40B4-BE49-F238E27FC236}">
                <a16:creationId xmlns:a16="http://schemas.microsoft.com/office/drawing/2014/main" id="{E626B11B-57CD-2510-FCEC-BF588C6EE408}"/>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62E9BD6A-4497-892D-B296-4F6940B0CC46}"/>
              </a:ext>
            </a:extLst>
          </p:cNvPr>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FE5BB352-08DA-0F21-CE8D-6ED4E2075D7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FB4438-7E8A-9F6A-D215-1C411167A502}"/>
              </a:ext>
            </a:extLst>
          </p:cNvPr>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4283900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29A8F7D-01B8-74C2-5E1F-0E46A929311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5986954-9737-4879-2BD9-183756227516}"/>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7E93E7B-61AB-ED58-7686-4F4125414CD8}"/>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5" name="바닥글 개체 틀 4">
            <a:extLst>
              <a:ext uri="{FF2B5EF4-FFF2-40B4-BE49-F238E27FC236}">
                <a16:creationId xmlns:a16="http://schemas.microsoft.com/office/drawing/2014/main" id="{C6499A18-C505-5105-321E-F28820FC8CC9}"/>
              </a:ext>
            </a:extLst>
          </p:cNvPr>
          <p:cNvSpPr>
            <a:spLocks noGrp="1"/>
          </p:cNvSpPr>
          <p:nvPr>
            <p:ph type="ftr" sz="quarter" idx="11"/>
          </p:nvPr>
        </p:nvSpPr>
        <p:spPr/>
        <p:txBody>
          <a:bodyPr/>
          <a:lstStyle/>
          <a:p>
            <a:endParaRPr lang="en-US" dirty="0"/>
          </a:p>
        </p:txBody>
      </p:sp>
      <p:sp>
        <p:nvSpPr>
          <p:cNvPr id="6" name="슬라이드 번호 개체 틀 5">
            <a:extLst>
              <a:ext uri="{FF2B5EF4-FFF2-40B4-BE49-F238E27FC236}">
                <a16:creationId xmlns:a16="http://schemas.microsoft.com/office/drawing/2014/main" id="{97757765-82E7-DFF6-8C67-9745FF1F3601}"/>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0147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A780869-D159-5CE5-7E15-2F2F3F893106}"/>
              </a:ext>
            </a:extLst>
          </p:cNvPr>
          <p:cNvSpPr>
            <a:spLocks noGrp="1"/>
          </p:cNvSpPr>
          <p:nvPr>
            <p:ph type="title"/>
          </p:nvPr>
        </p:nvSpPr>
        <p:spPr>
          <a:xfrm>
            <a:off x="675878" y="1709739"/>
            <a:ext cx="8543925" cy="2852737"/>
          </a:xfrm>
        </p:spPr>
        <p:txBody>
          <a:bodyPr anchor="b"/>
          <a:lstStyle>
            <a:lvl1pPr>
              <a:defRPr sz="4875"/>
            </a:lvl1pPr>
          </a:lstStyle>
          <a:p>
            <a:r>
              <a:rPr lang="ko-KR" altLang="en-US"/>
              <a:t>마스터 제목 스타일 편집</a:t>
            </a:r>
          </a:p>
        </p:txBody>
      </p:sp>
      <p:sp>
        <p:nvSpPr>
          <p:cNvPr id="3" name="텍스트 개체 틀 2">
            <a:extLst>
              <a:ext uri="{FF2B5EF4-FFF2-40B4-BE49-F238E27FC236}">
                <a16:creationId xmlns:a16="http://schemas.microsoft.com/office/drawing/2014/main" id="{41B07D0B-2EC0-7F62-72DA-EC90635BE943}"/>
              </a:ext>
            </a:extLst>
          </p:cNvPr>
          <p:cNvSpPr>
            <a:spLocks noGrp="1"/>
          </p:cNvSpPr>
          <p:nvPr>
            <p:ph type="body" idx="1"/>
          </p:nvPr>
        </p:nvSpPr>
        <p:spPr>
          <a:xfrm>
            <a:off x="675878" y="4589464"/>
            <a:ext cx="8543925" cy="1500187"/>
          </a:xfrm>
        </p:spPr>
        <p:txBody>
          <a:bodyPr/>
          <a:lstStyle>
            <a:lvl1pPr marL="0" indent="0">
              <a:buNone/>
              <a:defRPr sz="1950">
                <a:solidFill>
                  <a:schemeClr val="tx1">
                    <a:tint val="82000"/>
                  </a:schemeClr>
                </a:solidFill>
              </a:defRPr>
            </a:lvl1pPr>
            <a:lvl2pPr marL="371475" indent="0">
              <a:buNone/>
              <a:defRPr sz="1625">
                <a:solidFill>
                  <a:schemeClr val="tx1">
                    <a:tint val="82000"/>
                  </a:schemeClr>
                </a:solidFill>
              </a:defRPr>
            </a:lvl2pPr>
            <a:lvl3pPr marL="742950" indent="0">
              <a:buNone/>
              <a:defRPr sz="1463">
                <a:solidFill>
                  <a:schemeClr val="tx1">
                    <a:tint val="82000"/>
                  </a:schemeClr>
                </a:solidFill>
              </a:defRPr>
            </a:lvl3pPr>
            <a:lvl4pPr marL="1114425" indent="0">
              <a:buNone/>
              <a:defRPr sz="1300">
                <a:solidFill>
                  <a:schemeClr val="tx1">
                    <a:tint val="82000"/>
                  </a:schemeClr>
                </a:solidFill>
              </a:defRPr>
            </a:lvl4pPr>
            <a:lvl5pPr marL="1485900" indent="0">
              <a:buNone/>
              <a:defRPr sz="1300">
                <a:solidFill>
                  <a:schemeClr val="tx1">
                    <a:tint val="82000"/>
                  </a:schemeClr>
                </a:solidFill>
              </a:defRPr>
            </a:lvl5pPr>
            <a:lvl6pPr marL="1857375" indent="0">
              <a:buNone/>
              <a:defRPr sz="1300">
                <a:solidFill>
                  <a:schemeClr val="tx1">
                    <a:tint val="82000"/>
                  </a:schemeClr>
                </a:solidFill>
              </a:defRPr>
            </a:lvl6pPr>
            <a:lvl7pPr marL="2228850" indent="0">
              <a:buNone/>
              <a:defRPr sz="1300">
                <a:solidFill>
                  <a:schemeClr val="tx1">
                    <a:tint val="82000"/>
                  </a:schemeClr>
                </a:solidFill>
              </a:defRPr>
            </a:lvl7pPr>
            <a:lvl8pPr marL="2600325" indent="0">
              <a:buNone/>
              <a:defRPr sz="1300">
                <a:solidFill>
                  <a:schemeClr val="tx1">
                    <a:tint val="82000"/>
                  </a:schemeClr>
                </a:solidFill>
              </a:defRPr>
            </a:lvl8pPr>
            <a:lvl9pPr marL="2971800" indent="0">
              <a:buNone/>
              <a:defRPr sz="13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AF8BEAA6-26C7-09FD-FB48-8E8AEB504EC5}"/>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5" name="바닥글 개체 틀 4">
            <a:extLst>
              <a:ext uri="{FF2B5EF4-FFF2-40B4-BE49-F238E27FC236}">
                <a16:creationId xmlns:a16="http://schemas.microsoft.com/office/drawing/2014/main" id="{F8A3760B-C3E8-0286-054B-71ABE14BBD89}"/>
              </a:ext>
            </a:extLst>
          </p:cNvPr>
          <p:cNvSpPr>
            <a:spLocks noGrp="1"/>
          </p:cNvSpPr>
          <p:nvPr>
            <p:ph type="ftr" sz="quarter" idx="11"/>
          </p:nvPr>
        </p:nvSpPr>
        <p:spPr/>
        <p:txBody>
          <a:bodyPr/>
          <a:lstStyle/>
          <a:p>
            <a:endParaRPr lang="en-US" dirty="0"/>
          </a:p>
        </p:txBody>
      </p:sp>
      <p:sp>
        <p:nvSpPr>
          <p:cNvPr id="6" name="슬라이드 번호 개체 틀 5">
            <a:extLst>
              <a:ext uri="{FF2B5EF4-FFF2-40B4-BE49-F238E27FC236}">
                <a16:creationId xmlns:a16="http://schemas.microsoft.com/office/drawing/2014/main" id="{83B612BC-5387-61A3-558E-7A5DCB75058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49938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0083C0-882B-F377-CC6A-0A014D9241E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A181CE-EE73-DAD5-5C37-8AAA2C1FADD6}"/>
              </a:ext>
            </a:extLst>
          </p:cNvPr>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858A8AC-C66F-BAF5-2867-1BB1A5723FBF}"/>
              </a:ext>
            </a:extLst>
          </p:cNvPr>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95210CF-1866-BCC8-3409-05184364E1B9}"/>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6" name="바닥글 개체 틀 5">
            <a:extLst>
              <a:ext uri="{FF2B5EF4-FFF2-40B4-BE49-F238E27FC236}">
                <a16:creationId xmlns:a16="http://schemas.microsoft.com/office/drawing/2014/main" id="{C749FC2F-3CF1-513E-F6FB-E17860591737}"/>
              </a:ext>
            </a:extLst>
          </p:cNvPr>
          <p:cNvSpPr>
            <a:spLocks noGrp="1"/>
          </p:cNvSpPr>
          <p:nvPr>
            <p:ph type="ftr" sz="quarter" idx="11"/>
          </p:nvPr>
        </p:nvSpPr>
        <p:spPr/>
        <p:txBody>
          <a:bodyPr/>
          <a:lstStyle/>
          <a:p>
            <a:endParaRPr lang="en-US" dirty="0"/>
          </a:p>
        </p:txBody>
      </p:sp>
      <p:sp>
        <p:nvSpPr>
          <p:cNvPr id="7" name="슬라이드 번호 개체 틀 6">
            <a:extLst>
              <a:ext uri="{FF2B5EF4-FFF2-40B4-BE49-F238E27FC236}">
                <a16:creationId xmlns:a16="http://schemas.microsoft.com/office/drawing/2014/main" id="{B58DAB19-40C0-9BE1-3FDE-57B8A9B6A265}"/>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90485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03DEC4-9BFB-ECC8-FD1F-D154425F8680}"/>
              </a:ext>
            </a:extLst>
          </p:cNvPr>
          <p:cNvSpPr>
            <a:spLocks noGrp="1"/>
          </p:cNvSpPr>
          <p:nvPr>
            <p:ph type="title"/>
          </p:nvPr>
        </p:nvSpPr>
        <p:spPr>
          <a:xfrm>
            <a:off x="682328" y="365126"/>
            <a:ext cx="8543925"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D8641F37-A647-C6AA-EECD-1D4C6B60207E}"/>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BE8B5AD0-269D-6B61-7F5A-B5BD02258515}"/>
              </a:ext>
            </a:extLst>
          </p:cNvPr>
          <p:cNvSpPr>
            <a:spLocks noGrp="1"/>
          </p:cNvSpPr>
          <p:nvPr>
            <p:ph sz="half" idx="2"/>
          </p:nvPr>
        </p:nvSpPr>
        <p:spPr>
          <a:xfrm>
            <a:off x="682328"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E3453736-4490-1859-0528-99F4E583EFAF}"/>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B11993E6-7D5C-E999-97E5-96D308639082}"/>
              </a:ext>
            </a:extLst>
          </p:cNvPr>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E2765B2-B90C-DCB2-2CF3-C1371680304E}"/>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8" name="바닥글 개체 틀 7">
            <a:extLst>
              <a:ext uri="{FF2B5EF4-FFF2-40B4-BE49-F238E27FC236}">
                <a16:creationId xmlns:a16="http://schemas.microsoft.com/office/drawing/2014/main" id="{0CE6D939-0DA1-2902-F8FD-06246C11EC43}"/>
              </a:ext>
            </a:extLst>
          </p:cNvPr>
          <p:cNvSpPr>
            <a:spLocks noGrp="1"/>
          </p:cNvSpPr>
          <p:nvPr>
            <p:ph type="ftr" sz="quarter" idx="11"/>
          </p:nvPr>
        </p:nvSpPr>
        <p:spPr/>
        <p:txBody>
          <a:bodyPr/>
          <a:lstStyle/>
          <a:p>
            <a:endParaRPr lang="en-US" dirty="0"/>
          </a:p>
        </p:txBody>
      </p:sp>
      <p:sp>
        <p:nvSpPr>
          <p:cNvPr id="9" name="슬라이드 번호 개체 틀 8">
            <a:extLst>
              <a:ext uri="{FF2B5EF4-FFF2-40B4-BE49-F238E27FC236}">
                <a16:creationId xmlns:a16="http://schemas.microsoft.com/office/drawing/2014/main" id="{ABC88CBE-F1E9-A507-C53D-C5243151A28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23157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E703810-4837-EB80-46FF-99B24971762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D119C3E-4CED-CA56-1537-F566D058D346}"/>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4" name="바닥글 개체 틀 3">
            <a:extLst>
              <a:ext uri="{FF2B5EF4-FFF2-40B4-BE49-F238E27FC236}">
                <a16:creationId xmlns:a16="http://schemas.microsoft.com/office/drawing/2014/main" id="{46B8ECE7-BE59-30BD-81E2-D420594E688B}"/>
              </a:ext>
            </a:extLst>
          </p:cNvPr>
          <p:cNvSpPr>
            <a:spLocks noGrp="1"/>
          </p:cNvSpPr>
          <p:nvPr>
            <p:ph type="ftr" sz="quarter" idx="11"/>
          </p:nvPr>
        </p:nvSpPr>
        <p:spPr/>
        <p:txBody>
          <a:bodyPr/>
          <a:lstStyle/>
          <a:p>
            <a:endParaRPr lang="en-US" dirty="0"/>
          </a:p>
        </p:txBody>
      </p:sp>
      <p:sp>
        <p:nvSpPr>
          <p:cNvPr id="5" name="슬라이드 번호 개체 틀 4">
            <a:extLst>
              <a:ext uri="{FF2B5EF4-FFF2-40B4-BE49-F238E27FC236}">
                <a16:creationId xmlns:a16="http://schemas.microsoft.com/office/drawing/2014/main" id="{CA946D84-901B-E84F-5DB6-FFCD6B984D5D}"/>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34458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B289E9C6-A2F2-7A46-B313-5C09BAA17556}"/>
              </a:ext>
            </a:extLst>
          </p:cNvPr>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3" name="바닥글 개체 틀 2">
            <a:extLst>
              <a:ext uri="{FF2B5EF4-FFF2-40B4-BE49-F238E27FC236}">
                <a16:creationId xmlns:a16="http://schemas.microsoft.com/office/drawing/2014/main" id="{9EFC7519-F9EC-F7B1-C6D8-67C0FC42CE0F}"/>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F70AAFA-30DF-B7C0-7CF3-B7A804C07B0E}"/>
              </a:ext>
            </a:extLst>
          </p:cNvPr>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714755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480FDDA-860B-2B54-3512-30DE4D0C50D1}"/>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내용 개체 틀 2">
            <a:extLst>
              <a:ext uri="{FF2B5EF4-FFF2-40B4-BE49-F238E27FC236}">
                <a16:creationId xmlns:a16="http://schemas.microsoft.com/office/drawing/2014/main" id="{6EA2F394-A055-0988-D35E-6C5FBFC277CF}"/>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E65F75E-398F-8DD0-1F35-CB20AF4E8736}"/>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D5FDB96-CC6D-9C5E-4F57-69F8056F7D12}"/>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6" name="바닥글 개체 틀 5">
            <a:extLst>
              <a:ext uri="{FF2B5EF4-FFF2-40B4-BE49-F238E27FC236}">
                <a16:creationId xmlns:a16="http://schemas.microsoft.com/office/drawing/2014/main" id="{BCE8C76A-19D7-2C74-C931-981D1A66FDE0}"/>
              </a:ext>
            </a:extLst>
          </p:cNvPr>
          <p:cNvSpPr>
            <a:spLocks noGrp="1"/>
          </p:cNvSpPr>
          <p:nvPr>
            <p:ph type="ftr" sz="quarter" idx="11"/>
          </p:nvPr>
        </p:nvSpPr>
        <p:spPr/>
        <p:txBody>
          <a:bodyPr/>
          <a:lstStyle/>
          <a:p>
            <a:endParaRPr lang="en-US" dirty="0"/>
          </a:p>
        </p:txBody>
      </p:sp>
      <p:sp>
        <p:nvSpPr>
          <p:cNvPr id="7" name="슬라이드 번호 개체 틀 6">
            <a:extLst>
              <a:ext uri="{FF2B5EF4-FFF2-40B4-BE49-F238E27FC236}">
                <a16:creationId xmlns:a16="http://schemas.microsoft.com/office/drawing/2014/main" id="{0AC63352-66F6-9E1C-8E68-DB50C8FC739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340210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D35B122-6E60-3901-35FB-9DD62B4DAF08}"/>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그림 개체 틀 2">
            <a:extLst>
              <a:ext uri="{FF2B5EF4-FFF2-40B4-BE49-F238E27FC236}">
                <a16:creationId xmlns:a16="http://schemas.microsoft.com/office/drawing/2014/main" id="{DC15DC9F-794B-A163-56FB-3A1522847A25}"/>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ko-KR" altLang="en-US"/>
          </a:p>
        </p:txBody>
      </p:sp>
      <p:sp>
        <p:nvSpPr>
          <p:cNvPr id="4" name="텍스트 개체 틀 3">
            <a:extLst>
              <a:ext uri="{FF2B5EF4-FFF2-40B4-BE49-F238E27FC236}">
                <a16:creationId xmlns:a16="http://schemas.microsoft.com/office/drawing/2014/main" id="{8988FC1F-ABB1-9970-2D8C-72E70675D0B7}"/>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E8CB479-9F77-C83F-BE7F-FDF7E926D329}"/>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6" name="바닥글 개체 틀 5">
            <a:extLst>
              <a:ext uri="{FF2B5EF4-FFF2-40B4-BE49-F238E27FC236}">
                <a16:creationId xmlns:a16="http://schemas.microsoft.com/office/drawing/2014/main" id="{3737CE09-B27F-A0C1-DB73-DE5FCA17049E}"/>
              </a:ext>
            </a:extLst>
          </p:cNvPr>
          <p:cNvSpPr>
            <a:spLocks noGrp="1"/>
          </p:cNvSpPr>
          <p:nvPr>
            <p:ph type="ftr" sz="quarter" idx="11"/>
          </p:nvPr>
        </p:nvSpPr>
        <p:spPr/>
        <p:txBody>
          <a:bodyPr/>
          <a:lstStyle/>
          <a:p>
            <a:endParaRPr lang="en-US" dirty="0"/>
          </a:p>
        </p:txBody>
      </p:sp>
      <p:sp>
        <p:nvSpPr>
          <p:cNvPr id="7" name="슬라이드 번호 개체 틀 6">
            <a:extLst>
              <a:ext uri="{FF2B5EF4-FFF2-40B4-BE49-F238E27FC236}">
                <a16:creationId xmlns:a16="http://schemas.microsoft.com/office/drawing/2014/main" id="{37CCD980-89A0-A564-3D72-C935B32E57C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210303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293EB3D-CC43-1588-5CBC-41AA24881E03}"/>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79700047-2311-BE10-4415-6953A8E4F75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FA45622-F1B2-30B4-AFBC-2F57904A7C65}"/>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5" name="바닥글 개체 틀 4">
            <a:extLst>
              <a:ext uri="{FF2B5EF4-FFF2-40B4-BE49-F238E27FC236}">
                <a16:creationId xmlns:a16="http://schemas.microsoft.com/office/drawing/2014/main" id="{DC99975D-A320-6608-86A8-0B6E97AC2707}"/>
              </a:ext>
            </a:extLst>
          </p:cNvPr>
          <p:cNvSpPr>
            <a:spLocks noGrp="1"/>
          </p:cNvSpPr>
          <p:nvPr>
            <p:ph type="ftr" sz="quarter" idx="11"/>
          </p:nvPr>
        </p:nvSpPr>
        <p:spPr/>
        <p:txBody>
          <a:bodyPr/>
          <a:lstStyle/>
          <a:p>
            <a:endParaRPr lang="en-US" dirty="0"/>
          </a:p>
        </p:txBody>
      </p:sp>
      <p:sp>
        <p:nvSpPr>
          <p:cNvPr id="6" name="슬라이드 번호 개체 틀 5">
            <a:extLst>
              <a:ext uri="{FF2B5EF4-FFF2-40B4-BE49-F238E27FC236}">
                <a16:creationId xmlns:a16="http://schemas.microsoft.com/office/drawing/2014/main" id="{15B1019B-1C70-C864-CA06-EAE80E86BE55}"/>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59549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408579D-28CE-E9CF-B548-E5340EC3511E}"/>
              </a:ext>
            </a:extLst>
          </p:cNvPr>
          <p:cNvSpPr>
            <a:spLocks noGrp="1"/>
          </p:cNvSpPr>
          <p:nvPr>
            <p:ph type="title" orient="vert"/>
          </p:nvPr>
        </p:nvSpPr>
        <p:spPr>
          <a:xfrm>
            <a:off x="7088981" y="365125"/>
            <a:ext cx="2135981"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2ED348AE-2268-1AA0-A9DC-7850E0C21060}"/>
              </a:ext>
            </a:extLst>
          </p:cNvPr>
          <p:cNvSpPr>
            <a:spLocks noGrp="1"/>
          </p:cNvSpPr>
          <p:nvPr>
            <p:ph type="body" orient="vert" idx="1"/>
          </p:nvPr>
        </p:nvSpPr>
        <p:spPr>
          <a:xfrm>
            <a:off x="681037"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8AB18B3-99DB-99E0-7A90-6DA9F60AF806}"/>
              </a:ext>
            </a:extLst>
          </p:cNvPr>
          <p:cNvSpPr>
            <a:spLocks noGrp="1"/>
          </p:cNvSpPr>
          <p:nvPr>
            <p:ph type="dt" sz="half" idx="10"/>
          </p:nvPr>
        </p:nvSpPr>
        <p:spPr/>
        <p:txBody>
          <a:bodyPr/>
          <a:lstStyle/>
          <a:p>
            <a:fld id="{C764DE79-268F-4C1A-8933-263129D2AF90}" type="datetimeFigureOut">
              <a:rPr lang="en-US" smtClean="0"/>
              <a:t>9/8/2026</a:t>
            </a:fld>
            <a:endParaRPr lang="en-US" dirty="0"/>
          </a:p>
        </p:txBody>
      </p:sp>
      <p:sp>
        <p:nvSpPr>
          <p:cNvPr id="5" name="바닥글 개체 틀 4">
            <a:extLst>
              <a:ext uri="{FF2B5EF4-FFF2-40B4-BE49-F238E27FC236}">
                <a16:creationId xmlns:a16="http://schemas.microsoft.com/office/drawing/2014/main" id="{38C7D801-F036-428A-E389-BCFABB4A15B9}"/>
              </a:ext>
            </a:extLst>
          </p:cNvPr>
          <p:cNvSpPr>
            <a:spLocks noGrp="1"/>
          </p:cNvSpPr>
          <p:nvPr>
            <p:ph type="ftr" sz="quarter" idx="11"/>
          </p:nvPr>
        </p:nvSpPr>
        <p:spPr/>
        <p:txBody>
          <a:bodyPr/>
          <a:lstStyle/>
          <a:p>
            <a:endParaRPr lang="en-US" dirty="0"/>
          </a:p>
        </p:txBody>
      </p:sp>
      <p:sp>
        <p:nvSpPr>
          <p:cNvPr id="6" name="슬라이드 번호 개체 틀 5">
            <a:extLst>
              <a:ext uri="{FF2B5EF4-FFF2-40B4-BE49-F238E27FC236}">
                <a16:creationId xmlns:a16="http://schemas.microsoft.com/office/drawing/2014/main" id="{14C26485-C1B9-A244-3EB5-C1F39F4A9511}"/>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31583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2" name="제목 1"/>
          <p:cNvSpPr>
            <a:spLocks noGrp="1"/>
          </p:cNvSpPr>
          <p:nvPr>
            <p:ph type="ctrTitle"/>
            <p:custDataLst>
              <p:tags r:id="rId1"/>
            </p:custDataLst>
          </p:nvPr>
        </p:nvSpPr>
        <p:spPr>
          <a:xfrm>
            <a:off x="1050752" y="1863716"/>
            <a:ext cx="7189342" cy="584775"/>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custDataLst>
              <p:tags r:id="rId2"/>
            </p:custDataLst>
          </p:nvPr>
        </p:nvSpPr>
        <p:spPr bwMode="gray">
          <a:xfrm>
            <a:off x="4442044" y="6660775"/>
            <a:ext cx="10150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a:ea typeface="맑은 고딕" pitchFamily="50" charset="-127"/>
              </a:defRPr>
            </a:lvl1pPr>
            <a:lvl2pPr marL="742950" indent="-285750" eaLnBrk="0" hangingPunct="0">
              <a:defRPr kumimoji="1" sz="1200" b="1">
                <a:solidFill>
                  <a:schemeClr val="tx1"/>
                </a:solidFill>
                <a:latin typeface="Arial"/>
                <a:ea typeface="맑은 고딕" pitchFamily="50" charset="-127"/>
              </a:defRPr>
            </a:lvl2pPr>
            <a:lvl3pPr marL="1143000" indent="-228600" eaLnBrk="0" hangingPunct="0">
              <a:defRPr kumimoji="1" sz="1200" b="1">
                <a:solidFill>
                  <a:schemeClr val="tx1"/>
                </a:solidFill>
                <a:latin typeface="Arial"/>
                <a:ea typeface="맑은 고딕" pitchFamily="50" charset="-127"/>
              </a:defRPr>
            </a:lvl3pPr>
            <a:lvl4pPr marL="1600200" indent="-228600" eaLnBrk="0" hangingPunct="0">
              <a:defRPr kumimoji="1" sz="1200" b="1">
                <a:solidFill>
                  <a:schemeClr val="tx1"/>
                </a:solidFill>
                <a:latin typeface="Arial"/>
                <a:ea typeface="맑은 고딕" pitchFamily="50" charset="-127"/>
              </a:defRPr>
            </a:lvl4pPr>
            <a:lvl5pPr marL="2057400" indent="-228600" eaLnBrk="0" hangingPunct="0">
              <a:defRPr kumimoji="1" sz="1200" b="1">
                <a:solidFill>
                  <a:schemeClr val="tx1"/>
                </a:solidFill>
                <a:latin typeface="Arial"/>
                <a:ea typeface="맑은 고딕" pitchFamily="50" charset="-127"/>
              </a:defRPr>
            </a:lvl5pPr>
            <a:lvl6pPr marL="25146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6pPr>
            <a:lvl7pPr marL="29718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7pPr>
            <a:lvl8pPr marL="34290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8pPr>
            <a:lvl9pPr marL="38862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9pPr>
          </a:lstStyle>
          <a:p>
            <a:pPr algn="dist" eaLnBrk="1" latinLnBrk="0" hangingPunct="1">
              <a:spcBef>
                <a:spcPct val="50000"/>
              </a:spcBef>
            </a:pPr>
            <a:r>
              <a:rPr lang="ko-KR" altLang="en-US" sz="800" b="1">
                <a:solidFill>
                  <a:srgbClr val="A50034"/>
                </a:solidFill>
                <a:latin typeface="LG스마트체2.0 SemiBold" panose="020B0600000101010101" pitchFamily="50" charset="-127"/>
                <a:ea typeface="LG스마트체2.0 SemiBold" panose="020B0600000101010101" pitchFamily="50" charset="-127"/>
              </a:rPr>
              <a:t>｜</a:t>
            </a:r>
            <a:r>
              <a:rPr lang="en-US" altLang="ko-KR" sz="800" b="0">
                <a:solidFill>
                  <a:srgbClr val="A50034"/>
                </a:solidFill>
                <a:latin typeface="LG스마트체2.0 Bold" panose="020B0600000101010101" pitchFamily="50" charset="-127"/>
                <a:ea typeface="LG스마트체2.0 Bold" panose="020B0600000101010101" pitchFamily="50" charset="-127"/>
              </a:rPr>
              <a:t>CONFIDENTIAL</a:t>
            </a:r>
            <a:r>
              <a:rPr lang="ko-KR" altLang="en-US" sz="800" b="1">
                <a:solidFill>
                  <a:srgbClr val="A50034"/>
                </a:solidFill>
                <a:latin typeface="LG스마트체2.0 SemiBold" panose="020B0600000101010101" pitchFamily="50" charset="-127"/>
                <a:ea typeface="LG스마트체2.0 SemiBold" panose="020B0600000101010101" pitchFamily="50" charset="-127"/>
              </a:rPr>
              <a:t>｜</a:t>
            </a:r>
            <a:endParaRPr lang="en-US" altLang="ko-KR" sz="800"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custDataLst>
              <p:tags r:id="rId3"/>
            </p:custDataLst>
          </p:nvPr>
        </p:nvSpPr>
        <p:spPr>
          <a:xfrm>
            <a:off x="1208089" y="2565400"/>
            <a:ext cx="6961187"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181" indent="0">
              <a:buNone/>
              <a:defRPr lang="ko-KR" altLang="en-US" smtClean="0"/>
            </a:lvl2pPr>
            <a:lvl3pPr marL="914361" indent="0">
              <a:buNone/>
              <a:defRPr lang="ko-KR" altLang="en-US" smtClean="0"/>
            </a:lvl3pPr>
            <a:lvl4pPr marL="1371543" indent="0">
              <a:buNone/>
              <a:defRPr lang="ko-KR" altLang="en-US" smtClean="0"/>
            </a:lvl4pPr>
            <a:lvl5pPr marL="1828724" indent="0">
              <a:buNone/>
              <a:defRPr lang="ko-KR" altLang="en-US"/>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custDataLst>
              <p:tags r:id="rId4"/>
            </p:custDataLst>
          </p:nvPr>
        </p:nvSpPr>
        <p:spPr>
          <a:xfrm>
            <a:off x="1208089" y="5176203"/>
            <a:ext cx="6960333"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buNone/>
              <a:defRPr lang="ko-KR" altLang="en-US" smtClean="0"/>
            </a:lvl2pPr>
            <a:lvl3pPr marL="914361" indent="0">
              <a:buNone/>
              <a:defRPr lang="ko-KR" altLang="en-US" smtClean="0"/>
            </a:lvl3pPr>
            <a:lvl4pPr marL="1371543" indent="0">
              <a:buNone/>
              <a:defRPr lang="ko-KR" altLang="en-US" smtClean="0"/>
            </a:lvl4pPr>
            <a:lvl5pPr marL="1828724" indent="0">
              <a:buNone/>
              <a:defRPr lang="ko-KR" altLang="en-US"/>
            </a:lvl5pPr>
          </a:lstStyle>
          <a:p>
            <a:pPr lvl="0">
              <a:spcBef>
                <a:spcPct val="0"/>
              </a:spcBef>
              <a:buNone/>
            </a:pPr>
            <a:r>
              <a:rPr lang="ko-KR" altLang="en-US"/>
              <a:t>마스터 텍스트 스타일을 편집합니다</a:t>
            </a:r>
          </a:p>
        </p:txBody>
      </p:sp>
      <p:grpSp>
        <p:nvGrpSpPr>
          <p:cNvPr id="12" name="그룹 11"/>
          <p:cNvGrpSpPr/>
          <p:nvPr userDrawn="1">
            <p:custDataLst>
              <p:tags r:id="rId5"/>
            </p:custDataLst>
          </p:nvPr>
        </p:nvGrpSpPr>
        <p:grpSpPr>
          <a:xfrm>
            <a:off x="200025" y="188914"/>
            <a:ext cx="9505950" cy="6480175"/>
            <a:chOff x="200025" y="188913"/>
            <a:chExt cx="9505950" cy="6480175"/>
          </a:xfrm>
        </p:grpSpPr>
        <p:sp>
          <p:nvSpPr>
            <p:cNvPr id="17" name="직사각형 16"/>
            <p:cNvSpPr/>
            <p:nvPr>
              <p:custDataLst>
                <p:tags r:id="rId7"/>
              </p:custDataLst>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sz="1800"/>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8"/>
              </p:custDataLst>
            </p:nvPr>
          </p:nvPicPr>
          <p:blipFill>
            <a:blip r:embed="rId11">
              <a:extLst>
                <a:ext uri="{28A0092B-C50C-407E-A947-70E740481C1C}">
                  <a14:useLocalDpi xmlns:a14="http://schemas.microsoft.com/office/drawing/2010/main" val="0"/>
                </a:ext>
              </a:extLst>
            </a:blip>
            <a:srcRect r="88574" b="66436"/>
            <a:stretch>
              <a:fill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9"/>
              </p:custDataLst>
            </p:nvPr>
          </p:nvPicPr>
          <p:blipFill>
            <a:blip r:embed="rId12">
              <a:extLst>
                <a:ext uri="{28A0092B-C50C-407E-A947-70E740481C1C}">
                  <a14:useLocalDpi xmlns:a14="http://schemas.microsoft.com/office/drawing/2010/main" val="0"/>
                </a:ext>
              </a:extLst>
            </a:blip>
            <a:srcRect l="77355" t="77614"/>
            <a:stretch>
              <a:fill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sp useBgFill="1">
        <p:nvSpPr>
          <p:cNvPr id="3" name="직사각형 2"/>
          <p:cNvSpPr/>
          <p:nvPr userDrawn="1">
            <p:custDataLst>
              <p:tags r:id="rId6"/>
            </p:custDataLst>
          </p:nvPr>
        </p:nvSpPr>
        <p:spPr>
          <a:xfrm>
            <a:off x="9273481" y="6677891"/>
            <a:ext cx="632519" cy="162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289147058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제목_Head">
    <p:spTree>
      <p:nvGrpSpPr>
        <p:cNvPr id="1" name=""/>
        <p:cNvGrpSpPr/>
        <p:nvPr/>
      </p:nvGrpSpPr>
      <p:grpSpPr>
        <a:xfrm>
          <a:off x="0" y="0"/>
          <a:ext cx="0" cy="0"/>
          <a:chOff x="0" y="0"/>
          <a:chExt cx="0" cy="0"/>
        </a:xfrm>
      </p:grpSpPr>
      <p:sp>
        <p:nvSpPr>
          <p:cNvPr id="9" name="내용 개체 틀 3"/>
          <p:cNvSpPr>
            <a:spLocks noGrp="1"/>
          </p:cNvSpPr>
          <p:nvPr>
            <p:ph idx="1"/>
          </p:nvPr>
        </p:nvSpPr>
        <p:spPr>
          <a:xfrm>
            <a:off x="273050" y="657511"/>
            <a:ext cx="9359900" cy="503237"/>
          </a:xfrm>
          <a:prstGeom prst="rect">
            <a:avLst/>
          </a:prstGeom>
        </p:spPr>
        <p:txBody>
          <a:bodyPr/>
          <a:lstStyle>
            <a:lvl1pPr marL="0" indent="0">
              <a:buFontTx/>
              <a:buNone/>
              <a:defRPr sz="1600" b="1">
                <a:latin typeface="LG스마트체 Regular" panose="020B0600000101010101" pitchFamily="50" charset="-127"/>
                <a:ea typeface="LG스마트체 Regular" panose="020B0600000101010101" pitchFamily="50" charset="-127"/>
              </a:defRPr>
            </a:lvl1pPr>
          </a:lstStyle>
          <a:p>
            <a:endParaRPr lang="en-US" altLang="ko-KR"/>
          </a:p>
        </p:txBody>
      </p:sp>
      <p:sp>
        <p:nvSpPr>
          <p:cNvPr id="11" name="제목 1"/>
          <p:cNvSpPr>
            <a:spLocks noGrp="1"/>
          </p:cNvSpPr>
          <p:nvPr>
            <p:ph type="title"/>
          </p:nvPr>
        </p:nvSpPr>
        <p:spPr>
          <a:xfrm>
            <a:off x="134568" y="141836"/>
            <a:ext cx="184731" cy="392672"/>
          </a:xfr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none" lIns="91440" tIns="45720" rIns="91440" bIns="45720" numCol="1" anchor="ctr" anchorCtr="0" compatLnSpc="1">
            <a:prstTxWarp prst="textNoShape">
              <a:avLst/>
            </a:prstTxWarp>
            <a:spAutoFit/>
          </a:bodyPr>
          <a:lstStyle>
            <a:lvl1pPr>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defRPr>
            </a:lvl1pPr>
          </a:lstStyle>
          <a:p>
            <a:pPr lvl="0" algn="l" eaLnBrk="0" fontAlgn="base" hangingPunct="0">
              <a:lnSpc>
                <a:spcPct val="120000"/>
              </a:lnSpc>
              <a:spcBef>
                <a:spcPts val="600"/>
              </a:spcBef>
              <a:spcAft>
                <a:spcPct val="0"/>
              </a:spcAft>
            </a:pPr>
            <a:endParaRPr lang="ko-KR" altLang="en-US"/>
          </a:p>
        </p:txBody>
      </p:sp>
    </p:spTree>
    <p:extLst>
      <p:ext uri="{BB962C8B-B14F-4D97-AF65-F5344CB8AC3E}">
        <p14:creationId xmlns:p14="http://schemas.microsoft.com/office/powerpoint/2010/main" val="25862942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888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9" name="그래픽 8">
            <a:extLst>
              <a:ext uri="{FF2B5EF4-FFF2-40B4-BE49-F238E27FC236}">
                <a16:creationId xmlns:a16="http://schemas.microsoft.com/office/drawing/2014/main" id="{928A9C12-13A9-4B92-B8D9-F5BFD84EB8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406" y="611966"/>
            <a:ext cx="9142212" cy="4950454"/>
          </a:xfrm>
          <a:prstGeom prst="rect">
            <a:avLst/>
          </a:prstGeom>
        </p:spPr>
      </p:pic>
      <p:pic>
        <p:nvPicPr>
          <p:cNvPr id="12" name="그래픽 11">
            <a:extLst>
              <a:ext uri="{FF2B5EF4-FFF2-40B4-BE49-F238E27FC236}">
                <a16:creationId xmlns:a16="http://schemas.microsoft.com/office/drawing/2014/main" id="{CA051327-90F2-4A86-BA67-65029B918E9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1382" y="1027956"/>
            <a:ext cx="2019533" cy="313934"/>
          </a:xfrm>
          <a:prstGeom prst="rect">
            <a:avLst/>
          </a:prstGeom>
        </p:spPr>
      </p:pic>
      <p:graphicFrame>
        <p:nvGraphicFramePr>
          <p:cNvPr id="6" name="표 5">
            <a:extLst>
              <a:ext uri="{FF2B5EF4-FFF2-40B4-BE49-F238E27FC236}">
                <a16:creationId xmlns:a16="http://schemas.microsoft.com/office/drawing/2014/main" id="{B7CFE13D-7436-401C-AE0B-06E734DEDEF8}"/>
              </a:ext>
            </a:extLst>
          </p:cNvPr>
          <p:cNvGraphicFramePr>
            <a:graphicFrameLocks noGrp="1"/>
          </p:cNvGraphicFramePr>
          <p:nvPr userDrawn="1">
            <p:extLst>
              <p:ext uri="{D42A27DB-BD31-4B8C-83A1-F6EECF244321}">
                <p14:modId xmlns:p14="http://schemas.microsoft.com/office/powerpoint/2010/main" val="3483712782"/>
              </p:ext>
            </p:extLst>
          </p:nvPr>
        </p:nvGraphicFramePr>
        <p:xfrm>
          <a:off x="52564" y="42785"/>
          <a:ext cx="879835" cy="304800"/>
        </p:xfrm>
        <a:graphic>
          <a:graphicData uri="http://schemas.openxmlformats.org/drawingml/2006/table">
            <a:tbl>
              <a:tblPr/>
              <a:tblGrid>
                <a:gridCol w="879835">
                  <a:extLst>
                    <a:ext uri="{9D8B030D-6E8A-4147-A177-3AD203B41FA5}">
                      <a16:colId xmlns:a16="http://schemas.microsoft.com/office/drawing/2014/main" val="20000"/>
                    </a:ext>
                  </a:extLst>
                </a:gridCol>
              </a:tblGrid>
              <a:tr h="304800">
                <a:tc>
                  <a:txBody>
                    <a:bodyPr/>
                    <a:lstStyle>
                      <a:defPPr>
                        <a:defRPr lang="ko-KR"/>
                      </a:defPPr>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r>
                        <a:rPr lang="en-US" sz="1000" b="1" i="0" u="none" strike="noStrike" baseline="0" dirty="0">
                          <a:solidFill>
                            <a:srgbClr val="000000"/>
                          </a:solidFill>
                          <a:latin typeface="Arial Narrow" panose="020B0606020202030204" pitchFamily="34" charset="0"/>
                          <a:ea typeface="+mn-ea"/>
                          <a:cs typeface="Arial" panose="020B0604020202020204" pitchFamily="34" charset="0"/>
                        </a:rPr>
                        <a:t>Confidential</a:t>
                      </a:r>
                    </a:p>
                  </a:txBody>
                  <a:tcPr marL="9427" marR="9427"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7EF24B6C-5408-4851-BA05-2AC74F52B64E}"/>
              </a:ext>
            </a:extLst>
          </p:cNvPr>
          <p:cNvSpPr/>
          <p:nvPr userDrawn="1"/>
        </p:nvSpPr>
        <p:spPr>
          <a:xfrm>
            <a:off x="52564" y="6387087"/>
            <a:ext cx="9697792" cy="408317"/>
          </a:xfrm>
          <a:prstGeom prst="rect">
            <a:avLst/>
          </a:prstGeom>
          <a:solidFill>
            <a:schemeClr val="bg1"/>
          </a:solidFill>
          <a:ln w="6350">
            <a:solidFill>
              <a:schemeClr val="bg1">
                <a:lumMod val="50000"/>
              </a:schemeClr>
            </a:solidFill>
          </a:ln>
        </p:spPr>
        <p:txBody>
          <a:bodyPr wrap="square" anchor="ctr">
            <a:spAutoFit/>
          </a:bodyPr>
          <a:lstStyle/>
          <a:p>
            <a:pPr algn="just">
              <a:lnSpc>
                <a:spcPct val="120000"/>
              </a:lnSpc>
              <a:spcBef>
                <a:spcPts val="594"/>
              </a:spcBef>
              <a:defRPr/>
            </a:pPr>
            <a:r>
              <a:rPr kumimoji="1" lang="ko-KR" altLang="en-US" sz="891" spc="-49" dirty="0">
                <a:latin typeface="+mj-ea"/>
                <a:ea typeface="+mj-ea"/>
                <a:cs typeface="Arial" panose="020B0604020202020204" pitchFamily="34" charset="0"/>
              </a:rPr>
              <a:t>본 자료에는 </a:t>
            </a:r>
            <a:r>
              <a:rPr kumimoji="1" lang="en-US" altLang="ko-KR" sz="891" kern="1200" spc="-49" dirty="0">
                <a:solidFill>
                  <a:schemeClr val="tx1"/>
                </a:solidFill>
                <a:latin typeface="+mj-ea"/>
                <a:ea typeface="+mn-ea"/>
                <a:cs typeface="Arial" panose="020B0604020202020204" pitchFamily="34" charset="0"/>
              </a:rPr>
              <a:t>LG Energy Solution</a:t>
            </a:r>
            <a:r>
              <a:rPr kumimoji="1" lang="ko-KR" altLang="en-US" sz="891" spc="-49" dirty="0">
                <a:latin typeface="+mj-ea"/>
                <a:ea typeface="+mj-ea"/>
                <a:cs typeface="Arial" panose="020B0604020202020204" pitchFamily="34" charset="0"/>
              </a:rPr>
              <a:t> 및 관련 회사의 영업비밀</a:t>
            </a:r>
            <a:r>
              <a:rPr kumimoji="1" lang="en-US" altLang="ko-KR" sz="891" spc="-49" dirty="0">
                <a:latin typeface="+mj-ea"/>
                <a:ea typeface="+mj-ea"/>
                <a:cs typeface="Arial" panose="020B0604020202020204" pitchFamily="34" charset="0"/>
              </a:rPr>
              <a:t>, </a:t>
            </a:r>
            <a:r>
              <a:rPr kumimoji="1" lang="ko-KR" altLang="en-US" sz="891" spc="-49" dirty="0">
                <a:latin typeface="+mj-ea"/>
                <a:ea typeface="+mj-ea"/>
                <a:cs typeface="Arial" panose="020B0604020202020204" pitchFamily="34" charset="0"/>
              </a:rPr>
              <a:t>투자자의 투자 판단에 중대한 영향을 미치는 미공개중요정보가 포함되어 있을 수 있습니다</a:t>
            </a:r>
            <a:r>
              <a:rPr kumimoji="1" lang="en-US" altLang="ko-KR" sz="891" spc="-49" dirty="0">
                <a:latin typeface="+mj-ea"/>
                <a:ea typeface="+mj-ea"/>
                <a:cs typeface="Arial" panose="020B0604020202020204" pitchFamily="34" charset="0"/>
              </a:rPr>
              <a:t>. </a:t>
            </a:r>
            <a:r>
              <a:rPr kumimoji="1" lang="ko-KR" altLang="en-US" sz="891" spc="-49" dirty="0">
                <a:latin typeface="+mj-ea"/>
                <a:ea typeface="+mj-ea"/>
                <a:cs typeface="Arial" panose="020B0604020202020204" pitchFamily="34" charset="0"/>
              </a:rPr>
              <a:t>미공개중요정보를 증권 등 거래에 이용하거나 타인에게 이용하게 하는 경우 관련 법령에 따른 민∙형사상 책임을 질 수 있으므로 업무상 반드시 필요하여 공유하는 경우 외에는 각별히 보안에 유의하여 주시기 바랍니다</a:t>
            </a:r>
            <a:r>
              <a:rPr kumimoji="1" lang="en-US" altLang="ko-KR" sz="891" spc="-49" dirty="0">
                <a:latin typeface="+mj-ea"/>
                <a:ea typeface="+mj-ea"/>
                <a:cs typeface="Arial" panose="020B0604020202020204" pitchFamily="34" charset="0"/>
              </a:rPr>
              <a:t>.</a:t>
            </a:r>
            <a:endParaRPr kumimoji="1" lang="ko-KR" altLang="en-US" sz="891" spc="-49" dirty="0">
              <a:latin typeface="+mj-ea"/>
              <a:ea typeface="+mj-ea"/>
              <a:cs typeface="Arial" panose="020B0604020202020204" pitchFamily="34" charset="0"/>
            </a:endParaRPr>
          </a:p>
        </p:txBody>
      </p:sp>
    </p:spTree>
    <p:extLst>
      <p:ext uri="{BB962C8B-B14F-4D97-AF65-F5344CB8AC3E}">
        <p14:creationId xmlns:p14="http://schemas.microsoft.com/office/powerpoint/2010/main" val="6042034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pic>
        <p:nvPicPr>
          <p:cNvPr id="9" name="그래픽 8">
            <a:extLst>
              <a:ext uri="{FF2B5EF4-FFF2-40B4-BE49-F238E27FC236}">
                <a16:creationId xmlns:a16="http://schemas.microsoft.com/office/drawing/2014/main" id="{928A9C12-13A9-4B92-B8D9-F5BFD84EB8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406" y="611966"/>
            <a:ext cx="9142212" cy="4950454"/>
          </a:xfrm>
          <a:prstGeom prst="rect">
            <a:avLst/>
          </a:prstGeom>
        </p:spPr>
      </p:pic>
      <p:pic>
        <p:nvPicPr>
          <p:cNvPr id="12" name="그래픽 11">
            <a:extLst>
              <a:ext uri="{FF2B5EF4-FFF2-40B4-BE49-F238E27FC236}">
                <a16:creationId xmlns:a16="http://schemas.microsoft.com/office/drawing/2014/main" id="{CA051327-90F2-4A86-BA67-65029B918E9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1382" y="1027956"/>
            <a:ext cx="2019533" cy="313934"/>
          </a:xfrm>
          <a:prstGeom prst="rect">
            <a:avLst/>
          </a:prstGeom>
        </p:spPr>
      </p:pic>
      <p:graphicFrame>
        <p:nvGraphicFramePr>
          <p:cNvPr id="6" name="표 5">
            <a:extLst>
              <a:ext uri="{FF2B5EF4-FFF2-40B4-BE49-F238E27FC236}">
                <a16:creationId xmlns:a16="http://schemas.microsoft.com/office/drawing/2014/main" id="{B7CFE13D-7436-401C-AE0B-06E734DEDEF8}"/>
              </a:ext>
            </a:extLst>
          </p:cNvPr>
          <p:cNvGraphicFramePr>
            <a:graphicFrameLocks noGrp="1"/>
          </p:cNvGraphicFramePr>
          <p:nvPr userDrawn="1"/>
        </p:nvGraphicFramePr>
        <p:xfrm>
          <a:off x="52564" y="42785"/>
          <a:ext cx="879835" cy="304800"/>
        </p:xfrm>
        <a:graphic>
          <a:graphicData uri="http://schemas.openxmlformats.org/drawingml/2006/table">
            <a:tbl>
              <a:tblPr/>
              <a:tblGrid>
                <a:gridCol w="879835">
                  <a:extLst>
                    <a:ext uri="{9D8B030D-6E8A-4147-A177-3AD203B41FA5}">
                      <a16:colId xmlns:a16="http://schemas.microsoft.com/office/drawing/2014/main" val="20000"/>
                    </a:ext>
                  </a:extLst>
                </a:gridCol>
              </a:tblGrid>
              <a:tr h="304800">
                <a:tc>
                  <a:txBody>
                    <a:bodyPr/>
                    <a:lstStyle>
                      <a:defPPr>
                        <a:defRPr lang="ko-KR"/>
                      </a:defPPr>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r>
                        <a:rPr lang="en-US" sz="1000" b="1" i="0" u="none" strike="noStrike" baseline="0" dirty="0">
                          <a:solidFill>
                            <a:srgbClr val="000000"/>
                          </a:solidFill>
                          <a:latin typeface="Arial Narrow" panose="020B0606020202030204" pitchFamily="34" charset="0"/>
                          <a:ea typeface="+mn-ea"/>
                          <a:cs typeface="Arial" panose="020B0604020202020204" pitchFamily="34" charset="0"/>
                        </a:rPr>
                        <a:t>Confidential</a:t>
                      </a:r>
                    </a:p>
                  </a:txBody>
                  <a:tcPr marL="9427" marR="9427"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7" name="직사각형 6">
            <a:extLst>
              <a:ext uri="{FF2B5EF4-FFF2-40B4-BE49-F238E27FC236}">
                <a16:creationId xmlns:a16="http://schemas.microsoft.com/office/drawing/2014/main" id="{7EF24B6C-5408-4851-BA05-2AC74F52B64E}"/>
              </a:ext>
            </a:extLst>
          </p:cNvPr>
          <p:cNvSpPr/>
          <p:nvPr userDrawn="1"/>
        </p:nvSpPr>
        <p:spPr>
          <a:xfrm>
            <a:off x="52564" y="5877273"/>
            <a:ext cx="9697792" cy="906915"/>
          </a:xfrm>
          <a:prstGeom prst="rect">
            <a:avLst/>
          </a:prstGeom>
          <a:solidFill>
            <a:schemeClr val="bg1"/>
          </a:solidFill>
          <a:ln w="6350">
            <a:solidFill>
              <a:schemeClr val="bg1">
                <a:lumMod val="50000"/>
              </a:schemeClr>
            </a:solidFill>
          </a:ln>
        </p:spPr>
        <p:txBody>
          <a:bodyPr wrap="square" anchor="ctr">
            <a:spAutoFit/>
          </a:bodyPr>
          <a:lstStyle/>
          <a:p>
            <a:pPr algn="l">
              <a:lnSpc>
                <a:spcPct val="120000"/>
              </a:lnSpc>
              <a:spcBef>
                <a:spcPts val="594"/>
              </a:spcBef>
              <a:defRPr/>
            </a:pPr>
            <a:r>
              <a:rPr kumimoji="1" lang="ko-KR" altLang="en-US" sz="891" spc="-49" dirty="0">
                <a:latin typeface="+mj-ea"/>
                <a:ea typeface="+mj-ea"/>
                <a:cs typeface="Arial" panose="020B0604020202020204" pitchFamily="34" charset="0"/>
              </a:rPr>
              <a:t>“본 문서와 그 내용은 </a:t>
            </a:r>
            <a:r>
              <a:rPr kumimoji="1" lang="en-US" altLang="ko-KR" sz="891" spc="-49" dirty="0">
                <a:latin typeface="+mj-ea"/>
                <a:ea typeface="+mj-ea"/>
                <a:cs typeface="Arial" panose="020B0604020202020204" pitchFamily="34" charset="0"/>
              </a:rPr>
              <a:t>LG Energy Solution</a:t>
            </a:r>
            <a:r>
              <a:rPr kumimoji="1" lang="ko-KR" altLang="en-US" sz="891" spc="-49" dirty="0">
                <a:latin typeface="+mj-ea"/>
                <a:ea typeface="+mj-ea"/>
                <a:cs typeface="Arial" panose="020B0604020202020204" pitchFamily="34" charset="0"/>
              </a:rPr>
              <a:t>의 고유 자산으로 </a:t>
            </a:r>
            <a:r>
              <a:rPr kumimoji="1" lang="en-US" altLang="ko-KR" sz="891" spc="-49" dirty="0">
                <a:latin typeface="+mj-ea"/>
                <a:ea typeface="+mj-ea"/>
                <a:cs typeface="Arial" panose="020B0604020202020204" pitchFamily="34" charset="0"/>
              </a:rPr>
              <a:t>Joint Venture</a:t>
            </a:r>
            <a:r>
              <a:rPr kumimoji="1" lang="ko-KR" altLang="en-US" sz="891" spc="-49" dirty="0">
                <a:latin typeface="+mj-ea"/>
                <a:ea typeface="+mj-ea"/>
                <a:cs typeface="Arial" panose="020B0604020202020204" pitchFamily="34" charset="0"/>
              </a:rPr>
              <a:t>관계인 법인의 원활한 운영을 위해 공유 되었습니다</a:t>
            </a:r>
            <a:r>
              <a:rPr kumimoji="1" lang="en-US" altLang="ko-KR" sz="891" spc="-49" dirty="0">
                <a:latin typeface="+mj-ea"/>
                <a:ea typeface="+mj-ea"/>
                <a:cs typeface="Arial" panose="020B0604020202020204" pitchFamily="34" charset="0"/>
              </a:rPr>
              <a:t>. </a:t>
            </a:r>
            <a:r>
              <a:rPr kumimoji="1" lang="ko-KR" altLang="en-US" sz="891" spc="-49" dirty="0">
                <a:latin typeface="+mj-ea"/>
                <a:ea typeface="+mj-ea"/>
                <a:cs typeface="Arial" panose="020B0604020202020204" pitchFamily="34" charset="0"/>
              </a:rPr>
              <a:t>원본과 복사</a:t>
            </a:r>
            <a:r>
              <a:rPr kumimoji="1" lang="en-US" altLang="ko-KR" sz="891" spc="-49" dirty="0">
                <a:latin typeface="+mj-ea"/>
                <a:ea typeface="+mj-ea"/>
                <a:cs typeface="Arial" panose="020B0604020202020204" pitchFamily="34" charset="0"/>
              </a:rPr>
              <a:t>/</a:t>
            </a:r>
            <a:r>
              <a:rPr kumimoji="1" lang="ko-KR" altLang="en-US" sz="891" spc="-49" dirty="0">
                <a:latin typeface="+mj-ea"/>
                <a:ea typeface="+mj-ea"/>
                <a:cs typeface="Arial" panose="020B0604020202020204" pitchFamily="34" charset="0"/>
              </a:rPr>
              <a:t>수정본을 포함한 모든 파생 문서는 </a:t>
            </a:r>
            <a:r>
              <a:rPr kumimoji="1" lang="en-US" altLang="ko-KR" sz="891" spc="-49" dirty="0">
                <a:latin typeface="+mj-ea"/>
                <a:ea typeface="+mj-ea"/>
                <a:cs typeface="Arial" panose="020B0604020202020204" pitchFamily="34" charset="0"/>
              </a:rPr>
              <a:t>LG Energy Solution </a:t>
            </a:r>
            <a:r>
              <a:rPr kumimoji="1" lang="ko-KR" altLang="en-US" sz="891" spc="-49" dirty="0">
                <a:latin typeface="+mj-ea"/>
                <a:ea typeface="+mj-ea"/>
                <a:cs typeface="Arial" panose="020B0604020202020204" pitchFamily="34" charset="0"/>
              </a:rPr>
              <a:t>단독의 고유 자산으로 </a:t>
            </a:r>
            <a:r>
              <a:rPr kumimoji="1" lang="en-US" altLang="ko-KR" sz="891" spc="-49" dirty="0">
                <a:latin typeface="+mj-ea"/>
                <a:ea typeface="+mj-ea"/>
                <a:cs typeface="Arial" panose="020B0604020202020204" pitchFamily="34" charset="0"/>
              </a:rPr>
              <a:t>Joint Venture</a:t>
            </a:r>
            <a:r>
              <a:rPr kumimoji="1" lang="ko-KR" altLang="en-US" sz="891" spc="-49" dirty="0">
                <a:latin typeface="+mj-ea"/>
                <a:ea typeface="+mj-ea"/>
                <a:cs typeface="Arial" panose="020B0604020202020204" pitchFamily="34" charset="0"/>
              </a:rPr>
              <a:t>법인 외부로 전파</a:t>
            </a:r>
            <a:r>
              <a:rPr kumimoji="1" lang="en-US" altLang="ko-KR" sz="891" spc="-49" dirty="0">
                <a:latin typeface="+mj-ea"/>
                <a:ea typeface="+mj-ea"/>
                <a:cs typeface="Arial" panose="020B0604020202020204" pitchFamily="34" charset="0"/>
              </a:rPr>
              <a:t>, </a:t>
            </a:r>
            <a:r>
              <a:rPr kumimoji="1" lang="ko-KR" altLang="en-US" sz="891" spc="-49" dirty="0">
                <a:latin typeface="+mj-ea"/>
                <a:ea typeface="+mj-ea"/>
                <a:cs typeface="Arial" panose="020B0604020202020204" pitchFamily="34" charset="0"/>
              </a:rPr>
              <a:t>전달과 같은 어떤 유출도 허락되지 않습니다</a:t>
            </a:r>
            <a:r>
              <a:rPr kumimoji="1" lang="en-US" altLang="ko-KR" sz="891" spc="-49" dirty="0">
                <a:latin typeface="+mj-ea"/>
                <a:ea typeface="+mj-ea"/>
                <a:cs typeface="Arial" panose="020B0604020202020204" pitchFamily="34" charset="0"/>
              </a:rPr>
              <a:t>. JV</a:t>
            </a:r>
            <a:r>
              <a:rPr kumimoji="1" lang="ko-KR" altLang="en-US" sz="891" spc="-49" dirty="0">
                <a:latin typeface="+mj-ea"/>
                <a:ea typeface="+mj-ea"/>
                <a:cs typeface="Arial" panose="020B0604020202020204" pitchFamily="34" charset="0"/>
              </a:rPr>
              <a:t>법인 외부로 유출 시 법적 책임을 물을 수 있습니다</a:t>
            </a:r>
            <a:r>
              <a:rPr kumimoji="1" lang="en-US" altLang="ko-KR" sz="891" spc="-49" dirty="0">
                <a:latin typeface="+mj-ea"/>
                <a:ea typeface="+mj-ea"/>
                <a:cs typeface="Arial" panose="020B0604020202020204" pitchFamily="34" charset="0"/>
              </a:rPr>
              <a:t>.”</a:t>
            </a:r>
            <a:br>
              <a:rPr kumimoji="1" lang="en-US" altLang="ko-KR" sz="891" spc="-49" dirty="0">
                <a:latin typeface="+mj-ea"/>
                <a:ea typeface="+mj-ea"/>
                <a:cs typeface="Arial" panose="020B0604020202020204" pitchFamily="34" charset="0"/>
              </a:rPr>
            </a:br>
            <a:r>
              <a:rPr kumimoji="1" lang="en-US" altLang="ko-KR" sz="891" spc="-49" dirty="0">
                <a:latin typeface="+mj-ea"/>
                <a:ea typeface="+mj-ea"/>
                <a:cs typeface="Arial" panose="020B0604020202020204" pitchFamily="34" charset="0"/>
              </a:rPr>
              <a:t>PROPRIETARY AND CONFIDENTIAL DOCUMENT OF LG ENERGY SOLUTION: This document is being shared solely for use within the premises of LG Energy Solution Joint Venture companies. </a:t>
            </a:r>
            <a:br>
              <a:rPr kumimoji="1" lang="en-US" altLang="ko-KR" sz="891" spc="-49" dirty="0">
                <a:latin typeface="+mj-ea"/>
                <a:ea typeface="+mj-ea"/>
                <a:cs typeface="Arial" panose="020B0604020202020204" pitchFamily="34" charset="0"/>
              </a:rPr>
            </a:br>
            <a:r>
              <a:rPr kumimoji="1" lang="en-US" altLang="ko-KR" sz="891" spc="-49" dirty="0">
                <a:latin typeface="+mj-ea"/>
                <a:ea typeface="+mj-ea"/>
                <a:cs typeface="Arial" panose="020B0604020202020204" pitchFamily="34" charset="0"/>
              </a:rPr>
              <a:t>Any dissemination of this document or information contained herein to outside of the Joint Venture premises is strictly prohibited, and LG Energy Solution reserves all rights and remedies in the event of any such unauthorized use, disclosure or dissemination. LG Energy Solution reserves all rights to the information contained herein and any modification hereto or derivatives hereof.</a:t>
            </a:r>
          </a:p>
        </p:txBody>
      </p:sp>
    </p:spTree>
    <p:extLst>
      <p:ext uri="{BB962C8B-B14F-4D97-AF65-F5344CB8AC3E}">
        <p14:creationId xmlns:p14="http://schemas.microsoft.com/office/powerpoint/2010/main" val="388836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1789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1699471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6"/>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4428458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72463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82506" y="4406901"/>
            <a:ext cx="84201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9521755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536575"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448300"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27612953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3098945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1880961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782819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006"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4838571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645" y="4800600"/>
            <a:ext cx="59436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28383905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23313218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780337" y="274639"/>
            <a:ext cx="2414588"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536575" y="274639"/>
            <a:ext cx="7078663"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9410088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2" name="제목 1"/>
          <p:cNvSpPr>
            <a:spLocks noGrp="1"/>
          </p:cNvSpPr>
          <p:nvPr>
            <p:ph type="ctrTitle"/>
            <p:custDataLst>
              <p:tags r:id="rId1"/>
            </p:custDataLst>
          </p:nvPr>
        </p:nvSpPr>
        <p:spPr>
          <a:xfrm>
            <a:off x="1050752" y="1863716"/>
            <a:ext cx="7189342" cy="584775"/>
          </a:xfrm>
        </p:spPr>
        <p:txBody>
          <a:bodyPr wrap="square" anchor="t">
            <a:spAutoFit/>
          </a:bodyPr>
          <a:lstStyle>
            <a:lvl1pPr algn="l">
              <a:defRPr sz="3200">
                <a:solidFill>
                  <a:schemeClr val="tx1">
                    <a:lumMod val="65000"/>
                    <a:lumOff val="35000"/>
                  </a:schemeClr>
                </a:solidFill>
                <a:latin typeface="LG스마트체2.0 SemiBold" panose="020B0600000101010101" pitchFamily="50" charset="-127"/>
                <a:ea typeface="LG스마트체2.0 SemiBold" panose="020B0600000101010101" pitchFamily="50" charset="-127"/>
              </a:defRPr>
            </a:lvl1pPr>
          </a:lstStyle>
          <a:p>
            <a:r>
              <a:rPr lang="ko-KR" altLang="en-US"/>
              <a:t>마스터 제목 스타일 편집</a:t>
            </a:r>
          </a:p>
        </p:txBody>
      </p:sp>
      <p:sp>
        <p:nvSpPr>
          <p:cNvPr id="16" name="Text Box 2"/>
          <p:cNvSpPr txBox="1">
            <a:spLocks noChangeArrowheads="1"/>
          </p:cNvSpPr>
          <p:nvPr userDrawn="1">
            <p:custDataLst>
              <p:tags r:id="rId2"/>
            </p:custDataLst>
          </p:nvPr>
        </p:nvSpPr>
        <p:spPr bwMode="gray">
          <a:xfrm>
            <a:off x="4442044" y="6660775"/>
            <a:ext cx="101501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a:ea typeface="맑은 고딕" pitchFamily="50" charset="-127"/>
              </a:defRPr>
            </a:lvl1pPr>
            <a:lvl2pPr marL="742950" indent="-285750" eaLnBrk="0" hangingPunct="0">
              <a:defRPr kumimoji="1" sz="1200" b="1">
                <a:solidFill>
                  <a:schemeClr val="tx1"/>
                </a:solidFill>
                <a:latin typeface="Arial"/>
                <a:ea typeface="맑은 고딕" pitchFamily="50" charset="-127"/>
              </a:defRPr>
            </a:lvl2pPr>
            <a:lvl3pPr marL="1143000" indent="-228600" eaLnBrk="0" hangingPunct="0">
              <a:defRPr kumimoji="1" sz="1200" b="1">
                <a:solidFill>
                  <a:schemeClr val="tx1"/>
                </a:solidFill>
                <a:latin typeface="Arial"/>
                <a:ea typeface="맑은 고딕" pitchFamily="50" charset="-127"/>
              </a:defRPr>
            </a:lvl3pPr>
            <a:lvl4pPr marL="1600200" indent="-228600" eaLnBrk="0" hangingPunct="0">
              <a:defRPr kumimoji="1" sz="1200" b="1">
                <a:solidFill>
                  <a:schemeClr val="tx1"/>
                </a:solidFill>
                <a:latin typeface="Arial"/>
                <a:ea typeface="맑은 고딕" pitchFamily="50" charset="-127"/>
              </a:defRPr>
            </a:lvl4pPr>
            <a:lvl5pPr marL="2057400" indent="-228600" eaLnBrk="0" hangingPunct="0">
              <a:defRPr kumimoji="1" sz="1200" b="1">
                <a:solidFill>
                  <a:schemeClr val="tx1"/>
                </a:solidFill>
                <a:latin typeface="Arial"/>
                <a:ea typeface="맑은 고딕" pitchFamily="50" charset="-127"/>
              </a:defRPr>
            </a:lvl5pPr>
            <a:lvl6pPr marL="25146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6pPr>
            <a:lvl7pPr marL="29718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7pPr>
            <a:lvl8pPr marL="34290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8pPr>
            <a:lvl9pPr marL="3886200" indent="-228600" algn="ctr" eaLnBrk="0" fontAlgn="base" hangingPunct="0">
              <a:lnSpc>
                <a:spcPct val="120000"/>
              </a:lnSpc>
              <a:spcBef>
                <a:spcPct val="70000"/>
              </a:spcBef>
              <a:spcAft>
                <a:spcPct val="0"/>
              </a:spcAft>
              <a:buFont typeface="Arial"/>
              <a:defRPr kumimoji="1" sz="1200" b="1">
                <a:solidFill>
                  <a:schemeClr val="tx1"/>
                </a:solidFill>
                <a:latin typeface="Arial"/>
                <a:ea typeface="맑은 고딕" pitchFamily="50" charset="-127"/>
              </a:defRPr>
            </a:lvl9pPr>
          </a:lstStyle>
          <a:p>
            <a:pPr algn="dist" eaLnBrk="1" latinLnBrk="0" hangingPunct="1">
              <a:spcBef>
                <a:spcPct val="50000"/>
              </a:spcBef>
            </a:pPr>
            <a:r>
              <a:rPr lang="ko-KR" altLang="en-US" sz="800" b="1">
                <a:solidFill>
                  <a:srgbClr val="A50034"/>
                </a:solidFill>
                <a:latin typeface="LG스마트체2.0 SemiBold" panose="020B0600000101010101" pitchFamily="50" charset="-127"/>
                <a:ea typeface="LG스마트체2.0 SemiBold" panose="020B0600000101010101" pitchFamily="50" charset="-127"/>
              </a:rPr>
              <a:t>｜</a:t>
            </a:r>
            <a:r>
              <a:rPr lang="en-US" altLang="ko-KR" sz="800" b="0">
                <a:solidFill>
                  <a:srgbClr val="A50034"/>
                </a:solidFill>
                <a:latin typeface="LG스마트체2.0 Bold" panose="020B0600000101010101" pitchFamily="50" charset="-127"/>
                <a:ea typeface="LG스마트체2.0 Bold" panose="020B0600000101010101" pitchFamily="50" charset="-127"/>
              </a:rPr>
              <a:t>CONFIDENTIAL</a:t>
            </a:r>
            <a:r>
              <a:rPr lang="ko-KR" altLang="en-US" sz="800" b="1">
                <a:solidFill>
                  <a:srgbClr val="A50034"/>
                </a:solidFill>
                <a:latin typeface="LG스마트체2.0 SemiBold" panose="020B0600000101010101" pitchFamily="50" charset="-127"/>
                <a:ea typeface="LG스마트체2.0 SemiBold" panose="020B0600000101010101" pitchFamily="50" charset="-127"/>
              </a:rPr>
              <a:t>｜</a:t>
            </a:r>
            <a:endParaRPr lang="en-US" altLang="ko-KR" sz="800" b="1">
              <a:solidFill>
                <a:srgbClr val="A50034"/>
              </a:solidFill>
              <a:latin typeface="LG스마트체2.0 SemiBold" panose="020B0600000101010101" pitchFamily="50" charset="-127"/>
              <a:ea typeface="LG스마트체2.0 SemiBold" panose="020B0600000101010101" pitchFamily="50" charset="-127"/>
            </a:endParaRPr>
          </a:p>
        </p:txBody>
      </p:sp>
      <p:sp>
        <p:nvSpPr>
          <p:cNvPr id="23" name="내용 개체 틀 22"/>
          <p:cNvSpPr>
            <a:spLocks noGrp="1"/>
          </p:cNvSpPr>
          <p:nvPr>
            <p:ph sz="quarter" idx="11"/>
            <p:custDataLst>
              <p:tags r:id="rId3"/>
            </p:custDataLst>
          </p:nvPr>
        </p:nvSpPr>
        <p:spPr>
          <a:xfrm>
            <a:off x="1208089" y="2565400"/>
            <a:ext cx="6961187"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SemiBold" panose="020B0600000101010101" pitchFamily="50" charset="-127"/>
                <a:ea typeface="LG스마트체2.0 SemiBold" panose="020B0600000101010101" pitchFamily="50" charset="-127"/>
                <a:cs typeface="+mj-cs"/>
              </a:defRPr>
            </a:lvl1pPr>
            <a:lvl2pPr marL="457181" indent="0">
              <a:buNone/>
              <a:defRPr lang="ko-KR" altLang="en-US" smtClean="0"/>
            </a:lvl2pPr>
            <a:lvl3pPr marL="914361" indent="0">
              <a:buNone/>
              <a:defRPr lang="ko-KR" altLang="en-US" smtClean="0"/>
            </a:lvl3pPr>
            <a:lvl4pPr marL="1371543" indent="0">
              <a:buNone/>
              <a:defRPr lang="ko-KR" altLang="en-US" smtClean="0"/>
            </a:lvl4pPr>
            <a:lvl5pPr marL="1828724" indent="0">
              <a:buNone/>
              <a:defRPr lang="ko-KR" altLang="en-US"/>
            </a:lvl5pPr>
          </a:lstStyle>
          <a:p>
            <a:pPr lvl="0">
              <a:spcBef>
                <a:spcPct val="0"/>
              </a:spcBef>
              <a:buNone/>
            </a:pPr>
            <a:r>
              <a:rPr lang="ko-KR" altLang="en-US"/>
              <a:t>마스터 텍스트 스타일을 편집합니다</a:t>
            </a:r>
          </a:p>
        </p:txBody>
      </p:sp>
      <p:sp>
        <p:nvSpPr>
          <p:cNvPr id="24" name="내용 개체 틀 22"/>
          <p:cNvSpPr>
            <a:spLocks noGrp="1"/>
          </p:cNvSpPr>
          <p:nvPr>
            <p:ph sz="quarter" idx="12"/>
            <p:custDataLst>
              <p:tags r:id="rId4"/>
            </p:custDataLst>
          </p:nvPr>
        </p:nvSpPr>
        <p:spPr>
          <a:xfrm>
            <a:off x="1208089" y="5176203"/>
            <a:ext cx="6960333" cy="307777"/>
          </a:xfrm>
        </p:spPr>
        <p:txBody>
          <a:bodyPr vert="horz" wrap="square" lIns="91440" tIns="45720" rIns="91440" bIns="45720" rtlCol="0" anchor="t">
            <a:spAutoFit/>
          </a:bodyPr>
          <a:lstStyle>
            <a:lvl1pPr>
              <a:defRPr lang="ko-KR" altLang="en-US" sz="1400" smtClean="0">
                <a:solidFill>
                  <a:schemeClr val="tx1">
                    <a:lumMod val="65000"/>
                    <a:lumOff val="35000"/>
                  </a:schemeClr>
                </a:solidFill>
                <a:latin typeface="LG스마트체2.0 Regular" panose="020B0600000101010101" pitchFamily="50" charset="-127"/>
                <a:ea typeface="LG스마트체2.0 Regular" panose="020B0600000101010101" pitchFamily="50" charset="-127"/>
                <a:cs typeface="+mj-cs"/>
              </a:defRPr>
            </a:lvl1pPr>
            <a:lvl2pPr marL="457181" indent="0">
              <a:buNone/>
              <a:defRPr lang="ko-KR" altLang="en-US" smtClean="0"/>
            </a:lvl2pPr>
            <a:lvl3pPr marL="914361" indent="0">
              <a:buNone/>
              <a:defRPr lang="ko-KR" altLang="en-US" smtClean="0"/>
            </a:lvl3pPr>
            <a:lvl4pPr marL="1371543" indent="0">
              <a:buNone/>
              <a:defRPr lang="ko-KR" altLang="en-US" smtClean="0"/>
            </a:lvl4pPr>
            <a:lvl5pPr marL="1828724" indent="0">
              <a:buNone/>
              <a:defRPr lang="ko-KR" altLang="en-US"/>
            </a:lvl5pPr>
          </a:lstStyle>
          <a:p>
            <a:pPr lvl="0">
              <a:spcBef>
                <a:spcPct val="0"/>
              </a:spcBef>
              <a:buNone/>
            </a:pPr>
            <a:r>
              <a:rPr lang="ko-KR" altLang="en-US"/>
              <a:t>마스터 텍스트 스타일을 편집합니다</a:t>
            </a:r>
          </a:p>
        </p:txBody>
      </p:sp>
      <p:grpSp>
        <p:nvGrpSpPr>
          <p:cNvPr id="12" name="그룹 11"/>
          <p:cNvGrpSpPr/>
          <p:nvPr userDrawn="1">
            <p:custDataLst>
              <p:tags r:id="rId5"/>
            </p:custDataLst>
          </p:nvPr>
        </p:nvGrpSpPr>
        <p:grpSpPr>
          <a:xfrm>
            <a:off x="200025" y="188914"/>
            <a:ext cx="9505950" cy="6480175"/>
            <a:chOff x="200025" y="188913"/>
            <a:chExt cx="9505950" cy="6480175"/>
          </a:xfrm>
        </p:grpSpPr>
        <p:sp>
          <p:nvSpPr>
            <p:cNvPr id="17" name="직사각형 16"/>
            <p:cNvSpPr/>
            <p:nvPr>
              <p:custDataLst>
                <p:tags r:id="rId7"/>
              </p:custDataLst>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a:endParaRPr lang="ko-KR" altLang="en-US" sz="1800"/>
            </a:p>
          </p:txBody>
        </p:sp>
        <p:pic>
          <p:nvPicPr>
            <p:cNvPr id="18"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8"/>
              </p:custDataLst>
            </p:nvPr>
          </p:nvPicPr>
          <p:blipFill>
            <a:blip r:embed="rId11">
              <a:extLst>
                <a:ext uri="{28A0092B-C50C-407E-A947-70E740481C1C}">
                  <a14:useLocalDpi xmlns:a14="http://schemas.microsoft.com/office/drawing/2010/main" val="0"/>
                </a:ext>
              </a:extLst>
            </a:blip>
            <a:srcRect r="88574" b="66436"/>
            <a:stretch>
              <a:fill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CM\TEMP\부서함\Brand담당\20년 연간업무계획\디지털 그래픽 모티브 개발★\★1st Manual Official Release\Graphic Asset_v1.0\1. Main motif - Solid color\png\Main_motif-LG_red_solid.png"/>
            <p:cNvPicPr>
              <a:picLocks noChangeAspect="1" noChangeArrowheads="1"/>
            </p:cNvPicPr>
            <p:nvPr userDrawn="1">
              <p:custDataLst>
                <p:tags r:id="rId9"/>
              </p:custDataLst>
            </p:nvPr>
          </p:nvPicPr>
          <p:blipFill>
            <a:blip r:embed="rId12">
              <a:extLst>
                <a:ext uri="{28A0092B-C50C-407E-A947-70E740481C1C}">
                  <a14:useLocalDpi xmlns:a14="http://schemas.microsoft.com/office/drawing/2010/main" val="0"/>
                </a:ext>
              </a:extLst>
            </a:blip>
            <a:srcRect l="77355" t="77614"/>
            <a:stretch>
              <a:fill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sp useBgFill="1">
        <p:nvSpPr>
          <p:cNvPr id="3" name="직사각형 2"/>
          <p:cNvSpPr/>
          <p:nvPr userDrawn="1">
            <p:custDataLst>
              <p:tags r:id="rId6"/>
            </p:custDataLst>
          </p:nvPr>
        </p:nvSpPr>
        <p:spPr>
          <a:xfrm>
            <a:off x="9273481" y="6677891"/>
            <a:ext cx="632519" cy="162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2447608758"/>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제목_Head">
    <p:spTree>
      <p:nvGrpSpPr>
        <p:cNvPr id="1" name=""/>
        <p:cNvGrpSpPr/>
        <p:nvPr/>
      </p:nvGrpSpPr>
      <p:grpSpPr>
        <a:xfrm>
          <a:off x="0" y="0"/>
          <a:ext cx="0" cy="0"/>
          <a:chOff x="0" y="0"/>
          <a:chExt cx="0" cy="0"/>
        </a:xfrm>
      </p:grpSpPr>
      <p:sp>
        <p:nvSpPr>
          <p:cNvPr id="9" name="내용 개체 틀 3"/>
          <p:cNvSpPr>
            <a:spLocks noGrp="1"/>
          </p:cNvSpPr>
          <p:nvPr>
            <p:ph idx="1"/>
          </p:nvPr>
        </p:nvSpPr>
        <p:spPr>
          <a:xfrm>
            <a:off x="273050" y="657511"/>
            <a:ext cx="9359900" cy="503237"/>
          </a:xfrm>
          <a:prstGeom prst="rect">
            <a:avLst/>
          </a:prstGeom>
        </p:spPr>
        <p:txBody>
          <a:bodyPr/>
          <a:lstStyle>
            <a:lvl1pPr marL="0" indent="0">
              <a:buFontTx/>
              <a:buNone/>
              <a:defRPr sz="1600" b="1">
                <a:latin typeface="LG스마트체 Regular" panose="020B0600000101010101" pitchFamily="50" charset="-127"/>
                <a:ea typeface="LG스마트체 Regular" panose="020B0600000101010101" pitchFamily="50" charset="-127"/>
              </a:defRPr>
            </a:lvl1pPr>
          </a:lstStyle>
          <a:p>
            <a:endParaRPr lang="en-US" altLang="ko-KR"/>
          </a:p>
        </p:txBody>
      </p:sp>
      <p:sp>
        <p:nvSpPr>
          <p:cNvPr id="11" name="제목 1"/>
          <p:cNvSpPr>
            <a:spLocks noGrp="1"/>
          </p:cNvSpPr>
          <p:nvPr>
            <p:ph type="title"/>
          </p:nvPr>
        </p:nvSpPr>
        <p:spPr>
          <a:xfrm>
            <a:off x="134568" y="141836"/>
            <a:ext cx="184731" cy="392672"/>
          </a:xfr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none" lIns="91440" tIns="45720" rIns="91440" bIns="45720" numCol="1" anchor="ctr" anchorCtr="0" compatLnSpc="1">
            <a:prstTxWarp prst="textNoShape">
              <a:avLst/>
            </a:prstTxWarp>
            <a:spAutoFit/>
          </a:bodyPr>
          <a:lstStyle>
            <a:lvl1pPr>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defRPr>
            </a:lvl1pPr>
          </a:lstStyle>
          <a:p>
            <a:pPr lvl="0" algn="l" eaLnBrk="0" fontAlgn="base" hangingPunct="0">
              <a:lnSpc>
                <a:spcPct val="120000"/>
              </a:lnSpc>
              <a:spcBef>
                <a:spcPts val="600"/>
              </a:spcBef>
              <a:spcAft>
                <a:spcPct val="0"/>
              </a:spcAft>
            </a:pPr>
            <a:endParaRPr lang="ko-KR" altLang="en-US"/>
          </a:p>
        </p:txBody>
      </p:sp>
    </p:spTree>
    <p:extLst>
      <p:ext uri="{BB962C8B-B14F-4D97-AF65-F5344CB8AC3E}">
        <p14:creationId xmlns:p14="http://schemas.microsoft.com/office/powerpoint/2010/main" val="6947023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2491" indent="0" algn="ctr">
              <a:buNone/>
              <a:defRPr>
                <a:solidFill>
                  <a:schemeClr val="tx1">
                    <a:tint val="75000"/>
                  </a:schemeClr>
                </a:solidFill>
              </a:defRPr>
            </a:lvl2pPr>
            <a:lvl3pPr marL="904982" indent="0" algn="ctr">
              <a:buNone/>
              <a:defRPr>
                <a:solidFill>
                  <a:schemeClr val="tx1">
                    <a:tint val="75000"/>
                  </a:schemeClr>
                </a:solidFill>
              </a:defRPr>
            </a:lvl3pPr>
            <a:lvl4pPr marL="1357473" indent="0" algn="ctr">
              <a:buNone/>
              <a:defRPr>
                <a:solidFill>
                  <a:schemeClr val="tx1">
                    <a:tint val="75000"/>
                  </a:schemeClr>
                </a:solidFill>
              </a:defRPr>
            </a:lvl4pPr>
            <a:lvl5pPr marL="1809963" indent="0" algn="ctr">
              <a:buNone/>
              <a:defRPr>
                <a:solidFill>
                  <a:schemeClr val="tx1">
                    <a:tint val="75000"/>
                  </a:schemeClr>
                </a:solidFill>
              </a:defRPr>
            </a:lvl5pPr>
            <a:lvl6pPr marL="2262454" indent="0" algn="ctr">
              <a:buNone/>
              <a:defRPr>
                <a:solidFill>
                  <a:schemeClr val="tx1">
                    <a:tint val="75000"/>
                  </a:schemeClr>
                </a:solidFill>
              </a:defRPr>
            </a:lvl6pPr>
            <a:lvl7pPr marL="2714945" indent="0" algn="ctr">
              <a:buNone/>
              <a:defRPr>
                <a:solidFill>
                  <a:schemeClr val="tx1">
                    <a:tint val="75000"/>
                  </a:schemeClr>
                </a:solidFill>
              </a:defRPr>
            </a:lvl7pPr>
            <a:lvl8pPr marL="3167436" indent="0" algn="ctr">
              <a:buNone/>
              <a:defRPr>
                <a:solidFill>
                  <a:schemeClr val="tx1">
                    <a:tint val="75000"/>
                  </a:schemeClr>
                </a:solidFill>
              </a:defRPr>
            </a:lvl8pPr>
            <a:lvl9pPr marL="3619927"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9829552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8409846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82506" y="4406903"/>
            <a:ext cx="8420100" cy="1362075"/>
          </a:xfrm>
        </p:spPr>
        <p:txBody>
          <a:bodyPr anchor="t"/>
          <a:lstStyle>
            <a:lvl1pPr algn="l">
              <a:defRPr sz="3959" b="1" cap="all"/>
            </a:lvl1pPr>
          </a:lstStyle>
          <a:p>
            <a:r>
              <a:rPr lang="ko-KR" altLang="en-US"/>
              <a:t>마스터 제목 스타일 편집</a:t>
            </a:r>
          </a:p>
        </p:txBody>
      </p:sp>
      <p:sp>
        <p:nvSpPr>
          <p:cNvPr id="3" name="텍스트 개체 틀 2"/>
          <p:cNvSpPr>
            <a:spLocks noGrp="1"/>
          </p:cNvSpPr>
          <p:nvPr>
            <p:ph type="body" idx="1"/>
          </p:nvPr>
        </p:nvSpPr>
        <p:spPr>
          <a:xfrm>
            <a:off x="782506" y="2906713"/>
            <a:ext cx="8420100" cy="1500187"/>
          </a:xfrm>
        </p:spPr>
        <p:txBody>
          <a:bodyPr anchor="b"/>
          <a:lstStyle>
            <a:lvl1pPr marL="0" indent="0">
              <a:buNone/>
              <a:defRPr sz="1979">
                <a:solidFill>
                  <a:schemeClr val="tx1">
                    <a:tint val="75000"/>
                  </a:schemeClr>
                </a:solidFill>
              </a:defRPr>
            </a:lvl1pPr>
            <a:lvl2pPr marL="452491" indent="0">
              <a:buNone/>
              <a:defRPr sz="1781">
                <a:solidFill>
                  <a:schemeClr val="tx1">
                    <a:tint val="75000"/>
                  </a:schemeClr>
                </a:solidFill>
              </a:defRPr>
            </a:lvl2pPr>
            <a:lvl3pPr marL="904982" indent="0">
              <a:buNone/>
              <a:defRPr sz="1584">
                <a:solidFill>
                  <a:schemeClr val="tx1">
                    <a:tint val="75000"/>
                  </a:schemeClr>
                </a:solidFill>
              </a:defRPr>
            </a:lvl3pPr>
            <a:lvl4pPr marL="1357473" indent="0">
              <a:buNone/>
              <a:defRPr sz="1386">
                <a:solidFill>
                  <a:schemeClr val="tx1">
                    <a:tint val="75000"/>
                  </a:schemeClr>
                </a:solidFill>
              </a:defRPr>
            </a:lvl4pPr>
            <a:lvl5pPr marL="1809963" indent="0">
              <a:buNone/>
              <a:defRPr sz="1386">
                <a:solidFill>
                  <a:schemeClr val="tx1">
                    <a:tint val="75000"/>
                  </a:schemeClr>
                </a:solidFill>
              </a:defRPr>
            </a:lvl5pPr>
            <a:lvl6pPr marL="2262454" indent="0">
              <a:buNone/>
              <a:defRPr sz="1386">
                <a:solidFill>
                  <a:schemeClr val="tx1">
                    <a:tint val="75000"/>
                  </a:schemeClr>
                </a:solidFill>
              </a:defRPr>
            </a:lvl6pPr>
            <a:lvl7pPr marL="2714945" indent="0">
              <a:buNone/>
              <a:defRPr sz="1386">
                <a:solidFill>
                  <a:schemeClr val="tx1">
                    <a:tint val="75000"/>
                  </a:schemeClr>
                </a:solidFill>
              </a:defRPr>
            </a:lvl7pPr>
            <a:lvl8pPr marL="3167436" indent="0">
              <a:buNone/>
              <a:defRPr sz="1386">
                <a:solidFill>
                  <a:schemeClr val="tx1">
                    <a:tint val="75000"/>
                  </a:schemeClr>
                </a:solidFill>
              </a:defRPr>
            </a:lvl8pPr>
            <a:lvl9pPr marL="3619927" indent="0">
              <a:buNone/>
              <a:defRPr sz="1386">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2161632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536576" y="1600203"/>
            <a:ext cx="4746625" cy="4525963"/>
          </a:xfrm>
        </p:spPr>
        <p:txBody>
          <a:bodyPr/>
          <a:lstStyle>
            <a:lvl1pPr>
              <a:defRPr sz="2771"/>
            </a:lvl1pPr>
            <a:lvl2pPr>
              <a:defRPr sz="2375"/>
            </a:lvl2pPr>
            <a:lvl3pPr>
              <a:defRPr sz="1979"/>
            </a:lvl3pPr>
            <a:lvl4pPr>
              <a:defRPr sz="1781"/>
            </a:lvl4pPr>
            <a:lvl5pPr>
              <a:defRPr sz="1781"/>
            </a:lvl5pPr>
            <a:lvl6pPr>
              <a:defRPr sz="1781"/>
            </a:lvl6pPr>
            <a:lvl7pPr>
              <a:defRPr sz="1781"/>
            </a:lvl7pPr>
            <a:lvl8pPr>
              <a:defRPr sz="1781"/>
            </a:lvl8pPr>
            <a:lvl9pPr>
              <a:defRPr sz="178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448301" y="1600203"/>
            <a:ext cx="4746625" cy="4525963"/>
          </a:xfrm>
        </p:spPr>
        <p:txBody>
          <a:bodyPr/>
          <a:lstStyle>
            <a:lvl1pPr>
              <a:defRPr sz="2771"/>
            </a:lvl1pPr>
            <a:lvl2pPr>
              <a:defRPr sz="2375"/>
            </a:lvl2pPr>
            <a:lvl3pPr>
              <a:defRPr sz="1979"/>
            </a:lvl3pPr>
            <a:lvl4pPr>
              <a:defRPr sz="1781"/>
            </a:lvl4pPr>
            <a:lvl5pPr>
              <a:defRPr sz="1781"/>
            </a:lvl5pPr>
            <a:lvl6pPr>
              <a:defRPr sz="1781"/>
            </a:lvl6pPr>
            <a:lvl7pPr>
              <a:defRPr sz="1781"/>
            </a:lvl7pPr>
            <a:lvl8pPr>
              <a:defRPr sz="1781"/>
            </a:lvl8pPr>
            <a:lvl9pPr>
              <a:defRPr sz="1781"/>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9908435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95301" y="274638"/>
            <a:ext cx="89154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95300" y="1535113"/>
            <a:ext cx="4376870" cy="639762"/>
          </a:xfrm>
        </p:spPr>
        <p:txBody>
          <a:bodyPr anchor="b"/>
          <a:lstStyle>
            <a:lvl1pPr marL="0" indent="0">
              <a:buNone/>
              <a:defRPr sz="2375" b="1"/>
            </a:lvl1pPr>
            <a:lvl2pPr marL="452491" indent="0">
              <a:buNone/>
              <a:defRPr sz="1979" b="1"/>
            </a:lvl2pPr>
            <a:lvl3pPr marL="904982" indent="0">
              <a:buNone/>
              <a:defRPr sz="1781" b="1"/>
            </a:lvl3pPr>
            <a:lvl4pPr marL="1357473" indent="0">
              <a:buNone/>
              <a:defRPr sz="1584" b="1"/>
            </a:lvl4pPr>
            <a:lvl5pPr marL="1809963" indent="0">
              <a:buNone/>
              <a:defRPr sz="1584" b="1"/>
            </a:lvl5pPr>
            <a:lvl6pPr marL="2262454" indent="0">
              <a:buNone/>
              <a:defRPr sz="1584" b="1"/>
            </a:lvl6pPr>
            <a:lvl7pPr marL="2714945" indent="0">
              <a:buNone/>
              <a:defRPr sz="1584" b="1"/>
            </a:lvl7pPr>
            <a:lvl8pPr marL="3167436" indent="0">
              <a:buNone/>
              <a:defRPr sz="1584" b="1"/>
            </a:lvl8pPr>
            <a:lvl9pPr marL="3619927" indent="0">
              <a:buNone/>
              <a:defRPr sz="1584" b="1"/>
            </a:lvl9pPr>
          </a:lstStyle>
          <a:p>
            <a:pPr lvl="0"/>
            <a:r>
              <a:rPr lang="ko-KR" altLang="en-US"/>
              <a:t>마스터 텍스트 스타일을 편집합니다</a:t>
            </a:r>
          </a:p>
        </p:txBody>
      </p:sp>
      <p:sp>
        <p:nvSpPr>
          <p:cNvPr id="4" name="내용 개체 틀 3"/>
          <p:cNvSpPr>
            <a:spLocks noGrp="1"/>
          </p:cNvSpPr>
          <p:nvPr>
            <p:ph sz="half" idx="2"/>
          </p:nvPr>
        </p:nvSpPr>
        <p:spPr>
          <a:xfrm>
            <a:off x="495300" y="2174875"/>
            <a:ext cx="4376870" cy="3951288"/>
          </a:xfrm>
        </p:spPr>
        <p:txBody>
          <a:bodyPr/>
          <a:lstStyle>
            <a:lvl1pPr>
              <a:defRPr sz="2375"/>
            </a:lvl1pPr>
            <a:lvl2pPr>
              <a:defRPr sz="1979"/>
            </a:lvl2pPr>
            <a:lvl3pPr>
              <a:defRPr sz="1781"/>
            </a:lvl3pPr>
            <a:lvl4pPr>
              <a:defRPr sz="1584"/>
            </a:lvl4pPr>
            <a:lvl5pPr>
              <a:defRPr sz="1584"/>
            </a:lvl5pPr>
            <a:lvl6pPr>
              <a:defRPr sz="1584"/>
            </a:lvl6pPr>
            <a:lvl7pPr>
              <a:defRPr sz="1584"/>
            </a:lvl7pPr>
            <a:lvl8pPr>
              <a:defRPr sz="1584"/>
            </a:lvl8pPr>
            <a:lvl9pPr>
              <a:defRPr sz="1584"/>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32112" y="1535113"/>
            <a:ext cx="4378590" cy="639762"/>
          </a:xfrm>
        </p:spPr>
        <p:txBody>
          <a:bodyPr anchor="b"/>
          <a:lstStyle>
            <a:lvl1pPr marL="0" indent="0">
              <a:buNone/>
              <a:defRPr sz="2375" b="1"/>
            </a:lvl1pPr>
            <a:lvl2pPr marL="452491" indent="0">
              <a:buNone/>
              <a:defRPr sz="1979" b="1"/>
            </a:lvl2pPr>
            <a:lvl3pPr marL="904982" indent="0">
              <a:buNone/>
              <a:defRPr sz="1781" b="1"/>
            </a:lvl3pPr>
            <a:lvl4pPr marL="1357473" indent="0">
              <a:buNone/>
              <a:defRPr sz="1584" b="1"/>
            </a:lvl4pPr>
            <a:lvl5pPr marL="1809963" indent="0">
              <a:buNone/>
              <a:defRPr sz="1584" b="1"/>
            </a:lvl5pPr>
            <a:lvl6pPr marL="2262454" indent="0">
              <a:buNone/>
              <a:defRPr sz="1584" b="1"/>
            </a:lvl6pPr>
            <a:lvl7pPr marL="2714945" indent="0">
              <a:buNone/>
              <a:defRPr sz="1584" b="1"/>
            </a:lvl7pPr>
            <a:lvl8pPr marL="3167436" indent="0">
              <a:buNone/>
              <a:defRPr sz="1584" b="1"/>
            </a:lvl8pPr>
            <a:lvl9pPr marL="3619927" indent="0">
              <a:buNone/>
              <a:defRPr sz="1584" b="1"/>
            </a:lvl9pPr>
          </a:lstStyle>
          <a:p>
            <a:pPr lvl="0"/>
            <a:r>
              <a:rPr lang="ko-KR" altLang="en-US"/>
              <a:t>마스터 텍스트 스타일을 편집합니다</a:t>
            </a:r>
          </a:p>
        </p:txBody>
      </p:sp>
      <p:sp>
        <p:nvSpPr>
          <p:cNvPr id="6" name="내용 개체 틀 5"/>
          <p:cNvSpPr>
            <a:spLocks noGrp="1"/>
          </p:cNvSpPr>
          <p:nvPr>
            <p:ph sz="quarter" idx="4"/>
          </p:nvPr>
        </p:nvSpPr>
        <p:spPr>
          <a:xfrm>
            <a:off x="5032112" y="2174875"/>
            <a:ext cx="4378590" cy="3951288"/>
          </a:xfrm>
        </p:spPr>
        <p:txBody>
          <a:bodyPr/>
          <a:lstStyle>
            <a:lvl1pPr>
              <a:defRPr sz="2375"/>
            </a:lvl1pPr>
            <a:lvl2pPr>
              <a:defRPr sz="1979"/>
            </a:lvl2pPr>
            <a:lvl3pPr>
              <a:defRPr sz="1781"/>
            </a:lvl3pPr>
            <a:lvl4pPr>
              <a:defRPr sz="1584"/>
            </a:lvl4pPr>
            <a:lvl5pPr>
              <a:defRPr sz="1584"/>
            </a:lvl5pPr>
            <a:lvl6pPr>
              <a:defRPr sz="1584"/>
            </a:lvl6pPr>
            <a:lvl7pPr>
              <a:defRPr sz="1584"/>
            </a:lvl7pPr>
            <a:lvl8pPr>
              <a:defRPr sz="1584"/>
            </a:lvl8pPr>
            <a:lvl9pPr>
              <a:defRPr sz="1584"/>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8750917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8039154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278506692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006" cy="1162050"/>
          </a:xfrm>
        </p:spPr>
        <p:txBody>
          <a:bodyPr anchor="b"/>
          <a:lstStyle>
            <a:lvl1pPr algn="l">
              <a:defRPr sz="1979" b="1"/>
            </a:lvl1pPr>
          </a:lstStyle>
          <a:p>
            <a:r>
              <a:rPr lang="ko-KR" altLang="en-US"/>
              <a:t>마스터 제목 스타일 편집</a:t>
            </a:r>
          </a:p>
        </p:txBody>
      </p:sp>
      <p:sp>
        <p:nvSpPr>
          <p:cNvPr id="3" name="내용 개체 틀 2"/>
          <p:cNvSpPr>
            <a:spLocks noGrp="1"/>
          </p:cNvSpPr>
          <p:nvPr>
            <p:ph idx="1"/>
          </p:nvPr>
        </p:nvSpPr>
        <p:spPr>
          <a:xfrm>
            <a:off x="3872971" y="273053"/>
            <a:ext cx="5537729" cy="5853113"/>
          </a:xfrm>
        </p:spPr>
        <p:txBody>
          <a:bodyPr/>
          <a:lstStyle>
            <a:lvl1pPr>
              <a:defRPr sz="3167"/>
            </a:lvl1pPr>
            <a:lvl2pPr>
              <a:defRPr sz="2771"/>
            </a:lvl2pPr>
            <a:lvl3pPr>
              <a:defRPr sz="2375"/>
            </a:lvl3pPr>
            <a:lvl4pPr>
              <a:defRPr sz="1979"/>
            </a:lvl4pPr>
            <a:lvl5pPr>
              <a:defRPr sz="1979"/>
            </a:lvl5pPr>
            <a:lvl6pPr>
              <a:defRPr sz="1979"/>
            </a:lvl6pPr>
            <a:lvl7pPr>
              <a:defRPr sz="1979"/>
            </a:lvl7pPr>
            <a:lvl8pPr>
              <a:defRPr sz="1979"/>
            </a:lvl8pPr>
            <a:lvl9pPr>
              <a:defRPr sz="1979"/>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3"/>
            <a:ext cx="3259006" cy="4691063"/>
          </a:xfrm>
        </p:spPr>
        <p:txBody>
          <a:bodyPr/>
          <a:lstStyle>
            <a:lvl1pPr marL="0" indent="0">
              <a:buNone/>
              <a:defRPr sz="1386"/>
            </a:lvl1pPr>
            <a:lvl2pPr marL="452491" indent="0">
              <a:buNone/>
              <a:defRPr sz="1188"/>
            </a:lvl2pPr>
            <a:lvl3pPr marL="904982" indent="0">
              <a:buNone/>
              <a:defRPr sz="990"/>
            </a:lvl3pPr>
            <a:lvl4pPr marL="1357473" indent="0">
              <a:buNone/>
              <a:defRPr sz="891"/>
            </a:lvl4pPr>
            <a:lvl5pPr marL="1809963" indent="0">
              <a:buNone/>
              <a:defRPr sz="891"/>
            </a:lvl5pPr>
            <a:lvl6pPr marL="2262454" indent="0">
              <a:buNone/>
              <a:defRPr sz="891"/>
            </a:lvl6pPr>
            <a:lvl7pPr marL="2714945" indent="0">
              <a:buNone/>
              <a:defRPr sz="891"/>
            </a:lvl7pPr>
            <a:lvl8pPr marL="3167436" indent="0">
              <a:buNone/>
              <a:defRPr sz="891"/>
            </a:lvl8pPr>
            <a:lvl9pPr marL="3619927" indent="0">
              <a:buNone/>
              <a:defRPr sz="891"/>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4262325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645" y="4800600"/>
            <a:ext cx="5943600" cy="566738"/>
          </a:xfrm>
        </p:spPr>
        <p:txBody>
          <a:bodyPr anchor="b"/>
          <a:lstStyle>
            <a:lvl1pPr algn="l">
              <a:defRPr sz="1979" b="1"/>
            </a:lvl1pPr>
          </a:lstStyle>
          <a:p>
            <a:r>
              <a:rPr lang="ko-KR" altLang="en-US"/>
              <a:t>마스터 제목 스타일 편집</a:t>
            </a:r>
          </a:p>
        </p:txBody>
      </p:sp>
      <p:sp>
        <p:nvSpPr>
          <p:cNvPr id="3" name="그림 개체 틀 2"/>
          <p:cNvSpPr>
            <a:spLocks noGrp="1"/>
          </p:cNvSpPr>
          <p:nvPr>
            <p:ph type="pic" idx="1"/>
          </p:nvPr>
        </p:nvSpPr>
        <p:spPr>
          <a:xfrm>
            <a:off x="1941645" y="612775"/>
            <a:ext cx="5943600" cy="4114800"/>
          </a:xfrm>
        </p:spPr>
        <p:txBody>
          <a:bodyPr/>
          <a:lstStyle>
            <a:lvl1pPr marL="0" indent="0">
              <a:buNone/>
              <a:defRPr sz="3167"/>
            </a:lvl1pPr>
            <a:lvl2pPr marL="452491" indent="0">
              <a:buNone/>
              <a:defRPr sz="2771"/>
            </a:lvl2pPr>
            <a:lvl3pPr marL="904982" indent="0">
              <a:buNone/>
              <a:defRPr sz="2375"/>
            </a:lvl3pPr>
            <a:lvl4pPr marL="1357473" indent="0">
              <a:buNone/>
              <a:defRPr sz="1979"/>
            </a:lvl4pPr>
            <a:lvl5pPr marL="1809963" indent="0">
              <a:buNone/>
              <a:defRPr sz="1979"/>
            </a:lvl5pPr>
            <a:lvl6pPr marL="2262454" indent="0">
              <a:buNone/>
              <a:defRPr sz="1979"/>
            </a:lvl6pPr>
            <a:lvl7pPr marL="2714945" indent="0">
              <a:buNone/>
              <a:defRPr sz="1979"/>
            </a:lvl7pPr>
            <a:lvl8pPr marL="3167436" indent="0">
              <a:buNone/>
              <a:defRPr sz="1979"/>
            </a:lvl8pPr>
            <a:lvl9pPr marL="3619927" indent="0">
              <a:buNone/>
              <a:defRPr sz="1979"/>
            </a:lvl9pPr>
          </a:lstStyle>
          <a:p>
            <a:endParaRPr lang="ko-KR" altLang="en-US"/>
          </a:p>
        </p:txBody>
      </p:sp>
      <p:sp>
        <p:nvSpPr>
          <p:cNvPr id="4" name="텍스트 개체 틀 3"/>
          <p:cNvSpPr>
            <a:spLocks noGrp="1"/>
          </p:cNvSpPr>
          <p:nvPr>
            <p:ph type="body" sz="half" idx="2"/>
          </p:nvPr>
        </p:nvSpPr>
        <p:spPr>
          <a:xfrm>
            <a:off x="1941645" y="5367338"/>
            <a:ext cx="5943600" cy="804862"/>
          </a:xfrm>
        </p:spPr>
        <p:txBody>
          <a:bodyPr/>
          <a:lstStyle>
            <a:lvl1pPr marL="0" indent="0">
              <a:buNone/>
              <a:defRPr sz="1386"/>
            </a:lvl1pPr>
            <a:lvl2pPr marL="452491" indent="0">
              <a:buNone/>
              <a:defRPr sz="1188"/>
            </a:lvl2pPr>
            <a:lvl3pPr marL="904982" indent="0">
              <a:buNone/>
              <a:defRPr sz="990"/>
            </a:lvl3pPr>
            <a:lvl4pPr marL="1357473" indent="0">
              <a:buNone/>
              <a:defRPr sz="891"/>
            </a:lvl4pPr>
            <a:lvl5pPr marL="1809963" indent="0">
              <a:buNone/>
              <a:defRPr sz="891"/>
            </a:lvl5pPr>
            <a:lvl6pPr marL="2262454" indent="0">
              <a:buNone/>
              <a:defRPr sz="891"/>
            </a:lvl6pPr>
            <a:lvl7pPr marL="2714945" indent="0">
              <a:buNone/>
              <a:defRPr sz="891"/>
            </a:lvl7pPr>
            <a:lvl8pPr marL="3167436" indent="0">
              <a:buNone/>
              <a:defRPr sz="891"/>
            </a:lvl8pPr>
            <a:lvl9pPr marL="3619927" indent="0">
              <a:buNone/>
              <a:defRPr sz="891"/>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8419786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734455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780337" y="274641"/>
            <a:ext cx="2414588"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536576" y="274641"/>
            <a:ext cx="7078663"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32006510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제목_Head">
    <p:spTree>
      <p:nvGrpSpPr>
        <p:cNvPr id="1" name=""/>
        <p:cNvGrpSpPr/>
        <p:nvPr/>
      </p:nvGrpSpPr>
      <p:grpSpPr>
        <a:xfrm>
          <a:off x="0" y="0"/>
          <a:ext cx="0" cy="0"/>
          <a:chOff x="0" y="0"/>
          <a:chExt cx="0" cy="0"/>
        </a:xfrm>
      </p:grpSpPr>
      <p:sp>
        <p:nvSpPr>
          <p:cNvPr id="9" name="내용 개체 틀 3"/>
          <p:cNvSpPr>
            <a:spLocks noGrp="1"/>
          </p:cNvSpPr>
          <p:nvPr>
            <p:ph idx="1"/>
          </p:nvPr>
        </p:nvSpPr>
        <p:spPr>
          <a:xfrm>
            <a:off x="273050" y="657511"/>
            <a:ext cx="9359900" cy="503237"/>
          </a:xfrm>
          <a:prstGeom prst="rect">
            <a:avLst/>
          </a:prstGeom>
        </p:spPr>
        <p:txBody>
          <a:bodyPr/>
          <a:lstStyle>
            <a:lvl1pPr marL="0" indent="0">
              <a:buFontTx/>
              <a:buNone/>
              <a:defRPr sz="1600" b="1">
                <a:latin typeface="LG스마트체 Regular" panose="020B0600000101010101" pitchFamily="50" charset="-127"/>
                <a:ea typeface="LG스마트체 Regular" panose="020B0600000101010101" pitchFamily="50" charset="-127"/>
              </a:defRPr>
            </a:lvl1pPr>
          </a:lstStyle>
          <a:p>
            <a:endParaRPr lang="en-US" altLang="ko-KR"/>
          </a:p>
        </p:txBody>
      </p:sp>
      <p:sp>
        <p:nvSpPr>
          <p:cNvPr id="11" name="제목 1"/>
          <p:cNvSpPr>
            <a:spLocks noGrp="1"/>
          </p:cNvSpPr>
          <p:nvPr>
            <p:ph type="title"/>
          </p:nvPr>
        </p:nvSpPr>
        <p:spPr>
          <a:xfrm>
            <a:off x="134568" y="141836"/>
            <a:ext cx="184731" cy="392672"/>
          </a:xfr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none" lIns="91440" tIns="45720" rIns="91440" bIns="45720" numCol="1" anchor="ctr" anchorCtr="0" compatLnSpc="1">
            <a:prstTxWarp prst="textNoShape">
              <a:avLst/>
            </a:prstTxWarp>
            <a:spAutoFit/>
          </a:bodyPr>
          <a:lstStyle>
            <a:lvl1pPr>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defRPr>
            </a:lvl1pPr>
          </a:lstStyle>
          <a:p>
            <a:pPr lvl="0" algn="l" eaLnBrk="0" fontAlgn="base" hangingPunct="0">
              <a:lnSpc>
                <a:spcPct val="120000"/>
              </a:lnSpc>
              <a:spcBef>
                <a:spcPts val="600"/>
              </a:spcBef>
              <a:spcAft>
                <a:spcPct val="0"/>
              </a:spcAft>
            </a:pPr>
            <a:endParaRPr lang="ko-KR" altLang="en-US"/>
          </a:p>
        </p:txBody>
      </p:sp>
    </p:spTree>
    <p:extLst>
      <p:ext uri="{BB962C8B-B14F-4D97-AF65-F5344CB8AC3E}">
        <p14:creationId xmlns:p14="http://schemas.microsoft.com/office/powerpoint/2010/main" val="38632016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3CE6898-55A9-B434-62C6-78CB7E2403F3}"/>
              </a:ext>
            </a:extLst>
          </p:cNvPr>
          <p:cNvSpPr>
            <a:spLocks noGrp="1"/>
          </p:cNvSpPr>
          <p:nvPr>
            <p:ph type="ctrTitle"/>
          </p:nvPr>
        </p:nvSpPr>
        <p:spPr>
          <a:xfrm>
            <a:off x="1238253" y="1122363"/>
            <a:ext cx="7429500" cy="2387600"/>
          </a:xfrm>
        </p:spPr>
        <p:txBody>
          <a:bodyPr anchor="b"/>
          <a:lstStyle>
            <a:lvl1pPr algn="ctr">
              <a:defRPr sz="5816"/>
            </a:lvl1pPr>
          </a:lstStyle>
          <a:p>
            <a:r>
              <a:rPr lang="ko-KR" altLang="en-US"/>
              <a:t>마스터 제목 스타일 편집</a:t>
            </a:r>
          </a:p>
        </p:txBody>
      </p:sp>
      <p:sp>
        <p:nvSpPr>
          <p:cNvPr id="3" name="부제목 2">
            <a:extLst>
              <a:ext uri="{FF2B5EF4-FFF2-40B4-BE49-F238E27FC236}">
                <a16:creationId xmlns:a16="http://schemas.microsoft.com/office/drawing/2014/main" id="{EB6259BA-8A31-C730-BC3A-54C0D0EF2B3A}"/>
              </a:ext>
            </a:extLst>
          </p:cNvPr>
          <p:cNvSpPr>
            <a:spLocks noGrp="1"/>
          </p:cNvSpPr>
          <p:nvPr>
            <p:ph type="subTitle" idx="1"/>
          </p:nvPr>
        </p:nvSpPr>
        <p:spPr>
          <a:xfrm>
            <a:off x="1238253" y="3602038"/>
            <a:ext cx="7429500" cy="1655762"/>
          </a:xfrm>
        </p:spPr>
        <p:txBody>
          <a:bodyPr/>
          <a:lstStyle>
            <a:lvl1pPr marL="0" indent="0" algn="ctr">
              <a:buNone/>
              <a:defRPr sz="2327"/>
            </a:lvl1pPr>
            <a:lvl2pPr marL="443217" indent="0" algn="ctr">
              <a:buNone/>
              <a:defRPr sz="1939"/>
            </a:lvl2pPr>
            <a:lvl3pPr marL="886436" indent="0" algn="ctr">
              <a:buNone/>
              <a:defRPr sz="1745"/>
            </a:lvl3pPr>
            <a:lvl4pPr marL="1329653" indent="0" algn="ctr">
              <a:buNone/>
              <a:defRPr sz="1552"/>
            </a:lvl4pPr>
            <a:lvl5pPr marL="1772869" indent="0" algn="ctr">
              <a:buNone/>
              <a:defRPr sz="1552"/>
            </a:lvl5pPr>
            <a:lvl6pPr marL="2216088" indent="0" algn="ctr">
              <a:buNone/>
              <a:defRPr sz="1552"/>
            </a:lvl6pPr>
            <a:lvl7pPr marL="2659305" indent="0" algn="ctr">
              <a:buNone/>
              <a:defRPr sz="1552"/>
            </a:lvl7pPr>
            <a:lvl8pPr marL="3102522" indent="0" algn="ctr">
              <a:buNone/>
              <a:defRPr sz="1552"/>
            </a:lvl8pPr>
            <a:lvl9pPr marL="3545741" indent="0" algn="ctr">
              <a:buNone/>
              <a:defRPr sz="1552"/>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85B57D32-E146-532F-BC4E-3AE13D709F30}"/>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FB9BE459-B58C-123F-71E9-BEEC8990BD2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8999A18-E671-29E0-FDCA-197522E563C7}"/>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24324186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EF6B3F8-FC22-AEF8-1985-A2E7C69B3A6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AE18F0E-8C89-FF6F-D1FF-AC58B26E290A}"/>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7DEF289-BA8B-E586-DFCA-C6B994067F4B}"/>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EA9FBFFC-808D-1FE8-5B81-C81FBA0BEF3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51A1CA8-7E3B-FA37-5387-7433DD863F12}"/>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7513006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60986A-FE16-76B3-C134-99A4FC84006B}"/>
              </a:ext>
            </a:extLst>
          </p:cNvPr>
          <p:cNvSpPr>
            <a:spLocks noGrp="1"/>
          </p:cNvSpPr>
          <p:nvPr>
            <p:ph type="title"/>
          </p:nvPr>
        </p:nvSpPr>
        <p:spPr>
          <a:xfrm>
            <a:off x="675881" y="1709745"/>
            <a:ext cx="8543925" cy="2852737"/>
          </a:xfrm>
        </p:spPr>
        <p:txBody>
          <a:bodyPr anchor="b"/>
          <a:lstStyle>
            <a:lvl1pPr>
              <a:defRPr sz="5816"/>
            </a:lvl1pPr>
          </a:lstStyle>
          <a:p>
            <a:r>
              <a:rPr lang="ko-KR" altLang="en-US"/>
              <a:t>마스터 제목 스타일 편집</a:t>
            </a:r>
          </a:p>
        </p:txBody>
      </p:sp>
      <p:sp>
        <p:nvSpPr>
          <p:cNvPr id="3" name="텍스트 개체 틀 2">
            <a:extLst>
              <a:ext uri="{FF2B5EF4-FFF2-40B4-BE49-F238E27FC236}">
                <a16:creationId xmlns:a16="http://schemas.microsoft.com/office/drawing/2014/main" id="{6134F715-3501-E0BD-516F-6E5AABB96013}"/>
              </a:ext>
            </a:extLst>
          </p:cNvPr>
          <p:cNvSpPr>
            <a:spLocks noGrp="1"/>
          </p:cNvSpPr>
          <p:nvPr>
            <p:ph type="body" idx="1"/>
          </p:nvPr>
        </p:nvSpPr>
        <p:spPr>
          <a:xfrm>
            <a:off x="675881" y="4589470"/>
            <a:ext cx="8543925" cy="1500187"/>
          </a:xfrm>
        </p:spPr>
        <p:txBody>
          <a:bodyPr/>
          <a:lstStyle>
            <a:lvl1pPr marL="0" indent="0">
              <a:buNone/>
              <a:defRPr sz="2327">
                <a:solidFill>
                  <a:schemeClr val="tx1">
                    <a:tint val="82000"/>
                  </a:schemeClr>
                </a:solidFill>
              </a:defRPr>
            </a:lvl1pPr>
            <a:lvl2pPr marL="443217" indent="0">
              <a:buNone/>
              <a:defRPr sz="1939">
                <a:solidFill>
                  <a:schemeClr val="tx1">
                    <a:tint val="82000"/>
                  </a:schemeClr>
                </a:solidFill>
              </a:defRPr>
            </a:lvl2pPr>
            <a:lvl3pPr marL="886436" indent="0">
              <a:buNone/>
              <a:defRPr sz="1745">
                <a:solidFill>
                  <a:schemeClr val="tx1">
                    <a:tint val="82000"/>
                  </a:schemeClr>
                </a:solidFill>
              </a:defRPr>
            </a:lvl3pPr>
            <a:lvl4pPr marL="1329653" indent="0">
              <a:buNone/>
              <a:defRPr sz="1552">
                <a:solidFill>
                  <a:schemeClr val="tx1">
                    <a:tint val="82000"/>
                  </a:schemeClr>
                </a:solidFill>
              </a:defRPr>
            </a:lvl4pPr>
            <a:lvl5pPr marL="1772869" indent="0">
              <a:buNone/>
              <a:defRPr sz="1552">
                <a:solidFill>
                  <a:schemeClr val="tx1">
                    <a:tint val="82000"/>
                  </a:schemeClr>
                </a:solidFill>
              </a:defRPr>
            </a:lvl5pPr>
            <a:lvl6pPr marL="2216088" indent="0">
              <a:buNone/>
              <a:defRPr sz="1552">
                <a:solidFill>
                  <a:schemeClr val="tx1">
                    <a:tint val="82000"/>
                  </a:schemeClr>
                </a:solidFill>
              </a:defRPr>
            </a:lvl6pPr>
            <a:lvl7pPr marL="2659305" indent="0">
              <a:buNone/>
              <a:defRPr sz="1552">
                <a:solidFill>
                  <a:schemeClr val="tx1">
                    <a:tint val="82000"/>
                  </a:schemeClr>
                </a:solidFill>
              </a:defRPr>
            </a:lvl7pPr>
            <a:lvl8pPr marL="3102522" indent="0">
              <a:buNone/>
              <a:defRPr sz="1552">
                <a:solidFill>
                  <a:schemeClr val="tx1">
                    <a:tint val="82000"/>
                  </a:schemeClr>
                </a:solidFill>
              </a:defRPr>
            </a:lvl8pPr>
            <a:lvl9pPr marL="3545741" indent="0">
              <a:buNone/>
              <a:defRPr sz="1552">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1FBF753-9BDF-51FE-6BC1-43A7C473880F}"/>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972DA67C-BE3A-7D32-E1F3-6E4D251C217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066D6CA-3637-4845-FDBD-980BD7CB521E}"/>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11112465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CB5FF6-901D-CEC5-4DC1-563466DFF0C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915B1A8-7109-70D2-1518-C3C64458E900}"/>
              </a:ext>
            </a:extLst>
          </p:cNvPr>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69455D43-3239-A9A0-FFA0-0E0D3C6841DD}"/>
              </a:ext>
            </a:extLst>
          </p:cNvPr>
          <p:cNvSpPr>
            <a:spLocks noGrp="1"/>
          </p:cNvSpPr>
          <p:nvPr>
            <p:ph sz="half" idx="2"/>
          </p:nvPr>
        </p:nvSpPr>
        <p:spPr>
          <a:xfrm>
            <a:off x="5014916"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17E42691-FD2E-F446-029A-331A6F114B62}"/>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6" name="바닥글 개체 틀 5">
            <a:extLst>
              <a:ext uri="{FF2B5EF4-FFF2-40B4-BE49-F238E27FC236}">
                <a16:creationId xmlns:a16="http://schemas.microsoft.com/office/drawing/2014/main" id="{9C4DD917-ABB3-686B-B924-3AC10D4811A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29E3BD5-C0D0-DEA9-D13F-956671AC1DC3}"/>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24023973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00215B-90E0-6633-2958-0CD662D03253}"/>
              </a:ext>
            </a:extLst>
          </p:cNvPr>
          <p:cNvSpPr>
            <a:spLocks noGrp="1"/>
          </p:cNvSpPr>
          <p:nvPr>
            <p:ph type="title"/>
          </p:nvPr>
        </p:nvSpPr>
        <p:spPr>
          <a:xfrm>
            <a:off x="682331" y="365129"/>
            <a:ext cx="8543925"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8CD5822C-5EC1-9A84-4F9D-AED814780DD2}"/>
              </a:ext>
            </a:extLst>
          </p:cNvPr>
          <p:cNvSpPr>
            <a:spLocks noGrp="1"/>
          </p:cNvSpPr>
          <p:nvPr>
            <p:ph type="body" idx="1"/>
          </p:nvPr>
        </p:nvSpPr>
        <p:spPr>
          <a:xfrm>
            <a:off x="682331" y="1681163"/>
            <a:ext cx="4190702" cy="823912"/>
          </a:xfrm>
        </p:spPr>
        <p:txBody>
          <a:bodyPr anchor="b"/>
          <a:lstStyle>
            <a:lvl1pPr marL="0" indent="0">
              <a:buNone/>
              <a:defRPr sz="2327" b="1"/>
            </a:lvl1pPr>
            <a:lvl2pPr marL="443217" indent="0">
              <a:buNone/>
              <a:defRPr sz="1939" b="1"/>
            </a:lvl2pPr>
            <a:lvl3pPr marL="886436" indent="0">
              <a:buNone/>
              <a:defRPr sz="1745" b="1"/>
            </a:lvl3pPr>
            <a:lvl4pPr marL="1329653" indent="0">
              <a:buNone/>
              <a:defRPr sz="1552" b="1"/>
            </a:lvl4pPr>
            <a:lvl5pPr marL="1772869" indent="0">
              <a:buNone/>
              <a:defRPr sz="1552" b="1"/>
            </a:lvl5pPr>
            <a:lvl6pPr marL="2216088" indent="0">
              <a:buNone/>
              <a:defRPr sz="1552" b="1"/>
            </a:lvl6pPr>
            <a:lvl7pPr marL="2659305" indent="0">
              <a:buNone/>
              <a:defRPr sz="1552" b="1"/>
            </a:lvl7pPr>
            <a:lvl8pPr marL="3102522" indent="0">
              <a:buNone/>
              <a:defRPr sz="1552" b="1"/>
            </a:lvl8pPr>
            <a:lvl9pPr marL="3545741" indent="0">
              <a:buNone/>
              <a:defRPr sz="1552"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66985313-5FDE-33E2-0E6D-18EA21A0D378}"/>
              </a:ext>
            </a:extLst>
          </p:cNvPr>
          <p:cNvSpPr>
            <a:spLocks noGrp="1"/>
          </p:cNvSpPr>
          <p:nvPr>
            <p:ph sz="half" idx="2"/>
          </p:nvPr>
        </p:nvSpPr>
        <p:spPr>
          <a:xfrm>
            <a:off x="682331"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8C35AEB-23DC-8A18-FB3F-3A2096D0C219}"/>
              </a:ext>
            </a:extLst>
          </p:cNvPr>
          <p:cNvSpPr>
            <a:spLocks noGrp="1"/>
          </p:cNvSpPr>
          <p:nvPr>
            <p:ph type="body" sz="quarter" idx="3"/>
          </p:nvPr>
        </p:nvSpPr>
        <p:spPr>
          <a:xfrm>
            <a:off x="5014913" y="1681163"/>
            <a:ext cx="4211340" cy="823912"/>
          </a:xfrm>
        </p:spPr>
        <p:txBody>
          <a:bodyPr anchor="b"/>
          <a:lstStyle>
            <a:lvl1pPr marL="0" indent="0">
              <a:buNone/>
              <a:defRPr sz="2327" b="1"/>
            </a:lvl1pPr>
            <a:lvl2pPr marL="443217" indent="0">
              <a:buNone/>
              <a:defRPr sz="1939" b="1"/>
            </a:lvl2pPr>
            <a:lvl3pPr marL="886436" indent="0">
              <a:buNone/>
              <a:defRPr sz="1745" b="1"/>
            </a:lvl3pPr>
            <a:lvl4pPr marL="1329653" indent="0">
              <a:buNone/>
              <a:defRPr sz="1552" b="1"/>
            </a:lvl4pPr>
            <a:lvl5pPr marL="1772869" indent="0">
              <a:buNone/>
              <a:defRPr sz="1552" b="1"/>
            </a:lvl5pPr>
            <a:lvl6pPr marL="2216088" indent="0">
              <a:buNone/>
              <a:defRPr sz="1552" b="1"/>
            </a:lvl6pPr>
            <a:lvl7pPr marL="2659305" indent="0">
              <a:buNone/>
              <a:defRPr sz="1552" b="1"/>
            </a:lvl7pPr>
            <a:lvl8pPr marL="3102522" indent="0">
              <a:buNone/>
              <a:defRPr sz="1552" b="1"/>
            </a:lvl8pPr>
            <a:lvl9pPr marL="3545741" indent="0">
              <a:buNone/>
              <a:defRPr sz="1552"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610D2E48-F165-82A2-ABD5-B498164E5AAB}"/>
              </a:ext>
            </a:extLst>
          </p:cNvPr>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9F62B984-B7B6-C77C-3AE9-AC0781CC56F3}"/>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8" name="바닥글 개체 틀 7">
            <a:extLst>
              <a:ext uri="{FF2B5EF4-FFF2-40B4-BE49-F238E27FC236}">
                <a16:creationId xmlns:a16="http://schemas.microsoft.com/office/drawing/2014/main" id="{0598CFE7-7FC0-2C42-3778-799414987787}"/>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D83D7B0-3874-99BB-6D0B-5966C8DA89A8}"/>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27648452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AA8962-38A7-8CF2-72F3-55565E999F9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43179CB-177E-87F1-E75A-D5C086BC14CB}"/>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4" name="바닥글 개체 틀 3">
            <a:extLst>
              <a:ext uri="{FF2B5EF4-FFF2-40B4-BE49-F238E27FC236}">
                <a16:creationId xmlns:a16="http://schemas.microsoft.com/office/drawing/2014/main" id="{B68A1C4B-1DD9-FF7E-9AFD-427FE1F7D6D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7293601-968D-DC32-01A1-995BE94AB813}"/>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38764566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C249502-C29A-CB40-B652-8A3B3397FADA}"/>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3" name="바닥글 개체 틀 2">
            <a:extLst>
              <a:ext uri="{FF2B5EF4-FFF2-40B4-BE49-F238E27FC236}">
                <a16:creationId xmlns:a16="http://schemas.microsoft.com/office/drawing/2014/main" id="{19AFC6C7-C977-52A3-952A-B9767FDE90E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4143D8B2-5372-DC31-87E8-607A2100ECBA}"/>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18164363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0EC676-A1C9-1687-32F9-00637B5B8612}"/>
              </a:ext>
            </a:extLst>
          </p:cNvPr>
          <p:cNvSpPr>
            <a:spLocks noGrp="1"/>
          </p:cNvSpPr>
          <p:nvPr>
            <p:ph type="title"/>
          </p:nvPr>
        </p:nvSpPr>
        <p:spPr>
          <a:xfrm>
            <a:off x="682328" y="457200"/>
            <a:ext cx="3194943" cy="1600200"/>
          </a:xfrm>
        </p:spPr>
        <p:txBody>
          <a:bodyPr anchor="b"/>
          <a:lstStyle>
            <a:lvl1pPr>
              <a:defRPr sz="3102"/>
            </a:lvl1pPr>
          </a:lstStyle>
          <a:p>
            <a:r>
              <a:rPr lang="ko-KR" altLang="en-US"/>
              <a:t>마스터 제목 스타일 편집</a:t>
            </a:r>
          </a:p>
        </p:txBody>
      </p:sp>
      <p:sp>
        <p:nvSpPr>
          <p:cNvPr id="3" name="내용 개체 틀 2">
            <a:extLst>
              <a:ext uri="{FF2B5EF4-FFF2-40B4-BE49-F238E27FC236}">
                <a16:creationId xmlns:a16="http://schemas.microsoft.com/office/drawing/2014/main" id="{8A1865F0-5B27-EEF0-7BEE-D6A6C989549F}"/>
              </a:ext>
            </a:extLst>
          </p:cNvPr>
          <p:cNvSpPr>
            <a:spLocks noGrp="1"/>
          </p:cNvSpPr>
          <p:nvPr>
            <p:ph idx="1"/>
          </p:nvPr>
        </p:nvSpPr>
        <p:spPr>
          <a:xfrm>
            <a:off x="4211343" y="987432"/>
            <a:ext cx="5014913" cy="4873625"/>
          </a:xfrm>
        </p:spPr>
        <p:txBody>
          <a:bodyPr/>
          <a:lstStyle>
            <a:lvl1pPr>
              <a:defRPr sz="3102"/>
            </a:lvl1pPr>
            <a:lvl2pPr>
              <a:defRPr sz="2714"/>
            </a:lvl2pPr>
            <a:lvl3pPr>
              <a:defRPr sz="2327"/>
            </a:lvl3pPr>
            <a:lvl4pPr>
              <a:defRPr sz="1939"/>
            </a:lvl4pPr>
            <a:lvl5pPr>
              <a:defRPr sz="1939"/>
            </a:lvl5pPr>
            <a:lvl6pPr>
              <a:defRPr sz="1939"/>
            </a:lvl6pPr>
            <a:lvl7pPr>
              <a:defRPr sz="1939"/>
            </a:lvl7pPr>
            <a:lvl8pPr>
              <a:defRPr sz="1939"/>
            </a:lvl8pPr>
            <a:lvl9pPr>
              <a:defRPr sz="1939"/>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9F950C7-6917-57F9-1D1F-0EE589D7B3DE}"/>
              </a:ext>
            </a:extLst>
          </p:cNvPr>
          <p:cNvSpPr>
            <a:spLocks noGrp="1"/>
          </p:cNvSpPr>
          <p:nvPr>
            <p:ph type="body" sz="half" idx="2"/>
          </p:nvPr>
        </p:nvSpPr>
        <p:spPr>
          <a:xfrm>
            <a:off x="682328" y="2057400"/>
            <a:ext cx="3194943" cy="3811588"/>
          </a:xfrm>
        </p:spPr>
        <p:txBody>
          <a:bodyPr/>
          <a:lstStyle>
            <a:lvl1pPr marL="0" indent="0">
              <a:buNone/>
              <a:defRPr sz="1552"/>
            </a:lvl1pPr>
            <a:lvl2pPr marL="443217" indent="0">
              <a:buNone/>
              <a:defRPr sz="1358"/>
            </a:lvl2pPr>
            <a:lvl3pPr marL="886436" indent="0">
              <a:buNone/>
              <a:defRPr sz="1164"/>
            </a:lvl3pPr>
            <a:lvl4pPr marL="1329653" indent="0">
              <a:buNone/>
              <a:defRPr sz="970"/>
            </a:lvl4pPr>
            <a:lvl5pPr marL="1772869" indent="0">
              <a:buNone/>
              <a:defRPr sz="970"/>
            </a:lvl5pPr>
            <a:lvl6pPr marL="2216088" indent="0">
              <a:buNone/>
              <a:defRPr sz="970"/>
            </a:lvl6pPr>
            <a:lvl7pPr marL="2659305" indent="0">
              <a:buNone/>
              <a:defRPr sz="970"/>
            </a:lvl7pPr>
            <a:lvl8pPr marL="3102522" indent="0">
              <a:buNone/>
              <a:defRPr sz="970"/>
            </a:lvl8pPr>
            <a:lvl9pPr marL="3545741" indent="0">
              <a:buNone/>
              <a:defRPr sz="97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561CE92-16C3-84B9-BB31-3799089682A5}"/>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6" name="바닥글 개체 틀 5">
            <a:extLst>
              <a:ext uri="{FF2B5EF4-FFF2-40B4-BE49-F238E27FC236}">
                <a16:creationId xmlns:a16="http://schemas.microsoft.com/office/drawing/2014/main" id="{C28F1EBB-43F1-EE8D-4258-814BBB7CC29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2B4ACAA-7BEC-D986-88C5-23A076906A78}"/>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12571762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A7BC544-EFF6-5CBB-225E-54AE77485751}"/>
              </a:ext>
            </a:extLst>
          </p:cNvPr>
          <p:cNvSpPr>
            <a:spLocks noGrp="1"/>
          </p:cNvSpPr>
          <p:nvPr>
            <p:ph type="title"/>
          </p:nvPr>
        </p:nvSpPr>
        <p:spPr>
          <a:xfrm>
            <a:off x="682328" y="457200"/>
            <a:ext cx="3194943" cy="1600200"/>
          </a:xfrm>
        </p:spPr>
        <p:txBody>
          <a:bodyPr anchor="b"/>
          <a:lstStyle>
            <a:lvl1pPr>
              <a:defRPr sz="3102"/>
            </a:lvl1pPr>
          </a:lstStyle>
          <a:p>
            <a:r>
              <a:rPr lang="ko-KR" altLang="en-US"/>
              <a:t>마스터 제목 스타일 편집</a:t>
            </a:r>
          </a:p>
        </p:txBody>
      </p:sp>
      <p:sp>
        <p:nvSpPr>
          <p:cNvPr id="3" name="그림 개체 틀 2">
            <a:extLst>
              <a:ext uri="{FF2B5EF4-FFF2-40B4-BE49-F238E27FC236}">
                <a16:creationId xmlns:a16="http://schemas.microsoft.com/office/drawing/2014/main" id="{242E1B23-2442-9F58-88F9-C51071A21568}"/>
              </a:ext>
            </a:extLst>
          </p:cNvPr>
          <p:cNvSpPr>
            <a:spLocks noGrp="1"/>
          </p:cNvSpPr>
          <p:nvPr>
            <p:ph type="pic" idx="1"/>
          </p:nvPr>
        </p:nvSpPr>
        <p:spPr>
          <a:xfrm>
            <a:off x="4211343" y="987432"/>
            <a:ext cx="5014913" cy="4873625"/>
          </a:xfrm>
        </p:spPr>
        <p:txBody>
          <a:bodyPr/>
          <a:lstStyle>
            <a:lvl1pPr marL="0" indent="0">
              <a:buNone/>
              <a:defRPr sz="3102"/>
            </a:lvl1pPr>
            <a:lvl2pPr marL="443217" indent="0">
              <a:buNone/>
              <a:defRPr sz="2714"/>
            </a:lvl2pPr>
            <a:lvl3pPr marL="886436" indent="0">
              <a:buNone/>
              <a:defRPr sz="2327"/>
            </a:lvl3pPr>
            <a:lvl4pPr marL="1329653" indent="0">
              <a:buNone/>
              <a:defRPr sz="1939"/>
            </a:lvl4pPr>
            <a:lvl5pPr marL="1772869" indent="0">
              <a:buNone/>
              <a:defRPr sz="1939"/>
            </a:lvl5pPr>
            <a:lvl6pPr marL="2216088" indent="0">
              <a:buNone/>
              <a:defRPr sz="1939"/>
            </a:lvl6pPr>
            <a:lvl7pPr marL="2659305" indent="0">
              <a:buNone/>
              <a:defRPr sz="1939"/>
            </a:lvl7pPr>
            <a:lvl8pPr marL="3102522" indent="0">
              <a:buNone/>
              <a:defRPr sz="1939"/>
            </a:lvl8pPr>
            <a:lvl9pPr marL="3545741" indent="0">
              <a:buNone/>
              <a:defRPr sz="1939"/>
            </a:lvl9pPr>
          </a:lstStyle>
          <a:p>
            <a:r>
              <a:rPr lang="ko-KR" altLang="en-US"/>
              <a:t>그림을 추가하려면 아이콘을 클릭하십시오</a:t>
            </a:r>
          </a:p>
        </p:txBody>
      </p:sp>
      <p:sp>
        <p:nvSpPr>
          <p:cNvPr id="4" name="텍스트 개체 틀 3">
            <a:extLst>
              <a:ext uri="{FF2B5EF4-FFF2-40B4-BE49-F238E27FC236}">
                <a16:creationId xmlns:a16="http://schemas.microsoft.com/office/drawing/2014/main" id="{7CC20055-A7D8-6DD2-AB44-AB81DA8B9A06}"/>
              </a:ext>
            </a:extLst>
          </p:cNvPr>
          <p:cNvSpPr>
            <a:spLocks noGrp="1"/>
          </p:cNvSpPr>
          <p:nvPr>
            <p:ph type="body" sz="half" idx="2"/>
          </p:nvPr>
        </p:nvSpPr>
        <p:spPr>
          <a:xfrm>
            <a:off x="682328" y="2057400"/>
            <a:ext cx="3194943" cy="3811588"/>
          </a:xfrm>
        </p:spPr>
        <p:txBody>
          <a:bodyPr/>
          <a:lstStyle>
            <a:lvl1pPr marL="0" indent="0">
              <a:buNone/>
              <a:defRPr sz="1552"/>
            </a:lvl1pPr>
            <a:lvl2pPr marL="443217" indent="0">
              <a:buNone/>
              <a:defRPr sz="1358"/>
            </a:lvl2pPr>
            <a:lvl3pPr marL="886436" indent="0">
              <a:buNone/>
              <a:defRPr sz="1164"/>
            </a:lvl3pPr>
            <a:lvl4pPr marL="1329653" indent="0">
              <a:buNone/>
              <a:defRPr sz="970"/>
            </a:lvl4pPr>
            <a:lvl5pPr marL="1772869" indent="0">
              <a:buNone/>
              <a:defRPr sz="970"/>
            </a:lvl5pPr>
            <a:lvl6pPr marL="2216088" indent="0">
              <a:buNone/>
              <a:defRPr sz="970"/>
            </a:lvl6pPr>
            <a:lvl7pPr marL="2659305" indent="0">
              <a:buNone/>
              <a:defRPr sz="970"/>
            </a:lvl7pPr>
            <a:lvl8pPr marL="3102522" indent="0">
              <a:buNone/>
              <a:defRPr sz="970"/>
            </a:lvl8pPr>
            <a:lvl9pPr marL="3545741" indent="0">
              <a:buNone/>
              <a:defRPr sz="97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BE482503-36C8-52A5-68C6-1F632B0011C0}"/>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6" name="바닥글 개체 틀 5">
            <a:extLst>
              <a:ext uri="{FF2B5EF4-FFF2-40B4-BE49-F238E27FC236}">
                <a16:creationId xmlns:a16="http://schemas.microsoft.com/office/drawing/2014/main" id="{588CC2E8-E51E-C8A6-8586-12F23182D05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DE41737-F1DD-7C76-C602-6D93EF695FD8}"/>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13621964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EF7DF0-B2D3-F684-2D92-066B44CC8D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4F97E40-B034-4022-F11F-96F883685E0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5D059FB-99DC-1355-4C50-BFF21C82A470}"/>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EC702794-1B11-A33E-6158-9523424E14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D80B79B-01C5-3747-0CC3-823C223F6364}"/>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15319781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C32D8457-79C3-11DB-1797-43F27EE5B2FF}"/>
              </a:ext>
            </a:extLst>
          </p:cNvPr>
          <p:cNvSpPr>
            <a:spLocks noGrp="1"/>
          </p:cNvSpPr>
          <p:nvPr>
            <p:ph type="title" orient="vert"/>
          </p:nvPr>
        </p:nvSpPr>
        <p:spPr>
          <a:xfrm>
            <a:off x="7088984" y="365125"/>
            <a:ext cx="2135981"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E4F1DEEC-31A6-E666-CE50-3C56FA498CC8}"/>
              </a:ext>
            </a:extLst>
          </p:cNvPr>
          <p:cNvSpPr>
            <a:spLocks noGrp="1"/>
          </p:cNvSpPr>
          <p:nvPr>
            <p:ph type="body" orient="vert" idx="1"/>
          </p:nvPr>
        </p:nvSpPr>
        <p:spPr>
          <a:xfrm>
            <a:off x="681040"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AEA139C-375C-D2C5-E348-FE2151BBFD5A}"/>
              </a:ext>
            </a:extLst>
          </p:cNvPr>
          <p:cNvSpPr>
            <a:spLocks noGrp="1"/>
          </p:cNvSpPr>
          <p:nvPr>
            <p:ph type="dt" sz="half" idx="10"/>
          </p:nvPr>
        </p:nvSpPr>
        <p:spPr/>
        <p:txBody>
          <a:bodyPr/>
          <a:lstStyle/>
          <a:p>
            <a:fld id="{A0B93E94-52B2-4295-BE8F-41F522CCDE56}"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0231BAEF-E309-F3A7-0630-E61562377B1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FEBD71-8ADE-4598-4F17-FE2E098DD632}"/>
              </a:ext>
            </a:extLst>
          </p:cNvPr>
          <p:cNvSpPr>
            <a:spLocks noGrp="1"/>
          </p:cNvSpPr>
          <p:nvPr>
            <p:ph type="sldNum" sz="quarter" idx="12"/>
          </p:nvPr>
        </p:nvSpPr>
        <p:spPr/>
        <p:txBody>
          <a:body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206923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6606444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59590747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ko-KR" altLang="en-US"/>
              <a:t>마스터 제목 스타일 편집</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99500068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8401619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682329"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57092851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344939804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17394295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11044020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8007028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47632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E38F263C-C239-4E50-A756-6C356A98A202}" type="datetimeFigureOut">
              <a:rPr lang="ko-KR" altLang="en-US" smtClean="0"/>
              <a:t>2026-09-08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14787625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3.xml"/><Relationship Id="rId4"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5.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6.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7.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5249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145"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29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433"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578"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1313" indent="-341313"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1363" indent="-284163" algn="l" rtl="0" eaLnBrk="0" fontAlgn="base" latinLnBrk="1" hangingPunct="0">
        <a:spcBef>
          <a:spcPct val="20000"/>
        </a:spcBef>
        <a:spcAft>
          <a:spcPct val="0"/>
        </a:spcAft>
        <a:buChar char="–"/>
        <a:defRPr kumimoji="1" sz="2800">
          <a:solidFill>
            <a:schemeClr val="tx1"/>
          </a:solidFill>
          <a:latin typeface="+mn-lt"/>
          <a:ea typeface="+mn-ea"/>
        </a:defRPr>
      </a:lvl2pPr>
      <a:lvl3pPr marL="1139825" indent="-225425" algn="l" rtl="0" eaLnBrk="0" fontAlgn="base" latinLnBrk="1" hangingPunct="0">
        <a:spcBef>
          <a:spcPct val="20000"/>
        </a:spcBef>
        <a:spcAft>
          <a:spcPct val="0"/>
        </a:spcAft>
        <a:buChar char="•"/>
        <a:defRPr kumimoji="1">
          <a:solidFill>
            <a:schemeClr val="tx1"/>
          </a:solidFill>
          <a:latin typeface="+mn-lt"/>
          <a:ea typeface="+mn-ea"/>
        </a:defRPr>
      </a:lvl3pPr>
      <a:lvl4pPr marL="1598613" indent="-225425" algn="l" rtl="0" eaLnBrk="0" fontAlgn="base" latinLnBrk="1" hangingPunct="0">
        <a:spcBef>
          <a:spcPct val="20000"/>
        </a:spcBef>
        <a:spcAft>
          <a:spcPct val="0"/>
        </a:spcAft>
        <a:buChar char="–"/>
        <a:defRPr kumimoji="1" sz="2000">
          <a:solidFill>
            <a:schemeClr val="tx1"/>
          </a:solidFill>
          <a:latin typeface="+mn-lt"/>
          <a:ea typeface="+mn-ea"/>
        </a:defRPr>
      </a:lvl4pPr>
      <a:lvl5pPr marL="2054225" indent="-225425" algn="l" rtl="0" eaLnBrk="0" fontAlgn="base" latinLnBrk="1" hangingPunct="0">
        <a:spcBef>
          <a:spcPct val="20000"/>
        </a:spcBef>
        <a:spcAft>
          <a:spcPct val="0"/>
        </a:spcAft>
        <a:buChar char="»"/>
        <a:defRPr kumimoji="1" sz="2000">
          <a:solidFill>
            <a:schemeClr val="tx1"/>
          </a:solidFill>
          <a:latin typeface="+mn-lt"/>
          <a:ea typeface="+mn-ea"/>
        </a:defRPr>
      </a:lvl5pPr>
      <a:lvl6pPr marL="2514294" indent="-228572" algn="l" rtl="0" fontAlgn="base" latinLnBrk="1">
        <a:spcBef>
          <a:spcPct val="20000"/>
        </a:spcBef>
        <a:spcAft>
          <a:spcPct val="0"/>
        </a:spcAft>
        <a:buChar char="»"/>
        <a:defRPr kumimoji="1" sz="2000">
          <a:solidFill>
            <a:schemeClr val="tx1"/>
          </a:solidFill>
          <a:latin typeface="+mn-lt"/>
          <a:ea typeface="+mn-ea"/>
        </a:defRPr>
      </a:lvl6pPr>
      <a:lvl7pPr marL="2971439" indent="-228572" algn="l" rtl="0" fontAlgn="base" latinLnBrk="1">
        <a:spcBef>
          <a:spcPct val="20000"/>
        </a:spcBef>
        <a:spcAft>
          <a:spcPct val="0"/>
        </a:spcAft>
        <a:buChar char="»"/>
        <a:defRPr kumimoji="1" sz="2000">
          <a:solidFill>
            <a:schemeClr val="tx1"/>
          </a:solidFill>
          <a:latin typeface="+mn-lt"/>
          <a:ea typeface="+mn-ea"/>
        </a:defRPr>
      </a:lvl7pPr>
      <a:lvl8pPr marL="3428584" indent="-228572" algn="l" rtl="0" fontAlgn="base" latinLnBrk="1">
        <a:spcBef>
          <a:spcPct val="20000"/>
        </a:spcBef>
        <a:spcAft>
          <a:spcPct val="0"/>
        </a:spcAft>
        <a:buChar char="»"/>
        <a:defRPr kumimoji="1" sz="2000">
          <a:solidFill>
            <a:schemeClr val="tx1"/>
          </a:solidFill>
          <a:latin typeface="+mn-lt"/>
          <a:ea typeface="+mn-ea"/>
        </a:defRPr>
      </a:lvl8pPr>
      <a:lvl9pPr marL="3885727" indent="-228572"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290" rtl="0" eaLnBrk="1" latinLnBrk="1" hangingPunct="1">
        <a:defRPr sz="1700" kern="1200">
          <a:solidFill>
            <a:schemeClr val="tx1"/>
          </a:solidFill>
          <a:latin typeface="+mn-lt"/>
          <a:ea typeface="+mn-ea"/>
          <a:cs typeface="+mn-cs"/>
        </a:defRPr>
      </a:lvl1pPr>
      <a:lvl2pPr marL="457145" algn="l" defTabSz="914290" rtl="0" eaLnBrk="1" latinLnBrk="1" hangingPunct="1">
        <a:defRPr sz="1700" kern="1200">
          <a:solidFill>
            <a:schemeClr val="tx1"/>
          </a:solidFill>
          <a:latin typeface="+mn-lt"/>
          <a:ea typeface="+mn-ea"/>
          <a:cs typeface="+mn-cs"/>
        </a:defRPr>
      </a:lvl2pPr>
      <a:lvl3pPr marL="914290" algn="l" defTabSz="914290" rtl="0" eaLnBrk="1" latinLnBrk="1" hangingPunct="1">
        <a:defRPr sz="1700" kern="1200">
          <a:solidFill>
            <a:schemeClr val="tx1"/>
          </a:solidFill>
          <a:latin typeface="+mn-lt"/>
          <a:ea typeface="+mn-ea"/>
          <a:cs typeface="+mn-cs"/>
        </a:defRPr>
      </a:lvl3pPr>
      <a:lvl4pPr marL="1371433" algn="l" defTabSz="914290" rtl="0" eaLnBrk="1" latinLnBrk="1" hangingPunct="1">
        <a:defRPr sz="1700" kern="1200">
          <a:solidFill>
            <a:schemeClr val="tx1"/>
          </a:solidFill>
          <a:latin typeface="+mn-lt"/>
          <a:ea typeface="+mn-ea"/>
          <a:cs typeface="+mn-cs"/>
        </a:defRPr>
      </a:lvl4pPr>
      <a:lvl5pPr marL="1828578" algn="l" defTabSz="914290" rtl="0" eaLnBrk="1" latinLnBrk="1" hangingPunct="1">
        <a:defRPr sz="1700" kern="1200">
          <a:solidFill>
            <a:schemeClr val="tx1"/>
          </a:solidFill>
          <a:latin typeface="+mn-lt"/>
          <a:ea typeface="+mn-ea"/>
          <a:cs typeface="+mn-cs"/>
        </a:defRPr>
      </a:lvl5pPr>
      <a:lvl6pPr marL="2285722" algn="l" defTabSz="914290" rtl="0" eaLnBrk="1" latinLnBrk="1" hangingPunct="1">
        <a:defRPr sz="1700" kern="1200">
          <a:solidFill>
            <a:schemeClr val="tx1"/>
          </a:solidFill>
          <a:latin typeface="+mn-lt"/>
          <a:ea typeface="+mn-ea"/>
          <a:cs typeface="+mn-cs"/>
        </a:defRPr>
      </a:lvl6pPr>
      <a:lvl7pPr marL="2742867" algn="l" defTabSz="914290" rtl="0" eaLnBrk="1" latinLnBrk="1" hangingPunct="1">
        <a:defRPr sz="1700" kern="1200">
          <a:solidFill>
            <a:schemeClr val="tx1"/>
          </a:solidFill>
          <a:latin typeface="+mn-lt"/>
          <a:ea typeface="+mn-ea"/>
          <a:cs typeface="+mn-cs"/>
        </a:defRPr>
      </a:lvl7pPr>
      <a:lvl8pPr marL="3200011" algn="l" defTabSz="914290" rtl="0" eaLnBrk="1" latinLnBrk="1" hangingPunct="1">
        <a:defRPr sz="1700" kern="1200">
          <a:solidFill>
            <a:schemeClr val="tx1"/>
          </a:solidFill>
          <a:latin typeface="+mn-lt"/>
          <a:ea typeface="+mn-ea"/>
          <a:cs typeface="+mn-cs"/>
        </a:defRPr>
      </a:lvl8pPr>
      <a:lvl9pPr marL="3657155" algn="l" defTabSz="914290" rtl="0" eaLnBrk="1" latinLnBrk="1" hangingPunct="1">
        <a:defRPr sz="1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DC727FA-4F4A-4125-1A69-EA99BC48F054}"/>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3C74E8C8-717C-35C1-B24F-21B618C7B91A}"/>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E1CE7A6-CA78-C5E7-8DE4-A94AED9992BE}"/>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82000"/>
                  </a:schemeClr>
                </a:solidFill>
              </a:defRPr>
            </a:lvl1pPr>
          </a:lstStyle>
          <a:p>
            <a:fld id="{C6A1273D-0511-4588-AE40-93A48484D4CA}"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5790B301-0BD1-E92B-6B6F-C6CCA4DEE87D}"/>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C61FD79-A2AC-D998-2A5D-A9117C474647}"/>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82000"/>
                  </a:schemeClr>
                </a:solidFill>
              </a:defRPr>
            </a:lvl1pPr>
          </a:lstStyle>
          <a:p>
            <a:fld id="{9CB68B29-894E-45B0-8F4D-11F7AD667D86}" type="slidenum">
              <a:rPr lang="ko-KR" altLang="en-US" smtClean="0"/>
              <a:t>‹#›</a:t>
            </a:fld>
            <a:endParaRPr lang="ko-KR" altLang="en-US"/>
          </a:p>
        </p:txBody>
      </p:sp>
    </p:spTree>
    <p:extLst>
      <p:ext uri="{BB962C8B-B14F-4D97-AF65-F5344CB8AC3E}">
        <p14:creationId xmlns:p14="http://schemas.microsoft.com/office/powerpoint/2010/main" val="334944089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88" r:id="rId14"/>
  </p:sldLayoutIdLst>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76076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826" r:id="rId4"/>
  </p:sldLayoutIdLst>
  <p:hf hdr="0" ftr="0" dt="0"/>
  <p:txStyles>
    <p:titleStyle>
      <a:lvl1pPr algn="l" defTabSz="904982" rtl="0" eaLnBrk="1" latinLnBrk="1" hangingPunct="1">
        <a:lnSpc>
          <a:spcPct val="90000"/>
        </a:lnSpc>
        <a:spcBef>
          <a:spcPct val="0"/>
        </a:spcBef>
        <a:buNone/>
        <a:defRPr sz="4355" kern="1200">
          <a:solidFill>
            <a:schemeClr val="tx1"/>
          </a:solidFill>
          <a:latin typeface="+mj-lt"/>
          <a:ea typeface="+mj-ea"/>
          <a:cs typeface="+mj-cs"/>
        </a:defRPr>
      </a:lvl1pPr>
    </p:titleStyle>
    <p:bodyStyle>
      <a:lvl1pPr marL="226245" indent="-226245" algn="l" defTabSz="904982" rtl="0" eaLnBrk="1" latinLnBrk="1" hangingPunct="1">
        <a:lnSpc>
          <a:spcPct val="90000"/>
        </a:lnSpc>
        <a:spcBef>
          <a:spcPts val="990"/>
        </a:spcBef>
        <a:buFont typeface="Arial" panose="020B0604020202020204" pitchFamily="34" charset="0"/>
        <a:buChar char="•"/>
        <a:defRPr sz="2771" kern="1200">
          <a:solidFill>
            <a:schemeClr val="tx1"/>
          </a:solidFill>
          <a:latin typeface="+mn-lt"/>
          <a:ea typeface="+mn-ea"/>
          <a:cs typeface="+mn-cs"/>
        </a:defRPr>
      </a:lvl1pPr>
      <a:lvl2pPr marL="678736" indent="-226245" algn="l" defTabSz="904982" rtl="0" eaLnBrk="1" latinLnBrk="1" hangingPunct="1">
        <a:lnSpc>
          <a:spcPct val="90000"/>
        </a:lnSpc>
        <a:spcBef>
          <a:spcPts val="495"/>
        </a:spcBef>
        <a:buFont typeface="Arial" panose="020B0604020202020204" pitchFamily="34" charset="0"/>
        <a:buChar char="•"/>
        <a:defRPr sz="2375" kern="1200">
          <a:solidFill>
            <a:schemeClr val="tx1"/>
          </a:solidFill>
          <a:latin typeface="+mn-lt"/>
          <a:ea typeface="+mn-ea"/>
          <a:cs typeface="+mn-cs"/>
        </a:defRPr>
      </a:lvl2pPr>
      <a:lvl3pPr marL="1131227" indent="-226245" algn="l" defTabSz="904982" rtl="0" eaLnBrk="1" latinLnBrk="1" hangingPunct="1">
        <a:lnSpc>
          <a:spcPct val="90000"/>
        </a:lnSpc>
        <a:spcBef>
          <a:spcPts val="495"/>
        </a:spcBef>
        <a:buFont typeface="Arial" panose="020B0604020202020204" pitchFamily="34" charset="0"/>
        <a:buChar char="•"/>
        <a:defRPr sz="1979" kern="1200">
          <a:solidFill>
            <a:schemeClr val="tx1"/>
          </a:solidFill>
          <a:latin typeface="+mn-lt"/>
          <a:ea typeface="+mn-ea"/>
          <a:cs typeface="+mn-cs"/>
        </a:defRPr>
      </a:lvl3pPr>
      <a:lvl4pPr marL="1583718" indent="-226245" algn="l" defTabSz="904982" rtl="0" eaLnBrk="1" latinLnBrk="1" hangingPunct="1">
        <a:lnSpc>
          <a:spcPct val="90000"/>
        </a:lnSpc>
        <a:spcBef>
          <a:spcPts val="495"/>
        </a:spcBef>
        <a:buFont typeface="Arial" panose="020B0604020202020204" pitchFamily="34" charset="0"/>
        <a:buChar char="•"/>
        <a:defRPr sz="1781" kern="1200">
          <a:solidFill>
            <a:schemeClr val="tx1"/>
          </a:solidFill>
          <a:latin typeface="+mn-lt"/>
          <a:ea typeface="+mn-ea"/>
          <a:cs typeface="+mn-cs"/>
        </a:defRPr>
      </a:lvl4pPr>
      <a:lvl5pPr marL="2036209" indent="-226245" algn="l" defTabSz="904982" rtl="0" eaLnBrk="1" latinLnBrk="1" hangingPunct="1">
        <a:lnSpc>
          <a:spcPct val="90000"/>
        </a:lnSpc>
        <a:spcBef>
          <a:spcPts val="495"/>
        </a:spcBef>
        <a:buFont typeface="Arial" panose="020B0604020202020204" pitchFamily="34" charset="0"/>
        <a:buChar char="•"/>
        <a:defRPr sz="1781" kern="1200">
          <a:solidFill>
            <a:schemeClr val="tx1"/>
          </a:solidFill>
          <a:latin typeface="+mn-lt"/>
          <a:ea typeface="+mn-ea"/>
          <a:cs typeface="+mn-cs"/>
        </a:defRPr>
      </a:lvl5pPr>
      <a:lvl6pPr marL="2488700" indent="-226245" algn="l" defTabSz="904982" rtl="0" eaLnBrk="1" latinLnBrk="1" hangingPunct="1">
        <a:lnSpc>
          <a:spcPct val="90000"/>
        </a:lnSpc>
        <a:spcBef>
          <a:spcPts val="495"/>
        </a:spcBef>
        <a:buFont typeface="Arial" panose="020B0604020202020204" pitchFamily="34" charset="0"/>
        <a:buChar char="•"/>
        <a:defRPr sz="1781" kern="1200">
          <a:solidFill>
            <a:schemeClr val="tx1"/>
          </a:solidFill>
          <a:latin typeface="+mn-lt"/>
          <a:ea typeface="+mn-ea"/>
          <a:cs typeface="+mn-cs"/>
        </a:defRPr>
      </a:lvl6pPr>
      <a:lvl7pPr marL="2941190" indent="-226245" algn="l" defTabSz="904982" rtl="0" eaLnBrk="1" latinLnBrk="1" hangingPunct="1">
        <a:lnSpc>
          <a:spcPct val="90000"/>
        </a:lnSpc>
        <a:spcBef>
          <a:spcPts val="495"/>
        </a:spcBef>
        <a:buFont typeface="Arial" panose="020B0604020202020204" pitchFamily="34" charset="0"/>
        <a:buChar char="•"/>
        <a:defRPr sz="1781" kern="1200">
          <a:solidFill>
            <a:schemeClr val="tx1"/>
          </a:solidFill>
          <a:latin typeface="+mn-lt"/>
          <a:ea typeface="+mn-ea"/>
          <a:cs typeface="+mn-cs"/>
        </a:defRPr>
      </a:lvl7pPr>
      <a:lvl8pPr marL="3393681" indent="-226245" algn="l" defTabSz="904982" rtl="0" eaLnBrk="1" latinLnBrk="1" hangingPunct="1">
        <a:lnSpc>
          <a:spcPct val="90000"/>
        </a:lnSpc>
        <a:spcBef>
          <a:spcPts val="495"/>
        </a:spcBef>
        <a:buFont typeface="Arial" panose="020B0604020202020204" pitchFamily="34" charset="0"/>
        <a:buChar char="•"/>
        <a:defRPr sz="1781" kern="1200">
          <a:solidFill>
            <a:schemeClr val="tx1"/>
          </a:solidFill>
          <a:latin typeface="+mn-lt"/>
          <a:ea typeface="+mn-ea"/>
          <a:cs typeface="+mn-cs"/>
        </a:defRPr>
      </a:lvl8pPr>
      <a:lvl9pPr marL="3846172" indent="-226245" algn="l" defTabSz="904982" rtl="0" eaLnBrk="1" latinLnBrk="1" hangingPunct="1">
        <a:lnSpc>
          <a:spcPct val="90000"/>
        </a:lnSpc>
        <a:spcBef>
          <a:spcPts val="495"/>
        </a:spcBef>
        <a:buFont typeface="Arial" panose="020B0604020202020204" pitchFamily="34" charset="0"/>
        <a:buChar char="•"/>
        <a:defRPr sz="1781" kern="1200">
          <a:solidFill>
            <a:schemeClr val="tx1"/>
          </a:solidFill>
          <a:latin typeface="+mn-lt"/>
          <a:ea typeface="+mn-ea"/>
          <a:cs typeface="+mn-cs"/>
        </a:defRPr>
      </a:lvl9pPr>
    </p:bodyStyle>
    <p:otherStyle>
      <a:defPPr>
        <a:defRPr lang="en-US"/>
      </a:defPPr>
      <a:lvl1pPr marL="0" algn="l" defTabSz="904982" rtl="0" eaLnBrk="1" latinLnBrk="1" hangingPunct="1">
        <a:defRPr sz="1781" kern="1200">
          <a:solidFill>
            <a:schemeClr val="tx1"/>
          </a:solidFill>
          <a:latin typeface="+mn-lt"/>
          <a:ea typeface="+mn-ea"/>
          <a:cs typeface="+mn-cs"/>
        </a:defRPr>
      </a:lvl1pPr>
      <a:lvl2pPr marL="452491" algn="l" defTabSz="904982" rtl="0" eaLnBrk="1" latinLnBrk="1" hangingPunct="1">
        <a:defRPr sz="1781" kern="1200">
          <a:solidFill>
            <a:schemeClr val="tx1"/>
          </a:solidFill>
          <a:latin typeface="+mn-lt"/>
          <a:ea typeface="+mn-ea"/>
          <a:cs typeface="+mn-cs"/>
        </a:defRPr>
      </a:lvl2pPr>
      <a:lvl3pPr marL="904982" algn="l" defTabSz="904982" rtl="0" eaLnBrk="1" latinLnBrk="1" hangingPunct="1">
        <a:defRPr sz="1781" kern="1200">
          <a:solidFill>
            <a:schemeClr val="tx1"/>
          </a:solidFill>
          <a:latin typeface="+mn-lt"/>
          <a:ea typeface="+mn-ea"/>
          <a:cs typeface="+mn-cs"/>
        </a:defRPr>
      </a:lvl3pPr>
      <a:lvl4pPr marL="1357473" algn="l" defTabSz="904982" rtl="0" eaLnBrk="1" latinLnBrk="1" hangingPunct="1">
        <a:defRPr sz="1781" kern="1200">
          <a:solidFill>
            <a:schemeClr val="tx1"/>
          </a:solidFill>
          <a:latin typeface="+mn-lt"/>
          <a:ea typeface="+mn-ea"/>
          <a:cs typeface="+mn-cs"/>
        </a:defRPr>
      </a:lvl4pPr>
      <a:lvl5pPr marL="1809963" algn="l" defTabSz="904982" rtl="0" eaLnBrk="1" latinLnBrk="1" hangingPunct="1">
        <a:defRPr sz="1781" kern="1200">
          <a:solidFill>
            <a:schemeClr val="tx1"/>
          </a:solidFill>
          <a:latin typeface="+mn-lt"/>
          <a:ea typeface="+mn-ea"/>
          <a:cs typeface="+mn-cs"/>
        </a:defRPr>
      </a:lvl5pPr>
      <a:lvl6pPr marL="2262454" algn="l" defTabSz="904982" rtl="0" eaLnBrk="1" latinLnBrk="1" hangingPunct="1">
        <a:defRPr sz="1781" kern="1200">
          <a:solidFill>
            <a:schemeClr val="tx1"/>
          </a:solidFill>
          <a:latin typeface="+mn-lt"/>
          <a:ea typeface="+mn-ea"/>
          <a:cs typeface="+mn-cs"/>
        </a:defRPr>
      </a:lvl6pPr>
      <a:lvl7pPr marL="2714945" algn="l" defTabSz="904982" rtl="0" eaLnBrk="1" latinLnBrk="1" hangingPunct="1">
        <a:defRPr sz="1781" kern="1200">
          <a:solidFill>
            <a:schemeClr val="tx1"/>
          </a:solidFill>
          <a:latin typeface="+mn-lt"/>
          <a:ea typeface="+mn-ea"/>
          <a:cs typeface="+mn-cs"/>
        </a:defRPr>
      </a:lvl7pPr>
      <a:lvl8pPr marL="3167436" algn="l" defTabSz="904982" rtl="0" eaLnBrk="1" latinLnBrk="1" hangingPunct="1">
        <a:defRPr sz="1781" kern="1200">
          <a:solidFill>
            <a:schemeClr val="tx1"/>
          </a:solidFill>
          <a:latin typeface="+mn-lt"/>
          <a:ea typeface="+mn-ea"/>
          <a:cs typeface="+mn-cs"/>
        </a:defRPr>
      </a:lvl8pPr>
      <a:lvl9pPr marL="3619927" algn="l" defTabSz="904982" rtl="0" eaLnBrk="1" latinLnBrk="1" hangingPunct="1">
        <a:defRPr sz="178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58558A-1595-413E-AD89-BF302E68AF1D}" type="datetimeFigureOut">
              <a:rPr lang="ko-KR" altLang="en-US" smtClean="0"/>
              <a:t>2026-09-08</a:t>
            </a:fld>
            <a:endParaRPr lang="ko-KR" altLang="en-US" dirty="0"/>
          </a:p>
        </p:txBody>
      </p:sp>
      <p:sp>
        <p:nvSpPr>
          <p:cNvPr id="5" name="바닥글 개체 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EA4B7A-B6C7-41E7-96ED-542947DBDB5A}" type="slidenum">
              <a:rPr lang="ko-KR" altLang="en-US" smtClean="0"/>
              <a:t>‹#›</a:t>
            </a:fld>
            <a:endParaRPr lang="ko-KR" altLang="en-US" dirty="0"/>
          </a:p>
        </p:txBody>
      </p:sp>
    </p:spTree>
    <p:extLst>
      <p:ext uri="{BB962C8B-B14F-4D97-AF65-F5344CB8AC3E}">
        <p14:creationId xmlns:p14="http://schemas.microsoft.com/office/powerpoint/2010/main" val="234379878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1" y="274638"/>
            <a:ext cx="89154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95301" y="1600203"/>
            <a:ext cx="89154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95301" y="6356353"/>
            <a:ext cx="2311400" cy="365125"/>
          </a:xfrm>
          <a:prstGeom prst="rect">
            <a:avLst/>
          </a:prstGeom>
        </p:spPr>
        <p:txBody>
          <a:bodyPr vert="horz" lIns="91440" tIns="45720" rIns="91440" bIns="45720" rtlCol="0" anchor="ctr"/>
          <a:lstStyle>
            <a:lvl1pPr algn="l">
              <a:defRPr sz="1188">
                <a:solidFill>
                  <a:schemeClr val="tx1">
                    <a:tint val="75000"/>
                  </a:schemeClr>
                </a:solidFill>
              </a:defRPr>
            </a:lvl1pPr>
          </a:lstStyle>
          <a:p>
            <a:fld id="{2E58558A-1595-413E-AD89-BF302E68AF1D}" type="datetimeFigureOut">
              <a:rPr lang="ko-KR" altLang="en-US" smtClean="0"/>
              <a:t>2026-09-08</a:t>
            </a:fld>
            <a:endParaRPr lang="ko-KR" altLang="en-US"/>
          </a:p>
        </p:txBody>
      </p:sp>
      <p:sp>
        <p:nvSpPr>
          <p:cNvPr id="5" name="바닥글 개체 틀 4"/>
          <p:cNvSpPr>
            <a:spLocks noGrp="1"/>
          </p:cNvSpPr>
          <p:nvPr>
            <p:ph type="ftr" sz="quarter" idx="3"/>
          </p:nvPr>
        </p:nvSpPr>
        <p:spPr>
          <a:xfrm>
            <a:off x="3384550" y="6356353"/>
            <a:ext cx="3136900" cy="365125"/>
          </a:xfrm>
          <a:prstGeom prst="rect">
            <a:avLst/>
          </a:prstGeom>
        </p:spPr>
        <p:txBody>
          <a:bodyPr vert="horz" lIns="91440" tIns="45720" rIns="91440" bIns="45720" rtlCol="0" anchor="ctr"/>
          <a:lstStyle>
            <a:lvl1pPr algn="ctr">
              <a:defRPr sz="1188">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7099301" y="6356353"/>
            <a:ext cx="2311400" cy="365125"/>
          </a:xfrm>
          <a:prstGeom prst="rect">
            <a:avLst/>
          </a:prstGeom>
        </p:spPr>
        <p:txBody>
          <a:bodyPr vert="horz" lIns="91440" tIns="45720" rIns="91440" bIns="45720" rtlCol="0" anchor="ctr"/>
          <a:lstStyle>
            <a:lvl1pPr algn="r">
              <a:defRPr sz="1188">
                <a:solidFill>
                  <a:schemeClr val="tx1">
                    <a:tint val="75000"/>
                  </a:schemeClr>
                </a:solidFill>
              </a:defRPr>
            </a:lvl1pPr>
          </a:lstStyle>
          <a:p>
            <a:fld id="{3AEA4B7A-B6C7-41E7-96ED-542947DBDB5A}" type="slidenum">
              <a:rPr lang="ko-KR" altLang="en-US" smtClean="0"/>
              <a:t>‹#›</a:t>
            </a:fld>
            <a:endParaRPr lang="ko-KR" altLang="en-US"/>
          </a:p>
        </p:txBody>
      </p:sp>
    </p:spTree>
    <p:extLst>
      <p:ext uri="{BB962C8B-B14F-4D97-AF65-F5344CB8AC3E}">
        <p14:creationId xmlns:p14="http://schemas.microsoft.com/office/powerpoint/2010/main" val="1890289096"/>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Lst>
  <p:txStyles>
    <p:titleStyle>
      <a:lvl1pPr algn="ctr" defTabSz="904982" rtl="0" eaLnBrk="1" latinLnBrk="1" hangingPunct="1">
        <a:spcBef>
          <a:spcPct val="0"/>
        </a:spcBef>
        <a:buNone/>
        <a:defRPr sz="4355" kern="1200">
          <a:solidFill>
            <a:schemeClr val="tx1"/>
          </a:solidFill>
          <a:latin typeface="+mj-lt"/>
          <a:ea typeface="+mj-ea"/>
          <a:cs typeface="+mj-cs"/>
        </a:defRPr>
      </a:lvl1pPr>
    </p:titleStyle>
    <p:bodyStyle>
      <a:lvl1pPr marL="339368" indent="-339368" algn="l" defTabSz="904982" rtl="0" eaLnBrk="1" latinLnBrk="1" hangingPunct="1">
        <a:spcBef>
          <a:spcPct val="20000"/>
        </a:spcBef>
        <a:buFont typeface="Arial" panose="020B0604020202020204" pitchFamily="34" charset="0"/>
        <a:buChar char="•"/>
        <a:defRPr sz="3167" kern="1200">
          <a:solidFill>
            <a:schemeClr val="tx1"/>
          </a:solidFill>
          <a:latin typeface="+mn-lt"/>
          <a:ea typeface="+mn-ea"/>
          <a:cs typeface="+mn-cs"/>
        </a:defRPr>
      </a:lvl1pPr>
      <a:lvl2pPr marL="735298" indent="-282807" algn="l" defTabSz="904982" rtl="0" eaLnBrk="1" latinLnBrk="1" hangingPunct="1">
        <a:spcBef>
          <a:spcPct val="20000"/>
        </a:spcBef>
        <a:buFont typeface="Arial" panose="020B0604020202020204" pitchFamily="34" charset="0"/>
        <a:buChar char="–"/>
        <a:defRPr sz="2771" kern="1200">
          <a:solidFill>
            <a:schemeClr val="tx1"/>
          </a:solidFill>
          <a:latin typeface="+mn-lt"/>
          <a:ea typeface="+mn-ea"/>
          <a:cs typeface="+mn-cs"/>
        </a:defRPr>
      </a:lvl2pPr>
      <a:lvl3pPr marL="1131227" indent="-226245" algn="l" defTabSz="904982" rtl="0" eaLnBrk="1" latinLnBrk="1" hangingPunct="1">
        <a:spcBef>
          <a:spcPct val="20000"/>
        </a:spcBef>
        <a:buFont typeface="Arial" panose="020B0604020202020204" pitchFamily="34" charset="0"/>
        <a:buChar char="•"/>
        <a:defRPr sz="2375" kern="1200">
          <a:solidFill>
            <a:schemeClr val="tx1"/>
          </a:solidFill>
          <a:latin typeface="+mn-lt"/>
          <a:ea typeface="+mn-ea"/>
          <a:cs typeface="+mn-cs"/>
        </a:defRPr>
      </a:lvl3pPr>
      <a:lvl4pPr marL="1583718" indent="-226245" algn="l" defTabSz="904982" rtl="0" eaLnBrk="1" latinLnBrk="1" hangingPunct="1">
        <a:spcBef>
          <a:spcPct val="20000"/>
        </a:spcBef>
        <a:buFont typeface="Arial" panose="020B0604020202020204" pitchFamily="34" charset="0"/>
        <a:buChar char="–"/>
        <a:defRPr sz="1979" kern="1200">
          <a:solidFill>
            <a:schemeClr val="tx1"/>
          </a:solidFill>
          <a:latin typeface="+mn-lt"/>
          <a:ea typeface="+mn-ea"/>
          <a:cs typeface="+mn-cs"/>
        </a:defRPr>
      </a:lvl4pPr>
      <a:lvl5pPr marL="2036209" indent="-226245" algn="l" defTabSz="904982" rtl="0" eaLnBrk="1" latinLnBrk="1" hangingPunct="1">
        <a:spcBef>
          <a:spcPct val="20000"/>
        </a:spcBef>
        <a:buFont typeface="Arial" panose="020B0604020202020204" pitchFamily="34" charset="0"/>
        <a:buChar char="»"/>
        <a:defRPr sz="1979" kern="1200">
          <a:solidFill>
            <a:schemeClr val="tx1"/>
          </a:solidFill>
          <a:latin typeface="+mn-lt"/>
          <a:ea typeface="+mn-ea"/>
          <a:cs typeface="+mn-cs"/>
        </a:defRPr>
      </a:lvl5pPr>
      <a:lvl6pPr marL="2488700" indent="-226245" algn="l" defTabSz="904982" rtl="0" eaLnBrk="1" latinLnBrk="1" hangingPunct="1">
        <a:spcBef>
          <a:spcPct val="20000"/>
        </a:spcBef>
        <a:buFont typeface="Arial" panose="020B0604020202020204" pitchFamily="34" charset="0"/>
        <a:buChar char="•"/>
        <a:defRPr sz="1979" kern="1200">
          <a:solidFill>
            <a:schemeClr val="tx1"/>
          </a:solidFill>
          <a:latin typeface="+mn-lt"/>
          <a:ea typeface="+mn-ea"/>
          <a:cs typeface="+mn-cs"/>
        </a:defRPr>
      </a:lvl6pPr>
      <a:lvl7pPr marL="2941190" indent="-226245" algn="l" defTabSz="904982" rtl="0" eaLnBrk="1" latinLnBrk="1" hangingPunct="1">
        <a:spcBef>
          <a:spcPct val="20000"/>
        </a:spcBef>
        <a:buFont typeface="Arial" panose="020B0604020202020204" pitchFamily="34" charset="0"/>
        <a:buChar char="•"/>
        <a:defRPr sz="1979" kern="1200">
          <a:solidFill>
            <a:schemeClr val="tx1"/>
          </a:solidFill>
          <a:latin typeface="+mn-lt"/>
          <a:ea typeface="+mn-ea"/>
          <a:cs typeface="+mn-cs"/>
        </a:defRPr>
      </a:lvl7pPr>
      <a:lvl8pPr marL="3393681" indent="-226245" algn="l" defTabSz="904982" rtl="0" eaLnBrk="1" latinLnBrk="1" hangingPunct="1">
        <a:spcBef>
          <a:spcPct val="20000"/>
        </a:spcBef>
        <a:buFont typeface="Arial" panose="020B0604020202020204" pitchFamily="34" charset="0"/>
        <a:buChar char="•"/>
        <a:defRPr sz="1979" kern="1200">
          <a:solidFill>
            <a:schemeClr val="tx1"/>
          </a:solidFill>
          <a:latin typeface="+mn-lt"/>
          <a:ea typeface="+mn-ea"/>
          <a:cs typeface="+mn-cs"/>
        </a:defRPr>
      </a:lvl8pPr>
      <a:lvl9pPr marL="3846172" indent="-226245" algn="l" defTabSz="904982" rtl="0" eaLnBrk="1" latinLnBrk="1" hangingPunct="1">
        <a:spcBef>
          <a:spcPct val="20000"/>
        </a:spcBef>
        <a:buFont typeface="Arial" panose="020B0604020202020204" pitchFamily="34" charset="0"/>
        <a:buChar char="•"/>
        <a:defRPr sz="1979" kern="1200">
          <a:solidFill>
            <a:schemeClr val="tx1"/>
          </a:solidFill>
          <a:latin typeface="+mn-lt"/>
          <a:ea typeface="+mn-ea"/>
          <a:cs typeface="+mn-cs"/>
        </a:defRPr>
      </a:lvl9pPr>
    </p:bodyStyle>
    <p:otherStyle>
      <a:defPPr>
        <a:defRPr lang="ko-KR"/>
      </a:defPPr>
      <a:lvl1pPr marL="0" algn="l" defTabSz="904982" rtl="0" eaLnBrk="1" latinLnBrk="1" hangingPunct="1">
        <a:defRPr sz="1781" kern="1200">
          <a:solidFill>
            <a:schemeClr val="tx1"/>
          </a:solidFill>
          <a:latin typeface="+mn-lt"/>
          <a:ea typeface="+mn-ea"/>
          <a:cs typeface="+mn-cs"/>
        </a:defRPr>
      </a:lvl1pPr>
      <a:lvl2pPr marL="452491" algn="l" defTabSz="904982" rtl="0" eaLnBrk="1" latinLnBrk="1" hangingPunct="1">
        <a:defRPr sz="1781" kern="1200">
          <a:solidFill>
            <a:schemeClr val="tx1"/>
          </a:solidFill>
          <a:latin typeface="+mn-lt"/>
          <a:ea typeface="+mn-ea"/>
          <a:cs typeface="+mn-cs"/>
        </a:defRPr>
      </a:lvl2pPr>
      <a:lvl3pPr marL="904982" algn="l" defTabSz="904982" rtl="0" eaLnBrk="1" latinLnBrk="1" hangingPunct="1">
        <a:defRPr sz="1781" kern="1200">
          <a:solidFill>
            <a:schemeClr val="tx1"/>
          </a:solidFill>
          <a:latin typeface="+mn-lt"/>
          <a:ea typeface="+mn-ea"/>
          <a:cs typeface="+mn-cs"/>
        </a:defRPr>
      </a:lvl3pPr>
      <a:lvl4pPr marL="1357473" algn="l" defTabSz="904982" rtl="0" eaLnBrk="1" latinLnBrk="1" hangingPunct="1">
        <a:defRPr sz="1781" kern="1200">
          <a:solidFill>
            <a:schemeClr val="tx1"/>
          </a:solidFill>
          <a:latin typeface="+mn-lt"/>
          <a:ea typeface="+mn-ea"/>
          <a:cs typeface="+mn-cs"/>
        </a:defRPr>
      </a:lvl4pPr>
      <a:lvl5pPr marL="1809963" algn="l" defTabSz="904982" rtl="0" eaLnBrk="1" latinLnBrk="1" hangingPunct="1">
        <a:defRPr sz="1781" kern="1200">
          <a:solidFill>
            <a:schemeClr val="tx1"/>
          </a:solidFill>
          <a:latin typeface="+mn-lt"/>
          <a:ea typeface="+mn-ea"/>
          <a:cs typeface="+mn-cs"/>
        </a:defRPr>
      </a:lvl5pPr>
      <a:lvl6pPr marL="2262454" algn="l" defTabSz="904982" rtl="0" eaLnBrk="1" latinLnBrk="1" hangingPunct="1">
        <a:defRPr sz="1781" kern="1200">
          <a:solidFill>
            <a:schemeClr val="tx1"/>
          </a:solidFill>
          <a:latin typeface="+mn-lt"/>
          <a:ea typeface="+mn-ea"/>
          <a:cs typeface="+mn-cs"/>
        </a:defRPr>
      </a:lvl6pPr>
      <a:lvl7pPr marL="2714945" algn="l" defTabSz="904982" rtl="0" eaLnBrk="1" latinLnBrk="1" hangingPunct="1">
        <a:defRPr sz="1781" kern="1200">
          <a:solidFill>
            <a:schemeClr val="tx1"/>
          </a:solidFill>
          <a:latin typeface="+mn-lt"/>
          <a:ea typeface="+mn-ea"/>
          <a:cs typeface="+mn-cs"/>
        </a:defRPr>
      </a:lvl7pPr>
      <a:lvl8pPr marL="3167436" algn="l" defTabSz="904982" rtl="0" eaLnBrk="1" latinLnBrk="1" hangingPunct="1">
        <a:defRPr sz="1781" kern="1200">
          <a:solidFill>
            <a:schemeClr val="tx1"/>
          </a:solidFill>
          <a:latin typeface="+mn-lt"/>
          <a:ea typeface="+mn-ea"/>
          <a:cs typeface="+mn-cs"/>
        </a:defRPr>
      </a:lvl8pPr>
      <a:lvl9pPr marL="3619927" algn="l" defTabSz="904982" rtl="0" eaLnBrk="1" latinLnBrk="1" hangingPunct="1">
        <a:defRPr sz="1781"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1CB9736-91C1-B3E9-F3A3-774B4E485CCD}"/>
              </a:ext>
            </a:extLst>
          </p:cNvPr>
          <p:cNvSpPr>
            <a:spLocks noGrp="1"/>
          </p:cNvSpPr>
          <p:nvPr>
            <p:ph type="title"/>
          </p:nvPr>
        </p:nvSpPr>
        <p:spPr>
          <a:xfrm>
            <a:off x="681041" y="365129"/>
            <a:ext cx="8543925"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D37EA41-7AC9-6BC6-1683-0EEF1060A855}"/>
              </a:ext>
            </a:extLst>
          </p:cNvPr>
          <p:cNvSpPr>
            <a:spLocks noGrp="1"/>
          </p:cNvSpPr>
          <p:nvPr>
            <p:ph type="body" idx="1"/>
          </p:nvPr>
        </p:nvSpPr>
        <p:spPr>
          <a:xfrm>
            <a:off x="681041"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7E15CBB-E92C-A4A6-75D5-72EAAC8B4072}"/>
              </a:ext>
            </a:extLst>
          </p:cNvPr>
          <p:cNvSpPr>
            <a:spLocks noGrp="1"/>
          </p:cNvSpPr>
          <p:nvPr>
            <p:ph type="dt" sz="half" idx="2"/>
          </p:nvPr>
        </p:nvSpPr>
        <p:spPr>
          <a:xfrm>
            <a:off x="681038" y="6356357"/>
            <a:ext cx="2228850" cy="365125"/>
          </a:xfrm>
          <a:prstGeom prst="rect">
            <a:avLst/>
          </a:prstGeom>
        </p:spPr>
        <p:txBody>
          <a:bodyPr vert="horz" lIns="91440" tIns="45720" rIns="91440" bIns="45720" rtlCol="0" anchor="ctr"/>
          <a:lstStyle>
            <a:lvl1pPr algn="l">
              <a:defRPr sz="1164">
                <a:solidFill>
                  <a:schemeClr val="tx1">
                    <a:tint val="82000"/>
                  </a:schemeClr>
                </a:solidFill>
              </a:defRPr>
            </a:lvl1pPr>
          </a:lstStyle>
          <a:p>
            <a:fld id="{A0B93E94-52B2-4295-BE8F-41F522CCDE56}" type="datetimeFigureOut">
              <a:rPr lang="ko-KR" altLang="en-US" smtClean="0"/>
              <a:t>2026-09-08</a:t>
            </a:fld>
            <a:endParaRPr lang="ko-KR" altLang="en-US"/>
          </a:p>
        </p:txBody>
      </p:sp>
      <p:sp>
        <p:nvSpPr>
          <p:cNvPr id="5" name="바닥글 개체 틀 4">
            <a:extLst>
              <a:ext uri="{FF2B5EF4-FFF2-40B4-BE49-F238E27FC236}">
                <a16:creationId xmlns:a16="http://schemas.microsoft.com/office/drawing/2014/main" id="{C2316510-DD69-42E1-C607-7D4DE9AFD8D3}"/>
              </a:ext>
            </a:extLst>
          </p:cNvPr>
          <p:cNvSpPr>
            <a:spLocks noGrp="1"/>
          </p:cNvSpPr>
          <p:nvPr>
            <p:ph type="ftr" sz="quarter" idx="3"/>
          </p:nvPr>
        </p:nvSpPr>
        <p:spPr>
          <a:xfrm>
            <a:off x="3281366" y="6356357"/>
            <a:ext cx="3343275" cy="365125"/>
          </a:xfrm>
          <a:prstGeom prst="rect">
            <a:avLst/>
          </a:prstGeom>
        </p:spPr>
        <p:txBody>
          <a:bodyPr vert="horz" lIns="91440" tIns="45720" rIns="91440" bIns="45720" rtlCol="0" anchor="ctr"/>
          <a:lstStyle>
            <a:lvl1pPr algn="ctr">
              <a:defRPr sz="1164">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95935CA5-06CD-58D8-4B1A-9DB4600A314B}"/>
              </a:ext>
            </a:extLst>
          </p:cNvPr>
          <p:cNvSpPr>
            <a:spLocks noGrp="1"/>
          </p:cNvSpPr>
          <p:nvPr>
            <p:ph type="sldNum" sz="quarter" idx="4"/>
          </p:nvPr>
        </p:nvSpPr>
        <p:spPr>
          <a:xfrm>
            <a:off x="6996116" y="6356357"/>
            <a:ext cx="2228850" cy="365125"/>
          </a:xfrm>
          <a:prstGeom prst="rect">
            <a:avLst/>
          </a:prstGeom>
        </p:spPr>
        <p:txBody>
          <a:bodyPr vert="horz" lIns="91440" tIns="45720" rIns="91440" bIns="45720" rtlCol="0" anchor="ctr"/>
          <a:lstStyle>
            <a:lvl1pPr algn="r">
              <a:defRPr sz="1164">
                <a:solidFill>
                  <a:schemeClr val="tx1">
                    <a:tint val="82000"/>
                  </a:schemeClr>
                </a:solidFill>
              </a:defRPr>
            </a:lvl1pPr>
          </a:lstStyle>
          <a:p>
            <a:fld id="{DB2C79CE-8D1F-4310-8C07-66BEBC4B691C}" type="slidenum">
              <a:rPr lang="ko-KR" altLang="en-US" smtClean="0"/>
              <a:t>‹#›</a:t>
            </a:fld>
            <a:endParaRPr lang="ko-KR" altLang="en-US"/>
          </a:p>
        </p:txBody>
      </p:sp>
    </p:spTree>
    <p:extLst>
      <p:ext uri="{BB962C8B-B14F-4D97-AF65-F5344CB8AC3E}">
        <p14:creationId xmlns:p14="http://schemas.microsoft.com/office/powerpoint/2010/main" val="1788247153"/>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txStyles>
    <p:titleStyle>
      <a:lvl1pPr algn="l" defTabSz="886436" rtl="0" eaLnBrk="1" latinLnBrk="1" hangingPunct="1">
        <a:lnSpc>
          <a:spcPct val="90000"/>
        </a:lnSpc>
        <a:spcBef>
          <a:spcPct val="0"/>
        </a:spcBef>
        <a:buNone/>
        <a:defRPr sz="4266" kern="1200">
          <a:solidFill>
            <a:schemeClr val="tx1"/>
          </a:solidFill>
          <a:latin typeface="+mj-lt"/>
          <a:ea typeface="+mj-ea"/>
          <a:cs typeface="+mj-cs"/>
        </a:defRPr>
      </a:lvl1pPr>
    </p:titleStyle>
    <p:bodyStyle>
      <a:lvl1pPr marL="221609" indent="-221609" algn="l" defTabSz="886436" rtl="0" eaLnBrk="1" latinLnBrk="1" hangingPunct="1">
        <a:lnSpc>
          <a:spcPct val="90000"/>
        </a:lnSpc>
        <a:spcBef>
          <a:spcPts val="970"/>
        </a:spcBef>
        <a:buFont typeface="Arial" panose="020B0604020202020204" pitchFamily="34" charset="0"/>
        <a:buChar char="•"/>
        <a:defRPr sz="2714" kern="1200">
          <a:solidFill>
            <a:schemeClr val="tx1"/>
          </a:solidFill>
          <a:latin typeface="+mn-lt"/>
          <a:ea typeface="+mn-ea"/>
          <a:cs typeface="+mn-cs"/>
        </a:defRPr>
      </a:lvl1pPr>
      <a:lvl2pPr marL="664826" indent="-221609" algn="l" defTabSz="886436" rtl="0" eaLnBrk="1" latinLnBrk="1" hangingPunct="1">
        <a:lnSpc>
          <a:spcPct val="90000"/>
        </a:lnSpc>
        <a:spcBef>
          <a:spcPts val="485"/>
        </a:spcBef>
        <a:buFont typeface="Arial" panose="020B0604020202020204" pitchFamily="34" charset="0"/>
        <a:buChar char="•"/>
        <a:defRPr sz="2327" kern="1200">
          <a:solidFill>
            <a:schemeClr val="tx1"/>
          </a:solidFill>
          <a:latin typeface="+mn-lt"/>
          <a:ea typeface="+mn-ea"/>
          <a:cs typeface="+mn-cs"/>
        </a:defRPr>
      </a:lvl2pPr>
      <a:lvl3pPr marL="1108043" indent="-221609" algn="l" defTabSz="886436" rtl="0" eaLnBrk="1" latinLnBrk="1" hangingPunct="1">
        <a:lnSpc>
          <a:spcPct val="90000"/>
        </a:lnSpc>
        <a:spcBef>
          <a:spcPts val="485"/>
        </a:spcBef>
        <a:buFont typeface="Arial" panose="020B0604020202020204" pitchFamily="34" charset="0"/>
        <a:buChar char="•"/>
        <a:defRPr sz="1939" kern="1200">
          <a:solidFill>
            <a:schemeClr val="tx1"/>
          </a:solidFill>
          <a:latin typeface="+mn-lt"/>
          <a:ea typeface="+mn-ea"/>
          <a:cs typeface="+mn-cs"/>
        </a:defRPr>
      </a:lvl3pPr>
      <a:lvl4pPr marL="1551262" indent="-221609" algn="l" defTabSz="886436" rtl="0" eaLnBrk="1" latinLnBrk="1" hangingPunct="1">
        <a:lnSpc>
          <a:spcPct val="90000"/>
        </a:lnSpc>
        <a:spcBef>
          <a:spcPts val="485"/>
        </a:spcBef>
        <a:buFont typeface="Arial" panose="020B0604020202020204" pitchFamily="34" charset="0"/>
        <a:buChar char="•"/>
        <a:defRPr sz="1745" kern="1200">
          <a:solidFill>
            <a:schemeClr val="tx1"/>
          </a:solidFill>
          <a:latin typeface="+mn-lt"/>
          <a:ea typeface="+mn-ea"/>
          <a:cs typeface="+mn-cs"/>
        </a:defRPr>
      </a:lvl4pPr>
      <a:lvl5pPr marL="1994479" indent="-221609" algn="l" defTabSz="886436" rtl="0" eaLnBrk="1" latinLnBrk="1" hangingPunct="1">
        <a:lnSpc>
          <a:spcPct val="90000"/>
        </a:lnSpc>
        <a:spcBef>
          <a:spcPts val="485"/>
        </a:spcBef>
        <a:buFont typeface="Arial" panose="020B0604020202020204" pitchFamily="34" charset="0"/>
        <a:buChar char="•"/>
        <a:defRPr sz="1745" kern="1200">
          <a:solidFill>
            <a:schemeClr val="tx1"/>
          </a:solidFill>
          <a:latin typeface="+mn-lt"/>
          <a:ea typeface="+mn-ea"/>
          <a:cs typeface="+mn-cs"/>
        </a:defRPr>
      </a:lvl5pPr>
      <a:lvl6pPr marL="2437696" indent="-221609" algn="l" defTabSz="886436" rtl="0" eaLnBrk="1" latinLnBrk="1" hangingPunct="1">
        <a:lnSpc>
          <a:spcPct val="90000"/>
        </a:lnSpc>
        <a:spcBef>
          <a:spcPts val="485"/>
        </a:spcBef>
        <a:buFont typeface="Arial" panose="020B0604020202020204" pitchFamily="34" charset="0"/>
        <a:buChar char="•"/>
        <a:defRPr sz="1745" kern="1200">
          <a:solidFill>
            <a:schemeClr val="tx1"/>
          </a:solidFill>
          <a:latin typeface="+mn-lt"/>
          <a:ea typeface="+mn-ea"/>
          <a:cs typeface="+mn-cs"/>
        </a:defRPr>
      </a:lvl6pPr>
      <a:lvl7pPr marL="2880914" indent="-221609" algn="l" defTabSz="886436" rtl="0" eaLnBrk="1" latinLnBrk="1" hangingPunct="1">
        <a:lnSpc>
          <a:spcPct val="90000"/>
        </a:lnSpc>
        <a:spcBef>
          <a:spcPts val="485"/>
        </a:spcBef>
        <a:buFont typeface="Arial" panose="020B0604020202020204" pitchFamily="34" charset="0"/>
        <a:buChar char="•"/>
        <a:defRPr sz="1745" kern="1200">
          <a:solidFill>
            <a:schemeClr val="tx1"/>
          </a:solidFill>
          <a:latin typeface="+mn-lt"/>
          <a:ea typeface="+mn-ea"/>
          <a:cs typeface="+mn-cs"/>
        </a:defRPr>
      </a:lvl7pPr>
      <a:lvl8pPr marL="3324131" indent="-221609" algn="l" defTabSz="886436" rtl="0" eaLnBrk="1" latinLnBrk="1" hangingPunct="1">
        <a:lnSpc>
          <a:spcPct val="90000"/>
        </a:lnSpc>
        <a:spcBef>
          <a:spcPts val="485"/>
        </a:spcBef>
        <a:buFont typeface="Arial" panose="020B0604020202020204" pitchFamily="34" charset="0"/>
        <a:buChar char="•"/>
        <a:defRPr sz="1745" kern="1200">
          <a:solidFill>
            <a:schemeClr val="tx1"/>
          </a:solidFill>
          <a:latin typeface="+mn-lt"/>
          <a:ea typeface="+mn-ea"/>
          <a:cs typeface="+mn-cs"/>
        </a:defRPr>
      </a:lvl8pPr>
      <a:lvl9pPr marL="3767348" indent="-221609" algn="l" defTabSz="886436" rtl="0" eaLnBrk="1" latinLnBrk="1" hangingPunct="1">
        <a:lnSpc>
          <a:spcPct val="90000"/>
        </a:lnSpc>
        <a:spcBef>
          <a:spcPts val="485"/>
        </a:spcBef>
        <a:buFont typeface="Arial" panose="020B0604020202020204" pitchFamily="34" charset="0"/>
        <a:buChar char="•"/>
        <a:defRPr sz="1745" kern="1200">
          <a:solidFill>
            <a:schemeClr val="tx1"/>
          </a:solidFill>
          <a:latin typeface="+mn-lt"/>
          <a:ea typeface="+mn-ea"/>
          <a:cs typeface="+mn-cs"/>
        </a:defRPr>
      </a:lvl9pPr>
    </p:bodyStyle>
    <p:otherStyle>
      <a:defPPr>
        <a:defRPr lang="ko-KR"/>
      </a:defPPr>
      <a:lvl1pPr marL="0" algn="l" defTabSz="886436" rtl="0" eaLnBrk="1" latinLnBrk="1" hangingPunct="1">
        <a:defRPr sz="1745" kern="1200">
          <a:solidFill>
            <a:schemeClr val="tx1"/>
          </a:solidFill>
          <a:latin typeface="+mn-lt"/>
          <a:ea typeface="+mn-ea"/>
          <a:cs typeface="+mn-cs"/>
        </a:defRPr>
      </a:lvl1pPr>
      <a:lvl2pPr marL="443217" algn="l" defTabSz="886436" rtl="0" eaLnBrk="1" latinLnBrk="1" hangingPunct="1">
        <a:defRPr sz="1745" kern="1200">
          <a:solidFill>
            <a:schemeClr val="tx1"/>
          </a:solidFill>
          <a:latin typeface="+mn-lt"/>
          <a:ea typeface="+mn-ea"/>
          <a:cs typeface="+mn-cs"/>
        </a:defRPr>
      </a:lvl2pPr>
      <a:lvl3pPr marL="886436" algn="l" defTabSz="886436" rtl="0" eaLnBrk="1" latinLnBrk="1" hangingPunct="1">
        <a:defRPr sz="1745" kern="1200">
          <a:solidFill>
            <a:schemeClr val="tx1"/>
          </a:solidFill>
          <a:latin typeface="+mn-lt"/>
          <a:ea typeface="+mn-ea"/>
          <a:cs typeface="+mn-cs"/>
        </a:defRPr>
      </a:lvl3pPr>
      <a:lvl4pPr marL="1329653" algn="l" defTabSz="886436" rtl="0" eaLnBrk="1" latinLnBrk="1" hangingPunct="1">
        <a:defRPr sz="1745" kern="1200">
          <a:solidFill>
            <a:schemeClr val="tx1"/>
          </a:solidFill>
          <a:latin typeface="+mn-lt"/>
          <a:ea typeface="+mn-ea"/>
          <a:cs typeface="+mn-cs"/>
        </a:defRPr>
      </a:lvl4pPr>
      <a:lvl5pPr marL="1772869" algn="l" defTabSz="886436" rtl="0" eaLnBrk="1" latinLnBrk="1" hangingPunct="1">
        <a:defRPr sz="1745" kern="1200">
          <a:solidFill>
            <a:schemeClr val="tx1"/>
          </a:solidFill>
          <a:latin typeface="+mn-lt"/>
          <a:ea typeface="+mn-ea"/>
          <a:cs typeface="+mn-cs"/>
        </a:defRPr>
      </a:lvl5pPr>
      <a:lvl6pPr marL="2216088" algn="l" defTabSz="886436" rtl="0" eaLnBrk="1" latinLnBrk="1" hangingPunct="1">
        <a:defRPr sz="1745" kern="1200">
          <a:solidFill>
            <a:schemeClr val="tx1"/>
          </a:solidFill>
          <a:latin typeface="+mn-lt"/>
          <a:ea typeface="+mn-ea"/>
          <a:cs typeface="+mn-cs"/>
        </a:defRPr>
      </a:lvl6pPr>
      <a:lvl7pPr marL="2659305" algn="l" defTabSz="886436" rtl="0" eaLnBrk="1" latinLnBrk="1" hangingPunct="1">
        <a:defRPr sz="1745" kern="1200">
          <a:solidFill>
            <a:schemeClr val="tx1"/>
          </a:solidFill>
          <a:latin typeface="+mn-lt"/>
          <a:ea typeface="+mn-ea"/>
          <a:cs typeface="+mn-cs"/>
        </a:defRPr>
      </a:lvl7pPr>
      <a:lvl8pPr marL="3102522" algn="l" defTabSz="886436" rtl="0" eaLnBrk="1" latinLnBrk="1" hangingPunct="1">
        <a:defRPr sz="1745" kern="1200">
          <a:solidFill>
            <a:schemeClr val="tx1"/>
          </a:solidFill>
          <a:latin typeface="+mn-lt"/>
          <a:ea typeface="+mn-ea"/>
          <a:cs typeface="+mn-cs"/>
        </a:defRPr>
      </a:lvl8pPr>
      <a:lvl9pPr marL="3545741" algn="l" defTabSz="886436" rtl="0" eaLnBrk="1" latinLnBrk="1" hangingPunct="1">
        <a:defRPr sz="174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8F263C-C239-4E50-A756-6C356A98A202}" type="datetimeFigureOut">
              <a:rPr lang="ko-KR" altLang="en-US" smtClean="0"/>
              <a:t>2026-09-08</a:t>
            </a:fld>
            <a:endParaRPr lang="ko-KR" alt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5BC550-0EEC-4378-80B3-81ECB95CF61A}" type="slidenum">
              <a:rPr lang="ko-KR" altLang="en-US" smtClean="0"/>
              <a:t>‹#›</a:t>
            </a:fld>
            <a:endParaRPr lang="ko-KR" altLang="en-US"/>
          </a:p>
        </p:txBody>
      </p:sp>
    </p:spTree>
    <p:extLst>
      <p:ext uri="{BB962C8B-B14F-4D97-AF65-F5344CB8AC3E}">
        <p14:creationId xmlns:p14="http://schemas.microsoft.com/office/powerpoint/2010/main" val="264666251"/>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image" Target="../media/image5.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image" Target="../media/image2.png"/><Relationship Id="rId5" Type="http://schemas.openxmlformats.org/officeDocument/2006/relationships/tags" Target="../tags/tag32.xml"/><Relationship Id="rId10" Type="http://schemas.openxmlformats.org/officeDocument/2006/relationships/image" Target="../media/image1.png"/><Relationship Id="rId4" Type="http://schemas.openxmlformats.org/officeDocument/2006/relationships/tags" Target="../tags/tag3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slide" Target="slide22.xml"/><Relationship Id="rId5" Type="http://schemas.openxmlformats.org/officeDocument/2006/relationships/slide" Target="slide23.xml"/><Relationship Id="rId4" Type="http://schemas.openxmlformats.org/officeDocument/2006/relationships/slide" Target="slide11.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xml"/><Relationship Id="rId1" Type="http://schemas.openxmlformats.org/officeDocument/2006/relationships/slideLayout" Target="../slideLayouts/slideLayout36.xml"/><Relationship Id="rId6" Type="http://schemas.openxmlformats.org/officeDocument/2006/relationships/slide" Target="slide15.xml"/><Relationship Id="rId5" Type="http://schemas.openxmlformats.org/officeDocument/2006/relationships/slide" Target="slide16.xml"/><Relationship Id="rId4" Type="http://schemas.openxmlformats.org/officeDocument/2006/relationships/slide" Target="slide18.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slide" Target="slide20.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slide" Target="slide2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themeOverride" Target="../theme/themeOverride1.xml"/><Relationship Id="rId4" Type="http://schemas.openxmlformats.org/officeDocument/2006/relationships/slide" Target="slide4.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3.xml"/><Relationship Id="rId2" Type="http://schemas.openxmlformats.org/officeDocument/2006/relationships/notesSlide" Target="../notesSlides/notesSlide11.xml"/><Relationship Id="rId1" Type="http://schemas.openxmlformats.org/officeDocument/2006/relationships/slideLayout" Target="../slideLayouts/slideLayout37.xml"/><Relationship Id="rId6" Type="http://schemas.openxmlformats.org/officeDocument/2006/relationships/slide" Target="slide14.xml"/><Relationship Id="rId5" Type="http://schemas.openxmlformats.org/officeDocument/2006/relationships/slide" Target="slide12.xml"/><Relationship Id="rId4" Type="http://schemas.openxmlformats.org/officeDocument/2006/relationships/slide" Target="slide18.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2.xml"/><Relationship Id="rId1" Type="http://schemas.openxmlformats.org/officeDocument/2006/relationships/slideLayout" Target="../slideLayouts/slideLayout50.xml"/><Relationship Id="rId4" Type="http://schemas.openxmlformats.org/officeDocument/2006/relationships/slide" Target="slide18.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0.xml"/><Relationship Id="rId4" Type="http://schemas.openxmlformats.org/officeDocument/2006/relationships/slide" Target="slide11.xml"/></Relationships>
</file>

<file path=ppt/slides/_rels/slide14.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14.xml"/><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4" Type="http://schemas.openxmlformats.org/officeDocument/2006/relationships/slide" Target="slide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 Id="rId6" Type="http://schemas.openxmlformats.org/officeDocument/2006/relationships/slide" Target="slide6.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6.xml"/><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slide" Target="slide6.xml"/><Relationship Id="rId2" Type="http://schemas.openxmlformats.org/officeDocument/2006/relationships/image" Target="../media/image16.png"/><Relationship Id="rId1" Type="http://schemas.openxmlformats.org/officeDocument/2006/relationships/slideLayout" Target="../slideLayouts/slideLayout19.xml"/><Relationship Id="rId6" Type="http://schemas.openxmlformats.org/officeDocument/2006/relationships/image" Target="../media/image19.png"/><Relationship Id="rId5" Type="http://schemas.microsoft.com/office/2007/relationships/hdphoto" Target="../media/hdphoto1.wdp"/><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slide" Target="slide7.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slide" Target="slide24.xml"/><Relationship Id="rId7" Type="http://schemas.openxmlformats.org/officeDocument/2006/relationships/slide" Target="slide28.xml"/><Relationship Id="rId2" Type="http://schemas.openxmlformats.org/officeDocument/2006/relationships/notesSlide" Target="../notesSlides/notesSlide17.xml"/><Relationship Id="rId1" Type="http://schemas.openxmlformats.org/officeDocument/2006/relationships/slideLayout" Target="../slideLayouts/slideLayout22.xml"/><Relationship Id="rId6" Type="http://schemas.openxmlformats.org/officeDocument/2006/relationships/slide" Target="slide27.xml"/><Relationship Id="rId5" Type="http://schemas.openxmlformats.org/officeDocument/2006/relationships/slide" Target="slide26.xml"/><Relationship Id="rId4" Type="http://schemas.openxmlformats.org/officeDocument/2006/relationships/slide" Target="slide25.xml"/><Relationship Id="rId9" Type="http://schemas.openxmlformats.org/officeDocument/2006/relationships/slide" Target="slide2.xml"/></Relationships>
</file>

<file path=ppt/slides/_rels/slide2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2.xml"/><Relationship Id="rId6" Type="http://schemas.openxmlformats.org/officeDocument/2006/relationships/slide" Target="slide22.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image" Target="../media/image32.png"/><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30.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30.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31.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7.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그룹 6"/>
          <p:cNvGrpSpPr/>
          <p:nvPr>
            <p:custDataLst>
              <p:tags r:id="rId1"/>
            </p:custDataLst>
          </p:nvPr>
        </p:nvGrpSpPr>
        <p:grpSpPr>
          <a:xfrm>
            <a:off x="200025" y="188913"/>
            <a:ext cx="9505950" cy="6480175"/>
            <a:chOff x="200025" y="188913"/>
            <a:chExt cx="9505950" cy="6480175"/>
          </a:xfrm>
        </p:grpSpPr>
        <p:sp>
          <p:nvSpPr>
            <p:cNvPr id="9" name="직사각형 8"/>
            <p:cNvSpPr/>
            <p:nvPr>
              <p:custDataLst>
                <p:tags r:id="rId5"/>
              </p:custDataLst>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marL="0" marR="0" lvl="0" indent="0" algn="ctr" defTabSz="914400" rtl="0" eaLnBrk="1" fontAlgn="auto" latinLnBrk="1" hangingPunct="1">
                <a:lnSpc>
                  <a:spcPct val="100000"/>
                </a:lnSpc>
                <a:spcBef>
                  <a:spcPct val="0"/>
                </a:spcBef>
                <a:spcAft>
                  <a:spcPct val="0"/>
                </a:spcAft>
                <a:buClrTx/>
                <a:buSzTx/>
                <a:buFontTx/>
                <a:buNone/>
                <a:defRPr/>
              </a:pPr>
              <a:endParaRPr kumimoji="0" lang="ko-KR" altLang="en-US" sz="1800" b="0" i="0" u="none" strike="noStrike" kern="1200" cap="none" spc="0" normalizeH="0" baseline="0" noProof="0" dirty="0">
                <a:ln>
                  <a:noFill/>
                </a:ln>
                <a:solidFill>
                  <a:prstClr val="white"/>
                </a:solidFill>
                <a:effectLst/>
                <a:uLnTx/>
                <a:uFillTx/>
                <a:latin typeface="Arial Narrow" panose="020B0606020202030204" pitchFamily="34" charset="0"/>
                <a:ea typeface="맑은 고딕" pitchFamily="50" charset="-127"/>
                <a:cs typeface="+mn-cs"/>
              </a:endParaRPr>
            </a:p>
          </p:txBody>
        </p:sp>
        <p:pic>
          <p:nvPicPr>
            <p:cNvPr id="10" name="Picture 2" descr="C:\ECM\TEMP\부서함\Brand담당\20년 연간업무계획\디지털 그래픽 모티브 개발★\★1st Manual Official Release\Graphic Asset_v1.0\1. Main motif - Solid color\png\Main_motif-LG_red_solid.png"/>
            <p:cNvPicPr>
              <a:picLocks noChangeAspect="1" noChangeArrowheads="1"/>
            </p:cNvPicPr>
            <p:nvPr>
              <p:custDataLst>
                <p:tags r:id="rId6"/>
              </p:custDataLst>
            </p:nvPr>
          </p:nvPicPr>
          <p:blipFill>
            <a:blip r:embed="rId10">
              <a:extLst>
                <a:ext uri="{28A0092B-C50C-407E-A947-70E740481C1C}">
                  <a14:useLocalDpi xmlns:a14="http://schemas.microsoft.com/office/drawing/2010/main" val="0"/>
                </a:ext>
              </a:extLst>
            </a:blip>
            <a:srcRect r="88574" b="66436"/>
            <a:stretch>
              <a:fillRect/>
            </a:stretch>
          </p:blipFill>
          <p:spPr bwMode="auto">
            <a:xfrm>
              <a:off x="200025" y="188913"/>
              <a:ext cx="0" cy="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ECM\TEMP\부서함\Brand담당\20년 연간업무계획\디지털 그래픽 모티브 개발★\★1st Manual Official Release\Graphic Asset_v1.0\1. Main motif - Solid color\png\Main_motif-LG_red_solid.png"/>
            <p:cNvPicPr>
              <a:picLocks noChangeAspect="1" noChangeArrowheads="1"/>
            </p:cNvPicPr>
            <p:nvPr>
              <p:custDataLst>
                <p:tags r:id="rId7"/>
              </p:custDataLst>
            </p:nvPr>
          </p:nvPicPr>
          <p:blipFill>
            <a:blip r:embed="rId11">
              <a:extLst>
                <a:ext uri="{28A0092B-C50C-407E-A947-70E740481C1C}">
                  <a14:useLocalDpi xmlns:a14="http://schemas.microsoft.com/office/drawing/2010/main" val="0"/>
                </a:ext>
              </a:extLst>
            </a:blip>
            <a:srcRect l="77355" t="77614"/>
            <a:stretch>
              <a:fill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제목 3"/>
          <p:cNvSpPr>
            <a:spLocks noGrp="1"/>
          </p:cNvSpPr>
          <p:nvPr>
            <p:ph type="ctrTitle"/>
            <p:custDataLst>
              <p:tags r:id="rId2"/>
            </p:custDataLst>
          </p:nvPr>
        </p:nvSpPr>
        <p:spPr>
          <a:xfrm>
            <a:off x="1071375" y="1772998"/>
            <a:ext cx="7782244" cy="644792"/>
          </a:xfrm>
        </p:spPr>
        <p:txBody>
          <a:bodyPr/>
          <a:lstStyle/>
          <a:p>
            <a:r>
              <a:rPr lang="ko-KR" altLang="en-US" sz="4000" b="1" dirty="0">
                <a:latin typeface="Arial Narrow" panose="020B0606020202030204" pitchFamily="34" charset="0"/>
              </a:rPr>
              <a:t>제조</a:t>
            </a:r>
            <a:r>
              <a:rPr lang="en-US" altLang="ko-KR" sz="4000" b="1" dirty="0">
                <a:latin typeface="Arial Narrow" panose="020B0606020202030204" pitchFamily="34" charset="0"/>
              </a:rPr>
              <a:t>DX</a:t>
            </a:r>
            <a:r>
              <a:rPr lang="ko-KR" altLang="en-US" sz="4000" b="1" dirty="0">
                <a:latin typeface="Arial Narrow" panose="020B0606020202030204" pitchFamily="34" charset="0"/>
              </a:rPr>
              <a:t>솔루션담당</a:t>
            </a:r>
            <a:r>
              <a:rPr lang="en-US" altLang="ko-KR" sz="4000" b="1" dirty="0">
                <a:latin typeface="Arial Narrow" panose="020B0606020202030204" pitchFamily="34" charset="0"/>
              </a:rPr>
              <a:t> 9</a:t>
            </a:r>
            <a:r>
              <a:rPr lang="ko-KR" altLang="en-US" sz="4000" b="1" dirty="0">
                <a:latin typeface="Arial Narrow" panose="020B0606020202030204" pitchFamily="34" charset="0"/>
              </a:rPr>
              <a:t>월 업무 보고</a:t>
            </a:r>
          </a:p>
        </p:txBody>
      </p:sp>
      <p:sp>
        <p:nvSpPr>
          <p:cNvPr id="15" name="내용 개체 틀 14"/>
          <p:cNvSpPr>
            <a:spLocks noGrp="1"/>
          </p:cNvSpPr>
          <p:nvPr>
            <p:ph sz="quarter" idx="11"/>
            <p:custDataLst>
              <p:tags r:id="rId3"/>
            </p:custDataLst>
          </p:nvPr>
        </p:nvSpPr>
        <p:spPr>
          <a:xfrm>
            <a:off x="1149513" y="5076306"/>
            <a:ext cx="2789728" cy="313932"/>
          </a:xfrm>
        </p:spPr>
        <p:txBody>
          <a:bodyPr wrap="square">
            <a:spAutoFit/>
          </a:bodyPr>
          <a:lstStyle/>
          <a:p>
            <a:pPr marL="0" lvl="0" indent="0">
              <a:spcBef>
                <a:spcPct val="0"/>
              </a:spcBef>
              <a:buNone/>
            </a:pPr>
            <a:r>
              <a:rPr lang="en-US" altLang="ko-KR" sz="1600" b="1" dirty="0">
                <a:solidFill>
                  <a:prstClr val="black">
                    <a:lumMod val="65000"/>
                    <a:lumOff val="35000"/>
                  </a:prstClr>
                </a:solidFill>
                <a:latin typeface="Arial Narrow" panose="020B0606020202030204" pitchFamily="34" charset="0"/>
                <a:ea typeface="LG스마트체2.0 SemiBold" panose="020B0600000101010101" pitchFamily="50" charset="-127"/>
                <a:cs typeface="+mn-cs"/>
              </a:rPr>
              <a:t>| </a:t>
            </a:r>
            <a:r>
              <a:rPr lang="en-GB" altLang="ko-KR" sz="1600" b="1" dirty="0">
                <a:solidFill>
                  <a:prstClr val="black">
                    <a:lumMod val="65000"/>
                    <a:lumOff val="35000"/>
                  </a:prstClr>
                </a:solidFill>
                <a:latin typeface="Arial Narrow" panose="020B0606020202030204" pitchFamily="34" charset="0"/>
                <a:ea typeface="LG스마트체2.0 SemiBold" panose="020B0600000101010101" pitchFamily="50" charset="-127"/>
                <a:cs typeface="+mn-cs"/>
              </a:rPr>
              <a:t>2026. 09. 08</a:t>
            </a:r>
          </a:p>
        </p:txBody>
      </p:sp>
      <p:sp>
        <p:nvSpPr>
          <p:cNvPr id="20" name="Rectangle 26"/>
          <p:cNvSpPr>
            <a:spLocks noChangeArrowheads="1"/>
          </p:cNvSpPr>
          <p:nvPr>
            <p:custDataLst>
              <p:tags r:id="rId4"/>
            </p:custDataLst>
          </p:nvPr>
        </p:nvSpPr>
        <p:spPr bwMode="auto">
          <a:xfrm>
            <a:off x="1227168" y="3477458"/>
            <a:ext cx="6750168" cy="644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lvl1pPr eaLnBrk="0" hangingPunct="0">
              <a:defRPr kumimoji="1" sz="1200" b="1">
                <a:solidFill>
                  <a:schemeClr val="tx1"/>
                </a:solidFill>
                <a:latin typeface="Arial"/>
                <a:ea typeface="돋움" pitchFamily="50" charset="-127"/>
              </a:defRPr>
            </a:lvl1pPr>
            <a:lvl2pPr marL="742950" indent="-285750" eaLnBrk="0" hangingPunct="0">
              <a:defRPr kumimoji="1" sz="1200" b="1">
                <a:solidFill>
                  <a:schemeClr val="tx1"/>
                </a:solidFill>
                <a:latin typeface="Arial"/>
                <a:ea typeface="돋움" pitchFamily="50" charset="-127"/>
              </a:defRPr>
            </a:lvl2pPr>
            <a:lvl3pPr marL="1143000" indent="-228600" eaLnBrk="0" hangingPunct="0">
              <a:defRPr kumimoji="1" sz="1200" b="1">
                <a:solidFill>
                  <a:schemeClr val="tx1"/>
                </a:solidFill>
                <a:latin typeface="Arial"/>
                <a:ea typeface="돋움" pitchFamily="50" charset="-127"/>
              </a:defRPr>
            </a:lvl3pPr>
            <a:lvl4pPr marL="1600200" indent="-228600" eaLnBrk="0" hangingPunct="0">
              <a:defRPr kumimoji="1" sz="1200" b="1">
                <a:solidFill>
                  <a:schemeClr val="tx1"/>
                </a:solidFill>
                <a:latin typeface="Arial"/>
                <a:ea typeface="돋움" pitchFamily="50" charset="-127"/>
              </a:defRPr>
            </a:lvl4pPr>
            <a:lvl5pPr marL="2057400" indent="-228600" eaLnBrk="0" hangingPunct="0">
              <a:defRPr kumimoji="1" sz="1200" b="1">
                <a:solidFill>
                  <a:schemeClr val="tx1"/>
                </a:solidFill>
                <a:latin typeface="Arial"/>
                <a:ea typeface="돋움" pitchFamily="50" charset="-127"/>
              </a:defRPr>
            </a:lvl5pPr>
            <a:lvl6pPr marL="25146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6pPr>
            <a:lvl7pPr marL="29718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7pPr>
            <a:lvl8pPr marL="34290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8pPr>
            <a:lvl9pPr marL="3886200" indent="-228600" algn="ctr" eaLnBrk="0" fontAlgn="base" hangingPunct="0">
              <a:spcBef>
                <a:spcPct val="50000"/>
              </a:spcBef>
              <a:spcAft>
                <a:spcPct val="0"/>
              </a:spcAft>
              <a:buChar char="•"/>
              <a:defRPr kumimoji="1" sz="1200" b="1">
                <a:solidFill>
                  <a:schemeClr val="tx1"/>
                </a:solidFill>
                <a:latin typeface="Arial"/>
                <a:ea typeface="돋움" pitchFamily="50" charset="-127"/>
              </a:defRPr>
            </a:lvl9pPr>
          </a:lstStyle>
          <a:p>
            <a:pPr marL="176213" indent="-176213" eaLnBrk="1" hangingPunct="1">
              <a:lnSpc>
                <a:spcPct val="120000"/>
              </a:lnSpc>
              <a:spcBef>
                <a:spcPct val="0"/>
              </a:spcBef>
              <a:spcAft>
                <a:spcPts val="600"/>
              </a:spcAft>
              <a:buAutoNum type="arabicPeriod"/>
            </a:pPr>
            <a:r>
              <a:rPr lang="en-US" altLang="ko-KR" sz="1600" dirty="0">
                <a:solidFill>
                  <a:schemeClr val="tx1">
                    <a:lumMod val="65000"/>
                    <a:lumOff val="35000"/>
                  </a:schemeClr>
                </a:solidFill>
                <a:latin typeface="Arial Narrow" panose="020B0606020202030204" pitchFamily="34" charset="0"/>
                <a:ea typeface="LG스마트체 Regular" panose="020B0600000101010101" pitchFamily="50" charset="-127"/>
                <a:cs typeface="+mj-cs"/>
                <a:sym typeface="Arial"/>
              </a:rPr>
              <a:t>Summary</a:t>
            </a:r>
          </a:p>
          <a:p>
            <a:pPr marL="176213" indent="-176213" eaLnBrk="1" hangingPunct="1">
              <a:lnSpc>
                <a:spcPct val="120000"/>
              </a:lnSpc>
              <a:spcBef>
                <a:spcPct val="0"/>
              </a:spcBef>
              <a:spcAft>
                <a:spcPts val="600"/>
              </a:spcAft>
              <a:buAutoNum type="arabicPeriod"/>
            </a:pPr>
            <a:r>
              <a:rPr lang="ko-KR" altLang="en-US" sz="1600" dirty="0">
                <a:solidFill>
                  <a:schemeClr val="tx1">
                    <a:lumMod val="65000"/>
                    <a:lumOff val="35000"/>
                  </a:schemeClr>
                </a:solidFill>
                <a:latin typeface="Arial Narrow" panose="020B0606020202030204" pitchFamily="34" charset="0"/>
                <a:ea typeface="LG스마트체 Regular" panose="020B0600000101010101" pitchFamily="50" charset="-127"/>
                <a:cs typeface="+mj-cs"/>
                <a:sym typeface="Wingdings" panose="05000000000000000000" pitchFamily="2" charset="2"/>
              </a:rPr>
              <a:t>월별 진척사항</a:t>
            </a:r>
            <a:r>
              <a:rPr lang="en-US" altLang="ko-KR" sz="1600" dirty="0">
                <a:solidFill>
                  <a:schemeClr val="tx1">
                    <a:lumMod val="65000"/>
                    <a:lumOff val="35000"/>
                  </a:schemeClr>
                </a:solidFill>
                <a:latin typeface="Arial Narrow" panose="020B0606020202030204" pitchFamily="34" charset="0"/>
                <a:ea typeface="LG스마트체 Regular" panose="020B0600000101010101" pitchFamily="50" charset="-127"/>
                <a:cs typeface="+mj-cs"/>
                <a:sym typeface="Arial"/>
              </a:rPr>
              <a:t> </a:t>
            </a:r>
            <a:r>
              <a:rPr lang="ko-KR" altLang="en-US" sz="1600" dirty="0">
                <a:solidFill>
                  <a:schemeClr val="tx1">
                    <a:lumMod val="65000"/>
                    <a:lumOff val="35000"/>
                  </a:schemeClr>
                </a:solidFill>
                <a:latin typeface="Arial Narrow" panose="020B0606020202030204" pitchFamily="34" charset="0"/>
                <a:ea typeface="LG스마트체 Regular" panose="020B0600000101010101" pitchFamily="50" charset="-127"/>
                <a:cs typeface="+mj-cs"/>
                <a:sym typeface="Arial"/>
              </a:rPr>
              <a:t>및 특이사항 </a:t>
            </a:r>
            <a:endParaRPr lang="en-US" altLang="ko-KR" sz="1600" dirty="0">
              <a:solidFill>
                <a:schemeClr val="tx1">
                  <a:lumMod val="65000"/>
                  <a:lumOff val="35000"/>
                </a:schemeClr>
              </a:solidFill>
              <a:latin typeface="Arial Narrow" panose="020B0606020202030204" pitchFamily="34" charset="0"/>
              <a:ea typeface="LG스마트체 Regular" panose="020B0600000101010101" pitchFamily="50" charset="-127"/>
              <a:cs typeface="+mj-cs"/>
              <a:sym typeface="Wingdings" panose="05000000000000000000" pitchFamily="2" charset="2"/>
            </a:endParaRPr>
          </a:p>
        </p:txBody>
      </p:sp>
      <p:pic>
        <p:nvPicPr>
          <p:cNvPr id="18" name="Picture 2" descr="C:\ECM\TEMP\부서함\Brand담당\CI 매뉴얼★\★로고파일-자회사名\14년ver\(주)LG\LG_가로조합.png">
            <a:extLst>
              <a:ext uri="{FF2B5EF4-FFF2-40B4-BE49-F238E27FC236}">
                <a16:creationId xmlns:a16="http://schemas.microsoft.com/office/drawing/2014/main" id="{3FDADC5C-3F1A-46B6-BB86-18E819CFAF2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014151" y="5156524"/>
            <a:ext cx="839468" cy="368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06961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A94A2410-08EB-4889-A06D-9DC96AE8F2F1}"/>
              </a:ext>
            </a:extLst>
          </p:cNvPr>
          <p:cNvGrpSpPr/>
          <p:nvPr/>
        </p:nvGrpSpPr>
        <p:grpSpPr>
          <a:xfrm>
            <a:off x="109414" y="216167"/>
            <a:ext cx="1867819" cy="403380"/>
            <a:chOff x="210051" y="188640"/>
            <a:chExt cx="1867819" cy="403380"/>
          </a:xfrm>
        </p:grpSpPr>
        <p:sp>
          <p:nvSpPr>
            <p:cNvPr id="8" name="TextBox 7">
              <a:extLst>
                <a:ext uri="{FF2B5EF4-FFF2-40B4-BE49-F238E27FC236}">
                  <a16:creationId xmlns:a16="http://schemas.microsoft.com/office/drawing/2014/main" id="{721E2063-081D-494C-B0CF-4726185FE0C4}"/>
                </a:ext>
              </a:extLst>
            </p:cNvPr>
            <p:cNvSpPr txBox="1"/>
            <p:nvPr/>
          </p:nvSpPr>
          <p:spPr>
            <a:xfrm>
              <a:off x="210051" y="188640"/>
              <a:ext cx="1867819" cy="403380"/>
            </a:xfrm>
            <a:prstGeom prst="rect">
              <a:avLst/>
            </a:prstGeom>
            <a:noFill/>
          </p:spPr>
          <p:txBody>
            <a:bodyPr wrap="none" rtlCol="0">
              <a:spAutoFit/>
            </a:bodyPr>
            <a:lstStyle/>
            <a:p>
              <a:pPr marL="0" marR="0" lvl="0" indent="0" algn="l" defTabSz="914400" rtl="0" eaLnBrk="1" fontAlgn="auto" latinLnBrk="1" hangingPunct="1">
                <a:lnSpc>
                  <a:spcPct val="110000"/>
                </a:lnSpc>
                <a:spcBef>
                  <a:spcPts val="300"/>
                </a:spcBef>
                <a:spcAft>
                  <a:spcPts val="0"/>
                </a:spcAft>
                <a:buClrTx/>
                <a:buSzTx/>
                <a:buFontTx/>
                <a:buNone/>
                <a:tabLst/>
                <a:defRPr/>
              </a:pPr>
              <a:r>
                <a:rPr kumimoji="0" lang="en-US" altLang="ko-KR" sz="2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 Summary (1/3)</a:t>
              </a:r>
              <a:endParaRPr kumimoji="0" lang="ko-KR" altLang="en-US" sz="2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9" name="직선 연결선 8">
              <a:extLst>
                <a:ext uri="{FF2B5EF4-FFF2-40B4-BE49-F238E27FC236}">
                  <a16:creationId xmlns:a16="http://schemas.microsoft.com/office/drawing/2014/main" id="{BA8A1400-6342-4AFC-A899-DEDD25B27A52}"/>
                </a:ext>
              </a:extLst>
            </p:cNvPr>
            <p:cNvCxnSpPr>
              <a:cxnSpLocks/>
            </p:cNvCxnSpPr>
            <p:nvPr/>
          </p:nvCxnSpPr>
          <p:spPr>
            <a:xfrm flipH="1">
              <a:off x="283918" y="563654"/>
              <a:ext cx="173624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5" name="표 4">
            <a:extLst>
              <a:ext uri="{FF2B5EF4-FFF2-40B4-BE49-F238E27FC236}">
                <a16:creationId xmlns:a16="http://schemas.microsoft.com/office/drawing/2014/main" id="{1127FC96-E8CA-4EB8-B7E5-64A5B2921665}"/>
              </a:ext>
            </a:extLst>
          </p:cNvPr>
          <p:cNvGraphicFramePr>
            <a:graphicFrameLocks noGrp="1"/>
          </p:cNvGraphicFramePr>
          <p:nvPr>
            <p:extLst>
              <p:ext uri="{D42A27DB-BD31-4B8C-83A1-F6EECF244321}">
                <p14:modId xmlns:p14="http://schemas.microsoft.com/office/powerpoint/2010/main" val="3038014744"/>
              </p:ext>
            </p:extLst>
          </p:nvPr>
        </p:nvGraphicFramePr>
        <p:xfrm>
          <a:off x="192412" y="836712"/>
          <a:ext cx="9521175" cy="5782802"/>
        </p:xfrm>
        <a:graphic>
          <a:graphicData uri="http://schemas.openxmlformats.org/drawingml/2006/table">
            <a:tbl>
              <a:tblPr/>
              <a:tblGrid>
                <a:gridCol w="720000">
                  <a:extLst>
                    <a:ext uri="{9D8B030D-6E8A-4147-A177-3AD203B41FA5}">
                      <a16:colId xmlns:a16="http://schemas.microsoft.com/office/drawing/2014/main" val="2758946191"/>
                    </a:ext>
                  </a:extLst>
                </a:gridCol>
                <a:gridCol w="1656000">
                  <a:extLst>
                    <a:ext uri="{9D8B030D-6E8A-4147-A177-3AD203B41FA5}">
                      <a16:colId xmlns:a16="http://schemas.microsoft.com/office/drawing/2014/main" val="3491233003"/>
                    </a:ext>
                  </a:extLst>
                </a:gridCol>
                <a:gridCol w="2901950">
                  <a:extLst>
                    <a:ext uri="{9D8B030D-6E8A-4147-A177-3AD203B41FA5}">
                      <a16:colId xmlns:a16="http://schemas.microsoft.com/office/drawing/2014/main" val="2528590017"/>
                    </a:ext>
                  </a:extLst>
                </a:gridCol>
                <a:gridCol w="698714">
                  <a:extLst>
                    <a:ext uri="{9D8B030D-6E8A-4147-A177-3AD203B41FA5}">
                      <a16:colId xmlns:a16="http://schemas.microsoft.com/office/drawing/2014/main" val="3433318351"/>
                    </a:ext>
                  </a:extLst>
                </a:gridCol>
                <a:gridCol w="3544511">
                  <a:extLst>
                    <a:ext uri="{9D8B030D-6E8A-4147-A177-3AD203B41FA5}">
                      <a16:colId xmlns:a16="http://schemas.microsoft.com/office/drawing/2014/main" val="361195585"/>
                    </a:ext>
                  </a:extLst>
                </a:gridCol>
              </a:tblGrid>
              <a:tr h="214414">
                <a:tc>
                  <a:txBody>
                    <a:bodyPr/>
                    <a:lstStyle/>
                    <a:p>
                      <a:pPr algn="ctr" fontAlgn="ctr"/>
                      <a:r>
                        <a:rPr lang="en-US" altLang="ko-KR" sz="1200" b="1" i="0" u="none" strike="noStrike" dirty="0">
                          <a:solidFill>
                            <a:srgbClr val="000000"/>
                          </a:solidFill>
                          <a:effectLst/>
                          <a:latin typeface="Arial Narrow" panose="020B0606020202030204" pitchFamily="34" charset="0"/>
                          <a:ea typeface="LG스마트체 Regular" panose="020B0600000101010101" pitchFamily="50" charset="-127"/>
                        </a:rPr>
                        <a:t>No.</a:t>
                      </a:r>
                      <a:endPar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Arial Narrow" panose="020B0606020202030204" pitchFamily="34" charset="0"/>
                          <a:ea typeface="LG스마트체 Regular" panose="020B0600000101010101" pitchFamily="50" charset="-127"/>
                        </a:rPr>
                        <a:t>KPI</a:t>
                      </a: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명</a:t>
                      </a: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목표</a:t>
                      </a: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진척사항</a:t>
                      </a: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요약</a:t>
                      </a: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7973700"/>
                  </a:ext>
                </a:extLst>
              </a:tr>
              <a:tr h="1454192">
                <a:tc rowSpan="2">
                  <a:txBody>
                    <a:bodyPr/>
                    <a:lstStyle/>
                    <a:p>
                      <a:pPr algn="ctr" fontAlgn="ctr"/>
                      <a: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t>1</a:t>
                      </a:r>
                    </a:p>
                  </a:txBody>
                  <a:tcPr marL="9525" marR="9525" marT="9525" marB="0" anchor="ctr">
                    <a:lnL w="9525" cap="flat" cmpd="sng" algn="ctr">
                      <a:solidFill>
                        <a:srgbClr val="0000FF"/>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rowSpan="2">
                  <a:txBody>
                    <a:bodyPr/>
                    <a:lstStyle/>
                    <a:p>
                      <a:pPr marL="92075" indent="-92075" algn="l" defTabSz="914400" rtl="0" eaLnBrk="1" fontAlgn="ctr" latinLnBrk="1" hangingPunct="1">
                        <a:lnSpc>
                          <a:spcPct val="100000"/>
                        </a:lnSpc>
                        <a:spcBef>
                          <a:spcPts val="0"/>
                        </a:spcBef>
                        <a:spcAft>
                          <a:spcPts val="100"/>
                        </a:spcAft>
                        <a:buSzPct val="100000"/>
                        <a:buFont typeface="Arial" panose="020B0604020202020204" pitchFamily="34" charset="0"/>
                        <a:buChar char="•"/>
                      </a:pPr>
                      <a:r>
                        <a:rPr lang="en-US" altLang="ko-KR" sz="1100" b="1" kern="1200" spc="-10" dirty="0">
                          <a:solidFill>
                            <a:schemeClr val="tx1"/>
                          </a:solidFill>
                          <a:latin typeface="Arial Narrow" panose="020B0606020202030204" pitchFamily="34" charset="0"/>
                          <a:ea typeface="LG스마트체 Regular" panose="020B0600000101010101" pitchFamily="50" charset="-127"/>
                          <a:cs typeface="+mn-cs"/>
                        </a:rPr>
                        <a:t>ESS</a:t>
                      </a:r>
                      <a:r>
                        <a:rPr lang="ko-KR" altLang="en-US" sz="1100" b="1" kern="1200" spc="-10" dirty="0">
                          <a:solidFill>
                            <a:schemeClr val="tx1"/>
                          </a:solidFill>
                          <a:latin typeface="Arial Narrow" panose="020B0606020202030204" pitchFamily="34" charset="0"/>
                          <a:ea typeface="LG스마트체 Regular" panose="020B0600000101010101" pitchFamily="50" charset="-127"/>
                          <a:cs typeface="+mn-cs"/>
                        </a:rPr>
                        <a:t> 종합</a:t>
                      </a:r>
                      <a:r>
                        <a:rPr lang="en-US" altLang="ko-KR" sz="1100" b="1" kern="1200" spc="-10" dirty="0">
                          <a:solidFill>
                            <a:schemeClr val="tx1"/>
                          </a:solidFill>
                          <a:latin typeface="Arial Narrow" panose="020B0606020202030204" pitchFamily="34" charset="0"/>
                          <a:ea typeface="LG스마트체 Regular" panose="020B0600000101010101" pitchFamily="50" charset="-127"/>
                          <a:cs typeface="+mn-cs"/>
                        </a:rPr>
                        <a:t> </a:t>
                      </a:r>
                      <a:r>
                        <a:rPr lang="ko-KR" altLang="en-US" sz="1100" b="1" kern="1200" spc="-10" dirty="0">
                          <a:solidFill>
                            <a:schemeClr val="tx1"/>
                          </a:solidFill>
                          <a:latin typeface="Arial Narrow" panose="020B0606020202030204" pitchFamily="34" charset="0"/>
                          <a:ea typeface="LG스마트체 Regular" panose="020B0600000101010101" pitchFamily="50" charset="-127"/>
                          <a:cs typeface="+mn-cs"/>
                        </a:rPr>
                        <a:t>수율 개선</a:t>
                      </a:r>
                      <a:endParaRPr lang="en-US" altLang="ko-KR" sz="1100" b="1" kern="1200" spc="-10" dirty="0">
                        <a:solidFill>
                          <a:schemeClr val="tx1"/>
                        </a:solidFill>
                        <a:latin typeface="Arial Narrow" panose="020B0606020202030204" pitchFamily="34" charset="0"/>
                        <a:ea typeface="LG스마트체 Regular" panose="020B0600000101010101" pitchFamily="50" charset="-127"/>
                        <a:cs typeface="+mn-cs"/>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1" lang="en-US" altLang="ko-KR"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1" lang="ko-KR" altLang="en-US"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북미</a:t>
                      </a:r>
                      <a:r>
                        <a:rPr kumimoji="1" lang="en-US" altLang="ko-KR"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AX </a:t>
                      </a:r>
                      <a:r>
                        <a:rPr kumimoji="1" lang="ko-KR" altLang="en-US"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기반 </a:t>
                      </a:r>
                      <a:r>
                        <a:rPr kumimoji="1" lang="en-US" altLang="ko-KR"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ESS </a:t>
                      </a:r>
                      <a:r>
                        <a:rPr kumimoji="1" lang="ko-KR" altLang="en-US"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종합 </a:t>
                      </a:r>
                      <a:r>
                        <a:rPr kumimoji="1" lang="ko-KR" altLang="en-US" sz="1200" b="1" i="0" u="none" strike="noStrike" kern="1200" cap="none" spc="-50" normalizeH="0" baseline="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수율</a:t>
                      </a:r>
                      <a:r>
                        <a:rPr kumimoji="1" lang="ko-KR" altLang="en-US" sz="12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개선</a:t>
                      </a:r>
                      <a:b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b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Q : ESMI,MI_LS,OT,HD </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북미</a:t>
                      </a: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ESS </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종합 </a:t>
                      </a:r>
                      <a:r>
                        <a:rPr kumimoji="1" lang="ko-KR" altLang="en-US" sz="1100" b="0" i="0" u="none" strike="noStrike" kern="1200" cap="none" spc="-5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수율</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94.3% </a:t>
                      </a:r>
                      <a:b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D : ’26.12</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endParaRPr kumimoji="0" lang="en-US" altLang="ko-KR" sz="110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marL="171450" marR="0" lvl="0" indent="-17145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ko-KR" altLang="en-US" sz="1100" b="1" i="0" u="none" strike="noStrike" dirty="0">
                          <a:solidFill>
                            <a:srgbClr val="000000"/>
                          </a:solidFill>
                          <a:effectLst/>
                          <a:latin typeface="Arial Narrow" panose="020B0606020202030204" pitchFamily="34" charset="0"/>
                          <a:ea typeface="LG스마트체 Regular" panose="020B0600000101010101" pitchFamily="50" charset="-127"/>
                        </a:rPr>
                        <a:t>연간 목표 </a:t>
                      </a:r>
                      <a: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t>/ </a:t>
                      </a:r>
                      <a:r>
                        <a:rPr lang="ko-KR" altLang="en-US" sz="1100" b="1" i="0" u="none" strike="noStrike" dirty="0">
                          <a:solidFill>
                            <a:srgbClr val="000000"/>
                          </a:solidFill>
                          <a:effectLst/>
                          <a:latin typeface="Arial Narrow" panose="020B0606020202030204" pitchFamily="34" charset="0"/>
                          <a:ea typeface="LG스마트체 Regular" panose="020B0600000101010101" pitchFamily="50" charset="-127"/>
                        </a:rPr>
                        <a:t>실적 </a:t>
                      </a:r>
                      <a: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t>(~8/31)</a:t>
                      </a:r>
                      <a:b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br>
                      <a:b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br>
                      <a:b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br>
                      <a:endParaRPr kumimoji="0"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171450" marR="0" lvl="0" indent="-17145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Catch up </a:t>
                      </a:r>
                      <a:r>
                        <a:rPr kumimoji="0" lang="ko-KR" altLang="en-US"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방안 </a:t>
                      </a:r>
                      <a:r>
                        <a:rPr kumimoji="0"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br>
                        <a:rPr kumimoji="0"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공통</a:t>
                      </a: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외관 불량 </a:t>
                      </a: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8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모노세파</a:t>
                      </a:r>
                      <a:r>
                        <a:rPr kumimoji="1"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스택 외관</a:t>
                      </a:r>
                      <a:r>
                        <a:rPr kumimoji="1"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Q-NG, EOL </a:t>
                      </a:r>
                      <a:r>
                        <a:rPr kumimoji="1" lang="ko-KR" altLang="en-US"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외관</a:t>
                      </a:r>
                      <a:r>
                        <a:rPr kumimoji="1"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0.74%</a:t>
                      </a:r>
                      <a:b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(MI) </a:t>
                      </a:r>
                      <a:r>
                        <a:rPr kumimoji="0" lang="ko-KR" alt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라미</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위치</a:t>
                      </a: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0.16%</a:t>
                      </a:r>
                      <a:b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(OT) </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활성화 셀 </a:t>
                      </a:r>
                      <a:r>
                        <a:rPr kumimoji="0" lang="ko-KR" alt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밴딩</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0.05%</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676499626"/>
                  </a:ext>
                </a:extLst>
              </a:tr>
              <a:tr h="1437209">
                <a:tc vMerge="1">
                  <a:txBody>
                    <a:bodyPr/>
                    <a:lstStyle/>
                    <a:p>
                      <a:pPr latinLnBrk="1"/>
                      <a:endParaRPr lang="ko-KR" altLang="en-US"/>
                    </a:p>
                  </a:txBody>
                  <a:tcPr/>
                </a:tc>
                <a:tc vMerge="1">
                  <a:txBody>
                    <a:bodyPr/>
                    <a:lstStyle/>
                    <a:p>
                      <a:pPr latinLnBrk="1"/>
                      <a:endParaRPr lang="ko-KR" altLang="en-US"/>
                    </a:p>
                  </a:txBody>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1" lang="en-US" altLang="ko-KR"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1" lang="ko-KR" altLang="en-US"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유럽</a:t>
                      </a:r>
                      <a:r>
                        <a:rPr kumimoji="1" lang="en-US" altLang="ko-KR"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AX</a:t>
                      </a:r>
                      <a:r>
                        <a:rPr kumimoji="1" lang="ko-KR" altLang="en-US"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기반 </a:t>
                      </a:r>
                      <a:r>
                        <a:rPr kumimoji="1" lang="en-US" altLang="ko-KR"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ESS </a:t>
                      </a:r>
                      <a:r>
                        <a:rPr kumimoji="1" lang="ko-KR" altLang="en-US"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종합 수율 개선</a:t>
                      </a:r>
                      <a:br>
                        <a:rPr kumimoji="1" lang="ko-KR" altLang="en-US"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Q : ESWA ESS </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종합 수율 </a:t>
                      </a: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94.5% </a:t>
                      </a:r>
                      <a:b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D : ’26.12</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endParaRPr lang="en-US" altLang="ko-KR" sz="1100" b="0" i="0" u="none" strike="noStrike" dirty="0">
                        <a:solidFill>
                          <a:srgbClr val="0066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tc>
                  <a:txBody>
                    <a:bodyPr/>
                    <a:lstStyle/>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연간 목표 </a:t>
                      </a:r>
                      <a:r>
                        <a:rPr kumimoji="0" lang="en-US" altLang="ko-KR"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실적</a:t>
                      </a:r>
                      <a:r>
                        <a:rPr kumimoji="0" lang="en-US" altLang="ko-KR"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(~8/31)</a:t>
                      </a:r>
                      <a:r>
                        <a:rPr kumimoji="0" lang="en-US" altLang="ko-KR" sz="105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 WA ESS </a:t>
                      </a:r>
                      <a:r>
                        <a:rPr kumimoji="0" lang="ko-KR" altLang="en-US"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종합 수율</a:t>
                      </a:r>
                      <a:endParaRPr kumimoji="0" lang="en-US" altLang="ko-KR"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1200" cap="none" spc="0" normalizeH="0" baseline="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Catch up </a:t>
                      </a:r>
                      <a:r>
                        <a:rPr kumimoji="0" lang="ko-KR" altLang="en-US"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방안 </a:t>
                      </a:r>
                      <a:r>
                        <a:rPr kumimoji="0" lang="en-US" altLang="ko-KR"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br>
                        <a:rPr kumimoji="0" lang="en-US" altLang="ko-KR" sz="1100" b="1"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EOL </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외관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0.99%</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a:t>
                      </a:r>
                      <a:r>
                        <a:rPr kumimoji="0" lang="ko-KR" altLang="en-US" sz="1000" b="0" i="0" u="none" strike="noStrike" kern="1200" cap="none" spc="0" normalizeH="0" baseline="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라미</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NG</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마킹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0.39% </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EOL IR 0.36% </a:t>
                      </a:r>
                    </a:p>
                  </a:txBody>
                  <a:tcPr marL="9525" marR="9525" marT="9525" marB="0"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0000FF"/>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961233740"/>
                  </a:ext>
                </a:extLst>
              </a:tr>
              <a:tr h="2676987">
                <a:tc>
                  <a:txBody>
                    <a:bodyPr/>
                    <a:lstStyle/>
                    <a:p>
                      <a:pPr algn="ctr" fontAlgn="ctr"/>
                      <a:r>
                        <a:rPr lang="en-US" altLang="ko-KR" sz="1100" b="1" i="0" u="none" strike="noStrike">
                          <a:solidFill>
                            <a:srgbClr val="000000"/>
                          </a:solidFill>
                          <a:effectLst/>
                          <a:latin typeface="Arial Narrow" panose="020B0606020202030204" pitchFamily="34" charset="0"/>
                          <a:ea typeface="LG스마트체 Regular" panose="020B0600000101010101" pitchFamily="50" charset="-127"/>
                        </a:rPr>
                        <a:t>2</a:t>
                      </a:r>
                    </a:p>
                  </a:txBody>
                  <a:tcPr marL="9525" marR="9525" marT="9525" marB="0" anchor="ctr">
                    <a:lnL w="9525" cap="flat" cmpd="sng" algn="ctr">
                      <a:solidFill>
                        <a:srgbClr val="0000FF"/>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a:txBody>
                    <a:bodyPr/>
                    <a:lstStyle/>
                    <a:p>
                      <a:pPr marL="92075" indent="-92075" algn="l" defTabSz="914400" rtl="0" eaLnBrk="1" fontAlgn="ctr" latinLnBrk="0" hangingPunct="1">
                        <a:lnSpc>
                          <a:spcPct val="100000"/>
                        </a:lnSpc>
                        <a:spcBef>
                          <a:spcPts val="0"/>
                        </a:spcBef>
                        <a:spcAft>
                          <a:spcPts val="100"/>
                        </a:spcAft>
                        <a:buSzPct val="100000"/>
                        <a:buFont typeface="Arial" panose="020B0604020202020204" pitchFamily="34" charset="0"/>
                        <a:buChar char="•"/>
                      </a:pPr>
                      <a:r>
                        <a:rPr lang="ko-KR" altLang="en-US" sz="1100" b="1" kern="1200" spc="-10" baseline="0" dirty="0">
                          <a:solidFill>
                            <a:schemeClr val="tx1"/>
                          </a:solidFill>
                          <a:latin typeface="Arial Narrow" panose="020B0606020202030204" pitchFamily="34" charset="0"/>
                          <a:ea typeface="LG스마트체 Regular" panose="020B0600000101010101" pitchFamily="50" charset="-127"/>
                          <a:cs typeface="+mn-cs"/>
                        </a:rPr>
                        <a:t>자동차</a:t>
                      </a:r>
                      <a:r>
                        <a:rPr lang="en-US" altLang="ko-KR" sz="1100" b="1" kern="1200" spc="-10" baseline="0" dirty="0">
                          <a:solidFill>
                            <a:schemeClr val="tx1"/>
                          </a:solidFill>
                          <a:latin typeface="Arial Narrow" panose="020B0606020202030204" pitchFamily="34" charset="0"/>
                          <a:ea typeface="LG스마트체 Regular" panose="020B0600000101010101" pitchFamily="50" charset="-127"/>
                          <a:cs typeface="+mn-cs"/>
                        </a:rPr>
                        <a:t> </a:t>
                      </a:r>
                      <a:r>
                        <a:rPr lang="ko-KR" altLang="en-US" sz="1100" b="1" kern="1200" spc="-10" baseline="0" dirty="0">
                          <a:solidFill>
                            <a:schemeClr val="tx1"/>
                          </a:solidFill>
                          <a:latin typeface="Arial Narrow" panose="020B0606020202030204" pitchFamily="34" charset="0"/>
                          <a:ea typeface="LG스마트체 Regular" panose="020B0600000101010101" pitchFamily="50" charset="-127"/>
                          <a:cs typeface="+mn-cs"/>
                        </a:rPr>
                        <a:t>셀 수율 개선</a:t>
                      </a: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endParaRPr lang="en-US" altLang="ko-KR" sz="11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 </a:t>
                      </a:r>
                      <a:r>
                        <a:rPr kumimoji="1" lang="en-US" altLang="ko-KR"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AX</a:t>
                      </a:r>
                      <a:r>
                        <a:rPr kumimoji="1" lang="ko-KR" altLang="en-US"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기반 자동차 셀 수율 개선</a:t>
                      </a:r>
                      <a:br>
                        <a:rPr kumimoji="1" lang="en-US" altLang="ko-KR" sz="12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 Q : ESWA, NA, NB, HM, MI, HG </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자동차 셀 수율 </a:t>
                      </a: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97.8%</a:t>
                      </a:r>
                      <a:b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 D : ’26</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년 </a:t>
                      </a:r>
                      <a:r>
                        <a:rPr kumimoji="1" lang="en-US" altLang="ko-KR"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12</a:t>
                      </a:r>
                      <a:r>
                        <a:rPr kumimoji="1" lang="ko-KR" altLang="en-US" sz="1100" b="0"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월</a:t>
                      </a:r>
                      <a:endParaRPr kumimoji="1" lang="en-US" altLang="ko-KR" sz="1100" b="1" i="0" u="none" strike="noStrike" kern="1200" cap="none" spc="0" normalizeH="0" baseline="0" noProof="0" dirty="0">
                        <a:ln>
                          <a:noFill/>
                        </a:ln>
                        <a:solidFill>
                          <a:schemeClr val="tx1"/>
                        </a:solidFill>
                        <a:effectLst/>
                        <a:uLnTx/>
                        <a:uFillTx/>
                        <a:latin typeface="Arial Narrow"/>
                        <a:ea typeface="LG스마트체 Regular"/>
                        <a:cs typeface="+mn-cs"/>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a:txBody>
                    <a:bodyPr/>
                    <a:lstStyle/>
                    <a:p>
                      <a:pPr algn="ctr" fontAlgn="ct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tc>
                  <a:txBody>
                    <a:bodyPr/>
                    <a:lstStyle/>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연간 목표 </a:t>
                      </a: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실적</a:t>
                      </a: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(~8/31)   *. WA,NA,NB,HM,MI,HG </a:t>
                      </a: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셀 수율</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Catch up </a:t>
                      </a: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방안 </a:t>
                      </a: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 </a:t>
                      </a:r>
                      <a:b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(WA) EOL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외관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0.69% </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(WA) </a:t>
                      </a:r>
                      <a:r>
                        <a:rPr lang="ko-KR" altLang="en-US" sz="1000" b="0" i="0" u="none" strike="noStrike" dirty="0" err="1">
                          <a:solidFill>
                            <a:schemeClr val="tx1"/>
                          </a:solidFill>
                          <a:effectLst/>
                          <a:latin typeface="Arial Narrow" panose="020B0606020202030204" pitchFamily="34" charset="0"/>
                          <a:ea typeface="LG스마트체 Regular" panose="020B0600000101010101" pitchFamily="50" charset="-127"/>
                        </a:rPr>
                        <a:t>라미</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NG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마킹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0.49% </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(WA)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스택킹 </a:t>
                      </a:r>
                      <a:r>
                        <a:rPr lang="ko-KR" altLang="en-US" sz="1000" b="0" i="0" u="none" strike="noStrike" dirty="0" err="1">
                          <a:solidFill>
                            <a:schemeClr val="tx1"/>
                          </a:solidFill>
                          <a:effectLst/>
                          <a:latin typeface="Arial Narrow" panose="020B0606020202030204" pitchFamily="34" charset="0"/>
                          <a:ea typeface="LG스마트체 Regular" panose="020B0600000101010101" pitchFamily="50" charset="-127"/>
                        </a:rPr>
                        <a:t>모노세파</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0.39% </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9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endParaRPr>
                    </a:p>
                  </a:txBody>
                  <a:tcPr marL="9525" marR="9525" marT="9525" marB="0" anchor="ctr">
                    <a:lnL w="6350" cap="flat" cmpd="sng" algn="ctr">
                      <a:solidFill>
                        <a:schemeClr val="tx1">
                          <a:lumMod val="50000"/>
                          <a:lumOff val="50000"/>
                        </a:schemeClr>
                      </a:solidFill>
                      <a:prstDash val="solid"/>
                      <a:round/>
                      <a:headEnd type="none" w="med" len="med"/>
                      <a:tailEnd type="none" w="med" len="med"/>
                    </a:lnL>
                    <a:lnR w="9525" cap="flat" cmpd="sng" algn="ctr">
                      <a:solidFill>
                        <a:srgbClr val="0000FF"/>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noFill/>
                  </a:tcPr>
                </a:tc>
                <a:extLst>
                  <a:ext uri="{0D108BD9-81ED-4DB2-BD59-A6C34878D82A}">
                    <a16:rowId xmlns:a16="http://schemas.microsoft.com/office/drawing/2014/main" val="487852064"/>
                  </a:ext>
                </a:extLst>
              </a:tr>
            </a:tbl>
          </a:graphicData>
        </a:graphic>
      </p:graphicFrame>
      <p:sp>
        <p:nvSpPr>
          <p:cNvPr id="34" name="사각형: 둥근 모서리 33">
            <a:extLst>
              <a:ext uri="{FF2B5EF4-FFF2-40B4-BE49-F238E27FC236}">
                <a16:creationId xmlns:a16="http://schemas.microsoft.com/office/drawing/2014/main" id="{DC7A8E3A-437F-4B10-AC82-357F9AA267B9}"/>
              </a:ext>
            </a:extLst>
          </p:cNvPr>
          <p:cNvSpPr/>
          <p:nvPr/>
        </p:nvSpPr>
        <p:spPr>
          <a:xfrm>
            <a:off x="2071144" y="2132856"/>
            <a:ext cx="432000" cy="166650"/>
          </a:xfrm>
          <a:prstGeom prst="round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1" i="0" u="none" strike="noStrike" kern="1200" cap="none" spc="0" normalizeH="0" baseline="0" noProof="0" err="1">
                <a:ln>
                  <a:noFill/>
                </a:ln>
                <a:solidFill>
                  <a:prstClr val="white"/>
                </a:solidFill>
                <a:effectLst/>
                <a:uLnTx/>
                <a:uFillTx/>
                <a:latin typeface="Arial Narrow" panose="020B0606020202030204" pitchFamily="34" charset="0"/>
                <a:ea typeface="LG스마트체 regular" panose="020B0600000101010101" pitchFamily="50" charset="-127"/>
                <a:cs typeface="+mn-cs"/>
              </a:rPr>
              <a:t>그룹장</a:t>
            </a:r>
            <a:endParaRPr kumimoji="0" lang="ko-KR" altLang="en-US" sz="1000" b="1" i="0" u="none" strike="noStrike" kern="1200" cap="none" spc="0" normalizeH="0" baseline="0" noProof="0">
              <a:ln>
                <a:noFill/>
              </a:ln>
              <a:solidFill>
                <a:prstClr val="white"/>
              </a:solidFill>
              <a:effectLst/>
              <a:uLnTx/>
              <a:uFillTx/>
              <a:latin typeface="Arial Narrow" panose="020B0606020202030204" pitchFamily="34" charset="0"/>
              <a:ea typeface="LG스마트체 regular" panose="020B0600000101010101" pitchFamily="50" charset="-127"/>
              <a:cs typeface="+mn-cs"/>
            </a:endParaRPr>
          </a:p>
        </p:txBody>
      </p:sp>
      <p:sp>
        <p:nvSpPr>
          <p:cNvPr id="17" name="사각형: 둥근 모서리 16">
            <a:extLst>
              <a:ext uri="{FF2B5EF4-FFF2-40B4-BE49-F238E27FC236}">
                <a16:creationId xmlns:a16="http://schemas.microsoft.com/office/drawing/2014/main" id="{B8FFCCFE-EB7B-43EB-B0DB-A48226C7EC3D}"/>
              </a:ext>
            </a:extLst>
          </p:cNvPr>
          <p:cNvSpPr/>
          <p:nvPr/>
        </p:nvSpPr>
        <p:spPr>
          <a:xfrm>
            <a:off x="1712640" y="2132856"/>
            <a:ext cx="324000" cy="166650"/>
          </a:xfrm>
          <a:prstGeom prst="round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white"/>
                </a:solidFill>
                <a:effectLst/>
                <a:uLnTx/>
                <a:uFillTx/>
                <a:latin typeface="Arial Narrow" panose="020B0606020202030204" pitchFamily="34" charset="0"/>
                <a:ea typeface="LG스마트체 regular" panose="020B0600000101010101" pitchFamily="50" charset="-127"/>
                <a:cs typeface="+mn-cs"/>
              </a:rPr>
              <a:t>CDO</a:t>
            </a:r>
            <a:endParaRPr kumimoji="0" lang="ko-KR" altLang="en-US" sz="1000" b="1" i="0" u="none" strike="noStrike" kern="1200" cap="none" spc="0" normalizeH="0" baseline="0" noProof="0" dirty="0">
              <a:ln>
                <a:noFill/>
              </a:ln>
              <a:solidFill>
                <a:prstClr val="white"/>
              </a:solidFill>
              <a:effectLst/>
              <a:uLnTx/>
              <a:uFillTx/>
              <a:latin typeface="Arial Narrow" panose="020B0606020202030204" pitchFamily="34" charset="0"/>
              <a:ea typeface="LG스마트체 regular" panose="020B0600000101010101" pitchFamily="50" charset="-127"/>
              <a:cs typeface="+mn-cs"/>
            </a:endParaRPr>
          </a:p>
        </p:txBody>
      </p:sp>
      <p:sp>
        <p:nvSpPr>
          <p:cNvPr id="2" name="사각형: 둥근 모서리 1">
            <a:extLst>
              <a:ext uri="{FF2B5EF4-FFF2-40B4-BE49-F238E27FC236}">
                <a16:creationId xmlns:a16="http://schemas.microsoft.com/office/drawing/2014/main" id="{660F9E5D-7392-A5A0-962F-FF31D67625C5}"/>
              </a:ext>
            </a:extLst>
          </p:cNvPr>
          <p:cNvSpPr/>
          <p:nvPr/>
        </p:nvSpPr>
        <p:spPr>
          <a:xfrm>
            <a:off x="1810300" y="4880675"/>
            <a:ext cx="432000" cy="166650"/>
          </a:xfrm>
          <a:prstGeom prst="round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1" i="0" u="none" strike="noStrike" kern="1200" cap="none" spc="0" normalizeH="0" baseline="0" noProof="0" dirty="0" err="1">
                <a:ln>
                  <a:noFill/>
                </a:ln>
                <a:solidFill>
                  <a:prstClr val="white"/>
                </a:solidFill>
                <a:effectLst/>
                <a:uLnTx/>
                <a:uFillTx/>
                <a:latin typeface="Arial Narrow" panose="020B0606020202030204" pitchFamily="34" charset="0"/>
                <a:ea typeface="LG스마트체 regular" panose="020B0600000101010101" pitchFamily="50" charset="-127"/>
                <a:cs typeface="+mn-cs"/>
              </a:rPr>
              <a:t>그룹장</a:t>
            </a:r>
            <a:endParaRPr kumimoji="0" lang="ko-KR" altLang="en-US" sz="1000" b="1" i="0" u="none" strike="noStrike" kern="1200" cap="none" spc="0" normalizeH="0" baseline="0" noProof="0" dirty="0">
              <a:ln>
                <a:noFill/>
              </a:ln>
              <a:solidFill>
                <a:prstClr val="white"/>
              </a:solidFill>
              <a:effectLst/>
              <a:uLnTx/>
              <a:uFillTx/>
              <a:latin typeface="Arial Narrow" panose="020B0606020202030204" pitchFamily="34" charset="0"/>
              <a:ea typeface="LG스마트체 regular" panose="020B0600000101010101" pitchFamily="50" charset="-127"/>
              <a:cs typeface="+mn-cs"/>
            </a:endParaRPr>
          </a:p>
        </p:txBody>
      </p:sp>
      <p:sp>
        <p:nvSpPr>
          <p:cNvPr id="32" name="타원 31">
            <a:extLst>
              <a:ext uri="{FF2B5EF4-FFF2-40B4-BE49-F238E27FC236}">
                <a16:creationId xmlns:a16="http://schemas.microsoft.com/office/drawing/2014/main" id="{8C544864-5D54-089E-B2F2-A7F154415081}"/>
              </a:ext>
            </a:extLst>
          </p:cNvPr>
          <p:cNvSpPr>
            <a:spLocks noChangeAspect="1"/>
          </p:cNvSpPr>
          <p:nvPr/>
        </p:nvSpPr>
        <p:spPr>
          <a:xfrm>
            <a:off x="5745088" y="5078190"/>
            <a:ext cx="180000" cy="180000"/>
          </a:xfrm>
          <a:prstGeom prst="ellipse">
            <a:avLst/>
          </a:prstGeom>
          <a:solidFill>
            <a:srgbClr val="FFFF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FE38F687-E80C-E086-54BE-4EE907E24E90}"/>
              </a:ext>
            </a:extLst>
          </p:cNvPr>
          <p:cNvSpPr txBox="1"/>
          <p:nvPr/>
        </p:nvSpPr>
        <p:spPr>
          <a:xfrm>
            <a:off x="4750612" y="6622748"/>
            <a:ext cx="404777"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- 1 / 3 - </a:t>
            </a:r>
          </a:p>
        </p:txBody>
      </p:sp>
      <p:sp>
        <p:nvSpPr>
          <p:cNvPr id="10" name="타원 9">
            <a:extLst>
              <a:ext uri="{FF2B5EF4-FFF2-40B4-BE49-F238E27FC236}">
                <a16:creationId xmlns:a16="http://schemas.microsoft.com/office/drawing/2014/main" id="{C53F9799-CF47-D18F-C378-1C83A42AD153}"/>
              </a:ext>
            </a:extLst>
          </p:cNvPr>
          <p:cNvSpPr>
            <a:spLocks noChangeAspect="1"/>
          </p:cNvSpPr>
          <p:nvPr/>
        </p:nvSpPr>
        <p:spPr>
          <a:xfrm>
            <a:off x="5745088" y="1602364"/>
            <a:ext cx="180000" cy="180000"/>
          </a:xfrm>
          <a:prstGeom prst="ellipse">
            <a:avLst/>
          </a:prstGeom>
          <a:solidFill>
            <a:srgbClr val="FFFF0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dirty="0">
              <a:ln>
                <a:noFill/>
              </a:ln>
              <a:solidFill>
                <a:srgbClr val="FFFFFF"/>
              </a:solidFill>
              <a:effectLst/>
              <a:uLnTx/>
              <a:uFillTx/>
              <a:latin typeface="Calibri" panose="020F0502020204030204"/>
              <a:ea typeface="맑은 고딕" panose="020B0503020000020004" pitchFamily="50" charset="-127"/>
              <a:cs typeface="+mn-cs"/>
            </a:endParaRPr>
          </a:p>
        </p:txBody>
      </p:sp>
      <p:graphicFrame>
        <p:nvGraphicFramePr>
          <p:cNvPr id="6" name="표 5">
            <a:extLst>
              <a:ext uri="{FF2B5EF4-FFF2-40B4-BE49-F238E27FC236}">
                <a16:creationId xmlns:a16="http://schemas.microsoft.com/office/drawing/2014/main" id="{1640EDC0-8D8B-8846-8B6B-F64A87A0BFAC}"/>
              </a:ext>
            </a:extLst>
          </p:cNvPr>
          <p:cNvGraphicFramePr>
            <a:graphicFrameLocks noGrp="1"/>
          </p:cNvGraphicFramePr>
          <p:nvPr/>
        </p:nvGraphicFramePr>
        <p:xfrm>
          <a:off x="6371822" y="1329819"/>
          <a:ext cx="3261696" cy="440055"/>
        </p:xfrm>
        <a:graphic>
          <a:graphicData uri="http://schemas.openxmlformats.org/drawingml/2006/table">
            <a:tbl>
              <a:tblPr/>
              <a:tblGrid>
                <a:gridCol w="594664">
                  <a:extLst>
                    <a:ext uri="{9D8B030D-6E8A-4147-A177-3AD203B41FA5}">
                      <a16:colId xmlns:a16="http://schemas.microsoft.com/office/drawing/2014/main" val="1222112352"/>
                    </a:ext>
                  </a:extLst>
                </a:gridCol>
                <a:gridCol w="865129">
                  <a:extLst>
                    <a:ext uri="{9D8B030D-6E8A-4147-A177-3AD203B41FA5}">
                      <a16:colId xmlns:a16="http://schemas.microsoft.com/office/drawing/2014/main" val="3039015437"/>
                    </a:ext>
                  </a:extLst>
                </a:gridCol>
                <a:gridCol w="383307">
                  <a:extLst>
                    <a:ext uri="{9D8B030D-6E8A-4147-A177-3AD203B41FA5}">
                      <a16:colId xmlns:a16="http://schemas.microsoft.com/office/drawing/2014/main" val="1202653951"/>
                    </a:ext>
                  </a:extLst>
                </a:gridCol>
                <a:gridCol w="1418596">
                  <a:extLst>
                    <a:ext uri="{9D8B030D-6E8A-4147-A177-3AD203B41FA5}">
                      <a16:colId xmlns:a16="http://schemas.microsoft.com/office/drawing/2014/main" val="1020929396"/>
                    </a:ext>
                  </a:extLst>
                </a:gridCol>
              </a:tblGrid>
              <a:tr h="0">
                <a:tc gridSpan="4">
                  <a:txBody>
                    <a:bodyPr/>
                    <a:lstStyle/>
                    <a:p>
                      <a:pPr algn="l"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북미 종합 수율 </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(ESMI, MI_LS, OT, HD</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법인</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endPar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hMerge="1">
                  <a:txBody>
                    <a:bodyPr/>
                    <a:lstStyle/>
                    <a:p>
                      <a:pPr algn="ctr" fontAlgn="ctr"/>
                      <a:endParaRPr lang="en-US" altLang="ko-KR" sz="1000" b="0" i="0" u="none" strike="noStrike">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hMerge="1">
                  <a:txBody>
                    <a:bodyPr/>
                    <a:lstStyle/>
                    <a:p>
                      <a:pPr algn="ctr" fontAlgn="ctr"/>
                      <a:endParaRPr lang="en-US" sz="1000" b="0" i="0" u="none" strike="noStrike">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hMerge="1">
                  <a:txBody>
                    <a:bodyPr/>
                    <a:lstStyle/>
                    <a:p>
                      <a:pPr algn="ctr" fontAlgn="ctr"/>
                      <a:endParaRPr lang="ko-KR" altLang="en-US" sz="1000" b="0" i="0" u="none" strike="noStrike">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451765464"/>
                  </a:ext>
                </a:extLst>
              </a:tr>
              <a:tr h="0">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연간 목표</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 실적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Arial Narrow" panose="020B0606020202030204" pitchFamily="34" charset="0"/>
                          <a:ea typeface="LG스마트체 Regular" panose="020B0600000101010101" pitchFamily="50" charset="-127"/>
                        </a:rPr>
                        <a:t>Gap</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비고</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11509337"/>
                  </a:ext>
                </a:extLst>
              </a:tr>
              <a:tr h="0">
                <a:tc>
                  <a:txBody>
                    <a:bodyPr/>
                    <a:lstStyle/>
                    <a:p>
                      <a:pPr algn="ctr" fontAlgn="ct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94.3%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94.8%</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sz="900" b="0" i="0" u="none" strike="noStrike" dirty="0">
                          <a:solidFill>
                            <a:srgbClr val="0000FF"/>
                          </a:solidFill>
                          <a:effectLst/>
                          <a:latin typeface="Arial Narrow" panose="020B0606020202030204" pitchFamily="34" charset="0"/>
                          <a:ea typeface="LG스마트체 Regular" panose="020B0600000101010101" pitchFamily="50" charset="-127"/>
                        </a:rPr>
                        <a:t>0.5%p</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7</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96.1%, 8</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95.9%</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879288673"/>
                  </a:ext>
                </a:extLst>
              </a:tr>
            </a:tbl>
          </a:graphicData>
        </a:graphic>
      </p:graphicFrame>
      <p:sp>
        <p:nvSpPr>
          <p:cNvPr id="4" name="실행 단추: 앞으로 또는 다음 258">
            <a:hlinkClick r:id="rId3" action="ppaction://hlinksldjump" highlightClick="1"/>
            <a:extLst>
              <a:ext uri="{FF2B5EF4-FFF2-40B4-BE49-F238E27FC236}">
                <a16:creationId xmlns:a16="http://schemas.microsoft.com/office/drawing/2014/main" id="{809EB8D0-AED8-AC67-3094-2E3E6640FA3B}"/>
              </a:ext>
            </a:extLst>
          </p:cNvPr>
          <p:cNvSpPr/>
          <p:nvPr/>
        </p:nvSpPr>
        <p:spPr>
          <a:xfrm>
            <a:off x="5357323" y="2152285"/>
            <a:ext cx="145970" cy="145970"/>
          </a:xfrm>
          <a:prstGeom prst="actionButtonForwardNext">
            <a:avLst/>
          </a:prstGeom>
          <a:noFill/>
          <a:ln w="63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a:ln>
                <a:noFill/>
              </a:ln>
              <a:solidFill>
                <a:srgbClr val="1F497D"/>
              </a:solidFill>
              <a:effectLst/>
              <a:uLnTx/>
              <a:uFillTx/>
              <a:latin typeface="Arial Narrow" panose="020B0606020202030204" pitchFamily="34" charset="0"/>
              <a:ea typeface="LG스마트체 Regular" panose="020B0600000101010101" pitchFamily="50" charset="-127"/>
              <a:cs typeface="+mn-cs"/>
            </a:endParaRPr>
          </a:p>
        </p:txBody>
      </p:sp>
      <p:sp>
        <p:nvSpPr>
          <p:cNvPr id="7" name="타원 6">
            <a:extLst>
              <a:ext uri="{FF2B5EF4-FFF2-40B4-BE49-F238E27FC236}">
                <a16:creationId xmlns:a16="http://schemas.microsoft.com/office/drawing/2014/main" id="{F4098BB9-D93E-C991-DDB0-C5E609132D6E}"/>
              </a:ext>
            </a:extLst>
          </p:cNvPr>
          <p:cNvSpPr>
            <a:spLocks noChangeAspect="1"/>
          </p:cNvSpPr>
          <p:nvPr/>
        </p:nvSpPr>
        <p:spPr>
          <a:xfrm>
            <a:off x="5745088" y="3081830"/>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2" name="실행 단추: 앞으로 또는 다음 258">
            <a:hlinkClick r:id="rId4" action="ppaction://hlinksldjump" highlightClick="1"/>
            <a:extLst>
              <a:ext uri="{FF2B5EF4-FFF2-40B4-BE49-F238E27FC236}">
                <a16:creationId xmlns:a16="http://schemas.microsoft.com/office/drawing/2014/main" id="{BA86FE04-3F80-514A-7211-75D1207A538A}"/>
              </a:ext>
            </a:extLst>
          </p:cNvPr>
          <p:cNvSpPr/>
          <p:nvPr/>
        </p:nvSpPr>
        <p:spPr>
          <a:xfrm>
            <a:off x="7329264" y="1798869"/>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a:ln>
                <a:noFill/>
              </a:ln>
              <a:solidFill>
                <a:srgbClr val="1F497D"/>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14" name="표 13">
            <a:extLst>
              <a:ext uri="{FF2B5EF4-FFF2-40B4-BE49-F238E27FC236}">
                <a16:creationId xmlns:a16="http://schemas.microsoft.com/office/drawing/2014/main" id="{A4CE436A-42B6-A94F-3BC0-76782B85BB42}"/>
              </a:ext>
            </a:extLst>
          </p:cNvPr>
          <p:cNvGraphicFramePr>
            <a:graphicFrameLocks noGrp="1"/>
          </p:cNvGraphicFramePr>
          <p:nvPr>
            <p:extLst>
              <p:ext uri="{D42A27DB-BD31-4B8C-83A1-F6EECF244321}">
                <p14:modId xmlns:p14="http://schemas.microsoft.com/office/powerpoint/2010/main" val="3975005598"/>
              </p:ext>
            </p:extLst>
          </p:nvPr>
        </p:nvGraphicFramePr>
        <p:xfrm>
          <a:off x="6371823" y="2798438"/>
          <a:ext cx="3040063" cy="387214"/>
        </p:xfrm>
        <a:graphic>
          <a:graphicData uri="http://schemas.openxmlformats.org/drawingml/2006/table">
            <a:tbl>
              <a:tblPr/>
              <a:tblGrid>
                <a:gridCol w="476250">
                  <a:extLst>
                    <a:ext uri="{9D8B030D-6E8A-4147-A177-3AD203B41FA5}">
                      <a16:colId xmlns:a16="http://schemas.microsoft.com/office/drawing/2014/main" val="1222112352"/>
                    </a:ext>
                  </a:extLst>
                </a:gridCol>
                <a:gridCol w="619126">
                  <a:extLst>
                    <a:ext uri="{9D8B030D-6E8A-4147-A177-3AD203B41FA5}">
                      <a16:colId xmlns:a16="http://schemas.microsoft.com/office/drawing/2014/main" val="3039015437"/>
                    </a:ext>
                  </a:extLst>
                </a:gridCol>
                <a:gridCol w="439737">
                  <a:extLst>
                    <a:ext uri="{9D8B030D-6E8A-4147-A177-3AD203B41FA5}">
                      <a16:colId xmlns:a16="http://schemas.microsoft.com/office/drawing/2014/main" val="1202653951"/>
                    </a:ext>
                  </a:extLst>
                </a:gridCol>
                <a:gridCol w="1504950">
                  <a:extLst>
                    <a:ext uri="{9D8B030D-6E8A-4147-A177-3AD203B41FA5}">
                      <a16:colId xmlns:a16="http://schemas.microsoft.com/office/drawing/2014/main" val="1020929396"/>
                    </a:ext>
                  </a:extLst>
                </a:gridCol>
              </a:tblGrid>
              <a:tr h="193607">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연간 목표</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gridSpan="2">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 실적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hMerge="1">
                  <a:txBody>
                    <a:bodyPr/>
                    <a:lstStyle/>
                    <a:p>
                      <a:pPr algn="ctr" fontAlgn="ctr"/>
                      <a:endParaRPr lang="en-US"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비고</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11509337"/>
                  </a:ext>
                </a:extLst>
              </a:tr>
              <a:tr h="193607">
                <a:tc>
                  <a:txBody>
                    <a:bodyPr/>
                    <a:lstStyle/>
                    <a:p>
                      <a:pPr algn="ctr" fontAlgn="ct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94.5%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92.5%</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altLang="ko-KR" sz="900" b="0" i="0" u="none" strike="noStrike" dirty="0">
                          <a:solidFill>
                            <a:srgbClr val="C00000"/>
                          </a:solidFill>
                          <a:effectLst/>
                          <a:latin typeface="Arial Narrow" panose="020B0606020202030204" pitchFamily="34" charset="0"/>
                          <a:ea typeface="LG스마트체 Regular" panose="020B0600000101010101" pitchFamily="50" charset="-127"/>
                        </a:rPr>
                        <a:t>Δ2.0</a:t>
                      </a:r>
                      <a:r>
                        <a:rPr lang="en-US" sz="900" b="0" i="0" u="none" strike="noStrike" dirty="0">
                          <a:solidFill>
                            <a:srgbClr val="C00000"/>
                          </a:solidFill>
                          <a:effectLst/>
                          <a:latin typeface="Arial Narrow" panose="020B0606020202030204" pitchFamily="34" charset="0"/>
                          <a:ea typeface="LG스마트체 Regular" panose="020B0600000101010101" pitchFamily="50" charset="-127"/>
                        </a:rPr>
                        <a:t>%p</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6</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91.7% 7</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94.9% 8</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95.1%</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879288673"/>
                  </a:ext>
                </a:extLst>
              </a:tr>
            </a:tbl>
          </a:graphicData>
        </a:graphic>
      </p:graphicFrame>
      <p:sp>
        <p:nvSpPr>
          <p:cNvPr id="29" name="실행 단추: 앞으로 또는 다음 258">
            <a:hlinkClick r:id="rId5" action="ppaction://hlinksldjump" highlightClick="1"/>
            <a:extLst>
              <a:ext uri="{FF2B5EF4-FFF2-40B4-BE49-F238E27FC236}">
                <a16:creationId xmlns:a16="http://schemas.microsoft.com/office/drawing/2014/main" id="{B43C6A95-0F56-CA99-8B08-3B3C9A74D960}"/>
              </a:ext>
            </a:extLst>
          </p:cNvPr>
          <p:cNvSpPr/>
          <p:nvPr/>
        </p:nvSpPr>
        <p:spPr>
          <a:xfrm>
            <a:off x="7183294" y="3240569"/>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dirty="0">
              <a:ln>
                <a:noFill/>
              </a:ln>
              <a:solidFill>
                <a:srgbClr val="1F497D"/>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43" name="표 42">
            <a:extLst>
              <a:ext uri="{FF2B5EF4-FFF2-40B4-BE49-F238E27FC236}">
                <a16:creationId xmlns:a16="http://schemas.microsoft.com/office/drawing/2014/main" id="{C56F44DF-F956-61AB-BCED-16FA60EDF6A6}"/>
              </a:ext>
            </a:extLst>
          </p:cNvPr>
          <p:cNvGraphicFramePr>
            <a:graphicFrameLocks noGrp="1"/>
          </p:cNvGraphicFramePr>
          <p:nvPr>
            <p:extLst>
              <p:ext uri="{D42A27DB-BD31-4B8C-83A1-F6EECF244321}">
                <p14:modId xmlns:p14="http://schemas.microsoft.com/office/powerpoint/2010/main" val="1309259631"/>
              </p:ext>
            </p:extLst>
          </p:nvPr>
        </p:nvGraphicFramePr>
        <p:xfrm>
          <a:off x="6371822" y="4342031"/>
          <a:ext cx="3261694" cy="293370"/>
        </p:xfrm>
        <a:graphic>
          <a:graphicData uri="http://schemas.openxmlformats.org/drawingml/2006/table">
            <a:tbl>
              <a:tblPr/>
              <a:tblGrid>
                <a:gridCol w="502831">
                  <a:extLst>
                    <a:ext uri="{9D8B030D-6E8A-4147-A177-3AD203B41FA5}">
                      <a16:colId xmlns:a16="http://schemas.microsoft.com/office/drawing/2014/main" val="1222112352"/>
                    </a:ext>
                  </a:extLst>
                </a:gridCol>
                <a:gridCol w="732456">
                  <a:extLst>
                    <a:ext uri="{9D8B030D-6E8A-4147-A177-3AD203B41FA5}">
                      <a16:colId xmlns:a16="http://schemas.microsoft.com/office/drawing/2014/main" val="3039015437"/>
                    </a:ext>
                  </a:extLst>
                </a:gridCol>
                <a:gridCol w="464280">
                  <a:extLst>
                    <a:ext uri="{9D8B030D-6E8A-4147-A177-3AD203B41FA5}">
                      <a16:colId xmlns:a16="http://schemas.microsoft.com/office/drawing/2014/main" val="1202653951"/>
                    </a:ext>
                  </a:extLst>
                </a:gridCol>
                <a:gridCol w="1562127">
                  <a:extLst>
                    <a:ext uri="{9D8B030D-6E8A-4147-A177-3AD203B41FA5}">
                      <a16:colId xmlns:a16="http://schemas.microsoft.com/office/drawing/2014/main" val="1020929396"/>
                    </a:ext>
                  </a:extLst>
                </a:gridCol>
              </a:tblGrid>
              <a:tr h="0">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연간 목표</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 실적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en-US" sz="900" b="0" i="0" u="none" strike="noStrike" dirty="0">
                          <a:solidFill>
                            <a:srgbClr val="000000"/>
                          </a:solidFill>
                          <a:effectLst/>
                          <a:latin typeface="Arial Narrow" panose="020B0606020202030204" pitchFamily="34" charset="0"/>
                          <a:ea typeface="LG스마트체 Regular" panose="020B0600000101010101" pitchFamily="50" charset="-127"/>
                        </a:rPr>
                        <a:t>Gap</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비고</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11509337"/>
                  </a:ext>
                </a:extLst>
              </a:tr>
              <a:tr h="0">
                <a:tc>
                  <a:txBody>
                    <a:bodyPr/>
                    <a:lstStyle/>
                    <a:p>
                      <a:pPr algn="ctr" fontAlgn="ct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97.8%</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solidFill>
                  </a:tcPr>
                </a:tc>
                <a:tc>
                  <a:txBody>
                    <a:bodyPr/>
                    <a:lstStyle/>
                    <a:p>
                      <a:pPr algn="ctr" fontAlgn="ct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97.6%</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solidFill>
                  </a:tcPr>
                </a:tc>
                <a:tc>
                  <a:txBody>
                    <a:bodyPr/>
                    <a:lstStyle/>
                    <a:p>
                      <a:pPr algn="ctr" fontAlgn="ctr"/>
                      <a:r>
                        <a:rPr lang="en-US" altLang="ko-KR" sz="900" b="0" i="0" u="none" strike="noStrike" dirty="0">
                          <a:solidFill>
                            <a:srgbClr val="C00000"/>
                          </a:solidFill>
                          <a:effectLst/>
                          <a:latin typeface="Arial Narrow" panose="020B0606020202030204" pitchFamily="34" charset="0"/>
                          <a:ea typeface="LG스마트체 Regular" panose="020B0600000101010101" pitchFamily="50" charset="-127"/>
                        </a:rPr>
                        <a:t>Δ</a:t>
                      </a:r>
                      <a:r>
                        <a:rPr lang="en-US" sz="900" b="0" i="0" u="none" strike="noStrike" dirty="0">
                          <a:solidFill>
                            <a:srgbClr val="C00000"/>
                          </a:solidFill>
                          <a:effectLst/>
                          <a:latin typeface="Arial Narrow" panose="020B0606020202030204" pitchFamily="34" charset="0"/>
                          <a:ea typeface="LG스마트체 Regular" panose="020B0600000101010101" pitchFamily="50" charset="-127"/>
                        </a:rPr>
                        <a:t>0.2%p</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solidFill>
                  </a:tcPr>
                </a:tc>
                <a:tc>
                  <a:txBody>
                    <a:bodyPr/>
                    <a:lstStyle/>
                    <a:p>
                      <a:pPr algn="ctr" fontAlgn="ct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6</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97.9% 7</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 97.9% 8</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97.6%</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solidFill>
                  </a:tcPr>
                </a:tc>
                <a:extLst>
                  <a:ext uri="{0D108BD9-81ED-4DB2-BD59-A6C34878D82A}">
                    <a16:rowId xmlns:a16="http://schemas.microsoft.com/office/drawing/2014/main" val="879288673"/>
                  </a:ext>
                </a:extLst>
              </a:tr>
            </a:tbl>
          </a:graphicData>
        </a:graphic>
      </p:graphicFrame>
      <p:graphicFrame>
        <p:nvGraphicFramePr>
          <p:cNvPr id="45" name="표 44">
            <a:extLst>
              <a:ext uri="{FF2B5EF4-FFF2-40B4-BE49-F238E27FC236}">
                <a16:creationId xmlns:a16="http://schemas.microsoft.com/office/drawing/2014/main" id="{EC45FA25-3C85-0F9E-3DFD-186C2ACB126C}"/>
              </a:ext>
            </a:extLst>
          </p:cNvPr>
          <p:cNvGraphicFramePr>
            <a:graphicFrameLocks noGrp="1"/>
          </p:cNvGraphicFramePr>
          <p:nvPr>
            <p:extLst>
              <p:ext uri="{D42A27DB-BD31-4B8C-83A1-F6EECF244321}">
                <p14:modId xmlns:p14="http://schemas.microsoft.com/office/powerpoint/2010/main" val="2910918708"/>
              </p:ext>
            </p:extLst>
          </p:nvPr>
        </p:nvGraphicFramePr>
        <p:xfrm>
          <a:off x="6371824" y="4726768"/>
          <a:ext cx="3261694" cy="293370"/>
        </p:xfrm>
        <a:graphic>
          <a:graphicData uri="http://schemas.openxmlformats.org/drawingml/2006/table">
            <a:tbl>
              <a:tblPr/>
              <a:tblGrid>
                <a:gridCol w="937782">
                  <a:extLst>
                    <a:ext uri="{9D8B030D-6E8A-4147-A177-3AD203B41FA5}">
                      <a16:colId xmlns:a16="http://schemas.microsoft.com/office/drawing/2014/main" val="3039015437"/>
                    </a:ext>
                  </a:extLst>
                </a:gridCol>
                <a:gridCol w="2323912">
                  <a:extLst>
                    <a:ext uri="{9D8B030D-6E8A-4147-A177-3AD203B41FA5}">
                      <a16:colId xmlns:a16="http://schemas.microsoft.com/office/drawing/2014/main" val="1020929396"/>
                    </a:ext>
                  </a:extLst>
                </a:gridCol>
              </a:tblGrid>
              <a:tr h="0">
                <a:tc>
                  <a:txBody>
                    <a:bodyPr/>
                    <a:lstStyle/>
                    <a:p>
                      <a:pPr algn="ctr" fontAlgn="ct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WA </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 실적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tc>
                  <a:txBody>
                    <a:bodyPr/>
                    <a:lstStyle/>
                    <a:p>
                      <a:pPr algn="ctr" fontAlgn="ct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비고</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11509337"/>
                  </a:ext>
                </a:extLst>
              </a:tr>
              <a:tr h="0">
                <a:tc>
                  <a:txBody>
                    <a:bodyPr/>
                    <a:lstStyle/>
                    <a:p>
                      <a:pPr algn="ctr" fontAlgn="ct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96.3%</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6</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 96.8% 7</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 96.7% 8</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월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 96.0%   </a:t>
                      </a:r>
                    </a:p>
                  </a:txBody>
                  <a:tcPr marL="9525" marR="9525" marT="9525" marB="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879288673"/>
                  </a:ext>
                </a:extLst>
              </a:tr>
            </a:tbl>
          </a:graphicData>
        </a:graphic>
      </p:graphicFrame>
      <p:sp>
        <p:nvSpPr>
          <p:cNvPr id="47" name="실행 단추: 앞으로 또는 다음 258">
            <a:hlinkClick r:id="rId6" action="ppaction://hlinksldjump" highlightClick="1"/>
            <a:extLst>
              <a:ext uri="{FF2B5EF4-FFF2-40B4-BE49-F238E27FC236}">
                <a16:creationId xmlns:a16="http://schemas.microsoft.com/office/drawing/2014/main" id="{28666054-5974-0862-FB08-86823F0C0058}"/>
              </a:ext>
            </a:extLst>
          </p:cNvPr>
          <p:cNvSpPr/>
          <p:nvPr/>
        </p:nvSpPr>
        <p:spPr>
          <a:xfrm>
            <a:off x="7183294" y="5193336"/>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dirty="0">
              <a:ln>
                <a:noFill/>
              </a:ln>
              <a:solidFill>
                <a:srgbClr val="1F497D"/>
              </a:solidFill>
              <a:effectLst/>
              <a:uLnTx/>
              <a:uFillTx/>
              <a:latin typeface="Arial Narrow" panose="020B0606020202030204" pitchFamily="34" charset="0"/>
              <a:ea typeface="LG스마트체 Regular" panose="020B0600000101010101" pitchFamily="50" charset="-127"/>
              <a:cs typeface="+mn-cs"/>
            </a:endParaRPr>
          </a:p>
        </p:txBody>
      </p:sp>
      <p:grpSp>
        <p:nvGrpSpPr>
          <p:cNvPr id="11" name="그룹 10">
            <a:extLst>
              <a:ext uri="{FF2B5EF4-FFF2-40B4-BE49-F238E27FC236}">
                <a16:creationId xmlns:a16="http://schemas.microsoft.com/office/drawing/2014/main" id="{C2FB2483-6568-BAD3-BB53-5499E1417F2D}"/>
              </a:ext>
            </a:extLst>
          </p:cNvPr>
          <p:cNvGrpSpPr/>
          <p:nvPr/>
        </p:nvGrpSpPr>
        <p:grpSpPr>
          <a:xfrm>
            <a:off x="7758397" y="114985"/>
            <a:ext cx="1781744" cy="604476"/>
            <a:chOff x="4232920" y="49957"/>
            <a:chExt cx="1781744" cy="604476"/>
          </a:xfrm>
        </p:grpSpPr>
        <p:sp>
          <p:nvSpPr>
            <p:cNvPr id="13" name="타원 12">
              <a:extLst>
                <a:ext uri="{FF2B5EF4-FFF2-40B4-BE49-F238E27FC236}">
                  <a16:creationId xmlns:a16="http://schemas.microsoft.com/office/drawing/2014/main" id="{D1D4D07B-0969-4043-E6E0-09F9CA8B13AE}"/>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D617382A-BAA5-EDC8-A4F2-7E9CE56CD7D5}"/>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 name="타원 15">
              <a:extLst>
                <a:ext uri="{FF2B5EF4-FFF2-40B4-BE49-F238E27FC236}">
                  <a16:creationId xmlns:a16="http://schemas.microsoft.com/office/drawing/2014/main" id="{9DE25605-3CF9-200C-31E5-63F4AC79C290}"/>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5701D30D-F6E0-A688-6D66-CD9654BC552F}"/>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26" name="타원 25">
              <a:extLst>
                <a:ext uri="{FF2B5EF4-FFF2-40B4-BE49-F238E27FC236}">
                  <a16:creationId xmlns:a16="http://schemas.microsoft.com/office/drawing/2014/main" id="{7ED12CB9-E213-ECC9-E7B1-236D16E536D4}"/>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6DFCFBEC-4271-72F5-D28C-9307ED98C9A3}"/>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338811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a:extLst>
              <a:ext uri="{FF2B5EF4-FFF2-40B4-BE49-F238E27FC236}">
                <a16:creationId xmlns:a16="http://schemas.microsoft.com/office/drawing/2014/main" id="{1127FC96-E8CA-4EB8-B7E5-64A5B2921665}"/>
              </a:ext>
            </a:extLst>
          </p:cNvPr>
          <p:cNvGraphicFramePr>
            <a:graphicFrameLocks noGrp="1"/>
          </p:cNvGraphicFramePr>
          <p:nvPr>
            <p:extLst>
              <p:ext uri="{D42A27DB-BD31-4B8C-83A1-F6EECF244321}">
                <p14:modId xmlns:p14="http://schemas.microsoft.com/office/powerpoint/2010/main" val="2744782371"/>
              </p:ext>
            </p:extLst>
          </p:nvPr>
        </p:nvGraphicFramePr>
        <p:xfrm>
          <a:off x="192000" y="836712"/>
          <a:ext cx="9522000" cy="5091629"/>
        </p:xfrm>
        <a:graphic>
          <a:graphicData uri="http://schemas.openxmlformats.org/drawingml/2006/table">
            <a:tbl>
              <a:tblPr/>
              <a:tblGrid>
                <a:gridCol w="720000">
                  <a:extLst>
                    <a:ext uri="{9D8B030D-6E8A-4147-A177-3AD203B41FA5}">
                      <a16:colId xmlns:a16="http://schemas.microsoft.com/office/drawing/2014/main" val="2758946191"/>
                    </a:ext>
                  </a:extLst>
                </a:gridCol>
                <a:gridCol w="1656000">
                  <a:extLst>
                    <a:ext uri="{9D8B030D-6E8A-4147-A177-3AD203B41FA5}">
                      <a16:colId xmlns:a16="http://schemas.microsoft.com/office/drawing/2014/main" val="3491233003"/>
                    </a:ext>
                  </a:extLst>
                </a:gridCol>
                <a:gridCol w="2901600">
                  <a:extLst>
                    <a:ext uri="{9D8B030D-6E8A-4147-A177-3AD203B41FA5}">
                      <a16:colId xmlns:a16="http://schemas.microsoft.com/office/drawing/2014/main" val="2528590017"/>
                    </a:ext>
                  </a:extLst>
                </a:gridCol>
                <a:gridCol w="698400">
                  <a:extLst>
                    <a:ext uri="{9D8B030D-6E8A-4147-A177-3AD203B41FA5}">
                      <a16:colId xmlns:a16="http://schemas.microsoft.com/office/drawing/2014/main" val="3433318351"/>
                    </a:ext>
                  </a:extLst>
                </a:gridCol>
                <a:gridCol w="3546000">
                  <a:extLst>
                    <a:ext uri="{9D8B030D-6E8A-4147-A177-3AD203B41FA5}">
                      <a16:colId xmlns:a16="http://schemas.microsoft.com/office/drawing/2014/main" val="361195585"/>
                    </a:ext>
                  </a:extLst>
                </a:gridCol>
              </a:tblGrid>
              <a:tr h="216000">
                <a:tc>
                  <a:txBody>
                    <a:bodyPr/>
                    <a:lstStyle/>
                    <a:p>
                      <a:pPr algn="ctr" fontAlgn="ctr"/>
                      <a:r>
                        <a:rPr lang="en-US" altLang="ko-KR" sz="1200" b="1" i="0" u="none" strike="noStrike" dirty="0">
                          <a:solidFill>
                            <a:srgbClr val="000000"/>
                          </a:solidFill>
                          <a:effectLst/>
                          <a:latin typeface="Arial Narrow" panose="020B0606020202030204" pitchFamily="34" charset="0"/>
                          <a:ea typeface="LG스마트체 Regular" panose="020B0600000101010101" pitchFamily="50" charset="-127"/>
                        </a:rPr>
                        <a:t>No.</a:t>
                      </a:r>
                      <a:endPar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Arial Narrow" panose="020B0606020202030204" pitchFamily="34" charset="0"/>
                          <a:ea typeface="LG스마트체 Regular" panose="020B0600000101010101" pitchFamily="50" charset="-127"/>
                        </a:rPr>
                        <a:t>KPI</a:t>
                      </a: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명</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목표</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a:solidFill>
                            <a:srgbClr val="000000"/>
                          </a:solidFill>
                          <a:effectLst/>
                          <a:latin typeface="Arial Narrow" panose="020B0606020202030204" pitchFamily="34" charset="0"/>
                          <a:ea typeface="LG스마트체 Regular" panose="020B0600000101010101" pitchFamily="50" charset="-127"/>
                        </a:rPr>
                        <a:t>진척사항</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a:solidFill>
                            <a:srgbClr val="000000"/>
                          </a:solidFill>
                          <a:effectLst/>
                          <a:latin typeface="Arial Narrow" panose="020B0606020202030204" pitchFamily="34" charset="0"/>
                          <a:ea typeface="LG스마트체 Regular" panose="020B0600000101010101" pitchFamily="50" charset="-127"/>
                        </a:rPr>
                        <a:t>요약</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9525" cap="flat" cmpd="sng" algn="ctr">
                      <a:solidFill>
                        <a:srgbClr val="0000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7973700"/>
                  </a:ext>
                </a:extLst>
              </a:tr>
              <a:tr h="1728232">
                <a:tc>
                  <a:txBody>
                    <a:bodyPr/>
                    <a:lstStyle/>
                    <a:p>
                      <a:pPr algn="ctr" fontAlgn="ctr"/>
                      <a:r>
                        <a:rPr lang="en-US" altLang="ko-KR" sz="1100" b="1" i="0" u="none" strike="noStrike">
                          <a:solidFill>
                            <a:srgbClr val="000000"/>
                          </a:solidFill>
                          <a:effectLst/>
                          <a:latin typeface="Arial Narrow" panose="020B0606020202030204" pitchFamily="34" charset="0"/>
                          <a:ea typeface="LG스마트체 Regular" panose="020B0600000101010101" pitchFamily="50" charset="-127"/>
                        </a:rPr>
                        <a:t>3</a:t>
                      </a:r>
                      <a:endPar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9525" cap="flat" cmpd="sng" algn="ctr">
                      <a:solidFill>
                        <a:srgbClr val="0000FF"/>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tcPr>
                </a:tc>
                <a:tc>
                  <a:txBody>
                    <a:bodyPr/>
                    <a:lstStyle/>
                    <a:p>
                      <a:pPr algn="l" fontAlgn="ctr"/>
                      <a:r>
                        <a:rPr kumimoji="0" lang="ko-KR" altLang="en-US"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수율 조기 </a:t>
                      </a:r>
                      <a:r>
                        <a:rPr kumimoji="0" lang="en-US" altLang="ko-KR"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Ramp Up</a:t>
                      </a:r>
                      <a:r>
                        <a:rPr kumimoji="0" lang="ko-KR" altLang="en-US"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을 위한</a:t>
                      </a:r>
                      <a:br>
                        <a:rPr kumimoji="0" lang="en-US" altLang="ko-KR"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불량 분석</a:t>
                      </a:r>
                      <a:r>
                        <a:rPr kumimoji="0" lang="en-US" altLang="ko-KR"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조치 방안 도출 </a:t>
                      </a:r>
                      <a:br>
                        <a:rPr kumimoji="0" lang="en-US" altLang="ko-KR"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1" i="0" u="none" strike="noStrike" kern="1200" cap="none" spc="-10" normalizeH="0" baseline="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자동화 </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1" i="0" u="none" strike="noStrike" baseline="0">
                          <a:solidFill>
                            <a:schemeClr val="tx1"/>
                          </a:solidFill>
                          <a:effectLst/>
                          <a:latin typeface="Arial Narrow" panose="020B0606020202030204" pitchFamily="34" charset="0"/>
                          <a:ea typeface="LG스마트체 Regular" panose="020B0600000101010101" pitchFamily="50" charset="-127"/>
                        </a:rPr>
                        <a:t>-. ESHD(ESS) </a:t>
                      </a:r>
                      <a:r>
                        <a:rPr lang="ko-KR" altLang="en-US" sz="1100" b="1" i="0" u="none" strike="noStrike" baseline="0">
                          <a:solidFill>
                            <a:schemeClr val="tx1"/>
                          </a:solidFill>
                          <a:effectLst/>
                          <a:latin typeface="Arial Narrow" panose="020B0606020202030204" pitchFamily="34" charset="0"/>
                          <a:ea typeface="LG스마트체 Regular" panose="020B0600000101010101" pitchFamily="50" charset="-127"/>
                        </a:rPr>
                        <a:t>라미 위치 불량 </a:t>
                      </a:r>
                      <a:r>
                        <a:rPr lang="en-US" altLang="ko-KR" sz="1100" b="1" i="0" u="none" strike="noStrike" baseline="0">
                          <a:solidFill>
                            <a:schemeClr val="tx1"/>
                          </a:solidFill>
                          <a:effectLst/>
                          <a:latin typeface="Arial Narrow" panose="020B0606020202030204" pitchFamily="34" charset="0"/>
                          <a:ea typeface="LG스마트체 Regular" panose="020B0600000101010101" pitchFamily="50" charset="-127"/>
                        </a:rPr>
                        <a:t>30% </a:t>
                      </a:r>
                      <a:r>
                        <a:rPr lang="ko-KR" altLang="en-US" sz="1100" b="1" i="0" u="none" strike="noStrike" baseline="0">
                          <a:solidFill>
                            <a:schemeClr val="tx1"/>
                          </a:solidFill>
                          <a:effectLst/>
                          <a:latin typeface="Arial Narrow" panose="020B0606020202030204" pitchFamily="34" charset="0"/>
                          <a:ea typeface="LG스마트체 Regular" panose="020B0600000101010101" pitchFamily="50" charset="-127"/>
                        </a:rPr>
                        <a:t>개선 </a:t>
                      </a:r>
                      <a:r>
                        <a:rPr lang="en-US" altLang="ko-KR" sz="1100" b="1" i="0" u="none" strike="noStrike" baseline="0">
                          <a:solidFill>
                            <a:schemeClr val="tx1"/>
                          </a:solidFill>
                          <a:effectLst/>
                          <a:latin typeface="Arial Narrow" panose="020B0606020202030204" pitchFamily="34" charset="0"/>
                          <a:ea typeface="LG스마트체 Regular" panose="020B0600000101010101" pitchFamily="50" charset="-127"/>
                        </a:rPr>
                        <a:t>[</a:t>
                      </a:r>
                      <a:r>
                        <a:rPr lang="ko-KR" altLang="en-US" sz="1100" b="1" i="0" u="none" strike="noStrike" baseline="0">
                          <a:solidFill>
                            <a:schemeClr val="tx1"/>
                          </a:solidFill>
                          <a:effectLst/>
                          <a:latin typeface="Arial Narrow" panose="020B0606020202030204" pitchFamily="34" charset="0"/>
                          <a:ea typeface="LG스마트체 Regular" panose="020B0600000101010101" pitchFamily="50" charset="-127"/>
                        </a:rPr>
                        <a:t>연간목표</a:t>
                      </a:r>
                      <a:r>
                        <a:rPr lang="en-US" altLang="ko-KR" sz="1100" b="1" i="0" u="none" strike="noStrike" baseline="0">
                          <a:solidFill>
                            <a:schemeClr val="tx1"/>
                          </a:solidFill>
                          <a:effectLst/>
                          <a:latin typeface="Arial Narrow" panose="020B0606020202030204" pitchFamily="34" charset="0"/>
                          <a:ea typeface="LG스마트체 Regular" panose="020B0600000101010101" pitchFamily="50" charset="-127"/>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1" i="0" u="none" strike="noStrike" baseline="0">
                          <a:solidFill>
                            <a:schemeClr val="tx1"/>
                          </a:solidFill>
                          <a:effectLst/>
                          <a:latin typeface="Arial Narrow" panose="020B0606020202030204" pitchFamily="34" charset="0"/>
                          <a:ea typeface="LG스마트체 Regular" panose="020B0600000101010101" pitchFamily="50" charset="-127"/>
                        </a:rPr>
                        <a:t>    </a:t>
                      </a:r>
                      <a: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t>2Q : </a:t>
                      </a:r>
                      <a:r>
                        <a:rPr lang="ko-KR" altLang="en-US" sz="1100" b="0" i="0" u="none" strike="noStrike" baseline="0">
                          <a:solidFill>
                            <a:schemeClr val="tx1"/>
                          </a:solidFill>
                          <a:effectLst/>
                          <a:latin typeface="Arial Narrow" panose="020B0606020202030204" pitchFamily="34" charset="0"/>
                          <a:ea typeface="LG스마트체 Regular" panose="020B0600000101010101" pitchFamily="50" charset="-127"/>
                        </a:rPr>
                        <a:t>연관 인자간 유의차 자동 선별 가능 로직 </a:t>
                      </a:r>
                      <a:b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br>
                      <a: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t>            </a:t>
                      </a:r>
                      <a:r>
                        <a:rPr lang="ko-KR" altLang="en-US" sz="1100" b="0" i="0" u="none" strike="noStrike" baseline="0">
                          <a:solidFill>
                            <a:schemeClr val="tx1"/>
                          </a:solidFill>
                          <a:effectLst/>
                          <a:latin typeface="Arial Narrow" panose="020B0606020202030204" pitchFamily="34" charset="0"/>
                          <a:ea typeface="LG스마트체 Regular" panose="020B0600000101010101" pitchFamily="50" charset="-127"/>
                        </a:rPr>
                        <a:t>개발 및 활용 </a:t>
                      </a:r>
                      <a:b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br>
                      <a: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t>    3Q : </a:t>
                      </a:r>
                      <a:r>
                        <a:rPr lang="ko-KR" altLang="en-US" sz="1100" b="0" i="0" u="none" strike="noStrike" baseline="0">
                          <a:solidFill>
                            <a:schemeClr val="tx1"/>
                          </a:solidFill>
                          <a:effectLst/>
                          <a:latin typeface="Arial Narrow" panose="020B0606020202030204" pitchFamily="34" charset="0"/>
                          <a:ea typeface="LG스마트체 Regular" panose="020B0600000101010101" pitchFamily="50" charset="-127"/>
                        </a:rPr>
                        <a:t>유의 인자 별 조치 필요 사항 자동 확인 로직   </a:t>
                      </a:r>
                      <a:b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br>
                      <a:r>
                        <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rPr>
                        <a:t>            </a:t>
                      </a:r>
                      <a:r>
                        <a:rPr lang="ko-KR" altLang="en-US" sz="1100" b="0" i="0" u="none" strike="noStrike" baseline="0">
                          <a:solidFill>
                            <a:schemeClr val="tx1"/>
                          </a:solidFill>
                          <a:effectLst/>
                          <a:latin typeface="Arial Narrow" panose="020B0606020202030204" pitchFamily="34" charset="0"/>
                          <a:ea typeface="LG스마트체 Regular" panose="020B0600000101010101" pitchFamily="50" charset="-127"/>
                        </a:rPr>
                        <a:t>개발 및 활용</a:t>
                      </a:r>
                      <a:endParaRPr lang="en-US" altLang="ko-KR" sz="1100" b="0" i="0" u="none" strike="noStrike" baseline="0">
                        <a:solidFill>
                          <a:schemeClr val="tx1"/>
                        </a:solidFill>
                        <a:effectLst/>
                        <a:latin typeface="Arial Narrow" panose="020B0606020202030204" pitchFamily="34" charset="0"/>
                        <a:ea typeface="LG스마트체 Regular" panose="020B0600000101010101" pitchFamily="50" charset="-127"/>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0" i="0" u="none" strike="noStrike" baseline="0">
                          <a:solidFill>
                            <a:srgbClr val="006600"/>
                          </a:solidFill>
                          <a:effectLst/>
                          <a:latin typeface="Arial Narrow" panose="020B0606020202030204" pitchFamily="34" charset="0"/>
                          <a:ea typeface="LG스마트체 Regular" panose="020B0600000101010101" pitchFamily="50" charset="-127"/>
                        </a:rPr>
                        <a:t>    D : ’26.11</a:t>
                      </a:r>
                      <a:r>
                        <a:rPr lang="ko-KR" altLang="en-US" sz="1100" b="0" i="0" u="none" strike="noStrike" baseline="0">
                          <a:solidFill>
                            <a:srgbClr val="006600"/>
                          </a:solidFill>
                          <a:effectLst/>
                          <a:latin typeface="Arial Narrow" panose="020B0606020202030204" pitchFamily="34" charset="0"/>
                          <a:ea typeface="LG스마트체 Regular" panose="020B0600000101010101" pitchFamily="50" charset="-127"/>
                        </a:rPr>
                        <a:t>월</a:t>
                      </a:r>
                      <a:r>
                        <a:rPr lang="ko-KR" altLang="en-US" sz="1100" b="0" i="0" u="none" strike="noStrike">
                          <a:solidFill>
                            <a:srgbClr val="000000"/>
                          </a:solidFill>
                          <a:effectLst/>
                          <a:latin typeface="Arial Narrow" panose="020B0606020202030204" pitchFamily="34" charset="0"/>
                          <a:ea typeface="LG스마트체 Regular" panose="020B0600000101010101" pitchFamily="50" charset="-127"/>
                        </a:rPr>
                        <a:t>　</a:t>
                      </a: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tcPr>
                </a:tc>
                <a:tc>
                  <a:txBody>
                    <a:bodyPr/>
                    <a:lstStyle/>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endParaRPr lang="en-US" altLang="ko-KR" sz="1100" b="0" i="0" u="none" strike="noStrike">
                        <a:solidFill>
                          <a:srgbClr val="000000"/>
                        </a:solidFill>
                        <a:effectLst/>
                        <a:latin typeface="Arial Narrow" panose="020B0606020202030204" pitchFamily="34" charset="0"/>
                        <a:ea typeface="LG스마트체 Regular" panose="020B0600000101010101" pitchFamily="50" charset="-127"/>
                      </a:endParaRPr>
                    </a:p>
                    <a:p>
                      <a:pPr algn="ctr" fontAlgn="ctr"/>
                      <a:r>
                        <a:rPr lang="ko-KR" altLang="en-US" sz="1100" b="0" i="0" u="none" strike="noStrike">
                          <a:solidFill>
                            <a:srgbClr val="000000"/>
                          </a:solidFill>
                          <a:effectLst/>
                          <a:latin typeface="Arial Narrow" panose="020B0606020202030204" pitchFamily="34" charset="0"/>
                          <a:ea typeface="LG스마트체 Regular" panose="020B0600000101010101" pitchFamily="50" charset="-127"/>
                        </a:rPr>
                        <a:t>　</a:t>
                      </a: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tcPr>
                </a:tc>
                <a:tc>
                  <a:txBody>
                    <a:bodyPr/>
                    <a:lstStyle/>
                    <a:p>
                      <a:pPr marL="0" marR="0" lvl="0" indent="0" algn="l" defTabSz="914400" rtl="0" eaLnBrk="1" fontAlgn="ctr" latinLnBrk="1" hangingPunct="1">
                        <a:lnSpc>
                          <a:spcPct val="100000"/>
                        </a:lnSpc>
                        <a:spcBef>
                          <a:spcPts val="200"/>
                        </a:spcBef>
                        <a:spcAft>
                          <a:spcPts val="100"/>
                        </a:spcAft>
                        <a:buClrTx/>
                        <a:buSzTx/>
                        <a:buFont typeface="Arial" panose="020B0604020202020204" pitchFamily="34" charset="0"/>
                        <a:buChar char="•"/>
                        <a:tabLst/>
                        <a:defRPr/>
                      </a:pPr>
                      <a:r>
                        <a:rPr kumimoji="0" lang="en-US" altLang="ko-KR" sz="11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X</a:t>
                      </a:r>
                      <a:r>
                        <a:rPr kumimoji="0" lang="ko-KR" altLang="en-US" sz="11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축 조치 추천 체계 </a:t>
                      </a:r>
                      <a:r>
                        <a:rPr kumimoji="0" lang="en-US" altLang="ko-KR" sz="11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HD </a:t>
                      </a:r>
                      <a:r>
                        <a:rPr kumimoji="0" lang="ko-KR" altLang="en-US" sz="1100" b="1"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적용</a:t>
                      </a:r>
                      <a:br>
                        <a:rPr kumimoji="0" lang="en-US" altLang="ko-KR" sz="14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6</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0.13% → 8</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0.07% (▼0.06%p, 46.2%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개선</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b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WA</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에서 개발한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X</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축 불량 조치 진단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Report ESHD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개발 완료</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(7/7) </a:t>
                      </a:r>
                      <a:b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HD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법인 대상 불량 및 조치 추천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Report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설명회 진행</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(8/4) </a:t>
                      </a:r>
                      <a:b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활용에 대한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Needs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확보</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3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VoE</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반영 후 운영 예정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(~9/11)</a:t>
                      </a:r>
                      <a:b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a:t>
                      </a:r>
                      <a:r>
                        <a:rPr kumimoji="0" lang="en-US" altLang="ko-KR" sz="1000" b="0" i="0" u="none" strike="noStrike" kern="1200" cap="none" spc="-3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VoE</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사항 </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Cp, </a:t>
                      </a:r>
                      <a:r>
                        <a:rPr kumimoji="0" lang="en-US" altLang="ko-KR" sz="1000" b="0" i="0" u="none" strike="noStrike" kern="1200" cap="none" spc="-3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Cpk</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모니터링도 포함</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활용</a:t>
                      </a:r>
                    </a:p>
                  </a:txBody>
                  <a:tcPr marL="9525" marR="9525" marT="9525" marB="0" anchor="ctr">
                    <a:lnL w="6350" cap="flat" cmpd="sng" algn="ctr">
                      <a:solidFill>
                        <a:schemeClr val="bg1">
                          <a:lumMod val="50000"/>
                        </a:schemeClr>
                      </a:solidFill>
                      <a:prstDash val="solid"/>
                      <a:round/>
                      <a:headEnd type="none" w="med" len="med"/>
                      <a:tailEnd type="none" w="med" len="med"/>
                    </a:lnL>
                    <a:lnR w="9525" cap="flat" cmpd="sng" algn="ctr">
                      <a:solidFill>
                        <a:srgbClr val="0000FF"/>
                      </a:solidFill>
                      <a:prstDash val="solid"/>
                      <a:round/>
                      <a:headEnd type="none" w="med" len="med"/>
                      <a:tailEnd type="none" w="med" len="med"/>
                    </a:lnR>
                    <a:lnT w="9525" cap="flat" cmpd="sng" algn="ctr">
                      <a:solidFill>
                        <a:srgbClr val="0000FF"/>
                      </a:solidFill>
                      <a:prstDash val="solid"/>
                      <a:round/>
                      <a:headEnd type="none" w="med" len="med"/>
                      <a:tailEnd type="none" w="med" len="med"/>
                    </a:lnT>
                    <a:lnB w="9525" cap="flat" cmpd="sng" algn="ctr">
                      <a:solidFill>
                        <a:srgbClr val="0000FF"/>
                      </a:solidFill>
                      <a:prstDash val="solid"/>
                      <a:round/>
                      <a:headEnd type="none" w="med" len="med"/>
                      <a:tailEnd type="none" w="med" len="med"/>
                    </a:lnB>
                  </a:tcPr>
                </a:tc>
                <a:extLst>
                  <a:ext uri="{0D108BD9-81ED-4DB2-BD59-A6C34878D82A}">
                    <a16:rowId xmlns:a16="http://schemas.microsoft.com/office/drawing/2014/main" val="2603747214"/>
                  </a:ext>
                </a:extLst>
              </a:tr>
              <a:tr h="2016224">
                <a:tc>
                  <a:txBody>
                    <a:bodyPr/>
                    <a:lstStyle/>
                    <a:p>
                      <a:pPr algn="ctr" fontAlgn="ctr"/>
                      <a: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t>4</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l" fontAlgn="ctr"/>
                      <a:r>
                        <a:rPr kumimoji="0" lang="ko-KR" altLang="en-US" sz="1100" b="1" i="0" u="none" strike="noStrike" kern="1200" cap="none" spc="-1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n-cs"/>
                        </a:rPr>
                        <a:t>라미 불량 분석 </a:t>
                      </a:r>
                      <a:r>
                        <a:rPr kumimoji="0" lang="en-US" altLang="ko-KR" sz="1100" b="1" i="0" u="none" strike="noStrike" kern="1200" cap="none" spc="-1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n-cs"/>
                        </a:rPr>
                        <a:t>AI Agent </a:t>
                      </a:r>
                      <a:r>
                        <a:rPr kumimoji="0" lang="ko-KR" altLang="en-US" sz="1100" b="1" i="0" u="none" strike="noStrike" kern="1200" cap="none" spc="-1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n-cs"/>
                        </a:rPr>
                        <a:t>개발　</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분석 정확성 </a:t>
                      </a: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90% </a:t>
                      </a: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이상 달성 </a:t>
                      </a: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1100" b="1" i="0" u="none" strike="noStrike" dirty="0">
                          <a:solidFill>
                            <a:schemeClr val="tx1"/>
                          </a:solidFill>
                          <a:effectLst/>
                          <a:latin typeface="Arial Narrow" panose="020B0606020202030204" pitchFamily="34" charset="0"/>
                          <a:ea typeface="LG스마트체 Regular" panose="020B0600000101010101" pitchFamily="50" charset="-127"/>
                        </a:rPr>
                        <a:t>연간목표</a:t>
                      </a:r>
                      <a:r>
                        <a:rPr lang="en-US" altLang="ko-KR" sz="1100" b="1" i="0" u="none" strike="noStrike" dirty="0">
                          <a:solidFill>
                            <a:schemeClr val="tx1"/>
                          </a:solidFill>
                          <a:effectLst/>
                          <a:latin typeface="Arial Narrow" panose="020B0606020202030204" pitchFamily="34" charset="0"/>
                          <a:ea typeface="LG스마트체 Regular" panose="020B0600000101010101" pitchFamily="50" charset="-127"/>
                        </a:rPr>
                        <a:t>]</a:t>
                      </a:r>
                      <a:br>
                        <a:rPr lang="en-US" altLang="ko-KR" sz="1100" b="1" kern="1200" spc="0" dirty="0">
                          <a:solidFill>
                            <a:schemeClr val="tx1"/>
                          </a:solidFill>
                          <a:latin typeface="Arial Narrow" panose="020B0606020202030204" pitchFamily="34" charset="0"/>
                          <a:ea typeface="LG스마트체 Regular" panose="020B0600000101010101" pitchFamily="50" charset="-127"/>
                          <a:cs typeface="+mn-cs"/>
                        </a:rPr>
                      </a:b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   3Q</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주요 기능 최적화 및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AI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서비스 화면 개발</a:t>
                      </a:r>
                      <a:endParaRPr lang="en-US" altLang="ko-KR" sz="1100" b="0" kern="1200" spc="0" dirty="0">
                        <a:solidFill>
                          <a:srgbClr val="006600"/>
                        </a:solidFill>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0" i="0" u="none" strike="noStrike" dirty="0">
                          <a:solidFill>
                            <a:srgbClr val="006600"/>
                          </a:solidFill>
                          <a:effectLst/>
                          <a:latin typeface="Arial Narrow" panose="020B0606020202030204" pitchFamily="34" charset="0"/>
                          <a:ea typeface="LG스마트체 Regular" panose="020B0600000101010101" pitchFamily="50" charset="-127"/>
                        </a:rPr>
                        <a:t>   D : ’26.11</a:t>
                      </a:r>
                      <a:r>
                        <a:rPr lang="ko-KR" altLang="en-US" sz="1100" b="0" i="0" u="none" strike="noStrike" dirty="0">
                          <a:solidFill>
                            <a:srgbClr val="006600"/>
                          </a:solidFill>
                          <a:effectLst/>
                          <a:latin typeface="Arial Narrow" panose="020B0606020202030204" pitchFamily="34" charset="0"/>
                          <a:ea typeface="LG스마트체 Regular" panose="020B0600000101010101" pitchFamily="50" charset="-127"/>
                        </a:rPr>
                        <a:t>월</a:t>
                      </a: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r>
                        <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rPr>
                        <a:t>　</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3Q, </a:t>
                      </a:r>
                      <a:r>
                        <a:rPr kumimoji="0" lang="ko-KR" altLang="en-US"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주요 기능 최적화 및 </a:t>
                      </a:r>
                      <a:r>
                        <a:rPr kumimoji="0" lang="en-US" altLang="ko-KR"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AI </a:t>
                      </a:r>
                      <a:r>
                        <a:rPr kumimoji="0" lang="ko-KR" altLang="en-US"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서비스 화면 개발</a:t>
                      </a:r>
                      <a:endParaRPr kumimoji="0" lang="en-US" altLang="ko-KR"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3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‘26.8</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 실적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WA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向 수율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Report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및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AI Bot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배포</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(‘26.7), </a:t>
                      </a:r>
                      <a:r>
                        <a:rPr kumimoji="0" lang="en-US" altLang="ko-KR" sz="1000" b="0" i="0" u="none" strike="noStrike" kern="1200" cap="none" spc="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VoE</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지속 반영</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Core XAI Engine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분석 성능 보완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(~’26.9)</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신규 수집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Data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기반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Solution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추가</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합치→장변</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/Final Cut)</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Y</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축 재료교체 시점 선정 외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EPC Data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추이</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산포 기반 분석 반영</a:t>
                      </a:r>
                      <a: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b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Report</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발행일 기준</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D-3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D-1</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으로 분석시점 단축</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(~’26.10, SW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수정</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br>
                        <a:rPr kumimoji="0"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br>
                        <a:rPr kumimoji="1" lang="en-US" altLang="ko-KR" sz="1000" b="0" i="0" u="none" strike="noStrike" kern="1200" cap="none" spc="-3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북미</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(MI)</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확산전개</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(~’26.11)</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MI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인프라 구축</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(’26.9),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대표라인</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개발</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(’26.10),</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수평전개</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(’26.11)</a:t>
                      </a:r>
                      <a:endParaRPr kumimoji="0" lang="en-US" altLang="ko-KR" sz="105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9525" cap="flat" cmpd="sng" algn="ctr">
                      <a:solidFill>
                        <a:srgbClr val="0000FF"/>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92599772"/>
                  </a:ext>
                </a:extLst>
              </a:tr>
            </a:tbl>
          </a:graphicData>
        </a:graphic>
      </p:graphicFrame>
      <p:sp>
        <p:nvSpPr>
          <p:cNvPr id="2" name="타원 1">
            <a:extLst>
              <a:ext uri="{FF2B5EF4-FFF2-40B4-BE49-F238E27FC236}">
                <a16:creationId xmlns:a16="http://schemas.microsoft.com/office/drawing/2014/main" id="{D0099445-A913-3F3B-8ACE-58941E2FBE84}"/>
              </a:ext>
            </a:extLst>
          </p:cNvPr>
          <p:cNvSpPr>
            <a:spLocks noChangeAspect="1"/>
          </p:cNvSpPr>
          <p:nvPr/>
        </p:nvSpPr>
        <p:spPr>
          <a:xfrm>
            <a:off x="5749785" y="2384904"/>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latinLnBrk="0">
              <a:lnSpc>
                <a:spcPct val="120000"/>
              </a:lnSpc>
            </a:pPr>
            <a:endParaRPr lang="ko-KR" altLang="en-US" sz="700" spc="-30">
              <a:solidFill>
                <a:srgbClr val="FFFFFF"/>
              </a:solidFill>
              <a:latin typeface="Calibri" panose="020F0502020204030204"/>
              <a:ea typeface="맑은 고딕" panose="020B0503020000020004" pitchFamily="50" charset="-127"/>
            </a:endParaRPr>
          </a:p>
        </p:txBody>
      </p:sp>
      <p:sp>
        <p:nvSpPr>
          <p:cNvPr id="11" name="사각형: 둥근 모서리 10">
            <a:extLst>
              <a:ext uri="{FF2B5EF4-FFF2-40B4-BE49-F238E27FC236}">
                <a16:creationId xmlns:a16="http://schemas.microsoft.com/office/drawing/2014/main" id="{7C1A4E23-0F46-8148-F0F1-03E203E76CA8}"/>
              </a:ext>
            </a:extLst>
          </p:cNvPr>
          <p:cNvSpPr/>
          <p:nvPr/>
        </p:nvSpPr>
        <p:spPr>
          <a:xfrm>
            <a:off x="1919525" y="1988840"/>
            <a:ext cx="432000" cy="166650"/>
          </a:xfrm>
          <a:prstGeom prst="roundRect">
            <a:avLst/>
          </a:prstGeom>
          <a:solidFill>
            <a:srgbClr val="006600"/>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1" i="0" u="none" strike="noStrike" kern="1200" cap="none" spc="0" normalizeH="0" baseline="0" noProof="0" dirty="0" err="1">
                <a:ln>
                  <a:noFill/>
                </a:ln>
                <a:solidFill>
                  <a:prstClr val="white"/>
                </a:solidFill>
                <a:effectLst/>
                <a:uLnTx/>
                <a:uFillTx/>
                <a:latin typeface="Arial Narrow" panose="020B0606020202030204" pitchFamily="34" charset="0"/>
                <a:ea typeface="LG스마트체 regular" panose="020B0600000101010101" pitchFamily="50" charset="-127"/>
                <a:cs typeface="+mn-cs"/>
              </a:rPr>
              <a:t>그룹장</a:t>
            </a:r>
            <a:endParaRPr kumimoji="0" lang="ko-KR" altLang="en-US" sz="1000" b="1" i="0" u="none" strike="noStrike" kern="1200" cap="none" spc="0" normalizeH="0" baseline="0" noProof="0" dirty="0">
              <a:ln>
                <a:noFill/>
              </a:ln>
              <a:solidFill>
                <a:prstClr val="white"/>
              </a:solidFill>
              <a:effectLst/>
              <a:uLnTx/>
              <a:uFillTx/>
              <a:latin typeface="Arial Narrow" panose="020B0606020202030204" pitchFamily="34" charset="0"/>
              <a:ea typeface="LG스마트체 regular" panose="020B0600000101010101" pitchFamily="50" charset="-127"/>
              <a:cs typeface="+mn-cs"/>
            </a:endParaRPr>
          </a:p>
        </p:txBody>
      </p:sp>
      <p:sp>
        <p:nvSpPr>
          <p:cNvPr id="12" name="타원 11">
            <a:extLst>
              <a:ext uri="{FF2B5EF4-FFF2-40B4-BE49-F238E27FC236}">
                <a16:creationId xmlns:a16="http://schemas.microsoft.com/office/drawing/2014/main" id="{4BE733BD-EE3A-31B6-600E-4412EA7BB6B2}"/>
              </a:ext>
            </a:extLst>
          </p:cNvPr>
          <p:cNvSpPr>
            <a:spLocks noChangeAspect="1"/>
          </p:cNvSpPr>
          <p:nvPr/>
        </p:nvSpPr>
        <p:spPr>
          <a:xfrm>
            <a:off x="5745088" y="4761168"/>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grpSp>
        <p:nvGrpSpPr>
          <p:cNvPr id="6" name="그룹 5">
            <a:extLst>
              <a:ext uri="{FF2B5EF4-FFF2-40B4-BE49-F238E27FC236}">
                <a16:creationId xmlns:a16="http://schemas.microsoft.com/office/drawing/2014/main" id="{F4757084-7D43-A070-C3E8-A5ADFAEB86E8}"/>
              </a:ext>
            </a:extLst>
          </p:cNvPr>
          <p:cNvGrpSpPr/>
          <p:nvPr/>
        </p:nvGrpSpPr>
        <p:grpSpPr>
          <a:xfrm>
            <a:off x="109414" y="216167"/>
            <a:ext cx="1867819" cy="403380"/>
            <a:chOff x="210051" y="188640"/>
            <a:chExt cx="1867819" cy="403380"/>
          </a:xfrm>
        </p:grpSpPr>
        <p:sp>
          <p:nvSpPr>
            <p:cNvPr id="10" name="TextBox 9">
              <a:extLst>
                <a:ext uri="{FF2B5EF4-FFF2-40B4-BE49-F238E27FC236}">
                  <a16:creationId xmlns:a16="http://schemas.microsoft.com/office/drawing/2014/main" id="{647DF6DC-C20A-0E1F-EDA6-334593DA441B}"/>
                </a:ext>
              </a:extLst>
            </p:cNvPr>
            <p:cNvSpPr txBox="1"/>
            <p:nvPr/>
          </p:nvSpPr>
          <p:spPr>
            <a:xfrm>
              <a:off x="210051" y="188640"/>
              <a:ext cx="1867819" cy="403380"/>
            </a:xfrm>
            <a:prstGeom prst="rect">
              <a:avLst/>
            </a:prstGeom>
            <a:noFill/>
          </p:spPr>
          <p:txBody>
            <a:bodyPr wrap="none" rtlCol="0">
              <a:spAutoFit/>
            </a:bodyPr>
            <a:lstStyle/>
            <a:p>
              <a:pPr marL="0" marR="0" lvl="0" indent="0" algn="l" defTabSz="914400" rtl="0" eaLnBrk="1" fontAlgn="auto" latinLnBrk="1" hangingPunct="1">
                <a:lnSpc>
                  <a:spcPct val="110000"/>
                </a:lnSpc>
                <a:spcBef>
                  <a:spcPts val="300"/>
                </a:spcBef>
                <a:spcAft>
                  <a:spcPts val="0"/>
                </a:spcAft>
                <a:buClrTx/>
                <a:buSzTx/>
                <a:buFontTx/>
                <a:buNone/>
                <a:tabLst/>
                <a:defRPr/>
              </a:pPr>
              <a:r>
                <a:rPr kumimoji="0" lang="en-US" altLang="ko-KR" sz="2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 Summary (2/3)</a:t>
              </a:r>
              <a:endParaRPr kumimoji="0" lang="ko-KR" altLang="en-US" sz="2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13" name="직선 연결선 12">
              <a:extLst>
                <a:ext uri="{FF2B5EF4-FFF2-40B4-BE49-F238E27FC236}">
                  <a16:creationId xmlns:a16="http://schemas.microsoft.com/office/drawing/2014/main" id="{849875B3-B801-66D4-C9B2-BC636DFC752A}"/>
                </a:ext>
              </a:extLst>
            </p:cNvPr>
            <p:cNvCxnSpPr>
              <a:cxnSpLocks/>
            </p:cNvCxnSpPr>
            <p:nvPr/>
          </p:nvCxnSpPr>
          <p:spPr>
            <a:xfrm flipH="1">
              <a:off x="283918" y="563654"/>
              <a:ext cx="173624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실행 단추: 앞으로 또는 다음 258">
            <a:hlinkClick r:id="rId3" action="ppaction://hlinksldjump" highlightClick="1"/>
            <a:extLst>
              <a:ext uri="{FF2B5EF4-FFF2-40B4-BE49-F238E27FC236}">
                <a16:creationId xmlns:a16="http://schemas.microsoft.com/office/drawing/2014/main" id="{05D184D0-8CA2-43B5-BED7-497B97677481}"/>
              </a:ext>
            </a:extLst>
          </p:cNvPr>
          <p:cNvSpPr/>
          <p:nvPr/>
        </p:nvSpPr>
        <p:spPr>
          <a:xfrm>
            <a:off x="5241032" y="5457055"/>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a:ln>
                <a:noFill/>
              </a:ln>
              <a:solidFill>
                <a:srgbClr val="0E2841"/>
              </a:solidFill>
              <a:effectLst/>
              <a:uLnTx/>
              <a:uFillTx/>
              <a:latin typeface="Arial Narrow" panose="020B0606020202030204" pitchFamily="34" charset="0"/>
              <a:ea typeface="LG스마트체 Regular" panose="020B0600000101010101" pitchFamily="50" charset="-127"/>
              <a:cs typeface="+mn-cs"/>
            </a:endParaRPr>
          </a:p>
        </p:txBody>
      </p:sp>
      <p:sp>
        <p:nvSpPr>
          <p:cNvPr id="3" name="TextBox 2">
            <a:extLst>
              <a:ext uri="{FF2B5EF4-FFF2-40B4-BE49-F238E27FC236}">
                <a16:creationId xmlns:a16="http://schemas.microsoft.com/office/drawing/2014/main" id="{A970C8B2-B2F4-18D8-7ADE-063CC7F606A5}"/>
              </a:ext>
            </a:extLst>
          </p:cNvPr>
          <p:cNvSpPr txBox="1"/>
          <p:nvPr/>
        </p:nvSpPr>
        <p:spPr>
          <a:xfrm>
            <a:off x="4750612" y="6622748"/>
            <a:ext cx="404777"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 / 3 - </a:t>
            </a:r>
          </a:p>
        </p:txBody>
      </p:sp>
      <p:sp>
        <p:nvSpPr>
          <p:cNvPr id="8" name="TextBox 7">
            <a:extLst>
              <a:ext uri="{FF2B5EF4-FFF2-40B4-BE49-F238E27FC236}">
                <a16:creationId xmlns:a16="http://schemas.microsoft.com/office/drawing/2014/main" id="{B631884F-D66A-7FE1-8CA0-051819835EAD}"/>
              </a:ext>
            </a:extLst>
          </p:cNvPr>
          <p:cNvSpPr txBox="1"/>
          <p:nvPr/>
        </p:nvSpPr>
        <p:spPr>
          <a:xfrm>
            <a:off x="11562735" y="4424516"/>
            <a:ext cx="184731" cy="369332"/>
          </a:xfrm>
          <a:prstGeom prst="rect">
            <a:avLst/>
          </a:prstGeom>
          <a:noFill/>
        </p:spPr>
        <p:txBody>
          <a:bodyPr wrap="none" rtlCol="0">
            <a:spAutoFit/>
          </a:bodyPr>
          <a:lstStyle/>
          <a:p>
            <a:endParaRPr lang="ko-KR" altLang="en-US" dirty="0"/>
          </a:p>
        </p:txBody>
      </p:sp>
      <p:graphicFrame>
        <p:nvGraphicFramePr>
          <p:cNvPr id="14" name="표 13">
            <a:extLst>
              <a:ext uri="{FF2B5EF4-FFF2-40B4-BE49-F238E27FC236}">
                <a16:creationId xmlns:a16="http://schemas.microsoft.com/office/drawing/2014/main" id="{9C4C9B61-93AF-2567-582F-BA98CBF34D43}"/>
              </a:ext>
            </a:extLst>
          </p:cNvPr>
          <p:cNvGraphicFramePr>
            <a:graphicFrameLocks noGrp="1"/>
          </p:cNvGraphicFramePr>
          <p:nvPr>
            <p:extLst>
              <p:ext uri="{D42A27DB-BD31-4B8C-83A1-F6EECF244321}">
                <p14:modId xmlns:p14="http://schemas.microsoft.com/office/powerpoint/2010/main" val="1974069769"/>
              </p:ext>
            </p:extLst>
          </p:nvPr>
        </p:nvGraphicFramePr>
        <p:xfrm>
          <a:off x="6409230" y="3015619"/>
          <a:ext cx="2878333" cy="485389"/>
        </p:xfrm>
        <a:graphic>
          <a:graphicData uri="http://schemas.openxmlformats.org/drawingml/2006/table">
            <a:tbl>
              <a:tblPr/>
              <a:tblGrid>
                <a:gridCol w="1222125">
                  <a:extLst>
                    <a:ext uri="{9D8B030D-6E8A-4147-A177-3AD203B41FA5}">
                      <a16:colId xmlns:a16="http://schemas.microsoft.com/office/drawing/2014/main" val="1220292543"/>
                    </a:ext>
                  </a:extLst>
                </a:gridCol>
                <a:gridCol w="322506">
                  <a:extLst>
                    <a:ext uri="{9D8B030D-6E8A-4147-A177-3AD203B41FA5}">
                      <a16:colId xmlns:a16="http://schemas.microsoft.com/office/drawing/2014/main" val="3093194829"/>
                    </a:ext>
                  </a:extLst>
                </a:gridCol>
                <a:gridCol w="322506">
                  <a:extLst>
                    <a:ext uri="{9D8B030D-6E8A-4147-A177-3AD203B41FA5}">
                      <a16:colId xmlns:a16="http://schemas.microsoft.com/office/drawing/2014/main" val="1270165823"/>
                    </a:ext>
                  </a:extLst>
                </a:gridCol>
                <a:gridCol w="322506">
                  <a:extLst>
                    <a:ext uri="{9D8B030D-6E8A-4147-A177-3AD203B41FA5}">
                      <a16:colId xmlns:a16="http://schemas.microsoft.com/office/drawing/2014/main" val="2299555173"/>
                    </a:ext>
                  </a:extLst>
                </a:gridCol>
                <a:gridCol w="43678">
                  <a:extLst>
                    <a:ext uri="{9D8B030D-6E8A-4147-A177-3AD203B41FA5}">
                      <a16:colId xmlns:a16="http://schemas.microsoft.com/office/drawing/2014/main" val="1737061280"/>
                    </a:ext>
                  </a:extLst>
                </a:gridCol>
                <a:gridCol w="322506">
                  <a:extLst>
                    <a:ext uri="{9D8B030D-6E8A-4147-A177-3AD203B41FA5}">
                      <a16:colId xmlns:a16="http://schemas.microsoft.com/office/drawing/2014/main" val="2704916649"/>
                    </a:ext>
                  </a:extLst>
                </a:gridCol>
                <a:gridCol w="322506">
                  <a:extLst>
                    <a:ext uri="{9D8B030D-6E8A-4147-A177-3AD203B41FA5}">
                      <a16:colId xmlns:a16="http://schemas.microsoft.com/office/drawing/2014/main" val="438030659"/>
                    </a:ext>
                  </a:extLst>
                </a:gridCol>
              </a:tblGrid>
              <a:tr h="159968">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위치불량</a:t>
                      </a:r>
                      <a:endParaRPr lang="en-US" sz="1000" b="1"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’26.6</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’26.7</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’26.8</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endPar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W34</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W35</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12166857"/>
                  </a:ext>
                </a:extLst>
              </a:tr>
              <a:tr h="160159">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X</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축 위치 불량</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0.09</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0.05</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0.04</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0.05</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0.04</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179492"/>
                  </a:ext>
                </a:extLst>
              </a:tr>
              <a:tr h="160159">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Y</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축 위치 불량</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0.04</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0.04</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0.03</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0.02</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0.02</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536799"/>
                  </a:ext>
                </a:extLst>
              </a:tr>
            </a:tbl>
          </a:graphicData>
        </a:graphic>
      </p:graphicFrame>
      <p:grpSp>
        <p:nvGrpSpPr>
          <p:cNvPr id="4" name="그룹 3">
            <a:extLst>
              <a:ext uri="{FF2B5EF4-FFF2-40B4-BE49-F238E27FC236}">
                <a16:creationId xmlns:a16="http://schemas.microsoft.com/office/drawing/2014/main" id="{CC6A2C98-3202-195A-9D3D-5C092A4B9466}"/>
              </a:ext>
            </a:extLst>
          </p:cNvPr>
          <p:cNvGrpSpPr/>
          <p:nvPr/>
        </p:nvGrpSpPr>
        <p:grpSpPr>
          <a:xfrm>
            <a:off x="7758397" y="114985"/>
            <a:ext cx="1781744" cy="604476"/>
            <a:chOff x="4232920" y="49957"/>
            <a:chExt cx="1781744" cy="604476"/>
          </a:xfrm>
        </p:grpSpPr>
        <p:sp>
          <p:nvSpPr>
            <p:cNvPr id="7" name="타원 6">
              <a:extLst>
                <a:ext uri="{FF2B5EF4-FFF2-40B4-BE49-F238E27FC236}">
                  <a16:creationId xmlns:a16="http://schemas.microsoft.com/office/drawing/2014/main" id="{0597B820-B9E4-15D1-DFA6-4F7450B62061}"/>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26B1F29-4749-934F-0335-3835FB54D68B}"/>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 name="타원 14">
              <a:extLst>
                <a:ext uri="{FF2B5EF4-FFF2-40B4-BE49-F238E27FC236}">
                  <a16:creationId xmlns:a16="http://schemas.microsoft.com/office/drawing/2014/main" id="{46D6931A-DEAD-043B-2DD5-EE72A5F43269}"/>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66E78D6F-AA8A-BB9A-8CC2-DF57B509F2EE}"/>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17" name="타원 16">
              <a:extLst>
                <a:ext uri="{FF2B5EF4-FFF2-40B4-BE49-F238E27FC236}">
                  <a16:creationId xmlns:a16="http://schemas.microsoft.com/office/drawing/2014/main" id="{13936828-A48D-F4CB-B52F-07869F3168E4}"/>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53736CD-7F02-F93C-B4F1-20EC7A3FC4CE}"/>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269211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a:extLst>
              <a:ext uri="{FF2B5EF4-FFF2-40B4-BE49-F238E27FC236}">
                <a16:creationId xmlns:a16="http://schemas.microsoft.com/office/drawing/2014/main" id="{1127FC96-E8CA-4EB8-B7E5-64A5B2921665}"/>
              </a:ext>
            </a:extLst>
          </p:cNvPr>
          <p:cNvGraphicFramePr>
            <a:graphicFrameLocks noGrp="1"/>
          </p:cNvGraphicFramePr>
          <p:nvPr>
            <p:extLst>
              <p:ext uri="{D42A27DB-BD31-4B8C-83A1-F6EECF244321}">
                <p14:modId xmlns:p14="http://schemas.microsoft.com/office/powerpoint/2010/main" val="3465499956"/>
              </p:ext>
            </p:extLst>
          </p:nvPr>
        </p:nvGraphicFramePr>
        <p:xfrm>
          <a:off x="192000" y="836712"/>
          <a:ext cx="9522000" cy="5849466"/>
        </p:xfrm>
        <a:graphic>
          <a:graphicData uri="http://schemas.openxmlformats.org/drawingml/2006/table">
            <a:tbl>
              <a:tblPr/>
              <a:tblGrid>
                <a:gridCol w="720000">
                  <a:extLst>
                    <a:ext uri="{9D8B030D-6E8A-4147-A177-3AD203B41FA5}">
                      <a16:colId xmlns:a16="http://schemas.microsoft.com/office/drawing/2014/main" val="2758946191"/>
                    </a:ext>
                  </a:extLst>
                </a:gridCol>
                <a:gridCol w="1656000">
                  <a:extLst>
                    <a:ext uri="{9D8B030D-6E8A-4147-A177-3AD203B41FA5}">
                      <a16:colId xmlns:a16="http://schemas.microsoft.com/office/drawing/2014/main" val="3491233003"/>
                    </a:ext>
                  </a:extLst>
                </a:gridCol>
                <a:gridCol w="2901600">
                  <a:extLst>
                    <a:ext uri="{9D8B030D-6E8A-4147-A177-3AD203B41FA5}">
                      <a16:colId xmlns:a16="http://schemas.microsoft.com/office/drawing/2014/main" val="2528590017"/>
                    </a:ext>
                  </a:extLst>
                </a:gridCol>
                <a:gridCol w="698400">
                  <a:extLst>
                    <a:ext uri="{9D8B030D-6E8A-4147-A177-3AD203B41FA5}">
                      <a16:colId xmlns:a16="http://schemas.microsoft.com/office/drawing/2014/main" val="3433318351"/>
                    </a:ext>
                  </a:extLst>
                </a:gridCol>
                <a:gridCol w="3546000">
                  <a:extLst>
                    <a:ext uri="{9D8B030D-6E8A-4147-A177-3AD203B41FA5}">
                      <a16:colId xmlns:a16="http://schemas.microsoft.com/office/drawing/2014/main" val="361195585"/>
                    </a:ext>
                  </a:extLst>
                </a:gridCol>
              </a:tblGrid>
              <a:tr h="216000">
                <a:tc>
                  <a:txBody>
                    <a:bodyPr/>
                    <a:lstStyle/>
                    <a:p>
                      <a:pPr algn="ctr" fontAlgn="ctr"/>
                      <a:r>
                        <a:rPr lang="en-US" altLang="ko-KR" sz="1200" b="1" i="0" u="none" strike="noStrike" dirty="0">
                          <a:solidFill>
                            <a:srgbClr val="000000"/>
                          </a:solidFill>
                          <a:effectLst/>
                          <a:latin typeface="Arial Narrow" panose="020B0606020202030204" pitchFamily="34" charset="0"/>
                          <a:ea typeface="LG스마트체 Regular" panose="020B0600000101010101" pitchFamily="50" charset="-127"/>
                        </a:rPr>
                        <a:t>No.</a:t>
                      </a:r>
                      <a:endPar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sz="1200" b="1" i="0" u="none" strike="noStrike" dirty="0">
                          <a:solidFill>
                            <a:srgbClr val="000000"/>
                          </a:solidFill>
                          <a:effectLst/>
                          <a:latin typeface="Arial Narrow" panose="020B0606020202030204" pitchFamily="34" charset="0"/>
                          <a:ea typeface="LG스마트체 Regular" panose="020B0600000101010101" pitchFamily="50" charset="-127"/>
                        </a:rPr>
                        <a:t>KPI</a:t>
                      </a: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명</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목표</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a:solidFill>
                            <a:srgbClr val="000000"/>
                          </a:solidFill>
                          <a:effectLst/>
                          <a:latin typeface="Arial Narrow" panose="020B0606020202030204" pitchFamily="34" charset="0"/>
                          <a:ea typeface="LG스마트체 Regular" panose="020B0600000101010101" pitchFamily="50" charset="-127"/>
                        </a:rPr>
                        <a:t>진척사항</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ko-KR" altLang="en-US" sz="1200" b="1" i="0" u="none" strike="noStrike" dirty="0">
                          <a:solidFill>
                            <a:srgbClr val="000000"/>
                          </a:solidFill>
                          <a:effectLst/>
                          <a:latin typeface="Arial Narrow" panose="020B0606020202030204" pitchFamily="34" charset="0"/>
                          <a:ea typeface="LG스마트체 Regular" panose="020B0600000101010101" pitchFamily="50" charset="-127"/>
                        </a:rPr>
                        <a:t>요약</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7973700"/>
                  </a:ext>
                </a:extLst>
              </a:tr>
              <a:tr h="1234616">
                <a:tc>
                  <a:txBody>
                    <a:bodyPr/>
                    <a:lstStyle/>
                    <a:p>
                      <a:pPr algn="ctr" fontAlgn="ctr"/>
                      <a: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t>5</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ctr" latinLnBrk="1" hangingPunct="1">
                        <a:lnSpc>
                          <a:spcPct val="100000"/>
                        </a:lnSpc>
                        <a:spcBef>
                          <a:spcPts val="200"/>
                        </a:spcBef>
                        <a:spcAft>
                          <a:spcPts val="200"/>
                        </a:spcAft>
                        <a:buClrTx/>
                        <a:buSzTx/>
                        <a:buFont typeface="Arial" panose="020B0604020202020204" pitchFamily="34" charset="0"/>
                        <a:buNone/>
                        <a:tabLst/>
                        <a:defRPr/>
                      </a:pPr>
                      <a:r>
                        <a:rPr kumimoji="0" lang="ko-KR" altLang="en-US" sz="1100" b="1" i="0" u="none" strike="noStrike" kern="1200" cap="none" spc="-1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추적 기술 기반 </a:t>
                      </a:r>
                      <a:r>
                        <a:rPr kumimoji="0" lang="en-US" altLang="ko-KR" sz="1100" b="1" i="0" u="none" strike="noStrike" kern="1200" cap="none" spc="-1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L&amp;S </a:t>
                      </a:r>
                      <a:r>
                        <a:rPr kumimoji="0" lang="ko-KR" altLang="en-US" sz="1100" b="1" i="0" u="none" strike="noStrike" kern="1200" cap="none" spc="-1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수율 개선</a:t>
                      </a:r>
                      <a:br>
                        <a:rPr kumimoji="0" lang="en-US" altLang="ko-KR" sz="1100" b="1" i="0" u="none" strike="noStrike" kern="1200" cap="none" spc="-1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ko-KR" altLang="en-US" sz="1100" b="1" i="0" u="none" strike="noStrike" kern="1200" cap="none" spc="-1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솔루션 개발</a:t>
                      </a:r>
                      <a:endParaRPr kumimoji="1" lang="en-US" altLang="ko-KR" sz="11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 L&amp;S </a:t>
                      </a:r>
                      <a:r>
                        <a:rPr lang="ko-KR" altLang="en-US" sz="1100" b="1" i="0" u="none" strike="noStrike" baseline="0" dirty="0">
                          <a:solidFill>
                            <a:schemeClr val="tx1"/>
                          </a:solidFill>
                          <a:effectLst/>
                          <a:latin typeface="Arial Narrow" panose="020B0606020202030204" pitchFamily="34" charset="0"/>
                          <a:ea typeface="LG스마트체 Regular" panose="020B0600000101010101" pitchFamily="50" charset="-127"/>
                        </a:rPr>
                        <a:t>핵심 불량</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(NG</a:t>
                      </a:r>
                      <a:r>
                        <a:rPr lang="ko-KR" altLang="en-US" sz="1100" b="1" i="0" u="none" strike="noStrike" baseline="0" dirty="0">
                          <a:solidFill>
                            <a:schemeClr val="tx1"/>
                          </a:solidFill>
                          <a:effectLst/>
                          <a:latin typeface="Arial Narrow" panose="020B0606020202030204" pitchFamily="34" charset="0"/>
                          <a:ea typeface="LG스마트체 Regular" panose="020B0600000101010101" pitchFamily="50" charset="-127"/>
                        </a:rPr>
                        <a:t>마킹 제외</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 20% </a:t>
                      </a:r>
                      <a:r>
                        <a:rPr lang="ko-KR" altLang="en-US" sz="1100" b="1" i="0" u="none" strike="noStrike" baseline="0" dirty="0">
                          <a:solidFill>
                            <a:schemeClr val="tx1"/>
                          </a:solidFill>
                          <a:effectLst/>
                          <a:latin typeface="Arial Narrow" panose="020B0606020202030204" pitchFamily="34" charset="0"/>
                          <a:ea typeface="LG스마트체 Regular" panose="020B0600000101010101" pitchFamily="50" charset="-127"/>
                        </a:rPr>
                        <a:t>개선 </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a:t>
                      </a:r>
                      <a:r>
                        <a:rPr lang="ko-KR" altLang="en-US" sz="1100" b="1" i="0" u="none" strike="noStrike" baseline="0" dirty="0">
                          <a:solidFill>
                            <a:schemeClr val="tx1"/>
                          </a:solidFill>
                          <a:effectLst/>
                          <a:latin typeface="Arial Narrow" panose="020B0606020202030204" pitchFamily="34" charset="0"/>
                          <a:ea typeface="LG스마트체 Regular" panose="020B0600000101010101" pitchFamily="50" charset="-127"/>
                        </a:rPr>
                        <a:t>연간목표</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a:t>
                      </a:r>
                      <a:br>
                        <a:rPr kumimoji="1" lang="en-US" altLang="ko-KR"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br>
                      <a:r>
                        <a:rPr kumimoji="1" lang="en-US" altLang="ko-KR" sz="11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2Q :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개발 솔루션 대표호기 검증</a:t>
                      </a:r>
                      <a:b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b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   3Q</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개발 솔루션 수평전개</a:t>
                      </a:r>
                      <a:endParaRPr lang="en-US" altLang="ko-KR" sz="1100" b="1" kern="1200" spc="0" dirty="0">
                        <a:solidFill>
                          <a:schemeClr val="tx1"/>
                        </a:solidFill>
                        <a:latin typeface="Arial Narrow" panose="020B0606020202030204" pitchFamily="34" charset="0"/>
                        <a:ea typeface="LG스마트체 Regular" panose="020B0600000101010101" pitchFamily="50" charset="-127"/>
                        <a:cs typeface="+mn-cs"/>
                      </a:endParaRPr>
                    </a:p>
                    <a:p>
                      <a:pPr marL="0" indent="0" algn="l" rtl="0" fontAlgn="ctr">
                        <a:buFont typeface="Arial" panose="020B0604020202020204" pitchFamily="34" charset="0"/>
                        <a:buNone/>
                      </a:pPr>
                      <a:r>
                        <a:rPr lang="en-US" altLang="ko-KR" sz="1100" b="0"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en-US" altLang="ko-KR" sz="1100" b="0" i="0" u="none" strike="noStrike" kern="1200" baseline="0" dirty="0">
                          <a:solidFill>
                            <a:srgbClr val="006600"/>
                          </a:solidFill>
                          <a:effectLst/>
                          <a:latin typeface="Arial Narrow" panose="020B0606020202030204" pitchFamily="34" charset="0"/>
                          <a:ea typeface="LG스마트체 Regular" panose="020B0600000101010101" pitchFamily="50" charset="-127"/>
                          <a:cs typeface="+mn-cs"/>
                        </a:rPr>
                        <a:t>D : ’26.12</a:t>
                      </a:r>
                      <a:r>
                        <a:rPr lang="ko-KR" altLang="en-US" sz="1100" b="0" i="0" u="none" strike="noStrike" kern="1200" baseline="0" dirty="0">
                          <a:solidFill>
                            <a:srgbClr val="006600"/>
                          </a:solidFill>
                          <a:effectLst/>
                          <a:latin typeface="Arial Narrow" panose="020B0606020202030204" pitchFamily="34" charset="0"/>
                          <a:ea typeface="LG스마트체 Regular" panose="020B0600000101010101" pitchFamily="50" charset="-127"/>
                          <a:cs typeface="+mn-cs"/>
                        </a:rPr>
                        <a:t>월</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algn="ctr" fontAlgn="ctr"/>
                      <a:r>
                        <a:rPr lang="ko-KR" altLang="en-US" sz="1100" b="0" i="0" u="none" strike="noStrike" dirty="0">
                          <a:solidFill>
                            <a:srgbClr val="0000FF"/>
                          </a:solidFill>
                          <a:effectLst/>
                          <a:latin typeface="Arial Narrow" panose="020B0606020202030204" pitchFamily="34" charset="0"/>
                          <a:ea typeface="LG스마트체 Regular" panose="020B0600000101010101" pitchFamily="50" charset="-127"/>
                        </a:rPr>
                        <a:t>　</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base" latinLnBrk="1" hangingPunct="1">
                        <a:lnSpc>
                          <a:spcPct val="120000"/>
                        </a:lnSpc>
                        <a:spcBef>
                          <a:spcPts val="0"/>
                        </a:spcBef>
                        <a:spcAft>
                          <a:spcPct val="0"/>
                        </a:spcAft>
                        <a:buClrTx/>
                        <a:buSzPct val="80000"/>
                        <a:buFont typeface="Arial" panose="020B0604020202020204" pitchFamily="34" charset="0"/>
                        <a:buNone/>
                        <a:tabLst/>
                      </a:pP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연간</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목표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실적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(WA/MI2, ~’26</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년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8</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b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br>
                      <a:endPar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endParaRPr>
                    </a:p>
                    <a:p>
                      <a:pPr marL="0" marR="0" lvl="0" indent="0" algn="l" defTabSz="914400" rtl="0" eaLnBrk="1" fontAlgn="base" latinLnBrk="1" hangingPunct="1">
                        <a:lnSpc>
                          <a:spcPct val="120000"/>
                        </a:lnSpc>
                        <a:spcBef>
                          <a:spcPts val="0"/>
                        </a:spcBef>
                        <a:spcAft>
                          <a:spcPct val="0"/>
                        </a:spcAft>
                        <a:buClrTx/>
                        <a:buSzPct val="80000"/>
                        <a:buFont typeface="Arial" panose="020B0604020202020204" pitchFamily="34" charset="0"/>
                        <a:buNone/>
                        <a:tabLst/>
                      </a:pPr>
                      <a:b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br>
                      <a:b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br>
                      <a:endParaRPr lang="en-US" altLang="ko-KR" sz="300" b="1" kern="1200" spc="0" baseline="0" dirty="0">
                        <a:solidFill>
                          <a:schemeClr val="tx1"/>
                        </a:solidFill>
                        <a:latin typeface="Arial Narrow" panose="020B0606020202030204" pitchFamily="34" charset="0"/>
                        <a:ea typeface="LG스마트체 Regular" panose="020B0600000101010101" pitchFamily="50" charset="-127"/>
                        <a:cs typeface="+mn-cs"/>
                      </a:endParaRPr>
                    </a:p>
                    <a:p>
                      <a:pPr marL="0" marR="0" lvl="0" indent="0" algn="l" defTabSz="914400" rtl="0" eaLnBrk="1" fontAlgn="base" latinLnBrk="1" hangingPunct="1">
                        <a:lnSpc>
                          <a:spcPct val="120000"/>
                        </a:lnSpc>
                        <a:spcBef>
                          <a:spcPts val="0"/>
                        </a:spcBef>
                        <a:spcAft>
                          <a:spcPct val="0"/>
                        </a:spcAft>
                        <a:buClrTx/>
                        <a:buSzPct val="80000"/>
                        <a:buFont typeface="Arial" panose="020B0604020202020204" pitchFamily="34" charset="0"/>
                        <a:buNone/>
                        <a:tabLst/>
                      </a:pPr>
                      <a: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t>  </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솔루션 적용</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(‘26.7)</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 전</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후 </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WA </a:t>
                      </a:r>
                      <a:r>
                        <a:rPr lang="ko-KR" altLang="en-US" sz="900" b="0" kern="1200" spc="0" baseline="0" dirty="0" err="1">
                          <a:solidFill>
                            <a:srgbClr val="006600"/>
                          </a:solidFill>
                          <a:latin typeface="Arial Narrow" panose="020B0606020202030204" pitchFamily="34" charset="0"/>
                          <a:ea typeface="LG스마트체 Regular" panose="020B0600000101010101" pitchFamily="50" charset="-127"/>
                          <a:cs typeface="+mn-cs"/>
                        </a:rPr>
                        <a:t>불량율</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누적실적</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 ’26</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년</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.1~6</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월 </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 ’26.1~8</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월</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 </a:t>
                      </a:r>
                      <a:b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b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    : </a:t>
                      </a:r>
                      <a:r>
                        <a:rPr lang="ko-KR" altLang="en-US" sz="900" b="0" kern="1200" spc="0" baseline="0" dirty="0" err="1">
                          <a:solidFill>
                            <a:srgbClr val="006600"/>
                          </a:solidFill>
                          <a:latin typeface="Arial Narrow" panose="020B0606020202030204" pitchFamily="34" charset="0"/>
                          <a:ea typeface="LG스마트체 Regular" panose="020B0600000101010101" pitchFamily="50" charset="-127"/>
                          <a:cs typeface="+mn-cs"/>
                        </a:rPr>
                        <a:t>라미</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 (0.70 </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 </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0.59%), STK (0.92 </a:t>
                      </a:r>
                      <a:r>
                        <a:rPr lang="ko-KR" altLang="en-US" sz="900" b="0" kern="1200" spc="0" baseline="0" dirty="0">
                          <a:solidFill>
                            <a:srgbClr val="006600"/>
                          </a:solidFill>
                          <a:latin typeface="Arial Narrow" panose="020B0606020202030204" pitchFamily="34" charset="0"/>
                          <a:ea typeface="LG스마트체 Regular" panose="020B0600000101010101" pitchFamily="50" charset="-127"/>
                          <a:cs typeface="+mn-cs"/>
                        </a:rPr>
                        <a:t>→ </a:t>
                      </a:r>
                      <a:r>
                        <a:rPr lang="en-US" altLang="ko-KR" sz="900" b="0" kern="1200" spc="0" baseline="0" dirty="0">
                          <a:solidFill>
                            <a:srgbClr val="006600"/>
                          </a:solidFill>
                          <a:latin typeface="Arial Narrow" panose="020B0606020202030204" pitchFamily="34" charset="0"/>
                          <a:ea typeface="LG스마트체 Regular" panose="020B0600000101010101" pitchFamily="50" charset="-127"/>
                          <a:cs typeface="+mn-cs"/>
                        </a:rPr>
                        <a:t>0.91%)</a:t>
                      </a:r>
                      <a:b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br>
                      <a: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라미</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주요 불량 개선 항목</a:t>
                      </a:r>
                      <a:b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위치불량</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전년</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~’26.8)</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WA 0.36 → 0.23% , MI2 0.33 → 0.25% </a:t>
                      </a:r>
                      <a:b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WA</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스태킹</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집중</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개선 필요 </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(0.1%pt </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수준</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추가 개선필요</a:t>
                      </a:r>
                      <a:r>
                        <a:rPr kumimoji="0" lang="en-US" altLang="ko-KR" sz="1000" b="0" i="0" u="none" strike="noStrike" kern="1200" cap="none" spc="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p>
                    <a:p>
                      <a:pPr marL="0" marR="0" lvl="0" indent="0" algn="l" defTabSz="914400" rtl="0" eaLnBrk="1" fontAlgn="base" latinLnBrk="1" hangingPunct="1">
                        <a:lnSpc>
                          <a:spcPct val="100000"/>
                        </a:lnSpc>
                        <a:spcBef>
                          <a:spcPts val="0"/>
                        </a:spcBef>
                        <a:spcAft>
                          <a:spcPct val="0"/>
                        </a:spcAft>
                        <a:buClrTx/>
                        <a:buSzPct val="80000"/>
                        <a:buFont typeface="Arial" panose="020B0604020202020204" pitchFamily="34" charset="0"/>
                        <a:buNone/>
                        <a:tabLst/>
                      </a:pPr>
                      <a:br>
                        <a:rPr kumimoji="0" lang="en-US" altLang="ko-KR" sz="3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a:t>
                      </a:r>
                      <a:r>
                        <a:rPr kumimoji="0" lang="ko-KR" altLang="en-US" sz="1000" b="0" i="0" u="none" strike="noStrike" kern="1200" cap="none" spc="0" normalizeH="0" baseline="0" noProof="0" dirty="0" err="1">
                          <a:ln>
                            <a:noFill/>
                          </a:ln>
                          <a:solidFill>
                            <a:schemeClr val="tx1"/>
                          </a:solidFill>
                          <a:effectLst/>
                          <a:uLnTx/>
                          <a:uFillTx/>
                          <a:latin typeface="Arial Narrow" panose="020B0606020202030204" pitchFamily="34" charset="0"/>
                          <a:ea typeface="LG스마트체 Regular" panose="020B0600000101010101" pitchFamily="50" charset="-127"/>
                          <a:cs typeface="+mn-cs"/>
                        </a:rPr>
                        <a:t>라미</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불량 원인 구체화 솔루션 개발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(7/20)</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WA 5</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동 불량 원인 지속 도출 중</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MI2 Data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수집</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(7/31)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후 솔루션 수평전개</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(~10</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br>
                        <a:rPr kumimoji="0" lang="en-US" altLang="ko-KR" sz="5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전극</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조립 반제품 최적 경로 투입 기술 개발</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WA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조립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4</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동 적용 후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3</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동 전개 및</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검증</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효과 산출</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(~9</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b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b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 MI2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조립 수평전개</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(~10</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endPar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603747214"/>
                  </a:ext>
                </a:extLst>
              </a:tr>
              <a:tr h="1612078">
                <a:tc>
                  <a:txBody>
                    <a:bodyPr/>
                    <a:lstStyle/>
                    <a:p>
                      <a:pPr algn="ctr" fontAlgn="ctr"/>
                      <a:r>
                        <a:rPr lang="en-US" altLang="ko-KR" sz="1100" b="1" i="0" u="none" strike="noStrike" dirty="0">
                          <a:solidFill>
                            <a:srgbClr val="000000"/>
                          </a:solidFill>
                          <a:effectLst/>
                          <a:latin typeface="Arial Narrow" panose="020B0606020202030204" pitchFamily="34" charset="0"/>
                          <a:ea typeface="LG스마트체 Regular" panose="020B0600000101010101" pitchFamily="50" charset="-127"/>
                        </a:rPr>
                        <a:t>6</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l" fontAlgn="ctr"/>
                      <a:r>
                        <a:rPr kumimoji="0" lang="ko-KR" altLang="en-US" sz="1100" b="1" i="0" u="none" strike="noStrike" kern="1200" cap="none" spc="-10" normalizeH="0" baseline="0">
                          <a:ln>
                            <a:noFill/>
                          </a:ln>
                          <a:solidFill>
                            <a:prstClr val="black"/>
                          </a:solidFill>
                          <a:effectLst/>
                          <a:uLnTx/>
                          <a:uFillTx/>
                          <a:latin typeface="Arial Narrow" panose="020B0606020202030204" pitchFamily="34" charset="0"/>
                          <a:ea typeface="LG스마트체 Regular" panose="020B0600000101010101" pitchFamily="50" charset="-127"/>
                          <a:cs typeface="+mn-cs"/>
                        </a:rPr>
                        <a:t>고질 불량 개선</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조립</a:t>
                      </a: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활성화 고질불량 </a:t>
                      </a: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20% </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개선 </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a:t>
                      </a:r>
                      <a:r>
                        <a:rPr lang="ko-KR" altLang="en-US" sz="1100" b="1" i="0" u="none" strike="noStrike" baseline="0" dirty="0">
                          <a:solidFill>
                            <a:schemeClr val="tx1"/>
                          </a:solidFill>
                          <a:effectLst/>
                          <a:latin typeface="Arial Narrow" panose="020B0606020202030204" pitchFamily="34" charset="0"/>
                          <a:ea typeface="LG스마트체 Regular" panose="020B0600000101010101" pitchFamily="50" charset="-127"/>
                        </a:rPr>
                        <a:t>연간목표</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a:t>
                      </a:r>
                      <a:br>
                        <a:rPr lang="en-US" altLang="ko-KR" sz="1100" b="0"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b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  (</a:t>
                      </a:r>
                      <a:r>
                        <a:rPr lang="ko-KR" altLang="en-US" sz="1100" b="1" i="0" u="none" strike="noStrike" kern="1200" baseline="0" dirty="0" err="1">
                          <a:solidFill>
                            <a:schemeClr val="tx1"/>
                          </a:solidFill>
                          <a:effectLst/>
                          <a:latin typeface="Arial Narrow" panose="020B0606020202030204" pitchFamily="34" charset="0"/>
                          <a:ea typeface="LG스마트체 Regular" panose="020B0600000101010101" pitchFamily="50" charset="-127"/>
                          <a:cs typeface="+mn-cs"/>
                        </a:rPr>
                        <a:t>라미</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 공정</a:t>
                      </a: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Loss / </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패키지 용접비전 </a:t>
                      </a: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 EOL IR / </a:t>
                      </a:r>
                      <a:b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b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   </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롤프레스</a:t>
                      </a: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a:t>
                      </a:r>
                      <a:r>
                        <a:rPr lang="ko-KR" altLang="en-US" sz="1100" b="1" i="0" u="none" strike="noStrike" kern="1200" baseline="0" dirty="0" err="1">
                          <a:solidFill>
                            <a:schemeClr val="tx1"/>
                          </a:solidFill>
                          <a:effectLst/>
                          <a:latin typeface="Arial Narrow" panose="020B0606020202030204" pitchFamily="34" charset="0"/>
                          <a:ea typeface="LG스마트체 Regular" panose="020B0600000101010101" pitchFamily="50" charset="-127"/>
                          <a:cs typeface="+mn-cs"/>
                        </a:rPr>
                        <a:t>노칭</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 </a:t>
                      </a:r>
                      <a:r>
                        <a:rPr lang="en-US" altLang="ko-KR"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PD Loss 20% </a:t>
                      </a:r>
                      <a:r>
                        <a:rPr lang="ko-KR" altLang="en-US" sz="1100" b="1" i="0" u="none" strike="noStrike" kern="1200" baseline="0" dirty="0">
                          <a:solidFill>
                            <a:schemeClr val="tx1"/>
                          </a:solidFill>
                          <a:effectLst/>
                          <a:latin typeface="Arial Narrow" panose="020B0606020202030204" pitchFamily="34" charset="0"/>
                          <a:ea typeface="LG스마트체 Regular" panose="020B0600000101010101" pitchFamily="50" charset="-127"/>
                          <a:cs typeface="+mn-cs"/>
                        </a:rPr>
                        <a:t>개선</a:t>
                      </a:r>
                      <a:r>
                        <a:rPr lang="en-US" altLang="ko-KR" sz="1100" b="1" i="0" u="none" strike="noStrike" baseline="0" dirty="0">
                          <a:solidFill>
                            <a:schemeClr val="tx1"/>
                          </a:solidFill>
                          <a:effectLst/>
                          <a:latin typeface="Arial Narrow" panose="020B0606020202030204" pitchFamily="34" charset="0"/>
                          <a:ea typeface="LG스마트체 Regular" panose="020B0600000101010101" pitchFamily="50" charset="-127"/>
                        </a:rPr>
                        <a:t>)</a:t>
                      </a:r>
                      <a:br>
                        <a:rPr lang="en-US" altLang="ko-KR" sz="1100" b="1" i="0" u="none" strike="noStrike" baseline="0" dirty="0">
                          <a:solidFill>
                            <a:srgbClr val="FF0000"/>
                          </a:solidFill>
                          <a:effectLst/>
                          <a:latin typeface="Arial Narrow" panose="020B0606020202030204" pitchFamily="34" charset="0"/>
                          <a:ea typeface="LG스마트체 Regular" panose="020B0600000101010101" pitchFamily="50" charset="-127"/>
                        </a:rPr>
                      </a:br>
                      <a:r>
                        <a:rPr kumimoji="1" lang="en-US" altLang="ko-KR" sz="11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2Q : DX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기반 고도화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Point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발굴 및 개선점 적용</a:t>
                      </a:r>
                      <a:b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b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   3Q</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코터</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롤프레스 </a:t>
                      </a:r>
                      <a: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t>Data </a:t>
                      </a:r>
                      <a:r>
                        <a:rPr lang="ko-KR" altLang="en-US" sz="1100" b="0" kern="1200" spc="0" dirty="0">
                          <a:solidFill>
                            <a:schemeClr val="tx1"/>
                          </a:solidFill>
                          <a:latin typeface="Arial Narrow" panose="020B0606020202030204" pitchFamily="34" charset="0"/>
                          <a:ea typeface="LG스마트체 Regular" panose="020B0600000101010101" pitchFamily="50" charset="-127"/>
                          <a:cs typeface="+mn-cs"/>
                        </a:rPr>
                        <a:t>연계 및 경로 최적화</a:t>
                      </a:r>
                      <a:br>
                        <a:rPr lang="en-US" altLang="ko-KR" sz="1100" b="0" kern="1200" spc="0" dirty="0">
                          <a:solidFill>
                            <a:schemeClr val="tx1"/>
                          </a:solidFill>
                          <a:latin typeface="Arial Narrow" panose="020B0606020202030204" pitchFamily="34" charset="0"/>
                          <a:ea typeface="LG스마트체 Regular" panose="020B0600000101010101" pitchFamily="50" charset="-127"/>
                          <a:cs typeface="+mn-cs"/>
                        </a:rPr>
                      </a:br>
                      <a:r>
                        <a:rPr lang="ko-KR" altLang="en-US" sz="1100" b="0" i="0" u="none" strike="noStrike" kern="1200" baseline="0" dirty="0">
                          <a:solidFill>
                            <a:srgbClr val="006600"/>
                          </a:solidFill>
                          <a:effectLst/>
                          <a:latin typeface="Arial Narrow" panose="020B0606020202030204" pitchFamily="34" charset="0"/>
                          <a:ea typeface="LG스마트체 Regular" panose="020B0600000101010101" pitchFamily="50" charset="-127"/>
                          <a:cs typeface="+mn-cs"/>
                        </a:rPr>
                        <a:t>   </a:t>
                      </a:r>
                      <a:r>
                        <a:rPr lang="en-US" altLang="ko-KR" sz="1100" b="0" i="0" u="none" strike="noStrike" kern="1200" baseline="0" dirty="0">
                          <a:solidFill>
                            <a:srgbClr val="006600"/>
                          </a:solidFill>
                          <a:effectLst/>
                          <a:latin typeface="Arial Narrow" panose="020B0606020202030204" pitchFamily="34" charset="0"/>
                          <a:ea typeface="LG스마트체 Regular" panose="020B0600000101010101" pitchFamily="50" charset="-127"/>
                          <a:cs typeface="+mn-cs"/>
                        </a:rPr>
                        <a:t>D : ’26.8</a:t>
                      </a:r>
                      <a:r>
                        <a:rPr lang="ko-KR" altLang="en-US" sz="1100" b="0" i="0" u="none" strike="noStrike" kern="1200" baseline="0" dirty="0">
                          <a:solidFill>
                            <a:srgbClr val="006600"/>
                          </a:solidFill>
                          <a:effectLst/>
                          <a:latin typeface="Arial Narrow" panose="020B0606020202030204" pitchFamily="34" charset="0"/>
                          <a:ea typeface="LG스마트체 Regular" panose="020B0600000101010101" pitchFamily="50" charset="-127"/>
                          <a:cs typeface="+mn-cs"/>
                        </a:rPr>
                        <a:t>월</a:t>
                      </a: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ctr" fontAlgn="ctr"/>
                      <a:endParaRPr lang="ko-KR" altLang="en-US" sz="11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tc>
                  <a:txBody>
                    <a:bodyPr/>
                    <a:lstStyle/>
                    <a:p>
                      <a:pPr algn="l" fontAlgn="ct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롤프레스 단선 개선</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 WA]</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롤프레스 </a:t>
                      </a:r>
                      <a:r>
                        <a:rPr lang="ko-KR" altLang="en-US" sz="1000" b="1" i="0" u="none" strike="noStrike" dirty="0" err="1">
                          <a:solidFill>
                            <a:schemeClr val="tx1"/>
                          </a:solidFill>
                          <a:effectLst/>
                          <a:latin typeface="Arial Narrow" panose="020B0606020202030204" pitchFamily="34" charset="0"/>
                          <a:ea typeface="LG스마트체 Regular" panose="020B0600000101010101" pitchFamily="50" charset="-127"/>
                        </a:rPr>
                        <a:t>텐션</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 자동 보정 적용</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(3</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월</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롤프레스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10km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당 단선 횟수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E77A 0.88</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회 →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0.56</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회</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37%)</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ko-KR" altLang="en-US" sz="1000" b="0" i="0" u="none" strike="noStrike" dirty="0" err="1">
                          <a:solidFill>
                            <a:schemeClr val="tx1"/>
                          </a:solidFill>
                          <a:effectLst/>
                          <a:latin typeface="Arial Narrow" panose="020B0606020202030204" pitchFamily="34" charset="0"/>
                          <a:ea typeface="LG스마트체 Regular" panose="020B0600000101010101" pitchFamily="50" charset="-127"/>
                        </a:rPr>
                        <a:t>노칭</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10km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당 단선 횟수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E77A 0.07</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회 →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0.05</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회</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25%)</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코터 </a:t>
                      </a:r>
                      <a:r>
                        <a:rPr lang="ko-KR" altLang="en-US" sz="1000" b="1" i="0" u="none" strike="noStrike" dirty="0" err="1">
                          <a:solidFill>
                            <a:schemeClr val="tx1"/>
                          </a:solidFill>
                          <a:effectLst/>
                          <a:latin typeface="Arial Narrow" panose="020B0606020202030204" pitchFamily="34" charset="0"/>
                          <a:ea typeface="LG스마트체 Regular" panose="020B0600000101010101" pitchFamily="50" charset="-127"/>
                        </a:rPr>
                        <a:t>로딩량</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 편차 유사 전극 선별 투입 로직 적용</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err="1">
                          <a:solidFill>
                            <a:schemeClr val="tx1"/>
                          </a:solidFill>
                          <a:effectLst/>
                          <a:latin typeface="Arial Narrow" panose="020B0606020202030204" pitchFamily="34" charset="0"/>
                          <a:ea typeface="LG스마트체 Regular" panose="020B0600000101010101" pitchFamily="50" charset="-127"/>
                        </a:rPr>
                        <a:t>로딩량</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선별 투입 기능 적용</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후 효과 확인</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(~8</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월</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효과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재료교체 중 단선 발생 빈도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(3.2%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1.1%,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65%)</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감소</a:t>
                      </a: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로딩 기반 </a:t>
                      </a:r>
                      <a:r>
                        <a:rPr lang="ko-KR" altLang="en-US" sz="1000" b="0" i="0" u="none" strike="noStrike" dirty="0" err="1">
                          <a:solidFill>
                            <a:schemeClr val="tx1"/>
                          </a:solidFill>
                          <a:effectLst/>
                          <a:latin typeface="Arial Narrow" panose="020B0606020202030204" pitchFamily="34" charset="0"/>
                          <a:ea typeface="LG스마트체 Regular" panose="020B0600000101010101" pitchFamily="50" charset="-127"/>
                        </a:rPr>
                        <a:t>텐션</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자동보정 적용 예정</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(~9/11)</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err="1">
                          <a:solidFill>
                            <a:schemeClr val="tx1"/>
                          </a:solidFill>
                          <a:effectLst/>
                          <a:latin typeface="Arial Narrow" panose="020B0606020202030204" pitchFamily="34" charset="0"/>
                          <a:ea typeface="LG스마트체 Regular" panose="020B0600000101010101" pitchFamily="50" charset="-127"/>
                        </a:rPr>
                        <a:t>텐션</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예측 모델 개발 완료</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(8/26),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자동보정 기능 검증 진행 중</a:t>
                      </a: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a:t>
                      </a:r>
                      <a:r>
                        <a:rPr lang="ko-KR" altLang="en-US" sz="1000" b="1" i="0" u="none" strike="noStrike" dirty="0" err="1">
                          <a:solidFill>
                            <a:schemeClr val="tx1"/>
                          </a:solidFill>
                          <a:effectLst/>
                          <a:latin typeface="Arial Narrow" panose="020B0606020202030204" pitchFamily="34" charset="0"/>
                          <a:ea typeface="LG스마트체 Regular" panose="020B0600000101010101" pitchFamily="50" charset="-127"/>
                        </a:rPr>
                        <a:t>라미</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 공정 </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Loss, WA]</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공정</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Loss </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세부 유형 분석 체계 기반 실적 보상 활동</a:t>
                      </a:r>
                      <a:b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실적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자동차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ESS 27.4%</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개선</a:t>
                      </a:r>
                      <a:b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자동차</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/ESS</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4</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a:t>
                      </a:r>
                      <a:r>
                        <a:rPr lang="en-US" altLang="ko-KR" sz="1000" dirty="0">
                          <a:solidFill>
                            <a:schemeClr val="tx1"/>
                          </a:solidFill>
                          <a:latin typeface="Arial Narrow" panose="020B0606020202030204" pitchFamily="34" charset="0"/>
                          <a:ea typeface="LG스마트체 Regular" panose="020B0600000101010101" pitchFamily="50" charset="-127"/>
                        </a:rPr>
                        <a:t>0.106%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8</a:t>
                      </a:r>
                      <a:r>
                        <a:rPr lang="ko-KR" altLang="en-US" sz="1000" dirty="0">
                          <a:solidFill>
                            <a:schemeClr val="tx1"/>
                          </a:solidFill>
                          <a:latin typeface="Arial Narrow" panose="020B0606020202030204" pitchFamily="34" charset="0"/>
                          <a:ea typeface="LG스마트체 Regular" panose="020B0600000101010101" pitchFamily="50" charset="-127"/>
                        </a:rPr>
                        <a:t>월 누적 </a:t>
                      </a:r>
                      <a:r>
                        <a:rPr lang="en-US" altLang="ko-KR" sz="1000" dirty="0">
                          <a:solidFill>
                            <a:schemeClr val="tx1"/>
                          </a:solidFill>
                          <a:latin typeface="Arial Narrow" panose="020B0606020202030204" pitchFamily="34" charset="0"/>
                          <a:ea typeface="LG스마트체 Regular" panose="020B0600000101010101" pitchFamily="50" charset="-127"/>
                        </a:rPr>
                        <a:t>0.077% (▼ 0.029%p, 27.4% </a:t>
                      </a:r>
                      <a:r>
                        <a:rPr lang="ko-KR" altLang="en-US" sz="1000" dirty="0">
                          <a:solidFill>
                            <a:schemeClr val="tx1"/>
                          </a:solidFill>
                          <a:latin typeface="Arial Narrow" panose="020B0606020202030204" pitchFamily="34" charset="0"/>
                          <a:ea typeface="LG스마트체 Regular" panose="020B0600000101010101" pitchFamily="50" charset="-127"/>
                        </a:rPr>
                        <a:t>개선</a:t>
                      </a:r>
                      <a:r>
                        <a:rPr lang="en-US" altLang="ko-KR" sz="1000" dirty="0">
                          <a:solidFill>
                            <a:schemeClr val="tx1"/>
                          </a:solidFill>
                          <a:latin typeface="Arial Narrow" panose="020B0606020202030204" pitchFamily="34" charset="0"/>
                          <a:ea typeface="LG스마트체 Regular" panose="020B0600000101010101" pitchFamily="50" charset="-127"/>
                        </a:rPr>
                        <a:t>)</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[EOL</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 </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IR, WA]</a:t>
                      </a:r>
                    </a:p>
                    <a:p>
                      <a:pPr marL="88900" marR="0" lvl="0" indent="-88900" algn="l" defTabSz="914400" rtl="0" eaLnBrk="1" fontAlgn="ctr" latinLnBrk="1" hangingPunct="1">
                        <a:lnSpc>
                          <a:spcPct val="100000"/>
                        </a:lnSpc>
                        <a:spcBef>
                          <a:spcPts val="0"/>
                        </a:spcBef>
                        <a:spcAft>
                          <a:spcPts val="0"/>
                        </a:spcAft>
                        <a:buClrTx/>
                        <a:buSzTx/>
                        <a:buFont typeface="Arial" panose="020B0604020202020204" pitchFamily="34" charset="0"/>
                        <a:buChar char="•"/>
                        <a:tabLst/>
                        <a:defRPr/>
                      </a:pP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EOL </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절연저항 경로 분석 기반 </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IP/PP </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정합화 및 이상 </a:t>
                      </a:r>
                      <a: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t>Unit </a:t>
                      </a:r>
                      <a:r>
                        <a:rPr lang="ko-KR" altLang="en-US" sz="1000" b="1" i="0" u="none" strike="noStrike" dirty="0">
                          <a:solidFill>
                            <a:schemeClr val="tx1"/>
                          </a:solidFill>
                          <a:effectLst/>
                          <a:latin typeface="Arial Narrow" panose="020B0606020202030204" pitchFamily="34" charset="0"/>
                          <a:ea typeface="LG스마트체 Regular" panose="020B0600000101010101" pitchFamily="50" charset="-127"/>
                        </a:rPr>
                        <a:t>개선 </a:t>
                      </a:r>
                      <a:br>
                        <a:rPr lang="en-US" altLang="ko-KR" sz="1000" b="1"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실적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자동차 </a:t>
                      </a: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ESS 75.5%</a:t>
                      </a:r>
                      <a:r>
                        <a:rPr lang="ko-KR" altLang="en-US" sz="1000" b="0" i="0" u="none" strike="noStrike" dirty="0">
                          <a:solidFill>
                            <a:schemeClr val="tx1"/>
                          </a:solidFill>
                          <a:effectLst/>
                          <a:latin typeface="Arial Narrow" panose="020B0606020202030204" pitchFamily="34" charset="0"/>
                          <a:ea typeface="LG스마트체 Regular" panose="020B0600000101010101" pitchFamily="50" charset="-127"/>
                        </a:rPr>
                        <a:t> 개선</a:t>
                      </a:r>
                      <a:b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rPr>
                        <a:t> .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자동차</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/ESS</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1</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월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0.40% </a:t>
                      </a:r>
                      <a:r>
                        <a:rPr kumimoji="0" lang="ko-KR" altLang="en-US"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0" lang="en-US" altLang="ko-KR" sz="1000" b="0"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8</a:t>
                      </a:r>
                      <a:r>
                        <a:rPr lang="ko-KR" altLang="en-US" sz="1000" dirty="0">
                          <a:solidFill>
                            <a:schemeClr val="tx1"/>
                          </a:solidFill>
                          <a:latin typeface="Arial Narrow" panose="020B0606020202030204" pitchFamily="34" charset="0"/>
                          <a:ea typeface="LG스마트체 Regular" panose="020B0600000101010101" pitchFamily="50" charset="-127"/>
                        </a:rPr>
                        <a:t>월 누적 </a:t>
                      </a:r>
                      <a:r>
                        <a:rPr lang="en-US" altLang="ko-KR" sz="1000" dirty="0">
                          <a:solidFill>
                            <a:schemeClr val="tx1"/>
                          </a:solidFill>
                          <a:latin typeface="Arial Narrow" panose="020B0606020202030204" pitchFamily="34" charset="0"/>
                          <a:ea typeface="LG스마트체 Regular" panose="020B0600000101010101" pitchFamily="50" charset="-127"/>
                        </a:rPr>
                        <a:t>0.10% (▼ 0.30%p, 75.5% </a:t>
                      </a:r>
                      <a:r>
                        <a:rPr lang="ko-KR" altLang="en-US" sz="1000" dirty="0">
                          <a:solidFill>
                            <a:schemeClr val="tx1"/>
                          </a:solidFill>
                          <a:latin typeface="Arial Narrow" panose="020B0606020202030204" pitchFamily="34" charset="0"/>
                          <a:ea typeface="LG스마트체 Regular" panose="020B0600000101010101" pitchFamily="50" charset="-127"/>
                        </a:rPr>
                        <a:t>개선</a:t>
                      </a:r>
                      <a:r>
                        <a:rPr lang="en-US" altLang="ko-KR" sz="1000" dirty="0">
                          <a:solidFill>
                            <a:schemeClr val="tx1"/>
                          </a:solidFill>
                          <a:latin typeface="Arial Narrow" panose="020B0606020202030204" pitchFamily="34" charset="0"/>
                          <a:ea typeface="LG스마트체 Regular" panose="020B0600000101010101" pitchFamily="50" charset="-127"/>
                        </a:rPr>
                        <a:t>)</a:t>
                      </a: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192599772"/>
                  </a:ext>
                </a:extLst>
              </a:tr>
            </a:tbl>
          </a:graphicData>
        </a:graphic>
      </p:graphicFrame>
      <p:sp>
        <p:nvSpPr>
          <p:cNvPr id="10" name="실행 단추: 앞으로 또는 다음 258">
            <a:hlinkClick r:id="rId3" action="ppaction://hlinksldjump" highlightClick="1"/>
            <a:extLst>
              <a:ext uri="{FF2B5EF4-FFF2-40B4-BE49-F238E27FC236}">
                <a16:creationId xmlns:a16="http://schemas.microsoft.com/office/drawing/2014/main" id="{B364FC00-B9AF-626F-E2FC-87A9E6FA4432}"/>
              </a:ext>
            </a:extLst>
          </p:cNvPr>
          <p:cNvSpPr/>
          <p:nvPr/>
        </p:nvSpPr>
        <p:spPr>
          <a:xfrm>
            <a:off x="5300019" y="5731302"/>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lnSpc>
                <a:spcPct val="80000"/>
              </a:lnSpc>
              <a:spcBef>
                <a:spcPct val="0"/>
              </a:spcBef>
              <a:spcAft>
                <a:spcPct val="0"/>
              </a:spcAft>
            </a:pPr>
            <a:endParaRPr kumimoji="1" lang="ko-KR" altLang="en-US" sz="2800">
              <a:solidFill>
                <a:schemeClr val="tx2"/>
              </a:solidFill>
              <a:latin typeface="Arial Narrow" panose="020B0606020202030204" pitchFamily="34" charset="0"/>
              <a:ea typeface="LG스마트체 Regular" panose="020B0600000101010101" pitchFamily="50" charset="-127"/>
            </a:endParaRPr>
          </a:p>
        </p:txBody>
      </p:sp>
      <p:sp>
        <p:nvSpPr>
          <p:cNvPr id="6" name="타원 5">
            <a:extLst>
              <a:ext uri="{FF2B5EF4-FFF2-40B4-BE49-F238E27FC236}">
                <a16:creationId xmlns:a16="http://schemas.microsoft.com/office/drawing/2014/main" id="{F76CFAB5-1989-68AF-66B8-C48A8F803BA3}"/>
              </a:ext>
            </a:extLst>
          </p:cNvPr>
          <p:cNvSpPr>
            <a:spLocks noChangeAspect="1"/>
          </p:cNvSpPr>
          <p:nvPr/>
        </p:nvSpPr>
        <p:spPr>
          <a:xfrm>
            <a:off x="5745088" y="2132856"/>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F5FE9EBC-A8A1-4749-A806-A576C7B5440D}"/>
              </a:ext>
            </a:extLst>
          </p:cNvPr>
          <p:cNvSpPr txBox="1"/>
          <p:nvPr/>
        </p:nvSpPr>
        <p:spPr>
          <a:xfrm>
            <a:off x="2640707" y="2758861"/>
            <a:ext cx="2109905" cy="230832"/>
          </a:xfrm>
          <a:prstGeom prst="rect">
            <a:avLst/>
          </a:prstGeom>
          <a:noFill/>
        </p:spPr>
        <p:txBody>
          <a:bodyPr wrap="square">
            <a:spAutoFit/>
          </a:bodyPr>
          <a:lstStyle/>
          <a:p>
            <a:pP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*WA E77A, MI2 JF2 – 25</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년 실적 </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단위</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a:t>
            </a:r>
            <a:endParaRPr lang="ko-KR" alt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p:txBody>
      </p:sp>
      <p:graphicFrame>
        <p:nvGraphicFramePr>
          <p:cNvPr id="13" name="표 12">
            <a:extLst>
              <a:ext uri="{FF2B5EF4-FFF2-40B4-BE49-F238E27FC236}">
                <a16:creationId xmlns:a16="http://schemas.microsoft.com/office/drawing/2014/main" id="{9469A317-3D6E-FF9A-DD62-08B49C2C5E2B}"/>
              </a:ext>
            </a:extLst>
          </p:cNvPr>
          <p:cNvGraphicFramePr>
            <a:graphicFrameLocks noGrp="1"/>
          </p:cNvGraphicFramePr>
          <p:nvPr>
            <p:extLst>
              <p:ext uri="{D42A27DB-BD31-4B8C-83A1-F6EECF244321}">
                <p14:modId xmlns:p14="http://schemas.microsoft.com/office/powerpoint/2010/main" val="3006414215"/>
              </p:ext>
            </p:extLst>
          </p:nvPr>
        </p:nvGraphicFramePr>
        <p:xfrm>
          <a:off x="2735759" y="2975228"/>
          <a:ext cx="2649290" cy="525780"/>
        </p:xfrm>
        <a:graphic>
          <a:graphicData uri="http://schemas.openxmlformats.org/drawingml/2006/table">
            <a:tbl>
              <a:tblPr/>
              <a:tblGrid>
                <a:gridCol w="332290">
                  <a:extLst>
                    <a:ext uri="{9D8B030D-6E8A-4147-A177-3AD203B41FA5}">
                      <a16:colId xmlns:a16="http://schemas.microsoft.com/office/drawing/2014/main" val="4261605441"/>
                    </a:ext>
                  </a:extLst>
                </a:gridCol>
                <a:gridCol w="463400">
                  <a:extLst>
                    <a:ext uri="{9D8B030D-6E8A-4147-A177-3AD203B41FA5}">
                      <a16:colId xmlns:a16="http://schemas.microsoft.com/office/drawing/2014/main" val="642598672"/>
                    </a:ext>
                  </a:extLst>
                </a:gridCol>
                <a:gridCol w="463400">
                  <a:extLst>
                    <a:ext uri="{9D8B030D-6E8A-4147-A177-3AD203B41FA5}">
                      <a16:colId xmlns:a16="http://schemas.microsoft.com/office/drawing/2014/main" val="1291327189"/>
                    </a:ext>
                  </a:extLst>
                </a:gridCol>
                <a:gridCol w="463400">
                  <a:extLst>
                    <a:ext uri="{9D8B030D-6E8A-4147-A177-3AD203B41FA5}">
                      <a16:colId xmlns:a16="http://schemas.microsoft.com/office/drawing/2014/main" val="1340170478"/>
                    </a:ext>
                  </a:extLst>
                </a:gridCol>
                <a:gridCol w="463400">
                  <a:extLst>
                    <a:ext uri="{9D8B030D-6E8A-4147-A177-3AD203B41FA5}">
                      <a16:colId xmlns:a16="http://schemas.microsoft.com/office/drawing/2014/main" val="3288636524"/>
                    </a:ext>
                  </a:extLst>
                </a:gridCol>
                <a:gridCol w="463400">
                  <a:extLst>
                    <a:ext uri="{9D8B030D-6E8A-4147-A177-3AD203B41FA5}">
                      <a16:colId xmlns:a16="http://schemas.microsoft.com/office/drawing/2014/main" val="1998605064"/>
                    </a:ext>
                  </a:extLst>
                </a:gridCol>
              </a:tblGrid>
              <a:tr h="85667">
                <a:tc row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ko-KR" sz="800" b="0" i="0" u="none" strike="noStrike" dirty="0">
                          <a:solidFill>
                            <a:schemeClr val="tx1"/>
                          </a:solidFill>
                          <a:effectLst/>
                          <a:latin typeface="Arial Narrow" panose="020B0606020202030204" pitchFamily="34" charset="0"/>
                          <a:ea typeface="LG스마트체 Regular" panose="020B0600000101010101" pitchFamily="50" charset="-127"/>
                        </a:rPr>
                        <a:t>법인</a:t>
                      </a: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3">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rPr>
                        <a:t> 라미</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endParaRPr dirty="0"/>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STK</a:t>
                      </a:r>
                      <a:endPar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49040"/>
                  </a:ext>
                </a:extLst>
              </a:tr>
              <a:tr h="85667">
                <a:tc vMerge="1">
                  <a:txBody>
                    <a:bodyPr/>
                    <a:lstStyle/>
                    <a:p>
                      <a:pPr algn="ctr" fontAlgn="ctr">
                        <a:buNone/>
                      </a:pP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rPr>
                        <a:t>수율</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rPr>
                        <a:t>핵심불량</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NG</a:t>
                      </a:r>
                      <a:r>
                        <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rPr>
                        <a:t>마킹</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rPr>
                        <a:t>수율</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800" b="0" i="0" u="none" strike="noStrike" dirty="0">
                          <a:solidFill>
                            <a:schemeClr val="tx1"/>
                          </a:solidFill>
                          <a:effectLst/>
                          <a:latin typeface="Arial Narrow" panose="020B0606020202030204" pitchFamily="34" charset="0"/>
                          <a:ea typeface="LG스마트체 Regular" panose="020B0600000101010101" pitchFamily="50" charset="-127"/>
                        </a:rPr>
                        <a:t>핵심불량</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72147466"/>
                  </a:ext>
                </a:extLst>
              </a:tr>
              <a:tr h="85667">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WA</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98.55</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0.99</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0.46</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98.95</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1.05</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52382894"/>
                  </a:ext>
                </a:extLst>
              </a:tr>
              <a:tr h="85667">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MI2</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97.20</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1.15</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1.65</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98.14</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800" b="0" i="0" u="none" strike="noStrike" dirty="0">
                          <a:solidFill>
                            <a:schemeClr val="tx1"/>
                          </a:solidFill>
                          <a:effectLst/>
                          <a:latin typeface="Arial Narrow" panose="020B0606020202030204" pitchFamily="34" charset="0"/>
                          <a:ea typeface="LG스마트체 Regular" panose="020B0600000101010101" pitchFamily="50" charset="-127"/>
                        </a:rPr>
                        <a:t>1.86</a:t>
                      </a:r>
                      <a:endParaRPr lang="ko-KR" sz="8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43110602"/>
                  </a:ext>
                </a:extLst>
              </a:tr>
            </a:tbl>
          </a:graphicData>
        </a:graphic>
      </p:graphicFrame>
      <p:sp>
        <p:nvSpPr>
          <p:cNvPr id="26" name="TextBox 25">
            <a:extLst>
              <a:ext uri="{FF2B5EF4-FFF2-40B4-BE49-F238E27FC236}">
                <a16:creationId xmlns:a16="http://schemas.microsoft.com/office/drawing/2014/main" id="{722BE1CB-2A51-21F7-D051-5F0F3421283C}"/>
              </a:ext>
            </a:extLst>
          </p:cNvPr>
          <p:cNvSpPr txBox="1"/>
          <p:nvPr/>
        </p:nvSpPr>
        <p:spPr>
          <a:xfrm>
            <a:off x="9076734" y="1050136"/>
            <a:ext cx="554092" cy="230832"/>
          </a:xfrm>
          <a:prstGeom prst="rect">
            <a:avLst/>
          </a:prstGeom>
          <a:noFill/>
        </p:spPr>
        <p:txBody>
          <a:bodyPr wrap="square">
            <a:spAutoFit/>
          </a:bodyPr>
          <a:lstStyle/>
          <a:p>
            <a:pP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단위</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a:t>
            </a:r>
            <a:endParaRPr lang="ko-KR" alt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p:txBody>
      </p:sp>
      <p:sp>
        <p:nvSpPr>
          <p:cNvPr id="2" name="타원 1">
            <a:extLst>
              <a:ext uri="{FF2B5EF4-FFF2-40B4-BE49-F238E27FC236}">
                <a16:creationId xmlns:a16="http://schemas.microsoft.com/office/drawing/2014/main" id="{31925D72-697C-DA3A-89C4-DAAC0AD06F29}"/>
              </a:ext>
            </a:extLst>
          </p:cNvPr>
          <p:cNvSpPr>
            <a:spLocks noChangeAspect="1"/>
          </p:cNvSpPr>
          <p:nvPr/>
        </p:nvSpPr>
        <p:spPr>
          <a:xfrm>
            <a:off x="5745088" y="4941168"/>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grpSp>
        <p:nvGrpSpPr>
          <p:cNvPr id="7" name="그룹 6">
            <a:extLst>
              <a:ext uri="{FF2B5EF4-FFF2-40B4-BE49-F238E27FC236}">
                <a16:creationId xmlns:a16="http://schemas.microsoft.com/office/drawing/2014/main" id="{939B9F84-CEF5-62E3-EB2B-6F1CF6F724C9}"/>
              </a:ext>
            </a:extLst>
          </p:cNvPr>
          <p:cNvGrpSpPr/>
          <p:nvPr/>
        </p:nvGrpSpPr>
        <p:grpSpPr>
          <a:xfrm>
            <a:off x="109414" y="216167"/>
            <a:ext cx="1867819" cy="403380"/>
            <a:chOff x="210051" y="188640"/>
            <a:chExt cx="1867819" cy="403380"/>
          </a:xfrm>
        </p:grpSpPr>
        <p:sp>
          <p:nvSpPr>
            <p:cNvPr id="14" name="TextBox 13">
              <a:extLst>
                <a:ext uri="{FF2B5EF4-FFF2-40B4-BE49-F238E27FC236}">
                  <a16:creationId xmlns:a16="http://schemas.microsoft.com/office/drawing/2014/main" id="{94A2CA67-3098-2A87-2C78-8177A07F80DD}"/>
                </a:ext>
              </a:extLst>
            </p:cNvPr>
            <p:cNvSpPr txBox="1"/>
            <p:nvPr/>
          </p:nvSpPr>
          <p:spPr>
            <a:xfrm>
              <a:off x="210051" y="188640"/>
              <a:ext cx="1867819" cy="403380"/>
            </a:xfrm>
            <a:prstGeom prst="rect">
              <a:avLst/>
            </a:prstGeom>
            <a:noFill/>
          </p:spPr>
          <p:txBody>
            <a:bodyPr wrap="none" rtlCol="0">
              <a:spAutoFit/>
            </a:bodyPr>
            <a:lstStyle/>
            <a:p>
              <a:pPr marL="0" marR="0" lvl="0" indent="0" algn="l" defTabSz="914400" rtl="0" eaLnBrk="1" fontAlgn="auto" latinLnBrk="1" hangingPunct="1">
                <a:lnSpc>
                  <a:spcPct val="110000"/>
                </a:lnSpc>
                <a:spcBef>
                  <a:spcPts val="300"/>
                </a:spcBef>
                <a:spcAft>
                  <a:spcPts val="0"/>
                </a:spcAft>
                <a:buClrTx/>
                <a:buSzTx/>
                <a:buFontTx/>
                <a:buNone/>
                <a:tabLst/>
                <a:defRPr/>
              </a:pPr>
              <a:r>
                <a:rPr kumimoji="0" lang="en-US" altLang="ko-KR" sz="2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 Summary (</a:t>
              </a:r>
              <a:r>
                <a:rPr lang="en-US" altLang="ko-KR" sz="2000" b="1" dirty="0">
                  <a:solidFill>
                    <a:prstClr val="black"/>
                  </a:solidFill>
                  <a:latin typeface="Arial Narrow" panose="020B0606020202030204" pitchFamily="34" charset="0"/>
                  <a:ea typeface="LG스마트체 Regular" panose="020B0600000101010101" pitchFamily="50" charset="-127"/>
                </a:rPr>
                <a:t>3</a:t>
              </a:r>
              <a:r>
                <a:rPr kumimoji="0" lang="en-US" altLang="ko-KR" sz="2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/3)</a:t>
              </a:r>
              <a:endParaRPr kumimoji="0" lang="ko-KR" altLang="en-US" sz="2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15" name="직선 연결선 14">
              <a:extLst>
                <a:ext uri="{FF2B5EF4-FFF2-40B4-BE49-F238E27FC236}">
                  <a16:creationId xmlns:a16="http://schemas.microsoft.com/office/drawing/2014/main" id="{2197EEC8-115F-E7E6-061E-7FB19D22E52A}"/>
                </a:ext>
              </a:extLst>
            </p:cNvPr>
            <p:cNvCxnSpPr>
              <a:cxnSpLocks/>
            </p:cNvCxnSpPr>
            <p:nvPr/>
          </p:nvCxnSpPr>
          <p:spPr>
            <a:xfrm flipH="1">
              <a:off x="283918" y="563654"/>
              <a:ext cx="173624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83FC9E40-DA42-9D1D-4473-740858B1FDAF}"/>
              </a:ext>
            </a:extLst>
          </p:cNvPr>
          <p:cNvSpPr txBox="1"/>
          <p:nvPr/>
        </p:nvSpPr>
        <p:spPr>
          <a:xfrm>
            <a:off x="4750612" y="6622748"/>
            <a:ext cx="404777"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100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3</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3 - </a:t>
            </a:r>
          </a:p>
        </p:txBody>
      </p:sp>
      <p:sp>
        <p:nvSpPr>
          <p:cNvPr id="8" name="실행 단추: 앞으로 또는 다음 258">
            <a:hlinkClick r:id="rId4" action="ppaction://hlinksldjump" highlightClick="1"/>
            <a:extLst>
              <a:ext uri="{FF2B5EF4-FFF2-40B4-BE49-F238E27FC236}">
                <a16:creationId xmlns:a16="http://schemas.microsoft.com/office/drawing/2014/main" id="{753D1104-FC27-6302-A04F-BDA4192574E2}"/>
              </a:ext>
            </a:extLst>
          </p:cNvPr>
          <p:cNvSpPr/>
          <p:nvPr/>
        </p:nvSpPr>
        <p:spPr>
          <a:xfrm>
            <a:off x="5300019" y="3545274"/>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lnSpc>
                <a:spcPct val="80000"/>
              </a:lnSpc>
              <a:spcBef>
                <a:spcPct val="0"/>
              </a:spcBef>
              <a:spcAft>
                <a:spcPct val="0"/>
              </a:spcAft>
            </a:pPr>
            <a:endParaRPr kumimoji="1" lang="ko-KR" altLang="en-US" sz="2800" dirty="0">
              <a:solidFill>
                <a:schemeClr val="tx2"/>
              </a:solidFill>
              <a:latin typeface="Arial Narrow" panose="020B0606020202030204" pitchFamily="34" charset="0"/>
              <a:ea typeface="LG스마트체 Regular" panose="020B0600000101010101" pitchFamily="50" charset="-127"/>
            </a:endParaRPr>
          </a:p>
        </p:txBody>
      </p:sp>
      <p:graphicFrame>
        <p:nvGraphicFramePr>
          <p:cNvPr id="16" name="표 15">
            <a:extLst>
              <a:ext uri="{FF2B5EF4-FFF2-40B4-BE49-F238E27FC236}">
                <a16:creationId xmlns:a16="http://schemas.microsoft.com/office/drawing/2014/main" id="{F61B9756-C643-6FE4-E55F-4D2F08718621}"/>
              </a:ext>
            </a:extLst>
          </p:cNvPr>
          <p:cNvGraphicFramePr>
            <a:graphicFrameLocks noGrp="1"/>
          </p:cNvGraphicFramePr>
          <p:nvPr>
            <p:extLst>
              <p:ext uri="{D42A27DB-BD31-4B8C-83A1-F6EECF244321}">
                <p14:modId xmlns:p14="http://schemas.microsoft.com/office/powerpoint/2010/main" val="376166924"/>
              </p:ext>
            </p:extLst>
          </p:nvPr>
        </p:nvGraphicFramePr>
        <p:xfrm>
          <a:off x="6347358" y="1258084"/>
          <a:ext cx="3259150" cy="586740"/>
        </p:xfrm>
        <a:graphic>
          <a:graphicData uri="http://schemas.openxmlformats.org/drawingml/2006/table">
            <a:tbl>
              <a:tblPr/>
              <a:tblGrid>
                <a:gridCol w="354340">
                  <a:extLst>
                    <a:ext uri="{9D8B030D-6E8A-4147-A177-3AD203B41FA5}">
                      <a16:colId xmlns:a16="http://schemas.microsoft.com/office/drawing/2014/main" val="4261605441"/>
                    </a:ext>
                  </a:extLst>
                </a:gridCol>
                <a:gridCol w="354340">
                  <a:extLst>
                    <a:ext uri="{9D8B030D-6E8A-4147-A177-3AD203B41FA5}">
                      <a16:colId xmlns:a16="http://schemas.microsoft.com/office/drawing/2014/main" val="642598672"/>
                    </a:ext>
                  </a:extLst>
                </a:gridCol>
                <a:gridCol w="366700">
                  <a:extLst>
                    <a:ext uri="{9D8B030D-6E8A-4147-A177-3AD203B41FA5}">
                      <a16:colId xmlns:a16="http://schemas.microsoft.com/office/drawing/2014/main" val="1291327189"/>
                    </a:ext>
                  </a:extLst>
                </a:gridCol>
                <a:gridCol w="370334">
                  <a:extLst>
                    <a:ext uri="{9D8B030D-6E8A-4147-A177-3AD203B41FA5}">
                      <a16:colId xmlns:a16="http://schemas.microsoft.com/office/drawing/2014/main" val="1340170478"/>
                    </a:ext>
                  </a:extLst>
                </a:gridCol>
                <a:gridCol w="408438">
                  <a:extLst>
                    <a:ext uri="{9D8B030D-6E8A-4147-A177-3AD203B41FA5}">
                      <a16:colId xmlns:a16="http://schemas.microsoft.com/office/drawing/2014/main" val="3288636524"/>
                    </a:ext>
                  </a:extLst>
                </a:gridCol>
                <a:gridCol w="354340">
                  <a:extLst>
                    <a:ext uri="{9D8B030D-6E8A-4147-A177-3AD203B41FA5}">
                      <a16:colId xmlns:a16="http://schemas.microsoft.com/office/drawing/2014/main" val="1998605064"/>
                    </a:ext>
                  </a:extLst>
                </a:gridCol>
                <a:gridCol w="325498">
                  <a:extLst>
                    <a:ext uri="{9D8B030D-6E8A-4147-A177-3AD203B41FA5}">
                      <a16:colId xmlns:a16="http://schemas.microsoft.com/office/drawing/2014/main" val="184089155"/>
                    </a:ext>
                  </a:extLst>
                </a:gridCol>
                <a:gridCol w="362580">
                  <a:extLst>
                    <a:ext uri="{9D8B030D-6E8A-4147-A177-3AD203B41FA5}">
                      <a16:colId xmlns:a16="http://schemas.microsoft.com/office/drawing/2014/main" val="1210762940"/>
                    </a:ext>
                  </a:extLst>
                </a:gridCol>
                <a:gridCol w="362580">
                  <a:extLst>
                    <a:ext uri="{9D8B030D-6E8A-4147-A177-3AD203B41FA5}">
                      <a16:colId xmlns:a16="http://schemas.microsoft.com/office/drawing/2014/main" val="58500211"/>
                    </a:ext>
                  </a:extLst>
                </a:gridCol>
              </a:tblGrid>
              <a:tr h="82739">
                <a:tc row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법인</a:t>
                      </a: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 연간 목표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grid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누적실적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grid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개선율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gridSpan="2">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GAP</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fontAlgn="ctr">
                        <a:buNone/>
                      </a:pP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49040"/>
                  </a:ext>
                </a:extLst>
              </a:tr>
              <a:tr h="82739">
                <a:tc vMerge="1">
                  <a:txBody>
                    <a:bodyPr/>
                    <a:lstStyle/>
                    <a:p>
                      <a:pPr algn="ctr" fontAlgn="ctr">
                        <a:buNone/>
                      </a:pP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라미</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STK</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라미</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STK</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라미</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STK</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라미</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STK</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72147466"/>
                  </a:ext>
                </a:extLst>
              </a:tr>
              <a:tr h="82739">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WA</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0.79</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0.84</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0.67</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0.91</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32</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14</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12</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6</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52382894"/>
                  </a:ext>
                </a:extLst>
              </a:tr>
              <a:tr h="82739">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MI2</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0.92</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1.49</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0.73</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1.26</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36</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algn="r"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33</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r" defTabSz="914400" rtl="0" eaLnBrk="1" fontAlgn="ctr" latinLnBrk="1" hangingPunct="1">
                        <a:lnSpc>
                          <a:spcPct val="100000"/>
                        </a:lnSpc>
                        <a:spcBef>
                          <a:spcPts val="0"/>
                        </a:spcBef>
                        <a:spcAft>
                          <a:spcPts val="0"/>
                        </a:spcAft>
                        <a:buClrTx/>
                        <a:buSzTx/>
                        <a:buFontTx/>
                        <a:buNone/>
                        <a:tabLst/>
                        <a:defRPr/>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16</a:t>
                      </a:r>
                      <a:endParaRPr lang="ko-KR" alt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r" defTabSz="914400" rtl="0" eaLnBrk="1" fontAlgn="ctr" latinLnBrk="1" hangingPunct="1">
                        <a:lnSpc>
                          <a:spcPct val="100000"/>
                        </a:lnSpc>
                        <a:spcBef>
                          <a:spcPts val="0"/>
                        </a:spcBef>
                        <a:spcAft>
                          <a:spcPts val="0"/>
                        </a:spcAft>
                        <a:buClrTx/>
                        <a:buSzTx/>
                        <a:buFontTx/>
                        <a:buNone/>
                        <a:tabLst/>
                        <a:defRPr/>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13</a:t>
                      </a:r>
                      <a:endParaRPr lang="ko-KR" alt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43110602"/>
                  </a:ext>
                </a:extLst>
              </a:tr>
            </a:tbl>
          </a:graphicData>
        </a:graphic>
      </p:graphicFrame>
      <p:grpSp>
        <p:nvGrpSpPr>
          <p:cNvPr id="3" name="그룹 2">
            <a:extLst>
              <a:ext uri="{FF2B5EF4-FFF2-40B4-BE49-F238E27FC236}">
                <a16:creationId xmlns:a16="http://schemas.microsoft.com/office/drawing/2014/main" id="{CFEB88A2-74F5-971A-9EDA-8223B46D834A}"/>
              </a:ext>
            </a:extLst>
          </p:cNvPr>
          <p:cNvGrpSpPr/>
          <p:nvPr/>
        </p:nvGrpSpPr>
        <p:grpSpPr>
          <a:xfrm>
            <a:off x="7758397" y="114985"/>
            <a:ext cx="1781744" cy="604476"/>
            <a:chOff x="4232920" y="49957"/>
            <a:chExt cx="1781744" cy="604476"/>
          </a:xfrm>
        </p:grpSpPr>
        <p:sp>
          <p:nvSpPr>
            <p:cNvPr id="4" name="타원 3">
              <a:extLst>
                <a:ext uri="{FF2B5EF4-FFF2-40B4-BE49-F238E27FC236}">
                  <a16:creationId xmlns:a16="http://schemas.microsoft.com/office/drawing/2014/main" id="{3F9EBDC8-3249-0D1C-D192-375FDBAE5989}"/>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5D0C5D1-58FD-D870-2FB9-280CBC50F117}"/>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 name="타원 10">
              <a:extLst>
                <a:ext uri="{FF2B5EF4-FFF2-40B4-BE49-F238E27FC236}">
                  <a16:creationId xmlns:a16="http://schemas.microsoft.com/office/drawing/2014/main" id="{DCBADF8F-33EF-CFCF-948D-9EDA1B051C6A}"/>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AC9E98F7-C637-8979-53D6-52DC7E688340}"/>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27" name="타원 26">
              <a:extLst>
                <a:ext uri="{FF2B5EF4-FFF2-40B4-BE49-F238E27FC236}">
                  <a16:creationId xmlns:a16="http://schemas.microsoft.com/office/drawing/2014/main" id="{D4F91EE7-5E3C-EE8D-257F-1C33133909E0}"/>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B25B93E2-F9F8-F5C8-6C16-E60C789F91C8}"/>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3988623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4">
            <a:extLst>
              <a:ext uri="{FF2B5EF4-FFF2-40B4-BE49-F238E27FC236}">
                <a16:creationId xmlns:a16="http://schemas.microsoft.com/office/drawing/2014/main" id="{62340CFC-2E8A-6117-912D-4AD1FA845FA3}"/>
              </a:ext>
            </a:extLst>
          </p:cNvPr>
          <p:cNvSpPr>
            <a:spLocks noChangeArrowheads="1"/>
          </p:cNvSpPr>
          <p:nvPr/>
        </p:nvSpPr>
        <p:spPr bwMode="auto">
          <a:xfrm>
            <a:off x="200471" y="1510124"/>
            <a:ext cx="448035" cy="1679176"/>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일정</a:t>
            </a: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39" name="표 38">
            <a:extLst>
              <a:ext uri="{FF2B5EF4-FFF2-40B4-BE49-F238E27FC236}">
                <a16:creationId xmlns:a16="http://schemas.microsoft.com/office/drawing/2014/main" id="{C796E062-57ED-1743-45E2-7403DF291AAF}"/>
              </a:ext>
            </a:extLst>
          </p:cNvPr>
          <p:cNvGraphicFramePr>
            <a:graphicFrameLocks noGrp="1"/>
          </p:cNvGraphicFramePr>
          <p:nvPr/>
        </p:nvGraphicFramePr>
        <p:xfrm>
          <a:off x="735049" y="761673"/>
          <a:ext cx="8862107" cy="702000"/>
        </p:xfrm>
        <a:graphic>
          <a:graphicData uri="http://schemas.openxmlformats.org/drawingml/2006/table">
            <a:tbl>
              <a:tblPr/>
              <a:tblGrid>
                <a:gridCol w="2398749">
                  <a:extLst>
                    <a:ext uri="{9D8B030D-6E8A-4147-A177-3AD203B41FA5}">
                      <a16:colId xmlns:a16="http://schemas.microsoft.com/office/drawing/2014/main" val="20000"/>
                    </a:ext>
                  </a:extLst>
                </a:gridCol>
                <a:gridCol w="4530971">
                  <a:extLst>
                    <a:ext uri="{9D8B030D-6E8A-4147-A177-3AD203B41FA5}">
                      <a16:colId xmlns:a16="http://schemas.microsoft.com/office/drawing/2014/main" val="20001"/>
                    </a:ext>
                  </a:extLst>
                </a:gridCol>
                <a:gridCol w="1199375">
                  <a:extLst>
                    <a:ext uri="{9D8B030D-6E8A-4147-A177-3AD203B41FA5}">
                      <a16:colId xmlns:a16="http://schemas.microsoft.com/office/drawing/2014/main" val="2961269463"/>
                    </a:ext>
                  </a:extLst>
                </a:gridCol>
                <a:gridCol w="733012">
                  <a:extLst>
                    <a:ext uri="{9D8B030D-6E8A-4147-A177-3AD203B41FA5}">
                      <a16:colId xmlns:a16="http://schemas.microsoft.com/office/drawing/2014/main" val="20007"/>
                    </a:ext>
                  </a:extLst>
                </a:gridCol>
              </a:tblGrid>
              <a:tr h="21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KPI</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’26</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년 분기목표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연간목표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비중</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상태</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48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ctr" latinLnBrk="1" hangingPunct="1">
                        <a:lnSpc>
                          <a:spcPct val="100000"/>
                        </a:lnSpc>
                        <a:spcBef>
                          <a:spcPct val="0"/>
                        </a:spcBef>
                        <a:spcAft>
                          <a:spcPct val="0"/>
                        </a:spcAft>
                        <a:buClrTx/>
                        <a:buSzTx/>
                        <a:buFontTx/>
                        <a:buNone/>
                        <a:tabLst/>
                        <a:defRPr/>
                      </a:pPr>
                      <a:r>
                        <a:rPr lang="ko-KR" altLang="en-US" sz="1000" b="1" i="0" u="none" strike="noStrike" kern="1200" baseline="0">
                          <a:solidFill>
                            <a:srgbClr val="000000"/>
                          </a:solidFill>
                          <a:effectLst/>
                          <a:latin typeface="Arial Narrow" panose="020B0606020202030204" pitchFamily="34" charset="0"/>
                          <a:ea typeface="LG스마트체 Regular" panose="020B0600000101010101" pitchFamily="50" charset="-127"/>
                          <a:cs typeface="+mn-cs"/>
                        </a:rPr>
                        <a:t>라미 불량 분석 </a:t>
                      </a:r>
                      <a:r>
                        <a:rPr lang="en-US" altLang="ko-KR" sz="1000" b="1" i="0" u="none" strike="noStrike" kern="1200" baseline="0">
                          <a:solidFill>
                            <a:srgbClr val="000000"/>
                          </a:solidFill>
                          <a:effectLst/>
                          <a:latin typeface="Arial Narrow" panose="020B0606020202030204" pitchFamily="34" charset="0"/>
                          <a:ea typeface="LG스마트체 Regular" panose="020B0600000101010101" pitchFamily="50" charset="-127"/>
                          <a:cs typeface="+mn-cs"/>
                        </a:rPr>
                        <a:t>AI Agent </a:t>
                      </a:r>
                      <a:r>
                        <a:rPr lang="ko-KR" altLang="en-US" sz="1000" b="1" i="0" u="none" strike="noStrike" kern="1200" baseline="0">
                          <a:solidFill>
                            <a:srgbClr val="000000"/>
                          </a:solidFill>
                          <a:effectLst/>
                          <a:latin typeface="Arial Narrow" panose="020B0606020202030204" pitchFamily="34" charset="0"/>
                          <a:ea typeface="LG스마트체 Regular" panose="020B0600000101010101" pitchFamily="50" charset="-127"/>
                          <a:cs typeface="+mn-cs"/>
                        </a:rPr>
                        <a:t>개발</a:t>
                      </a:r>
                      <a:endParaRPr lang="en-US" altLang="ko-KR" sz="1000" b="1" i="0" u="none" strike="noStrike" kern="1200" baseline="0">
                        <a:solidFill>
                          <a:srgbClr val="000000"/>
                        </a:solidFill>
                        <a:effectLst/>
                        <a:latin typeface="Arial Narrow" panose="020B0606020202030204" pitchFamily="34" charset="0"/>
                        <a:ea typeface="LG스마트체 Regular" panose="020B0600000101010101" pitchFamily="50" charset="-127"/>
                        <a:cs typeface="+mn-cs"/>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kumimoji="1" lang="ko-KR" altLang="en-US" sz="10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주요 기능 최적화 및 </a:t>
                      </a:r>
                      <a:r>
                        <a:rPr kumimoji="1" lang="en-US" altLang="ko-KR" sz="10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AI </a:t>
                      </a:r>
                      <a:r>
                        <a:rPr kumimoji="1" lang="ko-KR" altLang="en-US" sz="10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서비스 화면 개발</a:t>
                      </a:r>
                      <a:r>
                        <a:rPr kumimoji="1" lang="en-US" altLang="ko-KR" sz="1000" b="1"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b="1" kern="1200" spc="0" dirty="0">
                          <a:solidFill>
                            <a:schemeClr val="tx1"/>
                          </a:solidFill>
                          <a:latin typeface="Arial Narrow" panose="020B0606020202030204" pitchFamily="34" charset="0"/>
                          <a:ea typeface="LG스마트체 Regular" panose="020B0600000101010101" pitchFamily="50" charset="-127"/>
                          <a:cs typeface="+mn-cs"/>
                        </a:rPr>
                        <a:t>[3Q </a:t>
                      </a:r>
                      <a:r>
                        <a:rPr lang="ko-KR" altLang="en-US" sz="1000" b="1" kern="1200" spc="0" dirty="0">
                          <a:solidFill>
                            <a:schemeClr val="tx1"/>
                          </a:solidFill>
                          <a:latin typeface="Arial Narrow" panose="020B0606020202030204" pitchFamily="34" charset="0"/>
                          <a:ea typeface="LG스마트체 Regular" panose="020B0600000101010101" pitchFamily="50" charset="-127"/>
                          <a:cs typeface="+mn-cs"/>
                        </a:rPr>
                        <a:t>목표</a:t>
                      </a:r>
                      <a:r>
                        <a:rPr lang="en-US" altLang="ko-KR" sz="1000" b="1" kern="1200" spc="0" dirty="0">
                          <a:solidFill>
                            <a:schemeClr val="tx1"/>
                          </a:solidFill>
                          <a:latin typeface="Arial Narrow" panose="020B0606020202030204" pitchFamily="34" charset="0"/>
                          <a:ea typeface="LG스마트체 Regular" panose="020B0600000101010101" pitchFamily="50" charset="-127"/>
                          <a:cs typeface="+mn-cs"/>
                        </a:rPr>
                        <a:t>]</a:t>
                      </a:r>
                    </a:p>
                    <a:p>
                      <a:pPr marL="0" indent="0" algn="l" rtl="0" fontAlgn="ctr">
                        <a:buFont typeface="Arial" panose="020B0604020202020204" pitchFamily="34" charset="0"/>
                        <a:buNone/>
                      </a:pPr>
                      <a:r>
                        <a:rPr lang="en-US" altLang="ko-KR" sz="1000" b="0" kern="1200" spc="0" dirty="0">
                          <a:solidFill>
                            <a:srgbClr val="006600"/>
                          </a:solidFill>
                          <a:latin typeface="Arial Narrow" panose="020B0606020202030204" pitchFamily="34" charset="0"/>
                          <a:ea typeface="LG스마트체 Regular" panose="020B0600000101010101" pitchFamily="50" charset="-127"/>
                          <a:cs typeface="+mn-cs"/>
                        </a:rPr>
                        <a:t>※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Q : ESWA </a:t>
                      </a:r>
                      <a:r>
                        <a:rPr lang="ko-KR" altLang="en-US" sz="1000" b="0" i="0" u="none" strike="noStrike" baseline="0" dirty="0" err="1">
                          <a:solidFill>
                            <a:srgbClr val="006600"/>
                          </a:solidFill>
                          <a:effectLst/>
                          <a:latin typeface="Arial Narrow" panose="020B0606020202030204" pitchFamily="34" charset="0"/>
                          <a:ea typeface="LG스마트체 Regular" panose="020B0600000101010101" pitchFamily="50" charset="-127"/>
                        </a:rPr>
                        <a:t>라미</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 대상 분석 정확성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90%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이상 달성</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a:t>
                      </a:r>
                      <a:r>
                        <a:rPr lang="ko-KR" altLang="en-US" sz="1000" b="0" i="0" u="none" strike="noStrike" baseline="0" dirty="0" err="1">
                          <a:solidFill>
                            <a:srgbClr val="006600"/>
                          </a:solidFill>
                          <a:effectLst/>
                          <a:latin typeface="Arial Narrow" panose="020B0606020202030204" pitchFamily="34" charset="0"/>
                          <a:ea typeface="LG스마트체 Regular" panose="020B0600000101010101" pitchFamily="50" charset="-127"/>
                        </a:rPr>
                        <a:t>연목표</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p>
                    <a:p>
                      <a:pPr marL="0" indent="0" algn="l" rtl="0" fontAlgn="ctr">
                        <a:buFont typeface="Arial" panose="020B0604020202020204" pitchFamily="34" charset="0"/>
                        <a:buNone/>
                      </a:pP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D : ’26.11</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월</a:t>
                      </a:r>
                      <a:endParaRPr lang="ko-KR" altLang="en-US" sz="1000" b="0" i="0" u="none" strike="noStrike" dirty="0">
                        <a:solidFill>
                          <a:srgbClr val="006600"/>
                        </a:solidFill>
                        <a:effectLst/>
                        <a:latin typeface="Arial Narrow" panose="020B0606020202030204" pitchFamily="34" charset="0"/>
                        <a:ea typeface="LG스마트체 Regular" panose="020B0600000101010101" pitchFamily="50" charset="-127"/>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algn="ctr" fontAlgn="ctr"/>
                      <a:r>
                        <a:rPr 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5% (</a:t>
                      </a:r>
                      <a:r>
                        <a:rPr lang="ko-KR" alt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제조</a:t>
                      </a: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DX</a:t>
                      </a:r>
                      <a:r>
                        <a:rPr lang="ko-KR" alt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솔루션담당</a:t>
                      </a: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a:t>
                      </a:r>
                      <a:endParaRPr 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endParaRPr lang="en-US" sz="1000" b="0" i="0" u="none" strike="noStrike" spc="-70" baseline="0" dirty="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46" name="Rectangle 4">
            <a:extLst>
              <a:ext uri="{FF2B5EF4-FFF2-40B4-BE49-F238E27FC236}">
                <a16:creationId xmlns:a16="http://schemas.microsoft.com/office/drawing/2014/main" id="{E2FB41E2-30D5-76F3-2235-155C18EA7A88}"/>
              </a:ext>
            </a:extLst>
          </p:cNvPr>
          <p:cNvSpPr>
            <a:spLocks noChangeArrowheads="1"/>
          </p:cNvSpPr>
          <p:nvPr/>
        </p:nvSpPr>
        <p:spPr bwMode="auto">
          <a:xfrm>
            <a:off x="200471" y="761674"/>
            <a:ext cx="448035" cy="702000"/>
          </a:xfrm>
          <a:prstGeom prst="rect">
            <a:avLst/>
          </a:prstGeom>
          <a:solidFill>
            <a:schemeClr val="bg1"/>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90000"/>
              </a:lnSpc>
              <a:spcBef>
                <a:spcPct val="3000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목표</a:t>
            </a:r>
            <a:endParaRPr kumimoji="1" lang="en-US" altLang="ko-KR"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53" name="표 52">
            <a:extLst>
              <a:ext uri="{FF2B5EF4-FFF2-40B4-BE49-F238E27FC236}">
                <a16:creationId xmlns:a16="http://schemas.microsoft.com/office/drawing/2014/main" id="{FE69F896-B9EA-A190-6FFC-CB3CDD0D2489}"/>
              </a:ext>
            </a:extLst>
          </p:cNvPr>
          <p:cNvGraphicFramePr>
            <a:graphicFrameLocks noGrp="1"/>
          </p:cNvGraphicFramePr>
          <p:nvPr/>
        </p:nvGraphicFramePr>
        <p:xfrm>
          <a:off x="735048" y="1521549"/>
          <a:ext cx="8859516" cy="1658607"/>
        </p:xfrm>
        <a:graphic>
          <a:graphicData uri="http://schemas.openxmlformats.org/drawingml/2006/table">
            <a:tbl>
              <a:tblPr/>
              <a:tblGrid>
                <a:gridCol w="648000">
                  <a:extLst>
                    <a:ext uri="{9D8B030D-6E8A-4147-A177-3AD203B41FA5}">
                      <a16:colId xmlns:a16="http://schemas.microsoft.com/office/drawing/2014/main" val="1710325250"/>
                    </a:ext>
                  </a:extLst>
                </a:gridCol>
                <a:gridCol w="684293">
                  <a:extLst>
                    <a:ext uri="{9D8B030D-6E8A-4147-A177-3AD203B41FA5}">
                      <a16:colId xmlns:a16="http://schemas.microsoft.com/office/drawing/2014/main" val="987082969"/>
                    </a:ext>
                  </a:extLst>
                </a:gridCol>
                <a:gridCol w="684293">
                  <a:extLst>
                    <a:ext uri="{9D8B030D-6E8A-4147-A177-3AD203B41FA5}">
                      <a16:colId xmlns:a16="http://schemas.microsoft.com/office/drawing/2014/main" val="2582822843"/>
                    </a:ext>
                  </a:extLst>
                </a:gridCol>
                <a:gridCol w="684293">
                  <a:extLst>
                    <a:ext uri="{9D8B030D-6E8A-4147-A177-3AD203B41FA5}">
                      <a16:colId xmlns:a16="http://schemas.microsoft.com/office/drawing/2014/main" val="3574503571"/>
                    </a:ext>
                  </a:extLst>
                </a:gridCol>
                <a:gridCol w="684293">
                  <a:extLst>
                    <a:ext uri="{9D8B030D-6E8A-4147-A177-3AD203B41FA5}">
                      <a16:colId xmlns:a16="http://schemas.microsoft.com/office/drawing/2014/main" val="906262013"/>
                    </a:ext>
                  </a:extLst>
                </a:gridCol>
                <a:gridCol w="684293">
                  <a:extLst>
                    <a:ext uri="{9D8B030D-6E8A-4147-A177-3AD203B41FA5}">
                      <a16:colId xmlns:a16="http://schemas.microsoft.com/office/drawing/2014/main" val="3618680307"/>
                    </a:ext>
                  </a:extLst>
                </a:gridCol>
                <a:gridCol w="684293">
                  <a:extLst>
                    <a:ext uri="{9D8B030D-6E8A-4147-A177-3AD203B41FA5}">
                      <a16:colId xmlns:a16="http://schemas.microsoft.com/office/drawing/2014/main" val="1865859727"/>
                    </a:ext>
                  </a:extLst>
                </a:gridCol>
                <a:gridCol w="684293">
                  <a:extLst>
                    <a:ext uri="{9D8B030D-6E8A-4147-A177-3AD203B41FA5}">
                      <a16:colId xmlns:a16="http://schemas.microsoft.com/office/drawing/2014/main" val="214679234"/>
                    </a:ext>
                  </a:extLst>
                </a:gridCol>
                <a:gridCol w="684293">
                  <a:extLst>
                    <a:ext uri="{9D8B030D-6E8A-4147-A177-3AD203B41FA5}">
                      <a16:colId xmlns:a16="http://schemas.microsoft.com/office/drawing/2014/main" val="2741167305"/>
                    </a:ext>
                  </a:extLst>
                </a:gridCol>
                <a:gridCol w="684293">
                  <a:extLst>
                    <a:ext uri="{9D8B030D-6E8A-4147-A177-3AD203B41FA5}">
                      <a16:colId xmlns:a16="http://schemas.microsoft.com/office/drawing/2014/main" val="3278585182"/>
                    </a:ext>
                  </a:extLst>
                </a:gridCol>
                <a:gridCol w="684293">
                  <a:extLst>
                    <a:ext uri="{9D8B030D-6E8A-4147-A177-3AD203B41FA5}">
                      <a16:colId xmlns:a16="http://schemas.microsoft.com/office/drawing/2014/main" val="1712991450"/>
                    </a:ext>
                  </a:extLst>
                </a:gridCol>
                <a:gridCol w="684293">
                  <a:extLst>
                    <a:ext uri="{9D8B030D-6E8A-4147-A177-3AD203B41FA5}">
                      <a16:colId xmlns:a16="http://schemas.microsoft.com/office/drawing/2014/main" val="823744282"/>
                    </a:ext>
                  </a:extLst>
                </a:gridCol>
                <a:gridCol w="684293">
                  <a:extLst>
                    <a:ext uri="{9D8B030D-6E8A-4147-A177-3AD203B41FA5}">
                      <a16:colId xmlns:a16="http://schemas.microsoft.com/office/drawing/2014/main" val="2867782548"/>
                    </a:ext>
                  </a:extLst>
                </a:gridCol>
              </a:tblGrid>
              <a:tr h="127781">
                <a:tc rowSpan="2">
                  <a:txBody>
                    <a:bodyPr/>
                    <a:lstStyle/>
                    <a:p>
                      <a:pPr algn="ctr" fontAlgn="ct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구분</a:t>
                      </a: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gridSpan="12">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년</a:t>
                      </a:r>
                    </a:p>
                  </a:txBody>
                  <a:tcPr marL="0" marR="0" marT="0" marB="0" anchor="ctr">
                    <a:lnL w="12700" cap="flat" cmpd="sng" algn="ctr">
                      <a:solidFill>
                        <a:schemeClr val="bg1">
                          <a:lumMod val="65000"/>
                        </a:schemeClr>
                      </a:solidFill>
                      <a:prstDash val="solid"/>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0257681"/>
                  </a:ext>
                </a:extLst>
              </a:tr>
              <a:tr h="127781">
                <a:tc vMerge="1">
                  <a:txBody>
                    <a:bodyPr/>
                    <a:lstStyle/>
                    <a:p>
                      <a:endParaRPr/>
                    </a:p>
                  </a:txBody>
                  <a:tcPr marL="0" marR="0" marT="0" marB="0" anchor="ctr">
                    <a:lnL w="635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3</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4</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7</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8</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9</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10</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850938"/>
                  </a:ext>
                </a:extLst>
              </a:tr>
              <a:tr h="461429">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63549617"/>
                  </a:ext>
                </a:extLst>
              </a:tr>
              <a:tr h="461429">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057251"/>
                  </a:ext>
                </a:extLst>
              </a:tr>
              <a:tr h="461429">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0346123"/>
                  </a:ext>
                </a:extLst>
              </a:tr>
            </a:tbl>
          </a:graphicData>
        </a:graphic>
      </p:graphicFrame>
      <p:cxnSp>
        <p:nvCxnSpPr>
          <p:cNvPr id="54" name="직선 화살표 연결선 53">
            <a:extLst>
              <a:ext uri="{FF2B5EF4-FFF2-40B4-BE49-F238E27FC236}">
                <a16:creationId xmlns:a16="http://schemas.microsoft.com/office/drawing/2014/main" id="{C0F4D4E4-6BA9-FE6D-991D-0868F69B356B}"/>
              </a:ext>
            </a:extLst>
          </p:cNvPr>
          <p:cNvCxnSpPr>
            <a:cxnSpLocks/>
          </p:cNvCxnSpPr>
          <p:nvPr/>
        </p:nvCxnSpPr>
        <p:spPr>
          <a:xfrm>
            <a:off x="1343454" y="1909688"/>
            <a:ext cx="7584783"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타원 81">
            <a:extLst>
              <a:ext uri="{FF2B5EF4-FFF2-40B4-BE49-F238E27FC236}">
                <a16:creationId xmlns:a16="http://schemas.microsoft.com/office/drawing/2014/main" id="{8926F49B-D0D9-F626-B13E-28100E821B30}"/>
              </a:ext>
            </a:extLst>
          </p:cNvPr>
          <p:cNvSpPr>
            <a:spLocks noChangeAspect="1"/>
          </p:cNvSpPr>
          <p:nvPr/>
        </p:nvSpPr>
        <p:spPr>
          <a:xfrm>
            <a:off x="9170951" y="1140724"/>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grpSp>
        <p:nvGrpSpPr>
          <p:cNvPr id="83" name="그룹 1">
            <a:extLst>
              <a:ext uri="{FF2B5EF4-FFF2-40B4-BE49-F238E27FC236}">
                <a16:creationId xmlns:a16="http://schemas.microsoft.com/office/drawing/2014/main" id="{1455D6F7-65C1-D880-C862-887DCB452DF5}"/>
              </a:ext>
            </a:extLst>
          </p:cNvPr>
          <p:cNvGrpSpPr/>
          <p:nvPr/>
        </p:nvGrpSpPr>
        <p:grpSpPr>
          <a:xfrm>
            <a:off x="6980064" y="1509607"/>
            <a:ext cx="205184" cy="1670547"/>
            <a:chOff x="2020628" y="1123354"/>
            <a:chExt cx="205184" cy="5005022"/>
          </a:xfrm>
        </p:grpSpPr>
        <p:grpSp>
          <p:nvGrpSpPr>
            <p:cNvPr id="84" name="그룹 2">
              <a:extLst>
                <a:ext uri="{FF2B5EF4-FFF2-40B4-BE49-F238E27FC236}">
                  <a16:creationId xmlns:a16="http://schemas.microsoft.com/office/drawing/2014/main" id="{CCCE8D09-43A0-118B-DE57-5759232783A5}"/>
                </a:ext>
              </a:extLst>
            </p:cNvPr>
            <p:cNvGrpSpPr/>
            <p:nvPr/>
          </p:nvGrpSpPr>
          <p:grpSpPr>
            <a:xfrm>
              <a:off x="2072680" y="1578060"/>
              <a:ext cx="120667" cy="4550316"/>
              <a:chOff x="4167960" y="2510051"/>
              <a:chExt cx="120667" cy="4717070"/>
            </a:xfrm>
          </p:grpSpPr>
          <p:cxnSp>
            <p:nvCxnSpPr>
              <p:cNvPr id="86" name="직선 연결선 167">
                <a:extLst>
                  <a:ext uri="{FF2B5EF4-FFF2-40B4-BE49-F238E27FC236}">
                    <a16:creationId xmlns:a16="http://schemas.microsoft.com/office/drawing/2014/main" id="{8C1E0C50-254F-CF9A-DB71-7AFD4DA3D56E}"/>
                  </a:ext>
                </a:extLst>
              </p:cNvPr>
              <p:cNvCxnSpPr>
                <a:cxnSpLocks/>
              </p:cNvCxnSpPr>
              <p:nvPr/>
            </p:nvCxnSpPr>
            <p:spPr>
              <a:xfrm>
                <a:off x="4228294" y="2685928"/>
                <a:ext cx="0" cy="4541193"/>
              </a:xfrm>
              <a:prstGeom prst="line">
                <a:avLst/>
              </a:prstGeom>
              <a:noFill/>
              <a:ln w="19050" cap="flat" cmpd="sng" algn="ctr">
                <a:solidFill>
                  <a:srgbClr val="FF0000"/>
                </a:solidFill>
                <a:prstDash val="sysDot"/>
              </a:ln>
              <a:effectLst/>
            </p:spPr>
          </p:cxnSp>
          <p:sp>
            <p:nvSpPr>
              <p:cNvPr id="87" name="이등변 삼각형 7">
                <a:extLst>
                  <a:ext uri="{FF2B5EF4-FFF2-40B4-BE49-F238E27FC236}">
                    <a16:creationId xmlns:a16="http://schemas.microsoft.com/office/drawing/2014/main" id="{051F21EE-B6D1-2823-626B-9617CB35A1CC}"/>
                  </a:ext>
                </a:extLst>
              </p:cNvPr>
              <p:cNvSpPr/>
              <p:nvPr/>
            </p:nvSpPr>
            <p:spPr>
              <a:xfrm flipV="1">
                <a:off x="4167960" y="2510051"/>
                <a:ext cx="120667" cy="89074"/>
              </a:xfrm>
              <a:prstGeom prst="triangle">
                <a:avLst/>
              </a:prstGeom>
              <a:solidFill>
                <a:srgbClr val="FF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85" name="Text Box 4">
              <a:extLst>
                <a:ext uri="{FF2B5EF4-FFF2-40B4-BE49-F238E27FC236}">
                  <a16:creationId xmlns:a16="http://schemas.microsoft.com/office/drawing/2014/main" id="{E137607F-40DC-CB5F-D8DF-D195092AE290}"/>
                </a:ext>
              </a:extLst>
            </p:cNvPr>
            <p:cNvSpPr txBox="1">
              <a:spLocks noChangeArrowheads="1"/>
            </p:cNvSpPr>
            <p:nvPr/>
          </p:nvSpPr>
          <p:spPr bwMode="auto">
            <a:xfrm>
              <a:off x="2020628" y="1123354"/>
              <a:ext cx="205184" cy="138501"/>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Arial" charset="0"/>
                </a:rPr>
                <a:t>현재</a:t>
              </a:r>
              <a:endParaRPr kumimoji="0" lang="en-US" altLang="ko-KR" sz="900" b="0" i="0" u="none" strike="noStrike" kern="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Arial" charset="0"/>
              </a:endParaRPr>
            </a:p>
          </p:txBody>
        </p:sp>
      </p:grpSp>
      <p:grpSp>
        <p:nvGrpSpPr>
          <p:cNvPr id="88" name="그룹 1">
            <a:extLst>
              <a:ext uri="{FF2B5EF4-FFF2-40B4-BE49-F238E27FC236}">
                <a16:creationId xmlns:a16="http://schemas.microsoft.com/office/drawing/2014/main" id="{77013FA1-150E-73B5-88D7-84CE00BA5DDA}"/>
              </a:ext>
            </a:extLst>
          </p:cNvPr>
          <p:cNvGrpSpPr/>
          <p:nvPr/>
        </p:nvGrpSpPr>
        <p:grpSpPr>
          <a:xfrm>
            <a:off x="8755518" y="1484784"/>
            <a:ext cx="205184" cy="1720396"/>
            <a:chOff x="2020628" y="1123354"/>
            <a:chExt cx="205184" cy="5154373"/>
          </a:xfrm>
        </p:grpSpPr>
        <p:grpSp>
          <p:nvGrpSpPr>
            <p:cNvPr id="89" name="그룹 2">
              <a:extLst>
                <a:ext uri="{FF2B5EF4-FFF2-40B4-BE49-F238E27FC236}">
                  <a16:creationId xmlns:a16="http://schemas.microsoft.com/office/drawing/2014/main" id="{318A62B2-3514-DD5D-EDA0-B7B0EE7FDF41}"/>
                </a:ext>
              </a:extLst>
            </p:cNvPr>
            <p:cNvGrpSpPr/>
            <p:nvPr/>
          </p:nvGrpSpPr>
          <p:grpSpPr>
            <a:xfrm>
              <a:off x="2072680" y="1578060"/>
              <a:ext cx="120667" cy="4699667"/>
              <a:chOff x="4167960" y="2510051"/>
              <a:chExt cx="120667" cy="4871893"/>
            </a:xfrm>
          </p:grpSpPr>
          <p:cxnSp>
            <p:nvCxnSpPr>
              <p:cNvPr id="91" name="직선 연결선 167">
                <a:extLst>
                  <a:ext uri="{FF2B5EF4-FFF2-40B4-BE49-F238E27FC236}">
                    <a16:creationId xmlns:a16="http://schemas.microsoft.com/office/drawing/2014/main" id="{922573D2-2C93-3977-578B-0CC25885C180}"/>
                  </a:ext>
                </a:extLst>
              </p:cNvPr>
              <p:cNvCxnSpPr>
                <a:cxnSpLocks/>
              </p:cNvCxnSpPr>
              <p:nvPr/>
            </p:nvCxnSpPr>
            <p:spPr>
              <a:xfrm>
                <a:off x="4228294" y="2685925"/>
                <a:ext cx="0" cy="4696019"/>
              </a:xfrm>
              <a:prstGeom prst="line">
                <a:avLst/>
              </a:prstGeom>
              <a:noFill/>
              <a:ln w="19050" cap="flat" cmpd="sng" algn="ctr">
                <a:solidFill>
                  <a:srgbClr val="0000FF"/>
                </a:solidFill>
                <a:prstDash val="sysDot"/>
              </a:ln>
              <a:effectLst/>
            </p:spPr>
          </p:cxnSp>
          <p:sp>
            <p:nvSpPr>
              <p:cNvPr id="92" name="이등변 삼각형 7">
                <a:extLst>
                  <a:ext uri="{FF2B5EF4-FFF2-40B4-BE49-F238E27FC236}">
                    <a16:creationId xmlns:a16="http://schemas.microsoft.com/office/drawing/2014/main" id="{F516A4B0-19A7-8481-FBC4-ACA1A260FA7A}"/>
                  </a:ext>
                </a:extLst>
              </p:cNvPr>
              <p:cNvSpPr/>
              <p:nvPr/>
            </p:nvSpPr>
            <p:spPr>
              <a:xfrm flipV="1">
                <a:off x="4167960" y="2510051"/>
                <a:ext cx="120667" cy="89074"/>
              </a:xfrm>
              <a:prstGeom prst="triangle">
                <a:avLst/>
              </a:prstGeom>
              <a:solidFill>
                <a:srgbClr val="FF0000"/>
              </a:solidFill>
              <a:ln w="25400" cap="flat" cmpd="sng" algn="ctr">
                <a:solidFill>
                  <a:srgbClr val="0000FF"/>
                </a:solid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90" name="Text Box 4">
              <a:extLst>
                <a:ext uri="{FF2B5EF4-FFF2-40B4-BE49-F238E27FC236}">
                  <a16:creationId xmlns:a16="http://schemas.microsoft.com/office/drawing/2014/main" id="{95990B5D-37BE-52EA-C72C-925F91AEC6A0}"/>
                </a:ext>
              </a:extLst>
            </p:cNvPr>
            <p:cNvSpPr txBox="1">
              <a:spLocks noChangeArrowheads="1"/>
            </p:cNvSpPr>
            <p:nvPr/>
          </p:nvSpPr>
          <p:spPr bwMode="auto">
            <a:xfrm>
              <a:off x="2020628" y="1123354"/>
              <a:ext cx="205184" cy="414948"/>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rPr>
                <a:t>완료</a:t>
              </a:r>
              <a:endParaRPr kumimoji="0" lang="en-US" altLang="ko-KR"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endParaRPr>
            </a:p>
          </p:txBody>
        </p:sp>
      </p:grpSp>
      <p:sp>
        <p:nvSpPr>
          <p:cNvPr id="93" name="TextBox 92">
            <a:extLst>
              <a:ext uri="{FF2B5EF4-FFF2-40B4-BE49-F238E27FC236}">
                <a16:creationId xmlns:a16="http://schemas.microsoft.com/office/drawing/2014/main" id="{F40BBE32-2040-A185-073F-8C179B6CA4E2}"/>
              </a:ext>
            </a:extLst>
          </p:cNvPr>
          <p:cNvSpPr txBox="1"/>
          <p:nvPr/>
        </p:nvSpPr>
        <p:spPr>
          <a:xfrm>
            <a:off x="735048" y="1823661"/>
            <a:ext cx="288198" cy="864000"/>
          </a:xfrm>
          <a:prstGeom prst="rect">
            <a:avLst/>
          </a:prstGeom>
          <a:solidFill>
            <a:schemeClr val="accent6">
              <a:lumMod val="20000"/>
              <a:lumOff val="80000"/>
            </a:schemeClr>
          </a:solidFill>
          <a:ln w="6350">
            <a:solidFill>
              <a:schemeClr val="bg1">
                <a:lumMod val="50000"/>
              </a:schemeClr>
            </a:solidFill>
          </a:ln>
        </p:spPr>
        <p:txBody>
          <a:bodyPr wrap="none" lIns="36000" tIns="36000" rIns="36000" bIns="36000" rtlCol="0" anchor="ctr" anchorCtr="0">
            <a:noAutofit/>
          </a:bodyPr>
          <a:lstStyle/>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XAI</a:t>
            </a:r>
            <a:endParaRPr kumimoji="0" lang="en-US" altLang="ko-KR" sz="800" b="1"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14000"/>
              </a:lnSpc>
              <a:spcBef>
                <a:spcPts val="0"/>
              </a:spcBef>
              <a:spcAft>
                <a:spcPts val="0"/>
              </a:spcAft>
              <a:buClrTx/>
              <a:buSzTx/>
              <a:buFontTx/>
              <a:buNone/>
              <a:tabLst/>
              <a:defRPr/>
            </a:pPr>
            <a:r>
              <a:rPr kumimoji="0" lang="ko-KR" altLang="en-US"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개발</a:t>
            </a:r>
            <a:endPar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97" name="TextBox 96">
            <a:extLst>
              <a:ext uri="{FF2B5EF4-FFF2-40B4-BE49-F238E27FC236}">
                <a16:creationId xmlns:a16="http://schemas.microsoft.com/office/drawing/2014/main" id="{C34DF88F-9FC8-CF3D-2DBB-7DCE26A35FE6}"/>
              </a:ext>
            </a:extLst>
          </p:cNvPr>
          <p:cNvSpPr txBox="1"/>
          <p:nvPr/>
        </p:nvSpPr>
        <p:spPr>
          <a:xfrm>
            <a:off x="735047" y="2745184"/>
            <a:ext cx="608407" cy="402992"/>
          </a:xfrm>
          <a:prstGeom prst="rect">
            <a:avLst/>
          </a:prstGeom>
          <a:solidFill>
            <a:schemeClr val="accent1">
              <a:lumMod val="20000"/>
              <a:lumOff val="80000"/>
            </a:schemeClr>
          </a:solidFill>
          <a:ln w="6350">
            <a:solidFill>
              <a:schemeClr val="bg1">
                <a:lumMod val="50000"/>
              </a:schemeClr>
            </a:solidFill>
          </a:ln>
        </p:spPr>
        <p:txBody>
          <a:bodyPr wrap="none" lIns="36000" tIns="36000" rIns="36000" bIns="36000" rtlCol="0" anchor="ctr" anchorCtr="0">
            <a:noAutofit/>
          </a:bodyPr>
          <a:lstStyle/>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Infra</a:t>
            </a:r>
          </a:p>
          <a:p>
            <a:pPr marL="0" marR="0" lvl="0" indent="0" algn="ctr" defTabSz="914400" rtl="0" eaLnBrk="1" fontAlgn="auto" latinLnBrk="1" hangingPunct="1">
              <a:lnSpc>
                <a:spcPct val="114000"/>
              </a:lnSpc>
              <a:spcBef>
                <a:spcPts val="0"/>
              </a:spcBef>
              <a:spcAft>
                <a:spcPts val="0"/>
              </a:spcAft>
              <a:buClrTx/>
              <a:buSzTx/>
              <a:buFontTx/>
              <a:buNone/>
              <a:tabLst/>
              <a:defRPr/>
            </a:pPr>
            <a:endParaRPr kumimoji="0" lang="ko-KR" altLang="en-US" sz="400" b="1"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98" name="TextBox 97">
            <a:extLst>
              <a:ext uri="{FF2B5EF4-FFF2-40B4-BE49-F238E27FC236}">
                <a16:creationId xmlns:a16="http://schemas.microsoft.com/office/drawing/2014/main" id="{A1D94A4E-85DA-C989-9163-979CC4151F4F}"/>
              </a:ext>
            </a:extLst>
          </p:cNvPr>
          <p:cNvSpPr txBox="1"/>
          <p:nvPr/>
        </p:nvSpPr>
        <p:spPr>
          <a:xfrm>
            <a:off x="1055457" y="1823661"/>
            <a:ext cx="288000" cy="411694"/>
          </a:xfrm>
          <a:prstGeom prst="rect">
            <a:avLst/>
          </a:prstGeom>
          <a:solidFill>
            <a:schemeClr val="bg1"/>
          </a:solidFill>
          <a:ln w="6350">
            <a:solidFill>
              <a:schemeClr val="bg1">
                <a:lumMod val="50000"/>
              </a:schemeClr>
            </a:solidFill>
          </a:ln>
        </p:spPr>
        <p:txBody>
          <a:bodyPr wrap="none" lIns="36000" tIns="36000" rIns="36000" bIns="36000" rtlCol="0" anchor="ctr" anchorCtr="0">
            <a:noAutofit/>
          </a:bodyPr>
          <a:lstStyle/>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Core</a:t>
            </a:r>
          </a:p>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XAI</a:t>
            </a:r>
          </a:p>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Engine</a:t>
            </a:r>
          </a:p>
        </p:txBody>
      </p:sp>
      <p:sp>
        <p:nvSpPr>
          <p:cNvPr id="100" name="TextBox 99">
            <a:extLst>
              <a:ext uri="{FF2B5EF4-FFF2-40B4-BE49-F238E27FC236}">
                <a16:creationId xmlns:a16="http://schemas.microsoft.com/office/drawing/2014/main" id="{88233A66-02CE-C952-BAC0-F2339CE66B8E}"/>
              </a:ext>
            </a:extLst>
          </p:cNvPr>
          <p:cNvSpPr txBox="1"/>
          <p:nvPr/>
        </p:nvSpPr>
        <p:spPr>
          <a:xfrm>
            <a:off x="1055457" y="2275967"/>
            <a:ext cx="288000" cy="411694"/>
          </a:xfrm>
          <a:prstGeom prst="rect">
            <a:avLst/>
          </a:prstGeom>
          <a:solidFill>
            <a:schemeClr val="bg1"/>
          </a:solidFill>
          <a:ln w="6350">
            <a:solidFill>
              <a:schemeClr val="bg1">
                <a:lumMod val="50000"/>
              </a:schemeClr>
            </a:solidFill>
          </a:ln>
        </p:spPr>
        <p:txBody>
          <a:bodyPr wrap="none" lIns="36000" tIns="36000" rIns="36000" bIns="36000" rtlCol="0" anchor="ctr" anchorCtr="0">
            <a:noAutofit/>
          </a:bodyPr>
          <a:lstStyle/>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LLM</a:t>
            </a:r>
          </a:p>
          <a:p>
            <a:pPr marL="0" marR="0" lvl="0" indent="0" algn="ctr" defTabSz="914400" rtl="0" eaLnBrk="1" fontAlgn="auto" latinLnBrk="1" hangingPunct="1">
              <a:lnSpc>
                <a:spcPct val="114000"/>
              </a:lnSpc>
              <a:spcBef>
                <a:spcPts val="0"/>
              </a:spcBef>
              <a:spcAft>
                <a:spcPts val="0"/>
              </a:spcAft>
              <a:buClrTx/>
              <a:buSzTx/>
              <a:buFontTx/>
              <a:buNone/>
              <a:tabLst/>
              <a:defRPr/>
            </a:pPr>
            <a:r>
              <a:rPr kumimoji="0" lang="en-US" altLang="ko-KR" sz="8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Agent</a:t>
            </a:r>
          </a:p>
        </p:txBody>
      </p:sp>
      <p:cxnSp>
        <p:nvCxnSpPr>
          <p:cNvPr id="101" name="직선 화살표 연결선 100">
            <a:extLst>
              <a:ext uri="{FF2B5EF4-FFF2-40B4-BE49-F238E27FC236}">
                <a16:creationId xmlns:a16="http://schemas.microsoft.com/office/drawing/2014/main" id="{BFC23A47-1290-37D5-0F5A-71551FA53353}"/>
              </a:ext>
            </a:extLst>
          </p:cNvPr>
          <p:cNvCxnSpPr>
            <a:cxnSpLocks/>
          </p:cNvCxnSpPr>
          <p:nvPr/>
        </p:nvCxnSpPr>
        <p:spPr>
          <a:xfrm>
            <a:off x="1343454" y="2377639"/>
            <a:ext cx="4483213"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3" name="직선 화살표 연결선 102">
            <a:extLst>
              <a:ext uri="{FF2B5EF4-FFF2-40B4-BE49-F238E27FC236}">
                <a16:creationId xmlns:a16="http://schemas.microsoft.com/office/drawing/2014/main" id="{4E71ACEE-0A75-F39E-4739-CCABE28ED9B4}"/>
              </a:ext>
            </a:extLst>
          </p:cNvPr>
          <p:cNvCxnSpPr>
            <a:cxnSpLocks/>
          </p:cNvCxnSpPr>
          <p:nvPr/>
        </p:nvCxnSpPr>
        <p:spPr>
          <a:xfrm>
            <a:off x="1343454" y="2835027"/>
            <a:ext cx="4483213"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F7A9F6F6-8980-1D09-30A3-EC60FDE6FDFC}"/>
              </a:ext>
            </a:extLst>
          </p:cNvPr>
          <p:cNvSpPr txBox="1"/>
          <p:nvPr/>
        </p:nvSpPr>
        <p:spPr>
          <a:xfrm>
            <a:off x="775054" y="2978413"/>
            <a:ext cx="541101" cy="195814"/>
          </a:xfrm>
          <a:prstGeom prst="rect">
            <a:avLst/>
          </a:prstGeom>
          <a:noFill/>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1" lang="en-US" altLang="ko-KR" sz="800" b="0" i="0" u="none" strike="noStrike" kern="1200" cap="none" spc="-70" normalizeH="0" baseline="0" noProof="0">
                <a:ln>
                  <a:noFill/>
                </a:ln>
                <a:solidFill>
                  <a:srgbClr val="006600"/>
                </a:solidFill>
                <a:effectLst/>
                <a:uLnTx/>
                <a:uFillTx/>
                <a:latin typeface="Arial Narrow"/>
                <a:ea typeface="LG스마트체 Regular"/>
                <a:cs typeface="맑은 고딕 Semilight"/>
                <a:sym typeface="Wingdings"/>
              </a:rPr>
              <a:t>VM </a:t>
            </a:r>
            <a:r>
              <a:rPr kumimoji="1" lang="ko-KR" altLang="en-US" sz="800" b="0" i="0" u="none" strike="noStrike" kern="1200" cap="none" spc="-70" normalizeH="0" baseline="0" noProof="0">
                <a:ln>
                  <a:noFill/>
                </a:ln>
                <a:solidFill>
                  <a:srgbClr val="006600"/>
                </a:solidFill>
                <a:effectLst/>
                <a:uLnTx/>
                <a:uFillTx/>
                <a:latin typeface="Arial Narrow"/>
                <a:ea typeface="LG스마트체 Regular"/>
                <a:cs typeface="맑은 고딕 Semilight"/>
                <a:sym typeface="Wingdings"/>
              </a:rPr>
              <a:t>서버 구축</a:t>
            </a:r>
            <a:endParaRPr kumimoji="1" lang="ko-KR" altLang="en-US" sz="800" b="0" i="0" u="none" strike="noStrike" kern="1200" cap="none" spc="0" normalizeH="0" baseline="0" noProof="0">
              <a:ln>
                <a:noFill/>
              </a:ln>
              <a:solidFill>
                <a:srgbClr val="006600"/>
              </a:solidFill>
              <a:effectLst/>
              <a:uLnTx/>
              <a:uFillTx/>
              <a:latin typeface="Arial" charset="0"/>
              <a:ea typeface="돋움" pitchFamily="50" charset="-127"/>
              <a:cs typeface="Arial" charset="0"/>
            </a:endParaRPr>
          </a:p>
        </p:txBody>
      </p:sp>
      <p:sp>
        <p:nvSpPr>
          <p:cNvPr id="105" name="타원 104">
            <a:extLst>
              <a:ext uri="{FF2B5EF4-FFF2-40B4-BE49-F238E27FC236}">
                <a16:creationId xmlns:a16="http://schemas.microsoft.com/office/drawing/2014/main" id="{A1658132-237E-8C35-3C5C-A12345086C0F}"/>
              </a:ext>
            </a:extLst>
          </p:cNvPr>
          <p:cNvSpPr/>
          <p:nvPr/>
        </p:nvSpPr>
        <p:spPr>
          <a:xfrm>
            <a:off x="2583562" y="1837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6" name="타원 105">
            <a:extLst>
              <a:ext uri="{FF2B5EF4-FFF2-40B4-BE49-F238E27FC236}">
                <a16:creationId xmlns:a16="http://schemas.microsoft.com/office/drawing/2014/main" id="{5086557D-2F09-51F7-1222-DE5A632F03EA}"/>
              </a:ext>
            </a:extLst>
          </p:cNvPr>
          <p:cNvSpPr/>
          <p:nvPr/>
        </p:nvSpPr>
        <p:spPr>
          <a:xfrm>
            <a:off x="3235107" y="1837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25</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8" name="타원 107">
            <a:extLst>
              <a:ext uri="{FF2B5EF4-FFF2-40B4-BE49-F238E27FC236}">
                <a16:creationId xmlns:a16="http://schemas.microsoft.com/office/drawing/2014/main" id="{7F9529B7-DAD8-6C22-8C50-F7E034A12A23}"/>
              </a:ext>
            </a:extLst>
          </p:cNvPr>
          <p:cNvSpPr/>
          <p:nvPr/>
        </p:nvSpPr>
        <p:spPr>
          <a:xfrm>
            <a:off x="4672301" y="1837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0" name="타원 109">
            <a:extLst>
              <a:ext uri="{FF2B5EF4-FFF2-40B4-BE49-F238E27FC236}">
                <a16:creationId xmlns:a16="http://schemas.microsoft.com/office/drawing/2014/main" id="{274A03FD-F1B5-2163-E7A7-2771EB357257}"/>
              </a:ext>
            </a:extLst>
          </p:cNvPr>
          <p:cNvSpPr/>
          <p:nvPr/>
        </p:nvSpPr>
        <p:spPr>
          <a:xfrm>
            <a:off x="5352298" y="1837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1" name="타원 110">
            <a:extLst>
              <a:ext uri="{FF2B5EF4-FFF2-40B4-BE49-F238E27FC236}">
                <a16:creationId xmlns:a16="http://schemas.microsoft.com/office/drawing/2014/main" id="{D83AD7B8-E1E8-C2C4-8543-EC10001F1EC5}"/>
              </a:ext>
            </a:extLst>
          </p:cNvPr>
          <p:cNvSpPr/>
          <p:nvPr/>
        </p:nvSpPr>
        <p:spPr>
          <a:xfrm>
            <a:off x="4663152" y="2305639"/>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4" name="타원 113">
            <a:extLst>
              <a:ext uri="{FF2B5EF4-FFF2-40B4-BE49-F238E27FC236}">
                <a16:creationId xmlns:a16="http://schemas.microsoft.com/office/drawing/2014/main" id="{49E0F48C-0E3C-6CEF-286A-A4870B3F48D0}"/>
              </a:ext>
            </a:extLst>
          </p:cNvPr>
          <p:cNvSpPr/>
          <p:nvPr/>
        </p:nvSpPr>
        <p:spPr>
          <a:xfrm>
            <a:off x="4002062" y="276302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7" name="타원 116">
            <a:extLst>
              <a:ext uri="{FF2B5EF4-FFF2-40B4-BE49-F238E27FC236}">
                <a16:creationId xmlns:a16="http://schemas.microsoft.com/office/drawing/2014/main" id="{4D3D4CE8-88A9-DC21-551F-7D6E6561F64E}"/>
              </a:ext>
            </a:extLst>
          </p:cNvPr>
          <p:cNvSpPr/>
          <p:nvPr/>
        </p:nvSpPr>
        <p:spPr>
          <a:xfrm>
            <a:off x="4525864" y="276302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25</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8" name="타원 117">
            <a:extLst>
              <a:ext uri="{FF2B5EF4-FFF2-40B4-BE49-F238E27FC236}">
                <a16:creationId xmlns:a16="http://schemas.microsoft.com/office/drawing/2014/main" id="{4F514C4E-BFC8-DFCC-0EDF-48BFADA5BEF3}"/>
              </a:ext>
            </a:extLst>
          </p:cNvPr>
          <p:cNvSpPr/>
          <p:nvPr/>
        </p:nvSpPr>
        <p:spPr>
          <a:xfrm>
            <a:off x="4854248" y="276302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2" name="타원 121">
            <a:extLst>
              <a:ext uri="{FF2B5EF4-FFF2-40B4-BE49-F238E27FC236}">
                <a16:creationId xmlns:a16="http://schemas.microsoft.com/office/drawing/2014/main" id="{630C4CA6-B0A5-6346-B8E5-A724CFBA86F7}"/>
              </a:ext>
            </a:extLst>
          </p:cNvPr>
          <p:cNvSpPr/>
          <p:nvPr/>
        </p:nvSpPr>
        <p:spPr>
          <a:xfrm>
            <a:off x="5555793" y="2305639"/>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3" name="타원 122">
            <a:extLst>
              <a:ext uri="{FF2B5EF4-FFF2-40B4-BE49-F238E27FC236}">
                <a16:creationId xmlns:a16="http://schemas.microsoft.com/office/drawing/2014/main" id="{1FE24820-AE01-52DD-A41C-48F01001AE9E}"/>
              </a:ext>
            </a:extLst>
          </p:cNvPr>
          <p:cNvSpPr/>
          <p:nvPr/>
        </p:nvSpPr>
        <p:spPr>
          <a:xfrm>
            <a:off x="1900955" y="276302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5" name="타원 124">
            <a:extLst>
              <a:ext uri="{FF2B5EF4-FFF2-40B4-BE49-F238E27FC236}">
                <a16:creationId xmlns:a16="http://schemas.microsoft.com/office/drawing/2014/main" id="{E1FBFC0B-26B2-5FD0-6C04-46793A429E8E}"/>
              </a:ext>
            </a:extLst>
          </p:cNvPr>
          <p:cNvSpPr/>
          <p:nvPr/>
        </p:nvSpPr>
        <p:spPr>
          <a:xfrm>
            <a:off x="3296123" y="276302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6" name="TextBox 125">
            <a:extLst>
              <a:ext uri="{FF2B5EF4-FFF2-40B4-BE49-F238E27FC236}">
                <a16:creationId xmlns:a16="http://schemas.microsoft.com/office/drawing/2014/main" id="{E9719E63-7E71-4638-6381-0439C53D26A3}"/>
              </a:ext>
            </a:extLst>
          </p:cNvPr>
          <p:cNvSpPr txBox="1"/>
          <p:nvPr/>
        </p:nvSpPr>
        <p:spPr>
          <a:xfrm>
            <a:off x="1926309" y="1980758"/>
            <a:ext cx="872355" cy="338554"/>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Drill Down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분석</a:t>
            </a: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기능 개발    </a:t>
            </a:r>
          </a:p>
        </p:txBody>
      </p:sp>
      <p:sp>
        <p:nvSpPr>
          <p:cNvPr id="127" name="TextBox 126">
            <a:extLst>
              <a:ext uri="{FF2B5EF4-FFF2-40B4-BE49-F238E27FC236}">
                <a16:creationId xmlns:a16="http://schemas.microsoft.com/office/drawing/2014/main" id="{35B329F4-D60C-F028-20BD-86B4857E86C1}"/>
              </a:ext>
            </a:extLst>
          </p:cNvPr>
          <p:cNvSpPr txBox="1"/>
          <p:nvPr/>
        </p:nvSpPr>
        <p:spPr>
          <a:xfrm>
            <a:off x="2816811" y="1980758"/>
            <a:ext cx="987771" cy="33855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XAI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기반 외관 불량</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위치 특정 기능 개발</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8" name="TextBox 127">
            <a:extLst>
              <a:ext uri="{FF2B5EF4-FFF2-40B4-BE49-F238E27FC236}">
                <a16:creationId xmlns:a16="http://schemas.microsoft.com/office/drawing/2014/main" id="{EB1EC473-0B18-5907-42A5-68C240D88AF0}"/>
              </a:ext>
            </a:extLst>
          </p:cNvPr>
          <p:cNvSpPr txBox="1"/>
          <p:nvPr/>
        </p:nvSpPr>
        <p:spPr>
          <a:xfrm>
            <a:off x="5137201" y="1980758"/>
            <a:ext cx="574196" cy="21544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완료 검수</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9" name="TextBox 128">
            <a:extLst>
              <a:ext uri="{FF2B5EF4-FFF2-40B4-BE49-F238E27FC236}">
                <a16:creationId xmlns:a16="http://schemas.microsoft.com/office/drawing/2014/main" id="{3D06BC08-D56C-C065-1DFF-6841557D44BD}"/>
              </a:ext>
            </a:extLst>
          </p:cNvPr>
          <p:cNvSpPr txBox="1"/>
          <p:nvPr/>
        </p:nvSpPr>
        <p:spPr>
          <a:xfrm>
            <a:off x="5826667" y="2132856"/>
            <a:ext cx="3725700" cy="215444"/>
          </a:xfrm>
          <a:prstGeom prst="rect">
            <a:avLst/>
          </a:prstGeom>
          <a:solidFill>
            <a:schemeClr val="accent6">
              <a:lumMod val="20000"/>
              <a:lumOff val="80000"/>
            </a:schemeClr>
          </a:solid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7/10~,</a:t>
            </a:r>
            <a:r>
              <a:rPr kumimoji="0" lang="ko-KR" altLang="en-US"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beta </a:t>
            </a:r>
            <a:r>
              <a:rPr kumimoji="0" lang="ko-KR" altLang="en-US"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버전 오픈 </a:t>
            </a: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ko-KR" altLang="en-US"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사용성 평가</a:t>
            </a: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(VOE </a:t>
            </a:r>
            <a:r>
              <a:rPr kumimoji="0" lang="ko-KR" altLang="en-US"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청취</a:t>
            </a: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ko-KR" altLang="en-US"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후 보완</a:t>
            </a: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(w/ </a:t>
            </a:r>
            <a:r>
              <a:rPr kumimoji="0" lang="ko-KR" altLang="en-US"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제조빅데이터분석팀</a:t>
            </a:r>
            <a:r>
              <a:rPr kumimoji="0" lang="en-US" altLang="ko-KR" sz="800" b="0"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ESWA)</a:t>
            </a:r>
          </a:p>
        </p:txBody>
      </p:sp>
      <p:sp>
        <p:nvSpPr>
          <p:cNvPr id="130" name="TextBox 129">
            <a:extLst>
              <a:ext uri="{FF2B5EF4-FFF2-40B4-BE49-F238E27FC236}">
                <a16:creationId xmlns:a16="http://schemas.microsoft.com/office/drawing/2014/main" id="{3EDD610C-AD80-7AC4-23D4-17F116982C1A}"/>
              </a:ext>
            </a:extLst>
          </p:cNvPr>
          <p:cNvSpPr txBox="1"/>
          <p:nvPr/>
        </p:nvSpPr>
        <p:spPr>
          <a:xfrm>
            <a:off x="1960237" y="2427585"/>
            <a:ext cx="1361270" cy="33855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Core XAI Engine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LLM Agent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인터페이스 구축</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1" name="타원 130">
            <a:extLst>
              <a:ext uri="{FF2B5EF4-FFF2-40B4-BE49-F238E27FC236}">
                <a16:creationId xmlns:a16="http://schemas.microsoft.com/office/drawing/2014/main" id="{0A479EF9-A46B-6515-2B70-819AB719D0AB}"/>
              </a:ext>
            </a:extLst>
          </p:cNvPr>
          <p:cNvSpPr/>
          <p:nvPr/>
        </p:nvSpPr>
        <p:spPr>
          <a:xfrm>
            <a:off x="2583562" y="2305639"/>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4" name="TextBox 133">
            <a:extLst>
              <a:ext uri="{FF2B5EF4-FFF2-40B4-BE49-F238E27FC236}">
                <a16:creationId xmlns:a16="http://schemas.microsoft.com/office/drawing/2014/main" id="{EE882392-8C06-3BAC-D579-4E6668300FAD}"/>
              </a:ext>
            </a:extLst>
          </p:cNvPr>
          <p:cNvSpPr txBox="1"/>
          <p:nvPr/>
        </p:nvSpPr>
        <p:spPr>
          <a:xfrm>
            <a:off x="3448472" y="2427585"/>
            <a:ext cx="1434706" cy="338554"/>
          </a:xfrm>
          <a:prstGeom prst="rect">
            <a:avLst/>
          </a:prstGeom>
          <a:noFill/>
        </p:spPr>
        <p:txBody>
          <a:bodyPr wrap="square">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B-LEX Data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Vector DB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개발</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임베딩 파이프 라인 구현</a:t>
            </a:r>
          </a:p>
        </p:txBody>
      </p:sp>
      <p:sp>
        <p:nvSpPr>
          <p:cNvPr id="135" name="TextBox 134">
            <a:extLst>
              <a:ext uri="{FF2B5EF4-FFF2-40B4-BE49-F238E27FC236}">
                <a16:creationId xmlns:a16="http://schemas.microsoft.com/office/drawing/2014/main" id="{D18BBB48-1B5E-03BD-3BA5-F3D5CB4AA668}"/>
              </a:ext>
            </a:extLst>
          </p:cNvPr>
          <p:cNvSpPr txBox="1"/>
          <p:nvPr/>
        </p:nvSpPr>
        <p:spPr>
          <a:xfrm>
            <a:off x="5340696" y="2427585"/>
            <a:ext cx="574196" cy="33855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Chat Bot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개발 완료</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8" name="TextBox 137">
            <a:extLst>
              <a:ext uri="{FF2B5EF4-FFF2-40B4-BE49-F238E27FC236}">
                <a16:creationId xmlns:a16="http://schemas.microsoft.com/office/drawing/2014/main" id="{0D73CFB5-C600-38F0-3DFB-37A0165077AA}"/>
              </a:ext>
            </a:extLst>
          </p:cNvPr>
          <p:cNvSpPr txBox="1"/>
          <p:nvPr/>
        </p:nvSpPr>
        <p:spPr>
          <a:xfrm>
            <a:off x="1480365" y="2899832"/>
            <a:ext cx="1000595" cy="33855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LOI</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발행</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1" lang="en-US" altLang="ko-KR" sz="800" b="0" i="0" u="none" strike="noStrike" kern="1200" cap="none" spc="-70" normalizeH="0" baseline="0" noProof="0">
                <a:ln>
                  <a:noFill/>
                </a:ln>
                <a:solidFill>
                  <a:srgbClr val="006600"/>
                </a:solidFill>
                <a:effectLst/>
                <a:uLnTx/>
                <a:uFillTx/>
                <a:latin typeface="Arial Narrow"/>
                <a:ea typeface="LG스마트체 Regular"/>
                <a:cs typeface="맑은 고딕 Semilight"/>
              </a:rPr>
              <a:t>* GPU </a:t>
            </a:r>
            <a:r>
              <a:rPr kumimoji="1" lang="ko-KR" altLang="en-US" sz="800" b="0" i="0" u="none" strike="noStrike" kern="1200" cap="none" spc="-70" normalizeH="0" baseline="0" noProof="0">
                <a:ln>
                  <a:noFill/>
                </a:ln>
                <a:solidFill>
                  <a:srgbClr val="006600"/>
                </a:solidFill>
                <a:effectLst/>
                <a:uLnTx/>
                <a:uFillTx/>
                <a:latin typeface="Arial Narrow"/>
                <a:ea typeface="LG스마트체 Regular"/>
                <a:cs typeface="맑은 고딕 Semilight"/>
              </a:rPr>
              <a:t>등 장납기품 대상</a:t>
            </a:r>
            <a:endParaRPr kumimoji="1" lang="en-US" altLang="ko-KR" sz="800" b="0" i="0" u="none" strike="noStrike" kern="1200" cap="none" spc="-70" normalizeH="0" baseline="0" noProof="0">
              <a:ln>
                <a:noFill/>
              </a:ln>
              <a:solidFill>
                <a:srgbClr val="006600"/>
              </a:solidFill>
              <a:effectLst/>
              <a:uLnTx/>
              <a:uFillTx/>
              <a:latin typeface="Arial Narrow"/>
              <a:ea typeface="LG스마트체 Regular"/>
              <a:cs typeface="맑은 고딕 Semilight"/>
            </a:endParaRPr>
          </a:p>
        </p:txBody>
      </p:sp>
      <p:sp>
        <p:nvSpPr>
          <p:cNvPr id="139" name="TextBox 138">
            <a:extLst>
              <a:ext uri="{FF2B5EF4-FFF2-40B4-BE49-F238E27FC236}">
                <a16:creationId xmlns:a16="http://schemas.microsoft.com/office/drawing/2014/main" id="{C975681D-5FD5-83F2-B222-EBE8DFDEC30E}"/>
              </a:ext>
            </a:extLst>
          </p:cNvPr>
          <p:cNvSpPr txBox="1"/>
          <p:nvPr/>
        </p:nvSpPr>
        <p:spPr>
          <a:xfrm>
            <a:off x="3110627" y="2899832"/>
            <a:ext cx="513282" cy="21544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PO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발행</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0" name="TextBox 139">
            <a:extLst>
              <a:ext uri="{FF2B5EF4-FFF2-40B4-BE49-F238E27FC236}">
                <a16:creationId xmlns:a16="http://schemas.microsoft.com/office/drawing/2014/main" id="{1365DD52-9D1A-00B2-2D7C-2C8C41F41201}"/>
              </a:ext>
            </a:extLst>
          </p:cNvPr>
          <p:cNvSpPr txBox="1"/>
          <p:nvPr/>
        </p:nvSpPr>
        <p:spPr>
          <a:xfrm>
            <a:off x="3629964" y="2899832"/>
            <a:ext cx="574196" cy="338554"/>
          </a:xfrm>
          <a:prstGeom prst="rect">
            <a:avLst/>
          </a:prstGeom>
          <a:noFill/>
        </p:spPr>
        <p:txBody>
          <a:bodyPr wrap="none" rtlCol="0">
            <a:spAutoFit/>
          </a:bodyPr>
          <a:lstStyle/>
          <a:p>
            <a:pPr marL="0" marR="0" lvl="0" indent="0" algn="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ESWA</a:t>
            </a:r>
          </a:p>
          <a:p>
            <a:pPr marL="0" marR="0" lvl="0" indent="0" algn="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전력 증설</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1" name="TextBox 140">
            <a:extLst>
              <a:ext uri="{FF2B5EF4-FFF2-40B4-BE49-F238E27FC236}">
                <a16:creationId xmlns:a16="http://schemas.microsoft.com/office/drawing/2014/main" id="{437478CE-1B8F-95D3-7C79-BDDC8ABCFBAA}"/>
              </a:ext>
            </a:extLst>
          </p:cNvPr>
          <p:cNvSpPr txBox="1"/>
          <p:nvPr/>
        </p:nvSpPr>
        <p:spPr>
          <a:xfrm>
            <a:off x="4191451" y="2899832"/>
            <a:ext cx="665567" cy="33855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서버 구축용</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자재 입고</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2" name="TextBox 141">
            <a:extLst>
              <a:ext uri="{FF2B5EF4-FFF2-40B4-BE49-F238E27FC236}">
                <a16:creationId xmlns:a16="http://schemas.microsoft.com/office/drawing/2014/main" id="{0D3CAE1D-A476-FB92-319E-CCD67211AACA}"/>
              </a:ext>
            </a:extLst>
          </p:cNvPr>
          <p:cNvSpPr txBox="1"/>
          <p:nvPr/>
        </p:nvSpPr>
        <p:spPr>
          <a:xfrm>
            <a:off x="4780145" y="2899832"/>
            <a:ext cx="574195" cy="33855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서버 구축</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완료</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3" name="실행 단추: 홈으로 이동 142">
            <a:hlinkClick r:id="rId3" action="ppaction://hlinksldjump" highlightClick="1"/>
            <a:extLst>
              <a:ext uri="{FF2B5EF4-FFF2-40B4-BE49-F238E27FC236}">
                <a16:creationId xmlns:a16="http://schemas.microsoft.com/office/drawing/2014/main" id="{7870CB47-21D9-AD13-440C-146354EDB60F}"/>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grpSp>
        <p:nvGrpSpPr>
          <p:cNvPr id="144" name="그룹 143">
            <a:extLst>
              <a:ext uri="{FF2B5EF4-FFF2-40B4-BE49-F238E27FC236}">
                <a16:creationId xmlns:a16="http://schemas.microsoft.com/office/drawing/2014/main" id="{2C20FA1E-AE21-10D2-9257-378A33814AFB}"/>
              </a:ext>
            </a:extLst>
          </p:cNvPr>
          <p:cNvGrpSpPr/>
          <p:nvPr/>
        </p:nvGrpSpPr>
        <p:grpSpPr>
          <a:xfrm>
            <a:off x="839581" y="3215013"/>
            <a:ext cx="4008771" cy="341334"/>
            <a:chOff x="961536" y="4488828"/>
            <a:chExt cx="4008771" cy="341334"/>
          </a:xfrm>
        </p:grpSpPr>
        <p:sp>
          <p:nvSpPr>
            <p:cNvPr id="145" name="제목 9">
              <a:extLst>
                <a:ext uri="{FF2B5EF4-FFF2-40B4-BE49-F238E27FC236}">
                  <a16:creationId xmlns:a16="http://schemas.microsoft.com/office/drawing/2014/main" id="{F6D8575D-83AC-DB16-480B-FDD28F1B71F6}"/>
                </a:ext>
              </a:extLst>
            </p:cNvPr>
            <p:cNvSpPr txBox="1">
              <a:spLocks/>
            </p:cNvSpPr>
            <p:nvPr/>
          </p:nvSpPr>
          <p:spPr>
            <a:xfrm>
              <a:off x="2577457" y="4488828"/>
              <a:ext cx="776928"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진척사항</a:t>
              </a:r>
            </a:p>
          </p:txBody>
        </p:sp>
        <p:cxnSp>
          <p:nvCxnSpPr>
            <p:cNvPr id="146" name="직선 연결선 2">
              <a:extLst>
                <a:ext uri="{FF2B5EF4-FFF2-40B4-BE49-F238E27FC236}">
                  <a16:creationId xmlns:a16="http://schemas.microsoft.com/office/drawing/2014/main" id="{8DE1DB25-B4F1-74DE-8C9D-243F14B9E120}"/>
                </a:ext>
              </a:extLst>
            </p:cNvPr>
            <p:cNvCxnSpPr>
              <a:cxnSpLocks noChangeShapeType="1"/>
            </p:cNvCxnSpPr>
            <p:nvPr/>
          </p:nvCxnSpPr>
          <p:spPr bwMode="auto">
            <a:xfrm>
              <a:off x="961536" y="4830162"/>
              <a:ext cx="400877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7" name="그룹 146">
            <a:extLst>
              <a:ext uri="{FF2B5EF4-FFF2-40B4-BE49-F238E27FC236}">
                <a16:creationId xmlns:a16="http://schemas.microsoft.com/office/drawing/2014/main" id="{3973FAC7-DE64-B566-0B86-16E5BD901901}"/>
              </a:ext>
            </a:extLst>
          </p:cNvPr>
          <p:cNvGrpSpPr/>
          <p:nvPr/>
        </p:nvGrpSpPr>
        <p:grpSpPr>
          <a:xfrm>
            <a:off x="5141076" y="3222719"/>
            <a:ext cx="4553251" cy="333628"/>
            <a:chOff x="5152724" y="4496534"/>
            <a:chExt cx="4221222" cy="333628"/>
          </a:xfrm>
        </p:grpSpPr>
        <p:sp>
          <p:nvSpPr>
            <p:cNvPr id="148" name="제목 9">
              <a:extLst>
                <a:ext uri="{FF2B5EF4-FFF2-40B4-BE49-F238E27FC236}">
                  <a16:creationId xmlns:a16="http://schemas.microsoft.com/office/drawing/2014/main" id="{44F54C64-D72A-1248-07D1-2A130D4D4D40}"/>
                </a:ext>
              </a:extLst>
            </p:cNvPr>
            <p:cNvSpPr txBox="1">
              <a:spLocks/>
            </p:cNvSpPr>
            <p:nvPr/>
          </p:nvSpPr>
          <p:spPr>
            <a:xfrm>
              <a:off x="6885365" y="4496534"/>
              <a:ext cx="755940"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향후 계획</a:t>
              </a:r>
            </a:p>
          </p:txBody>
        </p:sp>
        <p:cxnSp>
          <p:nvCxnSpPr>
            <p:cNvPr id="149" name="직선 연결선 2">
              <a:extLst>
                <a:ext uri="{FF2B5EF4-FFF2-40B4-BE49-F238E27FC236}">
                  <a16:creationId xmlns:a16="http://schemas.microsoft.com/office/drawing/2014/main" id="{30998A00-816B-9099-0D3C-94557B608556}"/>
                </a:ext>
              </a:extLst>
            </p:cNvPr>
            <p:cNvCxnSpPr>
              <a:cxnSpLocks noChangeShapeType="1"/>
            </p:cNvCxnSpPr>
            <p:nvPr/>
          </p:nvCxnSpPr>
          <p:spPr bwMode="auto">
            <a:xfrm>
              <a:off x="5152724" y="4830162"/>
              <a:ext cx="422122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0" name="Rectangle 4">
            <a:extLst>
              <a:ext uri="{FF2B5EF4-FFF2-40B4-BE49-F238E27FC236}">
                <a16:creationId xmlns:a16="http://schemas.microsoft.com/office/drawing/2014/main" id="{389F8D78-190E-1C38-4FA6-15F8F2CDD479}"/>
              </a:ext>
            </a:extLst>
          </p:cNvPr>
          <p:cNvSpPr>
            <a:spLocks noChangeArrowheads="1"/>
          </p:cNvSpPr>
          <p:nvPr/>
        </p:nvSpPr>
        <p:spPr bwMode="auto">
          <a:xfrm>
            <a:off x="200471" y="3235750"/>
            <a:ext cx="448035" cy="3476403"/>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진척</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사항</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cxnSp>
        <p:nvCxnSpPr>
          <p:cNvPr id="154" name="직선 연결선 153">
            <a:extLst>
              <a:ext uri="{FF2B5EF4-FFF2-40B4-BE49-F238E27FC236}">
                <a16:creationId xmlns:a16="http://schemas.microsoft.com/office/drawing/2014/main" id="{0F8695CB-11E8-8884-0079-9F823679DA91}"/>
              </a:ext>
            </a:extLst>
          </p:cNvPr>
          <p:cNvCxnSpPr>
            <a:cxnSpLocks/>
          </p:cNvCxnSpPr>
          <p:nvPr/>
        </p:nvCxnSpPr>
        <p:spPr>
          <a:xfrm flipV="1">
            <a:off x="4997300" y="3266616"/>
            <a:ext cx="0" cy="3528000"/>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320EA431-4DEB-D3C3-1FD5-09F46FA6B838}"/>
              </a:ext>
            </a:extLst>
          </p:cNvPr>
          <p:cNvSpPr txBox="1"/>
          <p:nvPr/>
        </p:nvSpPr>
        <p:spPr>
          <a:xfrm>
            <a:off x="4032500" y="1980758"/>
            <a:ext cx="939681" cy="215444"/>
          </a:xfrm>
          <a:prstGeom prst="rect">
            <a:avLst/>
          </a:prstGeom>
          <a:noFill/>
        </p:spPr>
        <p:txBody>
          <a:bodyPr wrap="non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Core XAI </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엔진 개발</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6" name="제목 3">
            <a:extLst>
              <a:ext uri="{FF2B5EF4-FFF2-40B4-BE49-F238E27FC236}">
                <a16:creationId xmlns:a16="http://schemas.microsoft.com/office/drawing/2014/main" id="{45F855AC-8BA0-5563-E065-23B7BFC990AA}"/>
              </a:ext>
            </a:extLst>
          </p:cNvPr>
          <p:cNvSpPr>
            <a:spLocks noGrp="1"/>
          </p:cNvSpPr>
          <p:nvPr>
            <p:ph type="title"/>
          </p:nvPr>
        </p:nvSpPr>
        <p:spPr>
          <a:xfrm>
            <a:off x="134567" y="116448"/>
            <a:ext cx="4769502" cy="369332"/>
          </a:xfrm>
        </p:spPr>
        <p:txBody>
          <a:bodyPr wrap="square">
            <a:spAutoFit/>
          </a:body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3.</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a:t>
            </a:r>
            <a:r>
              <a:rPr kumimoji="0" lang="en-US" altLang="ko-KR" sz="18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j-cs"/>
              </a:rPr>
              <a:t>KPI 08</a:t>
            </a:r>
            <a:r>
              <a:rPr kumimoji="0" lang="ko-KR" altLang="en-US" sz="18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j-cs"/>
              </a:rPr>
              <a:t>월 </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진척 사항</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_</a:t>
            </a:r>
            <a:r>
              <a:rPr kumimoji="0" lang="ko-KR" altLang="en-US" sz="1800" b="1" i="0" u="none" strike="noStrike" kern="0" cap="none" spc="0" normalizeH="0" baseline="0" noProof="0" dirty="0" err="1">
                <a:ln>
                  <a:noFill/>
                </a:ln>
                <a:solidFill>
                  <a:srgbClr val="000000"/>
                </a:solidFill>
                <a:effectLst/>
                <a:uLnTx/>
                <a:uFillTx/>
                <a:latin typeface="Arial Narrow" panose="020B0606020202030204" pitchFamily="34" charset="0"/>
                <a:ea typeface="LG스마트체 Regular" panose="020B0600000101010101" pitchFamily="50" charset="-127"/>
                <a:cs typeface="+mj-cs"/>
              </a:rPr>
              <a:t>라미</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불량 분석 </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AI</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Agent</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개발</a:t>
            </a:r>
          </a:p>
        </p:txBody>
      </p:sp>
      <p:sp>
        <p:nvSpPr>
          <p:cNvPr id="157" name="타원 156">
            <a:extLst>
              <a:ext uri="{FF2B5EF4-FFF2-40B4-BE49-F238E27FC236}">
                <a16:creationId xmlns:a16="http://schemas.microsoft.com/office/drawing/2014/main" id="{C0953700-CF25-046A-87D8-03CBC3695CAD}"/>
              </a:ext>
            </a:extLst>
          </p:cNvPr>
          <p:cNvSpPr/>
          <p:nvPr/>
        </p:nvSpPr>
        <p:spPr>
          <a:xfrm>
            <a:off x="5553439" y="276302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8" name="TextBox 157">
            <a:extLst>
              <a:ext uri="{FF2B5EF4-FFF2-40B4-BE49-F238E27FC236}">
                <a16:creationId xmlns:a16="http://schemas.microsoft.com/office/drawing/2014/main" id="{DC1B1E21-4130-DF96-CDF7-03802F3D5E7A}"/>
              </a:ext>
            </a:extLst>
          </p:cNvPr>
          <p:cNvSpPr txBox="1"/>
          <p:nvPr/>
        </p:nvSpPr>
        <p:spPr>
          <a:xfrm>
            <a:off x="5497300" y="2899832"/>
            <a:ext cx="811441" cy="338554"/>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Core XAI Engine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이전 설치</a:t>
            </a:r>
            <a:r>
              <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운영</a:t>
            </a:r>
            <a:endParaRPr kumimoji="0" lang="en-US" altLang="ko-KR" sz="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9" name="TextBox 158">
            <a:extLst>
              <a:ext uri="{FF2B5EF4-FFF2-40B4-BE49-F238E27FC236}">
                <a16:creationId xmlns:a16="http://schemas.microsoft.com/office/drawing/2014/main" id="{0D2ADF5D-4055-0103-4D50-5F3CCD4ADDFC}"/>
              </a:ext>
            </a:extLst>
          </p:cNvPr>
          <p:cNvSpPr txBox="1"/>
          <p:nvPr/>
        </p:nvSpPr>
        <p:spPr>
          <a:xfrm>
            <a:off x="5134784" y="3565967"/>
            <a:ext cx="4563734" cy="1362937"/>
          </a:xfrm>
          <a:prstGeom prst="rect">
            <a:avLst/>
          </a:prstGeom>
          <a:noFill/>
        </p:spPr>
        <p:txBody>
          <a:bodyPr wrap="square" lIns="33231" rIns="33231" rtlCol="0">
            <a:spAutoFit/>
          </a:bodyPr>
          <a:lstStyle/>
          <a:p>
            <a:pPr marL="164127" marR="0" lvl="0" indent="-164127" algn="l" defTabSz="844083" rtl="0" eaLnBrk="1" fontAlgn="base" latinLnBrk="1" hangingPunct="1">
              <a:lnSpc>
                <a:spcPct val="100000"/>
              </a:lnSpc>
              <a:spcBef>
                <a:spcPts val="0"/>
              </a:spcBef>
              <a:spcAft>
                <a:spcPts val="600"/>
              </a:spcAft>
              <a:buClrTx/>
              <a:buSzPct val="85000"/>
              <a:buFont typeface="Wingdings" panose="05000000000000000000" pitchFamily="2" charset="2"/>
              <a:buChar char="q"/>
              <a:tabLst/>
              <a:defRPr/>
            </a:pP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Core XAI Engine </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개발 계획</a:t>
            </a:r>
            <a:endPar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180975" marR="0" lvl="1" indent="0" algn="l" defTabSz="844083" rtl="0" eaLnBrk="1" fontAlgn="base" latinLnBrk="1" hangingPunct="1">
              <a:lnSpc>
                <a:spcPct val="100000"/>
              </a:lnSpc>
              <a:spcBef>
                <a:spcPts val="0"/>
              </a:spcBef>
              <a:spcAft>
                <a:spcPts val="600"/>
              </a:spcAft>
              <a:buClrTx/>
              <a:buSzPct val="85000"/>
              <a:buFontTx/>
              <a:buNone/>
              <a:tabLst/>
              <a:defRPr/>
            </a:pPr>
            <a:r>
              <a:rPr kumimoji="1" lang="en-US" altLang="ko-KR"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 위치 불량 분석 관련 </a:t>
            </a:r>
            <a:r>
              <a:rPr kumimoji="1" lang="en-US" altLang="ko-KR"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Core XAI Engine </a:t>
            </a:r>
            <a:r>
              <a:rPr kumimoji="1"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분석 성능 보완 </a:t>
            </a:r>
            <a:r>
              <a:rPr kumimoji="1" lang="en-US" altLang="ko-KR"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(~’26.9)</a:t>
            </a:r>
            <a:endParaRPr kumimoji="1" lang="en-US" altLang="ko-KR" sz="100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endParaRPr kumimoji="1" lang="en-US" altLang="ko-KR" sz="100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XAI</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분석 대상 시점 단축 관련 고도화 업무 진행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(~’26.10)</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DAVINCI 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조회 속도 개선 업무</a:t>
            </a:r>
            <a:r>
              <a:rPr kumimoji="1" lang="en-US" altLang="ko-KR" sz="8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(Query</a:t>
            </a:r>
            <a:r>
              <a:rPr kumimoji="1" lang="ko-KR" altLang="en-US" sz="8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수 증가 등</a:t>
            </a:r>
            <a:r>
              <a:rPr kumimoji="1" lang="en-US" altLang="ko-KR" sz="8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진행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(w/DAVINCI</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(~’26.9)</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위치불량 및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Drill Down DAVINCI Workflow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Python code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변경을 위한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Code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개발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(~’26.9)</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Python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기반 불량 유형 분류 체제 전환</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(~’26.9)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및 지표 이상 여부 모니터링</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(~’26.10)</a:t>
            </a:r>
          </a:p>
        </p:txBody>
      </p:sp>
      <p:sp>
        <p:nvSpPr>
          <p:cNvPr id="161" name="TextBox 160">
            <a:extLst>
              <a:ext uri="{FF2B5EF4-FFF2-40B4-BE49-F238E27FC236}">
                <a16:creationId xmlns:a16="http://schemas.microsoft.com/office/drawing/2014/main" id="{6EA61751-C733-A3C5-9BCA-57FFF6D221F9}"/>
              </a:ext>
            </a:extLst>
          </p:cNvPr>
          <p:cNvSpPr txBox="1"/>
          <p:nvPr/>
        </p:nvSpPr>
        <p:spPr>
          <a:xfrm>
            <a:off x="5134783" y="5183168"/>
            <a:ext cx="4570745" cy="784830"/>
          </a:xfrm>
          <a:prstGeom prst="rect">
            <a:avLst/>
          </a:prstGeom>
          <a:noFill/>
        </p:spPr>
        <p:txBody>
          <a:bodyPr wrap="square" lIns="33231" rIns="33231" rtlCol="0">
            <a:spAutoFit/>
          </a:bodyPr>
          <a:lstStyle/>
          <a:p>
            <a:pPr marL="164127" marR="0" lvl="0" indent="-164127" algn="l" defTabSz="844083" rtl="0" eaLnBrk="1" fontAlgn="base" latinLnBrk="1" hangingPunct="1">
              <a:lnSpc>
                <a:spcPct val="10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수평 전개 계획</a:t>
            </a:r>
            <a:endPar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lvl="0" fontAlgn="ctr">
              <a:defRPr/>
            </a:pPr>
            <a:r>
              <a:rPr kumimoji="1" lang="en-US" altLang="ko-KR"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 ESMI</a:t>
            </a:r>
            <a:r>
              <a:rPr lang="ko-KR" altLang="en-US" sz="1000">
                <a:latin typeface="Arial Narrow" panose="020B0606020202030204" pitchFamily="34" charset="0"/>
                <a:ea typeface="LG스마트체 Regular" panose="020B0600000101010101" pitchFamily="50" charset="-127"/>
              </a:rPr>
              <a:t> 확산전개</a:t>
            </a:r>
            <a:r>
              <a:rPr lang="en-US" altLang="ko-KR" sz="1000">
                <a:latin typeface="Arial Narrow" panose="020B0606020202030204" pitchFamily="34" charset="0"/>
                <a:ea typeface="LG스마트체 Regular" panose="020B0600000101010101" pitchFamily="50" charset="-127"/>
              </a:rPr>
              <a:t>(~’26.11)</a:t>
            </a:r>
          </a:p>
          <a:p>
            <a:pPr lvl="0" fontAlgn="ctr">
              <a:defRPr/>
            </a:pPr>
            <a:r>
              <a:rPr lang="en-US" altLang="ko-KR" sz="1000">
                <a:solidFill>
                  <a:srgbClr val="0000FF"/>
                </a:solidFill>
                <a:latin typeface="Arial Narrow" panose="020B0606020202030204" pitchFamily="34" charset="0"/>
                <a:ea typeface="LG스마트체 Regular" panose="020B0600000101010101" pitchFamily="50" charset="-127"/>
              </a:rPr>
              <a:t>         </a:t>
            </a:r>
            <a:r>
              <a:rPr lang="en-US" altLang="ko-KR" sz="1000">
                <a:latin typeface="Arial Narrow" panose="020B0606020202030204" pitchFamily="34" charset="0"/>
                <a:ea typeface="LG스마트체 Regular" panose="020B0600000101010101" pitchFamily="50" charset="-127"/>
              </a:rPr>
              <a:t>: </a:t>
            </a:r>
            <a:r>
              <a:rPr lang="ko-KR" altLang="en-US" sz="1000">
                <a:latin typeface="Arial Narrow" panose="020B0606020202030204" pitchFamily="34" charset="0"/>
                <a:ea typeface="LG스마트체 Regular" panose="020B0600000101010101" pitchFamily="50" charset="-127"/>
              </a:rPr>
              <a:t>인프라 구축</a:t>
            </a:r>
            <a:r>
              <a:rPr lang="en-US" altLang="ko-KR" sz="1000">
                <a:latin typeface="Arial Narrow" panose="020B0606020202030204" pitchFamily="34" charset="0"/>
                <a:ea typeface="LG스마트체 Regular" panose="020B0600000101010101" pitchFamily="50" charset="-127"/>
              </a:rPr>
              <a:t>(’26.9), </a:t>
            </a:r>
            <a:r>
              <a:rPr lang="ko-KR" altLang="en-US" sz="1000">
                <a:latin typeface="Arial Narrow" panose="020B0606020202030204" pitchFamily="34" charset="0"/>
                <a:ea typeface="LG스마트체 Regular" panose="020B0600000101010101" pitchFamily="50" charset="-127"/>
              </a:rPr>
              <a:t>대표라인</a:t>
            </a:r>
            <a:r>
              <a:rPr lang="en-US" altLang="ko-KR" sz="1000">
                <a:latin typeface="Arial Narrow" panose="020B0606020202030204" pitchFamily="34" charset="0"/>
                <a:ea typeface="LG스마트체 Regular" panose="020B0600000101010101" pitchFamily="50" charset="-127"/>
              </a:rPr>
              <a:t> </a:t>
            </a:r>
            <a:r>
              <a:rPr lang="ko-KR" altLang="en-US" sz="1000">
                <a:latin typeface="Arial Narrow" panose="020B0606020202030204" pitchFamily="34" charset="0"/>
                <a:ea typeface="LG스마트체 Regular" panose="020B0600000101010101" pitchFamily="50" charset="-127"/>
              </a:rPr>
              <a:t>개발</a:t>
            </a:r>
            <a:r>
              <a:rPr lang="en-US" altLang="ko-KR" sz="1000">
                <a:latin typeface="Arial Narrow" panose="020B0606020202030204" pitchFamily="34" charset="0"/>
                <a:ea typeface="LG스마트체 Regular" panose="020B0600000101010101" pitchFamily="50" charset="-127"/>
              </a:rPr>
              <a:t>(’26.10),</a:t>
            </a:r>
            <a:r>
              <a:rPr lang="ko-KR" altLang="en-US" sz="1000">
                <a:latin typeface="Arial Narrow" panose="020B0606020202030204" pitchFamily="34" charset="0"/>
                <a:ea typeface="LG스마트체 Regular" panose="020B0600000101010101" pitchFamily="50" charset="-127"/>
              </a:rPr>
              <a:t> 수평전개</a:t>
            </a:r>
            <a:r>
              <a:rPr lang="en-US" altLang="ko-KR" sz="1000">
                <a:latin typeface="Arial Narrow" panose="020B0606020202030204" pitchFamily="34" charset="0"/>
                <a:ea typeface="LG스마트체 Regular" panose="020B0600000101010101" pitchFamily="50" charset="-127"/>
              </a:rPr>
              <a:t>(’26.11)</a:t>
            </a:r>
            <a:endParaRPr lang="en-US" altLang="ko-KR" sz="1050">
              <a:latin typeface="Arial Narrow" panose="020B0606020202030204" pitchFamily="34" charset="0"/>
              <a:ea typeface="LG스마트체 Regular" panose="020B0600000101010101" pitchFamily="50" charset="-127"/>
            </a:endParaRPr>
          </a:p>
          <a:p>
            <a:pPr marL="180975" marR="0" lvl="1" indent="0" algn="l" defTabSz="844083" rtl="0" eaLnBrk="1" fontAlgn="base" latinLnBrk="1" hangingPunct="1">
              <a:lnSpc>
                <a:spcPct val="80000"/>
              </a:lnSpc>
              <a:spcBef>
                <a:spcPts val="0"/>
              </a:spcBef>
              <a:spcAft>
                <a:spcPts val="600"/>
              </a:spcAft>
              <a:buClrTx/>
              <a:buSzPct val="85000"/>
              <a:buFontTx/>
              <a:buNone/>
              <a:tabLst/>
              <a:defRPr/>
            </a:pPr>
            <a:endPar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 name="TextBox 3">
            <a:extLst>
              <a:ext uri="{FF2B5EF4-FFF2-40B4-BE49-F238E27FC236}">
                <a16:creationId xmlns:a16="http://schemas.microsoft.com/office/drawing/2014/main" id="{4C98F3C5-A0A6-ED5C-8724-1CCE51B774D0}"/>
              </a:ext>
            </a:extLst>
          </p:cNvPr>
          <p:cNvSpPr txBox="1"/>
          <p:nvPr/>
        </p:nvSpPr>
        <p:spPr>
          <a:xfrm>
            <a:off x="822790" y="3565967"/>
            <a:ext cx="4286254" cy="3080330"/>
          </a:xfrm>
          <a:prstGeom prst="rect">
            <a:avLst/>
          </a:prstGeom>
          <a:noFill/>
        </p:spPr>
        <p:txBody>
          <a:bodyPr wrap="square" lIns="33231" rIns="33231" rtlCol="0">
            <a:spAutoFit/>
          </a:bodyPr>
          <a:lstStyle/>
          <a:p>
            <a:pPr marL="164127" marR="0" lvl="0" indent="-164127" algn="l" defTabSz="844083" rtl="0" eaLnBrk="1" fontAlgn="base" latinLnBrk="1" hangingPunct="1">
              <a:lnSpc>
                <a:spcPct val="100000"/>
              </a:lnSpc>
              <a:spcBef>
                <a:spcPts val="0"/>
              </a:spcBef>
              <a:spcAft>
                <a:spcPts val="600"/>
              </a:spcAft>
              <a:buClrTx/>
              <a:buSzPct val="85000"/>
              <a:buFont typeface="Wingdings" panose="05000000000000000000" pitchFamily="2" charset="2"/>
              <a:buChar char="q"/>
              <a:tabLst/>
              <a:defRPr/>
            </a:pP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ESWA </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向 수율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Report </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및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AI Bot</a:t>
            </a:r>
          </a:p>
          <a:p>
            <a:pPr marL="180975" marR="0" lvl="1" indent="0" algn="l" defTabSz="844083" rtl="0" eaLnBrk="1" fontAlgn="base" latinLnBrk="1" hangingPunct="1">
              <a:lnSpc>
                <a:spcPct val="10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사용자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VoE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기반 보완 진행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(~’26.9)</a:t>
            </a:r>
            <a:b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b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 VoE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총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68</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건 중 개선 완료</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51</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건</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진행 중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3</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건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예정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14</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건</a:t>
            </a:r>
            <a:b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b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주요 항목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XAI</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분석 내용 관련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28</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건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 Report UI </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관련 </a:t>
            </a:r>
            <a:r>
              <a:rPr kumimoji="1" lang="en-US" altLang="ko-KR"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23</a:t>
            </a:r>
            <a:r>
              <a:rPr kumimoji="1" lang="ko-KR" altLang="en-US" sz="100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t>건 등</a:t>
            </a:r>
            <a:br>
              <a:rPr kumimoji="1" lang="en-US" altLang="ko-KR" sz="1050" b="0" i="0" u="none" strike="noStrike" kern="1200" cap="none" spc="0" normalizeH="0" baseline="0" noProof="1">
                <a:ln>
                  <a:noFill/>
                </a:ln>
                <a:effectLst/>
                <a:uLnTx/>
                <a:uFillTx/>
                <a:latin typeface="Arial Narrow" panose="020B0606020202030204" pitchFamily="34" charset="0"/>
                <a:ea typeface="LG스마트체 Regular" panose="020B0600000101010101" pitchFamily="50" charset="-127"/>
                <a:cs typeface="+mn-cs"/>
              </a:rPr>
            </a:br>
            <a:r>
              <a:rPr kumimoji="1" lang="en-US" altLang="ko-KR"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                                      * Report </a:t>
            </a:r>
            <a:r>
              <a:rPr kumimoji="1" lang="ko-KR" altLang="en-US"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메일링 </a:t>
            </a:r>
            <a:r>
              <a:rPr kumimoji="1" lang="en-US" altLang="ko-KR"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1" lang="ko-KR" altLang="en-US"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본문 내용 </a:t>
            </a:r>
            <a:r>
              <a:rPr kumimoji="1" lang="en-US" altLang="ko-KR"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1" lang="ko-KR" altLang="en-US"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분석 오류 등에 대한 </a:t>
            </a:r>
            <a:r>
              <a:rPr kumimoji="1" lang="en-US" altLang="ko-KR"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VoE </a:t>
            </a:r>
            <a:r>
              <a:rPr kumimoji="1" lang="ko-KR" altLang="en-US"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rPr>
              <a:t>관련 개선</a:t>
            </a:r>
            <a:endParaRPr kumimoji="1" lang="en-US" altLang="ko-KR" sz="800" b="0" i="0" u="none" strike="noStrike" kern="1200" cap="none" spc="-30" normalizeH="0" baseline="0" noProof="1">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a:p>
            <a:pPr marL="180975" marR="0" lvl="1" indent="0" algn="l" defTabSz="844083" rtl="0" eaLnBrk="1" fontAlgn="base" latinLnBrk="1" hangingPunct="1">
              <a:lnSpc>
                <a:spcPct val="10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a:t>
            </a:r>
            <a:r>
              <a:rPr kumimoji="1" lang="ko-KR" altLang="en-US"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위치 불량 분석 관련 </a:t>
            </a:r>
            <a:r>
              <a:rPr kumimoji="1" lang="en-US" altLang="ko-KR"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Core XAI Engine </a:t>
            </a:r>
            <a:r>
              <a:rPr kumimoji="1" lang="ko-KR" altLang="en-US"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분석 성능 보완 </a:t>
            </a:r>
            <a:r>
              <a:rPr kumimoji="1" lang="en-US" altLang="ko-KR"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(~’26.9)</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①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X</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축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신규 수집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기반 위치 불량 분석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Solution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반영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합치</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기 반영</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장변</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/Final Cut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부 정지</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재가동</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등속 시점 불량 원인 분석 범위 확장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(~’26.9)</a:t>
            </a:r>
          </a:p>
          <a:p>
            <a:pPr marL="180975" marR="0" lvl="1" indent="0" algn="l" defTabSz="844083" rtl="0" eaLnBrk="1" fontAlgn="base" latinLnBrk="1" hangingPunct="1">
              <a:lnSpc>
                <a:spcPct val="8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②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Y</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축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재료 교체</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시점 선정 외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EPC 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추이</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산포 기반 분석 사례 반영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(~’26.9)</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예시</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재료 교체 시점 전</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후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EPC 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분석 기반으로 권고 조치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Case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세분화</a:t>
            </a:r>
            <a:endPar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endParaRPr kumimoji="1"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endParaRPr kumimoji="1"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XAI</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분석 대상 시점 단축 관련 고도화 업무 진행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(~’26.10)</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Report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발행일 기준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D-3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D-1 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분석 시점 변경</a:t>
            </a:r>
            <a:endPar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진행 필요 사항</a:t>
            </a:r>
            <a:endPar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①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DAVINCI Data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조회 속도 개선 관련 검토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Test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진행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(w/DAVINCI</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p>
          <a:p>
            <a:pPr marL="180975" marR="0" lvl="1" indent="0" algn="l" defTabSz="844083" rtl="0" eaLnBrk="1" fontAlgn="base" latinLnBrk="1" hangingPunct="1">
              <a:lnSpc>
                <a:spcPct val="60000"/>
              </a:lnSpc>
              <a:spcBef>
                <a:spcPts val="0"/>
              </a:spcBef>
              <a:spcAft>
                <a:spcPts val="600"/>
              </a:spcAft>
              <a:buClrTx/>
              <a:buSzPct val="85000"/>
              <a:buFontTx/>
              <a:buNone/>
              <a:tabLst/>
              <a:defRPr/>
            </a:pP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② 위치불량 및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Drill Down DAVINCI Workflow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Python code</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화</a:t>
            </a:r>
            <a:r>
              <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수정 변경</a:t>
            </a:r>
            <a:endParaRPr kumimoji="1" lang="en-US" altLang="ko-KR" sz="1000" b="0" i="0" u="none" strike="noStrike" kern="1200" cap="none" spc="-3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2" name="TextBox 1">
            <a:extLst>
              <a:ext uri="{FF2B5EF4-FFF2-40B4-BE49-F238E27FC236}">
                <a16:creationId xmlns:a16="http://schemas.microsoft.com/office/drawing/2014/main" id="{E59E7014-3849-3C95-2AE1-0B5BC9F3A701}"/>
              </a:ext>
            </a:extLst>
          </p:cNvPr>
          <p:cNvSpPr txBox="1"/>
          <p:nvPr/>
        </p:nvSpPr>
        <p:spPr>
          <a:xfrm>
            <a:off x="4750612" y="6622748"/>
            <a:ext cx="404777" cy="25943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- 1 / 6 - </a:t>
            </a:r>
          </a:p>
        </p:txBody>
      </p:sp>
      <p:sp>
        <p:nvSpPr>
          <p:cNvPr id="6" name="TextBox 5">
            <a:extLst>
              <a:ext uri="{FF2B5EF4-FFF2-40B4-BE49-F238E27FC236}">
                <a16:creationId xmlns:a16="http://schemas.microsoft.com/office/drawing/2014/main" id="{7468BDE6-6724-E60C-33C8-B2FF847C8DBF}"/>
              </a:ext>
            </a:extLst>
          </p:cNvPr>
          <p:cNvSpPr txBox="1"/>
          <p:nvPr/>
        </p:nvSpPr>
        <p:spPr>
          <a:xfrm>
            <a:off x="977307" y="5357137"/>
            <a:ext cx="3783170" cy="338554"/>
          </a:xfrm>
          <a:prstGeom prst="rect">
            <a:avLst/>
          </a:prstGeom>
          <a:noFill/>
        </p:spPr>
        <p:txBody>
          <a:bodyPr wrap="square">
            <a:spAutoFit/>
          </a:bodyPr>
          <a:lstStyle/>
          <a:p>
            <a:pPr marL="180975" marR="0" lvl="1" indent="0" algn="l" defTabSz="844083" rtl="0" eaLnBrk="1" fontAlgn="base" latinLnBrk="1" hangingPunct="1">
              <a:lnSpc>
                <a:spcPct val="100000"/>
              </a:lnSpc>
              <a:spcBef>
                <a:spcPts val="0"/>
              </a:spcBef>
              <a:spcAft>
                <a:spcPts val="600"/>
              </a:spcAft>
              <a:buClrTx/>
              <a:buSzPct val="85000"/>
              <a:buFontTx/>
              <a:buNone/>
              <a:tabLst/>
              <a:defRPr/>
            </a:pPr>
            <a:r>
              <a:rPr kumimoji="1" lang="en-US" altLang="ko-KR" sz="800" b="0" i="0" u="none" strike="noStrike" kern="1200" cap="none" spc="-3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ex) </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재료 교체 시점 전</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후 </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EPC Data</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산포가 지속적으로 틀어짐 → </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Auto Splice </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단차 점검</a:t>
            </a:r>
            <a:b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재료 교체 시점 전</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후 </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EPC Data </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산포가 간헐적 튐 → </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EPC </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보정 오류 여부 진단</a:t>
            </a:r>
            <a:endParaRPr kumimoji="0" lang="ko-KR" altLang="en-US" sz="8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FF611A78-3637-851A-0D84-9844E03A556D}"/>
              </a:ext>
            </a:extLst>
          </p:cNvPr>
          <p:cNvSpPr txBox="1"/>
          <p:nvPr/>
        </p:nvSpPr>
        <p:spPr>
          <a:xfrm>
            <a:off x="3375071" y="5939201"/>
            <a:ext cx="1604433" cy="123111"/>
          </a:xfrm>
          <a:prstGeom prst="rect">
            <a:avLst/>
          </a:prstGeom>
          <a:noFill/>
        </p:spPr>
        <p:txBody>
          <a:bodyPr wrap="square" lIns="0" tIns="0" rIns="0" bIns="0">
            <a:spAutoFit/>
          </a:bodyPr>
          <a:lstStyle/>
          <a:p>
            <a:pPr marL="180975" marR="0" lvl="1" indent="0" algn="l" defTabSz="844083" rtl="0" eaLnBrk="1" fontAlgn="base" latinLnBrk="1" hangingPunct="1">
              <a:lnSpc>
                <a:spcPct val="100000"/>
              </a:lnSpc>
              <a:spcBef>
                <a:spcPts val="0"/>
              </a:spcBef>
              <a:spcAft>
                <a:spcPts val="600"/>
              </a:spcAft>
              <a:buClrTx/>
              <a:buSzPct val="85000"/>
              <a:buFontTx/>
              <a:buNone/>
              <a:tabLst/>
              <a:defRPr/>
            </a:pP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ESWA Cell</a:t>
            </a:r>
            <a:r>
              <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그룹 요청사항 </a:t>
            </a:r>
            <a:r>
              <a:rPr kumimoji="1" lang="en-US" altLang="ko-KR"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(‘26.8)</a:t>
            </a:r>
            <a:endParaRPr kumimoji="1" lang="ko-KR" altLang="en-US" sz="800" b="0" i="0" u="none" strike="noStrike" kern="1200" cap="none" spc="-3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p:txBody>
      </p:sp>
      <p:grpSp>
        <p:nvGrpSpPr>
          <p:cNvPr id="3" name="그룹 2">
            <a:extLst>
              <a:ext uri="{FF2B5EF4-FFF2-40B4-BE49-F238E27FC236}">
                <a16:creationId xmlns:a16="http://schemas.microsoft.com/office/drawing/2014/main" id="{2DC5CBD8-88D5-0509-6553-E8F9FC1E1286}"/>
              </a:ext>
            </a:extLst>
          </p:cNvPr>
          <p:cNvGrpSpPr/>
          <p:nvPr/>
        </p:nvGrpSpPr>
        <p:grpSpPr>
          <a:xfrm>
            <a:off x="7758397" y="114985"/>
            <a:ext cx="1781744" cy="604476"/>
            <a:chOff x="4232920" y="49957"/>
            <a:chExt cx="1781744" cy="604476"/>
          </a:xfrm>
        </p:grpSpPr>
        <p:sp>
          <p:nvSpPr>
            <p:cNvPr id="5" name="타원 4">
              <a:extLst>
                <a:ext uri="{FF2B5EF4-FFF2-40B4-BE49-F238E27FC236}">
                  <a16:creationId xmlns:a16="http://schemas.microsoft.com/office/drawing/2014/main" id="{046DF36B-64A9-1274-927D-8CE6AA95F124}"/>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303E15EA-D265-12F9-F097-57AE457436C2}"/>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타원 8">
              <a:extLst>
                <a:ext uri="{FF2B5EF4-FFF2-40B4-BE49-F238E27FC236}">
                  <a16:creationId xmlns:a16="http://schemas.microsoft.com/office/drawing/2014/main" id="{DA06EB1E-57E6-8D7D-BC94-9F0B2B74C87F}"/>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0" name="TextBox 9">
              <a:extLst>
                <a:ext uri="{FF2B5EF4-FFF2-40B4-BE49-F238E27FC236}">
                  <a16:creationId xmlns:a16="http://schemas.microsoft.com/office/drawing/2014/main" id="{8BFF36C1-C2CC-63DB-B7DF-C9A2CD060374}"/>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11" name="타원 10">
              <a:extLst>
                <a:ext uri="{FF2B5EF4-FFF2-40B4-BE49-F238E27FC236}">
                  <a16:creationId xmlns:a16="http://schemas.microsoft.com/office/drawing/2014/main" id="{70D4CFF7-BB16-FE38-DF9B-0D32A7BE4363}"/>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877F7928-3077-E8DD-DCF5-6076C9885518}"/>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2728587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
            <a:extLst>
              <a:ext uri="{FF2B5EF4-FFF2-40B4-BE49-F238E27FC236}">
                <a16:creationId xmlns:a16="http://schemas.microsoft.com/office/drawing/2014/main" id="{669AEE75-EE84-3462-DC23-A193EC6532D5}"/>
              </a:ext>
            </a:extLst>
          </p:cNvPr>
          <p:cNvSpPr>
            <a:spLocks noChangeArrowheads="1"/>
          </p:cNvSpPr>
          <p:nvPr/>
        </p:nvSpPr>
        <p:spPr bwMode="auto">
          <a:xfrm>
            <a:off x="200471" y="1510124"/>
            <a:ext cx="448035" cy="931411"/>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일정</a:t>
            </a: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sp>
        <p:nvSpPr>
          <p:cNvPr id="15" name="제목 3">
            <a:extLst>
              <a:ext uri="{FF2B5EF4-FFF2-40B4-BE49-F238E27FC236}">
                <a16:creationId xmlns:a16="http://schemas.microsoft.com/office/drawing/2014/main" id="{C8F30E1E-8D4F-5F0F-7ACC-C1085A2BA110}"/>
              </a:ext>
            </a:extLst>
          </p:cNvPr>
          <p:cNvSpPr>
            <a:spLocks noGrp="1"/>
          </p:cNvSpPr>
          <p:nvPr>
            <p:ph type="title"/>
          </p:nvPr>
        </p:nvSpPr>
        <p:spPr>
          <a:xfrm>
            <a:off x="134567" y="116448"/>
            <a:ext cx="6579998" cy="369332"/>
          </a:xfrm>
        </p:spPr>
        <p:txBody>
          <a:bodyPr wrap="square">
            <a:spAutoFit/>
          </a:bodyPr>
          <a:lstStyle/>
          <a:p>
            <a:pPr algn="l"/>
            <a:r>
              <a:rPr lang="en-US" altLang="ko-KR" dirty="0"/>
              <a:t>3.</a:t>
            </a:r>
            <a:r>
              <a:rPr lang="ko-KR" altLang="en-US" dirty="0"/>
              <a:t> </a:t>
            </a:r>
            <a:r>
              <a:rPr lang="en-US" altLang="ko-KR" dirty="0"/>
              <a:t>KPI 08</a:t>
            </a:r>
            <a:r>
              <a:rPr lang="ko-KR" altLang="en-US" dirty="0"/>
              <a:t>월 진척 사항</a:t>
            </a:r>
            <a:r>
              <a:rPr lang="en-US" altLang="ko-KR" dirty="0"/>
              <a:t>_L&amp;S </a:t>
            </a:r>
            <a:r>
              <a:rPr lang="ko-KR" altLang="en-US" dirty="0"/>
              <a:t>수율 개선 솔루션 개발</a:t>
            </a:r>
            <a:r>
              <a:rPr lang="en-US" altLang="ko-KR" dirty="0"/>
              <a:t>(1/2)_</a:t>
            </a:r>
            <a:r>
              <a:rPr lang="ko-KR" altLang="en-US" dirty="0"/>
              <a:t>불량 원인 구체화</a:t>
            </a:r>
          </a:p>
        </p:txBody>
      </p:sp>
      <p:graphicFrame>
        <p:nvGraphicFramePr>
          <p:cNvPr id="16" name="표 15">
            <a:extLst>
              <a:ext uri="{FF2B5EF4-FFF2-40B4-BE49-F238E27FC236}">
                <a16:creationId xmlns:a16="http://schemas.microsoft.com/office/drawing/2014/main" id="{743AE957-599D-F07B-D677-B19B9BFE2901}"/>
              </a:ext>
            </a:extLst>
          </p:cNvPr>
          <p:cNvGraphicFramePr>
            <a:graphicFrameLocks noGrp="1"/>
          </p:cNvGraphicFramePr>
          <p:nvPr/>
        </p:nvGraphicFramePr>
        <p:xfrm>
          <a:off x="735049" y="761673"/>
          <a:ext cx="8862107" cy="702000"/>
        </p:xfrm>
        <a:graphic>
          <a:graphicData uri="http://schemas.openxmlformats.org/drawingml/2006/table">
            <a:tbl>
              <a:tblPr/>
              <a:tblGrid>
                <a:gridCol w="2398749">
                  <a:extLst>
                    <a:ext uri="{9D8B030D-6E8A-4147-A177-3AD203B41FA5}">
                      <a16:colId xmlns:a16="http://schemas.microsoft.com/office/drawing/2014/main" val="20000"/>
                    </a:ext>
                  </a:extLst>
                </a:gridCol>
                <a:gridCol w="4530971">
                  <a:extLst>
                    <a:ext uri="{9D8B030D-6E8A-4147-A177-3AD203B41FA5}">
                      <a16:colId xmlns:a16="http://schemas.microsoft.com/office/drawing/2014/main" val="20001"/>
                    </a:ext>
                  </a:extLst>
                </a:gridCol>
                <a:gridCol w="1199375">
                  <a:extLst>
                    <a:ext uri="{9D8B030D-6E8A-4147-A177-3AD203B41FA5}">
                      <a16:colId xmlns:a16="http://schemas.microsoft.com/office/drawing/2014/main" val="2961269463"/>
                    </a:ext>
                  </a:extLst>
                </a:gridCol>
                <a:gridCol w="733012">
                  <a:extLst>
                    <a:ext uri="{9D8B030D-6E8A-4147-A177-3AD203B41FA5}">
                      <a16:colId xmlns:a16="http://schemas.microsoft.com/office/drawing/2014/main" val="20007"/>
                    </a:ext>
                  </a:extLst>
                </a:gridCol>
              </a:tblGrid>
              <a:tr h="21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KPI</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’26</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년 분기목표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연간목표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비중</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상태</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48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indent="0" algn="ctr" defTabSz="914400" rtl="0" eaLnBrk="1" fontAlgn="ctr" latinLnBrk="1" hangingPunct="1">
                        <a:lnSpc>
                          <a:spcPct val="100000"/>
                        </a:lnSpc>
                        <a:spcBef>
                          <a:spcPts val="0"/>
                        </a:spcBef>
                        <a:spcAft>
                          <a:spcPts val="100"/>
                        </a:spcAft>
                        <a:buSzPct val="100000"/>
                        <a:buFont typeface="Arial" panose="020B0604020202020204" pitchFamily="34" charset="0"/>
                        <a:buNone/>
                      </a:pPr>
                      <a:r>
                        <a:rPr lang="ko-KR" altLang="en-US" sz="1000" b="1" kern="1200" spc="-10" dirty="0">
                          <a:solidFill>
                            <a:schemeClr val="tx1"/>
                          </a:solidFill>
                          <a:latin typeface="Arial Narrow" panose="020B0606020202030204" pitchFamily="34" charset="0"/>
                          <a:ea typeface="LG스마트체 Regular" panose="020B0600000101010101" pitchFamily="50" charset="-127"/>
                          <a:cs typeface="+mn-cs"/>
                        </a:rPr>
                        <a:t>추적 기술 기반</a:t>
                      </a:r>
                      <a:r>
                        <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rPr>
                        <a:t> L&amp;S </a:t>
                      </a:r>
                      <a:r>
                        <a:rPr lang="ko-KR" altLang="en-US" sz="1000" b="1" kern="1200" spc="-10" dirty="0">
                          <a:solidFill>
                            <a:schemeClr val="tx1"/>
                          </a:solidFill>
                          <a:latin typeface="Arial Narrow" panose="020B0606020202030204" pitchFamily="34" charset="0"/>
                          <a:ea typeface="LG스마트체 Regular" panose="020B0600000101010101" pitchFamily="50" charset="-127"/>
                          <a:cs typeface="+mn-cs"/>
                        </a:rPr>
                        <a:t>수율 개선 솔루션 개발</a:t>
                      </a:r>
                      <a:br>
                        <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rPr>
                      </a:br>
                      <a:r>
                        <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rPr>
                        <a:t>_</a:t>
                      </a:r>
                      <a:r>
                        <a:rPr lang="ko-KR" altLang="en-US" sz="1000" b="1" kern="1200" spc="-10" dirty="0">
                          <a:solidFill>
                            <a:schemeClr val="tx1"/>
                          </a:solidFill>
                          <a:latin typeface="Arial Narrow" panose="020B0606020202030204" pitchFamily="34" charset="0"/>
                          <a:ea typeface="LG스마트체 Regular" panose="020B0600000101010101" pitchFamily="50" charset="-127"/>
                          <a:cs typeface="+mn-cs"/>
                        </a:rPr>
                        <a:t>불량 원인 구체화</a:t>
                      </a:r>
                      <a:endPar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ko-KR" altLang="en-US" sz="1000" b="1" i="0" u="none" strike="noStrike" kern="1200" spc="0" baseline="0" dirty="0">
                          <a:solidFill>
                            <a:schemeClr val="tx1"/>
                          </a:solidFill>
                          <a:effectLst/>
                          <a:latin typeface="Arial Narrow" panose="020B0606020202030204" pitchFamily="34" charset="0"/>
                          <a:ea typeface="LG스마트체 Regular" panose="020B0600000101010101" pitchFamily="50" charset="-127"/>
                          <a:cs typeface="+mn-cs"/>
                        </a:rPr>
                        <a:t>수율 개선 </a:t>
                      </a:r>
                      <a:r>
                        <a:rPr lang="ko-KR" altLang="en-US" sz="1000" b="1" kern="1200" spc="0" baseline="0" dirty="0">
                          <a:solidFill>
                            <a:schemeClr val="tx1"/>
                          </a:solidFill>
                          <a:latin typeface="Arial Narrow" panose="020B0606020202030204" pitchFamily="34" charset="0"/>
                          <a:ea typeface="LG스마트체 Regular" panose="020B0600000101010101" pitchFamily="50" charset="-127"/>
                          <a:cs typeface="+mn-cs"/>
                        </a:rPr>
                        <a:t>솔루션 수평전개 </a:t>
                      </a:r>
                      <a: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t>(’26.09) </a:t>
                      </a:r>
                      <a:r>
                        <a:rPr kumimoji="1" lang="en-US" altLang="ko-KR" sz="10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[3Q </a:t>
                      </a:r>
                      <a:r>
                        <a:rPr kumimoji="1" lang="ko-KR" altLang="en-US" sz="10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목표</a:t>
                      </a:r>
                      <a:r>
                        <a:rPr kumimoji="1" lang="en-US" altLang="ko-KR" sz="10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a:t>
                      </a:r>
                      <a:endParaRPr kumimoji="1" lang="en-US" altLang="ko-KR" sz="10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kern="1200" spc="0" dirty="0">
                          <a:solidFill>
                            <a:srgbClr val="006600"/>
                          </a:solidFill>
                          <a:latin typeface="Arial Narrow" panose="020B0606020202030204" pitchFamily="34" charset="0"/>
                          <a:ea typeface="LG스마트체 Regular" panose="020B0600000101010101" pitchFamily="50" charset="-127"/>
                          <a:cs typeface="+mn-cs"/>
                        </a:rPr>
                        <a:t>※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Q : L&amp;S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핵심 불량</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(NG</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마킹 제외</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20%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개선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dirty="0" err="1">
                          <a:solidFill>
                            <a:srgbClr val="006600"/>
                          </a:solidFill>
                          <a:effectLst/>
                          <a:latin typeface="Arial Narrow" panose="020B0606020202030204" pitchFamily="34" charset="0"/>
                          <a:ea typeface="LG스마트체 Regular" panose="020B0600000101010101" pitchFamily="50" charset="-127"/>
                        </a:rPr>
                        <a:t>연목표</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D : ’26.12</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월</a:t>
                      </a:r>
                      <a:endParaRPr lang="ko-KR" altLang="en-US" sz="1000" b="0" i="0" u="none" strike="noStrike" dirty="0">
                        <a:solidFill>
                          <a:srgbClr val="006600"/>
                        </a:solidFill>
                        <a:effectLst/>
                        <a:latin typeface="Arial Narrow" panose="020B0606020202030204" pitchFamily="34" charset="0"/>
                        <a:ea typeface="LG스마트체 Regular" panose="020B0600000101010101" pitchFamily="50" charset="-127"/>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algn="ctr" fontAlgn="ctr"/>
                      <a:r>
                        <a:rPr 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15%  (</a:t>
                      </a:r>
                      <a:r>
                        <a:rPr lang="ko-KR" alt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담당</a:t>
                      </a: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endParaRPr lang="en-US" sz="1000" b="0" i="0" u="none" strike="noStrike" spc="-70" baseline="0" dirty="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17" name="Rectangle 4">
            <a:extLst>
              <a:ext uri="{FF2B5EF4-FFF2-40B4-BE49-F238E27FC236}">
                <a16:creationId xmlns:a16="http://schemas.microsoft.com/office/drawing/2014/main" id="{E1457390-122E-9AFF-29A1-30AFE1C3BAF1}"/>
              </a:ext>
            </a:extLst>
          </p:cNvPr>
          <p:cNvSpPr>
            <a:spLocks noChangeArrowheads="1"/>
          </p:cNvSpPr>
          <p:nvPr/>
        </p:nvSpPr>
        <p:spPr bwMode="auto">
          <a:xfrm>
            <a:off x="200471" y="761674"/>
            <a:ext cx="448035" cy="702000"/>
          </a:xfrm>
          <a:prstGeom prst="rect">
            <a:avLst/>
          </a:prstGeom>
          <a:solidFill>
            <a:schemeClr val="bg1"/>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90000"/>
              </a:lnSpc>
              <a:spcBef>
                <a:spcPct val="3000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목표</a:t>
            </a:r>
            <a:endParaRPr kumimoji="1" lang="en-US" altLang="ko-KR"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pSp>
        <p:nvGrpSpPr>
          <p:cNvPr id="18" name="그룹 17">
            <a:extLst>
              <a:ext uri="{FF2B5EF4-FFF2-40B4-BE49-F238E27FC236}">
                <a16:creationId xmlns:a16="http://schemas.microsoft.com/office/drawing/2014/main" id="{A771C667-AAED-040B-CD1A-DC4B42C22C3C}"/>
              </a:ext>
            </a:extLst>
          </p:cNvPr>
          <p:cNvGrpSpPr/>
          <p:nvPr/>
        </p:nvGrpSpPr>
        <p:grpSpPr>
          <a:xfrm>
            <a:off x="839581" y="2517263"/>
            <a:ext cx="4745388" cy="341334"/>
            <a:chOff x="961536" y="4488828"/>
            <a:chExt cx="4008771" cy="341334"/>
          </a:xfrm>
        </p:grpSpPr>
        <p:sp>
          <p:nvSpPr>
            <p:cNvPr id="19" name="제목 9">
              <a:extLst>
                <a:ext uri="{FF2B5EF4-FFF2-40B4-BE49-F238E27FC236}">
                  <a16:creationId xmlns:a16="http://schemas.microsoft.com/office/drawing/2014/main" id="{B2EC85B2-43CE-EEBF-EBBF-BCD181C1496A}"/>
                </a:ext>
              </a:extLst>
            </p:cNvPr>
            <p:cNvSpPr txBox="1">
              <a:spLocks/>
            </p:cNvSpPr>
            <p:nvPr/>
          </p:nvSpPr>
          <p:spPr>
            <a:xfrm>
              <a:off x="2577457" y="4488828"/>
              <a:ext cx="776928"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진척사항</a:t>
              </a:r>
            </a:p>
          </p:txBody>
        </p:sp>
        <p:cxnSp>
          <p:nvCxnSpPr>
            <p:cNvPr id="20" name="직선 연결선 2">
              <a:extLst>
                <a:ext uri="{FF2B5EF4-FFF2-40B4-BE49-F238E27FC236}">
                  <a16:creationId xmlns:a16="http://schemas.microsoft.com/office/drawing/2014/main" id="{ECBC5060-DBD0-14B6-C2B8-22A9F7BD245C}"/>
                </a:ext>
              </a:extLst>
            </p:cNvPr>
            <p:cNvCxnSpPr>
              <a:cxnSpLocks noChangeShapeType="1"/>
            </p:cNvCxnSpPr>
            <p:nvPr/>
          </p:nvCxnSpPr>
          <p:spPr bwMode="auto">
            <a:xfrm>
              <a:off x="961536" y="4830162"/>
              <a:ext cx="400877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그룹 22">
            <a:extLst>
              <a:ext uri="{FF2B5EF4-FFF2-40B4-BE49-F238E27FC236}">
                <a16:creationId xmlns:a16="http://schemas.microsoft.com/office/drawing/2014/main" id="{6AD6CC0D-16DC-945C-C835-3B1E111A186A}"/>
              </a:ext>
            </a:extLst>
          </p:cNvPr>
          <p:cNvGrpSpPr/>
          <p:nvPr/>
        </p:nvGrpSpPr>
        <p:grpSpPr>
          <a:xfrm>
            <a:off x="5705831" y="2524969"/>
            <a:ext cx="3988496" cy="333628"/>
            <a:chOff x="5152724" y="4496534"/>
            <a:chExt cx="4221222" cy="333628"/>
          </a:xfrm>
        </p:grpSpPr>
        <p:sp>
          <p:nvSpPr>
            <p:cNvPr id="24" name="제목 9">
              <a:extLst>
                <a:ext uri="{FF2B5EF4-FFF2-40B4-BE49-F238E27FC236}">
                  <a16:creationId xmlns:a16="http://schemas.microsoft.com/office/drawing/2014/main" id="{A1E1C2A6-F71C-9089-97CB-9E13B7EDD122}"/>
                </a:ext>
              </a:extLst>
            </p:cNvPr>
            <p:cNvSpPr txBox="1">
              <a:spLocks/>
            </p:cNvSpPr>
            <p:nvPr/>
          </p:nvSpPr>
          <p:spPr>
            <a:xfrm>
              <a:off x="6885365" y="4496534"/>
              <a:ext cx="755940"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향후 계획</a:t>
              </a:r>
            </a:p>
          </p:txBody>
        </p:sp>
        <p:cxnSp>
          <p:nvCxnSpPr>
            <p:cNvPr id="25" name="직선 연결선 2">
              <a:extLst>
                <a:ext uri="{FF2B5EF4-FFF2-40B4-BE49-F238E27FC236}">
                  <a16:creationId xmlns:a16="http://schemas.microsoft.com/office/drawing/2014/main" id="{3D428BD5-B57B-29C3-E85E-0CAB391F61F7}"/>
                </a:ext>
              </a:extLst>
            </p:cNvPr>
            <p:cNvCxnSpPr>
              <a:cxnSpLocks noChangeShapeType="1"/>
            </p:cNvCxnSpPr>
            <p:nvPr/>
          </p:nvCxnSpPr>
          <p:spPr bwMode="auto">
            <a:xfrm>
              <a:off x="5152724" y="4830162"/>
              <a:ext cx="422122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6" name="Rectangle 4">
            <a:extLst>
              <a:ext uri="{FF2B5EF4-FFF2-40B4-BE49-F238E27FC236}">
                <a16:creationId xmlns:a16="http://schemas.microsoft.com/office/drawing/2014/main" id="{A1D19CEE-E215-1C9D-3ECD-A721934E6A08}"/>
              </a:ext>
            </a:extLst>
          </p:cNvPr>
          <p:cNvSpPr>
            <a:spLocks noChangeArrowheads="1"/>
          </p:cNvSpPr>
          <p:nvPr/>
        </p:nvSpPr>
        <p:spPr bwMode="auto">
          <a:xfrm>
            <a:off x="200471" y="2487986"/>
            <a:ext cx="448035" cy="4085588"/>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진척</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사항</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27" name="표 26">
            <a:extLst>
              <a:ext uri="{FF2B5EF4-FFF2-40B4-BE49-F238E27FC236}">
                <a16:creationId xmlns:a16="http://schemas.microsoft.com/office/drawing/2014/main" id="{6713932B-CBB9-D97C-4D63-2A88536F03F4}"/>
              </a:ext>
            </a:extLst>
          </p:cNvPr>
          <p:cNvGraphicFramePr>
            <a:graphicFrameLocks noGrp="1"/>
          </p:cNvGraphicFramePr>
          <p:nvPr/>
        </p:nvGraphicFramePr>
        <p:xfrm>
          <a:off x="735048" y="1521549"/>
          <a:ext cx="8862108" cy="919986"/>
        </p:xfrm>
        <a:graphic>
          <a:graphicData uri="http://schemas.openxmlformats.org/drawingml/2006/table">
            <a:tbl>
              <a:tblPr/>
              <a:tblGrid>
                <a:gridCol w="738509">
                  <a:extLst>
                    <a:ext uri="{9D8B030D-6E8A-4147-A177-3AD203B41FA5}">
                      <a16:colId xmlns:a16="http://schemas.microsoft.com/office/drawing/2014/main" val="1710325250"/>
                    </a:ext>
                  </a:extLst>
                </a:gridCol>
                <a:gridCol w="738509">
                  <a:extLst>
                    <a:ext uri="{9D8B030D-6E8A-4147-A177-3AD203B41FA5}">
                      <a16:colId xmlns:a16="http://schemas.microsoft.com/office/drawing/2014/main" val="2582822843"/>
                    </a:ext>
                  </a:extLst>
                </a:gridCol>
                <a:gridCol w="738509">
                  <a:extLst>
                    <a:ext uri="{9D8B030D-6E8A-4147-A177-3AD203B41FA5}">
                      <a16:colId xmlns:a16="http://schemas.microsoft.com/office/drawing/2014/main" val="3574503571"/>
                    </a:ext>
                  </a:extLst>
                </a:gridCol>
                <a:gridCol w="738509">
                  <a:extLst>
                    <a:ext uri="{9D8B030D-6E8A-4147-A177-3AD203B41FA5}">
                      <a16:colId xmlns:a16="http://schemas.microsoft.com/office/drawing/2014/main" val="906262013"/>
                    </a:ext>
                  </a:extLst>
                </a:gridCol>
                <a:gridCol w="738509">
                  <a:extLst>
                    <a:ext uri="{9D8B030D-6E8A-4147-A177-3AD203B41FA5}">
                      <a16:colId xmlns:a16="http://schemas.microsoft.com/office/drawing/2014/main" val="3618680307"/>
                    </a:ext>
                  </a:extLst>
                </a:gridCol>
                <a:gridCol w="738509">
                  <a:extLst>
                    <a:ext uri="{9D8B030D-6E8A-4147-A177-3AD203B41FA5}">
                      <a16:colId xmlns:a16="http://schemas.microsoft.com/office/drawing/2014/main" val="1865859727"/>
                    </a:ext>
                  </a:extLst>
                </a:gridCol>
                <a:gridCol w="738509">
                  <a:extLst>
                    <a:ext uri="{9D8B030D-6E8A-4147-A177-3AD203B41FA5}">
                      <a16:colId xmlns:a16="http://schemas.microsoft.com/office/drawing/2014/main" val="214679234"/>
                    </a:ext>
                  </a:extLst>
                </a:gridCol>
                <a:gridCol w="738509">
                  <a:extLst>
                    <a:ext uri="{9D8B030D-6E8A-4147-A177-3AD203B41FA5}">
                      <a16:colId xmlns:a16="http://schemas.microsoft.com/office/drawing/2014/main" val="2741167305"/>
                    </a:ext>
                  </a:extLst>
                </a:gridCol>
                <a:gridCol w="738509">
                  <a:extLst>
                    <a:ext uri="{9D8B030D-6E8A-4147-A177-3AD203B41FA5}">
                      <a16:colId xmlns:a16="http://schemas.microsoft.com/office/drawing/2014/main" val="3278585182"/>
                    </a:ext>
                  </a:extLst>
                </a:gridCol>
                <a:gridCol w="738509">
                  <a:extLst>
                    <a:ext uri="{9D8B030D-6E8A-4147-A177-3AD203B41FA5}">
                      <a16:colId xmlns:a16="http://schemas.microsoft.com/office/drawing/2014/main" val="1712991450"/>
                    </a:ext>
                  </a:extLst>
                </a:gridCol>
                <a:gridCol w="738509">
                  <a:extLst>
                    <a:ext uri="{9D8B030D-6E8A-4147-A177-3AD203B41FA5}">
                      <a16:colId xmlns:a16="http://schemas.microsoft.com/office/drawing/2014/main" val="823744282"/>
                    </a:ext>
                  </a:extLst>
                </a:gridCol>
                <a:gridCol w="738509">
                  <a:extLst>
                    <a:ext uri="{9D8B030D-6E8A-4147-A177-3AD203B41FA5}">
                      <a16:colId xmlns:a16="http://schemas.microsoft.com/office/drawing/2014/main" val="2867782548"/>
                    </a:ext>
                  </a:extLst>
                </a:gridCol>
              </a:tblGrid>
              <a:tr h="127781">
                <a:tc gridSpan="12">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                 '26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년</a:t>
                      </a:r>
                    </a:p>
                  </a:txBody>
                  <a:tcPr marL="0" marR="0" marT="0" marB="0" anchor="ctr">
                    <a:lnL w="12700" cap="flat" cmpd="sng" algn="ctr">
                      <a:noFill/>
                      <a:prstDash val="solid"/>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0257681"/>
                  </a:ext>
                </a:extLst>
              </a:tr>
              <a:tr h="127781">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3</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4</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7</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8</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9</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10</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850938"/>
                  </a:ext>
                </a:extLst>
              </a:tr>
              <a:tr h="645666">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63549617"/>
                  </a:ext>
                </a:extLst>
              </a:tr>
            </a:tbl>
          </a:graphicData>
        </a:graphic>
      </p:graphicFrame>
      <p:cxnSp>
        <p:nvCxnSpPr>
          <p:cNvPr id="36" name="직선 화살표 연결선 35">
            <a:extLst>
              <a:ext uri="{FF2B5EF4-FFF2-40B4-BE49-F238E27FC236}">
                <a16:creationId xmlns:a16="http://schemas.microsoft.com/office/drawing/2014/main" id="{A2A3CB97-CF13-E1CA-0A78-F4387B209E2A}"/>
              </a:ext>
            </a:extLst>
          </p:cNvPr>
          <p:cNvCxnSpPr>
            <a:cxnSpLocks/>
            <a:stCxn id="60" idx="3"/>
            <a:endCxn id="66" idx="6"/>
          </p:cNvCxnSpPr>
          <p:nvPr/>
        </p:nvCxnSpPr>
        <p:spPr>
          <a:xfrm flipV="1">
            <a:off x="1147924" y="2070267"/>
            <a:ext cx="3289684" cy="346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8" name="그룹 1">
            <a:extLst>
              <a:ext uri="{FF2B5EF4-FFF2-40B4-BE49-F238E27FC236}">
                <a16:creationId xmlns:a16="http://schemas.microsoft.com/office/drawing/2014/main" id="{4DCCFC74-8338-FD98-3DC2-C6EEB6DE6270}"/>
              </a:ext>
            </a:extLst>
          </p:cNvPr>
          <p:cNvGrpSpPr/>
          <p:nvPr/>
        </p:nvGrpSpPr>
        <p:grpSpPr>
          <a:xfrm>
            <a:off x="6799650" y="1492189"/>
            <a:ext cx="169574" cy="965244"/>
            <a:chOff x="2020628" y="1123354"/>
            <a:chExt cx="205184" cy="2891908"/>
          </a:xfrm>
        </p:grpSpPr>
        <p:grpSp>
          <p:nvGrpSpPr>
            <p:cNvPr id="50" name="그룹 2">
              <a:extLst>
                <a:ext uri="{FF2B5EF4-FFF2-40B4-BE49-F238E27FC236}">
                  <a16:creationId xmlns:a16="http://schemas.microsoft.com/office/drawing/2014/main" id="{465709B3-892E-6EE1-A841-3E9675298194}"/>
                </a:ext>
              </a:extLst>
            </p:cNvPr>
            <p:cNvGrpSpPr/>
            <p:nvPr/>
          </p:nvGrpSpPr>
          <p:grpSpPr>
            <a:xfrm>
              <a:off x="2072680" y="1578060"/>
              <a:ext cx="120667" cy="2437202"/>
              <a:chOff x="4167960" y="2510051"/>
              <a:chExt cx="120667" cy="2526517"/>
            </a:xfrm>
          </p:grpSpPr>
          <p:cxnSp>
            <p:nvCxnSpPr>
              <p:cNvPr id="52" name="직선 연결선 167">
                <a:extLst>
                  <a:ext uri="{FF2B5EF4-FFF2-40B4-BE49-F238E27FC236}">
                    <a16:creationId xmlns:a16="http://schemas.microsoft.com/office/drawing/2014/main" id="{0772A079-CDD2-50FF-9559-A861503EBA3A}"/>
                  </a:ext>
                </a:extLst>
              </p:cNvPr>
              <p:cNvCxnSpPr>
                <a:cxnSpLocks/>
              </p:cNvCxnSpPr>
              <p:nvPr/>
            </p:nvCxnSpPr>
            <p:spPr>
              <a:xfrm>
                <a:off x="4228294" y="2685928"/>
                <a:ext cx="0" cy="2350640"/>
              </a:xfrm>
              <a:prstGeom prst="line">
                <a:avLst/>
              </a:prstGeom>
              <a:noFill/>
              <a:ln w="19050" cap="flat" cmpd="sng" algn="ctr">
                <a:solidFill>
                  <a:srgbClr val="FF0000"/>
                </a:solidFill>
                <a:prstDash val="sysDot"/>
              </a:ln>
              <a:effectLst/>
            </p:spPr>
          </p:cxnSp>
          <p:sp>
            <p:nvSpPr>
              <p:cNvPr id="55" name="이등변 삼각형 7">
                <a:extLst>
                  <a:ext uri="{FF2B5EF4-FFF2-40B4-BE49-F238E27FC236}">
                    <a16:creationId xmlns:a16="http://schemas.microsoft.com/office/drawing/2014/main" id="{211561C2-6DB2-FC79-9404-727E1B00B449}"/>
                  </a:ext>
                </a:extLst>
              </p:cNvPr>
              <p:cNvSpPr/>
              <p:nvPr/>
            </p:nvSpPr>
            <p:spPr>
              <a:xfrm flipV="1">
                <a:off x="4167960" y="2510051"/>
                <a:ext cx="120667" cy="89074"/>
              </a:xfrm>
              <a:prstGeom prst="triangle">
                <a:avLst/>
              </a:prstGeom>
              <a:solidFill>
                <a:srgbClr val="FF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51" name="Text Box 4">
              <a:extLst>
                <a:ext uri="{FF2B5EF4-FFF2-40B4-BE49-F238E27FC236}">
                  <a16:creationId xmlns:a16="http://schemas.microsoft.com/office/drawing/2014/main" id="{FD3DA198-F417-856B-9DCA-DB61AA4EB6F9}"/>
                </a:ext>
              </a:extLst>
            </p:cNvPr>
            <p:cNvSpPr txBox="1">
              <a:spLocks noChangeArrowheads="1"/>
            </p:cNvSpPr>
            <p:nvPr/>
          </p:nvSpPr>
          <p:spPr bwMode="auto">
            <a:xfrm>
              <a:off x="2020628" y="1123354"/>
              <a:ext cx="205184" cy="138501"/>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rPr>
                <a:t>현재</a:t>
              </a:r>
              <a:endParaRPr kumimoji="0" lang="en-US" altLang="ko-KR"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endParaRPr>
            </a:p>
          </p:txBody>
        </p:sp>
      </p:grpSp>
      <p:sp>
        <p:nvSpPr>
          <p:cNvPr id="56" name="TextBox 55">
            <a:extLst>
              <a:ext uri="{FF2B5EF4-FFF2-40B4-BE49-F238E27FC236}">
                <a16:creationId xmlns:a16="http://schemas.microsoft.com/office/drawing/2014/main" id="{1078876F-31C3-ECCC-4EBF-B390FF4E863F}"/>
              </a:ext>
            </a:extLst>
          </p:cNvPr>
          <p:cNvSpPr txBox="1"/>
          <p:nvPr/>
        </p:nvSpPr>
        <p:spPr>
          <a:xfrm>
            <a:off x="816727" y="2835259"/>
            <a:ext cx="4731208" cy="296620"/>
          </a:xfrm>
          <a:prstGeom prst="rect">
            <a:avLst/>
          </a:prstGeom>
          <a:noFill/>
        </p:spPr>
        <p:txBody>
          <a:bodyPr wrap="square" lIns="33231" rIns="33231" rtlCol="0">
            <a:spAutoFit/>
          </a:bodyPr>
          <a:lstStyle/>
          <a:p>
            <a:pPr marL="164127" marR="0" lvl="0" indent="-164127" algn="l" defTabSz="844083" rtl="0" eaLnBrk="1" fontAlgn="base" latinLnBrk="1" hangingPunct="1">
              <a:lnSpc>
                <a:spcPct val="12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추적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Data</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를 활용한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L&amp;S </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수율 개선 솔루션 개발</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_</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불량 원인 구체화</a:t>
            </a:r>
            <a:endPar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58" name="직선 연결선 57">
            <a:extLst>
              <a:ext uri="{FF2B5EF4-FFF2-40B4-BE49-F238E27FC236}">
                <a16:creationId xmlns:a16="http://schemas.microsoft.com/office/drawing/2014/main" id="{AD782D83-488D-ADB9-6451-1A81C7CA25FF}"/>
              </a:ext>
            </a:extLst>
          </p:cNvPr>
          <p:cNvCxnSpPr>
            <a:cxnSpLocks/>
          </p:cNvCxnSpPr>
          <p:nvPr/>
        </p:nvCxnSpPr>
        <p:spPr>
          <a:xfrm flipV="1">
            <a:off x="5645400" y="2692623"/>
            <a:ext cx="0" cy="3845951"/>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9" name="타원 58">
            <a:extLst>
              <a:ext uri="{FF2B5EF4-FFF2-40B4-BE49-F238E27FC236}">
                <a16:creationId xmlns:a16="http://schemas.microsoft.com/office/drawing/2014/main" id="{C23B184F-AE0C-9B44-976A-CB5C0F1B4BD7}"/>
              </a:ext>
            </a:extLst>
          </p:cNvPr>
          <p:cNvSpPr>
            <a:spLocks noChangeAspect="1"/>
          </p:cNvSpPr>
          <p:nvPr/>
        </p:nvSpPr>
        <p:spPr>
          <a:xfrm>
            <a:off x="9136690" y="1150348"/>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48970DF2-D284-72C0-6C1B-7CB3BAEF8372}"/>
              </a:ext>
            </a:extLst>
          </p:cNvPr>
          <p:cNvSpPr txBox="1"/>
          <p:nvPr/>
        </p:nvSpPr>
        <p:spPr>
          <a:xfrm>
            <a:off x="747185" y="1786430"/>
            <a:ext cx="400739" cy="574594"/>
          </a:xfrm>
          <a:prstGeom prst="rect">
            <a:avLst/>
          </a:prstGeom>
          <a:solidFill>
            <a:schemeClr val="bg1"/>
          </a:solidFill>
          <a:ln w="6350">
            <a:solidFill>
              <a:schemeClr val="bg1">
                <a:lumMod val="50000"/>
              </a:schemeClr>
            </a:solidFill>
          </a:ln>
        </p:spPr>
        <p:txBody>
          <a:bodyPr wrap="none" lIns="36000" tIns="36000" rIns="36000" bIns="36000" rtlCol="0" anchor="ctr" anchorCtr="0">
            <a:noAutofit/>
          </a:bodyPr>
          <a:lstStyle/>
          <a:p>
            <a:pPr marL="0" marR="0" lvl="0" indent="0" algn="ctr" defTabSz="914400" rtl="0" eaLnBrk="1" fontAlgn="auto" latinLnBrk="1" hangingPunct="1">
              <a:lnSpc>
                <a:spcPct val="114000"/>
              </a:lnSpc>
              <a:spcBef>
                <a:spcPts val="0"/>
              </a:spcBef>
              <a:spcAft>
                <a:spcPts val="0"/>
              </a:spcAft>
              <a:buClrTx/>
              <a:buSzTx/>
              <a:buFontTx/>
              <a:buNone/>
              <a:tabLst/>
              <a:defRPr/>
            </a:pPr>
            <a:r>
              <a:rPr kumimoji="0" lang="ko-KR" altLang="en-US" sz="9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설비동작</a:t>
            </a:r>
            <a:endParaRPr kumimoji="0" lang="en-US" altLang="ko-KR" sz="9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14000"/>
              </a:lnSpc>
              <a:spcBef>
                <a:spcPts val="0"/>
              </a:spcBef>
              <a:spcAft>
                <a:spcPts val="0"/>
              </a:spcAft>
              <a:buClrTx/>
              <a:buSzTx/>
              <a:buFontTx/>
              <a:buNone/>
              <a:tabLst/>
              <a:defRPr/>
            </a:pPr>
            <a:r>
              <a:rPr kumimoji="0" lang="ko-KR" altLang="en-US" sz="9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데이터</a:t>
            </a:r>
            <a:endParaRPr kumimoji="0" lang="en-US" altLang="ko-KR" sz="9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14000"/>
              </a:lnSpc>
              <a:spcBef>
                <a:spcPts val="0"/>
              </a:spcBef>
              <a:spcAft>
                <a:spcPts val="0"/>
              </a:spcAft>
              <a:buClrTx/>
              <a:buSzTx/>
              <a:buFontTx/>
              <a:buNone/>
              <a:tabLst/>
              <a:defRPr/>
            </a:pPr>
            <a:r>
              <a:rPr kumimoji="0" lang="ko-KR" altLang="en-US" sz="9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수집</a:t>
            </a:r>
            <a:endParaRPr kumimoji="0" lang="en-US" altLang="ko-KR" sz="9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61" name="TextBox 60">
            <a:extLst>
              <a:ext uri="{FF2B5EF4-FFF2-40B4-BE49-F238E27FC236}">
                <a16:creationId xmlns:a16="http://schemas.microsoft.com/office/drawing/2014/main" id="{38F3FAAE-DDD8-3D15-886B-23E1CC06D857}"/>
              </a:ext>
            </a:extLst>
          </p:cNvPr>
          <p:cNvSpPr txBox="1"/>
          <p:nvPr/>
        </p:nvSpPr>
        <p:spPr>
          <a:xfrm>
            <a:off x="5299185" y="2107135"/>
            <a:ext cx="813291" cy="226591"/>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0" cap="none" spc="0" normalizeH="0" baseline="0" noProof="0" dirty="0">
                <a:ln>
                  <a:noFill/>
                </a:ln>
                <a:solidFill>
                  <a:srgbClr val="3333CC"/>
                </a:solidFill>
                <a:effectLst/>
                <a:uLnTx/>
                <a:uFillTx/>
                <a:latin typeface="Arial Narrow"/>
                <a:ea typeface="LG스마트체 Regular"/>
                <a:cs typeface="+mn-cs"/>
                <a:sym typeface="Wingdings"/>
              </a:rPr>
              <a:t>수율 개선 기여</a:t>
            </a:r>
            <a:endParaRPr kumimoji="0" lang="en-US" altLang="ko-KR" sz="1000" b="0" i="0" u="none" strike="noStrike" kern="0" cap="none" spc="0" normalizeH="0" baseline="0" noProof="0" dirty="0">
              <a:ln>
                <a:noFill/>
              </a:ln>
              <a:solidFill>
                <a:srgbClr val="3333CC"/>
              </a:solidFill>
              <a:effectLst/>
              <a:uLnTx/>
              <a:uFillTx/>
              <a:latin typeface="Arial Narrow"/>
              <a:ea typeface="LG스마트체 Regular"/>
              <a:cs typeface="+mn-cs"/>
              <a:sym typeface="Wingdings"/>
            </a:endParaRPr>
          </a:p>
        </p:txBody>
      </p:sp>
      <p:sp>
        <p:nvSpPr>
          <p:cNvPr id="62" name="타원 61">
            <a:extLst>
              <a:ext uri="{FF2B5EF4-FFF2-40B4-BE49-F238E27FC236}">
                <a16:creationId xmlns:a16="http://schemas.microsoft.com/office/drawing/2014/main" id="{DEC0BA39-861B-10B8-64A3-A4180CF47311}"/>
              </a:ext>
            </a:extLst>
          </p:cNvPr>
          <p:cNvSpPr/>
          <p:nvPr/>
        </p:nvSpPr>
        <p:spPr>
          <a:xfrm>
            <a:off x="1336733" y="1998267"/>
            <a:ext cx="144000" cy="144000"/>
          </a:xfrm>
          <a:prstGeom prst="ellipse">
            <a:avLst/>
          </a:prstGeom>
          <a:solidFill>
            <a:schemeClr val="accent6">
              <a:lumMod val="20000"/>
              <a:lumOff val="8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endParaRPr>
          </a:p>
        </p:txBody>
      </p:sp>
      <p:sp>
        <p:nvSpPr>
          <p:cNvPr id="63" name="TextBox 62">
            <a:extLst>
              <a:ext uri="{FF2B5EF4-FFF2-40B4-BE49-F238E27FC236}">
                <a16:creationId xmlns:a16="http://schemas.microsoft.com/office/drawing/2014/main" id="{5BEA9A21-29AD-2C22-7914-9A2E70336A69}"/>
              </a:ext>
            </a:extLst>
          </p:cNvPr>
          <p:cNvSpPr txBox="1"/>
          <p:nvPr/>
        </p:nvSpPr>
        <p:spPr>
          <a:xfrm>
            <a:off x="1095863" y="2146001"/>
            <a:ext cx="625739"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대표라인 </a:t>
            </a: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PoC</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항목 구체화</a:t>
            </a:r>
            <a:endPar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endParaRPr>
          </a:p>
        </p:txBody>
      </p:sp>
      <p:sp>
        <p:nvSpPr>
          <p:cNvPr id="64" name="타원 63">
            <a:extLst>
              <a:ext uri="{FF2B5EF4-FFF2-40B4-BE49-F238E27FC236}">
                <a16:creationId xmlns:a16="http://schemas.microsoft.com/office/drawing/2014/main" id="{F8BF1E5E-A423-577F-867D-ECD237F637DE}"/>
              </a:ext>
            </a:extLst>
          </p:cNvPr>
          <p:cNvSpPr/>
          <p:nvPr/>
        </p:nvSpPr>
        <p:spPr>
          <a:xfrm>
            <a:off x="2067910" y="1998267"/>
            <a:ext cx="144000" cy="144000"/>
          </a:xfrm>
          <a:prstGeom prst="ellipse">
            <a:avLst/>
          </a:prstGeom>
          <a:solidFill>
            <a:schemeClr val="accent6">
              <a:lumMod val="20000"/>
              <a:lumOff val="8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rPr>
              <a:t>28</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endParaRPr>
          </a:p>
        </p:txBody>
      </p:sp>
      <p:sp>
        <p:nvSpPr>
          <p:cNvPr id="65" name="TextBox 64">
            <a:extLst>
              <a:ext uri="{FF2B5EF4-FFF2-40B4-BE49-F238E27FC236}">
                <a16:creationId xmlns:a16="http://schemas.microsoft.com/office/drawing/2014/main" id="{CA8A7705-71F5-CCFC-5606-229669230E53}"/>
              </a:ext>
            </a:extLst>
          </p:cNvPr>
          <p:cNvSpPr txBox="1"/>
          <p:nvPr/>
        </p:nvSpPr>
        <p:spPr>
          <a:xfrm>
            <a:off x="1797592" y="2155927"/>
            <a:ext cx="678638"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이상동작</a:t>
            </a:r>
            <a:b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b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개선 </a:t>
            </a: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Point </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도출</a:t>
            </a:r>
            <a:endPar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endParaRPr>
          </a:p>
        </p:txBody>
      </p:sp>
      <p:sp>
        <p:nvSpPr>
          <p:cNvPr id="66" name="타원 65">
            <a:extLst>
              <a:ext uri="{FF2B5EF4-FFF2-40B4-BE49-F238E27FC236}">
                <a16:creationId xmlns:a16="http://schemas.microsoft.com/office/drawing/2014/main" id="{BD24F955-2BD8-0048-068D-A045376C45C4}"/>
              </a:ext>
            </a:extLst>
          </p:cNvPr>
          <p:cNvSpPr/>
          <p:nvPr/>
        </p:nvSpPr>
        <p:spPr>
          <a:xfrm>
            <a:off x="4293608" y="1998267"/>
            <a:ext cx="144000" cy="144000"/>
          </a:xfrm>
          <a:prstGeom prst="ellipse">
            <a:avLst/>
          </a:prstGeom>
          <a:solidFill>
            <a:schemeClr val="accent6">
              <a:lumMod val="20000"/>
              <a:lumOff val="8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endParaRPr>
          </a:p>
        </p:txBody>
      </p:sp>
      <p:sp>
        <p:nvSpPr>
          <p:cNvPr id="67" name="오른쪽 중괄호 66">
            <a:extLst>
              <a:ext uri="{FF2B5EF4-FFF2-40B4-BE49-F238E27FC236}">
                <a16:creationId xmlns:a16="http://schemas.microsoft.com/office/drawing/2014/main" id="{A0095CCA-01E7-8262-CB0D-4DDA71109B9A}"/>
              </a:ext>
            </a:extLst>
          </p:cNvPr>
          <p:cNvSpPr/>
          <p:nvPr/>
        </p:nvSpPr>
        <p:spPr>
          <a:xfrm rot="5400000">
            <a:off x="3244235" y="1123392"/>
            <a:ext cx="128672" cy="211406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8C948BAE-E7B5-70E8-4EB1-8C8914E60B10}"/>
              </a:ext>
            </a:extLst>
          </p:cNvPr>
          <p:cNvSpPr txBox="1"/>
          <p:nvPr/>
        </p:nvSpPr>
        <p:spPr>
          <a:xfrm>
            <a:off x="2845627" y="2233912"/>
            <a:ext cx="1555480" cy="19581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Data </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수집 </a:t>
            </a: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설비</a:t>
            </a: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,DTC,EDC – SW</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 작업</a:t>
            </a: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a:t>
            </a:r>
          </a:p>
        </p:txBody>
      </p:sp>
      <p:cxnSp>
        <p:nvCxnSpPr>
          <p:cNvPr id="69" name="직선 화살표 연결선 68">
            <a:extLst>
              <a:ext uri="{FF2B5EF4-FFF2-40B4-BE49-F238E27FC236}">
                <a16:creationId xmlns:a16="http://schemas.microsoft.com/office/drawing/2014/main" id="{268C9593-C6C9-7E30-8218-9D14188881DB}"/>
              </a:ext>
            </a:extLst>
          </p:cNvPr>
          <p:cNvCxnSpPr>
            <a:cxnSpLocks/>
          </p:cNvCxnSpPr>
          <p:nvPr/>
        </p:nvCxnSpPr>
        <p:spPr>
          <a:xfrm>
            <a:off x="4437608" y="2072687"/>
            <a:ext cx="5032642" cy="0"/>
          </a:xfrm>
          <a:prstGeom prst="straightConnector1">
            <a:avLst/>
          </a:prstGeom>
          <a:ln w="57150">
            <a:solidFill>
              <a:srgbClr val="3333CC"/>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6A9E4993-FD29-5398-F997-A87AC6C220AE}"/>
              </a:ext>
            </a:extLst>
          </p:cNvPr>
          <p:cNvSpPr txBox="1"/>
          <p:nvPr/>
        </p:nvSpPr>
        <p:spPr>
          <a:xfrm>
            <a:off x="5259062" y="2277427"/>
            <a:ext cx="2710561" cy="215444"/>
          </a:xfrm>
          <a:prstGeom prst="rect">
            <a:avLst/>
          </a:prstGeom>
          <a:noFill/>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신규 수집 </a:t>
            </a:r>
            <a:r>
              <a:rPr kumimoji="0" lang="en-US" altLang="ko-KR"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Data </a:t>
            </a:r>
            <a:r>
              <a:rPr kumimoji="0" lang="ko-KR" altLang="en-US"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항목에 대한 불량 원인 구체화 로직 지속 도출</a:t>
            </a:r>
            <a:endParaRPr kumimoji="0" lang="ko-KR" altLang="en-US" sz="800" b="0" i="0" u="none" strike="noStrike" kern="1200" cap="none" spc="-80" normalizeH="0" baseline="0" noProof="0">
              <a:ln>
                <a:noFill/>
              </a:ln>
              <a:solidFill>
                <a:prstClr val="black"/>
              </a:solidFill>
              <a:effectLst/>
              <a:uLnTx/>
              <a:uFillTx/>
              <a:latin typeface="맑은 고딕"/>
              <a:ea typeface="맑은 고딕" panose="020B0503020000020004" pitchFamily="50" charset="-127"/>
              <a:cs typeface="+mn-cs"/>
            </a:endParaRPr>
          </a:p>
        </p:txBody>
      </p:sp>
      <p:sp>
        <p:nvSpPr>
          <p:cNvPr id="71" name="TextBox 70">
            <a:extLst>
              <a:ext uri="{FF2B5EF4-FFF2-40B4-BE49-F238E27FC236}">
                <a16:creationId xmlns:a16="http://schemas.microsoft.com/office/drawing/2014/main" id="{08F89E05-402C-929E-0841-2A54AF388451}"/>
              </a:ext>
            </a:extLst>
          </p:cNvPr>
          <p:cNvSpPr txBox="1"/>
          <p:nvPr/>
        </p:nvSpPr>
        <p:spPr>
          <a:xfrm>
            <a:off x="801217" y="3055046"/>
            <a:ext cx="4904609" cy="3608680"/>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ESWA </a:t>
            </a:r>
            <a:r>
              <a:rPr kumimoji="1" lang="ko-KR" altLang="en-US" sz="105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라미</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중첩 통계 분석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Report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개발 및 유관부서 배포 진행 중</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(7/14)</a:t>
            </a:r>
            <a:b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ESMI2 </a:t>
            </a:r>
            <a:r>
              <a:rPr kumimoji="1" lang="ko-KR" altLang="en-US" sz="105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라미</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가감속 불량 분석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Report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수평전개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(~10</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p>
            <a:pPr marL="0" marR="0" lvl="0" indent="0" algn="l" defTabSz="914400" rtl="0" eaLnBrk="1" fontAlgn="ctr" latinLnBrk="1" hangingPunct="1">
              <a:lnSpc>
                <a:spcPct val="100000"/>
              </a:lnSpc>
              <a:spcBef>
                <a:spcPts val="0"/>
              </a:spcBef>
              <a:spcAft>
                <a:spcPts val="0"/>
              </a:spcAft>
              <a:buClrTx/>
              <a:buSzTx/>
              <a:buFontTx/>
              <a:buNone/>
              <a:tabLst/>
              <a:defRPr/>
            </a:pPr>
            <a:endParaRPr kumimoji="1"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&lt;ESWA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수율 개선 기여 </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[3Q]&gt;</a:t>
            </a:r>
            <a:b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1)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치수비전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ROI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설정 오류로 인한 오측</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NG</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개선</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(7/20). X</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축 불량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0.02%p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수준 개선</a:t>
            </a:r>
            <a:endPar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10-3</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호</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,14-1,2</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호</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,20-2</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호에서 가속 시 치수비전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X</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축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ROI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틀어짐</a:t>
            </a:r>
            <a: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(5mm </a:t>
            </a:r>
            <a:r>
              <a:rPr kumimoji="1" lang="ko-KR" altLang="en-US"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수준</a:t>
            </a:r>
            <a: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분석됨</a:t>
            </a:r>
            <a:endPar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원인</a:t>
            </a:r>
            <a: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검사촬영신호 수신 후 지연 시간</a:t>
            </a:r>
            <a: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확인 후 법인 공유</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X</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축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ROI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조정 개선</a:t>
            </a:r>
            <a:b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endPar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endPar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2) 13-2</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호 합치 부 지속 불량</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(X</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축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AC)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발생</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분석 후 개선</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AC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불량 </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0.02%p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수준</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개선</a:t>
            </a:r>
            <a:endPar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현상 분석</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(7/21)</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후 제조빅데이터분석팀으로 내용 공유</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합치 가접롤 갭 조정</a:t>
            </a: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(7/24)</a:t>
            </a:r>
            <a:b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br>
              <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endParaRPr kumimoji="1" lang="en-US" altLang="ko-KR" sz="7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dirty="0">
                <a:solidFill>
                  <a:prstClr val="black"/>
                </a:solidFill>
                <a:latin typeface="Arial Narrow" panose="020B0606020202030204" pitchFamily="34" charset="0"/>
                <a:ea typeface="LG스마트체 Regular" panose="020B0600000101010101" pitchFamily="50" charset="-127"/>
              </a:rPr>
              <a:t>   3) 8-4</a:t>
            </a:r>
            <a:r>
              <a:rPr kumimoji="1" lang="ko-KR" altLang="en-US" sz="1050" dirty="0">
                <a:solidFill>
                  <a:prstClr val="black"/>
                </a:solidFill>
                <a:latin typeface="Arial Narrow" panose="020B0606020202030204" pitchFamily="34" charset="0"/>
                <a:ea typeface="LG스마트체 Regular" panose="020B0600000101010101" pitchFamily="50" charset="-127"/>
              </a:rPr>
              <a:t>호</a:t>
            </a:r>
            <a:r>
              <a:rPr kumimoji="1" lang="en-US" altLang="ko-KR" sz="1050" dirty="0">
                <a:solidFill>
                  <a:prstClr val="black"/>
                </a:solidFill>
                <a:latin typeface="Arial Narrow" panose="020B0606020202030204" pitchFamily="34" charset="0"/>
                <a:ea typeface="LG스마트체 Regular" panose="020B0600000101010101" pitchFamily="50" charset="-127"/>
              </a:rPr>
              <a:t>, 17-4</a:t>
            </a:r>
            <a:r>
              <a:rPr kumimoji="1" lang="ko-KR" altLang="en-US" sz="1050" dirty="0">
                <a:solidFill>
                  <a:prstClr val="black"/>
                </a:solidFill>
                <a:latin typeface="Arial Narrow" panose="020B0606020202030204" pitchFamily="34" charset="0"/>
                <a:ea typeface="LG스마트체 Regular" panose="020B0600000101010101" pitchFamily="50" charset="-127"/>
              </a:rPr>
              <a:t>호 합치 부 </a:t>
            </a:r>
            <a:r>
              <a:rPr kumimoji="1" lang="ko-KR" altLang="en-US" sz="1050" dirty="0" err="1">
                <a:solidFill>
                  <a:prstClr val="black"/>
                </a:solidFill>
                <a:latin typeface="Arial Narrow" panose="020B0606020202030204" pitchFamily="34" charset="0"/>
                <a:ea typeface="LG스마트체 Regular" panose="020B0600000101010101" pitchFamily="50" charset="-127"/>
              </a:rPr>
              <a:t>보상량</a:t>
            </a:r>
            <a:r>
              <a:rPr kumimoji="1" lang="ko-KR" altLang="en-US" sz="1050" dirty="0">
                <a:solidFill>
                  <a:prstClr val="black"/>
                </a:solidFill>
                <a:latin typeface="Arial Narrow" panose="020B0606020202030204" pitchFamily="34" charset="0"/>
                <a:ea typeface="LG스마트체 Regular" panose="020B0600000101010101" pitchFamily="50" charset="-127"/>
              </a:rPr>
              <a:t> 밀림</a:t>
            </a:r>
            <a:r>
              <a:rPr kumimoji="1" lang="en-US" altLang="ko-KR" sz="1050" dirty="0">
                <a:solidFill>
                  <a:prstClr val="black"/>
                </a:solidFill>
                <a:latin typeface="Arial Narrow" panose="020B0606020202030204" pitchFamily="34" charset="0"/>
                <a:ea typeface="LG스마트체 Regular" panose="020B0600000101010101" pitchFamily="50" charset="-127"/>
              </a:rPr>
              <a:t>(</a:t>
            </a:r>
            <a:r>
              <a:rPr kumimoji="1" lang="ko-KR" altLang="en-US" sz="1050" dirty="0">
                <a:solidFill>
                  <a:prstClr val="black"/>
                </a:solidFill>
                <a:latin typeface="Arial Narrow" panose="020B0606020202030204" pitchFamily="34" charset="0"/>
                <a:ea typeface="LG스마트체 Regular" panose="020B0600000101010101" pitchFamily="50" charset="-127"/>
              </a:rPr>
              <a:t>제어오류</a:t>
            </a:r>
            <a:r>
              <a:rPr kumimoji="1" lang="en-US" altLang="ko-KR" sz="1050" dirty="0">
                <a:solidFill>
                  <a:prstClr val="black"/>
                </a:solidFill>
                <a:latin typeface="Arial Narrow" panose="020B0606020202030204" pitchFamily="34" charset="0"/>
                <a:ea typeface="LG스마트체 Regular" panose="020B0600000101010101" pitchFamily="50" charset="-127"/>
              </a:rPr>
              <a:t>) </a:t>
            </a:r>
            <a:r>
              <a:rPr kumimoji="1" lang="ko-KR" altLang="en-US" sz="1050" dirty="0">
                <a:solidFill>
                  <a:prstClr val="black"/>
                </a:solidFill>
                <a:latin typeface="Arial Narrow" panose="020B0606020202030204" pitchFamily="34" charset="0"/>
                <a:ea typeface="LG스마트체 Regular" panose="020B0600000101010101" pitchFamily="50" charset="-127"/>
              </a:rPr>
              <a:t>분석 및 개선 진행 中</a:t>
            </a:r>
            <a:endParaRPr kumimoji="1" lang="en-US" altLang="ko-KR" sz="1050" dirty="0">
              <a:solidFill>
                <a:prstClr val="black"/>
              </a:solidFill>
              <a:latin typeface="Arial Narrow" panose="020B0606020202030204" pitchFamily="34" charset="0"/>
              <a:ea typeface="LG스마트체 Regular" panose="020B0600000101010101" pitchFamily="50" charset="-127"/>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양극 </a:t>
            </a:r>
            <a:r>
              <a:rPr kumimoji="1" lang="ko-KR" altLang="en-US" sz="105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피딩롤</a:t>
            </a:r>
            <a:r>
              <a:rPr kumimoji="1" lang="ko-KR" altLang="en-US" sz="105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제어 </a:t>
            </a:r>
            <a:r>
              <a:rPr kumimoji="1" lang="ko-KR" altLang="en-US" sz="105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보상량</a:t>
            </a:r>
            <a:r>
              <a:rPr kumimoji="1" lang="ko-KR" altLang="en-US" sz="1050" dirty="0">
                <a:solidFill>
                  <a:prstClr val="black"/>
                </a:solidFill>
                <a:latin typeface="Arial Narrow" panose="020B0606020202030204" pitchFamily="34" charset="0"/>
                <a:ea typeface="LG스마트체 Regular" panose="020B0600000101010101" pitchFamily="50" charset="-127"/>
              </a:rPr>
              <a:t>이 </a:t>
            </a:r>
            <a:r>
              <a:rPr kumimoji="1" lang="en-US" altLang="ko-KR" sz="1050" dirty="0">
                <a:solidFill>
                  <a:prstClr val="black"/>
                </a:solidFill>
                <a:latin typeface="Arial Narrow" panose="020B0606020202030204" pitchFamily="34" charset="0"/>
                <a:ea typeface="LG스마트체 Regular" panose="020B0600000101010101" pitchFamily="50" charset="-127"/>
              </a:rPr>
              <a:t>1~2Tab </a:t>
            </a:r>
            <a:r>
              <a:rPr kumimoji="1" lang="ko-KR" altLang="en-US" sz="1050" dirty="0">
                <a:solidFill>
                  <a:prstClr val="black"/>
                </a:solidFill>
                <a:latin typeface="Arial Narrow" panose="020B0606020202030204" pitchFamily="34" charset="0"/>
                <a:ea typeface="LG스마트체 Regular" panose="020B0600000101010101" pitchFamily="50" charset="-127"/>
              </a:rPr>
              <a:t>밀림 현상 분석 후 제어 </a:t>
            </a:r>
            <a:r>
              <a:rPr kumimoji="1" lang="en-US" altLang="ko-KR" sz="1050" dirty="0">
                <a:solidFill>
                  <a:prstClr val="black"/>
                </a:solidFill>
                <a:latin typeface="Arial Narrow" panose="020B0606020202030204" pitchFamily="34" charset="0"/>
                <a:ea typeface="LG스마트체 Regular" panose="020B0600000101010101" pitchFamily="50" charset="-127"/>
              </a:rPr>
              <a:t>S/W</a:t>
            </a:r>
            <a:r>
              <a:rPr kumimoji="1" lang="ko-KR" altLang="en-US" sz="1050" dirty="0">
                <a:solidFill>
                  <a:prstClr val="black"/>
                </a:solidFill>
                <a:latin typeface="Arial Narrow" panose="020B0606020202030204" pitchFamily="34" charset="0"/>
                <a:ea typeface="LG스마트체 Regular" panose="020B0600000101010101" pitchFamily="50" charset="-127"/>
              </a:rPr>
              <a:t> 개선</a:t>
            </a:r>
            <a:r>
              <a:rPr kumimoji="1" lang="en-US" altLang="ko-KR" sz="1050" dirty="0">
                <a:solidFill>
                  <a:prstClr val="black"/>
                </a:solidFill>
                <a:latin typeface="Arial Narrow" panose="020B0606020202030204" pitchFamily="34" charset="0"/>
                <a:ea typeface="LG스마트체 Regular" panose="020B0600000101010101" pitchFamily="50" charset="-127"/>
              </a:rPr>
              <a:t>(8/26)</a:t>
            </a:r>
            <a:br>
              <a:rPr kumimoji="1" lang="en-US" altLang="ko-KR" sz="1050" dirty="0">
                <a:solidFill>
                  <a:prstClr val="black"/>
                </a:solidFill>
                <a:latin typeface="Arial Narrow" panose="020B0606020202030204" pitchFamily="34" charset="0"/>
                <a:ea typeface="LG스마트체 Regular" panose="020B0600000101010101" pitchFamily="50" charset="-127"/>
              </a:rPr>
            </a:br>
            <a:r>
              <a:rPr kumimoji="1" lang="en-US" altLang="ko-KR" sz="1050" dirty="0">
                <a:solidFill>
                  <a:prstClr val="black"/>
                </a:solidFill>
                <a:latin typeface="Arial Narrow" panose="020B0606020202030204" pitchFamily="34" charset="0"/>
                <a:ea typeface="LG스마트체 Regular" panose="020B0600000101010101" pitchFamily="50" charset="-127"/>
              </a:rPr>
              <a:t>        </a:t>
            </a:r>
            <a:endParaRPr kumimoji="1" lang="en-US" altLang="ko-KR" sz="1050" b="0"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br>
              <a:rPr kumimoji="1" lang="en-US" altLang="ko-KR" sz="3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endParaRPr kumimoji="1" lang="en-US" altLang="ko-KR" sz="3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&lt;ESMI2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수율 개선 기여 활동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[3Q]&gt;</a:t>
            </a: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1)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치수비전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ROI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설정 오류로 인한 오측</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NG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분석</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(8/5), ROI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조정 조치 요청</a:t>
            </a:r>
            <a:b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 4-3</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호 재가동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1</a:t>
            </a:r>
            <a:r>
              <a:rPr kumimoji="1" lang="en-US" altLang="ko-KR" sz="1050" b="0" i="0" u="none" strike="noStrike" kern="1200" cap="none" spc="0" normalizeH="0" baseline="30000" noProof="0" dirty="0">
                <a:ln>
                  <a:noFill/>
                </a:ln>
                <a:effectLst/>
                <a:uLnTx/>
                <a:uFillTx/>
                <a:latin typeface="Arial Narrow" panose="020B0606020202030204" pitchFamily="34" charset="0"/>
                <a:ea typeface="LG스마트체 Regular" panose="020B0600000101010101" pitchFamily="50" charset="-127"/>
                <a:cs typeface="+mn-cs"/>
              </a:rPr>
              <a:t>st</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Mono Cell</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에서 발생</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정지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1</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회당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29%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확률로 발생 中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(WA</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동일 사항</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b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2)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음극 </a:t>
            </a:r>
            <a:r>
              <a:rPr kumimoji="1" lang="ko-KR" altLang="en-US" sz="1050" b="0"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rPr>
              <a:t>피딩롤러</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커터 배출 부 음극 슬립 추정 불량 현상 확인 및 공유</a:t>
            </a:r>
            <a:r>
              <a:rPr kumimoji="1" lang="en-US" altLang="ko-KR" sz="1050" dirty="0">
                <a:latin typeface="Arial Narrow" panose="020B0606020202030204" pitchFamily="34" charset="0"/>
                <a:ea typeface="LG스마트체 Regular" panose="020B0600000101010101" pitchFamily="50" charset="-127"/>
              </a:rPr>
              <a:t> </a:t>
            </a:r>
            <a:r>
              <a:rPr kumimoji="1" lang="ko-KR" altLang="en-US" sz="1050" dirty="0">
                <a:latin typeface="Arial Narrow" panose="020B0606020202030204" pitchFamily="34" charset="0"/>
                <a:ea typeface="LG스마트체 Regular" panose="020B0600000101010101" pitchFamily="50" charset="-127"/>
              </a:rPr>
              <a:t>및 조치 완료</a:t>
            </a:r>
            <a:r>
              <a:rPr kumimoji="1" lang="en-US" altLang="ko-KR" sz="1050" dirty="0">
                <a:latin typeface="Arial Narrow" panose="020B0606020202030204" pitchFamily="34" charset="0"/>
                <a:ea typeface="LG스마트체 Regular" panose="020B0600000101010101" pitchFamily="50" charset="-127"/>
              </a:rPr>
              <a:t>(8</a:t>
            </a:r>
            <a:r>
              <a:rPr kumimoji="1" lang="ko-KR" altLang="en-US" sz="1050" dirty="0">
                <a:latin typeface="Arial Narrow" panose="020B0606020202030204" pitchFamily="34" charset="0"/>
                <a:ea typeface="LG스마트체 Regular" panose="020B0600000101010101" pitchFamily="50" charset="-127"/>
              </a:rPr>
              <a:t>月</a:t>
            </a:r>
            <a:r>
              <a:rPr kumimoji="1" lang="en-US" altLang="ko-KR" sz="1050" dirty="0">
                <a:latin typeface="Arial Narrow" panose="020B0606020202030204" pitchFamily="34" charset="0"/>
                <a:ea typeface="LG스마트체 Regular" panose="020B0600000101010101" pitchFamily="50" charset="-127"/>
              </a:rPr>
              <a:t>)</a:t>
            </a:r>
            <a:endPar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br>
              <a:rPr kumimoji="1" lang="en-US" altLang="ko-KR" sz="4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endParaRPr kumimoji="1" lang="en-US" altLang="ko-KR" sz="4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&lt;ESMIL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수율 개선 기여 활동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[3Q]&gt;</a:t>
            </a: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1) D-STK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적재 시 특정 시점부터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3~5</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스택 간 계단식 하향</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상향 적재 발생 분석 中</a:t>
            </a:r>
            <a:endPar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72" name="실행 단추: 홈으로 이동 71">
            <a:hlinkClick r:id="rId3" action="ppaction://hlinksldjump" highlightClick="1"/>
            <a:extLst>
              <a:ext uri="{FF2B5EF4-FFF2-40B4-BE49-F238E27FC236}">
                <a16:creationId xmlns:a16="http://schemas.microsoft.com/office/drawing/2014/main" id="{F5FD3C7A-0EDB-371B-BC90-A9DCB7B29476}"/>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BFC89872-2B03-2BE2-032F-29687F093D70}"/>
              </a:ext>
            </a:extLst>
          </p:cNvPr>
          <p:cNvSpPr txBox="1"/>
          <p:nvPr/>
        </p:nvSpPr>
        <p:spPr>
          <a:xfrm>
            <a:off x="5645400" y="2856000"/>
            <a:ext cx="4242671" cy="470129"/>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WA</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조립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5</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동 전 호기 라미에 대한 가감속 불량 혐의 인자 분석</a:t>
            </a:r>
            <a:b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 가감속 불량 분석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Report</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를 통해 수율 직접 개선 지속</a:t>
            </a: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79" name="TextBox 78">
            <a:extLst>
              <a:ext uri="{FF2B5EF4-FFF2-40B4-BE49-F238E27FC236}">
                <a16:creationId xmlns:a16="http://schemas.microsoft.com/office/drawing/2014/main" id="{34DD60AA-8BB1-502C-FE3A-B2FEA455188B}"/>
              </a:ext>
            </a:extLst>
          </p:cNvPr>
          <p:cNvSpPr txBox="1"/>
          <p:nvPr/>
        </p:nvSpPr>
        <p:spPr>
          <a:xfrm>
            <a:off x="1123533" y="4140322"/>
            <a:ext cx="4369153" cy="219355"/>
          </a:xfrm>
          <a:prstGeom prst="rect">
            <a:avLst/>
          </a:prstGeom>
          <a:noFill/>
        </p:spPr>
        <p:txBody>
          <a:bodyPr wrap="square" lIns="33231" rIns="33231" rtlCol="0">
            <a:spAutoFit/>
          </a:bodyPr>
          <a:lstStyle/>
          <a:p>
            <a:pPr marL="0" marR="0" lvl="0" indent="0" algn="l" defTabSz="844083" rtl="0" eaLnBrk="1" fontAlgn="base" latinLnBrk="1" hangingPunct="1">
              <a:lnSpc>
                <a:spcPct val="110000"/>
              </a:lnSpc>
              <a:spcBef>
                <a:spcPts val="0"/>
              </a:spcBef>
              <a:spcAft>
                <a:spcPts val="600"/>
              </a:spcAft>
              <a:buClrTx/>
              <a:buSzPct val="85000"/>
              <a:buFontTx/>
              <a:buNone/>
              <a:tabLst/>
              <a:defRPr/>
            </a:pP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*10-3</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호</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 0.02%</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(7/25~26, 108,160</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개</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생산 중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21</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개</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ROI</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개선 양품화</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14-2</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호</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 0.016%</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(20/121,311)</a:t>
            </a:r>
            <a:endPar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6" name="실행 단추: 앞으로 또는 다음으로 이동 5">
            <a:hlinkClick r:id="rId4" action="ppaction://hlinksldjump" highlightClick="1"/>
            <a:extLst>
              <a:ext uri="{FF2B5EF4-FFF2-40B4-BE49-F238E27FC236}">
                <a16:creationId xmlns:a16="http://schemas.microsoft.com/office/drawing/2014/main" id="{6AF97E43-6CE5-483B-6EC0-35AC3973B08D}"/>
              </a:ext>
            </a:extLst>
          </p:cNvPr>
          <p:cNvSpPr/>
          <p:nvPr/>
        </p:nvSpPr>
        <p:spPr>
          <a:xfrm>
            <a:off x="5213535" y="6419938"/>
            <a:ext cx="148760" cy="148760"/>
          </a:xfrm>
          <a:prstGeom prst="actionButtonForwardNex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7" name="TextBox 6">
            <a:extLst>
              <a:ext uri="{FF2B5EF4-FFF2-40B4-BE49-F238E27FC236}">
                <a16:creationId xmlns:a16="http://schemas.microsoft.com/office/drawing/2014/main" id="{31BE81D9-6E97-E94F-967F-F53AF6820BB8}"/>
              </a:ext>
            </a:extLst>
          </p:cNvPr>
          <p:cNvSpPr txBox="1"/>
          <p:nvPr/>
        </p:nvSpPr>
        <p:spPr>
          <a:xfrm>
            <a:off x="1123534" y="4667877"/>
            <a:ext cx="3829466" cy="219355"/>
          </a:xfrm>
          <a:prstGeom prst="rect">
            <a:avLst/>
          </a:prstGeom>
          <a:noFill/>
        </p:spPr>
        <p:txBody>
          <a:bodyPr wrap="square" lIns="33231" rIns="33231" rtlCol="0">
            <a:spAutoFit/>
          </a:bodyPr>
          <a:lstStyle/>
          <a:p>
            <a:pPr marL="0" marR="0" lvl="0" indent="0" algn="l" defTabSz="844083" rtl="0" eaLnBrk="1" fontAlgn="base" latinLnBrk="1" hangingPunct="1">
              <a:lnSpc>
                <a:spcPct val="110000"/>
              </a:lnSpc>
              <a:spcBef>
                <a:spcPts val="0"/>
              </a:spcBef>
              <a:spcAft>
                <a:spcPts val="600"/>
              </a:spcAft>
              <a:buClrTx/>
              <a:buSzPct val="85000"/>
              <a:buFontTx/>
              <a:buNone/>
              <a:tabLst/>
              <a:defRPr/>
            </a:pP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*13-2</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호</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 0.02%</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(7/24, </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조치 전 합치 불량율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3</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일 평균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0</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.03% </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조치 후 합치 불량율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0.01%)</a:t>
            </a:r>
            <a:endPar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33" name="TextBox 32">
            <a:extLst>
              <a:ext uri="{FF2B5EF4-FFF2-40B4-BE49-F238E27FC236}">
                <a16:creationId xmlns:a16="http://schemas.microsoft.com/office/drawing/2014/main" id="{CAE29DF6-5CD2-093C-A165-7503F76DFA24}"/>
              </a:ext>
            </a:extLst>
          </p:cNvPr>
          <p:cNvSpPr txBox="1"/>
          <p:nvPr/>
        </p:nvSpPr>
        <p:spPr>
          <a:xfrm>
            <a:off x="5645400" y="4045981"/>
            <a:ext cx="4242671" cy="282834"/>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불량율 현황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(WA,MI2</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~’26.8</a:t>
            </a:r>
            <a:r>
              <a:rPr kumimoji="1" lang="ko-KR" alt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월</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53" name="TextBox 52">
            <a:extLst>
              <a:ext uri="{FF2B5EF4-FFF2-40B4-BE49-F238E27FC236}">
                <a16:creationId xmlns:a16="http://schemas.microsoft.com/office/drawing/2014/main" id="{388BE420-845B-0A1F-6CE9-A89C94EFB1BE}"/>
              </a:ext>
            </a:extLst>
          </p:cNvPr>
          <p:cNvSpPr txBox="1"/>
          <p:nvPr/>
        </p:nvSpPr>
        <p:spPr>
          <a:xfrm>
            <a:off x="5645400" y="5147475"/>
            <a:ext cx="4242671" cy="1553502"/>
          </a:xfrm>
          <a:prstGeom prst="rect">
            <a:avLst/>
          </a:prstGeom>
          <a:noFill/>
        </p:spPr>
        <p:txBody>
          <a:bodyPr wrap="square" lIns="33231" rIns="33231" rtlCol="0">
            <a:spAutoFit/>
          </a:bodyPr>
          <a:lstStyle/>
          <a:p>
            <a:pPr marL="0" marR="0" lvl="0" indent="0" algn="l" defTabSz="914400" rtl="0" eaLnBrk="1" fontAlgn="base" latinLnBrk="1" hangingPunct="1">
              <a:lnSpc>
                <a:spcPct val="110000"/>
              </a:lnSpc>
              <a:spcBef>
                <a:spcPts val="0"/>
              </a:spcBef>
              <a:spcAft>
                <a:spcPct val="0"/>
              </a:spcAft>
              <a:buClrTx/>
              <a:buSzPct val="80000"/>
              <a:buFont typeface="Arial" panose="020B0604020202020204" pitchFamily="34" charset="0"/>
              <a:buNone/>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라미 주요 불량 개선 항목</a:t>
            </a:r>
            <a:b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위치불량</a:t>
            </a: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전년</a:t>
            </a:r>
            <a:r>
              <a:rPr kumimoji="0"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’26.8)</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WA 0.36% → 0.23% , MI2 0.33% → 0.25% </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b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WA</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스태킹 집중</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개선 필요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(0.1%pt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수준</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추가 개선필요</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br>
              <a:rPr kumimoji="0" lang="en-US" altLang="ko-KR" sz="2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STK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불량 셀에</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대한 라미</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~STK</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설비동작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Data</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중첩 분석 진행  </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E77A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주요 불량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모노세파외관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(0.5%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수준</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스택외관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(0.1%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수준</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분석 방법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불량 셀 기준으로 라미</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~STK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설비동작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Data</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를 중첩 분석</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하여</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불량 혐의인자 도출 </a:t>
            </a:r>
            <a:endPar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3" name="TextBox 2">
            <a:extLst>
              <a:ext uri="{FF2B5EF4-FFF2-40B4-BE49-F238E27FC236}">
                <a16:creationId xmlns:a16="http://schemas.microsoft.com/office/drawing/2014/main" id="{57861864-FCFD-05FF-8B49-7658D3010EC1}"/>
              </a:ext>
            </a:extLst>
          </p:cNvPr>
          <p:cNvSpPr txBox="1"/>
          <p:nvPr/>
        </p:nvSpPr>
        <p:spPr>
          <a:xfrm>
            <a:off x="9242942" y="4094972"/>
            <a:ext cx="554092" cy="230832"/>
          </a:xfrm>
          <a:prstGeom prst="rect">
            <a:avLst/>
          </a:prstGeom>
          <a:noFill/>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n-cs"/>
              </a:rPr>
              <a:t>단위</a:t>
            </a:r>
            <a:r>
              <a:rPr kumimoji="0" lang="en-US" altLang="ko-KR" sz="9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n-cs"/>
              </a:rPr>
              <a:t>, %)</a:t>
            </a:r>
            <a:endParaRPr kumimoji="0" lang="ko-KR" altLang="ko-KR" sz="9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sp>
        <p:nvSpPr>
          <p:cNvPr id="2" name="TextBox 1">
            <a:extLst>
              <a:ext uri="{FF2B5EF4-FFF2-40B4-BE49-F238E27FC236}">
                <a16:creationId xmlns:a16="http://schemas.microsoft.com/office/drawing/2014/main" id="{A356409B-9B8E-4557-8F7A-16064CDD2353}"/>
              </a:ext>
            </a:extLst>
          </p:cNvPr>
          <p:cNvSpPr txBox="1"/>
          <p:nvPr/>
        </p:nvSpPr>
        <p:spPr>
          <a:xfrm>
            <a:off x="2648744" y="5464744"/>
            <a:ext cx="3182951" cy="219355"/>
          </a:xfrm>
          <a:prstGeom prst="rect">
            <a:avLst/>
          </a:prstGeom>
          <a:noFill/>
        </p:spPr>
        <p:txBody>
          <a:bodyPr wrap="square" lIns="33231" rIns="33231" rtlCol="0">
            <a:spAutoFit/>
          </a:bodyPr>
          <a:lstStyle/>
          <a:p>
            <a:pPr marL="0" marR="0" lvl="0" indent="0" algn="l" defTabSz="844083" rtl="0" eaLnBrk="1" fontAlgn="base" latinLnBrk="1" hangingPunct="1">
              <a:lnSpc>
                <a:spcPct val="110000"/>
              </a:lnSpc>
              <a:spcBef>
                <a:spcPts val="0"/>
              </a:spcBef>
              <a:spcAft>
                <a:spcPts val="600"/>
              </a:spcAft>
              <a:buClrTx/>
              <a:buSzPct val="85000"/>
              <a:buFontTx/>
              <a:buNone/>
              <a:tabLst/>
              <a:defRPr/>
            </a:pP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800" b="0"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rPr>
              <a:t>라미</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위치 불량 개선 활동 진행</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(8/5~) w.</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제조빅데이터분석</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2</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팀</a:t>
            </a:r>
            <a:endPar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4" name="TextBox 3">
            <a:extLst>
              <a:ext uri="{FF2B5EF4-FFF2-40B4-BE49-F238E27FC236}">
                <a16:creationId xmlns:a16="http://schemas.microsoft.com/office/drawing/2014/main" id="{2EE6801C-4725-76FF-D031-C031BD2D8DB2}"/>
              </a:ext>
            </a:extLst>
          </p:cNvPr>
          <p:cNvSpPr txBox="1"/>
          <p:nvPr/>
        </p:nvSpPr>
        <p:spPr>
          <a:xfrm>
            <a:off x="2615781" y="6230935"/>
            <a:ext cx="3345329" cy="219355"/>
          </a:xfrm>
          <a:prstGeom prst="rect">
            <a:avLst/>
          </a:prstGeom>
          <a:noFill/>
        </p:spPr>
        <p:txBody>
          <a:bodyPr wrap="square" lIns="33231" rIns="33231" rtlCol="0">
            <a:spAutoFit/>
          </a:bodyPr>
          <a:lstStyle/>
          <a:p>
            <a:pPr marL="0" marR="0" lvl="0" indent="0" algn="l" defTabSz="844083" rtl="0" eaLnBrk="1" fontAlgn="base" latinLnBrk="1" hangingPunct="1">
              <a:lnSpc>
                <a:spcPct val="110000"/>
              </a:lnSpc>
              <a:spcBef>
                <a:spcPts val="0"/>
              </a:spcBef>
              <a:spcAft>
                <a:spcPts val="600"/>
              </a:spcAft>
              <a:buClrTx/>
              <a:buSzPct val="85000"/>
              <a:buFontTx/>
              <a:buNone/>
              <a:tabLst/>
              <a:defRPr/>
            </a:pP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*STK</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적재 불량 개선 활동 진행</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(8/11~) w.</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법인제조역량강화</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조립자동보정팀</a:t>
            </a:r>
            <a:endPar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9" name="TextBox 8">
            <a:extLst>
              <a:ext uri="{FF2B5EF4-FFF2-40B4-BE49-F238E27FC236}">
                <a16:creationId xmlns:a16="http://schemas.microsoft.com/office/drawing/2014/main" id="{C223F952-40FD-5A79-EE22-88AF78851FAE}"/>
              </a:ext>
            </a:extLst>
          </p:cNvPr>
          <p:cNvSpPr txBox="1"/>
          <p:nvPr/>
        </p:nvSpPr>
        <p:spPr>
          <a:xfrm>
            <a:off x="5645400" y="3369602"/>
            <a:ext cx="4242671" cy="282770"/>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ESMI2 </a:t>
            </a:r>
            <a:r>
              <a:rPr kumimoji="1" lang="ko-KR" altLang="en-US" sz="1200" b="1"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a:t>
            </a:r>
            <a:r>
              <a:rPr kumimoji="1" lang="ko-KR" altLang="en-US"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전 호기 위치 불량 개선 활동 지속</a:t>
            </a:r>
            <a:endPar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10" name="TextBox 9">
            <a:extLst>
              <a:ext uri="{FF2B5EF4-FFF2-40B4-BE49-F238E27FC236}">
                <a16:creationId xmlns:a16="http://schemas.microsoft.com/office/drawing/2014/main" id="{4C4D3CF7-D83D-2B6D-1EDC-9E5AFB61B6D6}"/>
              </a:ext>
            </a:extLst>
          </p:cNvPr>
          <p:cNvSpPr txBox="1"/>
          <p:nvPr/>
        </p:nvSpPr>
        <p:spPr>
          <a:xfrm>
            <a:off x="5645400" y="3685445"/>
            <a:ext cx="4242671" cy="282770"/>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ESMIL</a:t>
            </a:r>
            <a:r>
              <a:rPr kumimoji="1" lang="ko-KR" altLang="en-US"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200" b="1"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스태킹</a:t>
            </a:r>
            <a:r>
              <a:rPr kumimoji="1" lang="ko-KR" altLang="en-US"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계단식 적재 근본 원인 분석 개선 활동 지속</a:t>
            </a:r>
            <a:endPar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graphicFrame>
        <p:nvGraphicFramePr>
          <p:cNvPr id="11" name="표 10">
            <a:extLst>
              <a:ext uri="{FF2B5EF4-FFF2-40B4-BE49-F238E27FC236}">
                <a16:creationId xmlns:a16="http://schemas.microsoft.com/office/drawing/2014/main" id="{8B4AD0F0-73F9-11FC-CFC6-55AA10800CBF}"/>
              </a:ext>
            </a:extLst>
          </p:cNvPr>
          <p:cNvGraphicFramePr>
            <a:graphicFrameLocks noGrp="1"/>
          </p:cNvGraphicFramePr>
          <p:nvPr/>
        </p:nvGraphicFramePr>
        <p:xfrm>
          <a:off x="5761302" y="4334207"/>
          <a:ext cx="4029988" cy="809681"/>
        </p:xfrm>
        <a:graphic>
          <a:graphicData uri="http://schemas.openxmlformats.org/drawingml/2006/table">
            <a:tbl>
              <a:tblPr/>
              <a:tblGrid>
                <a:gridCol w="438147">
                  <a:extLst>
                    <a:ext uri="{9D8B030D-6E8A-4147-A177-3AD203B41FA5}">
                      <a16:colId xmlns:a16="http://schemas.microsoft.com/office/drawing/2014/main" val="4261605441"/>
                    </a:ext>
                  </a:extLst>
                </a:gridCol>
                <a:gridCol w="438147">
                  <a:extLst>
                    <a:ext uri="{9D8B030D-6E8A-4147-A177-3AD203B41FA5}">
                      <a16:colId xmlns:a16="http://schemas.microsoft.com/office/drawing/2014/main" val="642598672"/>
                    </a:ext>
                  </a:extLst>
                </a:gridCol>
                <a:gridCol w="453429">
                  <a:extLst>
                    <a:ext uri="{9D8B030D-6E8A-4147-A177-3AD203B41FA5}">
                      <a16:colId xmlns:a16="http://schemas.microsoft.com/office/drawing/2014/main" val="1291327189"/>
                    </a:ext>
                  </a:extLst>
                </a:gridCol>
                <a:gridCol w="457924">
                  <a:extLst>
                    <a:ext uri="{9D8B030D-6E8A-4147-A177-3AD203B41FA5}">
                      <a16:colId xmlns:a16="http://schemas.microsoft.com/office/drawing/2014/main" val="1340170478"/>
                    </a:ext>
                  </a:extLst>
                </a:gridCol>
                <a:gridCol w="505039">
                  <a:extLst>
                    <a:ext uri="{9D8B030D-6E8A-4147-A177-3AD203B41FA5}">
                      <a16:colId xmlns:a16="http://schemas.microsoft.com/office/drawing/2014/main" val="3288636524"/>
                    </a:ext>
                  </a:extLst>
                </a:gridCol>
                <a:gridCol w="438147">
                  <a:extLst>
                    <a:ext uri="{9D8B030D-6E8A-4147-A177-3AD203B41FA5}">
                      <a16:colId xmlns:a16="http://schemas.microsoft.com/office/drawing/2014/main" val="1998605064"/>
                    </a:ext>
                  </a:extLst>
                </a:gridCol>
                <a:gridCol w="402483">
                  <a:extLst>
                    <a:ext uri="{9D8B030D-6E8A-4147-A177-3AD203B41FA5}">
                      <a16:colId xmlns:a16="http://schemas.microsoft.com/office/drawing/2014/main" val="184089155"/>
                    </a:ext>
                  </a:extLst>
                </a:gridCol>
                <a:gridCol w="448336">
                  <a:extLst>
                    <a:ext uri="{9D8B030D-6E8A-4147-A177-3AD203B41FA5}">
                      <a16:colId xmlns:a16="http://schemas.microsoft.com/office/drawing/2014/main" val="1210762940"/>
                    </a:ext>
                  </a:extLst>
                </a:gridCol>
                <a:gridCol w="448336">
                  <a:extLst>
                    <a:ext uri="{9D8B030D-6E8A-4147-A177-3AD203B41FA5}">
                      <a16:colId xmlns:a16="http://schemas.microsoft.com/office/drawing/2014/main" val="58500211"/>
                    </a:ext>
                  </a:extLst>
                </a:gridCol>
              </a:tblGrid>
              <a:tr h="234899">
                <a:tc row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법인</a:t>
                      </a:r>
                    </a:p>
                  </a:txBody>
                  <a:tcPr marL="9620" marR="9620" marT="962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grid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 연간 목표</a:t>
                      </a:r>
                    </a:p>
                  </a:txBody>
                  <a:tcPr marL="92354" marR="92354" marT="46177" marB="46177"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grid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누적실적</a:t>
                      </a: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(8</a:t>
                      </a: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월</a:t>
                      </a: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2354" marR="92354" marT="46177" marB="46177"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gridSpan="2">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개선율</a:t>
                      </a:r>
                    </a:p>
                  </a:txBody>
                  <a:tcPr marL="92354" marR="92354" marT="46177" marB="46177"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gridSpan="2">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GAP</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620" marR="9620" marT="962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fontAlgn="ctr">
                        <a:buNone/>
                      </a:pP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49040"/>
                  </a:ext>
                </a:extLst>
              </a:tr>
              <a:tr h="188309">
                <a:tc vMerge="1">
                  <a:txBody>
                    <a:bodyPr/>
                    <a:lstStyle/>
                    <a:p>
                      <a:pPr algn="ctr" fontAlgn="ctr">
                        <a:buNone/>
                      </a:pP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525" marR="9525" marT="9525"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라미</a:t>
                      </a: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STK</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라미</a:t>
                      </a: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STK</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라미</a:t>
                      </a: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STK</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라미</a:t>
                      </a: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STK</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772147466"/>
                  </a:ext>
                </a:extLst>
              </a:tr>
              <a:tr h="188309">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WA</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0.79</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0.84</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0.67</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0.91</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32</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14</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a:t>
                      </a: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12</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fontAlgn="ctr" latinLnBrk="1" hangingPunct="1">
                        <a:buNone/>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a:t>
                      </a: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6</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52382894"/>
                  </a:ext>
                </a:extLst>
              </a:tr>
              <a:tr h="188309">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MI2</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0.92</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1.49</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0.73</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1.26</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36</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LG스마트체 Regular"/>
                        </a:defRPr>
                      </a:lvl1pPr>
                      <a:lvl2pPr marL="457200" algn="l" defTabSz="914400" rtl="0" eaLnBrk="1" latinLnBrk="1" hangingPunct="1">
                        <a:defRPr sz="1800" kern="1200">
                          <a:solidFill>
                            <a:schemeClr val="tx1"/>
                          </a:solidFill>
                          <a:latin typeface="Arial Narrow"/>
                          <a:ea typeface="LG스마트체 Regular"/>
                        </a:defRPr>
                      </a:lvl2pPr>
                      <a:lvl3pPr marL="914400" algn="l" defTabSz="914400" rtl="0" eaLnBrk="1" latinLnBrk="1" hangingPunct="1">
                        <a:defRPr sz="1800" kern="1200">
                          <a:solidFill>
                            <a:schemeClr val="tx1"/>
                          </a:solidFill>
                          <a:latin typeface="Arial Narrow"/>
                          <a:ea typeface="LG스마트체 Regular"/>
                        </a:defRPr>
                      </a:lvl3pPr>
                      <a:lvl4pPr marL="1371600" algn="l" defTabSz="914400" rtl="0" eaLnBrk="1" latinLnBrk="1" hangingPunct="1">
                        <a:defRPr sz="1800" kern="1200">
                          <a:solidFill>
                            <a:schemeClr val="tx1"/>
                          </a:solidFill>
                          <a:latin typeface="Arial Narrow"/>
                          <a:ea typeface="LG스마트체 Regular"/>
                        </a:defRPr>
                      </a:lvl4pPr>
                      <a:lvl5pPr marL="1828800" algn="l" defTabSz="914400" rtl="0" eaLnBrk="1" latinLnBrk="1" hangingPunct="1">
                        <a:defRPr sz="1800" kern="1200">
                          <a:solidFill>
                            <a:schemeClr val="tx1"/>
                          </a:solidFill>
                          <a:latin typeface="Arial Narrow"/>
                          <a:ea typeface="LG스마트체 Regular"/>
                        </a:defRPr>
                      </a:lvl5pPr>
                      <a:lvl6pPr marL="2286000" algn="l" defTabSz="914400" rtl="0" eaLnBrk="1" latinLnBrk="1" hangingPunct="1">
                        <a:defRPr sz="1800" kern="1200">
                          <a:solidFill>
                            <a:schemeClr val="tx1"/>
                          </a:solidFill>
                          <a:latin typeface="Arial Narrow"/>
                          <a:ea typeface="LG스마트체 Regular"/>
                        </a:defRPr>
                      </a:lvl6pPr>
                      <a:lvl7pPr marL="2743200" algn="l" defTabSz="914400" rtl="0" eaLnBrk="1" latinLnBrk="1" hangingPunct="1">
                        <a:defRPr sz="1800" kern="1200">
                          <a:solidFill>
                            <a:schemeClr val="tx1"/>
                          </a:solidFill>
                          <a:latin typeface="Arial Narrow"/>
                          <a:ea typeface="LG스마트체 Regular"/>
                        </a:defRPr>
                      </a:lvl7pPr>
                      <a:lvl8pPr marL="3200400" algn="l" defTabSz="914400" rtl="0" eaLnBrk="1" latinLnBrk="1" hangingPunct="1">
                        <a:defRPr sz="1800" kern="1200">
                          <a:solidFill>
                            <a:schemeClr val="tx1"/>
                          </a:solidFill>
                          <a:latin typeface="Arial Narrow"/>
                          <a:ea typeface="LG스마트체 Regular"/>
                        </a:defRPr>
                      </a:lvl8pPr>
                      <a:lvl9pPr marL="3657600" algn="l" defTabSz="914400" rtl="0" eaLnBrk="1" latinLnBrk="1" hangingPunct="1">
                        <a:defRPr sz="1800" kern="1200">
                          <a:solidFill>
                            <a:schemeClr val="tx1"/>
                          </a:solidFill>
                          <a:latin typeface="Arial Narrow"/>
                          <a:ea typeface="LG스마트체 Regular"/>
                        </a:defRPr>
                      </a:lvl9pPr>
                    </a:lstStyle>
                    <a:p>
                      <a:pPr marL="0" algn="ctr" defTabSz="914400" rtl="0" eaLnBrk="1" fontAlgn="ctr" latinLnBrk="1" hangingPunct="1">
                        <a:buNone/>
                      </a:pP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33</a:t>
                      </a:r>
                      <a:endPar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a:t>
                      </a: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16</a:t>
                      </a:r>
                      <a:endParaRPr lang="ko-KR"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a:t>
                      </a:r>
                      <a:r>
                        <a:rPr lang="en-US"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rPr>
                        <a:t>13</a:t>
                      </a:r>
                      <a:endParaRPr lang="ko-KR" altLang="ko-KR" sz="1000" b="0" i="0" u="none" strike="noStrike" kern="1200" dirty="0">
                        <a:solidFill>
                          <a:srgbClr val="000000"/>
                        </a:solidFill>
                        <a:effectLst/>
                        <a:latin typeface="Arial Narrow" panose="020B0606020202030204" pitchFamily="34" charset="0"/>
                        <a:ea typeface="LG스마트체 Regular" panose="020B0600000101010101" pitchFamily="50" charset="-127"/>
                        <a:cs typeface="+mn-cs"/>
                      </a:endParaRPr>
                    </a:p>
                  </a:txBody>
                  <a:tcPr marL="9813" marR="9813" marT="8921"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43110602"/>
                  </a:ext>
                </a:extLst>
              </a:tr>
            </a:tbl>
          </a:graphicData>
        </a:graphic>
      </p:graphicFrame>
      <p:sp>
        <p:nvSpPr>
          <p:cNvPr id="13" name="TextBox 12">
            <a:extLst>
              <a:ext uri="{FF2B5EF4-FFF2-40B4-BE49-F238E27FC236}">
                <a16:creationId xmlns:a16="http://schemas.microsoft.com/office/drawing/2014/main" id="{781A2E53-56CC-CE72-2DDC-5436EFD19CDE}"/>
              </a:ext>
            </a:extLst>
          </p:cNvPr>
          <p:cNvSpPr txBox="1"/>
          <p:nvPr/>
        </p:nvSpPr>
        <p:spPr>
          <a:xfrm>
            <a:off x="1123534" y="5202269"/>
            <a:ext cx="3829466" cy="219355"/>
          </a:xfrm>
          <a:prstGeom prst="rect">
            <a:avLst/>
          </a:prstGeom>
          <a:noFill/>
        </p:spPr>
        <p:txBody>
          <a:bodyPr wrap="square" lIns="33231" rIns="33231" rtlCol="0">
            <a:spAutoFit/>
          </a:bodyPr>
          <a:lstStyle/>
          <a:p>
            <a:pPr marL="0" marR="0" lvl="0" indent="0" algn="l" defTabSz="844083" rtl="0" eaLnBrk="1" fontAlgn="base" latinLnBrk="1" hangingPunct="1">
              <a:lnSpc>
                <a:spcPct val="110000"/>
              </a:lnSpc>
              <a:spcBef>
                <a:spcPts val="0"/>
              </a:spcBef>
              <a:spcAft>
                <a:spcPts val="600"/>
              </a:spcAft>
              <a:buClrTx/>
              <a:buSzPct val="85000"/>
              <a:buFontTx/>
              <a:buNone/>
              <a:tabLst/>
              <a:defRPr/>
            </a:pP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800" dirty="0">
                <a:solidFill>
                  <a:prstClr val="black"/>
                </a:solidFill>
                <a:latin typeface="Arial Narrow" panose="020B0606020202030204" pitchFamily="34" charset="0"/>
                <a:ea typeface="LG스마트체 Regular" panose="020B0600000101010101" pitchFamily="50" charset="-127"/>
              </a:rPr>
              <a:t> </a:t>
            </a:r>
            <a:r>
              <a:rPr kumimoji="1" lang="en-US" altLang="ko-KR" sz="800" dirty="0">
                <a:solidFill>
                  <a:prstClr val="black"/>
                </a:solidFill>
                <a:latin typeface="Arial Narrow" panose="020B0606020202030204" pitchFamily="34" charset="0"/>
                <a:ea typeface="LG스마트체 Regular" panose="020B0600000101010101" pitchFamily="50" charset="-127"/>
              </a:rPr>
              <a:t>#8-4</a:t>
            </a:r>
            <a:r>
              <a:rPr kumimoji="1" lang="ko-KR" altLang="en-US" sz="800" dirty="0">
                <a:solidFill>
                  <a:prstClr val="black"/>
                </a:solidFill>
                <a:latin typeface="Arial Narrow" panose="020B0606020202030204" pitchFamily="34" charset="0"/>
                <a:ea typeface="LG스마트체 Regular" panose="020B0600000101010101" pitchFamily="50" charset="-127"/>
              </a:rPr>
              <a:t>호 </a:t>
            </a:r>
            <a:r>
              <a:rPr kumimoji="1" lang="en-US" altLang="ko-KR" sz="800" dirty="0">
                <a:solidFill>
                  <a:prstClr val="black"/>
                </a:solidFill>
                <a:latin typeface="Arial Narrow" panose="020B0606020202030204" pitchFamily="34" charset="0"/>
                <a:ea typeface="LG스마트체 Regular" panose="020B0600000101010101" pitchFamily="50" charset="-127"/>
              </a:rPr>
              <a:t>: 0.05%</a:t>
            </a: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dirty="0">
                <a:solidFill>
                  <a:prstClr val="black"/>
                </a:solidFill>
                <a:latin typeface="Arial Narrow" panose="020B0606020202030204" pitchFamily="34" charset="0"/>
                <a:ea typeface="LG스마트체 Regular" panose="020B0600000101010101" pitchFamily="50" charset="-127"/>
              </a:rPr>
              <a:t> (8/26, </a:t>
            </a:r>
            <a:r>
              <a:rPr kumimoji="1" lang="ko-KR" altLang="en-US" sz="800" dirty="0">
                <a:solidFill>
                  <a:prstClr val="black"/>
                </a:solidFill>
                <a:latin typeface="Arial Narrow" panose="020B0606020202030204" pitchFamily="34" charset="0"/>
                <a:ea typeface="LG스마트체 Regular" panose="020B0600000101010101" pitchFamily="50" charset="-127"/>
              </a:rPr>
              <a:t>조치 전</a:t>
            </a:r>
            <a:r>
              <a:rPr kumimoji="1" lang="en-US" altLang="ko-KR" sz="800" dirty="0">
                <a:solidFill>
                  <a:prstClr val="black"/>
                </a:solidFill>
                <a:latin typeface="Arial Narrow" panose="020B0606020202030204" pitchFamily="34" charset="0"/>
                <a:ea typeface="LG스마트체 Regular" panose="020B0600000101010101" pitchFamily="50" charset="-127"/>
              </a:rPr>
              <a:t>/</a:t>
            </a:r>
            <a:r>
              <a:rPr kumimoji="1" lang="ko-KR" altLang="en-US" sz="800" dirty="0">
                <a:solidFill>
                  <a:prstClr val="black"/>
                </a:solidFill>
                <a:latin typeface="Arial Narrow" panose="020B0606020202030204" pitchFamily="34" charset="0"/>
                <a:ea typeface="LG스마트체 Regular" panose="020B0600000101010101" pitchFamily="50" charset="-127"/>
              </a:rPr>
              <a:t>후 가 감속 위치 불량률 </a:t>
            </a:r>
            <a:r>
              <a:rPr kumimoji="1" lang="en-US" altLang="ko-KR" sz="800" dirty="0">
                <a:solidFill>
                  <a:prstClr val="black"/>
                </a:solidFill>
                <a:latin typeface="Arial Narrow" panose="020B0606020202030204" pitchFamily="34" charset="0"/>
                <a:ea typeface="LG스마트체 Regular" panose="020B0600000101010101" pitchFamily="50" charset="-127"/>
              </a:rPr>
              <a:t>0.1%</a:t>
            </a:r>
            <a:r>
              <a:rPr kumimoji="1" lang="ko-KR" altLang="en-US" sz="800" dirty="0">
                <a:solidFill>
                  <a:prstClr val="black"/>
                </a:solidFill>
                <a:latin typeface="Arial Narrow" panose="020B0606020202030204" pitchFamily="34" charset="0"/>
                <a:ea typeface="LG스마트체 Regular" panose="020B0600000101010101" pitchFamily="50" charset="-127"/>
              </a:rPr>
              <a:t>→</a:t>
            </a:r>
            <a:r>
              <a:rPr kumimoji="1" lang="en-US" altLang="ko-KR" sz="800" dirty="0">
                <a:solidFill>
                  <a:prstClr val="black"/>
                </a:solidFill>
                <a:latin typeface="Arial Narrow" panose="020B0606020202030204" pitchFamily="34" charset="0"/>
                <a:ea typeface="LG스마트체 Regular" panose="020B0600000101010101" pitchFamily="50" charset="-127"/>
              </a:rPr>
              <a:t>0.05% </a:t>
            </a:r>
            <a:r>
              <a:rPr kumimoji="1" lang="ko-KR" altLang="en-US" sz="800" dirty="0">
                <a:solidFill>
                  <a:prstClr val="black"/>
                </a:solidFill>
                <a:latin typeface="Arial Narrow" panose="020B0606020202030204" pitchFamily="34" charset="0"/>
                <a:ea typeface="LG스마트체 Regular" panose="020B0600000101010101" pitchFamily="50" charset="-127"/>
              </a:rPr>
              <a:t>개선</a:t>
            </a:r>
            <a:r>
              <a:rPr kumimoji="1" lang="en-US" altLang="ko-KR" sz="800" dirty="0">
                <a:solidFill>
                  <a:prstClr val="black"/>
                </a:solidFill>
                <a:latin typeface="Arial Narrow" panose="020B0606020202030204" pitchFamily="34" charset="0"/>
                <a:ea typeface="LG스마트체 Regular" panose="020B0600000101010101" pitchFamily="50" charset="-127"/>
              </a:rPr>
              <a:t>)</a:t>
            </a:r>
            <a:endPar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14" name="실행 단추: 앞으로 또는 다음으로 이동 13">
            <a:hlinkClick r:id="rId5" action="ppaction://hlinksldjump" highlightClick="1"/>
            <a:extLst>
              <a:ext uri="{FF2B5EF4-FFF2-40B4-BE49-F238E27FC236}">
                <a16:creationId xmlns:a16="http://schemas.microsoft.com/office/drawing/2014/main" id="{487439B6-8A83-3AFE-2CFA-7A8CEE544C96}"/>
              </a:ext>
            </a:extLst>
          </p:cNvPr>
          <p:cNvSpPr/>
          <p:nvPr/>
        </p:nvSpPr>
        <p:spPr>
          <a:xfrm>
            <a:off x="4578042" y="4930652"/>
            <a:ext cx="148760" cy="148760"/>
          </a:xfrm>
          <a:prstGeom prst="actionButtonForwardNex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21" name="실행 단추: 앞으로 또는 다음으로 이동 20">
            <a:hlinkClick r:id="rId6" action="ppaction://hlinksldjump" highlightClick="1"/>
            <a:extLst>
              <a:ext uri="{FF2B5EF4-FFF2-40B4-BE49-F238E27FC236}">
                <a16:creationId xmlns:a16="http://schemas.microsoft.com/office/drawing/2014/main" id="{F6483D9B-B071-8A88-7789-B143DF76DD9B}"/>
              </a:ext>
            </a:extLst>
          </p:cNvPr>
          <p:cNvSpPr/>
          <p:nvPr/>
        </p:nvSpPr>
        <p:spPr>
          <a:xfrm>
            <a:off x="5190005" y="3712359"/>
            <a:ext cx="148760" cy="148760"/>
          </a:xfrm>
          <a:prstGeom prst="actionButtonForwardNex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6BB0D315-0249-8CDD-0D78-9679CA64DCF5}"/>
              </a:ext>
            </a:extLst>
          </p:cNvPr>
          <p:cNvSpPr txBox="1"/>
          <p:nvPr/>
        </p:nvSpPr>
        <p:spPr>
          <a:xfrm>
            <a:off x="1123534" y="6544842"/>
            <a:ext cx="3829466" cy="219355"/>
          </a:xfrm>
          <a:prstGeom prst="rect">
            <a:avLst/>
          </a:prstGeom>
          <a:noFill/>
        </p:spPr>
        <p:txBody>
          <a:bodyPr wrap="square" lIns="33231" rIns="33231" rtlCol="0">
            <a:spAutoFit/>
          </a:bodyPr>
          <a:lstStyle/>
          <a:p>
            <a:pPr marL="0" marR="0" lvl="0" indent="0" algn="l" defTabSz="844083" rtl="0" eaLnBrk="1" fontAlgn="base" latinLnBrk="1" hangingPunct="1">
              <a:lnSpc>
                <a:spcPct val="110000"/>
              </a:lnSpc>
              <a:spcBef>
                <a:spcPts val="0"/>
              </a:spcBef>
              <a:spcAft>
                <a:spcPts val="600"/>
              </a:spcAft>
              <a:buClrTx/>
              <a:buSzPct val="85000"/>
              <a:buFontTx/>
              <a:buNone/>
              <a:tabLst/>
              <a:defRPr/>
            </a:pPr>
            <a:r>
              <a:rPr kumimoji="1" lang="ko-KR" altLang="en-US"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r>
              <a:rPr kumimoji="1" lang="ko-KR" altLang="en-US" sz="800" dirty="0">
                <a:solidFill>
                  <a:prstClr val="black"/>
                </a:solidFill>
                <a:latin typeface="Arial Narrow" panose="020B0606020202030204" pitchFamily="34" charset="0"/>
                <a:ea typeface="LG스마트체 Regular" panose="020B0600000101010101" pitchFamily="50" charset="-127"/>
              </a:rPr>
              <a:t> 셀 </a:t>
            </a:r>
            <a:r>
              <a:rPr kumimoji="1" lang="ko-KR" altLang="en-US" sz="800" dirty="0" err="1">
                <a:solidFill>
                  <a:prstClr val="black"/>
                </a:solidFill>
                <a:latin typeface="Arial Narrow" panose="020B0606020202030204" pitchFamily="34" charset="0"/>
                <a:ea typeface="LG스마트체 Regular" panose="020B0600000101010101" pitchFamily="50" charset="-127"/>
              </a:rPr>
              <a:t>벤딩으로</a:t>
            </a:r>
            <a:r>
              <a:rPr kumimoji="1" lang="ko-KR" altLang="en-US" sz="800" dirty="0">
                <a:solidFill>
                  <a:prstClr val="black"/>
                </a:solidFill>
                <a:latin typeface="Arial Narrow" panose="020B0606020202030204" pitchFamily="34" charset="0"/>
                <a:ea typeface="LG스마트체 Regular" panose="020B0600000101010101" pitchFamily="50" charset="-127"/>
              </a:rPr>
              <a:t> 인한 모노셀 </a:t>
            </a:r>
            <a:r>
              <a:rPr kumimoji="1" lang="ko-KR" altLang="en-US" sz="800" dirty="0" err="1">
                <a:solidFill>
                  <a:prstClr val="black"/>
                </a:solidFill>
                <a:latin typeface="Arial Narrow" panose="020B0606020202030204" pitchFamily="34" charset="0"/>
                <a:ea typeface="LG스마트체 Regular" panose="020B0600000101010101" pitchFamily="50" charset="-127"/>
              </a:rPr>
              <a:t>얼라인</a:t>
            </a:r>
            <a:r>
              <a:rPr kumimoji="1" lang="ko-KR" altLang="en-US" sz="800" dirty="0">
                <a:solidFill>
                  <a:prstClr val="black"/>
                </a:solidFill>
                <a:latin typeface="Arial Narrow" panose="020B0606020202030204" pitchFamily="34" charset="0"/>
                <a:ea typeface="LG스마트체 Regular" panose="020B0600000101010101" pitchFamily="50" charset="-127"/>
              </a:rPr>
              <a:t> 비전 오측 추정</a:t>
            </a:r>
            <a:endParaRPr kumimoji="1"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5" name="TextBox 4">
            <a:extLst>
              <a:ext uri="{FF2B5EF4-FFF2-40B4-BE49-F238E27FC236}">
                <a16:creationId xmlns:a16="http://schemas.microsoft.com/office/drawing/2014/main" id="{615A3EF8-F547-3A25-EE55-8E2E389E1CE2}"/>
              </a:ext>
            </a:extLst>
          </p:cNvPr>
          <p:cNvSpPr txBox="1"/>
          <p:nvPr/>
        </p:nvSpPr>
        <p:spPr>
          <a:xfrm>
            <a:off x="4750612" y="6622748"/>
            <a:ext cx="404777" cy="25943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 / 6 - </a:t>
            </a:r>
          </a:p>
        </p:txBody>
      </p:sp>
      <p:grpSp>
        <p:nvGrpSpPr>
          <p:cNvPr id="8" name="그룹 7">
            <a:extLst>
              <a:ext uri="{FF2B5EF4-FFF2-40B4-BE49-F238E27FC236}">
                <a16:creationId xmlns:a16="http://schemas.microsoft.com/office/drawing/2014/main" id="{8BA7E4C1-AE58-AD4C-A1E3-FFAD5E72BF8C}"/>
              </a:ext>
            </a:extLst>
          </p:cNvPr>
          <p:cNvGrpSpPr/>
          <p:nvPr/>
        </p:nvGrpSpPr>
        <p:grpSpPr>
          <a:xfrm>
            <a:off x="7758397" y="114985"/>
            <a:ext cx="1781744" cy="604476"/>
            <a:chOff x="4232920" y="49957"/>
            <a:chExt cx="1781744" cy="604476"/>
          </a:xfrm>
        </p:grpSpPr>
        <p:sp>
          <p:nvSpPr>
            <p:cNvPr id="28" name="타원 27">
              <a:extLst>
                <a:ext uri="{FF2B5EF4-FFF2-40B4-BE49-F238E27FC236}">
                  <a16:creationId xmlns:a16="http://schemas.microsoft.com/office/drawing/2014/main" id="{6B63EB1C-E98B-CB22-507E-C0B5145B557D}"/>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C6BCEA43-E164-3E50-2E80-81BD767F557C}"/>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30" name="타원 29">
              <a:extLst>
                <a:ext uri="{FF2B5EF4-FFF2-40B4-BE49-F238E27FC236}">
                  <a16:creationId xmlns:a16="http://schemas.microsoft.com/office/drawing/2014/main" id="{37D4A08B-D222-BD31-197F-C80E682AB848}"/>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31" name="TextBox 30">
              <a:extLst>
                <a:ext uri="{FF2B5EF4-FFF2-40B4-BE49-F238E27FC236}">
                  <a16:creationId xmlns:a16="http://schemas.microsoft.com/office/drawing/2014/main" id="{7581D2D2-1D76-08DC-B8DB-B72772C5BD9B}"/>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32" name="타원 31">
              <a:extLst>
                <a:ext uri="{FF2B5EF4-FFF2-40B4-BE49-F238E27FC236}">
                  <a16:creationId xmlns:a16="http://schemas.microsoft.com/office/drawing/2014/main" id="{130A9BDB-43F0-58D3-F2C5-99B593DC5D22}"/>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40B832-D79E-5250-250C-5BCCBE2D0C38}"/>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1582363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86FCD0E7-8961-1ED5-F624-FB537CF5C96D}"/>
              </a:ext>
            </a:extLst>
          </p:cNvPr>
          <p:cNvSpPr>
            <a:spLocks noChangeArrowheads="1"/>
          </p:cNvSpPr>
          <p:nvPr/>
        </p:nvSpPr>
        <p:spPr bwMode="auto">
          <a:xfrm>
            <a:off x="200471" y="1510124"/>
            <a:ext cx="448035" cy="1149746"/>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일정</a:t>
            </a: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5" name="표 4">
            <a:extLst>
              <a:ext uri="{FF2B5EF4-FFF2-40B4-BE49-F238E27FC236}">
                <a16:creationId xmlns:a16="http://schemas.microsoft.com/office/drawing/2014/main" id="{D924B124-1312-A90C-B91B-DDB684FD91DA}"/>
              </a:ext>
            </a:extLst>
          </p:cNvPr>
          <p:cNvGraphicFramePr>
            <a:graphicFrameLocks noGrp="1"/>
          </p:cNvGraphicFramePr>
          <p:nvPr>
            <p:extLst>
              <p:ext uri="{D42A27DB-BD31-4B8C-83A1-F6EECF244321}">
                <p14:modId xmlns:p14="http://schemas.microsoft.com/office/powerpoint/2010/main" val="1256582281"/>
              </p:ext>
            </p:extLst>
          </p:nvPr>
        </p:nvGraphicFramePr>
        <p:xfrm>
          <a:off x="735049" y="761673"/>
          <a:ext cx="8862107" cy="702000"/>
        </p:xfrm>
        <a:graphic>
          <a:graphicData uri="http://schemas.openxmlformats.org/drawingml/2006/table">
            <a:tbl>
              <a:tblPr/>
              <a:tblGrid>
                <a:gridCol w="2398749">
                  <a:extLst>
                    <a:ext uri="{9D8B030D-6E8A-4147-A177-3AD203B41FA5}">
                      <a16:colId xmlns:a16="http://schemas.microsoft.com/office/drawing/2014/main" val="20000"/>
                    </a:ext>
                  </a:extLst>
                </a:gridCol>
                <a:gridCol w="4530971">
                  <a:extLst>
                    <a:ext uri="{9D8B030D-6E8A-4147-A177-3AD203B41FA5}">
                      <a16:colId xmlns:a16="http://schemas.microsoft.com/office/drawing/2014/main" val="20001"/>
                    </a:ext>
                  </a:extLst>
                </a:gridCol>
                <a:gridCol w="1199375">
                  <a:extLst>
                    <a:ext uri="{9D8B030D-6E8A-4147-A177-3AD203B41FA5}">
                      <a16:colId xmlns:a16="http://schemas.microsoft.com/office/drawing/2014/main" val="2961269463"/>
                    </a:ext>
                  </a:extLst>
                </a:gridCol>
                <a:gridCol w="733012">
                  <a:extLst>
                    <a:ext uri="{9D8B030D-6E8A-4147-A177-3AD203B41FA5}">
                      <a16:colId xmlns:a16="http://schemas.microsoft.com/office/drawing/2014/main" val="20007"/>
                    </a:ext>
                  </a:extLst>
                </a:gridCol>
              </a:tblGrid>
              <a:tr h="21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KPI</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’26</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년 분기목표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연간목표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비중</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상태</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48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indent="0" algn="ctr" defTabSz="914400" rtl="0" eaLnBrk="1" fontAlgn="ctr" latinLnBrk="1" hangingPunct="1">
                        <a:lnSpc>
                          <a:spcPct val="100000"/>
                        </a:lnSpc>
                        <a:spcBef>
                          <a:spcPts val="0"/>
                        </a:spcBef>
                        <a:spcAft>
                          <a:spcPts val="100"/>
                        </a:spcAft>
                        <a:buSzPct val="100000"/>
                        <a:buFont typeface="Arial" panose="020B0604020202020204" pitchFamily="34" charset="0"/>
                        <a:buNone/>
                      </a:pPr>
                      <a:r>
                        <a:rPr lang="ko-KR" altLang="en-US" sz="1000" b="1" kern="1200" spc="-10" dirty="0">
                          <a:solidFill>
                            <a:schemeClr val="tx1"/>
                          </a:solidFill>
                          <a:latin typeface="Arial Narrow" panose="020B0606020202030204" pitchFamily="34" charset="0"/>
                          <a:ea typeface="LG스마트체 Regular" panose="020B0600000101010101" pitchFamily="50" charset="-127"/>
                          <a:cs typeface="+mn-cs"/>
                        </a:rPr>
                        <a:t>추적 기술 기반</a:t>
                      </a:r>
                      <a:r>
                        <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rPr>
                        <a:t> L&amp;S </a:t>
                      </a:r>
                      <a:r>
                        <a:rPr lang="ko-KR" altLang="en-US" sz="1000" b="1" kern="1200" spc="-10" dirty="0">
                          <a:solidFill>
                            <a:schemeClr val="tx1"/>
                          </a:solidFill>
                          <a:latin typeface="Arial Narrow" panose="020B0606020202030204" pitchFamily="34" charset="0"/>
                          <a:ea typeface="LG스마트체 Regular" panose="020B0600000101010101" pitchFamily="50" charset="-127"/>
                          <a:cs typeface="+mn-cs"/>
                        </a:rPr>
                        <a:t>수율 개선 솔루션 개발</a:t>
                      </a:r>
                      <a:br>
                        <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rPr>
                      </a:br>
                      <a:r>
                        <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rPr>
                        <a:t>_</a:t>
                      </a:r>
                      <a:r>
                        <a:rPr lang="ko-KR" altLang="en-US" sz="1000" b="1" kern="1200" spc="-10" dirty="0">
                          <a:solidFill>
                            <a:schemeClr val="tx1"/>
                          </a:solidFill>
                          <a:latin typeface="Arial Narrow" panose="020B0606020202030204" pitchFamily="34" charset="0"/>
                          <a:ea typeface="LG스마트체 Regular" panose="020B0600000101010101" pitchFamily="50" charset="-127"/>
                          <a:cs typeface="+mn-cs"/>
                        </a:rPr>
                        <a:t>불량 원인 구체화</a:t>
                      </a:r>
                      <a:endParaRPr lang="en-US" altLang="ko-KR" sz="1000" b="1" kern="1200" spc="-10" dirty="0">
                        <a:solidFill>
                          <a:schemeClr val="tx1"/>
                        </a:solidFill>
                        <a:latin typeface="Arial Narrow" panose="020B0606020202030204" pitchFamily="34" charset="0"/>
                        <a:ea typeface="LG스마트체 Regular" panose="020B0600000101010101" pitchFamily="50" charset="-127"/>
                        <a:cs typeface="+mn-cs"/>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ko-KR" altLang="en-US" sz="1000" b="1" i="0" u="none" strike="noStrike" kern="1200" spc="0" baseline="0" dirty="0">
                          <a:solidFill>
                            <a:schemeClr val="tx1"/>
                          </a:solidFill>
                          <a:effectLst/>
                          <a:latin typeface="Arial Narrow" panose="020B0606020202030204" pitchFamily="34" charset="0"/>
                          <a:ea typeface="LG스마트체 Regular" panose="020B0600000101010101" pitchFamily="50" charset="-127"/>
                          <a:cs typeface="+mn-cs"/>
                        </a:rPr>
                        <a:t>수율 개선 </a:t>
                      </a:r>
                      <a:r>
                        <a:rPr lang="ko-KR" altLang="en-US" sz="1000" b="1" kern="1200" spc="0" baseline="0" dirty="0">
                          <a:solidFill>
                            <a:schemeClr val="tx1"/>
                          </a:solidFill>
                          <a:latin typeface="Arial Narrow" panose="020B0606020202030204" pitchFamily="34" charset="0"/>
                          <a:ea typeface="LG스마트체 Regular" panose="020B0600000101010101" pitchFamily="50" charset="-127"/>
                          <a:cs typeface="+mn-cs"/>
                        </a:rPr>
                        <a:t>솔루션 수평전개 </a:t>
                      </a:r>
                      <a:r>
                        <a:rPr lang="en-US" altLang="ko-KR" sz="1000" b="1" kern="1200" spc="0" baseline="0" dirty="0">
                          <a:solidFill>
                            <a:schemeClr val="tx1"/>
                          </a:solidFill>
                          <a:latin typeface="Arial Narrow" panose="020B0606020202030204" pitchFamily="34" charset="0"/>
                          <a:ea typeface="LG스마트체 Regular" panose="020B0600000101010101" pitchFamily="50" charset="-127"/>
                          <a:cs typeface="+mn-cs"/>
                        </a:rPr>
                        <a:t>(’26.09) </a:t>
                      </a:r>
                      <a:r>
                        <a:rPr kumimoji="1" lang="en-US" altLang="ko-KR" sz="10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[3Q </a:t>
                      </a:r>
                      <a:r>
                        <a:rPr kumimoji="1" lang="ko-KR" altLang="en-US" sz="10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목표</a:t>
                      </a:r>
                      <a:r>
                        <a:rPr kumimoji="1" lang="en-US" altLang="ko-KR" sz="1000" b="1" i="0" u="none" strike="noStrike" kern="1200" cap="none" spc="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Arial" panose="020B0604020202020204" pitchFamily="34" charset="0"/>
                        </a:rPr>
                        <a:t>]</a:t>
                      </a:r>
                      <a:endParaRPr kumimoji="1" lang="en-US" altLang="ko-KR" sz="10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kern="1200" spc="0" dirty="0">
                          <a:solidFill>
                            <a:srgbClr val="006600"/>
                          </a:solidFill>
                          <a:latin typeface="Arial Narrow" panose="020B0606020202030204" pitchFamily="34" charset="0"/>
                          <a:ea typeface="LG스마트체 Regular" panose="020B0600000101010101" pitchFamily="50" charset="-127"/>
                          <a:cs typeface="+mn-cs"/>
                        </a:rPr>
                        <a:t>※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Q : L&amp;S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핵심 불량</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(NG</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마킹 제외</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20%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개선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dirty="0" err="1">
                          <a:solidFill>
                            <a:srgbClr val="006600"/>
                          </a:solidFill>
                          <a:effectLst/>
                          <a:latin typeface="Arial Narrow" panose="020B0606020202030204" pitchFamily="34" charset="0"/>
                          <a:ea typeface="LG스마트체 Regular" panose="020B0600000101010101" pitchFamily="50" charset="-127"/>
                        </a:rPr>
                        <a:t>연목표</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D : ’26.12</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월</a:t>
                      </a:r>
                      <a:endParaRPr lang="ko-KR" altLang="en-US" sz="1000" b="0" i="0" u="none" strike="noStrike" dirty="0">
                        <a:solidFill>
                          <a:srgbClr val="006600"/>
                        </a:solidFill>
                        <a:effectLst/>
                        <a:latin typeface="Arial Narrow" panose="020B0606020202030204" pitchFamily="34" charset="0"/>
                        <a:ea typeface="LG스마트체 Regular" panose="020B0600000101010101" pitchFamily="50" charset="-127"/>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algn="ctr" fontAlgn="ctr"/>
                      <a:r>
                        <a:rPr 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15%  (</a:t>
                      </a:r>
                      <a:r>
                        <a:rPr lang="ko-KR" alt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담당</a:t>
                      </a: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endParaRPr lang="en-US" sz="1000" b="0" i="0" u="none" strike="noStrike" spc="-70" baseline="0" dirty="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6" name="Rectangle 4">
            <a:extLst>
              <a:ext uri="{FF2B5EF4-FFF2-40B4-BE49-F238E27FC236}">
                <a16:creationId xmlns:a16="http://schemas.microsoft.com/office/drawing/2014/main" id="{A289DA77-AEB4-9FFD-93CE-BE5D774A92FF}"/>
              </a:ext>
            </a:extLst>
          </p:cNvPr>
          <p:cNvSpPr>
            <a:spLocks noChangeArrowheads="1"/>
          </p:cNvSpPr>
          <p:nvPr/>
        </p:nvSpPr>
        <p:spPr bwMode="auto">
          <a:xfrm>
            <a:off x="200471" y="761674"/>
            <a:ext cx="448035" cy="702000"/>
          </a:xfrm>
          <a:prstGeom prst="rect">
            <a:avLst/>
          </a:prstGeom>
          <a:solidFill>
            <a:schemeClr val="bg1"/>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90000"/>
              </a:lnSpc>
              <a:spcBef>
                <a:spcPct val="3000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목표</a:t>
            </a:r>
            <a:endParaRPr kumimoji="1" lang="en-US" altLang="ko-KR"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18" name="표 17">
            <a:extLst>
              <a:ext uri="{FF2B5EF4-FFF2-40B4-BE49-F238E27FC236}">
                <a16:creationId xmlns:a16="http://schemas.microsoft.com/office/drawing/2014/main" id="{4B9539EE-D17F-74A5-B039-EAE04BDAC5A7}"/>
              </a:ext>
            </a:extLst>
          </p:cNvPr>
          <p:cNvGraphicFramePr>
            <a:graphicFrameLocks noGrp="1"/>
          </p:cNvGraphicFramePr>
          <p:nvPr/>
        </p:nvGraphicFramePr>
        <p:xfrm>
          <a:off x="735048" y="1521549"/>
          <a:ext cx="8862108" cy="1138320"/>
        </p:xfrm>
        <a:graphic>
          <a:graphicData uri="http://schemas.openxmlformats.org/drawingml/2006/table">
            <a:tbl>
              <a:tblPr/>
              <a:tblGrid>
                <a:gridCol w="738509">
                  <a:extLst>
                    <a:ext uri="{9D8B030D-6E8A-4147-A177-3AD203B41FA5}">
                      <a16:colId xmlns:a16="http://schemas.microsoft.com/office/drawing/2014/main" val="1710325250"/>
                    </a:ext>
                  </a:extLst>
                </a:gridCol>
                <a:gridCol w="738509">
                  <a:extLst>
                    <a:ext uri="{9D8B030D-6E8A-4147-A177-3AD203B41FA5}">
                      <a16:colId xmlns:a16="http://schemas.microsoft.com/office/drawing/2014/main" val="2582822843"/>
                    </a:ext>
                  </a:extLst>
                </a:gridCol>
                <a:gridCol w="738509">
                  <a:extLst>
                    <a:ext uri="{9D8B030D-6E8A-4147-A177-3AD203B41FA5}">
                      <a16:colId xmlns:a16="http://schemas.microsoft.com/office/drawing/2014/main" val="3574503571"/>
                    </a:ext>
                  </a:extLst>
                </a:gridCol>
                <a:gridCol w="738509">
                  <a:extLst>
                    <a:ext uri="{9D8B030D-6E8A-4147-A177-3AD203B41FA5}">
                      <a16:colId xmlns:a16="http://schemas.microsoft.com/office/drawing/2014/main" val="906262013"/>
                    </a:ext>
                  </a:extLst>
                </a:gridCol>
                <a:gridCol w="738509">
                  <a:extLst>
                    <a:ext uri="{9D8B030D-6E8A-4147-A177-3AD203B41FA5}">
                      <a16:colId xmlns:a16="http://schemas.microsoft.com/office/drawing/2014/main" val="3618680307"/>
                    </a:ext>
                  </a:extLst>
                </a:gridCol>
                <a:gridCol w="738509">
                  <a:extLst>
                    <a:ext uri="{9D8B030D-6E8A-4147-A177-3AD203B41FA5}">
                      <a16:colId xmlns:a16="http://schemas.microsoft.com/office/drawing/2014/main" val="1865859727"/>
                    </a:ext>
                  </a:extLst>
                </a:gridCol>
                <a:gridCol w="738509">
                  <a:extLst>
                    <a:ext uri="{9D8B030D-6E8A-4147-A177-3AD203B41FA5}">
                      <a16:colId xmlns:a16="http://schemas.microsoft.com/office/drawing/2014/main" val="214679234"/>
                    </a:ext>
                  </a:extLst>
                </a:gridCol>
                <a:gridCol w="738509">
                  <a:extLst>
                    <a:ext uri="{9D8B030D-6E8A-4147-A177-3AD203B41FA5}">
                      <a16:colId xmlns:a16="http://schemas.microsoft.com/office/drawing/2014/main" val="2741167305"/>
                    </a:ext>
                  </a:extLst>
                </a:gridCol>
                <a:gridCol w="738509">
                  <a:extLst>
                    <a:ext uri="{9D8B030D-6E8A-4147-A177-3AD203B41FA5}">
                      <a16:colId xmlns:a16="http://schemas.microsoft.com/office/drawing/2014/main" val="3278585182"/>
                    </a:ext>
                  </a:extLst>
                </a:gridCol>
                <a:gridCol w="738509">
                  <a:extLst>
                    <a:ext uri="{9D8B030D-6E8A-4147-A177-3AD203B41FA5}">
                      <a16:colId xmlns:a16="http://schemas.microsoft.com/office/drawing/2014/main" val="1712991450"/>
                    </a:ext>
                  </a:extLst>
                </a:gridCol>
                <a:gridCol w="738509">
                  <a:extLst>
                    <a:ext uri="{9D8B030D-6E8A-4147-A177-3AD203B41FA5}">
                      <a16:colId xmlns:a16="http://schemas.microsoft.com/office/drawing/2014/main" val="823744282"/>
                    </a:ext>
                  </a:extLst>
                </a:gridCol>
                <a:gridCol w="738509">
                  <a:extLst>
                    <a:ext uri="{9D8B030D-6E8A-4147-A177-3AD203B41FA5}">
                      <a16:colId xmlns:a16="http://schemas.microsoft.com/office/drawing/2014/main" val="2867782548"/>
                    </a:ext>
                  </a:extLst>
                </a:gridCol>
              </a:tblGrid>
              <a:tr h="127781">
                <a:tc gridSpan="12">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년</a:t>
                      </a:r>
                    </a:p>
                  </a:txBody>
                  <a:tcPr marL="0" marR="0" marT="0" marB="0" anchor="ctr">
                    <a:lnL w="12700" cap="flat" cmpd="sng" algn="ctr">
                      <a:noFill/>
                      <a:prstDash val="solid"/>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0257681"/>
                  </a:ext>
                </a:extLst>
              </a:tr>
              <a:tr h="127781">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3</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4</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7</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8</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9</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10</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850938"/>
                  </a:ext>
                </a:extLst>
              </a:tr>
              <a:tr h="864000">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dirty="0">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057251"/>
                  </a:ext>
                </a:extLst>
              </a:tr>
            </a:tbl>
          </a:graphicData>
        </a:graphic>
      </p:graphicFrame>
      <p:sp>
        <p:nvSpPr>
          <p:cNvPr id="20" name="TextBox 19">
            <a:extLst>
              <a:ext uri="{FF2B5EF4-FFF2-40B4-BE49-F238E27FC236}">
                <a16:creationId xmlns:a16="http://schemas.microsoft.com/office/drawing/2014/main" id="{6D009556-A2F6-37E1-8DE1-4EF246FDB87D}"/>
              </a:ext>
            </a:extLst>
          </p:cNvPr>
          <p:cNvSpPr txBox="1"/>
          <p:nvPr/>
        </p:nvSpPr>
        <p:spPr>
          <a:xfrm>
            <a:off x="746523" y="1849352"/>
            <a:ext cx="431420" cy="756000"/>
          </a:xfrm>
          <a:prstGeom prst="rect">
            <a:avLst/>
          </a:prstGeom>
          <a:solidFill>
            <a:schemeClr val="bg1"/>
          </a:solidFill>
          <a:ln w="6350">
            <a:solidFill>
              <a:schemeClr val="bg1">
                <a:lumMod val="50000"/>
              </a:schemeClr>
            </a:solidFill>
          </a:ln>
        </p:spPr>
        <p:txBody>
          <a:bodyPr wrap="none" lIns="36000" tIns="36000" rIns="36000" bIns="36000" rtlCol="0" anchor="ctr" anchorCtr="0">
            <a:noAutofit/>
          </a:bodyPr>
          <a:lstStyle/>
          <a:p>
            <a:pPr marL="0" marR="0" lvl="0" indent="0" algn="ctr" defTabSz="914400" rtl="0" eaLnBrk="1" fontAlgn="auto" latinLnBrk="1" hangingPunct="1">
              <a:lnSpc>
                <a:spcPct val="114000"/>
              </a:lnSpc>
              <a:spcBef>
                <a:spcPts val="0"/>
              </a:spcBef>
              <a:spcAft>
                <a:spcPts val="0"/>
              </a:spcAft>
              <a:buClrTx/>
              <a:buSzTx/>
              <a:buFontTx/>
              <a:buNone/>
              <a:tabLst/>
              <a:defRPr/>
            </a:pPr>
            <a:r>
              <a:rPr kumimoji="0" lang="ko-KR" altLang="en-US" sz="105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선별</a:t>
            </a:r>
            <a:br>
              <a:rPr kumimoji="0" lang="en-US" altLang="ko-KR" sz="105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br>
            <a:r>
              <a:rPr kumimoji="0" lang="ko-KR" altLang="en-US" sz="105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투입</a:t>
            </a:r>
            <a:endParaRPr kumimoji="0" lang="en-US" altLang="ko-KR" sz="105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grpSp>
        <p:nvGrpSpPr>
          <p:cNvPr id="57" name="그룹 1">
            <a:extLst>
              <a:ext uri="{FF2B5EF4-FFF2-40B4-BE49-F238E27FC236}">
                <a16:creationId xmlns:a16="http://schemas.microsoft.com/office/drawing/2014/main" id="{C43A8BA6-E6D1-70A1-E4BB-E24D7E69B6BD}"/>
              </a:ext>
            </a:extLst>
          </p:cNvPr>
          <p:cNvGrpSpPr/>
          <p:nvPr/>
        </p:nvGrpSpPr>
        <p:grpSpPr>
          <a:xfrm>
            <a:off x="8739775" y="1484784"/>
            <a:ext cx="205184" cy="1181864"/>
            <a:chOff x="2020628" y="1123354"/>
            <a:chExt cx="205184" cy="3540909"/>
          </a:xfrm>
        </p:grpSpPr>
        <p:grpSp>
          <p:nvGrpSpPr>
            <p:cNvPr id="59" name="그룹 2">
              <a:extLst>
                <a:ext uri="{FF2B5EF4-FFF2-40B4-BE49-F238E27FC236}">
                  <a16:creationId xmlns:a16="http://schemas.microsoft.com/office/drawing/2014/main" id="{C5DDB94E-B791-0A11-CED7-DB51E85F5A57}"/>
                </a:ext>
              </a:extLst>
            </p:cNvPr>
            <p:cNvGrpSpPr/>
            <p:nvPr/>
          </p:nvGrpSpPr>
          <p:grpSpPr>
            <a:xfrm>
              <a:off x="2072680" y="1578060"/>
              <a:ext cx="120667" cy="3086203"/>
              <a:chOff x="4167960" y="2510051"/>
              <a:chExt cx="120667" cy="3199302"/>
            </a:xfrm>
          </p:grpSpPr>
          <p:cxnSp>
            <p:nvCxnSpPr>
              <p:cNvPr id="61" name="직선 연결선 167">
                <a:extLst>
                  <a:ext uri="{FF2B5EF4-FFF2-40B4-BE49-F238E27FC236}">
                    <a16:creationId xmlns:a16="http://schemas.microsoft.com/office/drawing/2014/main" id="{9B2E7B25-45B5-D05F-B3A5-874D7D19813F}"/>
                  </a:ext>
                </a:extLst>
              </p:cNvPr>
              <p:cNvCxnSpPr>
                <a:cxnSpLocks/>
              </p:cNvCxnSpPr>
              <p:nvPr/>
            </p:nvCxnSpPr>
            <p:spPr>
              <a:xfrm>
                <a:off x="4228294" y="2685928"/>
                <a:ext cx="0" cy="3023425"/>
              </a:xfrm>
              <a:prstGeom prst="line">
                <a:avLst/>
              </a:prstGeom>
              <a:noFill/>
              <a:ln w="19050" cap="flat" cmpd="sng" algn="ctr">
                <a:solidFill>
                  <a:srgbClr val="0000FF"/>
                </a:solidFill>
                <a:prstDash val="sysDot"/>
              </a:ln>
              <a:effectLst/>
            </p:spPr>
          </p:cxnSp>
          <p:sp>
            <p:nvSpPr>
              <p:cNvPr id="62" name="이등변 삼각형 7">
                <a:extLst>
                  <a:ext uri="{FF2B5EF4-FFF2-40B4-BE49-F238E27FC236}">
                    <a16:creationId xmlns:a16="http://schemas.microsoft.com/office/drawing/2014/main" id="{C5B712EE-8AB1-F2BB-8CBB-E3F2B8E404CE}"/>
                  </a:ext>
                </a:extLst>
              </p:cNvPr>
              <p:cNvSpPr/>
              <p:nvPr/>
            </p:nvSpPr>
            <p:spPr>
              <a:xfrm flipV="1">
                <a:off x="4167960" y="2510051"/>
                <a:ext cx="120667" cy="89074"/>
              </a:xfrm>
              <a:prstGeom prst="triangle">
                <a:avLst/>
              </a:prstGeom>
              <a:solidFill>
                <a:srgbClr val="FF0000"/>
              </a:solidFill>
              <a:ln w="25400" cap="flat" cmpd="sng" algn="ctr">
                <a:solidFill>
                  <a:srgbClr val="0000FF"/>
                </a:solid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60" name="Text Box 4">
              <a:extLst>
                <a:ext uri="{FF2B5EF4-FFF2-40B4-BE49-F238E27FC236}">
                  <a16:creationId xmlns:a16="http://schemas.microsoft.com/office/drawing/2014/main" id="{CF352E2A-CCC7-A4B2-881C-0C32A27ED0A3}"/>
                </a:ext>
              </a:extLst>
            </p:cNvPr>
            <p:cNvSpPr txBox="1">
              <a:spLocks noChangeArrowheads="1"/>
            </p:cNvSpPr>
            <p:nvPr/>
          </p:nvSpPr>
          <p:spPr bwMode="auto">
            <a:xfrm>
              <a:off x="2020628" y="1123354"/>
              <a:ext cx="205184" cy="414948"/>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rPr>
                <a:t>완료</a:t>
              </a:r>
              <a:endParaRPr kumimoji="0" lang="en-US" altLang="ko-KR"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endParaRPr>
            </a:p>
          </p:txBody>
        </p:sp>
      </p:grpSp>
      <p:grpSp>
        <p:nvGrpSpPr>
          <p:cNvPr id="63" name="그룹 62">
            <a:extLst>
              <a:ext uri="{FF2B5EF4-FFF2-40B4-BE49-F238E27FC236}">
                <a16:creationId xmlns:a16="http://schemas.microsoft.com/office/drawing/2014/main" id="{3B9D5773-89FA-C013-0CEE-4DA4D4772065}"/>
              </a:ext>
            </a:extLst>
          </p:cNvPr>
          <p:cNvGrpSpPr/>
          <p:nvPr/>
        </p:nvGrpSpPr>
        <p:grpSpPr>
          <a:xfrm>
            <a:off x="839581" y="2821101"/>
            <a:ext cx="4008771" cy="341334"/>
            <a:chOff x="961536" y="4488828"/>
            <a:chExt cx="4008771" cy="341334"/>
          </a:xfrm>
        </p:grpSpPr>
        <p:sp>
          <p:nvSpPr>
            <p:cNvPr id="64" name="제목 9">
              <a:extLst>
                <a:ext uri="{FF2B5EF4-FFF2-40B4-BE49-F238E27FC236}">
                  <a16:creationId xmlns:a16="http://schemas.microsoft.com/office/drawing/2014/main" id="{B594858C-8743-933E-A1F5-11A61A986AFF}"/>
                </a:ext>
              </a:extLst>
            </p:cNvPr>
            <p:cNvSpPr txBox="1">
              <a:spLocks/>
            </p:cNvSpPr>
            <p:nvPr/>
          </p:nvSpPr>
          <p:spPr>
            <a:xfrm>
              <a:off x="2577457" y="4488828"/>
              <a:ext cx="776928"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진척사항</a:t>
              </a:r>
            </a:p>
          </p:txBody>
        </p:sp>
        <p:cxnSp>
          <p:nvCxnSpPr>
            <p:cNvPr id="65" name="직선 연결선 2">
              <a:extLst>
                <a:ext uri="{FF2B5EF4-FFF2-40B4-BE49-F238E27FC236}">
                  <a16:creationId xmlns:a16="http://schemas.microsoft.com/office/drawing/2014/main" id="{C870AA95-62ED-3366-B867-F783D4482851}"/>
                </a:ext>
              </a:extLst>
            </p:cNvPr>
            <p:cNvCxnSpPr>
              <a:cxnSpLocks noChangeShapeType="1"/>
            </p:cNvCxnSpPr>
            <p:nvPr/>
          </p:nvCxnSpPr>
          <p:spPr bwMode="auto">
            <a:xfrm>
              <a:off x="961536" y="4830162"/>
              <a:ext cx="400877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6" name="그룹 65">
            <a:extLst>
              <a:ext uri="{FF2B5EF4-FFF2-40B4-BE49-F238E27FC236}">
                <a16:creationId xmlns:a16="http://schemas.microsoft.com/office/drawing/2014/main" id="{3823DD7F-B503-879A-F2F3-6AE1C196A72E}"/>
              </a:ext>
            </a:extLst>
          </p:cNvPr>
          <p:cNvGrpSpPr/>
          <p:nvPr/>
        </p:nvGrpSpPr>
        <p:grpSpPr>
          <a:xfrm>
            <a:off x="5141076" y="2828807"/>
            <a:ext cx="4553251" cy="333628"/>
            <a:chOff x="5152724" y="4496534"/>
            <a:chExt cx="4221222" cy="333628"/>
          </a:xfrm>
        </p:grpSpPr>
        <p:sp>
          <p:nvSpPr>
            <p:cNvPr id="67" name="제목 9">
              <a:extLst>
                <a:ext uri="{FF2B5EF4-FFF2-40B4-BE49-F238E27FC236}">
                  <a16:creationId xmlns:a16="http://schemas.microsoft.com/office/drawing/2014/main" id="{9764FF18-8EE2-EE6F-FD47-B64242FE4E19}"/>
                </a:ext>
              </a:extLst>
            </p:cNvPr>
            <p:cNvSpPr txBox="1">
              <a:spLocks/>
            </p:cNvSpPr>
            <p:nvPr/>
          </p:nvSpPr>
          <p:spPr>
            <a:xfrm>
              <a:off x="6885365" y="4496534"/>
              <a:ext cx="755940"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향후 계획</a:t>
              </a:r>
            </a:p>
          </p:txBody>
        </p:sp>
        <p:cxnSp>
          <p:nvCxnSpPr>
            <p:cNvPr id="68" name="직선 연결선 2">
              <a:extLst>
                <a:ext uri="{FF2B5EF4-FFF2-40B4-BE49-F238E27FC236}">
                  <a16:creationId xmlns:a16="http://schemas.microsoft.com/office/drawing/2014/main" id="{03A4C321-3C47-3695-2CD4-723CA2803FEB}"/>
                </a:ext>
              </a:extLst>
            </p:cNvPr>
            <p:cNvCxnSpPr>
              <a:cxnSpLocks noChangeShapeType="1"/>
            </p:cNvCxnSpPr>
            <p:nvPr/>
          </p:nvCxnSpPr>
          <p:spPr bwMode="auto">
            <a:xfrm>
              <a:off x="5152724" y="4830162"/>
              <a:ext cx="422122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4">
            <a:extLst>
              <a:ext uri="{FF2B5EF4-FFF2-40B4-BE49-F238E27FC236}">
                <a16:creationId xmlns:a16="http://schemas.microsoft.com/office/drawing/2014/main" id="{70B273AD-8605-F787-1F92-315069815063}"/>
              </a:ext>
            </a:extLst>
          </p:cNvPr>
          <p:cNvSpPr>
            <a:spLocks noChangeArrowheads="1"/>
          </p:cNvSpPr>
          <p:nvPr/>
        </p:nvSpPr>
        <p:spPr bwMode="auto">
          <a:xfrm>
            <a:off x="200471" y="2746039"/>
            <a:ext cx="448035" cy="3799689"/>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진척</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사항</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sp>
        <p:nvSpPr>
          <p:cNvPr id="70" name="TextBox 69">
            <a:extLst>
              <a:ext uri="{FF2B5EF4-FFF2-40B4-BE49-F238E27FC236}">
                <a16:creationId xmlns:a16="http://schemas.microsoft.com/office/drawing/2014/main" id="{A3190518-F4D6-757E-66C5-BBA167046AA9}"/>
              </a:ext>
            </a:extLst>
          </p:cNvPr>
          <p:cNvSpPr txBox="1"/>
          <p:nvPr/>
        </p:nvSpPr>
        <p:spPr>
          <a:xfrm>
            <a:off x="816727" y="3172055"/>
            <a:ext cx="4324349" cy="296620"/>
          </a:xfrm>
          <a:prstGeom prst="rect">
            <a:avLst/>
          </a:prstGeom>
          <a:noFill/>
        </p:spPr>
        <p:txBody>
          <a:bodyPr wrap="square" lIns="33231" rIns="33231" rtlCol="0">
            <a:spAutoFit/>
          </a:bodyPr>
          <a:lstStyle/>
          <a:p>
            <a:pPr marL="164127" marR="0" lvl="0" indent="-164127" algn="l" defTabSz="844083" rtl="0" eaLnBrk="1" fontAlgn="base" latinLnBrk="1" hangingPunct="1">
              <a:lnSpc>
                <a:spcPct val="12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전극</a:t>
            </a:r>
            <a:r>
              <a:rPr kumimoji="1" lang="en-US" altLang="ko-KR"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조립 반제품 최적 경로 투입 기술 개발</a:t>
            </a:r>
            <a:endParaRPr kumimoji="1" lang="en-US" altLang="ko-KR" sz="12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cxnSp>
        <p:nvCxnSpPr>
          <p:cNvPr id="71" name="직선 연결선 70">
            <a:extLst>
              <a:ext uri="{FF2B5EF4-FFF2-40B4-BE49-F238E27FC236}">
                <a16:creationId xmlns:a16="http://schemas.microsoft.com/office/drawing/2014/main" id="{4AB4DFC6-D8C7-F8BB-EAE4-DA6174946604}"/>
              </a:ext>
            </a:extLst>
          </p:cNvPr>
          <p:cNvCxnSpPr>
            <a:cxnSpLocks/>
          </p:cNvCxnSpPr>
          <p:nvPr/>
        </p:nvCxnSpPr>
        <p:spPr>
          <a:xfrm flipV="1">
            <a:off x="4997300" y="2811865"/>
            <a:ext cx="0" cy="3469319"/>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타원 72">
            <a:extLst>
              <a:ext uri="{FF2B5EF4-FFF2-40B4-BE49-F238E27FC236}">
                <a16:creationId xmlns:a16="http://schemas.microsoft.com/office/drawing/2014/main" id="{41420B02-FA90-1B21-D7B2-001E9C5DDDAD}"/>
              </a:ext>
            </a:extLst>
          </p:cNvPr>
          <p:cNvSpPr>
            <a:spLocks noChangeAspect="1"/>
          </p:cNvSpPr>
          <p:nvPr/>
        </p:nvSpPr>
        <p:spPr>
          <a:xfrm>
            <a:off x="9136690" y="1150348"/>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78" name="TextBox 77">
            <a:extLst>
              <a:ext uri="{FF2B5EF4-FFF2-40B4-BE49-F238E27FC236}">
                <a16:creationId xmlns:a16="http://schemas.microsoft.com/office/drawing/2014/main" id="{21CE7053-EB53-CA7A-5021-4AB3BDA94C84}"/>
              </a:ext>
            </a:extLst>
          </p:cNvPr>
          <p:cNvSpPr txBox="1"/>
          <p:nvPr/>
        </p:nvSpPr>
        <p:spPr>
          <a:xfrm>
            <a:off x="3050555" y="2458657"/>
            <a:ext cx="721920" cy="19581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*ESWA </a:t>
            </a:r>
            <a:r>
              <a:rPr kumimoji="0" lang="ko-KR" altLang="en-US" sz="800" b="0"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조립 </a:t>
            </a:r>
            <a:r>
              <a:rPr kumimoji="0" lang="en-US" altLang="ko-KR" sz="800" b="0"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4</a:t>
            </a:r>
            <a:r>
              <a:rPr kumimoji="0" lang="ko-KR" altLang="en-US" sz="800" b="0"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동</a:t>
            </a:r>
            <a:endParaRPr kumimoji="0" lang="ko-KR" altLang="en-US" sz="800" b="0" i="0" u="none" strike="noStrike" kern="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p:txBody>
      </p:sp>
      <p:grpSp>
        <p:nvGrpSpPr>
          <p:cNvPr id="79" name="그룹 78">
            <a:extLst>
              <a:ext uri="{FF2B5EF4-FFF2-40B4-BE49-F238E27FC236}">
                <a16:creationId xmlns:a16="http://schemas.microsoft.com/office/drawing/2014/main" id="{70733546-9F9C-4B4F-9734-C5677925BCD1}"/>
              </a:ext>
            </a:extLst>
          </p:cNvPr>
          <p:cNvGrpSpPr/>
          <p:nvPr/>
        </p:nvGrpSpPr>
        <p:grpSpPr>
          <a:xfrm>
            <a:off x="1177943" y="2094736"/>
            <a:ext cx="7663289" cy="591637"/>
            <a:chOff x="1177943" y="1973942"/>
            <a:chExt cx="7663289" cy="591637"/>
          </a:xfrm>
        </p:grpSpPr>
        <p:cxnSp>
          <p:nvCxnSpPr>
            <p:cNvPr id="80" name="직선 화살표 연결선 79">
              <a:extLst>
                <a:ext uri="{FF2B5EF4-FFF2-40B4-BE49-F238E27FC236}">
                  <a16:creationId xmlns:a16="http://schemas.microsoft.com/office/drawing/2014/main" id="{EBB7A88E-5298-9F06-CA16-89CF9F12D8B4}"/>
                </a:ext>
              </a:extLst>
            </p:cNvPr>
            <p:cNvCxnSpPr>
              <a:cxnSpLocks/>
            </p:cNvCxnSpPr>
            <p:nvPr/>
          </p:nvCxnSpPr>
          <p:spPr>
            <a:xfrm>
              <a:off x="1177943" y="2053688"/>
              <a:ext cx="7663289"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타원 84">
              <a:extLst>
                <a:ext uri="{FF2B5EF4-FFF2-40B4-BE49-F238E27FC236}">
                  <a16:creationId xmlns:a16="http://schemas.microsoft.com/office/drawing/2014/main" id="{C3A16E3E-94F0-0BA1-93D2-D214A189AA35}"/>
                </a:ext>
              </a:extLst>
            </p:cNvPr>
            <p:cNvSpPr/>
            <p:nvPr/>
          </p:nvSpPr>
          <p:spPr>
            <a:xfrm>
              <a:off x="2733648"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6" name="TextBox 85">
              <a:extLst>
                <a:ext uri="{FF2B5EF4-FFF2-40B4-BE49-F238E27FC236}">
                  <a16:creationId xmlns:a16="http://schemas.microsoft.com/office/drawing/2014/main" id="{F7A637B0-C8A2-9328-CB56-1C934EE319DF}"/>
                </a:ext>
              </a:extLst>
            </p:cNvPr>
            <p:cNvSpPr txBox="1"/>
            <p:nvPr/>
          </p:nvSpPr>
          <p:spPr>
            <a:xfrm>
              <a:off x="2683780" y="2104583"/>
              <a:ext cx="255445" cy="19581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투자</a:t>
              </a:r>
              <a:endPar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7" name="TextBox 86">
              <a:extLst>
                <a:ext uri="{FF2B5EF4-FFF2-40B4-BE49-F238E27FC236}">
                  <a16:creationId xmlns:a16="http://schemas.microsoft.com/office/drawing/2014/main" id="{F3D35844-7947-D8C8-FB51-3ED28BED6FDD}"/>
                </a:ext>
              </a:extLst>
            </p:cNvPr>
            <p:cNvSpPr txBox="1"/>
            <p:nvPr/>
          </p:nvSpPr>
          <p:spPr>
            <a:xfrm>
              <a:off x="3136770" y="2226930"/>
              <a:ext cx="585664" cy="19581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a:t>
              </a:r>
              <a:r>
                <a:rPr kumimoji="0" lang="ko-KR" altLang="en-US"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시스템 개발</a:t>
              </a:r>
              <a:endPar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endParaRPr>
            </a:p>
          </p:txBody>
        </p:sp>
        <p:sp>
          <p:nvSpPr>
            <p:cNvPr id="88" name="오른쪽 중괄호 87">
              <a:extLst>
                <a:ext uri="{FF2B5EF4-FFF2-40B4-BE49-F238E27FC236}">
                  <a16:creationId xmlns:a16="http://schemas.microsoft.com/office/drawing/2014/main" id="{A77F766F-F43E-8E3A-90D1-78D57081A62F}"/>
                </a:ext>
              </a:extLst>
            </p:cNvPr>
            <p:cNvSpPr/>
            <p:nvPr/>
          </p:nvSpPr>
          <p:spPr>
            <a:xfrm rot="5400000">
              <a:off x="3351636" y="1645520"/>
              <a:ext cx="142504" cy="104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black"/>
                </a:solidFill>
                <a:effectLst/>
                <a:uLnTx/>
                <a:uFillTx/>
                <a:latin typeface="맑은 고딕"/>
                <a:ea typeface="맑은 고딕" panose="020B0503020000020004" pitchFamily="50" charset="-127"/>
                <a:cs typeface="+mn-cs"/>
              </a:endParaRPr>
            </a:p>
          </p:txBody>
        </p:sp>
        <p:sp>
          <p:nvSpPr>
            <p:cNvPr id="89" name="타원 88">
              <a:extLst>
                <a:ext uri="{FF2B5EF4-FFF2-40B4-BE49-F238E27FC236}">
                  <a16:creationId xmlns:a16="http://schemas.microsoft.com/office/drawing/2014/main" id="{9843BE8E-5F57-53AE-636D-41EDCFD914A9}"/>
                </a:ext>
              </a:extLst>
            </p:cNvPr>
            <p:cNvSpPr/>
            <p:nvPr/>
          </p:nvSpPr>
          <p:spPr>
            <a:xfrm>
              <a:off x="3968269"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18</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1" name="타원 90">
              <a:extLst>
                <a:ext uri="{FF2B5EF4-FFF2-40B4-BE49-F238E27FC236}">
                  <a16:creationId xmlns:a16="http://schemas.microsoft.com/office/drawing/2014/main" id="{47C92F82-979C-F5D3-BD32-2EA27DFD2B82}"/>
                </a:ext>
              </a:extLst>
            </p:cNvPr>
            <p:cNvSpPr/>
            <p:nvPr/>
          </p:nvSpPr>
          <p:spPr>
            <a:xfrm>
              <a:off x="4466397" y="1981688"/>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 Regular" panose="020B0600000101010101" pitchFamily="50" charset="-127"/>
                </a:rPr>
                <a:t>4</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7" name="TextBox 96">
              <a:extLst>
                <a:ext uri="{FF2B5EF4-FFF2-40B4-BE49-F238E27FC236}">
                  <a16:creationId xmlns:a16="http://schemas.microsoft.com/office/drawing/2014/main" id="{24FA25E5-E432-FF30-138F-48F1C13D4F3D}"/>
                </a:ext>
              </a:extLst>
            </p:cNvPr>
            <p:cNvSpPr txBox="1"/>
            <p:nvPr/>
          </p:nvSpPr>
          <p:spPr>
            <a:xfrm>
              <a:off x="4407285" y="2123544"/>
              <a:ext cx="255445"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효과</a:t>
              </a:r>
              <a:b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b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산출</a:t>
              </a:r>
              <a:endPar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endParaRPr>
            </a:p>
          </p:txBody>
        </p:sp>
        <p:sp>
          <p:nvSpPr>
            <p:cNvPr id="98" name="타원 97">
              <a:extLst>
                <a:ext uri="{FF2B5EF4-FFF2-40B4-BE49-F238E27FC236}">
                  <a16:creationId xmlns:a16="http://schemas.microsoft.com/office/drawing/2014/main" id="{7D04CFE5-753A-70A3-FE9E-C1B8C41DED9B}"/>
                </a:ext>
              </a:extLst>
            </p:cNvPr>
            <p:cNvSpPr/>
            <p:nvPr/>
          </p:nvSpPr>
          <p:spPr>
            <a:xfrm>
              <a:off x="2452682"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13</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0" name="TextBox 99">
              <a:extLst>
                <a:ext uri="{FF2B5EF4-FFF2-40B4-BE49-F238E27FC236}">
                  <a16:creationId xmlns:a16="http://schemas.microsoft.com/office/drawing/2014/main" id="{DBCFA4EF-E360-2F5A-90E4-ECEAAA8A485F}"/>
                </a:ext>
              </a:extLst>
            </p:cNvPr>
            <p:cNvSpPr txBox="1"/>
            <p:nvPr/>
          </p:nvSpPr>
          <p:spPr>
            <a:xfrm>
              <a:off x="2402814" y="2104583"/>
              <a:ext cx="255445"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투자</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검토</a:t>
              </a:r>
              <a:endPar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1" name="TextBox 100">
              <a:extLst>
                <a:ext uri="{FF2B5EF4-FFF2-40B4-BE49-F238E27FC236}">
                  <a16:creationId xmlns:a16="http://schemas.microsoft.com/office/drawing/2014/main" id="{A9B8B899-FA69-5BF0-5159-0C488D72A73E}"/>
                </a:ext>
              </a:extLst>
            </p:cNvPr>
            <p:cNvSpPr txBox="1"/>
            <p:nvPr/>
          </p:nvSpPr>
          <p:spPr>
            <a:xfrm>
              <a:off x="3907838" y="2123544"/>
              <a:ext cx="255445"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kern="0">
                  <a:solidFill>
                    <a:prstClr val="black"/>
                  </a:solidFill>
                  <a:latin typeface="Arial Narrow"/>
                  <a:ea typeface="LG스마트체 Regular"/>
                  <a:sym typeface="Wingdings"/>
                </a:rPr>
                <a:t>양산</a:t>
              </a:r>
              <a:br>
                <a:rPr lang="en-US" altLang="ko-KR" sz="800" kern="0">
                  <a:solidFill>
                    <a:prstClr val="black"/>
                  </a:solidFill>
                  <a:latin typeface="Arial Narrow"/>
                  <a:ea typeface="LG스마트체 Regular"/>
                  <a:sym typeface="Wingdings"/>
                </a:rPr>
              </a:b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적용</a:t>
              </a:r>
              <a:endPar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endParaRPr>
            </a:p>
          </p:txBody>
        </p:sp>
        <p:sp>
          <p:nvSpPr>
            <p:cNvPr id="104" name="타원 103">
              <a:extLst>
                <a:ext uri="{FF2B5EF4-FFF2-40B4-BE49-F238E27FC236}">
                  <a16:creationId xmlns:a16="http://schemas.microsoft.com/office/drawing/2014/main" id="{A336EE26-DDE9-43F5-67A3-C9A87603D7CA}"/>
                </a:ext>
              </a:extLst>
            </p:cNvPr>
            <p:cNvSpPr/>
            <p:nvPr/>
          </p:nvSpPr>
          <p:spPr>
            <a:xfrm>
              <a:off x="7259720" y="1981688"/>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 Regular" panose="020B0600000101010101" pitchFamily="50" charset="-127"/>
                </a:rPr>
                <a:t>3</a:t>
              </a:r>
              <a:r>
                <a:rPr lang="en-US" altLang="ko-KR" sz="1000" b="1" kern="0" dirty="0">
                  <a:solidFill>
                    <a:prstClr val="black"/>
                  </a:solidFill>
                  <a:latin typeface="Arial Narrow" panose="020B0606020202030204" pitchFamily="34" charset="0"/>
                  <a:ea typeface="LG스마트체 Regular" panose="020B0600000101010101" pitchFamily="50" charset="-127"/>
                </a:rPr>
                <a:t>0</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8" name="TextBox 107">
              <a:extLst>
                <a:ext uri="{FF2B5EF4-FFF2-40B4-BE49-F238E27FC236}">
                  <a16:creationId xmlns:a16="http://schemas.microsoft.com/office/drawing/2014/main" id="{7693EFC4-0C01-6FC2-7CA9-220624FB2F7E}"/>
                </a:ext>
              </a:extLst>
            </p:cNvPr>
            <p:cNvSpPr txBox="1"/>
            <p:nvPr/>
          </p:nvSpPr>
          <p:spPr>
            <a:xfrm>
              <a:off x="7107100" y="2129165"/>
              <a:ext cx="438188"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WA 3</a:t>
              </a:r>
              <a:r>
                <a:rPr kumimoji="0" lang="ko-KR" altLang="en-US"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동 </a:t>
              </a:r>
              <a:br>
                <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br>
              <a:r>
                <a:rPr kumimoji="0" lang="ko-KR" altLang="en-US"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수평전개</a:t>
              </a:r>
              <a:endPar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endParaRPr>
            </a:p>
          </p:txBody>
        </p:sp>
        <p:sp>
          <p:nvSpPr>
            <p:cNvPr id="16" name="타원 15">
              <a:extLst>
                <a:ext uri="{FF2B5EF4-FFF2-40B4-BE49-F238E27FC236}">
                  <a16:creationId xmlns:a16="http://schemas.microsoft.com/office/drawing/2014/main" id="{BFBCDC4A-6FA6-2E5D-B3AD-1F4A4D396C89}"/>
                </a:ext>
              </a:extLst>
            </p:cNvPr>
            <p:cNvSpPr/>
            <p:nvPr/>
          </p:nvSpPr>
          <p:spPr>
            <a:xfrm>
              <a:off x="6245668" y="1981688"/>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19</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 name="TextBox 16">
              <a:extLst>
                <a:ext uri="{FF2B5EF4-FFF2-40B4-BE49-F238E27FC236}">
                  <a16:creationId xmlns:a16="http://schemas.microsoft.com/office/drawing/2014/main" id="{28DD42E8-B399-2629-BB90-622FF87A6162}"/>
                </a:ext>
              </a:extLst>
            </p:cNvPr>
            <p:cNvSpPr txBox="1"/>
            <p:nvPr/>
          </p:nvSpPr>
          <p:spPr>
            <a:xfrm>
              <a:off x="6095185" y="2123544"/>
              <a:ext cx="438188" cy="442035"/>
            </a:xfrm>
            <a:prstGeom prst="rect">
              <a:avLst/>
            </a:prstGeom>
            <a:noFill/>
            <a:ln w="6350">
              <a:noFill/>
            </a:ln>
          </p:spPr>
          <p:txBody>
            <a:bodyPr wrap="squar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WA 3</a:t>
              </a:r>
              <a:r>
                <a:rPr lang="ko-KR" altLang="en-US" sz="800" kern="0">
                  <a:solidFill>
                    <a:prstClr val="black"/>
                  </a:solidFill>
                  <a:latin typeface="Arial Narrow"/>
                  <a:ea typeface="LG스마트체 Regular"/>
                  <a:sym typeface="Wingdings"/>
                </a:rPr>
                <a:t>동</a:t>
              </a:r>
              <a:br>
                <a:rPr lang="en-US" altLang="ko-KR" sz="800" kern="0">
                  <a:solidFill>
                    <a:prstClr val="black"/>
                  </a:solidFill>
                  <a:latin typeface="Arial Narrow"/>
                  <a:ea typeface="LG스마트체 Regular"/>
                  <a:sym typeface="Wingdings"/>
                </a:rPr>
              </a:br>
              <a:r>
                <a:rPr lang="ko-KR" altLang="en-US" sz="800" kern="0">
                  <a:solidFill>
                    <a:prstClr val="black"/>
                  </a:solidFill>
                  <a:latin typeface="Arial Narrow"/>
                  <a:ea typeface="LG스마트체 Regular"/>
                  <a:sym typeface="Wingdings"/>
                </a:rPr>
                <a:t>양극노칭</a:t>
              </a:r>
              <a:br>
                <a:rPr lang="en-US" altLang="ko-KR" sz="800" kern="0">
                  <a:solidFill>
                    <a:prstClr val="black"/>
                  </a:solidFill>
                  <a:latin typeface="Arial Narrow"/>
                  <a:ea typeface="LG스마트체 Regular"/>
                  <a:sym typeface="Wingdings"/>
                </a:rPr>
              </a:br>
              <a:r>
                <a:rPr lang="ko-KR" altLang="en-US" sz="800" kern="0">
                  <a:solidFill>
                    <a:prstClr val="black"/>
                  </a:solidFill>
                  <a:latin typeface="Arial Narrow"/>
                  <a:ea typeface="LG스마트체 Regular"/>
                  <a:sym typeface="Wingdings"/>
                </a:rPr>
                <a:t>수평전개</a:t>
              </a:r>
              <a:endPar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endParaRPr>
            </a:p>
          </p:txBody>
        </p:sp>
        <p:sp>
          <p:nvSpPr>
            <p:cNvPr id="21" name="TextBox 20">
              <a:extLst>
                <a:ext uri="{FF2B5EF4-FFF2-40B4-BE49-F238E27FC236}">
                  <a16:creationId xmlns:a16="http://schemas.microsoft.com/office/drawing/2014/main" id="{E016AA98-D73B-EAE6-BB00-0D7456E45740}"/>
                </a:ext>
              </a:extLst>
            </p:cNvPr>
            <p:cNvSpPr txBox="1"/>
            <p:nvPr/>
          </p:nvSpPr>
          <p:spPr>
            <a:xfrm>
              <a:off x="5555190" y="2123544"/>
              <a:ext cx="438188" cy="442035"/>
            </a:xfrm>
            <a:prstGeom prst="rect">
              <a:avLst/>
            </a:prstGeom>
            <a:noFill/>
            <a:ln w="6350">
              <a:noFill/>
            </a:ln>
          </p:spPr>
          <p:txBody>
            <a:bodyPr wrap="squar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WA 3</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동</a:t>
              </a:r>
              <a:b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b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선별투입</a:t>
              </a:r>
              <a:b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b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SW </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개발</a:t>
              </a:r>
              <a:endPar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endParaRPr>
            </a:p>
          </p:txBody>
        </p:sp>
        <p:sp>
          <p:nvSpPr>
            <p:cNvPr id="22" name="타원 21">
              <a:extLst>
                <a:ext uri="{FF2B5EF4-FFF2-40B4-BE49-F238E27FC236}">
                  <a16:creationId xmlns:a16="http://schemas.microsoft.com/office/drawing/2014/main" id="{088A3955-A965-911E-DACA-1BABC48B14D3}"/>
                </a:ext>
              </a:extLst>
            </p:cNvPr>
            <p:cNvSpPr/>
            <p:nvPr/>
          </p:nvSpPr>
          <p:spPr>
            <a:xfrm>
              <a:off x="5742289" y="1981688"/>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
        <p:nvSpPr>
          <p:cNvPr id="115" name="TextBox 114">
            <a:extLst>
              <a:ext uri="{FF2B5EF4-FFF2-40B4-BE49-F238E27FC236}">
                <a16:creationId xmlns:a16="http://schemas.microsoft.com/office/drawing/2014/main" id="{580C4EA6-5796-766E-3517-85204A74F7E8}"/>
              </a:ext>
            </a:extLst>
          </p:cNvPr>
          <p:cNvSpPr txBox="1"/>
          <p:nvPr/>
        </p:nvSpPr>
        <p:spPr>
          <a:xfrm>
            <a:off x="8424180" y="2653061"/>
            <a:ext cx="1270147" cy="19581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a:t>
            </a:r>
            <a:r>
              <a:rPr kumimoji="0" lang="ko-KR" altLang="en-US" sz="800" b="0" i="0" u="none" strike="noStrike" kern="0" cap="none" spc="0" normalizeH="0" baseline="0" noProof="0">
                <a:ln>
                  <a:noFill/>
                </a:ln>
                <a:solidFill>
                  <a:prstClr val="black"/>
                </a:solidFill>
                <a:effectLst/>
                <a:uLnTx/>
                <a:uFillTx/>
                <a:latin typeface="Arial Narrow"/>
                <a:ea typeface="LG스마트체 Regular"/>
                <a:cs typeface="+mn-cs"/>
                <a:sym typeface="Wingdings"/>
              </a:rPr>
              <a:t>시스템 </a:t>
            </a:r>
            <a:r>
              <a:rPr kumimoji="0" lang="en-US" altLang="ko-KR" sz="800" b="0" i="0" u="none" strike="noStrike" kern="0" cap="none" spc="0" normalizeH="0" baseline="0" noProof="0">
                <a:ln>
                  <a:noFill/>
                </a:ln>
                <a:solidFill>
                  <a:prstClr val="black"/>
                </a:solidFill>
                <a:effectLst/>
                <a:uLnTx/>
                <a:uFillTx/>
                <a:latin typeface="Arial Narrow"/>
                <a:ea typeface="LG스마트체 Regular"/>
                <a:cs typeface="+mn-cs"/>
                <a:sym typeface="Wingdings"/>
              </a:rPr>
              <a:t>: MCS(RTD)/SPC/MES</a:t>
            </a:r>
          </a:p>
        </p:txBody>
      </p:sp>
      <p:sp>
        <p:nvSpPr>
          <p:cNvPr id="119" name="제목 3">
            <a:extLst>
              <a:ext uri="{FF2B5EF4-FFF2-40B4-BE49-F238E27FC236}">
                <a16:creationId xmlns:a16="http://schemas.microsoft.com/office/drawing/2014/main" id="{416F47A9-A69F-096B-CCCF-1BF8BBA1F734}"/>
              </a:ext>
            </a:extLst>
          </p:cNvPr>
          <p:cNvSpPr txBox="1">
            <a:spLocks/>
          </p:cNvSpPr>
          <p:nvPr/>
        </p:nvSpPr>
        <p:spPr>
          <a:xfrm>
            <a:off x="134566" y="116448"/>
            <a:ext cx="7288209" cy="369332"/>
          </a:xfrm>
          <a:prstGeom prst="rect">
            <a:avLst/>
          </a:prstGeo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square" lIns="91440" tIns="45720" rIns="91440" bIns="45720" numCol="1" rtlCol="0" anchor="ctr" anchorCtr="0" compatLnSpc="1">
            <a:prstTxWarp prst="textNoShape">
              <a:avLst/>
            </a:prstTxWarp>
            <a:spAutoFit/>
          </a:bodyPr>
          <a:lstStyle>
            <a:lvl1pPr algn="ctr" defTabSz="914400" rtl="0" eaLnBrk="1" latinLnBrk="1" hangingPunct="1">
              <a:spcBef>
                <a:spcPct val="0"/>
              </a:spcBef>
              <a:buNone/>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3.</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KPI 08</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월 진척 사항</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_L&amp;S </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수율 개선 솔루션 개발</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(2/2)_</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최적 경로 투입 기술 개발</a:t>
            </a:r>
          </a:p>
        </p:txBody>
      </p:sp>
      <p:sp>
        <p:nvSpPr>
          <p:cNvPr id="120" name="실행 단추: 홈으로 이동 119">
            <a:hlinkClick r:id="rId3" action="ppaction://hlinksldjump" highlightClick="1"/>
            <a:extLst>
              <a:ext uri="{FF2B5EF4-FFF2-40B4-BE49-F238E27FC236}">
                <a16:creationId xmlns:a16="http://schemas.microsoft.com/office/drawing/2014/main" id="{774CBEB2-6767-E41F-6F93-9E33328017FC}"/>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grpSp>
        <p:nvGrpSpPr>
          <p:cNvPr id="121" name="그룹 1">
            <a:extLst>
              <a:ext uri="{FF2B5EF4-FFF2-40B4-BE49-F238E27FC236}">
                <a16:creationId xmlns:a16="http://schemas.microsoft.com/office/drawing/2014/main" id="{C77F4EE7-D0CA-28B5-14F6-A54CED10ED76}"/>
              </a:ext>
            </a:extLst>
          </p:cNvPr>
          <p:cNvGrpSpPr/>
          <p:nvPr/>
        </p:nvGrpSpPr>
        <p:grpSpPr>
          <a:xfrm>
            <a:off x="6791923" y="1506476"/>
            <a:ext cx="105293" cy="1157041"/>
            <a:chOff x="2020628" y="1123354"/>
            <a:chExt cx="205184" cy="3466538"/>
          </a:xfrm>
        </p:grpSpPr>
        <p:grpSp>
          <p:nvGrpSpPr>
            <p:cNvPr id="122" name="그룹 2">
              <a:extLst>
                <a:ext uri="{FF2B5EF4-FFF2-40B4-BE49-F238E27FC236}">
                  <a16:creationId xmlns:a16="http://schemas.microsoft.com/office/drawing/2014/main" id="{7A211DA3-0F45-976D-BDAF-CB6838C02668}"/>
                </a:ext>
              </a:extLst>
            </p:cNvPr>
            <p:cNvGrpSpPr/>
            <p:nvPr/>
          </p:nvGrpSpPr>
          <p:grpSpPr>
            <a:xfrm>
              <a:off x="2072680" y="1578060"/>
              <a:ext cx="120667" cy="3011832"/>
              <a:chOff x="4167960" y="2510051"/>
              <a:chExt cx="120667" cy="3122206"/>
            </a:xfrm>
          </p:grpSpPr>
          <p:cxnSp>
            <p:nvCxnSpPr>
              <p:cNvPr id="125" name="직선 연결선 167">
                <a:extLst>
                  <a:ext uri="{FF2B5EF4-FFF2-40B4-BE49-F238E27FC236}">
                    <a16:creationId xmlns:a16="http://schemas.microsoft.com/office/drawing/2014/main" id="{AE30089A-7CEF-AF22-5E35-575BE879B83C}"/>
                  </a:ext>
                </a:extLst>
              </p:cNvPr>
              <p:cNvCxnSpPr>
                <a:cxnSpLocks/>
              </p:cNvCxnSpPr>
              <p:nvPr/>
            </p:nvCxnSpPr>
            <p:spPr>
              <a:xfrm>
                <a:off x="4228294" y="2685928"/>
                <a:ext cx="0" cy="2946329"/>
              </a:xfrm>
              <a:prstGeom prst="line">
                <a:avLst/>
              </a:prstGeom>
              <a:noFill/>
              <a:ln w="19050" cap="flat" cmpd="sng" algn="ctr">
                <a:solidFill>
                  <a:srgbClr val="FF0000"/>
                </a:solidFill>
                <a:prstDash val="sysDot"/>
              </a:ln>
              <a:effectLst/>
            </p:spPr>
          </p:cxnSp>
          <p:sp>
            <p:nvSpPr>
              <p:cNvPr id="126" name="이등변 삼각형 7">
                <a:extLst>
                  <a:ext uri="{FF2B5EF4-FFF2-40B4-BE49-F238E27FC236}">
                    <a16:creationId xmlns:a16="http://schemas.microsoft.com/office/drawing/2014/main" id="{633AB7BE-2EE6-6027-D8CB-70B2CAEACD44}"/>
                  </a:ext>
                </a:extLst>
              </p:cNvPr>
              <p:cNvSpPr/>
              <p:nvPr/>
            </p:nvSpPr>
            <p:spPr>
              <a:xfrm flipV="1">
                <a:off x="4167960" y="2510051"/>
                <a:ext cx="120667" cy="89074"/>
              </a:xfrm>
              <a:prstGeom prst="triangle">
                <a:avLst/>
              </a:prstGeom>
              <a:solidFill>
                <a:srgbClr val="FF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123" name="Text Box 4">
              <a:extLst>
                <a:ext uri="{FF2B5EF4-FFF2-40B4-BE49-F238E27FC236}">
                  <a16:creationId xmlns:a16="http://schemas.microsoft.com/office/drawing/2014/main" id="{DA78A2AC-1C42-9240-55AE-A029298D2C7D}"/>
                </a:ext>
              </a:extLst>
            </p:cNvPr>
            <p:cNvSpPr txBox="1">
              <a:spLocks noChangeArrowheads="1"/>
            </p:cNvSpPr>
            <p:nvPr/>
          </p:nvSpPr>
          <p:spPr bwMode="auto">
            <a:xfrm>
              <a:off x="2020628" y="1123354"/>
              <a:ext cx="205184" cy="138501"/>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rPr>
                <a:t>현재</a:t>
              </a:r>
              <a:endParaRPr kumimoji="0" lang="en-US" altLang="ko-KR"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endParaRPr>
            </a:p>
          </p:txBody>
        </p:sp>
      </p:grpSp>
      <p:sp>
        <p:nvSpPr>
          <p:cNvPr id="127" name="TextBox 126">
            <a:extLst>
              <a:ext uri="{FF2B5EF4-FFF2-40B4-BE49-F238E27FC236}">
                <a16:creationId xmlns:a16="http://schemas.microsoft.com/office/drawing/2014/main" id="{4077D5D6-9C00-CAC1-309C-914D5B2951F5}"/>
              </a:ext>
            </a:extLst>
          </p:cNvPr>
          <p:cNvSpPr txBox="1"/>
          <p:nvPr/>
        </p:nvSpPr>
        <p:spPr>
          <a:xfrm>
            <a:off x="5169023" y="3172274"/>
            <a:ext cx="4553251" cy="296620"/>
          </a:xfrm>
          <a:prstGeom prst="rect">
            <a:avLst/>
          </a:prstGeom>
          <a:noFill/>
        </p:spPr>
        <p:txBody>
          <a:bodyPr wrap="square" lIns="33231" rIns="33231" rtlCol="0">
            <a:spAutoFit/>
          </a:bodyPr>
          <a:lstStyle/>
          <a:p>
            <a:pPr marL="164127" marR="0" lvl="0" indent="-164127" algn="l" defTabSz="844083" rtl="0" eaLnBrk="1" fontAlgn="base" latinLnBrk="1" hangingPunct="1">
              <a:lnSpc>
                <a:spcPct val="12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검증 과제 </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Site </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확산 전개 </a:t>
            </a:r>
            <a:endPar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9" name="TextBox 128">
            <a:extLst>
              <a:ext uri="{FF2B5EF4-FFF2-40B4-BE49-F238E27FC236}">
                <a16:creationId xmlns:a16="http://schemas.microsoft.com/office/drawing/2014/main" id="{C82B3CE3-D5AC-6A0D-CC72-E935C47940EE}"/>
              </a:ext>
            </a:extLst>
          </p:cNvPr>
          <p:cNvSpPr txBox="1"/>
          <p:nvPr/>
        </p:nvSpPr>
        <p:spPr>
          <a:xfrm>
            <a:off x="886174" y="4494260"/>
            <a:ext cx="4324349" cy="553998"/>
          </a:xfrm>
          <a:prstGeom prst="rect">
            <a:avLst/>
          </a:prstGeom>
          <a:noFill/>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00" dirty="0">
                <a:latin typeface="Arial Narrow" panose="020B0606020202030204" pitchFamily="34" charset="0"/>
                <a:ea typeface="LG스마트체 Regular" panose="020B0600000101010101" pitchFamily="50" charset="-127"/>
              </a:rPr>
              <a:t>1) </a:t>
            </a:r>
            <a:r>
              <a:rPr kumimoji="1" lang="ko-KR" altLang="en-US" sz="1000" dirty="0">
                <a:latin typeface="Arial Narrow" panose="020B0606020202030204" pitchFamily="34" charset="0"/>
                <a:ea typeface="LG스마트체 Regular" panose="020B0600000101010101" pitchFamily="50" charset="-127"/>
              </a:rPr>
              <a:t>노칭</a:t>
            </a:r>
            <a:r>
              <a:rPr kumimoji="1" lang="en-US" altLang="ko-KR" sz="1000" dirty="0">
                <a:latin typeface="Arial Narrow" panose="020B0606020202030204" pitchFamily="34" charset="0"/>
                <a:ea typeface="LG스마트체 Regular" panose="020B0600000101010101" pitchFamily="50" charset="-127"/>
              </a:rPr>
              <a:t>(</a:t>
            </a:r>
            <a:r>
              <a:rPr kumimoji="1" lang="ko-KR" altLang="en-US" sz="1000" dirty="0">
                <a:latin typeface="Arial Narrow" panose="020B0606020202030204" pitchFamily="34" charset="0"/>
                <a:ea typeface="LG스마트체 Regular" panose="020B0600000101010101" pitchFamily="50" charset="-127"/>
              </a:rPr>
              <a:t>음극</a:t>
            </a:r>
            <a:r>
              <a:rPr kumimoji="1" lang="en-US" altLang="ko-KR" sz="1000" dirty="0">
                <a:latin typeface="Arial Narrow" panose="020B0606020202030204" pitchFamily="34" charset="0"/>
                <a:ea typeface="LG스마트체 Regular" panose="020B0600000101010101" pitchFamily="50" charset="-127"/>
              </a:rPr>
              <a:t>) NG </a:t>
            </a:r>
            <a:r>
              <a:rPr kumimoji="1" lang="ko-KR" altLang="en-US" sz="1000" dirty="0">
                <a:latin typeface="Arial Narrow" panose="020B0606020202030204" pitchFamily="34" charset="0"/>
                <a:ea typeface="LG스마트체 Regular" panose="020B0600000101010101" pitchFamily="50" charset="-127"/>
              </a:rPr>
              <a:t>마킹 多 전극 하프라미 투입</a:t>
            </a:r>
            <a:br>
              <a:rPr kumimoji="1" lang="en-US" altLang="ko-KR" sz="1000" dirty="0">
                <a:latin typeface="Arial Narrow" panose="020B0606020202030204" pitchFamily="34" charset="0"/>
                <a:ea typeface="LG스마트체 Regular" panose="020B0600000101010101" pitchFamily="50" charset="-127"/>
              </a:rPr>
            </a:br>
            <a:r>
              <a:rPr kumimoji="1" lang="en-US" altLang="ko-KR" sz="1000" dirty="0">
                <a:latin typeface="Arial Narrow" panose="020B0606020202030204" pitchFamily="34" charset="0"/>
                <a:ea typeface="LG스마트체 Regular" panose="020B0600000101010101" pitchFamily="50" charset="-127"/>
              </a:rPr>
              <a:t>       - </a:t>
            </a:r>
            <a:r>
              <a:rPr kumimoji="1" lang="en-US" altLang="ko-KR" sz="1000">
                <a:latin typeface="Arial Narrow" panose="020B0606020202030204" pitchFamily="34" charset="0"/>
                <a:ea typeface="LG스마트체 Regular" panose="020B0600000101010101" pitchFamily="50" charset="-127"/>
              </a:rPr>
              <a:t>SW</a:t>
            </a:r>
            <a:r>
              <a:rPr kumimoji="1" lang="ko-KR" altLang="en-US" sz="1000">
                <a:latin typeface="Arial Narrow" panose="020B0606020202030204" pitchFamily="34" charset="0"/>
                <a:ea typeface="LG스마트체 Regular" panose="020B0600000101010101" pitchFamily="50" charset="-127"/>
              </a:rPr>
              <a:t>적용</a:t>
            </a:r>
            <a:r>
              <a:rPr kumimoji="1" lang="en-US" altLang="ko-KR" sz="1000">
                <a:latin typeface="Arial Narrow" panose="020B0606020202030204" pitchFamily="34" charset="0"/>
                <a:ea typeface="LG스마트체 Regular" panose="020B0600000101010101" pitchFamily="50" charset="-127"/>
              </a:rPr>
              <a:t> 7/20, </a:t>
            </a:r>
            <a:r>
              <a:rPr kumimoji="1" lang="ko-KR" altLang="en-US" sz="1000">
                <a:latin typeface="Arial Narrow" panose="020B0606020202030204" pitchFamily="34" charset="0"/>
                <a:ea typeface="LG스마트체 Regular" panose="020B0600000101010101" pitchFamily="50" charset="-127"/>
              </a:rPr>
              <a:t>기능 테스트 </a:t>
            </a:r>
            <a:r>
              <a:rPr kumimoji="1" lang="en-US" altLang="ko-KR" sz="1000">
                <a:latin typeface="Arial Narrow" panose="020B0606020202030204" pitchFamily="34" charset="0"/>
                <a:ea typeface="LG스마트체 Regular" panose="020B0600000101010101" pitchFamily="50" charset="-127"/>
              </a:rPr>
              <a:t>8/6~ </a:t>
            </a:r>
            <a:r>
              <a:rPr kumimoji="1" lang="en-US" altLang="ko-KR" sz="1000" dirty="0">
                <a:latin typeface="Arial Narrow" panose="020B0606020202030204" pitchFamily="34" charset="0"/>
                <a:ea typeface="LG스마트체 Regular" panose="020B0600000101010101" pitchFamily="50" charset="-127"/>
              </a:rPr>
              <a:t>(</a:t>
            </a:r>
            <a:r>
              <a:rPr kumimoji="1" lang="ko-KR" altLang="en-US" sz="1000" dirty="0">
                <a:latin typeface="Arial Narrow" panose="020B0606020202030204" pitchFamily="34" charset="0"/>
                <a:ea typeface="LG스마트체 Regular" panose="020B0600000101010101" pitchFamily="50" charset="-127"/>
              </a:rPr>
              <a:t>진행 </a:t>
            </a:r>
            <a:r>
              <a:rPr kumimoji="1" lang="ko-KR" altLang="en-US" sz="1000">
                <a:latin typeface="Arial Narrow" panose="020B0606020202030204" pitchFamily="34" charset="0"/>
                <a:ea typeface="LG스마트체 Regular" panose="020B0600000101010101" pitchFamily="50" charset="-127"/>
              </a:rPr>
              <a:t>중</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양산 적용</a:t>
            </a:r>
            <a:r>
              <a:rPr kumimoji="1" lang="en-US" altLang="ko-KR" sz="1000">
                <a:latin typeface="Arial Narrow" panose="020B0606020202030204" pitchFamily="34" charset="0"/>
                <a:ea typeface="LG스마트체 Regular" panose="020B0600000101010101" pitchFamily="50" charset="-127"/>
              </a:rPr>
              <a:t> ~9/10, </a:t>
            </a:r>
            <a:r>
              <a:rPr kumimoji="1" lang="ko-KR" altLang="en-US" sz="1000">
                <a:latin typeface="Arial Narrow" panose="020B0606020202030204" pitchFamily="34" charset="0"/>
                <a:ea typeface="LG스마트체 Regular" panose="020B0600000101010101" pitchFamily="50" charset="-127"/>
              </a:rPr>
              <a:t>효과 산출 </a:t>
            </a:r>
            <a:r>
              <a:rPr kumimoji="1" lang="en-US" altLang="ko-KR" sz="1000">
                <a:latin typeface="Arial Narrow" panose="020B0606020202030204" pitchFamily="34" charset="0"/>
                <a:ea typeface="LG스마트체 Regular" panose="020B0600000101010101" pitchFamily="50" charset="-127"/>
              </a:rPr>
              <a:t>~9/18</a:t>
            </a:r>
            <a:br>
              <a:rPr kumimoji="1" lang="en-US" altLang="ko-KR" sz="1000">
                <a:latin typeface="Arial Narrow" panose="020B0606020202030204" pitchFamily="34" charset="0"/>
                <a:ea typeface="LG스마트체 Regular" panose="020B0600000101010101" pitchFamily="50" charset="-127"/>
              </a:rPr>
            </a:b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 기능 테스트 </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적용진행 중</a:t>
            </a:r>
            <a:endParaRPr kumimoji="1" lang="en-US" altLang="ko-KR" sz="1000" dirty="0">
              <a:latin typeface="Arial Narrow" panose="020B0606020202030204" pitchFamily="34" charset="0"/>
              <a:ea typeface="LG스마트체 Regular" panose="020B0600000101010101" pitchFamily="50" charset="-127"/>
            </a:endParaRPr>
          </a:p>
        </p:txBody>
      </p:sp>
      <p:sp>
        <p:nvSpPr>
          <p:cNvPr id="130" name="TextBox 129">
            <a:extLst>
              <a:ext uri="{FF2B5EF4-FFF2-40B4-BE49-F238E27FC236}">
                <a16:creationId xmlns:a16="http://schemas.microsoft.com/office/drawing/2014/main" id="{29FD0323-711E-B293-C324-2A2362C5DE54}"/>
              </a:ext>
            </a:extLst>
          </p:cNvPr>
          <p:cNvSpPr txBox="1"/>
          <p:nvPr/>
        </p:nvSpPr>
        <p:spPr>
          <a:xfrm>
            <a:off x="886173" y="5085184"/>
            <a:ext cx="4162689" cy="1338828"/>
          </a:xfrm>
          <a:prstGeom prst="rect">
            <a:avLst/>
          </a:prstGeom>
          <a:noFill/>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00" dirty="0">
                <a:latin typeface="Arial Narrow" panose="020B0606020202030204" pitchFamily="34" charset="0"/>
                <a:ea typeface="LG스마트체 Regular" panose="020B0600000101010101" pitchFamily="50" charset="-127"/>
              </a:rPr>
              <a:t>2) </a:t>
            </a:r>
            <a:r>
              <a:rPr kumimoji="1" lang="ko-KR" altLang="en-US" sz="1000" dirty="0">
                <a:latin typeface="Arial Narrow" panose="020B0606020202030204" pitchFamily="34" charset="0"/>
                <a:ea typeface="LG스마트체 Regular" panose="020B0600000101010101" pitchFamily="50" charset="-127"/>
              </a:rPr>
              <a:t>노칭</a:t>
            </a:r>
            <a:r>
              <a:rPr kumimoji="1" lang="en-US" altLang="ko-KR" sz="1000" dirty="0">
                <a:latin typeface="Arial Narrow" panose="020B0606020202030204" pitchFamily="34" charset="0"/>
                <a:ea typeface="LG스마트체 Regular" panose="020B0600000101010101" pitchFamily="50" charset="-127"/>
              </a:rPr>
              <a:t> </a:t>
            </a:r>
            <a:r>
              <a:rPr kumimoji="1" lang="ko-KR" altLang="en-US" sz="1000" dirty="0">
                <a:latin typeface="Arial Narrow" panose="020B0606020202030204" pitchFamily="34" charset="0"/>
                <a:ea typeface="LG스마트체 Regular" panose="020B0600000101010101" pitchFamily="50" charset="-127"/>
              </a:rPr>
              <a:t>미스매치 유사 전극 및</a:t>
            </a:r>
            <a:r>
              <a:rPr kumimoji="1" lang="en-US" altLang="ko-KR" sz="1000" dirty="0">
                <a:latin typeface="Arial Narrow" panose="020B0606020202030204" pitchFamily="34" charset="0"/>
                <a:ea typeface="LG스마트체 Regular" panose="020B0600000101010101" pitchFamily="50" charset="-127"/>
              </a:rPr>
              <a:t> Foil </a:t>
            </a:r>
            <a:r>
              <a:rPr kumimoji="1" lang="ko-KR" altLang="en-US" sz="1000" dirty="0">
                <a:latin typeface="Arial Narrow" panose="020B0606020202030204" pitchFamily="34" charset="0"/>
                <a:ea typeface="LG스마트체 Regular" panose="020B0600000101010101" pitchFamily="50" charset="-127"/>
              </a:rPr>
              <a:t>광택면 선별 투입</a:t>
            </a:r>
            <a:br>
              <a:rPr kumimoji="1" lang="en-US" altLang="ko-KR" sz="1000" dirty="0">
                <a:latin typeface="Arial Narrow" panose="020B0606020202030204" pitchFamily="34" charset="0"/>
                <a:ea typeface="LG스마트체 Regular" panose="020B0600000101010101" pitchFamily="50" charset="-127"/>
              </a:rPr>
            </a:br>
            <a:r>
              <a:rPr kumimoji="1" lang="en-US" altLang="ko-KR" sz="1000" dirty="0">
                <a:latin typeface="Arial Narrow" panose="020B0606020202030204" pitchFamily="34" charset="0"/>
                <a:ea typeface="LG스마트체 Regular" panose="020B0600000101010101" pitchFamily="50" charset="-127"/>
              </a:rPr>
              <a:t>     </a:t>
            </a:r>
            <a:r>
              <a:rPr kumimoji="1" lang="en-US" altLang="ko-KR" sz="1000">
                <a:latin typeface="Arial Narrow" panose="020B0606020202030204" pitchFamily="34" charset="0"/>
                <a:ea typeface="LG스마트체 Regular" panose="020B0600000101010101" pitchFamily="50" charset="-127"/>
              </a:rPr>
              <a:t>: WA </a:t>
            </a:r>
            <a:r>
              <a:rPr kumimoji="1" lang="ko-KR" altLang="en-US" sz="1000">
                <a:latin typeface="Arial Narrow" panose="020B0606020202030204" pitchFamily="34" charset="0"/>
                <a:ea typeface="LG스마트체 Regular" panose="020B0600000101010101" pitchFamily="50" charset="-127"/>
              </a:rPr>
              <a:t>법인과 </a:t>
            </a:r>
            <a:r>
              <a:rPr kumimoji="1" lang="en-US" altLang="ko-KR" sz="1000">
                <a:latin typeface="Arial Narrow" panose="020B0606020202030204" pitchFamily="34" charset="0"/>
                <a:ea typeface="LG스마트체 Regular" panose="020B0600000101010101" pitchFamily="50" charset="-127"/>
              </a:rPr>
              <a:t>PLC </a:t>
            </a:r>
            <a:r>
              <a:rPr kumimoji="1" lang="ko-KR" altLang="en-US" sz="1000">
                <a:latin typeface="Arial Narrow" panose="020B0606020202030204" pitchFamily="34" charset="0"/>
                <a:ea typeface="LG스마트체 Regular" panose="020B0600000101010101" pitchFamily="50" charset="-127"/>
              </a:rPr>
              <a:t>제어 혼입 모드 기능 개발 및 검증 </a:t>
            </a:r>
            <a:r>
              <a:rPr kumimoji="1" lang="en-US" altLang="ko-KR" sz="1000">
                <a:latin typeface="Arial Narrow" panose="020B0606020202030204" pitchFamily="34" charset="0"/>
                <a:ea typeface="LG스마트체 Regular" panose="020B0600000101010101" pitchFamily="50" charset="-127"/>
              </a:rPr>
              <a:t>(7/27)</a:t>
            </a:r>
            <a:br>
              <a:rPr kumimoji="1" lang="en-US" altLang="ko-KR" sz="1000">
                <a:latin typeface="Arial Narrow" panose="020B0606020202030204" pitchFamily="34" charset="0"/>
                <a:ea typeface="LG스마트체 Regular" panose="020B0600000101010101" pitchFamily="50" charset="-127"/>
              </a:rPr>
            </a:br>
            <a:r>
              <a:rPr kumimoji="1" lang="en-US" altLang="ko-KR" sz="400">
                <a:latin typeface="Arial Narrow" panose="020B0606020202030204" pitchFamily="34" charset="0"/>
                <a:ea typeface="LG스마트체 Regular" panose="020B0600000101010101" pitchFamily="50" charset="-127"/>
              </a:rPr>
              <a:t>   </a:t>
            </a:r>
            <a:endParaRPr kumimoji="1" lang="en-US" altLang="ko-KR" sz="1000">
              <a:latin typeface="Arial Narrow" panose="020B0606020202030204" pitchFamily="34" charset="0"/>
              <a:ea typeface="LG스마트체 Regular" panose="020B0600000101010101" pitchFamily="50" charset="-127"/>
            </a:endParaRPr>
          </a:p>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①</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양극</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재료교체 전</a:t>
            </a:r>
            <a:r>
              <a:rPr kumimoji="1" lang="en-US" altLang="ko-KR" sz="1000">
                <a:latin typeface="Arial Narrow" panose="020B0606020202030204" pitchFamily="34" charset="0"/>
                <a:ea typeface="LG스마트체 Regular" panose="020B0600000101010101" pitchFamily="50" charset="-127"/>
              </a:rPr>
              <a:t>/</a:t>
            </a:r>
            <a:r>
              <a:rPr kumimoji="1" lang="ko-KR" altLang="en-US" sz="1000">
                <a:latin typeface="Arial Narrow" panose="020B0606020202030204" pitchFamily="34" charset="0"/>
                <a:ea typeface="LG스마트체 Regular" panose="020B0600000101010101" pitchFamily="50" charset="-127"/>
              </a:rPr>
              <a:t>후 미스매치 값 유사 선별 투입 양산 적용 완료</a:t>
            </a:r>
            <a:r>
              <a:rPr kumimoji="1" lang="en-US" altLang="ko-KR" sz="1000">
                <a:latin typeface="Arial Narrow" panose="020B0606020202030204" pitchFamily="34" charset="0"/>
                <a:ea typeface="LG스마트체 Regular" panose="020B0600000101010101" pitchFamily="50" charset="-127"/>
              </a:rPr>
              <a:t>(8/10)</a:t>
            </a:r>
            <a:br>
              <a:rPr kumimoji="1" lang="en-US" altLang="ko-KR" sz="1000">
                <a:latin typeface="Arial Narrow" panose="020B0606020202030204" pitchFamily="34" charset="0"/>
                <a:ea typeface="LG스마트체 Regular" panose="020B0600000101010101" pitchFamily="50" charset="-127"/>
              </a:rPr>
            </a:b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 효과 </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노칭</a:t>
            </a:r>
            <a:r>
              <a:rPr kumimoji="1" lang="en-US" altLang="ko-KR" sz="1000">
                <a:latin typeface="Arial Narrow" panose="020B0606020202030204" pitchFamily="34" charset="0"/>
                <a:ea typeface="LG스마트체 Regular" panose="020B0600000101010101" pitchFamily="50" charset="-127"/>
              </a:rPr>
              <a:t>(</a:t>
            </a:r>
            <a:r>
              <a:rPr kumimoji="1" lang="ko-KR" altLang="en-US" sz="1000">
                <a:latin typeface="Arial Narrow" panose="020B0606020202030204" pitchFamily="34" charset="0"/>
                <a:ea typeface="LG스마트체 Regular" panose="020B0600000101010101" pitchFamily="50" charset="-127"/>
              </a:rPr>
              <a:t>양극</a:t>
            </a:r>
            <a:r>
              <a:rPr kumimoji="1" lang="en-US" altLang="ko-KR" sz="1000">
                <a:latin typeface="Arial Narrow" panose="020B0606020202030204" pitchFamily="34" charset="0"/>
                <a:ea typeface="LG스마트체 Regular" panose="020B0600000101010101" pitchFamily="50" charset="-127"/>
              </a:rPr>
              <a:t>) MEB </a:t>
            </a:r>
            <a:r>
              <a:rPr kumimoji="1" lang="ko-KR" altLang="en-US" sz="1000">
                <a:latin typeface="Arial Narrow" panose="020B0606020202030204" pitchFamily="34" charset="0"/>
                <a:ea typeface="LG스마트체 Regular" panose="020B0600000101010101" pitchFamily="50" charset="-127"/>
              </a:rPr>
              <a:t>라인 재료교체 구간 </a:t>
            </a:r>
            <a:r>
              <a:rPr kumimoji="1" lang="en-US" altLang="ko-KR" sz="1000">
                <a:latin typeface="Arial Narrow" panose="020B0606020202030204" pitchFamily="34" charset="0"/>
                <a:ea typeface="LG스마트체 Regular" panose="020B0600000101010101" pitchFamily="50" charset="-127"/>
              </a:rPr>
              <a:t>Cutting Height </a:t>
            </a:r>
            <a:r>
              <a:rPr kumimoji="1" lang="ko-KR" altLang="en-US" sz="1000">
                <a:latin typeface="Arial Narrow" panose="020B0606020202030204" pitchFamily="34" charset="0"/>
                <a:ea typeface="LG스마트체 Regular" panose="020B0600000101010101" pitchFamily="50" charset="-127"/>
              </a:rPr>
              <a:t>불량률 </a:t>
            </a:r>
            <a:br>
              <a:rPr kumimoji="1" lang="en-US" altLang="ko-KR" sz="1000">
                <a:latin typeface="Arial Narrow" panose="020B0606020202030204" pitchFamily="34" charset="0"/>
                <a:ea typeface="LG스마트체 Regular" panose="020B0600000101010101" pitchFamily="50" charset="-127"/>
              </a:rPr>
            </a:br>
            <a:r>
              <a:rPr kumimoji="1" lang="en-US" altLang="ko-KR" sz="1000">
                <a:latin typeface="Arial Narrow" panose="020B0606020202030204" pitchFamily="34" charset="0"/>
                <a:ea typeface="LG스마트체 Regular" panose="020B0600000101010101" pitchFamily="50" charset="-127"/>
              </a:rPr>
              <a:t>                       0.046% </a:t>
            </a:r>
            <a:r>
              <a:rPr kumimoji="1" lang="ko-KR" altLang="en-US" sz="1000">
                <a:latin typeface="Arial Narrow" panose="020B0606020202030204" pitchFamily="34" charset="0"/>
                <a:ea typeface="LG스마트체 Regular" panose="020B0600000101010101" pitchFamily="50" charset="-127"/>
              </a:rPr>
              <a:t>→ </a:t>
            </a:r>
            <a:r>
              <a:rPr kumimoji="1" lang="en-US" altLang="ko-KR" sz="1000">
                <a:latin typeface="Arial Narrow" panose="020B0606020202030204" pitchFamily="34" charset="0"/>
                <a:ea typeface="LG스마트체 Regular" panose="020B0600000101010101" pitchFamily="50" charset="-127"/>
              </a:rPr>
              <a:t>0.030%</a:t>
            </a:r>
            <a:r>
              <a:rPr kumimoji="1" lang="ko-KR" altLang="en-US" sz="1000">
                <a:latin typeface="Arial Narrow" panose="020B0606020202030204" pitchFamily="34" charset="0"/>
                <a:ea typeface="LG스마트체 Regular" panose="020B0600000101010101" pitchFamily="50" charset="-127"/>
              </a:rPr>
              <a:t> 개선</a:t>
            </a:r>
            <a:br>
              <a:rPr kumimoji="1" lang="en-US" altLang="ko-KR" sz="1000">
                <a:latin typeface="Arial Narrow" panose="020B0606020202030204" pitchFamily="34" charset="0"/>
                <a:ea typeface="LG스마트체 Regular" panose="020B0600000101010101" pitchFamily="50" charset="-127"/>
              </a:rPr>
            </a:br>
            <a:r>
              <a:rPr kumimoji="1" lang="en-US" altLang="ko-KR" sz="500">
                <a:latin typeface="Arial Narrow" panose="020B0606020202030204" pitchFamily="34" charset="0"/>
                <a:ea typeface="LG스마트체 Regular" panose="020B0600000101010101" pitchFamily="50" charset="-127"/>
              </a:rPr>
              <a:t>   </a:t>
            </a:r>
            <a:br>
              <a:rPr kumimoji="1" lang="en-US" altLang="ko-KR" sz="1000">
                <a:latin typeface="Arial Narrow" panose="020B0606020202030204" pitchFamily="34" charset="0"/>
                <a:ea typeface="LG스마트체 Regular" panose="020B0600000101010101" pitchFamily="50" charset="-127"/>
              </a:rPr>
            </a:b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②</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양</a:t>
            </a:r>
            <a:r>
              <a:rPr kumimoji="1" lang="en-US" altLang="ko-KR" sz="1000">
                <a:latin typeface="Arial Narrow" panose="020B0606020202030204" pitchFamily="34" charset="0"/>
                <a:ea typeface="LG스마트체 Regular" panose="020B0600000101010101" pitchFamily="50" charset="-127"/>
              </a:rPr>
              <a:t>/</a:t>
            </a:r>
            <a:r>
              <a:rPr kumimoji="1" lang="ko-KR" altLang="en-US" sz="1000">
                <a:latin typeface="Arial Narrow" panose="020B0606020202030204" pitchFamily="34" charset="0"/>
                <a:ea typeface="LG스마트체 Regular" panose="020B0600000101010101" pitchFamily="50" charset="-127"/>
              </a:rPr>
              <a:t>음극</a:t>
            </a:r>
            <a:r>
              <a:rPr kumimoji="1" lang="en-US" altLang="ko-KR" sz="1000">
                <a:latin typeface="Arial Narrow" panose="020B0606020202030204" pitchFamily="34" charset="0"/>
                <a:ea typeface="LG스마트체 Regular" panose="020B0600000101010101" pitchFamily="50" charset="-127"/>
              </a:rPr>
              <a:t>) Foil</a:t>
            </a:r>
            <a:r>
              <a:rPr kumimoji="1" lang="ko-KR" altLang="en-US" sz="1000">
                <a:latin typeface="Arial Narrow" panose="020B0606020202030204" pitchFamily="34" charset="0"/>
                <a:ea typeface="LG스마트체 Regular" panose="020B0600000101010101" pitchFamily="50" charset="-127"/>
              </a:rPr>
              <a:t> 광택면 선별 투입 기능 검증 진행 중</a:t>
            </a:r>
            <a:br>
              <a:rPr kumimoji="1" lang="en-US" altLang="ko-KR" sz="1000">
                <a:latin typeface="Arial Narrow" panose="020B0606020202030204" pitchFamily="34" charset="0"/>
                <a:ea typeface="LG스마트체 Regular" panose="020B0600000101010101" pitchFamily="50" charset="-127"/>
              </a:rPr>
            </a:br>
            <a:r>
              <a:rPr kumimoji="1" lang="ko-KR" altLang="en-US" sz="1000">
                <a:latin typeface="Arial Narrow" panose="020B0606020202030204" pitchFamily="34" charset="0"/>
                <a:ea typeface="LG스마트체 Regular" panose="020B0600000101010101" pitchFamily="50" charset="-127"/>
              </a:rPr>
              <a:t>           → 양극</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양산 적용</a:t>
            </a:r>
            <a:r>
              <a:rPr kumimoji="1" lang="en-US" altLang="ko-KR" sz="1000">
                <a:latin typeface="Arial Narrow" panose="020B0606020202030204" pitchFamily="34" charset="0"/>
                <a:ea typeface="LG스마트체 Regular" panose="020B0600000101010101" pitchFamily="50" charset="-127"/>
              </a:rPr>
              <a:t>(8/19) </a:t>
            </a:r>
            <a:r>
              <a:rPr kumimoji="1" lang="ko-KR" altLang="en-US" sz="1000">
                <a:latin typeface="Arial Narrow" panose="020B0606020202030204" pitchFamily="34" charset="0"/>
                <a:ea typeface="LG스마트체 Regular" panose="020B0600000101010101" pitchFamily="50" charset="-127"/>
              </a:rPr>
              <a:t>후 음극</a:t>
            </a:r>
            <a:r>
              <a:rPr kumimoji="1" lang="en-US" altLang="ko-KR" sz="1000">
                <a:latin typeface="Arial Narrow" panose="020B0606020202030204" pitchFamily="34" charset="0"/>
                <a:ea typeface="LG스마트체 Regular" panose="020B0600000101010101" pitchFamily="50" charset="-127"/>
              </a:rPr>
              <a:t> </a:t>
            </a:r>
            <a:r>
              <a:rPr kumimoji="1" lang="ko-KR" altLang="en-US" sz="1000">
                <a:latin typeface="Arial Narrow" panose="020B0606020202030204" pitchFamily="34" charset="0"/>
                <a:ea typeface="LG스마트체 Regular" panose="020B0600000101010101" pitchFamily="50" charset="-127"/>
              </a:rPr>
              <a:t>적용 예정</a:t>
            </a:r>
            <a:r>
              <a:rPr kumimoji="1" lang="en-US" altLang="ko-KR" sz="1000">
                <a:latin typeface="Arial Narrow" panose="020B0606020202030204" pitchFamily="34" charset="0"/>
                <a:ea typeface="LG스마트체 Regular" panose="020B0600000101010101" pitchFamily="50" charset="-127"/>
              </a:rPr>
              <a:t>(9/30)</a:t>
            </a:r>
            <a:endParaRPr kumimoji="1" lang="en-US" altLang="ko-KR" sz="1000" dirty="0">
              <a:latin typeface="Arial Narrow" panose="020B0606020202030204" pitchFamily="34" charset="0"/>
              <a:ea typeface="LG스마트체 Regular" panose="020B0600000101010101" pitchFamily="50" charset="-127"/>
            </a:endParaRPr>
          </a:p>
        </p:txBody>
      </p:sp>
      <p:sp>
        <p:nvSpPr>
          <p:cNvPr id="134" name="TextBox 133">
            <a:extLst>
              <a:ext uri="{FF2B5EF4-FFF2-40B4-BE49-F238E27FC236}">
                <a16:creationId xmlns:a16="http://schemas.microsoft.com/office/drawing/2014/main" id="{6AC58D53-8A66-F326-2B37-C7815F18C30D}"/>
              </a:ext>
            </a:extLst>
          </p:cNvPr>
          <p:cNvSpPr txBox="1"/>
          <p:nvPr/>
        </p:nvSpPr>
        <p:spPr>
          <a:xfrm>
            <a:off x="5138481" y="3452267"/>
            <a:ext cx="4702201" cy="430887"/>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 ESMI </a:t>
            </a:r>
            <a:r>
              <a:rPr kumimoji="1" lang="ko-KR" altLang="en-US"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수평전개</a:t>
            </a:r>
            <a:b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ko-KR" altLang="en-US"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WA </a:t>
            </a:r>
            <a:r>
              <a:rPr kumimoji="1" lang="ko-KR" altLang="en-US"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검증 과제 </a:t>
            </a:r>
            <a: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3</a:t>
            </a:r>
            <a:r>
              <a:rPr kumimoji="1" lang="ko-KR" altLang="en-US"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건 </a:t>
            </a:r>
            <a: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ko-KR" altLang="en-US"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신규 과제 </a:t>
            </a:r>
            <a:r>
              <a:rPr kumimoji="1" lang="en-US" altLang="ko-KR"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1</a:t>
            </a:r>
            <a:r>
              <a:rPr kumimoji="1" lang="ko-KR" altLang="en-US" sz="11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건 확산 </a:t>
            </a:r>
            <a:r>
              <a:rPr kumimoji="1" lang="ko-KR" altLang="en-US" sz="1100" b="0" i="0" u="none" strike="noStrike" kern="1200" cap="none" spc="0" normalizeH="0" baseline="0" noProof="0">
                <a:ln>
                  <a:noFill/>
                </a:ln>
                <a:effectLst/>
                <a:uLnTx/>
                <a:uFillTx/>
                <a:latin typeface="Arial Narrow" panose="020B0606020202030204" pitchFamily="34" charset="0"/>
                <a:ea typeface="LG스마트체 Regular" panose="020B0600000101010101" pitchFamily="50" charset="-127"/>
                <a:cs typeface="+mn-cs"/>
              </a:rPr>
              <a:t>전개 진행</a:t>
            </a:r>
            <a:r>
              <a:rPr kumimoji="1" lang="en-US" altLang="ko-KR" sz="1100" b="0" i="0" u="none" strike="noStrike" kern="1200" cap="none" spc="0" normalizeH="0" baseline="0" noProof="0">
                <a:ln>
                  <a:noFill/>
                </a:ln>
                <a:effectLst/>
                <a:uLnTx/>
                <a:uFillTx/>
                <a:latin typeface="Arial Narrow" panose="020B0606020202030204" pitchFamily="34" charset="0"/>
                <a:ea typeface="LG스마트체 Regular" panose="020B0600000101010101" pitchFamily="50" charset="-127"/>
                <a:cs typeface="+mn-cs"/>
              </a:rPr>
              <a:t>(~10</a:t>
            </a:r>
            <a:r>
              <a:rPr kumimoji="1" lang="ko-KR" altLang="en-US" sz="1100" b="0" i="0" u="none" strike="noStrike" kern="1200" cap="none" spc="0" normalizeH="0" baseline="0" noProof="0">
                <a:ln>
                  <a:noFill/>
                </a:ln>
                <a:effectLst/>
                <a:uLnTx/>
                <a:uFillTx/>
                <a:latin typeface="Arial Narrow" panose="020B0606020202030204" pitchFamily="34" charset="0"/>
                <a:ea typeface="LG스마트체 Regular" panose="020B0600000101010101" pitchFamily="50" charset="-127"/>
                <a:cs typeface="+mn-cs"/>
              </a:rPr>
              <a:t>월</a:t>
            </a:r>
            <a:r>
              <a:rPr kumimoji="1" lang="en-US" altLang="ko-KR" sz="1100" b="0" i="0" u="none" strike="noStrike" kern="1200" cap="none" spc="0" normalizeH="0" baseline="0" noProof="0">
                <a:ln>
                  <a:noFill/>
                </a:ln>
                <a:effectLst/>
                <a:uLnTx/>
                <a:uFillTx/>
                <a:latin typeface="Arial Narrow" panose="020B0606020202030204" pitchFamily="34" charset="0"/>
                <a:ea typeface="LG스마트체 Regular" panose="020B0600000101010101" pitchFamily="50" charset="-127"/>
                <a:cs typeface="+mn-cs"/>
              </a:rPr>
              <a:t>)</a:t>
            </a:r>
            <a:endParaRPr kumimoji="1" lang="en-US" altLang="ko-KR" sz="1000" dirty="0">
              <a:latin typeface="Arial Narrow" panose="020B0606020202030204" pitchFamily="34" charset="0"/>
              <a:ea typeface="LG스마트체 Regular" panose="020B0600000101010101" pitchFamily="50" charset="-127"/>
            </a:endParaRPr>
          </a:p>
        </p:txBody>
      </p:sp>
      <p:graphicFrame>
        <p:nvGraphicFramePr>
          <p:cNvPr id="135" name="표 134">
            <a:extLst>
              <a:ext uri="{FF2B5EF4-FFF2-40B4-BE49-F238E27FC236}">
                <a16:creationId xmlns:a16="http://schemas.microsoft.com/office/drawing/2014/main" id="{6E87CE6B-A967-446A-A1BD-515EF21080AD}"/>
              </a:ext>
            </a:extLst>
          </p:cNvPr>
          <p:cNvGraphicFramePr>
            <a:graphicFrameLocks noGrp="1"/>
          </p:cNvGraphicFramePr>
          <p:nvPr>
            <p:extLst>
              <p:ext uri="{D42A27DB-BD31-4B8C-83A1-F6EECF244321}">
                <p14:modId xmlns:p14="http://schemas.microsoft.com/office/powerpoint/2010/main" val="4159983502"/>
              </p:ext>
            </p:extLst>
          </p:nvPr>
        </p:nvGraphicFramePr>
        <p:xfrm>
          <a:off x="5357319" y="3931546"/>
          <a:ext cx="4324343" cy="925195"/>
        </p:xfrm>
        <a:graphic>
          <a:graphicData uri="http://schemas.openxmlformats.org/drawingml/2006/table">
            <a:tbl>
              <a:tblPr firstRow="1" bandRow="1">
                <a:tableStyleId>{5C22544A-7EE6-4342-B048-85BDC9FD1C3A}</a:tableStyleId>
              </a:tblPr>
              <a:tblGrid>
                <a:gridCol w="1690784">
                  <a:extLst>
                    <a:ext uri="{9D8B030D-6E8A-4147-A177-3AD203B41FA5}">
                      <a16:colId xmlns:a16="http://schemas.microsoft.com/office/drawing/2014/main" val="1890253673"/>
                    </a:ext>
                  </a:extLst>
                </a:gridCol>
                <a:gridCol w="946910">
                  <a:extLst>
                    <a:ext uri="{9D8B030D-6E8A-4147-A177-3AD203B41FA5}">
                      <a16:colId xmlns:a16="http://schemas.microsoft.com/office/drawing/2014/main" val="1418498087"/>
                    </a:ext>
                  </a:extLst>
                </a:gridCol>
                <a:gridCol w="535590">
                  <a:extLst>
                    <a:ext uri="{9D8B030D-6E8A-4147-A177-3AD203B41FA5}">
                      <a16:colId xmlns:a16="http://schemas.microsoft.com/office/drawing/2014/main" val="324038134"/>
                    </a:ext>
                  </a:extLst>
                </a:gridCol>
                <a:gridCol w="1151059">
                  <a:extLst>
                    <a:ext uri="{9D8B030D-6E8A-4147-A177-3AD203B41FA5}">
                      <a16:colId xmlns:a16="http://schemas.microsoft.com/office/drawing/2014/main" val="2966352751"/>
                    </a:ext>
                  </a:extLst>
                </a:gridCol>
              </a:tblGrid>
              <a:tr h="163195">
                <a:tc gridSpan="2">
                  <a:txBody>
                    <a:bodyPr/>
                    <a:lstStyle/>
                    <a:p>
                      <a:pPr algn="ctr" latinLnBrk="1"/>
                      <a:r>
                        <a:rPr lang="ko-KR" altLang="en-US" sz="1000" dirty="0">
                          <a:solidFill>
                            <a:schemeClr val="tx1"/>
                          </a:solidFill>
                          <a:latin typeface="LG스마트체 Regular" panose="020B0600000101010101" pitchFamily="50" charset="-127"/>
                          <a:ea typeface="LG스마트체 Regular" panose="020B0600000101010101" pitchFamily="50" charset="-127"/>
                        </a:rPr>
                        <a:t>선별투입 대상</a:t>
                      </a:r>
                      <a:r>
                        <a:rPr lang="en-US" altLang="ko-KR" sz="1000" dirty="0">
                          <a:solidFill>
                            <a:schemeClr val="tx1"/>
                          </a:solidFill>
                          <a:latin typeface="LG스마트체 Regular" panose="020B0600000101010101" pitchFamily="50" charset="-127"/>
                          <a:ea typeface="LG스마트체 Regular" panose="020B0600000101010101" pitchFamily="50" charset="-127"/>
                        </a:rPr>
                        <a:t>/</a:t>
                      </a:r>
                      <a:r>
                        <a:rPr lang="ko-KR" altLang="en-US" sz="1000" dirty="0">
                          <a:solidFill>
                            <a:schemeClr val="tx1"/>
                          </a:solidFill>
                          <a:latin typeface="LG스마트체 Regular" panose="020B0600000101010101" pitchFamily="50" charset="-127"/>
                          <a:ea typeface="LG스마트체 Regular" panose="020B0600000101010101" pitchFamily="50" charset="-127"/>
                        </a:rPr>
                        <a:t>인자</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000" dirty="0">
                          <a:solidFill>
                            <a:schemeClr val="tx1"/>
                          </a:solidFill>
                          <a:latin typeface="LG스마트체 Regular" panose="020B0600000101010101" pitchFamily="50" charset="-127"/>
                          <a:ea typeface="LG스마트체 Regular" panose="020B0600000101010101" pitchFamily="50" charset="-127"/>
                        </a:rPr>
                        <a:t>투입공정</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dirty="0">
                          <a:solidFill>
                            <a:schemeClr val="tx1"/>
                          </a:solidFill>
                          <a:latin typeface="LG스마트체 Regular" panose="020B0600000101010101" pitchFamily="50" charset="-127"/>
                          <a:ea typeface="LG스마트체 Regular" panose="020B0600000101010101" pitchFamily="50" charset="-127"/>
                        </a:rPr>
                        <a:t>기대 효과</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77799220"/>
                  </a:ext>
                </a:extLst>
              </a:tr>
              <a:tr h="0">
                <a:tc>
                  <a:txBody>
                    <a:bodyPr/>
                    <a:lstStyle/>
                    <a:p>
                      <a:pPr algn="ctr" latinLnBrk="1"/>
                      <a:r>
                        <a:rPr lang="ko-KR" altLang="en-US" sz="1000" dirty="0">
                          <a:solidFill>
                            <a:schemeClr val="tx1"/>
                          </a:solidFill>
                          <a:latin typeface="LG스마트체 Regular" panose="020B0600000101010101" pitchFamily="50" charset="-127"/>
                          <a:ea typeface="LG스마트체 Regular" panose="020B0600000101010101" pitchFamily="50" charset="-127"/>
                        </a:rPr>
                        <a:t>노칭</a:t>
                      </a:r>
                      <a:r>
                        <a:rPr lang="en-US" altLang="ko-KR" sz="1000" dirty="0">
                          <a:solidFill>
                            <a:schemeClr val="tx1"/>
                          </a:solidFill>
                          <a:latin typeface="LG스마트체 Regular" panose="020B0600000101010101" pitchFamily="50" charset="-127"/>
                          <a:ea typeface="LG스마트체 Regular" panose="020B0600000101010101" pitchFamily="50" charset="-127"/>
                        </a:rPr>
                        <a:t>(</a:t>
                      </a:r>
                      <a:r>
                        <a:rPr lang="ko-KR" altLang="en-US" sz="1000" dirty="0">
                          <a:solidFill>
                            <a:schemeClr val="tx1"/>
                          </a:solidFill>
                          <a:latin typeface="LG스마트체 Regular" panose="020B0600000101010101" pitchFamily="50" charset="-127"/>
                          <a:ea typeface="LG스마트체 Regular" panose="020B0600000101010101" pitchFamily="50" charset="-127"/>
                        </a:rPr>
                        <a:t>음극</a:t>
                      </a:r>
                      <a:r>
                        <a:rPr lang="en-US" altLang="ko-KR" sz="1000" dirty="0">
                          <a:solidFill>
                            <a:schemeClr val="tx1"/>
                          </a:solidFill>
                          <a:latin typeface="LG스마트체 Regular" panose="020B0600000101010101" pitchFamily="50" charset="-127"/>
                          <a:ea typeface="LG스마트체 Regular" panose="020B0600000101010101" pitchFamily="50" charset="-127"/>
                        </a:rPr>
                        <a:t>)</a:t>
                      </a:r>
                      <a:r>
                        <a:rPr lang="ko-KR" altLang="en-US" sz="1000" dirty="0">
                          <a:solidFill>
                            <a:schemeClr val="tx1"/>
                          </a:solidFill>
                          <a:latin typeface="LG스마트체 Regular" panose="020B0600000101010101" pitchFamily="50" charset="-127"/>
                          <a:ea typeface="LG스마트체 Regular" panose="020B0600000101010101" pitchFamily="50" charset="-127"/>
                        </a:rPr>
                        <a:t> </a:t>
                      </a:r>
                      <a:r>
                        <a:rPr lang="en-US" altLang="ko-KR" sz="1000" dirty="0">
                          <a:solidFill>
                            <a:schemeClr val="tx1"/>
                          </a:solidFill>
                          <a:latin typeface="LG스마트체 Regular" panose="020B0600000101010101" pitchFamily="50" charset="-127"/>
                          <a:ea typeface="LG스마트체 Regular" panose="020B0600000101010101" pitchFamily="50" charset="-127"/>
                        </a:rPr>
                        <a:t>NG</a:t>
                      </a:r>
                      <a:r>
                        <a:rPr lang="ko-KR" altLang="en-US" sz="1000" dirty="0">
                          <a:solidFill>
                            <a:schemeClr val="tx1"/>
                          </a:solidFill>
                          <a:latin typeface="LG스마트체 Regular" panose="020B0600000101010101" pitchFamily="50" charset="-127"/>
                          <a:ea typeface="LG스마트체 Regular" panose="020B0600000101010101" pitchFamily="50" charset="-127"/>
                        </a:rPr>
                        <a:t>마킹 多 </a:t>
                      </a:r>
                      <a:r>
                        <a:rPr lang="en-US" altLang="ko-KR" sz="1000" dirty="0">
                          <a:solidFill>
                            <a:schemeClr val="tx1"/>
                          </a:solidFill>
                          <a:latin typeface="LG스마트체 Regular" panose="020B0600000101010101" pitchFamily="50" charset="-127"/>
                          <a:ea typeface="LG스마트체 Regular" panose="020B0600000101010101" pitchFamily="50" charset="-127"/>
                        </a:rPr>
                        <a:t>Lot</a:t>
                      </a:r>
                      <a:endParaRPr lang="ko-KR" altLang="en-US" sz="10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1000">
                          <a:solidFill>
                            <a:schemeClr val="tx1"/>
                          </a:solidFill>
                          <a:latin typeface="LG스마트체 Regular" panose="020B0600000101010101" pitchFamily="50" charset="-127"/>
                          <a:ea typeface="LG스마트체 Regular" panose="020B0600000101010101" pitchFamily="50" charset="-127"/>
                        </a:rPr>
                        <a:t>NG</a:t>
                      </a:r>
                      <a:r>
                        <a:rPr lang="ko-KR" altLang="en-US" sz="1000">
                          <a:solidFill>
                            <a:schemeClr val="tx1"/>
                          </a:solidFill>
                          <a:latin typeface="LG스마트체 Regular" panose="020B0600000101010101" pitchFamily="50" charset="-127"/>
                          <a:ea typeface="LG스마트체 Regular" panose="020B0600000101010101" pitchFamily="50" charset="-127"/>
                        </a:rPr>
                        <a:t>마킹 수량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a:solidFill>
                            <a:schemeClr val="tx1"/>
                          </a:solidFill>
                          <a:latin typeface="LG스마트체 Regular" panose="020B0600000101010101" pitchFamily="50" charset="-127"/>
                          <a:ea typeface="LG스마트체 Regular" panose="020B0600000101010101" pitchFamily="50" charset="-127"/>
                        </a:rPr>
                        <a:t>하프라미</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a:solidFill>
                            <a:schemeClr val="tx1"/>
                          </a:solidFill>
                          <a:latin typeface="LG스마트체 Regular" panose="020B0600000101010101" pitchFamily="50" charset="-127"/>
                          <a:ea typeface="LG스마트체 Regular" panose="020B0600000101010101" pitchFamily="50" charset="-127"/>
                        </a:rPr>
                        <a:t>양극로스</a:t>
                      </a:r>
                      <a:r>
                        <a:rPr lang="en-US" altLang="ko-KR" sz="1000">
                          <a:solidFill>
                            <a:schemeClr val="tx1"/>
                          </a:solidFill>
                          <a:latin typeface="LG스마트체 Regular" panose="020B0600000101010101" pitchFamily="50" charset="-127"/>
                          <a:ea typeface="LG스마트체 Regular" panose="020B0600000101010101" pitchFamily="50" charset="-127"/>
                        </a:rPr>
                        <a:t> </a:t>
                      </a:r>
                      <a:r>
                        <a:rPr lang="ko-KR" altLang="en-US" sz="1000">
                          <a:solidFill>
                            <a:schemeClr val="tx1"/>
                          </a:solidFill>
                          <a:latin typeface="LG스마트체 Regular" panose="020B0600000101010101" pitchFamily="50" charset="-127"/>
                          <a:ea typeface="LG스마트체 Regular" panose="020B0600000101010101" pitchFamily="50" charset="-127"/>
                        </a:rPr>
                        <a:t>개선</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3159596"/>
                  </a:ext>
                </a:extLst>
              </a:tr>
              <a:tr h="0">
                <a:tc>
                  <a:txBody>
                    <a:bodyPr/>
                    <a:lstStyle/>
                    <a:p>
                      <a:pPr marL="0" algn="ctr" defTabSz="914400" rtl="0" eaLnBrk="1" latinLnBrk="1" hangingPunct="1"/>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코터 </a:t>
                      </a:r>
                      <a:r>
                        <a:rPr lang="en-US" altLang="ko-KR" sz="1000" kern="1200" dirty="0">
                          <a:solidFill>
                            <a:schemeClr val="tx1"/>
                          </a:solidFill>
                          <a:latin typeface="LG스마트체 Regular" panose="020B0600000101010101" pitchFamily="50" charset="-127"/>
                          <a:ea typeface="LG스마트체 Regular" panose="020B0600000101010101" pitchFamily="50" charset="-127"/>
                          <a:cs typeface="+mn-cs"/>
                        </a:rPr>
                        <a:t>Foil Shine</a:t>
                      </a:r>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면</a:t>
                      </a:r>
                      <a:r>
                        <a:rPr lang="en-US" altLang="ko-KR" sz="1000" kern="1200" dirty="0">
                          <a:solidFill>
                            <a:schemeClr val="tx1"/>
                          </a:solidFill>
                          <a:latin typeface="LG스마트체 Regular" panose="020B0600000101010101" pitchFamily="50" charset="-127"/>
                          <a:ea typeface="LG스마트체 Regular" panose="020B0600000101010101" pitchFamily="50" charset="-127"/>
                          <a:cs typeface="+mn-cs"/>
                        </a:rPr>
                        <a:t>(TOP </a:t>
                      </a:r>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코팅</a:t>
                      </a:r>
                      <a:r>
                        <a:rPr lang="en-US" altLang="ko-KR" sz="1000" kern="1200" dirty="0">
                          <a:solidFill>
                            <a:schemeClr val="tx1"/>
                          </a:solidFill>
                          <a:latin typeface="LG스마트체 Regular" panose="020B0600000101010101" pitchFamily="50" charset="-127"/>
                          <a:ea typeface="LG스마트체 Regular" panose="020B0600000101010101" pitchFamily="50" charset="-127"/>
                          <a:cs typeface="+mn-cs"/>
                        </a:rPr>
                        <a:t>)</a:t>
                      </a:r>
                      <a:endPar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1000" kern="1200" dirty="0">
                          <a:solidFill>
                            <a:schemeClr val="tx1"/>
                          </a:solidFill>
                          <a:latin typeface="LG스마트체 Regular" panose="020B0600000101010101" pitchFamily="50" charset="-127"/>
                          <a:ea typeface="LG스마트체 Regular" panose="020B0600000101010101" pitchFamily="50" charset="-127"/>
                          <a:cs typeface="+mn-cs"/>
                        </a:rPr>
                        <a:t>Foil </a:t>
                      </a:r>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광택 정보</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노칭</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불량률 개선</a:t>
                      </a:r>
                      <a:endParaRPr lang="en-US" altLang="ko-KR" sz="1000" kern="1200" dirty="0">
                        <a:solidFill>
                          <a:schemeClr val="tx1"/>
                        </a:solidFill>
                        <a:latin typeface="LG스마트체 Regular" panose="020B0600000101010101" pitchFamily="50" charset="-127"/>
                        <a:ea typeface="LG스마트체 Regular" panose="020B0600000101010101" pitchFamily="50" charset="-127"/>
                        <a:cs typeface="+mn-cs"/>
                      </a:endParaRPr>
                    </a:p>
                    <a:p>
                      <a:pPr algn="ctr" latinLnBrk="1"/>
                      <a:r>
                        <a:rPr lang="ko-KR" altLang="en-US" sz="1000" kern="1200" dirty="0">
                          <a:solidFill>
                            <a:schemeClr val="tx1"/>
                          </a:solidFill>
                          <a:latin typeface="LG스마트체 Regular" panose="020B0600000101010101" pitchFamily="50" charset="-127"/>
                          <a:ea typeface="LG스마트체 Regular" panose="020B0600000101010101" pitchFamily="50" charset="-127"/>
                          <a:cs typeface="+mn-cs"/>
                        </a:rPr>
                        <a:t>작업자 효율 개선</a:t>
                      </a:r>
                      <a:endParaRPr lang="ko-KR" altLang="en-US" sz="10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912227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a:solidFill>
                            <a:schemeClr val="tx1"/>
                          </a:solidFill>
                          <a:latin typeface="LG스마트체 Regular" panose="020B0600000101010101" pitchFamily="50" charset="-127"/>
                          <a:ea typeface="LG스마트체 Regular" panose="020B0600000101010101" pitchFamily="50" charset="-127"/>
                        </a:rPr>
                        <a:t>전극 미스매치 치수 유사 전극</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a:solidFill>
                            <a:schemeClr val="tx1"/>
                          </a:solidFill>
                          <a:latin typeface="LG스마트체 Regular" panose="020B0600000101010101" pitchFamily="50" charset="-127"/>
                          <a:ea typeface="LG스마트체 Regular" panose="020B0600000101010101" pitchFamily="50" charset="-127"/>
                        </a:rPr>
                        <a:t>미스매치 평균값</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dirty="0">
                          <a:solidFill>
                            <a:schemeClr val="tx1"/>
                          </a:solidFill>
                          <a:latin typeface="LG스마트체 Regular" panose="020B0600000101010101" pitchFamily="50" charset="-127"/>
                          <a:ea typeface="LG스마트체 Regular" panose="020B0600000101010101" pitchFamily="50" charset="-127"/>
                        </a:rPr>
                        <a:t>노칭</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a:solidFill>
                            <a:schemeClr val="tx1"/>
                          </a:solidFill>
                          <a:latin typeface="LG스마트체 Regular" panose="020B0600000101010101" pitchFamily="50" charset="-127"/>
                          <a:ea typeface="LG스마트체 Regular" panose="020B0600000101010101" pitchFamily="50" charset="-127"/>
                        </a:rPr>
                        <a:t>어깨선 불량률 개선</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816150"/>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LG스마트체 Regular" panose="020B0600000101010101" pitchFamily="50" charset="-127"/>
                          <a:ea typeface="LG스마트체 Regular" panose="020B0600000101010101" pitchFamily="50" charset="-127"/>
                        </a:rPr>
                        <a:t>SCRAP </a:t>
                      </a:r>
                      <a:r>
                        <a:rPr lang="ko-KR" altLang="en-US" sz="1000" dirty="0">
                          <a:solidFill>
                            <a:schemeClr val="tx1"/>
                          </a:solidFill>
                          <a:latin typeface="LG스마트체 Regular" panose="020B0600000101010101" pitchFamily="50" charset="-127"/>
                          <a:ea typeface="LG스마트체 Regular" panose="020B0600000101010101" pitchFamily="50" charset="-127"/>
                        </a:rPr>
                        <a:t>이력 전극 </a:t>
                      </a:r>
                      <a:r>
                        <a:rPr lang="en-US" altLang="ko-KR" sz="1000" dirty="0">
                          <a:solidFill>
                            <a:schemeClr val="tx1"/>
                          </a:solidFill>
                          <a:latin typeface="LG스마트체 Regular" panose="020B0600000101010101" pitchFamily="50" charset="-127"/>
                          <a:ea typeface="LG스마트체 Regular" panose="020B0600000101010101" pitchFamily="50" charset="-127"/>
                        </a:rPr>
                        <a:t>(</a:t>
                      </a:r>
                      <a:r>
                        <a:rPr lang="ko-KR" altLang="en-US" sz="1000" dirty="0">
                          <a:solidFill>
                            <a:schemeClr val="tx1"/>
                          </a:solidFill>
                          <a:latin typeface="LG스마트체 Regular" panose="020B0600000101010101" pitchFamily="50" charset="-127"/>
                          <a:ea typeface="LG스마트체 Regular" panose="020B0600000101010101" pitchFamily="50" charset="-127"/>
                        </a:rPr>
                        <a:t>신규</a:t>
                      </a:r>
                      <a:r>
                        <a:rPr lang="en-US" altLang="ko-KR" sz="1000" dirty="0">
                          <a:solidFill>
                            <a:schemeClr val="tx1"/>
                          </a:solidFill>
                          <a:latin typeface="LG스마트체 Regular" panose="020B0600000101010101" pitchFamily="50" charset="-127"/>
                          <a:ea typeface="LG스마트체 Regular" panose="020B0600000101010101" pitchFamily="50" charset="-127"/>
                        </a:rPr>
                        <a:t>)</a:t>
                      </a:r>
                      <a:endParaRPr lang="ko-KR" altLang="en-US" sz="10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LG스마트체 Regular" panose="020B0600000101010101" pitchFamily="50" charset="-127"/>
                          <a:ea typeface="LG스마트체 Regular" panose="020B0600000101010101" pitchFamily="50" charset="-127"/>
                        </a:rPr>
                        <a:t>SCRAP </a:t>
                      </a:r>
                      <a:r>
                        <a:rPr lang="ko-KR" altLang="en-US" sz="1000" dirty="0">
                          <a:solidFill>
                            <a:schemeClr val="tx1"/>
                          </a:solidFill>
                          <a:latin typeface="LG스마트체 Regular" panose="020B0600000101010101" pitchFamily="50" charset="-127"/>
                          <a:ea typeface="LG스마트체 Regular" panose="020B0600000101010101" pitchFamily="50" charset="-127"/>
                        </a:rPr>
                        <a:t>이력</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dirty="0">
                          <a:solidFill>
                            <a:schemeClr val="tx1"/>
                          </a:solidFill>
                          <a:latin typeface="LG스마트체 Regular" panose="020B0600000101010101" pitchFamily="50" charset="-127"/>
                          <a:ea typeface="LG스마트체 Regular" panose="020B0600000101010101" pitchFamily="50" charset="-127"/>
                        </a:rPr>
                        <a:t>노칭</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dirty="0">
                          <a:solidFill>
                            <a:schemeClr val="tx1"/>
                          </a:solidFill>
                          <a:latin typeface="LG스마트체 Regular" panose="020B0600000101010101" pitchFamily="50" charset="-127"/>
                          <a:ea typeface="LG스마트체 Regular" panose="020B0600000101010101" pitchFamily="50" charset="-127"/>
                        </a:rPr>
                        <a:t>작업자 효율 개선</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51523478"/>
                  </a:ext>
                </a:extLst>
              </a:tr>
            </a:tbl>
          </a:graphicData>
        </a:graphic>
      </p:graphicFrame>
      <p:sp>
        <p:nvSpPr>
          <p:cNvPr id="139" name="TextBox 138">
            <a:extLst>
              <a:ext uri="{FF2B5EF4-FFF2-40B4-BE49-F238E27FC236}">
                <a16:creationId xmlns:a16="http://schemas.microsoft.com/office/drawing/2014/main" id="{A3BAEF2A-640A-FF32-F709-7C49C1950076}"/>
              </a:ext>
            </a:extLst>
          </p:cNvPr>
          <p:cNvSpPr txBox="1"/>
          <p:nvPr/>
        </p:nvSpPr>
        <p:spPr>
          <a:xfrm>
            <a:off x="5689323" y="4838848"/>
            <a:ext cx="3777243" cy="534368"/>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ㄴ </a:t>
            </a:r>
            <a:r>
              <a:rPr kumimoji="0" lang="en-US" altLang="ko-KR" sz="1000" b="0" i="0" u="none" strike="noStrike" kern="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(MI</a:t>
            </a:r>
            <a:r>
              <a:rPr kumimoji="0" lang="ko-KR" altLang="en-US" sz="1000" b="0" i="0" u="none" strike="noStrike" kern="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a:rPr>
              <a:t>법인 </a:t>
            </a:r>
            <a:r>
              <a:rPr lang="ko-KR" altLang="en-US" sz="1000" dirty="0">
                <a:solidFill>
                  <a:srgbClr val="006600"/>
                </a:solidFill>
                <a:sym typeface="Wingdings"/>
              </a:rPr>
              <a:t>추가 요청 사항</a:t>
            </a:r>
            <a:r>
              <a:rPr lang="en-US" altLang="ko-KR" sz="1000" dirty="0">
                <a:solidFill>
                  <a:srgbClr val="006600"/>
                </a:solidFill>
                <a:sym typeface="Wingdings"/>
              </a:rPr>
              <a:t>)</a:t>
            </a:r>
            <a:br>
              <a:rPr lang="en-US" altLang="ko-KR" sz="1000" dirty="0">
                <a:solidFill>
                  <a:srgbClr val="006600"/>
                </a:solidFill>
                <a:sym typeface="Wingdings"/>
              </a:rPr>
            </a:br>
            <a:r>
              <a:rPr lang="en-US" altLang="ko-KR" sz="1000" dirty="0">
                <a:solidFill>
                  <a:srgbClr val="006600"/>
                </a:solidFill>
                <a:sym typeface="Wingdings"/>
              </a:rPr>
              <a:t>    </a:t>
            </a:r>
            <a:r>
              <a:rPr lang="ko-KR" altLang="en-US" sz="1000" dirty="0">
                <a:solidFill>
                  <a:srgbClr val="006600"/>
                </a:solidFill>
                <a:sym typeface="Wingdings"/>
              </a:rPr>
              <a:t>노칭 이음매로 인한 불량 대응을 능숙한 작업자가 있는 호기로 집중 투입</a:t>
            </a:r>
            <a:br>
              <a:rPr lang="en-US" altLang="ko-KR" sz="1000" dirty="0">
                <a:solidFill>
                  <a:srgbClr val="006600"/>
                </a:solidFill>
                <a:sym typeface="Wingdings"/>
              </a:rPr>
            </a:br>
            <a:r>
              <a:rPr lang="en-US" altLang="ko-KR" sz="1000" dirty="0">
                <a:solidFill>
                  <a:srgbClr val="006600"/>
                </a:solidFill>
                <a:sym typeface="Wingdings"/>
              </a:rPr>
              <a:t>    </a:t>
            </a:r>
            <a:r>
              <a:rPr lang="ko-KR" altLang="en-US" sz="1000" dirty="0">
                <a:solidFill>
                  <a:srgbClr val="006600"/>
                </a:solidFill>
                <a:sym typeface="Wingdings"/>
              </a:rPr>
              <a:t>→ 작업자 미숙으로 인한 문제 발생 예방 목적임</a:t>
            </a:r>
            <a:endParaRPr kumimoji="0" lang="ko-KR" altLang="en-US" sz="1000" b="0" i="0" u="none" strike="noStrike" kern="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p:txBody>
      </p:sp>
      <p:sp>
        <p:nvSpPr>
          <p:cNvPr id="2" name="타원 1">
            <a:extLst>
              <a:ext uri="{FF2B5EF4-FFF2-40B4-BE49-F238E27FC236}">
                <a16:creationId xmlns:a16="http://schemas.microsoft.com/office/drawing/2014/main" id="{F3ED0498-A0C3-7562-A644-E917A95420A4}"/>
              </a:ext>
            </a:extLst>
          </p:cNvPr>
          <p:cNvSpPr/>
          <p:nvPr/>
        </p:nvSpPr>
        <p:spPr>
          <a:xfrm>
            <a:off x="7979800" y="2099507"/>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 Regular" panose="020B0600000101010101" pitchFamily="50" charset="-127"/>
              </a:rPr>
              <a:t>30</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3" name="TextBox 2">
            <a:extLst>
              <a:ext uri="{FF2B5EF4-FFF2-40B4-BE49-F238E27FC236}">
                <a16:creationId xmlns:a16="http://schemas.microsoft.com/office/drawing/2014/main" id="{A31CFC13-E59D-C9AD-403D-3F2B57928B7E}"/>
              </a:ext>
            </a:extLst>
          </p:cNvPr>
          <p:cNvSpPr txBox="1"/>
          <p:nvPr/>
        </p:nvSpPr>
        <p:spPr>
          <a:xfrm>
            <a:off x="7827180" y="2246984"/>
            <a:ext cx="438188"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kern="0" dirty="0">
                <a:solidFill>
                  <a:prstClr val="black"/>
                </a:solidFill>
                <a:latin typeface="Arial Narrow"/>
                <a:ea typeface="LG스마트체 Regular"/>
                <a:sym typeface="Wingdings"/>
              </a:rPr>
              <a:t>MI</a:t>
            </a:r>
            <a:r>
              <a:rPr kumimoji="0" lang="ko-KR" altLang="en-US"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 </a:t>
            </a:r>
            <a:br>
              <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br>
            <a:r>
              <a:rPr kumimoji="0" lang="ko-KR" altLang="en-US" sz="800" b="0" i="0" u="none" strike="noStrike" kern="0" cap="none" spc="0" normalizeH="0" baseline="0" noProof="0" dirty="0">
                <a:ln>
                  <a:noFill/>
                </a:ln>
                <a:solidFill>
                  <a:prstClr val="black"/>
                </a:solidFill>
                <a:effectLst/>
                <a:uLnTx/>
                <a:uFillTx/>
                <a:latin typeface="Arial Narrow"/>
                <a:ea typeface="LG스마트체 Regular"/>
                <a:cs typeface="+mn-cs"/>
                <a:sym typeface="Wingdings"/>
              </a:rPr>
              <a:t>수평전개</a:t>
            </a:r>
            <a:endParaRPr kumimoji="0" lang="en-US" altLang="ko-KR" sz="800" b="0" i="0" u="none" strike="noStrike" kern="0" cap="none" spc="0" normalizeH="0" baseline="0" noProof="0" dirty="0">
              <a:ln>
                <a:noFill/>
              </a:ln>
              <a:solidFill>
                <a:prstClr val="black"/>
              </a:solidFill>
              <a:effectLst/>
              <a:uLnTx/>
              <a:uFillTx/>
              <a:latin typeface="Arial Narrow"/>
              <a:ea typeface="LG스마트체 Regular"/>
              <a:cs typeface="+mn-cs"/>
              <a:sym typeface="Wingdings"/>
            </a:endParaRPr>
          </a:p>
        </p:txBody>
      </p:sp>
      <p:sp>
        <p:nvSpPr>
          <p:cNvPr id="116" name="TextBox 115">
            <a:extLst>
              <a:ext uri="{FF2B5EF4-FFF2-40B4-BE49-F238E27FC236}">
                <a16:creationId xmlns:a16="http://schemas.microsoft.com/office/drawing/2014/main" id="{19BEF6FB-4B1A-75DC-3218-8ADB8571B375}"/>
              </a:ext>
            </a:extLst>
          </p:cNvPr>
          <p:cNvSpPr txBox="1"/>
          <p:nvPr/>
        </p:nvSpPr>
        <p:spPr>
          <a:xfrm>
            <a:off x="724514" y="3481968"/>
            <a:ext cx="4324349" cy="723275"/>
          </a:xfrm>
          <a:prstGeom prst="rect">
            <a:avLst/>
          </a:prstGeom>
        </p:spPr>
        <p:txBody>
          <a:bodyPr wrap="square">
            <a:spAutoFit/>
          </a:bodyPr>
          <a:lstStyle/>
          <a:p>
            <a:pPr fontAlgn="ctr">
              <a:defRPr/>
            </a:pPr>
            <a:r>
              <a:rPr kumimoji="1" lang="en-US" altLang="ko-KR" sz="1050" b="0" i="0" u="none" strike="noStrike" kern="1200" cap="none" spc="0" normalizeH="0" baseline="0" noProof="0" dirty="0">
                <a:ln>
                  <a:noFill/>
                </a:ln>
                <a:effectLst/>
                <a:uLnTx/>
                <a:uFillTx/>
                <a:latin typeface="LG스마트체 Regular" panose="020B0600000101010101" pitchFamily="50" charset="-127"/>
                <a:ea typeface="LG스마트체 Regular" panose="020B0600000101010101" pitchFamily="50" charset="-127"/>
              </a:rPr>
              <a:t>  -. </a:t>
            </a:r>
            <a:r>
              <a:rPr kumimoji="1" lang="en-US" altLang="ko-KR" sz="1050" dirty="0">
                <a:latin typeface="LG스마트체 Regular" panose="020B0600000101010101" pitchFamily="50" charset="-127"/>
                <a:ea typeface="LG스마트체 Regular" panose="020B0600000101010101" pitchFamily="50" charset="-127"/>
              </a:rPr>
              <a:t>WA </a:t>
            </a:r>
            <a:r>
              <a:rPr kumimoji="1" lang="ko-KR" altLang="en-US" sz="1050" dirty="0">
                <a:latin typeface="LG스마트체 Regular" panose="020B0600000101010101" pitchFamily="50" charset="-127"/>
                <a:ea typeface="LG스마트체 Regular" panose="020B0600000101010101" pitchFamily="50" charset="-127"/>
              </a:rPr>
              <a:t>조립 </a:t>
            </a:r>
            <a:r>
              <a:rPr kumimoji="1" lang="en-US" altLang="ko-KR" sz="1050" dirty="0">
                <a:latin typeface="LG스마트체 Regular" panose="020B0600000101010101" pitchFamily="50" charset="-127"/>
                <a:ea typeface="LG스마트체 Regular" panose="020B0600000101010101" pitchFamily="50" charset="-127"/>
              </a:rPr>
              <a:t>4</a:t>
            </a:r>
            <a:r>
              <a:rPr kumimoji="1" lang="ko-KR" altLang="en-US" sz="1050" dirty="0">
                <a:latin typeface="LG스마트체 Regular" panose="020B0600000101010101" pitchFamily="50" charset="-127"/>
                <a:ea typeface="LG스마트체 Regular" panose="020B0600000101010101" pitchFamily="50" charset="-127"/>
              </a:rPr>
              <a:t>동 대상 효과성 확인 과제 </a:t>
            </a:r>
            <a:r>
              <a:rPr kumimoji="1" lang="en-US" altLang="ko-KR" sz="1050" dirty="0">
                <a:latin typeface="LG스마트체 Regular" panose="020B0600000101010101" pitchFamily="50" charset="-127"/>
                <a:ea typeface="LG스마트체 Regular" panose="020B0600000101010101" pitchFamily="50" charset="-127"/>
              </a:rPr>
              <a:t>3</a:t>
            </a:r>
            <a:r>
              <a:rPr kumimoji="1" lang="ko-KR" altLang="en-US" sz="1050" dirty="0">
                <a:latin typeface="LG스마트체 Regular" panose="020B0600000101010101" pitchFamily="50" charset="-127"/>
                <a:ea typeface="LG스마트체 Regular" panose="020B0600000101010101" pitchFamily="50" charset="-127"/>
              </a:rPr>
              <a:t>건 적용 및 효과 검증 완료</a:t>
            </a:r>
            <a:r>
              <a:rPr kumimoji="1" lang="en-US" altLang="ko-KR" sz="1050" dirty="0">
                <a:latin typeface="LG스마트체 Regular" panose="020B0600000101010101" pitchFamily="50" charset="-127"/>
                <a:ea typeface="LG스마트체 Regular" panose="020B0600000101010101" pitchFamily="50" charset="-127"/>
              </a:rPr>
              <a:t>(6/4)</a:t>
            </a:r>
            <a:br>
              <a:rPr kumimoji="1" lang="en-US" altLang="ko-KR" sz="1050" dirty="0">
                <a:latin typeface="LG스마트체 Regular" panose="020B0600000101010101" pitchFamily="50" charset="-127"/>
                <a:ea typeface="LG스마트체 Regular" panose="020B0600000101010101" pitchFamily="50" charset="-127"/>
              </a:rPr>
            </a:br>
            <a:r>
              <a:rPr kumimoji="1" lang="en-US" altLang="ko-KR" sz="1050" dirty="0">
                <a:latin typeface="LG스마트체 Regular" panose="020B0600000101010101" pitchFamily="50" charset="-127"/>
                <a:ea typeface="LG스마트체 Regular" panose="020B0600000101010101" pitchFamily="50" charset="-127"/>
              </a:rPr>
              <a:t> </a:t>
            </a:r>
            <a:r>
              <a:rPr kumimoji="1" lang="en-US" altLang="ko-KR" sz="1000" dirty="0">
                <a:latin typeface="LG스마트체 Regular" panose="020B0600000101010101" pitchFamily="50" charset="-127"/>
                <a:ea typeface="LG스마트체 Regular" panose="020B0600000101010101" pitchFamily="50" charset="-127"/>
              </a:rPr>
              <a:t>   </a:t>
            </a:r>
            <a:r>
              <a:rPr kumimoji="1" lang="en-US" altLang="ko-KR" sz="1000" kern="0" dirty="0">
                <a:latin typeface="LG스마트체 Regular" panose="020B0600000101010101" pitchFamily="50" charset="-127"/>
                <a:ea typeface="LG스마트체 Regular" panose="020B0600000101010101" pitchFamily="50" charset="-127"/>
                <a:sym typeface="Wingdings"/>
              </a:rPr>
              <a:t>- </a:t>
            </a:r>
            <a:r>
              <a:rPr kumimoji="0" lang="ko-KR" altLang="en-US"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하프라미 </a:t>
            </a:r>
            <a:r>
              <a:rPr kumimoji="0" lang="en-US" altLang="ko-KR"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NG </a:t>
            </a:r>
            <a:r>
              <a:rPr kumimoji="0" lang="ko-KR" altLang="en-US"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마킹 전극</a:t>
            </a:r>
            <a:r>
              <a:rPr kumimoji="0" lang="en-US" altLang="ko-KR"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 </a:t>
            </a:r>
            <a:r>
              <a:rPr kumimoji="0" lang="ko-KR" altLang="en-US" sz="1000" b="0" i="0" u="none" strike="noStrike" kern="0" cap="none" spc="0" normalizeH="0" baseline="0" noProof="0" dirty="0" err="1">
                <a:ln>
                  <a:noFill/>
                </a:ln>
                <a:effectLst/>
                <a:uLnTx/>
                <a:uFillTx/>
                <a:latin typeface="LG스마트체 Regular" panose="020B0600000101010101" pitchFamily="50" charset="-127"/>
                <a:ea typeface="LG스마트체 Regular" panose="020B0600000101010101" pitchFamily="50" charset="-127"/>
                <a:sym typeface="Wingdings"/>
              </a:rPr>
              <a:t>노칭</a:t>
            </a:r>
            <a:r>
              <a:rPr kumimoji="0" lang="ko-KR" altLang="en-US"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 </a:t>
            </a:r>
            <a:r>
              <a:rPr kumimoji="0" lang="en-US" altLang="ko-KR"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Foil </a:t>
            </a:r>
            <a:r>
              <a:rPr kumimoji="0" lang="ko-KR" altLang="en-US" sz="1000" b="0" i="0" u="none" strike="noStrike" kern="0" cap="none" spc="0" normalizeH="0" baseline="0" noProof="0" dirty="0" err="1">
                <a:ln>
                  <a:noFill/>
                </a:ln>
                <a:effectLst/>
                <a:uLnTx/>
                <a:uFillTx/>
                <a:latin typeface="LG스마트체 Regular" panose="020B0600000101010101" pitchFamily="50" charset="-127"/>
                <a:ea typeface="LG스마트체 Regular" panose="020B0600000101010101" pitchFamily="50" charset="-127"/>
                <a:sym typeface="Wingdings"/>
              </a:rPr>
              <a:t>광택면</a:t>
            </a:r>
            <a:r>
              <a:rPr kumimoji="0" lang="en-US" altLang="ko-KR"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a:t>
            </a:r>
            <a:r>
              <a:rPr kumimoji="0" lang="ko-KR" altLang="en-US" sz="100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sym typeface="Wingdings"/>
              </a:rPr>
              <a:t>미스매치 유사 전극 선별 </a:t>
            </a:r>
            <a:r>
              <a:rPr lang="ko-KR" altLang="en-US" sz="1000" dirty="0">
                <a:latin typeface="LG스마트체 Regular" panose="020B0600000101010101" pitchFamily="50" charset="-127"/>
                <a:ea typeface="LG스마트체 Regular" panose="020B0600000101010101" pitchFamily="50" charset="-127"/>
                <a:sym typeface="Wingdings"/>
              </a:rPr>
              <a:t>투입</a:t>
            </a:r>
            <a:br>
              <a:rPr lang="en-US" altLang="ko-KR" sz="1000" dirty="0">
                <a:latin typeface="LG스마트체 Regular" panose="020B0600000101010101" pitchFamily="50" charset="-127"/>
                <a:ea typeface="LG스마트체 Regular" panose="020B0600000101010101" pitchFamily="50" charset="-127"/>
                <a:sym typeface="Wingdings"/>
              </a:rPr>
            </a:br>
            <a:r>
              <a:rPr lang="ko-KR" altLang="en-US" sz="1000" dirty="0">
                <a:latin typeface="LG스마트체 Regular" panose="020B0600000101010101" pitchFamily="50" charset="-127"/>
                <a:ea typeface="LG스마트체 Regular" panose="020B0600000101010101" pitchFamily="50" charset="-127"/>
                <a:sym typeface="Wingdings"/>
              </a:rPr>
              <a:t>    </a:t>
            </a:r>
            <a:r>
              <a:rPr lang="en-US" altLang="ko-KR" sz="1000" dirty="0">
                <a:latin typeface="LG스마트체 Regular" panose="020B0600000101010101" pitchFamily="50" charset="-127"/>
                <a:ea typeface="LG스마트체 Regular" panose="020B0600000101010101" pitchFamily="50" charset="-127"/>
                <a:sym typeface="Wingdings"/>
              </a:rPr>
              <a:t> </a:t>
            </a:r>
            <a:r>
              <a:rPr lang="ko-KR" altLang="en-US" sz="1000" dirty="0">
                <a:latin typeface="LG스마트체 Regular" panose="020B0600000101010101" pitchFamily="50" charset="-127"/>
                <a:ea typeface="LG스마트체 Regular" panose="020B0600000101010101" pitchFamily="50" charset="-127"/>
                <a:sym typeface="Wingdings"/>
              </a:rPr>
              <a:t>→ 효과 </a:t>
            </a:r>
            <a:r>
              <a:rPr lang="en-US" altLang="ko-KR" sz="1000" dirty="0">
                <a:latin typeface="LG스마트체 Regular" panose="020B0600000101010101" pitchFamily="50" charset="-127"/>
                <a:ea typeface="LG스마트체 Regular" panose="020B0600000101010101" pitchFamily="50" charset="-127"/>
                <a:sym typeface="Wingdings"/>
              </a:rPr>
              <a:t>: </a:t>
            </a:r>
            <a:r>
              <a:rPr lang="ko-KR" altLang="en-US" sz="1000" dirty="0">
                <a:latin typeface="LG스마트체 Regular" panose="020B0600000101010101" pitchFamily="50" charset="-127"/>
                <a:ea typeface="LG스마트체 Regular" panose="020B0600000101010101" pitchFamily="50" charset="-127"/>
                <a:sym typeface="Wingdings"/>
              </a:rPr>
              <a:t>라미 </a:t>
            </a:r>
            <a:r>
              <a:rPr lang="en-US" altLang="ko-KR" sz="1000" dirty="0">
                <a:latin typeface="LG스마트체 Regular" panose="020B0600000101010101" pitchFamily="50" charset="-127"/>
                <a:ea typeface="LG스마트체 Regular" panose="020B0600000101010101" pitchFamily="50" charset="-127"/>
                <a:sym typeface="Wingdings"/>
              </a:rPr>
              <a:t>NG </a:t>
            </a:r>
            <a:r>
              <a:rPr lang="ko-KR" altLang="en-US" sz="1000" dirty="0">
                <a:latin typeface="LG스마트체 Regular" panose="020B0600000101010101" pitchFamily="50" charset="-127"/>
                <a:ea typeface="LG스마트체 Regular" panose="020B0600000101010101" pitchFamily="50" charset="-127"/>
                <a:sym typeface="Wingdings"/>
              </a:rPr>
              <a:t>마킹 </a:t>
            </a:r>
            <a:r>
              <a:rPr lang="en-US" altLang="ko-KR" sz="1000" dirty="0">
                <a:latin typeface="LG스마트체 Regular" panose="020B0600000101010101" pitchFamily="50" charset="-127"/>
                <a:ea typeface="LG스마트체 Regular" panose="020B0600000101010101" pitchFamily="50" charset="-127"/>
                <a:sym typeface="Wingdings"/>
              </a:rPr>
              <a:t>0.49% </a:t>
            </a:r>
            <a:r>
              <a:rPr lang="ko-KR" altLang="en-US" sz="1000" dirty="0">
                <a:latin typeface="LG스마트체 Regular" panose="020B0600000101010101" pitchFamily="50" charset="-127"/>
                <a:ea typeface="LG스마트체 Regular" panose="020B0600000101010101" pitchFamily="50" charset="-127"/>
                <a:sym typeface="Wingdings"/>
              </a:rPr>
              <a:t>→ </a:t>
            </a:r>
            <a:r>
              <a:rPr lang="en-US" altLang="ko-KR" sz="1000" dirty="0">
                <a:latin typeface="LG스마트체 Regular" panose="020B0600000101010101" pitchFamily="50" charset="-127"/>
                <a:ea typeface="LG스마트체 Regular" panose="020B0600000101010101" pitchFamily="50" charset="-127"/>
                <a:sym typeface="Wingdings"/>
              </a:rPr>
              <a:t>0.41%, </a:t>
            </a:r>
            <a:r>
              <a:rPr lang="ko-KR" altLang="en-US" sz="1000" dirty="0" err="1">
                <a:latin typeface="LG스마트체 Regular" panose="020B0600000101010101" pitchFamily="50" charset="-127"/>
                <a:ea typeface="LG스마트체 Regular" panose="020B0600000101010101" pitchFamily="50" charset="-127"/>
                <a:sym typeface="Wingdings"/>
              </a:rPr>
              <a:t>탭치수</a:t>
            </a:r>
            <a:r>
              <a:rPr lang="ko-KR" altLang="en-US" sz="1000" dirty="0">
                <a:latin typeface="LG스마트체 Regular" panose="020B0600000101010101" pitchFamily="50" charset="-127"/>
                <a:ea typeface="LG스마트체 Regular" panose="020B0600000101010101" pitchFamily="50" charset="-127"/>
                <a:sym typeface="Wingdings"/>
              </a:rPr>
              <a:t> </a:t>
            </a:r>
            <a:r>
              <a:rPr lang="en-US" altLang="ko-KR" sz="1000" dirty="0">
                <a:latin typeface="LG스마트체 Regular" panose="020B0600000101010101" pitchFamily="50" charset="-127"/>
                <a:ea typeface="LG스마트체 Regular" panose="020B0600000101010101" pitchFamily="50" charset="-127"/>
                <a:sym typeface="Wingdings"/>
              </a:rPr>
              <a:t>0.075% </a:t>
            </a:r>
            <a:r>
              <a:rPr lang="ko-KR" altLang="en-US" sz="1000" dirty="0">
                <a:latin typeface="LG스마트체 Regular" panose="020B0600000101010101" pitchFamily="50" charset="-127"/>
                <a:ea typeface="LG스마트체 Regular" panose="020B0600000101010101" pitchFamily="50" charset="-127"/>
                <a:sym typeface="Wingdings"/>
              </a:rPr>
              <a:t>→ </a:t>
            </a:r>
            <a:r>
              <a:rPr lang="en-US" altLang="ko-KR" sz="1000" dirty="0">
                <a:latin typeface="LG스마트체 Regular" panose="020B0600000101010101" pitchFamily="50" charset="-127"/>
                <a:ea typeface="LG스마트체 Regular" panose="020B0600000101010101" pitchFamily="50" charset="-127"/>
                <a:sym typeface="Wingdings"/>
              </a:rPr>
              <a:t>0.060%</a:t>
            </a:r>
            <a:br>
              <a:rPr lang="en-US" altLang="ko-KR" sz="1000" dirty="0">
                <a:latin typeface="LG스마트체 Regular" panose="020B0600000101010101" pitchFamily="50" charset="-127"/>
                <a:ea typeface="LG스마트체 Regular" panose="020B0600000101010101" pitchFamily="50" charset="-127"/>
                <a:sym typeface="Wingdings"/>
              </a:rPr>
            </a:br>
            <a:r>
              <a:rPr lang="en-US" altLang="ko-KR" sz="1000" dirty="0">
                <a:latin typeface="LG스마트체 Regular" panose="020B0600000101010101" pitchFamily="50" charset="-127"/>
                <a:ea typeface="LG스마트체 Regular" panose="020B0600000101010101" pitchFamily="50" charset="-127"/>
                <a:sym typeface="Wingdings"/>
              </a:rPr>
              <a:t>                  </a:t>
            </a:r>
            <a:r>
              <a:rPr lang="ko-KR" altLang="en-US" sz="1000" dirty="0" err="1">
                <a:latin typeface="LG스마트체 Regular" panose="020B0600000101010101" pitchFamily="50" charset="-127"/>
                <a:ea typeface="LG스마트체 Regular" panose="020B0600000101010101" pitchFamily="50" charset="-127"/>
                <a:sym typeface="Wingdings"/>
              </a:rPr>
              <a:t>노칭</a:t>
            </a:r>
            <a:r>
              <a:rPr lang="en-US" altLang="ko-KR" sz="1000" dirty="0">
                <a:latin typeface="LG스마트체 Regular" panose="020B0600000101010101" pitchFamily="50" charset="-127"/>
                <a:ea typeface="LG스마트체 Regular" panose="020B0600000101010101" pitchFamily="50" charset="-127"/>
                <a:sym typeface="Wingdings"/>
              </a:rPr>
              <a:t>(</a:t>
            </a:r>
            <a:r>
              <a:rPr lang="ko-KR" altLang="en-US" sz="1000" dirty="0">
                <a:latin typeface="LG스마트체 Regular" panose="020B0600000101010101" pitchFamily="50" charset="-127"/>
                <a:ea typeface="LG스마트체 Regular" panose="020B0600000101010101" pitchFamily="50" charset="-127"/>
                <a:sym typeface="Wingdings"/>
              </a:rPr>
              <a:t>음극</a:t>
            </a:r>
            <a:r>
              <a:rPr lang="en-US" altLang="ko-KR" sz="1000" dirty="0">
                <a:latin typeface="LG스마트체 Regular" panose="020B0600000101010101" pitchFamily="50" charset="-127"/>
                <a:ea typeface="LG스마트체 Regular" panose="020B0600000101010101" pitchFamily="50" charset="-127"/>
                <a:sym typeface="Wingdings"/>
              </a:rPr>
              <a:t>) </a:t>
            </a:r>
            <a:r>
              <a:rPr lang="ko-KR" altLang="en-US" sz="1000" dirty="0">
                <a:latin typeface="LG스마트체 Regular" panose="020B0600000101010101" pitchFamily="50" charset="-127"/>
                <a:ea typeface="LG스마트체 Regular" panose="020B0600000101010101" pitchFamily="50" charset="-127"/>
                <a:sym typeface="Wingdings"/>
              </a:rPr>
              <a:t>탭 </a:t>
            </a:r>
            <a:r>
              <a:rPr lang="en-US" altLang="ko-KR" sz="1000" dirty="0">
                <a:latin typeface="LG스마트체 Regular" panose="020B0600000101010101" pitchFamily="50" charset="-127"/>
                <a:ea typeface="LG스마트체 Regular" panose="020B0600000101010101" pitchFamily="50" charset="-127"/>
                <a:sym typeface="Wingdings"/>
              </a:rPr>
              <a:t>0.046% </a:t>
            </a:r>
            <a:r>
              <a:rPr lang="ko-KR" altLang="en-US" sz="1000" dirty="0">
                <a:latin typeface="LG스마트체 Regular" panose="020B0600000101010101" pitchFamily="50" charset="-127"/>
                <a:ea typeface="LG스마트체 Regular" panose="020B0600000101010101" pitchFamily="50" charset="-127"/>
                <a:sym typeface="Wingdings"/>
              </a:rPr>
              <a:t>→ </a:t>
            </a:r>
            <a:r>
              <a:rPr lang="en-US" altLang="ko-KR" sz="1000" dirty="0">
                <a:latin typeface="LG스마트체 Regular" panose="020B0600000101010101" pitchFamily="50" charset="-127"/>
                <a:ea typeface="LG스마트체 Regular" panose="020B0600000101010101" pitchFamily="50" charset="-127"/>
                <a:sym typeface="Wingdings"/>
              </a:rPr>
              <a:t>0.022%</a:t>
            </a:r>
            <a:endParaRPr kumimoji="0" lang="ko-KR" altLang="en-US" sz="1050" b="0" i="0" u="none" strike="noStrike" kern="0" cap="none" spc="0" normalizeH="0" baseline="0" noProof="0" dirty="0">
              <a:ln>
                <a:noFill/>
              </a:ln>
              <a:effectLst/>
              <a:uLnTx/>
              <a:uFillTx/>
              <a:latin typeface="LG스마트체 Regular" panose="020B0600000101010101" pitchFamily="50" charset="-127"/>
              <a:ea typeface="LG스마트체 Regular" panose="020B0600000101010101" pitchFamily="50" charset="-127"/>
            </a:endParaRPr>
          </a:p>
        </p:txBody>
      </p:sp>
      <p:sp>
        <p:nvSpPr>
          <p:cNvPr id="12" name="TextBox 11">
            <a:extLst>
              <a:ext uri="{FF2B5EF4-FFF2-40B4-BE49-F238E27FC236}">
                <a16:creationId xmlns:a16="http://schemas.microsoft.com/office/drawing/2014/main" id="{CF48D243-CEB8-844C-30D0-FBD1FB4577E5}"/>
              </a:ext>
            </a:extLst>
          </p:cNvPr>
          <p:cNvSpPr txBox="1"/>
          <p:nvPr/>
        </p:nvSpPr>
        <p:spPr>
          <a:xfrm>
            <a:off x="724514" y="4283646"/>
            <a:ext cx="4107483" cy="261610"/>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dirty="0">
                <a:latin typeface="LG스마트체 Regular" panose="020B0600000101010101" pitchFamily="50" charset="-127"/>
                <a:ea typeface="LG스마트체 Regular" panose="020B0600000101010101" pitchFamily="50" charset="-127"/>
              </a:rPr>
              <a:t>  -. WA </a:t>
            </a:r>
            <a:r>
              <a:rPr kumimoji="1" lang="ko-KR" altLang="en-US" sz="1050" dirty="0">
                <a:latin typeface="LG스마트체 Regular" panose="020B0600000101010101" pitchFamily="50" charset="-127"/>
                <a:ea typeface="LG스마트체 Regular" panose="020B0600000101010101" pitchFamily="50" charset="-127"/>
              </a:rPr>
              <a:t>조립 </a:t>
            </a:r>
            <a:r>
              <a:rPr kumimoji="1" lang="en-US" altLang="ko-KR" sz="1050" dirty="0">
                <a:latin typeface="LG스마트체 Regular" panose="020B0600000101010101" pitchFamily="50" charset="-127"/>
                <a:ea typeface="LG스마트체 Regular" panose="020B0600000101010101" pitchFamily="50" charset="-127"/>
              </a:rPr>
              <a:t>3</a:t>
            </a:r>
            <a:r>
              <a:rPr kumimoji="1" lang="ko-KR" altLang="en-US" sz="1050" dirty="0">
                <a:latin typeface="LG스마트체 Regular" panose="020B0600000101010101" pitchFamily="50" charset="-127"/>
                <a:ea typeface="LG스마트체 Regular" panose="020B0600000101010101" pitchFamily="50" charset="-127"/>
              </a:rPr>
              <a:t>동 </a:t>
            </a:r>
            <a:r>
              <a:rPr kumimoji="1" lang="ko-KR" altLang="en-US" sz="1050">
                <a:latin typeface="LG스마트체 Regular" panose="020B0600000101010101" pitchFamily="50" charset="-127"/>
                <a:ea typeface="LG스마트체 Regular" panose="020B0600000101010101" pitchFamily="50" charset="-127"/>
              </a:rPr>
              <a:t>수평전개 적용 </a:t>
            </a:r>
            <a:r>
              <a:rPr kumimoji="1" lang="en-US" altLang="ko-KR" sz="1050">
                <a:latin typeface="LG스마트체 Regular" panose="020B0600000101010101" pitchFamily="50" charset="-127"/>
                <a:ea typeface="LG스마트체 Regular" panose="020B0600000101010101" pitchFamily="50" charset="-127"/>
              </a:rPr>
              <a:t>(~9</a:t>
            </a:r>
            <a:r>
              <a:rPr kumimoji="1" lang="ko-KR" altLang="en-US" sz="1050">
                <a:latin typeface="LG스마트체 Regular" panose="020B0600000101010101" pitchFamily="50" charset="-127"/>
                <a:ea typeface="LG스마트체 Regular" panose="020B0600000101010101" pitchFamily="50" charset="-127"/>
              </a:rPr>
              <a:t>월 </a:t>
            </a:r>
            <a:r>
              <a:rPr kumimoji="1" lang="ko-KR" altLang="en-US" sz="1050" dirty="0">
                <a:latin typeface="LG스마트체 Regular" panose="020B0600000101010101" pitchFamily="50" charset="-127"/>
                <a:ea typeface="LG스마트체 Regular" panose="020B0600000101010101" pitchFamily="50" charset="-127"/>
              </a:rPr>
              <a:t>내 수평전개</a:t>
            </a:r>
            <a:r>
              <a:rPr kumimoji="1" lang="en-US" altLang="ko-KR" sz="1050" dirty="0">
                <a:latin typeface="LG스마트체 Regular" panose="020B0600000101010101" pitchFamily="50" charset="-127"/>
                <a:ea typeface="LG스마트체 Regular" panose="020B0600000101010101" pitchFamily="50" charset="-127"/>
              </a:rPr>
              <a:t>) </a:t>
            </a:r>
          </a:p>
        </p:txBody>
      </p:sp>
      <p:sp>
        <p:nvSpPr>
          <p:cNvPr id="23" name="실행 단추: 앞으로 또는 다음으로 이동 22">
            <a:hlinkClick r:id="rId4" action="ppaction://hlinksldjump" highlightClick="1"/>
            <a:extLst>
              <a:ext uri="{FF2B5EF4-FFF2-40B4-BE49-F238E27FC236}">
                <a16:creationId xmlns:a16="http://schemas.microsoft.com/office/drawing/2014/main" id="{A7B66328-DD96-E79E-548F-D2C1F6EAC617}"/>
              </a:ext>
            </a:extLst>
          </p:cNvPr>
          <p:cNvSpPr/>
          <p:nvPr/>
        </p:nvSpPr>
        <p:spPr>
          <a:xfrm>
            <a:off x="2816909" y="5805161"/>
            <a:ext cx="135236" cy="135236"/>
          </a:xfrm>
          <a:prstGeom prst="actionButtonForwardNext">
            <a:avLst/>
          </a:prstGeom>
          <a:solidFill>
            <a:schemeClr val="bg1">
              <a:lumMod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66CDD4E0-6B6E-D978-DAEB-2D4231B4DF92}"/>
              </a:ext>
            </a:extLst>
          </p:cNvPr>
          <p:cNvSpPr txBox="1"/>
          <p:nvPr/>
        </p:nvSpPr>
        <p:spPr>
          <a:xfrm>
            <a:off x="4750612" y="6622748"/>
            <a:ext cx="404777" cy="25943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- 3 / 6 - </a:t>
            </a:r>
          </a:p>
        </p:txBody>
      </p:sp>
      <p:grpSp>
        <p:nvGrpSpPr>
          <p:cNvPr id="8" name="그룹 7">
            <a:extLst>
              <a:ext uri="{FF2B5EF4-FFF2-40B4-BE49-F238E27FC236}">
                <a16:creationId xmlns:a16="http://schemas.microsoft.com/office/drawing/2014/main" id="{BA1FA9A7-519E-A841-AF50-737FF75C9A75}"/>
              </a:ext>
            </a:extLst>
          </p:cNvPr>
          <p:cNvGrpSpPr/>
          <p:nvPr/>
        </p:nvGrpSpPr>
        <p:grpSpPr>
          <a:xfrm>
            <a:off x="7758397" y="114985"/>
            <a:ext cx="1781744" cy="604476"/>
            <a:chOff x="4232920" y="49957"/>
            <a:chExt cx="1781744" cy="604476"/>
          </a:xfrm>
        </p:grpSpPr>
        <p:sp>
          <p:nvSpPr>
            <p:cNvPr id="9" name="타원 8">
              <a:extLst>
                <a:ext uri="{FF2B5EF4-FFF2-40B4-BE49-F238E27FC236}">
                  <a16:creationId xmlns:a16="http://schemas.microsoft.com/office/drawing/2014/main" id="{5AB508E9-CA5A-51D9-C328-FB238FD2826D}"/>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0" name="TextBox 9">
              <a:extLst>
                <a:ext uri="{FF2B5EF4-FFF2-40B4-BE49-F238E27FC236}">
                  <a16:creationId xmlns:a16="http://schemas.microsoft.com/office/drawing/2014/main" id="{E05C92DE-4926-DA3C-9159-7062F5B3E64E}"/>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 name="타원 10">
              <a:extLst>
                <a:ext uri="{FF2B5EF4-FFF2-40B4-BE49-F238E27FC236}">
                  <a16:creationId xmlns:a16="http://schemas.microsoft.com/office/drawing/2014/main" id="{7C4921D1-22B6-48E9-2FAF-5D720EAE56A9}"/>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1DF5B373-07B9-54A8-560F-ECBAEE135879}"/>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14" name="타원 13">
              <a:extLst>
                <a:ext uri="{FF2B5EF4-FFF2-40B4-BE49-F238E27FC236}">
                  <a16:creationId xmlns:a16="http://schemas.microsoft.com/office/drawing/2014/main" id="{0FD41093-7DDC-5556-E294-DD13A3E39B63}"/>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31837D71-D52A-1B43-61F5-CAF76C6CB137}"/>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2539616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31724762-70CB-9B95-3B24-03A3BF38705A}"/>
              </a:ext>
            </a:extLst>
          </p:cNvPr>
          <p:cNvSpPr>
            <a:spLocks noChangeArrowheads="1"/>
          </p:cNvSpPr>
          <p:nvPr/>
        </p:nvSpPr>
        <p:spPr bwMode="auto">
          <a:xfrm>
            <a:off x="200471" y="1510124"/>
            <a:ext cx="448035" cy="1149746"/>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일정</a:t>
            </a: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14" name="표 13">
            <a:extLst>
              <a:ext uri="{FF2B5EF4-FFF2-40B4-BE49-F238E27FC236}">
                <a16:creationId xmlns:a16="http://schemas.microsoft.com/office/drawing/2014/main" id="{78EE5916-D360-4E24-CA5A-6A4FC9C869BA}"/>
              </a:ext>
            </a:extLst>
          </p:cNvPr>
          <p:cNvGraphicFramePr>
            <a:graphicFrameLocks noGrp="1"/>
          </p:cNvGraphicFramePr>
          <p:nvPr>
            <p:extLst>
              <p:ext uri="{D42A27DB-BD31-4B8C-83A1-F6EECF244321}">
                <p14:modId xmlns:p14="http://schemas.microsoft.com/office/powerpoint/2010/main" val="3222508320"/>
              </p:ext>
            </p:extLst>
          </p:nvPr>
        </p:nvGraphicFramePr>
        <p:xfrm>
          <a:off x="735049" y="761673"/>
          <a:ext cx="8862107" cy="702000"/>
        </p:xfrm>
        <a:graphic>
          <a:graphicData uri="http://schemas.openxmlformats.org/drawingml/2006/table">
            <a:tbl>
              <a:tblPr/>
              <a:tblGrid>
                <a:gridCol w="2398749">
                  <a:extLst>
                    <a:ext uri="{9D8B030D-6E8A-4147-A177-3AD203B41FA5}">
                      <a16:colId xmlns:a16="http://schemas.microsoft.com/office/drawing/2014/main" val="20000"/>
                    </a:ext>
                  </a:extLst>
                </a:gridCol>
                <a:gridCol w="4530971">
                  <a:extLst>
                    <a:ext uri="{9D8B030D-6E8A-4147-A177-3AD203B41FA5}">
                      <a16:colId xmlns:a16="http://schemas.microsoft.com/office/drawing/2014/main" val="20001"/>
                    </a:ext>
                  </a:extLst>
                </a:gridCol>
                <a:gridCol w="1199375">
                  <a:extLst>
                    <a:ext uri="{9D8B030D-6E8A-4147-A177-3AD203B41FA5}">
                      <a16:colId xmlns:a16="http://schemas.microsoft.com/office/drawing/2014/main" val="2961269463"/>
                    </a:ext>
                  </a:extLst>
                </a:gridCol>
                <a:gridCol w="733012">
                  <a:extLst>
                    <a:ext uri="{9D8B030D-6E8A-4147-A177-3AD203B41FA5}">
                      <a16:colId xmlns:a16="http://schemas.microsoft.com/office/drawing/2014/main" val="20007"/>
                    </a:ext>
                  </a:extLst>
                </a:gridCol>
              </a:tblGrid>
              <a:tr h="21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KPI</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’26</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년 분기목표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연간목표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비중</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상태</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48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ctr" latinLnBrk="1" hangingPunct="1">
                        <a:lnSpc>
                          <a:spcPct val="100000"/>
                        </a:lnSpc>
                        <a:spcBef>
                          <a:spcPct val="0"/>
                        </a:spcBef>
                        <a:spcAft>
                          <a:spcPct val="0"/>
                        </a:spcAft>
                        <a:buClrTx/>
                        <a:buSzTx/>
                        <a:buFontTx/>
                        <a:buNone/>
                        <a:tabLst/>
                        <a:defRPr/>
                      </a:pPr>
                      <a:r>
                        <a:rPr lang="ko-KR" altLang="en-US" sz="1000" b="1" kern="1200" spc="-10">
                          <a:solidFill>
                            <a:schemeClr val="tx1"/>
                          </a:solidFill>
                          <a:latin typeface="Arial Narrow" panose="020B0606020202030204" pitchFamily="34" charset="0"/>
                          <a:ea typeface="LG스마트체 Regular" panose="020B0600000101010101" pitchFamily="50" charset="-127"/>
                          <a:cs typeface="+mn-cs"/>
                        </a:rPr>
                        <a:t>고질 불량 개선</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kumimoji="1" lang="ko-KR" altLang="en-US" sz="10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코터</a:t>
                      </a:r>
                      <a:r>
                        <a:rPr kumimoji="1" lang="en-US" altLang="ko-KR" sz="10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1" lang="ko-KR" altLang="en-US" sz="10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롤프레스 </a:t>
                      </a:r>
                      <a:r>
                        <a:rPr kumimoji="1" lang="en-US" altLang="ko-KR" sz="10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Data </a:t>
                      </a:r>
                      <a:r>
                        <a:rPr kumimoji="1" lang="ko-KR" altLang="en-US" sz="1000" b="1" i="0" u="none" strike="noStrike" kern="1200" cap="none" spc="-50" normalizeH="0" baseline="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연계 및 경로 최적화</a:t>
                      </a:r>
                      <a:r>
                        <a:rPr kumimoji="1" lang="ko-KR" altLang="en-US" sz="10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 </a:t>
                      </a:r>
                      <a:r>
                        <a:rPr kumimoji="1" lang="en-US" altLang="ko-KR" sz="10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[3Q</a:t>
                      </a:r>
                      <a:r>
                        <a:rPr kumimoji="1" lang="ko-KR" altLang="en-US" sz="10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목표</a:t>
                      </a:r>
                      <a:r>
                        <a:rPr kumimoji="1" lang="en-US" altLang="ko-KR" sz="1000" b="1" i="0" u="none" strike="noStrike" kern="1200" cap="none" spc="-50" normalizeH="0" baseline="0" noProof="0" dirty="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kern="1200" spc="0" dirty="0">
                          <a:solidFill>
                            <a:srgbClr val="006600"/>
                          </a:solidFill>
                          <a:latin typeface="Arial Narrow" panose="020B0606020202030204" pitchFamily="34" charset="0"/>
                          <a:ea typeface="LG스마트체 Regular" panose="020B0600000101010101" pitchFamily="50" charset="-127"/>
                          <a:cs typeface="+mn-cs"/>
                        </a:rPr>
                        <a:t>※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Q :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롤프레스</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노칭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PD Loss 20% </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개선 </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dirty="0" err="1">
                          <a:solidFill>
                            <a:srgbClr val="006600"/>
                          </a:solidFill>
                          <a:effectLst/>
                          <a:latin typeface="Arial Narrow" panose="020B0606020202030204" pitchFamily="34" charset="0"/>
                          <a:ea typeface="LG스마트체 Regular" panose="020B0600000101010101" pitchFamily="50" charset="-127"/>
                        </a:rPr>
                        <a:t>연목표</a:t>
                      </a: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i="0" u="none" strike="noStrike" baseline="0" dirty="0">
                          <a:solidFill>
                            <a:srgbClr val="006600"/>
                          </a:solidFill>
                          <a:effectLst/>
                          <a:latin typeface="Arial Narrow" panose="020B0606020202030204" pitchFamily="34" charset="0"/>
                          <a:ea typeface="LG스마트체 Regular" panose="020B0600000101010101" pitchFamily="50" charset="-127"/>
                        </a:rPr>
                        <a:t>     D : ’26.8</a:t>
                      </a:r>
                      <a:r>
                        <a:rPr lang="ko-KR" altLang="en-US" sz="1000" b="0" i="0" u="none" strike="noStrike" baseline="0" dirty="0">
                          <a:solidFill>
                            <a:srgbClr val="006600"/>
                          </a:solidFill>
                          <a:effectLst/>
                          <a:latin typeface="Arial Narrow" panose="020B0606020202030204" pitchFamily="34" charset="0"/>
                          <a:ea typeface="LG스마트체 Regular" panose="020B0600000101010101" pitchFamily="50" charset="-127"/>
                        </a:rPr>
                        <a:t>월</a:t>
                      </a:r>
                      <a:endParaRPr lang="ko-KR" altLang="en-US" sz="1000" b="0" i="0" u="none" strike="noStrike" dirty="0">
                        <a:solidFill>
                          <a:srgbClr val="006600"/>
                        </a:solidFill>
                        <a:effectLst/>
                        <a:latin typeface="Arial Narrow" panose="020B0606020202030204" pitchFamily="34" charset="0"/>
                        <a:ea typeface="LG스마트체 Regular" panose="020B0600000101010101" pitchFamily="50" charset="-127"/>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algn="ctr" fontAlgn="ct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10%  (</a:t>
                      </a:r>
                      <a:r>
                        <a:rPr lang="ko-KR" alt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담당</a:t>
                      </a: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endParaRPr lang="en-US" sz="1000" b="0" i="0" u="none" strike="noStrike" spc="-70" baseline="0" dirty="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15" name="Rectangle 4">
            <a:extLst>
              <a:ext uri="{FF2B5EF4-FFF2-40B4-BE49-F238E27FC236}">
                <a16:creationId xmlns:a16="http://schemas.microsoft.com/office/drawing/2014/main" id="{0748E84C-9AB6-011D-D7D2-33B8A1137FDF}"/>
              </a:ext>
            </a:extLst>
          </p:cNvPr>
          <p:cNvSpPr>
            <a:spLocks noChangeArrowheads="1"/>
          </p:cNvSpPr>
          <p:nvPr/>
        </p:nvSpPr>
        <p:spPr bwMode="auto">
          <a:xfrm>
            <a:off x="200471" y="761674"/>
            <a:ext cx="448035" cy="702000"/>
          </a:xfrm>
          <a:prstGeom prst="rect">
            <a:avLst/>
          </a:prstGeom>
          <a:solidFill>
            <a:schemeClr val="bg1"/>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90000"/>
              </a:lnSpc>
              <a:spcBef>
                <a:spcPct val="3000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목표</a:t>
            </a:r>
            <a:endParaRPr kumimoji="1" lang="en-US" altLang="ko-KR"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16" name="표 15">
            <a:extLst>
              <a:ext uri="{FF2B5EF4-FFF2-40B4-BE49-F238E27FC236}">
                <a16:creationId xmlns:a16="http://schemas.microsoft.com/office/drawing/2014/main" id="{F3C9AE73-3B4F-39FD-B4B8-625EE9FB98E2}"/>
              </a:ext>
            </a:extLst>
          </p:cNvPr>
          <p:cNvGraphicFramePr>
            <a:graphicFrameLocks noGrp="1"/>
          </p:cNvGraphicFramePr>
          <p:nvPr/>
        </p:nvGraphicFramePr>
        <p:xfrm>
          <a:off x="735048" y="1521549"/>
          <a:ext cx="8862108" cy="1138320"/>
        </p:xfrm>
        <a:graphic>
          <a:graphicData uri="http://schemas.openxmlformats.org/drawingml/2006/table">
            <a:tbl>
              <a:tblPr/>
              <a:tblGrid>
                <a:gridCol w="738509">
                  <a:extLst>
                    <a:ext uri="{9D8B030D-6E8A-4147-A177-3AD203B41FA5}">
                      <a16:colId xmlns:a16="http://schemas.microsoft.com/office/drawing/2014/main" val="1710325250"/>
                    </a:ext>
                  </a:extLst>
                </a:gridCol>
                <a:gridCol w="738509">
                  <a:extLst>
                    <a:ext uri="{9D8B030D-6E8A-4147-A177-3AD203B41FA5}">
                      <a16:colId xmlns:a16="http://schemas.microsoft.com/office/drawing/2014/main" val="2582822843"/>
                    </a:ext>
                  </a:extLst>
                </a:gridCol>
                <a:gridCol w="738509">
                  <a:extLst>
                    <a:ext uri="{9D8B030D-6E8A-4147-A177-3AD203B41FA5}">
                      <a16:colId xmlns:a16="http://schemas.microsoft.com/office/drawing/2014/main" val="3574503571"/>
                    </a:ext>
                  </a:extLst>
                </a:gridCol>
                <a:gridCol w="738509">
                  <a:extLst>
                    <a:ext uri="{9D8B030D-6E8A-4147-A177-3AD203B41FA5}">
                      <a16:colId xmlns:a16="http://schemas.microsoft.com/office/drawing/2014/main" val="906262013"/>
                    </a:ext>
                  </a:extLst>
                </a:gridCol>
                <a:gridCol w="738509">
                  <a:extLst>
                    <a:ext uri="{9D8B030D-6E8A-4147-A177-3AD203B41FA5}">
                      <a16:colId xmlns:a16="http://schemas.microsoft.com/office/drawing/2014/main" val="3618680307"/>
                    </a:ext>
                  </a:extLst>
                </a:gridCol>
                <a:gridCol w="738509">
                  <a:extLst>
                    <a:ext uri="{9D8B030D-6E8A-4147-A177-3AD203B41FA5}">
                      <a16:colId xmlns:a16="http://schemas.microsoft.com/office/drawing/2014/main" val="1865859727"/>
                    </a:ext>
                  </a:extLst>
                </a:gridCol>
                <a:gridCol w="738509">
                  <a:extLst>
                    <a:ext uri="{9D8B030D-6E8A-4147-A177-3AD203B41FA5}">
                      <a16:colId xmlns:a16="http://schemas.microsoft.com/office/drawing/2014/main" val="214679234"/>
                    </a:ext>
                  </a:extLst>
                </a:gridCol>
                <a:gridCol w="738509">
                  <a:extLst>
                    <a:ext uri="{9D8B030D-6E8A-4147-A177-3AD203B41FA5}">
                      <a16:colId xmlns:a16="http://schemas.microsoft.com/office/drawing/2014/main" val="2741167305"/>
                    </a:ext>
                  </a:extLst>
                </a:gridCol>
                <a:gridCol w="738509">
                  <a:extLst>
                    <a:ext uri="{9D8B030D-6E8A-4147-A177-3AD203B41FA5}">
                      <a16:colId xmlns:a16="http://schemas.microsoft.com/office/drawing/2014/main" val="3278585182"/>
                    </a:ext>
                  </a:extLst>
                </a:gridCol>
                <a:gridCol w="738509">
                  <a:extLst>
                    <a:ext uri="{9D8B030D-6E8A-4147-A177-3AD203B41FA5}">
                      <a16:colId xmlns:a16="http://schemas.microsoft.com/office/drawing/2014/main" val="1712991450"/>
                    </a:ext>
                  </a:extLst>
                </a:gridCol>
                <a:gridCol w="738509">
                  <a:extLst>
                    <a:ext uri="{9D8B030D-6E8A-4147-A177-3AD203B41FA5}">
                      <a16:colId xmlns:a16="http://schemas.microsoft.com/office/drawing/2014/main" val="823744282"/>
                    </a:ext>
                  </a:extLst>
                </a:gridCol>
                <a:gridCol w="738509">
                  <a:extLst>
                    <a:ext uri="{9D8B030D-6E8A-4147-A177-3AD203B41FA5}">
                      <a16:colId xmlns:a16="http://schemas.microsoft.com/office/drawing/2014/main" val="2867782548"/>
                    </a:ext>
                  </a:extLst>
                </a:gridCol>
              </a:tblGrid>
              <a:tr h="127781">
                <a:tc gridSpan="12">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년</a:t>
                      </a:r>
                    </a:p>
                  </a:txBody>
                  <a:tcPr marL="0" marR="0" marT="0" marB="0" anchor="ctr">
                    <a:lnL w="12700" cap="flat" cmpd="sng" algn="ctr">
                      <a:noFill/>
                      <a:prstDash val="solid"/>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0257681"/>
                  </a:ext>
                </a:extLst>
              </a:tr>
              <a:tr h="127781">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3</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4</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7</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8</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9</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10</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850938"/>
                  </a:ext>
                </a:extLst>
              </a:tr>
              <a:tr h="864000">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057251"/>
                  </a:ext>
                </a:extLst>
              </a:tr>
            </a:tbl>
          </a:graphicData>
        </a:graphic>
      </p:graphicFrame>
      <p:grpSp>
        <p:nvGrpSpPr>
          <p:cNvPr id="51" name="그룹 1">
            <a:extLst>
              <a:ext uri="{FF2B5EF4-FFF2-40B4-BE49-F238E27FC236}">
                <a16:creationId xmlns:a16="http://schemas.microsoft.com/office/drawing/2014/main" id="{80FD162C-0A35-4E35-2B90-994286501D92}"/>
              </a:ext>
            </a:extLst>
          </p:cNvPr>
          <p:cNvGrpSpPr/>
          <p:nvPr/>
        </p:nvGrpSpPr>
        <p:grpSpPr>
          <a:xfrm>
            <a:off x="5800934" y="1484784"/>
            <a:ext cx="205184" cy="1181864"/>
            <a:chOff x="2020628" y="1123354"/>
            <a:chExt cx="205184" cy="3540909"/>
          </a:xfrm>
        </p:grpSpPr>
        <p:grpSp>
          <p:nvGrpSpPr>
            <p:cNvPr id="72" name="그룹 2">
              <a:extLst>
                <a:ext uri="{FF2B5EF4-FFF2-40B4-BE49-F238E27FC236}">
                  <a16:creationId xmlns:a16="http://schemas.microsoft.com/office/drawing/2014/main" id="{2A5EBC52-6448-A93A-6787-50C82F0944A1}"/>
                </a:ext>
              </a:extLst>
            </p:cNvPr>
            <p:cNvGrpSpPr/>
            <p:nvPr/>
          </p:nvGrpSpPr>
          <p:grpSpPr>
            <a:xfrm>
              <a:off x="2072680" y="1578060"/>
              <a:ext cx="120667" cy="3086203"/>
              <a:chOff x="4167960" y="2510051"/>
              <a:chExt cx="120667" cy="3199302"/>
            </a:xfrm>
          </p:grpSpPr>
          <p:cxnSp>
            <p:nvCxnSpPr>
              <p:cNvPr id="76" name="직선 연결선 167">
                <a:extLst>
                  <a:ext uri="{FF2B5EF4-FFF2-40B4-BE49-F238E27FC236}">
                    <a16:creationId xmlns:a16="http://schemas.microsoft.com/office/drawing/2014/main" id="{99EAA32A-3625-7EFF-FAA5-8F1F66030989}"/>
                  </a:ext>
                </a:extLst>
              </p:cNvPr>
              <p:cNvCxnSpPr>
                <a:cxnSpLocks/>
              </p:cNvCxnSpPr>
              <p:nvPr/>
            </p:nvCxnSpPr>
            <p:spPr>
              <a:xfrm>
                <a:off x="4228294" y="2685928"/>
                <a:ext cx="0" cy="3023425"/>
              </a:xfrm>
              <a:prstGeom prst="line">
                <a:avLst/>
              </a:prstGeom>
              <a:noFill/>
              <a:ln w="19050" cap="flat" cmpd="sng" algn="ctr">
                <a:solidFill>
                  <a:srgbClr val="0000FF"/>
                </a:solidFill>
                <a:prstDash val="sysDot"/>
              </a:ln>
              <a:effectLst/>
            </p:spPr>
          </p:cxnSp>
          <p:sp>
            <p:nvSpPr>
              <p:cNvPr id="77" name="이등변 삼각형 7">
                <a:extLst>
                  <a:ext uri="{FF2B5EF4-FFF2-40B4-BE49-F238E27FC236}">
                    <a16:creationId xmlns:a16="http://schemas.microsoft.com/office/drawing/2014/main" id="{3A8B7EBE-78B3-62EA-F7E1-970BDE4977A5}"/>
                  </a:ext>
                </a:extLst>
              </p:cNvPr>
              <p:cNvSpPr/>
              <p:nvPr/>
            </p:nvSpPr>
            <p:spPr>
              <a:xfrm flipV="1">
                <a:off x="4167960" y="2510051"/>
                <a:ext cx="120667" cy="89074"/>
              </a:xfrm>
              <a:prstGeom prst="triangle">
                <a:avLst/>
              </a:prstGeom>
              <a:solidFill>
                <a:srgbClr val="FF0000"/>
              </a:solidFill>
              <a:ln w="25400" cap="flat" cmpd="sng" algn="ctr">
                <a:solidFill>
                  <a:srgbClr val="0000FF"/>
                </a:solid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73" name="Text Box 4">
              <a:extLst>
                <a:ext uri="{FF2B5EF4-FFF2-40B4-BE49-F238E27FC236}">
                  <a16:creationId xmlns:a16="http://schemas.microsoft.com/office/drawing/2014/main" id="{AB19B83F-7F63-04BF-723F-240D6E341585}"/>
                </a:ext>
              </a:extLst>
            </p:cNvPr>
            <p:cNvSpPr txBox="1">
              <a:spLocks noChangeArrowheads="1"/>
            </p:cNvSpPr>
            <p:nvPr/>
          </p:nvSpPr>
          <p:spPr bwMode="auto">
            <a:xfrm>
              <a:off x="2020628" y="1123354"/>
              <a:ext cx="205184" cy="414948"/>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rPr>
                <a:t>완료</a:t>
              </a:r>
              <a:endParaRPr kumimoji="0" lang="en-US" altLang="ko-KR"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endParaRPr>
            </a:p>
          </p:txBody>
        </p:sp>
      </p:grpSp>
      <p:grpSp>
        <p:nvGrpSpPr>
          <p:cNvPr id="78" name="그룹 77">
            <a:extLst>
              <a:ext uri="{FF2B5EF4-FFF2-40B4-BE49-F238E27FC236}">
                <a16:creationId xmlns:a16="http://schemas.microsoft.com/office/drawing/2014/main" id="{314B5472-5354-D8DF-4B63-187321CAF371}"/>
              </a:ext>
            </a:extLst>
          </p:cNvPr>
          <p:cNvGrpSpPr/>
          <p:nvPr/>
        </p:nvGrpSpPr>
        <p:grpSpPr>
          <a:xfrm>
            <a:off x="839581" y="2821101"/>
            <a:ext cx="4008771" cy="341334"/>
            <a:chOff x="961536" y="4488828"/>
            <a:chExt cx="4008771" cy="341334"/>
          </a:xfrm>
        </p:grpSpPr>
        <p:sp>
          <p:nvSpPr>
            <p:cNvPr id="79" name="제목 9">
              <a:extLst>
                <a:ext uri="{FF2B5EF4-FFF2-40B4-BE49-F238E27FC236}">
                  <a16:creationId xmlns:a16="http://schemas.microsoft.com/office/drawing/2014/main" id="{022DC84A-9FA6-A87A-B732-FEB986FB406E}"/>
                </a:ext>
              </a:extLst>
            </p:cNvPr>
            <p:cNvSpPr txBox="1">
              <a:spLocks/>
            </p:cNvSpPr>
            <p:nvPr/>
          </p:nvSpPr>
          <p:spPr>
            <a:xfrm>
              <a:off x="2577457" y="4488828"/>
              <a:ext cx="776928"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진척사항</a:t>
              </a:r>
            </a:p>
          </p:txBody>
        </p:sp>
        <p:cxnSp>
          <p:nvCxnSpPr>
            <p:cNvPr id="80" name="직선 연결선 2">
              <a:extLst>
                <a:ext uri="{FF2B5EF4-FFF2-40B4-BE49-F238E27FC236}">
                  <a16:creationId xmlns:a16="http://schemas.microsoft.com/office/drawing/2014/main" id="{920C8D0B-3F45-F3BD-DB96-660EFC98DD6F}"/>
                </a:ext>
              </a:extLst>
            </p:cNvPr>
            <p:cNvCxnSpPr>
              <a:cxnSpLocks noChangeShapeType="1"/>
            </p:cNvCxnSpPr>
            <p:nvPr/>
          </p:nvCxnSpPr>
          <p:spPr bwMode="auto">
            <a:xfrm>
              <a:off x="961536" y="4830162"/>
              <a:ext cx="400877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그룹 91">
            <a:extLst>
              <a:ext uri="{FF2B5EF4-FFF2-40B4-BE49-F238E27FC236}">
                <a16:creationId xmlns:a16="http://schemas.microsoft.com/office/drawing/2014/main" id="{96AAD45A-4941-3BC6-0B8C-6C72064B482F}"/>
              </a:ext>
            </a:extLst>
          </p:cNvPr>
          <p:cNvGrpSpPr/>
          <p:nvPr/>
        </p:nvGrpSpPr>
        <p:grpSpPr>
          <a:xfrm>
            <a:off x="5141076" y="2828807"/>
            <a:ext cx="4553251" cy="333628"/>
            <a:chOff x="5152724" y="4496534"/>
            <a:chExt cx="4221222" cy="333628"/>
          </a:xfrm>
        </p:grpSpPr>
        <p:sp>
          <p:nvSpPr>
            <p:cNvPr id="93" name="제목 9">
              <a:extLst>
                <a:ext uri="{FF2B5EF4-FFF2-40B4-BE49-F238E27FC236}">
                  <a16:creationId xmlns:a16="http://schemas.microsoft.com/office/drawing/2014/main" id="{CB192F8E-B058-4176-FF71-0775401E849D}"/>
                </a:ext>
              </a:extLst>
            </p:cNvPr>
            <p:cNvSpPr txBox="1">
              <a:spLocks/>
            </p:cNvSpPr>
            <p:nvPr/>
          </p:nvSpPr>
          <p:spPr>
            <a:xfrm>
              <a:off x="6885365" y="4496534"/>
              <a:ext cx="755940"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향후 계획</a:t>
              </a:r>
            </a:p>
          </p:txBody>
        </p:sp>
        <p:cxnSp>
          <p:nvCxnSpPr>
            <p:cNvPr id="103" name="직선 연결선 2">
              <a:extLst>
                <a:ext uri="{FF2B5EF4-FFF2-40B4-BE49-F238E27FC236}">
                  <a16:creationId xmlns:a16="http://schemas.microsoft.com/office/drawing/2014/main" id="{8154870B-B67D-E274-7CBD-22C3A25495B6}"/>
                </a:ext>
              </a:extLst>
            </p:cNvPr>
            <p:cNvCxnSpPr>
              <a:cxnSpLocks noChangeShapeType="1"/>
            </p:cNvCxnSpPr>
            <p:nvPr/>
          </p:nvCxnSpPr>
          <p:spPr bwMode="auto">
            <a:xfrm>
              <a:off x="5152724" y="4830162"/>
              <a:ext cx="422122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7" name="Rectangle 4">
            <a:extLst>
              <a:ext uri="{FF2B5EF4-FFF2-40B4-BE49-F238E27FC236}">
                <a16:creationId xmlns:a16="http://schemas.microsoft.com/office/drawing/2014/main" id="{89599F42-7FFB-B35B-3CCA-6FC86D07A5C2}"/>
              </a:ext>
            </a:extLst>
          </p:cNvPr>
          <p:cNvSpPr>
            <a:spLocks noChangeArrowheads="1"/>
          </p:cNvSpPr>
          <p:nvPr/>
        </p:nvSpPr>
        <p:spPr bwMode="auto">
          <a:xfrm>
            <a:off x="200471" y="2746039"/>
            <a:ext cx="448035" cy="3799689"/>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진척</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사항</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cxnSp>
        <p:nvCxnSpPr>
          <p:cNvPr id="118" name="직선 연결선 117">
            <a:extLst>
              <a:ext uri="{FF2B5EF4-FFF2-40B4-BE49-F238E27FC236}">
                <a16:creationId xmlns:a16="http://schemas.microsoft.com/office/drawing/2014/main" id="{B6C31AAA-29F3-E8FC-B5C9-E5AC1203D8F6}"/>
              </a:ext>
            </a:extLst>
          </p:cNvPr>
          <p:cNvCxnSpPr>
            <a:cxnSpLocks/>
          </p:cNvCxnSpPr>
          <p:nvPr/>
        </p:nvCxnSpPr>
        <p:spPr>
          <a:xfrm flipV="1">
            <a:off x="4997300" y="2811865"/>
            <a:ext cx="0" cy="3929684"/>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0" name="타원 129">
            <a:extLst>
              <a:ext uri="{FF2B5EF4-FFF2-40B4-BE49-F238E27FC236}">
                <a16:creationId xmlns:a16="http://schemas.microsoft.com/office/drawing/2014/main" id="{67C27948-5777-7DF8-8F81-682AA07F8E8B}"/>
              </a:ext>
            </a:extLst>
          </p:cNvPr>
          <p:cNvSpPr>
            <a:spLocks noChangeAspect="1"/>
          </p:cNvSpPr>
          <p:nvPr/>
        </p:nvSpPr>
        <p:spPr>
          <a:xfrm>
            <a:off x="9136690" y="1150348"/>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grpSp>
        <p:nvGrpSpPr>
          <p:cNvPr id="138" name="그룹 137">
            <a:extLst>
              <a:ext uri="{FF2B5EF4-FFF2-40B4-BE49-F238E27FC236}">
                <a16:creationId xmlns:a16="http://schemas.microsoft.com/office/drawing/2014/main" id="{D521DA08-8602-6A6A-75AA-B420F026C4B7}"/>
              </a:ext>
            </a:extLst>
          </p:cNvPr>
          <p:cNvGrpSpPr/>
          <p:nvPr/>
        </p:nvGrpSpPr>
        <p:grpSpPr>
          <a:xfrm>
            <a:off x="648506" y="1971308"/>
            <a:ext cx="7554465" cy="578142"/>
            <a:chOff x="648506" y="1850514"/>
            <a:chExt cx="7554465" cy="578142"/>
          </a:xfrm>
        </p:grpSpPr>
        <p:cxnSp>
          <p:nvCxnSpPr>
            <p:cNvPr id="142" name="직선 화살표 연결선 141">
              <a:extLst>
                <a:ext uri="{FF2B5EF4-FFF2-40B4-BE49-F238E27FC236}">
                  <a16:creationId xmlns:a16="http://schemas.microsoft.com/office/drawing/2014/main" id="{FC8C5330-4DE5-B87F-C4EF-2E78B59D924C}"/>
                </a:ext>
              </a:extLst>
            </p:cNvPr>
            <p:cNvCxnSpPr>
              <a:cxnSpLocks/>
              <a:endCxn id="190" idx="2"/>
            </p:cNvCxnSpPr>
            <p:nvPr/>
          </p:nvCxnSpPr>
          <p:spPr>
            <a:xfrm>
              <a:off x="648506" y="2053688"/>
              <a:ext cx="5088506"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5C4134AB-08A6-0639-8558-21414B2B5191}"/>
                </a:ext>
              </a:extLst>
            </p:cNvPr>
            <p:cNvSpPr txBox="1"/>
            <p:nvPr/>
          </p:nvSpPr>
          <p:spPr>
            <a:xfrm>
              <a:off x="4639802" y="2109732"/>
              <a:ext cx="438188"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대표호기</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셋업</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158" name="타원 157">
              <a:extLst>
                <a:ext uri="{FF2B5EF4-FFF2-40B4-BE49-F238E27FC236}">
                  <a16:creationId xmlns:a16="http://schemas.microsoft.com/office/drawing/2014/main" id="{2A9712DF-BCCE-CC33-7409-5171044813D4}"/>
                </a:ext>
              </a:extLst>
            </p:cNvPr>
            <p:cNvSpPr/>
            <p:nvPr/>
          </p:nvSpPr>
          <p:spPr>
            <a:xfrm>
              <a:off x="4786896" y="1981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 Regular" panose="020B0600000101010101" pitchFamily="50" charset="-127"/>
                </a:rPr>
                <a:t>17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6" name="타원 185">
              <a:extLst>
                <a:ext uri="{FF2B5EF4-FFF2-40B4-BE49-F238E27FC236}">
                  <a16:creationId xmlns:a16="http://schemas.microsoft.com/office/drawing/2014/main" id="{921936B4-9595-4DA1-5A81-249B4D705723}"/>
                </a:ext>
              </a:extLst>
            </p:cNvPr>
            <p:cNvSpPr/>
            <p:nvPr/>
          </p:nvSpPr>
          <p:spPr>
            <a:xfrm>
              <a:off x="1373195"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8" name="TextBox 187">
              <a:extLst>
                <a:ext uri="{FF2B5EF4-FFF2-40B4-BE49-F238E27FC236}">
                  <a16:creationId xmlns:a16="http://schemas.microsoft.com/office/drawing/2014/main" id="{68ADE0A8-7094-504F-6144-D044C67F7E80}"/>
                </a:ext>
              </a:extLst>
            </p:cNvPr>
            <p:cNvSpPr txBox="1"/>
            <p:nvPr/>
          </p:nvSpPr>
          <p:spPr>
            <a:xfrm>
              <a:off x="1233579" y="2104583"/>
              <a:ext cx="462232"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Data </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연계</a:t>
              </a:r>
              <a:b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컨셉 수립</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9" name="타원 188">
              <a:extLst>
                <a:ext uri="{FF2B5EF4-FFF2-40B4-BE49-F238E27FC236}">
                  <a16:creationId xmlns:a16="http://schemas.microsoft.com/office/drawing/2014/main" id="{8222F5AE-8F7D-2FDF-9842-63BEBA3BC6FA}"/>
                </a:ext>
              </a:extLst>
            </p:cNvPr>
            <p:cNvSpPr/>
            <p:nvPr/>
          </p:nvSpPr>
          <p:spPr>
            <a:xfrm>
              <a:off x="4197028"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22</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0" name="타원 189">
              <a:extLst>
                <a:ext uri="{FF2B5EF4-FFF2-40B4-BE49-F238E27FC236}">
                  <a16:creationId xmlns:a16="http://schemas.microsoft.com/office/drawing/2014/main" id="{3E2C0A75-E6F8-E1C9-9445-CF55679D0B51}"/>
                </a:ext>
              </a:extLst>
            </p:cNvPr>
            <p:cNvSpPr/>
            <p:nvPr/>
          </p:nvSpPr>
          <p:spPr>
            <a:xfrm>
              <a:off x="5737012" y="1981688"/>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1" name="타원 190">
              <a:extLst>
                <a:ext uri="{FF2B5EF4-FFF2-40B4-BE49-F238E27FC236}">
                  <a16:creationId xmlns:a16="http://schemas.microsoft.com/office/drawing/2014/main" id="{8BFBC2EA-D23B-614E-06CB-4FB8859F592E}"/>
                </a:ext>
              </a:extLst>
            </p:cNvPr>
            <p:cNvSpPr/>
            <p:nvPr/>
          </p:nvSpPr>
          <p:spPr>
            <a:xfrm>
              <a:off x="1033988"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15</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2" name="TextBox 191">
              <a:extLst>
                <a:ext uri="{FF2B5EF4-FFF2-40B4-BE49-F238E27FC236}">
                  <a16:creationId xmlns:a16="http://schemas.microsoft.com/office/drawing/2014/main" id="{74076690-53F4-DCD5-0BA9-7DAD6EB8638F}"/>
                </a:ext>
              </a:extLst>
            </p:cNvPr>
            <p:cNvSpPr txBox="1"/>
            <p:nvPr/>
          </p:nvSpPr>
          <p:spPr>
            <a:xfrm>
              <a:off x="948260" y="2104583"/>
              <a:ext cx="255445"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과제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검토</a:t>
              </a:r>
            </a:p>
          </p:txBody>
        </p:sp>
        <p:sp>
          <p:nvSpPr>
            <p:cNvPr id="193" name="타원 192">
              <a:extLst>
                <a:ext uri="{FF2B5EF4-FFF2-40B4-BE49-F238E27FC236}">
                  <a16:creationId xmlns:a16="http://schemas.microsoft.com/office/drawing/2014/main" id="{E744D080-AE94-08BF-B385-1ABC189901C7}"/>
                </a:ext>
              </a:extLst>
            </p:cNvPr>
            <p:cNvSpPr/>
            <p:nvPr/>
          </p:nvSpPr>
          <p:spPr>
            <a:xfrm>
              <a:off x="2088784"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24</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4" name="TextBox 193">
              <a:extLst>
                <a:ext uri="{FF2B5EF4-FFF2-40B4-BE49-F238E27FC236}">
                  <a16:creationId xmlns:a16="http://schemas.microsoft.com/office/drawing/2014/main" id="{D9CF3798-5CC7-B45A-477E-EF853EE0332B}"/>
                </a:ext>
              </a:extLst>
            </p:cNvPr>
            <p:cNvSpPr txBox="1"/>
            <p:nvPr/>
          </p:nvSpPr>
          <p:spPr>
            <a:xfrm>
              <a:off x="1988944" y="2104583"/>
              <a:ext cx="346817"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투자비</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검토</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5" name="타원 194">
              <a:extLst>
                <a:ext uri="{FF2B5EF4-FFF2-40B4-BE49-F238E27FC236}">
                  <a16:creationId xmlns:a16="http://schemas.microsoft.com/office/drawing/2014/main" id="{6669AC77-277C-CBD6-4845-A06A8AE725BE}"/>
                </a:ext>
              </a:extLst>
            </p:cNvPr>
            <p:cNvSpPr/>
            <p:nvPr/>
          </p:nvSpPr>
          <p:spPr>
            <a:xfrm>
              <a:off x="3401828"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27</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6" name="TextBox 195">
              <a:extLst>
                <a:ext uri="{FF2B5EF4-FFF2-40B4-BE49-F238E27FC236}">
                  <a16:creationId xmlns:a16="http://schemas.microsoft.com/office/drawing/2014/main" id="{3A765E53-E134-E354-197C-C9A9520C8383}"/>
                </a:ext>
              </a:extLst>
            </p:cNvPr>
            <p:cNvSpPr txBox="1"/>
            <p:nvPr/>
          </p:nvSpPr>
          <p:spPr>
            <a:xfrm>
              <a:off x="3152800" y="2104583"/>
              <a:ext cx="686654"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설비 </a:t>
              </a: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Logic</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개발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(PC/PLC)</a:t>
              </a:r>
            </a:p>
          </p:txBody>
        </p:sp>
        <p:sp>
          <p:nvSpPr>
            <p:cNvPr id="197" name="TextBox 196">
              <a:extLst>
                <a:ext uri="{FF2B5EF4-FFF2-40B4-BE49-F238E27FC236}">
                  <a16:creationId xmlns:a16="http://schemas.microsoft.com/office/drawing/2014/main" id="{5B717A3A-BE73-1DFA-B5D8-27825D605B87}"/>
                </a:ext>
              </a:extLst>
            </p:cNvPr>
            <p:cNvSpPr txBox="1"/>
            <p:nvPr/>
          </p:nvSpPr>
          <p:spPr>
            <a:xfrm>
              <a:off x="3992002" y="2109732"/>
              <a:ext cx="560017"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상위</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System </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연동</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198" name="타원 197">
              <a:extLst>
                <a:ext uri="{FF2B5EF4-FFF2-40B4-BE49-F238E27FC236}">
                  <a16:creationId xmlns:a16="http://schemas.microsoft.com/office/drawing/2014/main" id="{48D16A77-295D-87FB-7BCB-62C8EBA6BCB9}"/>
                </a:ext>
              </a:extLst>
            </p:cNvPr>
            <p:cNvSpPr/>
            <p:nvPr/>
          </p:nvSpPr>
          <p:spPr>
            <a:xfrm>
              <a:off x="2786763"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9" name="TextBox 198">
              <a:extLst>
                <a:ext uri="{FF2B5EF4-FFF2-40B4-BE49-F238E27FC236}">
                  <a16:creationId xmlns:a16="http://schemas.microsoft.com/office/drawing/2014/main" id="{E2D1CC20-6763-D5F3-09AE-E5D54837D92A}"/>
                </a:ext>
              </a:extLst>
            </p:cNvPr>
            <p:cNvSpPr txBox="1"/>
            <p:nvPr/>
          </p:nvSpPr>
          <p:spPr>
            <a:xfrm>
              <a:off x="2735409" y="2104583"/>
              <a:ext cx="255445"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투자</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품의</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00" name="TextBox 199">
              <a:extLst>
                <a:ext uri="{FF2B5EF4-FFF2-40B4-BE49-F238E27FC236}">
                  <a16:creationId xmlns:a16="http://schemas.microsoft.com/office/drawing/2014/main" id="{99A8709F-9A23-AE1E-5FB6-135D3CD2C1C0}"/>
                </a:ext>
              </a:extLst>
            </p:cNvPr>
            <p:cNvSpPr txBox="1"/>
            <p:nvPr/>
          </p:nvSpPr>
          <p:spPr>
            <a:xfrm>
              <a:off x="5681920" y="2109732"/>
              <a:ext cx="255445"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효과</a:t>
              </a:r>
              <a:b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b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산출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201" name="TextBox 200">
              <a:extLst>
                <a:ext uri="{FF2B5EF4-FFF2-40B4-BE49-F238E27FC236}">
                  <a16:creationId xmlns:a16="http://schemas.microsoft.com/office/drawing/2014/main" id="{D41D5C58-9F12-18EC-487E-40BFC213A834}"/>
                </a:ext>
              </a:extLst>
            </p:cNvPr>
            <p:cNvSpPr txBox="1"/>
            <p:nvPr/>
          </p:nvSpPr>
          <p:spPr>
            <a:xfrm>
              <a:off x="5072632" y="2109732"/>
              <a:ext cx="438188"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모니터링</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디버깅</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202" name="타원 201">
              <a:extLst>
                <a:ext uri="{FF2B5EF4-FFF2-40B4-BE49-F238E27FC236}">
                  <a16:creationId xmlns:a16="http://schemas.microsoft.com/office/drawing/2014/main" id="{F7643119-9C34-ADFE-4993-0AFA2BBFEC45}"/>
                </a:ext>
              </a:extLst>
            </p:cNvPr>
            <p:cNvSpPr/>
            <p:nvPr/>
          </p:nvSpPr>
          <p:spPr>
            <a:xfrm>
              <a:off x="5073219" y="1981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03" name="TextBox 202">
              <a:extLst>
                <a:ext uri="{FF2B5EF4-FFF2-40B4-BE49-F238E27FC236}">
                  <a16:creationId xmlns:a16="http://schemas.microsoft.com/office/drawing/2014/main" id="{D94AB4C4-DBB9-73A4-02DD-0C5531609CED}"/>
                </a:ext>
              </a:extLst>
            </p:cNvPr>
            <p:cNvSpPr txBox="1"/>
            <p:nvPr/>
          </p:nvSpPr>
          <p:spPr>
            <a:xfrm>
              <a:off x="7764783" y="1850514"/>
              <a:ext cx="438188" cy="19581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수평전개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grpSp>
      <p:sp>
        <p:nvSpPr>
          <p:cNvPr id="204" name="TextBox 203">
            <a:extLst>
              <a:ext uri="{FF2B5EF4-FFF2-40B4-BE49-F238E27FC236}">
                <a16:creationId xmlns:a16="http://schemas.microsoft.com/office/drawing/2014/main" id="{D847FC8F-8A88-AF53-AC32-F789387D487F}"/>
              </a:ext>
            </a:extLst>
          </p:cNvPr>
          <p:cNvSpPr txBox="1"/>
          <p:nvPr/>
        </p:nvSpPr>
        <p:spPr>
          <a:xfrm>
            <a:off x="2695969" y="2489943"/>
            <a:ext cx="1382972" cy="215444"/>
          </a:xfrm>
          <a:prstGeom prst="rect">
            <a:avLst/>
          </a:prstGeom>
          <a:noFill/>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예산</a:t>
            </a:r>
            <a:r>
              <a:rPr kumimoji="0" lang="en-US" altLang="ko-KR"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품의 발의 주체 </a:t>
            </a:r>
            <a:r>
              <a:rPr kumimoji="0" lang="en-US" altLang="ko-KR" sz="800" b="0" i="0" u="none" strike="noStrike" kern="1200" cap="none" spc="-80" normalizeH="0" baseline="0" noProof="0">
                <a:ln>
                  <a:noFill/>
                </a:ln>
                <a:solidFill>
                  <a:srgbClr val="006600"/>
                </a:solidFill>
                <a:effectLst/>
                <a:uLnTx/>
                <a:uFillTx/>
                <a:latin typeface="LG스마트체 Regular" panose="020B0600000101010101" pitchFamily="50" charset="-127"/>
                <a:ea typeface="LG스마트체 Regular" panose="020B0600000101010101" pitchFamily="50" charset="-127"/>
                <a:cs typeface="+mn-cs"/>
              </a:rPr>
              <a:t>(ESWA)</a:t>
            </a:r>
            <a:endParaRPr kumimoji="0" lang="ko-KR" altLang="en-US" sz="800" b="0" i="0" u="none" strike="noStrike" kern="1200" cap="none" spc="-80" normalizeH="0" baseline="0" noProof="0">
              <a:ln>
                <a:noFill/>
              </a:ln>
              <a:solidFill>
                <a:prstClr val="black"/>
              </a:solidFill>
              <a:effectLst/>
              <a:uLnTx/>
              <a:uFillTx/>
              <a:latin typeface="맑은 고딕"/>
              <a:ea typeface="맑은 고딕" panose="020B0503020000020004" pitchFamily="50" charset="-127"/>
              <a:cs typeface="+mn-cs"/>
            </a:endParaRPr>
          </a:p>
        </p:txBody>
      </p:sp>
      <p:cxnSp>
        <p:nvCxnSpPr>
          <p:cNvPr id="205" name="직선 화살표 연결선 204">
            <a:extLst>
              <a:ext uri="{FF2B5EF4-FFF2-40B4-BE49-F238E27FC236}">
                <a16:creationId xmlns:a16="http://schemas.microsoft.com/office/drawing/2014/main" id="{2545E0BC-D813-C8FE-002B-67414563E176}"/>
              </a:ext>
            </a:extLst>
          </p:cNvPr>
          <p:cNvCxnSpPr>
            <a:cxnSpLocks/>
          </p:cNvCxnSpPr>
          <p:nvPr/>
        </p:nvCxnSpPr>
        <p:spPr>
          <a:xfrm>
            <a:off x="5961112" y="2174482"/>
            <a:ext cx="3691230" cy="0"/>
          </a:xfrm>
          <a:prstGeom prst="straightConnector1">
            <a:avLst/>
          </a:prstGeom>
          <a:ln w="28575">
            <a:solidFill>
              <a:schemeClr val="accent5">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39D15864-E839-76FF-EDFD-E2D7878A575C}"/>
              </a:ext>
            </a:extLst>
          </p:cNvPr>
          <p:cNvSpPr txBox="1"/>
          <p:nvPr/>
        </p:nvSpPr>
        <p:spPr>
          <a:xfrm>
            <a:off x="5167058" y="3172055"/>
            <a:ext cx="4553251" cy="282770"/>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선별투입 기능 확산 전개</a:t>
            </a:r>
            <a:endParaRPr kumimoji="1" lang="en-US" altLang="ko-KR" sz="11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207" name="제목 3">
            <a:extLst>
              <a:ext uri="{FF2B5EF4-FFF2-40B4-BE49-F238E27FC236}">
                <a16:creationId xmlns:a16="http://schemas.microsoft.com/office/drawing/2014/main" id="{BB859811-A6AD-1626-C28A-E157317F93F7}"/>
              </a:ext>
            </a:extLst>
          </p:cNvPr>
          <p:cNvSpPr txBox="1">
            <a:spLocks/>
          </p:cNvSpPr>
          <p:nvPr/>
        </p:nvSpPr>
        <p:spPr>
          <a:xfrm>
            <a:off x="134567" y="116448"/>
            <a:ext cx="4602409" cy="369332"/>
          </a:xfrm>
          <a:prstGeom prst="rect">
            <a:avLst/>
          </a:prstGeo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square" lIns="91440" tIns="45720" rIns="91440" bIns="45720" numCol="1" rtlCol="0" anchor="ctr" anchorCtr="0" compatLnSpc="1">
            <a:prstTxWarp prst="textNoShape">
              <a:avLst/>
            </a:prstTxWarp>
            <a:spAutoFit/>
          </a:bodyPr>
          <a:lstStyle>
            <a:lvl1pPr algn="ctr" defTabSz="914400" rtl="0" eaLnBrk="1" latinLnBrk="1" hangingPunct="1">
              <a:spcBef>
                <a:spcPct val="0"/>
              </a:spcBef>
              <a:buNone/>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3.</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a:t>
            </a:r>
            <a:r>
              <a:rPr kumimoji="0" lang="en-US" altLang="ko-KR" sz="18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j-cs"/>
              </a:rPr>
              <a:t>KPI 08</a:t>
            </a:r>
            <a:r>
              <a:rPr kumimoji="0" lang="ko-KR" altLang="en-US" sz="18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j-cs"/>
              </a:rPr>
              <a:t>월 </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진척 사항</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_</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고질 불량 개선 </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(1/3)</a:t>
            </a:r>
            <a:endPar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endParaRPr>
          </a:p>
        </p:txBody>
      </p:sp>
      <p:sp>
        <p:nvSpPr>
          <p:cNvPr id="208" name="실행 단추: 홈으로 이동 207">
            <a:hlinkClick r:id="rId3" action="ppaction://hlinksldjump" highlightClick="1"/>
            <a:extLst>
              <a:ext uri="{FF2B5EF4-FFF2-40B4-BE49-F238E27FC236}">
                <a16:creationId xmlns:a16="http://schemas.microsoft.com/office/drawing/2014/main" id="{DC1098C3-D8FB-7AF2-78AD-4A857BB6D924}"/>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209" name="TextBox 208">
            <a:extLst>
              <a:ext uri="{FF2B5EF4-FFF2-40B4-BE49-F238E27FC236}">
                <a16:creationId xmlns:a16="http://schemas.microsoft.com/office/drawing/2014/main" id="{F8CE5F2D-1261-9BE8-39EC-84B0035E6AB8}"/>
              </a:ext>
            </a:extLst>
          </p:cNvPr>
          <p:cNvSpPr txBox="1"/>
          <p:nvPr/>
        </p:nvSpPr>
        <p:spPr>
          <a:xfrm>
            <a:off x="816727" y="3172055"/>
            <a:ext cx="4324349" cy="296620"/>
          </a:xfrm>
          <a:prstGeom prst="rect">
            <a:avLst/>
          </a:prstGeom>
          <a:noFill/>
        </p:spPr>
        <p:txBody>
          <a:bodyPr wrap="square" lIns="33231" rIns="33231" rtlCol="0">
            <a:spAutoFit/>
          </a:bodyPr>
          <a:lstStyle/>
          <a:p>
            <a:pPr marL="164127" marR="0" lvl="0" indent="-164127" algn="l" defTabSz="844083" rtl="0" eaLnBrk="1" fontAlgn="base" latinLnBrk="1" hangingPunct="1">
              <a:lnSpc>
                <a:spcPct val="12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롤프레스 너울</a:t>
            </a:r>
            <a: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단선 개선을 위한 공정 간 </a:t>
            </a:r>
            <a:r>
              <a:rPr kumimoji="1" lang="ko-KR" altLang="en-US" sz="12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웹게이지</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로딩량 연계</a:t>
            </a:r>
            <a:endParaRPr kumimoji="1"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211" name="TextBox 210">
            <a:extLst>
              <a:ext uri="{FF2B5EF4-FFF2-40B4-BE49-F238E27FC236}">
                <a16:creationId xmlns:a16="http://schemas.microsoft.com/office/drawing/2014/main" id="{194CD3F8-30E9-4046-655F-55E3BEB75CF3}"/>
              </a:ext>
            </a:extLst>
          </p:cNvPr>
          <p:cNvSpPr txBox="1"/>
          <p:nvPr/>
        </p:nvSpPr>
        <p:spPr>
          <a:xfrm>
            <a:off x="5408603" y="110157"/>
            <a:ext cx="2304245" cy="338554"/>
          </a:xfrm>
          <a:prstGeom prst="rect">
            <a:avLst/>
          </a:prstGeom>
        </p:spPr>
        <p:txBody>
          <a:bodyPr wrap="square">
            <a:spAutoFit/>
          </a:bodyPr>
          <a:lstStyle/>
          <a:p>
            <a:pPr algn="l" fontAlgn="ctr"/>
            <a:r>
              <a:rPr kumimoji="1" lang="en-US" altLang="ko-KR" sz="1600" b="1">
                <a:solidFill>
                  <a:prstClr val="black"/>
                </a:solidFill>
                <a:latin typeface="Arial Narrow" panose="020B0606020202030204" pitchFamily="34" charset="0"/>
                <a:ea typeface="LG스마트체 Regular" panose="020B0600000101010101" pitchFamily="50" charset="-127"/>
              </a:rPr>
              <a:t>[</a:t>
            </a:r>
            <a:r>
              <a:rPr kumimoji="1" lang="ko-KR" altLang="en-US" sz="1600" b="1">
                <a:solidFill>
                  <a:prstClr val="black"/>
                </a:solidFill>
                <a:latin typeface="Arial Narrow" panose="020B0606020202030204" pitchFamily="34" charset="0"/>
                <a:ea typeface="LG스마트체 Regular" panose="020B0600000101010101" pitchFamily="50" charset="-127"/>
              </a:rPr>
              <a:t>롤프레스 너울</a:t>
            </a:r>
            <a:r>
              <a:rPr kumimoji="1" lang="en-US" altLang="ko-KR" sz="1600" b="1">
                <a:solidFill>
                  <a:prstClr val="black"/>
                </a:solidFill>
                <a:latin typeface="Arial Narrow" panose="020B0606020202030204" pitchFamily="34" charset="0"/>
                <a:ea typeface="LG스마트체 Regular" panose="020B0600000101010101" pitchFamily="50" charset="-127"/>
              </a:rPr>
              <a:t>/</a:t>
            </a:r>
            <a:r>
              <a:rPr kumimoji="1" lang="ko-KR" altLang="en-US" sz="1600" b="1">
                <a:solidFill>
                  <a:prstClr val="black"/>
                </a:solidFill>
                <a:latin typeface="Arial Narrow" panose="020B0606020202030204" pitchFamily="34" charset="0"/>
                <a:ea typeface="LG스마트체 Regular" panose="020B0600000101010101" pitchFamily="50" charset="-127"/>
              </a:rPr>
              <a:t>단선</a:t>
            </a:r>
            <a:r>
              <a:rPr kumimoji="1" lang="en-US" altLang="ko-KR" sz="1600" b="1">
                <a:solidFill>
                  <a:prstClr val="black"/>
                </a:solidFill>
                <a:latin typeface="Arial Narrow" panose="020B0606020202030204" pitchFamily="34" charset="0"/>
                <a:ea typeface="LG스마트체 Regular" panose="020B0600000101010101" pitchFamily="50" charset="-127"/>
              </a:rPr>
              <a:t>]</a:t>
            </a:r>
          </a:p>
        </p:txBody>
      </p:sp>
      <p:graphicFrame>
        <p:nvGraphicFramePr>
          <p:cNvPr id="212" name="표 211">
            <a:extLst>
              <a:ext uri="{FF2B5EF4-FFF2-40B4-BE49-F238E27FC236}">
                <a16:creationId xmlns:a16="http://schemas.microsoft.com/office/drawing/2014/main" id="{F4447EF8-FFE0-69A4-0E2F-C1A6CDF4E144}"/>
              </a:ext>
            </a:extLst>
          </p:cNvPr>
          <p:cNvGraphicFramePr>
            <a:graphicFrameLocks noGrp="1"/>
          </p:cNvGraphicFramePr>
          <p:nvPr>
            <p:extLst>
              <p:ext uri="{D42A27DB-BD31-4B8C-83A1-F6EECF244321}">
                <p14:modId xmlns:p14="http://schemas.microsoft.com/office/powerpoint/2010/main" val="1665985763"/>
              </p:ext>
            </p:extLst>
          </p:nvPr>
        </p:nvGraphicFramePr>
        <p:xfrm>
          <a:off x="816727" y="5080696"/>
          <a:ext cx="4039300" cy="1315031"/>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890253673"/>
                    </a:ext>
                  </a:extLst>
                </a:gridCol>
                <a:gridCol w="2016000">
                  <a:extLst>
                    <a:ext uri="{9D8B030D-6E8A-4147-A177-3AD203B41FA5}">
                      <a16:colId xmlns:a16="http://schemas.microsoft.com/office/drawing/2014/main" val="1418498087"/>
                    </a:ext>
                  </a:extLst>
                </a:gridCol>
                <a:gridCol w="475300">
                  <a:extLst>
                    <a:ext uri="{9D8B030D-6E8A-4147-A177-3AD203B41FA5}">
                      <a16:colId xmlns:a16="http://schemas.microsoft.com/office/drawing/2014/main" val="324038134"/>
                    </a:ext>
                  </a:extLst>
                </a:gridCol>
              </a:tblGrid>
              <a:tr h="170258">
                <a:tc>
                  <a:txBody>
                    <a:bodyPr/>
                    <a:lstStyle/>
                    <a:p>
                      <a:pPr algn="ctr" latinLnBrk="1"/>
                      <a:r>
                        <a:rPr lang="ko-KR" altLang="en-US" sz="800" dirty="0">
                          <a:solidFill>
                            <a:schemeClr val="tx1"/>
                          </a:solidFill>
                          <a:latin typeface="LG스마트체 Regular" panose="020B0600000101010101" pitchFamily="50" charset="-127"/>
                          <a:ea typeface="LG스마트체 Regular" panose="020B0600000101010101" pitchFamily="50" charset="-127"/>
                        </a:rPr>
                        <a:t>작업 항목</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ko-KR" altLang="en-US" sz="800" b="1" kern="1200">
                          <a:solidFill>
                            <a:schemeClr val="tx1"/>
                          </a:solidFill>
                          <a:latin typeface="LG스마트체 Regular" panose="020B0600000101010101" pitchFamily="50" charset="-127"/>
                          <a:ea typeface="LG스마트체 Regular" panose="020B0600000101010101" pitchFamily="50" charset="-127"/>
                          <a:cs typeface="+mn-cs"/>
                        </a:rPr>
                        <a:t>세부 내용</a:t>
                      </a:r>
                      <a:endParaRPr sz="800" b="1" kern="120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800" b="1" kern="1200" dirty="0">
                          <a:solidFill>
                            <a:schemeClr val="tx1"/>
                          </a:solidFill>
                          <a:latin typeface="LG스마트체 Regular" panose="020B0600000101010101" pitchFamily="50" charset="-127"/>
                          <a:ea typeface="LG스마트체 Regular" panose="020B0600000101010101" pitchFamily="50" charset="-127"/>
                          <a:cs typeface="+mn-cs"/>
                        </a:rPr>
                        <a:t>일정</a:t>
                      </a: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77799220"/>
                  </a:ext>
                </a:extLst>
              </a:tr>
              <a:tr h="127197">
                <a:tc rowSpan="3">
                  <a:txBody>
                    <a:bodyPr/>
                    <a:lstStyle/>
                    <a:p>
                      <a:pPr algn="ctr" latinLnBrk="1"/>
                      <a:r>
                        <a:rPr lang="ko-KR" altLang="en-US" sz="800" dirty="0">
                          <a:solidFill>
                            <a:schemeClr val="tx1"/>
                          </a:solidFill>
                          <a:latin typeface="LG스마트체 Regular" panose="020B0600000101010101" pitchFamily="50" charset="-127"/>
                          <a:ea typeface="LG스마트체 Regular" panose="020B0600000101010101" pitchFamily="50" charset="-127"/>
                        </a:rPr>
                        <a:t>로딩량 자동 보정 및 선별 투입 위한</a:t>
                      </a:r>
                      <a:br>
                        <a:rPr lang="en-US" altLang="ko-KR" sz="800" dirty="0">
                          <a:solidFill>
                            <a:schemeClr val="tx1"/>
                          </a:solidFill>
                          <a:latin typeface="LG스마트체 Regular" panose="020B0600000101010101" pitchFamily="50" charset="-127"/>
                          <a:ea typeface="LG스마트체 Regular" panose="020B0600000101010101" pitchFamily="50" charset="-127"/>
                        </a:rPr>
                      </a:br>
                      <a:r>
                        <a:rPr lang="ko-KR" altLang="en-US" sz="800" dirty="0">
                          <a:solidFill>
                            <a:schemeClr val="tx1"/>
                          </a:solidFill>
                          <a:latin typeface="LG스마트체 Regular" panose="020B0600000101010101" pitchFamily="50" charset="-127"/>
                          <a:ea typeface="LG스마트체 Regular" panose="020B0600000101010101" pitchFamily="50" charset="-127"/>
                        </a:rPr>
                        <a:t> </a:t>
                      </a:r>
                      <a:r>
                        <a:rPr lang="en-US" altLang="ko-KR" sz="800" dirty="0">
                          <a:solidFill>
                            <a:schemeClr val="tx1"/>
                          </a:solidFill>
                          <a:latin typeface="LG스마트체 Regular" panose="020B0600000101010101" pitchFamily="50" charset="-127"/>
                          <a:ea typeface="LG스마트체 Regular" panose="020B0600000101010101" pitchFamily="50" charset="-127"/>
                        </a:rPr>
                        <a:t>Data </a:t>
                      </a:r>
                      <a:r>
                        <a:rPr lang="ko-KR" altLang="en-US" sz="800" dirty="0">
                          <a:solidFill>
                            <a:schemeClr val="tx1"/>
                          </a:solidFill>
                          <a:latin typeface="LG스마트체 Regular" panose="020B0600000101010101" pitchFamily="50" charset="-127"/>
                          <a:ea typeface="LG스마트체 Regular" panose="020B0600000101010101" pitchFamily="50" charset="-127"/>
                        </a:rPr>
                        <a:t>수집</a:t>
                      </a:r>
                      <a:r>
                        <a:rPr lang="en-US" altLang="ko-KR" sz="800" dirty="0">
                          <a:solidFill>
                            <a:schemeClr val="tx1"/>
                          </a:solidFill>
                          <a:latin typeface="LG스마트체 Regular" panose="020B0600000101010101" pitchFamily="50" charset="-127"/>
                          <a:ea typeface="LG스마트체 Regular" panose="020B0600000101010101" pitchFamily="50" charset="-127"/>
                        </a:rPr>
                        <a:t>/</a:t>
                      </a:r>
                      <a:r>
                        <a:rPr lang="ko-KR" altLang="en-US" sz="800" dirty="0" err="1">
                          <a:solidFill>
                            <a:schemeClr val="tx1"/>
                          </a:solidFill>
                          <a:latin typeface="LG스마트체 Regular" panose="020B0600000101010101" pitchFamily="50" charset="-127"/>
                          <a:ea typeface="LG스마트체 Regular" panose="020B0600000101010101" pitchFamily="50" charset="-127"/>
                        </a:rPr>
                        <a:t>전처리</a:t>
                      </a:r>
                      <a:r>
                        <a:rPr lang="ko-KR" altLang="en-US" sz="800" dirty="0">
                          <a:solidFill>
                            <a:schemeClr val="tx1"/>
                          </a:solidFill>
                          <a:latin typeface="LG스마트체 Regular" panose="020B0600000101010101" pitchFamily="50" charset="-127"/>
                          <a:ea typeface="LG스마트체 Regular" panose="020B0600000101010101" pitchFamily="50" charset="-127"/>
                        </a:rPr>
                        <a:t> 작업</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800" dirty="0" err="1">
                          <a:solidFill>
                            <a:schemeClr val="tx1"/>
                          </a:solidFill>
                          <a:latin typeface="LG스마트체 Regular" panose="020B0600000101010101" pitchFamily="50" charset="-127"/>
                          <a:ea typeface="LG스마트체 Regular" panose="020B0600000101010101" pitchFamily="50" charset="-127"/>
                        </a:rPr>
                        <a:t>웹게이지</a:t>
                      </a:r>
                      <a:r>
                        <a:rPr lang="ko-KR" altLang="en-US" sz="800" dirty="0">
                          <a:solidFill>
                            <a:schemeClr val="tx1"/>
                          </a:solidFill>
                          <a:latin typeface="LG스마트체 Regular" panose="020B0600000101010101" pitchFamily="50" charset="-127"/>
                          <a:ea typeface="LG스마트체 Regular" panose="020B0600000101010101" pitchFamily="50" charset="-127"/>
                        </a:rPr>
                        <a:t> </a:t>
                      </a:r>
                      <a:r>
                        <a:rPr lang="en-US" altLang="ko-KR" sz="800" dirty="0">
                          <a:solidFill>
                            <a:schemeClr val="tx1"/>
                          </a:solidFill>
                          <a:latin typeface="LG스마트체 Regular" panose="020B0600000101010101" pitchFamily="50" charset="-127"/>
                          <a:ea typeface="LG스마트체 Regular" panose="020B0600000101010101" pitchFamily="50" charset="-127"/>
                        </a:rPr>
                        <a:t>Total </a:t>
                      </a:r>
                      <a:r>
                        <a:rPr lang="ko-KR" altLang="en-US" sz="800" dirty="0">
                          <a:solidFill>
                            <a:schemeClr val="tx1"/>
                          </a:solidFill>
                          <a:latin typeface="LG스마트체 Regular" panose="020B0600000101010101" pitchFamily="50" charset="-127"/>
                          <a:ea typeface="LG스마트체 Regular" panose="020B0600000101010101" pitchFamily="50" charset="-127"/>
                        </a:rPr>
                        <a:t>로딩량 수집 작업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LG스마트체 Regular" panose="020B0600000101010101" pitchFamily="50" charset="-127"/>
                          <a:ea typeface="LG스마트체 Regular" panose="020B0600000101010101" pitchFamily="50" charset="-127"/>
                        </a:rPr>
                        <a:t>5/6</a:t>
                      </a:r>
                      <a:endParaRPr lang="ko-KR" altLang="en-US" sz="8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3159596"/>
                  </a:ext>
                </a:extLst>
              </a:tr>
              <a:tr h="127197">
                <a:tc vMerge="1">
                  <a:txBody>
                    <a:bodyPr/>
                    <a:lstStyle/>
                    <a:p>
                      <a:pPr algn="ctr" latinLnBrk="1"/>
                      <a:endParaRPr lang="ko-KR" altLang="en-US" sz="90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800" dirty="0">
                          <a:solidFill>
                            <a:schemeClr val="tx1"/>
                          </a:solidFill>
                          <a:latin typeface="LG스마트체 Regular" panose="020B0600000101010101" pitchFamily="50" charset="-127"/>
                          <a:ea typeface="LG스마트체 Regular" panose="020B0600000101010101" pitchFamily="50" charset="-127"/>
                        </a:rPr>
                        <a:t>수집 로딩량 </a:t>
                      </a:r>
                      <a:r>
                        <a:rPr lang="en-US" altLang="ko-KR" sz="800" dirty="0">
                          <a:solidFill>
                            <a:schemeClr val="tx1"/>
                          </a:solidFill>
                          <a:latin typeface="LG스마트체 Regular" panose="020B0600000101010101" pitchFamily="50" charset="-127"/>
                          <a:ea typeface="LG스마트체 Regular" panose="020B0600000101010101" pitchFamily="50" charset="-127"/>
                        </a:rPr>
                        <a:t>Data PLC </a:t>
                      </a:r>
                      <a:r>
                        <a:rPr lang="ko-KR" altLang="en-US" sz="800" dirty="0">
                          <a:solidFill>
                            <a:schemeClr val="tx1"/>
                          </a:solidFill>
                          <a:latin typeface="LG스마트체 Regular" panose="020B0600000101010101" pitchFamily="50" charset="-127"/>
                          <a:ea typeface="LG스마트체 Regular" panose="020B0600000101010101" pitchFamily="50" charset="-127"/>
                        </a:rPr>
                        <a:t>↔ </a:t>
                      </a:r>
                      <a:r>
                        <a:rPr lang="en-US" altLang="ko-KR" sz="800" dirty="0">
                          <a:solidFill>
                            <a:schemeClr val="tx1"/>
                          </a:solidFill>
                          <a:latin typeface="LG스마트체 Regular" panose="020B0600000101010101" pitchFamily="50" charset="-127"/>
                          <a:ea typeface="LG스마트체 Regular" panose="020B0600000101010101" pitchFamily="50" charset="-127"/>
                        </a:rPr>
                        <a:t>APC I/F </a:t>
                      </a:r>
                      <a:r>
                        <a:rPr lang="ko-KR" altLang="en-US" sz="800" dirty="0">
                          <a:solidFill>
                            <a:schemeClr val="tx1"/>
                          </a:solidFill>
                          <a:latin typeface="LG스마트체 Regular" panose="020B0600000101010101" pitchFamily="50" charset="-127"/>
                          <a:ea typeface="LG스마트체 Regular" panose="020B0600000101010101" pitchFamily="50" charset="-127"/>
                        </a:rPr>
                        <a:t>작업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LG스마트체 Regular" panose="020B0600000101010101" pitchFamily="50" charset="-127"/>
                          <a:ea typeface="LG스마트체 Regular" panose="020B0600000101010101" pitchFamily="50" charset="-127"/>
                        </a:rPr>
                        <a:t>5/21</a:t>
                      </a:r>
                      <a:endParaRPr lang="ko-KR" altLang="en-US" sz="8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096500"/>
                  </a:ext>
                </a:extLst>
              </a:tr>
              <a:tr h="127197">
                <a:tc vMerge="1">
                  <a:txBody>
                    <a:bodyPr/>
                    <a:lstStyle/>
                    <a:p>
                      <a:pPr marL="0" algn="ctr" defTabSz="914400" rtl="0" eaLnBrk="1" latinLnBrk="1" hangingPunct="1"/>
                      <a:endParaRPr lang="ko-KR" altLang="en-US" sz="900" kern="120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APC</a:t>
                      </a:r>
                      <a:r>
                        <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rPr>
                        <a:t> 수집 로딩량 </a:t>
                      </a:r>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Data </a:t>
                      </a:r>
                      <a:r>
                        <a:rPr lang="ko-KR" altLang="en-US" sz="800" kern="1200" dirty="0" err="1">
                          <a:solidFill>
                            <a:schemeClr val="tx1"/>
                          </a:solidFill>
                          <a:latin typeface="LG스마트체 Regular" panose="020B0600000101010101" pitchFamily="50" charset="-127"/>
                          <a:ea typeface="LG스마트체 Regular" panose="020B0600000101010101" pitchFamily="50" charset="-127"/>
                          <a:cs typeface="+mn-cs"/>
                        </a:rPr>
                        <a:t>전처리</a:t>
                      </a:r>
                      <a:r>
                        <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rPr>
                        <a:t> 작업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6/2</a:t>
                      </a:r>
                      <a:endPar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49122271"/>
                  </a:ext>
                </a:extLst>
              </a:tr>
              <a:tr h="127197">
                <a:tc rowSpan="3">
                  <a:txBody>
                    <a:bodyPr/>
                    <a:lstStyle/>
                    <a:p>
                      <a:pPr algn="ctr" latinLnBrk="1"/>
                      <a:r>
                        <a:rPr lang="ko-KR" altLang="en-US" sz="800">
                          <a:solidFill>
                            <a:schemeClr val="tx1"/>
                          </a:solidFill>
                          <a:latin typeface="LG스마트체 Regular" panose="020B0600000101010101" pitchFamily="50" charset="-127"/>
                          <a:ea typeface="LG스마트체 Regular" panose="020B0600000101010101" pitchFamily="50" charset="-127"/>
                        </a:rPr>
                        <a:t>선별 투입 위한 시스템 간 </a:t>
                      </a:r>
                      <a:r>
                        <a:rPr lang="en-US" altLang="ko-KR" sz="800">
                          <a:solidFill>
                            <a:schemeClr val="tx1"/>
                          </a:solidFill>
                          <a:latin typeface="LG스마트체 Regular" panose="020B0600000101010101" pitchFamily="50" charset="-127"/>
                          <a:ea typeface="LG스마트체 Regular" panose="020B0600000101010101" pitchFamily="50" charset="-127"/>
                        </a:rPr>
                        <a:t>Data I/F</a:t>
                      </a:r>
                      <a:endParaRPr lang="ko-KR" altLang="en-US" sz="80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APC </a:t>
                      </a:r>
                      <a:r>
                        <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rPr>
                        <a:t>로딩량 </a:t>
                      </a:r>
                      <a:r>
                        <a:rPr lang="ko-KR" altLang="en-US" sz="800" kern="1200" dirty="0" err="1">
                          <a:solidFill>
                            <a:schemeClr val="tx1"/>
                          </a:solidFill>
                          <a:latin typeface="LG스마트체 Regular" panose="020B0600000101010101" pitchFamily="50" charset="-127"/>
                          <a:ea typeface="LG스마트체 Regular" panose="020B0600000101010101" pitchFamily="50" charset="-127"/>
                          <a:cs typeface="+mn-cs"/>
                        </a:rPr>
                        <a:t>전처리</a:t>
                      </a:r>
                      <a:r>
                        <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rPr>
                        <a:t> </a:t>
                      </a:r>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Data </a:t>
                      </a:r>
                      <a:r>
                        <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rPr>
                        <a:t>송신 작업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6/17</a:t>
                      </a:r>
                      <a:endPar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669007"/>
                  </a:ext>
                </a:extLst>
              </a:tr>
              <a:tr h="127197">
                <a:tc vMerge="1">
                  <a:txBody>
                    <a:bodyPr/>
                    <a:lstStyle/>
                    <a:p>
                      <a:pPr algn="ctr" latinLnBrk="1"/>
                      <a:endParaRPr lang="ko-KR" altLang="en-US" sz="90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a:solidFill>
                            <a:schemeClr val="tx1"/>
                          </a:solidFill>
                          <a:latin typeface="LG스마트체 Regular" panose="020B0600000101010101" pitchFamily="50" charset="-127"/>
                          <a:ea typeface="LG스마트체 Regular" panose="020B0600000101010101" pitchFamily="50" charset="-127"/>
                          <a:cs typeface="+mn-cs"/>
                        </a:rPr>
                        <a:t>MQ </a:t>
                      </a:r>
                      <a:r>
                        <a:rPr lang="ko-KR" altLang="en-US" sz="800" kern="1200">
                          <a:solidFill>
                            <a:schemeClr val="tx1"/>
                          </a:solidFill>
                          <a:latin typeface="LG스마트체 Regular" panose="020B0600000101010101" pitchFamily="50" charset="-127"/>
                          <a:ea typeface="LG스마트체 Regular" panose="020B0600000101010101" pitchFamily="50" charset="-127"/>
                          <a:cs typeface="+mn-cs"/>
                        </a:rPr>
                        <a:t>인터페이스 개발</a:t>
                      </a:r>
                      <a:r>
                        <a:rPr lang="en-US" altLang="ko-KR" sz="800" kern="1200">
                          <a:solidFill>
                            <a:schemeClr val="tx1"/>
                          </a:solidFill>
                          <a:latin typeface="LG스마트체 Regular" panose="020B0600000101010101" pitchFamily="50" charset="-127"/>
                          <a:ea typeface="LG스마트체 Regular" panose="020B0600000101010101" pitchFamily="50" charset="-127"/>
                          <a:cs typeface="+mn-cs"/>
                        </a:rPr>
                        <a:t>(APC </a:t>
                      </a:r>
                      <a:r>
                        <a:rPr lang="ko-KR" altLang="en-US" sz="800" kern="1200">
                          <a:solidFill>
                            <a:schemeClr val="tx1"/>
                          </a:solidFill>
                          <a:latin typeface="LG스마트체 Regular" panose="020B0600000101010101" pitchFamily="50" charset="-127"/>
                          <a:ea typeface="LG스마트체 Regular" panose="020B0600000101010101" pitchFamily="50" charset="-127"/>
                          <a:cs typeface="+mn-cs"/>
                        </a:rPr>
                        <a:t>↔ </a:t>
                      </a:r>
                      <a:r>
                        <a:rPr lang="en-US" altLang="ko-KR" sz="800" kern="1200">
                          <a:solidFill>
                            <a:schemeClr val="tx1"/>
                          </a:solidFill>
                          <a:latin typeface="LG스마트체 Regular" panose="020B0600000101010101" pitchFamily="50" charset="-127"/>
                          <a:ea typeface="LG스마트체 Regular" panose="020B0600000101010101" pitchFamily="50" charset="-127"/>
                          <a:cs typeface="+mn-cs"/>
                        </a:rPr>
                        <a:t>MES)</a:t>
                      </a:r>
                      <a:endParaRPr lang="ko-KR" altLang="en-US" sz="800" kern="120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6/16</a:t>
                      </a:r>
                      <a:endPar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1321758"/>
                  </a:ext>
                </a:extLst>
              </a:tr>
              <a:tr h="127197">
                <a:tc vMerge="1">
                  <a:txBody>
                    <a:bodyPr/>
                    <a:lstStyle/>
                    <a:p>
                      <a:pPr algn="ctr" latinLnBrk="1"/>
                      <a:endParaRPr lang="ko-KR" altLang="en-US" sz="90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a:solidFill>
                            <a:schemeClr val="tx1"/>
                          </a:solidFill>
                          <a:latin typeface="LG스마트체 Regular" panose="020B0600000101010101" pitchFamily="50" charset="-127"/>
                          <a:ea typeface="LG스마트체 Regular" panose="020B0600000101010101" pitchFamily="50" charset="-127"/>
                          <a:cs typeface="+mn-cs"/>
                        </a:rPr>
                        <a:t>MES Data</a:t>
                      </a:r>
                      <a:r>
                        <a:rPr lang="ko-KR" altLang="en-US" sz="800" kern="1200">
                          <a:solidFill>
                            <a:schemeClr val="tx1"/>
                          </a:solidFill>
                          <a:latin typeface="LG스마트체 Regular" panose="020B0600000101010101" pitchFamily="50" charset="-127"/>
                          <a:ea typeface="LG스마트체 Regular" panose="020B0600000101010101" pitchFamily="50" charset="-127"/>
                          <a:cs typeface="+mn-cs"/>
                        </a:rPr>
                        <a:t> 수신 작업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1" hangingPunct="1"/>
                      <a:r>
                        <a:rPr lang="en-US" altLang="ko-KR" sz="800" kern="1200" dirty="0">
                          <a:solidFill>
                            <a:schemeClr val="tx1"/>
                          </a:solidFill>
                          <a:latin typeface="LG스마트체 Regular" panose="020B0600000101010101" pitchFamily="50" charset="-127"/>
                          <a:ea typeface="LG스마트체 Regular" panose="020B0600000101010101" pitchFamily="50" charset="-127"/>
                          <a:cs typeface="+mn-cs"/>
                        </a:rPr>
                        <a:t>6/16</a:t>
                      </a:r>
                      <a:endParaRPr lang="ko-KR" altLang="en-US" sz="800" kern="1200" dirty="0">
                        <a:solidFill>
                          <a:schemeClr val="tx1"/>
                        </a:solidFill>
                        <a:latin typeface="LG스마트체 Regular" panose="020B0600000101010101" pitchFamily="50" charset="-127"/>
                        <a:ea typeface="LG스마트체 Regular" panose="020B0600000101010101" pitchFamily="50" charset="-127"/>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6158745"/>
                  </a:ext>
                </a:extLst>
              </a:tr>
              <a:tr h="127197">
                <a:tc row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solidFill>
                            <a:schemeClr val="tx1"/>
                          </a:solidFill>
                          <a:latin typeface="LG스마트체 Regular" panose="020B0600000101010101" pitchFamily="50" charset="-127"/>
                          <a:ea typeface="LG스마트체 Regular" panose="020B0600000101010101" pitchFamily="50" charset="-127"/>
                        </a:rPr>
                        <a:t>로딩량 선별투입 로직 개발</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solidFill>
                            <a:schemeClr val="tx1"/>
                          </a:solidFill>
                          <a:latin typeface="LG스마트체 Regular" panose="020B0600000101010101" pitchFamily="50" charset="-127"/>
                          <a:ea typeface="LG스마트체 Regular" panose="020B0600000101010101" pitchFamily="50" charset="-127"/>
                        </a:rPr>
                        <a:t>선별투입 요건 수립</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LG스마트체 Regular" panose="020B0600000101010101" pitchFamily="50" charset="-127"/>
                          <a:ea typeface="LG스마트체 Regular" panose="020B0600000101010101" pitchFamily="50" charset="-127"/>
                        </a:rPr>
                        <a:t>5/6</a:t>
                      </a:r>
                      <a:endParaRPr lang="ko-KR" altLang="en-US" sz="8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816150"/>
                  </a:ext>
                </a:extLst>
              </a:tr>
              <a:tr h="127197">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solidFill>
                            <a:schemeClr val="tx1"/>
                          </a:solidFill>
                          <a:latin typeface="LG스마트체 Regular" panose="020B0600000101010101" pitchFamily="50" charset="-127"/>
                          <a:ea typeface="LG스마트체 Regular" panose="020B0600000101010101" pitchFamily="50" charset="-127"/>
                        </a:rPr>
                        <a:t>선별투입 시스템 개발 </a:t>
                      </a:r>
                      <a:r>
                        <a:rPr lang="en-US" altLang="ko-KR" sz="800" dirty="0">
                          <a:solidFill>
                            <a:schemeClr val="tx1"/>
                          </a:solidFill>
                          <a:latin typeface="LG스마트체 Regular" panose="020B0600000101010101" pitchFamily="50" charset="-127"/>
                          <a:ea typeface="LG스마트체 Regular" panose="020B0600000101010101" pitchFamily="50" charset="-127"/>
                        </a:rPr>
                        <a:t>(WA </a:t>
                      </a:r>
                      <a:r>
                        <a:rPr lang="ko-KR" altLang="en-US" sz="800" dirty="0">
                          <a:solidFill>
                            <a:schemeClr val="tx1"/>
                          </a:solidFill>
                          <a:latin typeface="LG스마트체 Regular" panose="020B0600000101010101" pitchFamily="50" charset="-127"/>
                          <a:ea typeface="LG스마트체 Regular" panose="020B0600000101010101" pitchFamily="50" charset="-127"/>
                        </a:rPr>
                        <a:t>전극 </a:t>
                      </a:r>
                      <a:r>
                        <a:rPr lang="en-US" altLang="ko-KR" sz="800" dirty="0">
                          <a:solidFill>
                            <a:schemeClr val="tx1"/>
                          </a:solidFill>
                          <a:latin typeface="LG스마트체 Regular" panose="020B0600000101010101" pitchFamily="50" charset="-127"/>
                          <a:ea typeface="LG스마트체 Regular" panose="020B0600000101010101" pitchFamily="50" charset="-127"/>
                        </a:rPr>
                        <a:t>2</a:t>
                      </a:r>
                      <a:r>
                        <a:rPr lang="ko-KR" altLang="en-US" sz="800" dirty="0">
                          <a:solidFill>
                            <a:schemeClr val="tx1"/>
                          </a:solidFill>
                          <a:latin typeface="LG스마트체 Regular" panose="020B0600000101010101" pitchFamily="50" charset="-127"/>
                          <a:ea typeface="LG스마트체 Regular" panose="020B0600000101010101" pitchFamily="50" charset="-127"/>
                        </a:rPr>
                        <a:t>동</a:t>
                      </a:r>
                      <a:r>
                        <a:rPr lang="en-US" altLang="ko-KR" sz="800" dirty="0">
                          <a:solidFill>
                            <a:schemeClr val="tx1"/>
                          </a:solidFill>
                          <a:latin typeface="LG스마트체 Regular" panose="020B0600000101010101" pitchFamily="50" charset="-127"/>
                          <a:ea typeface="LG스마트체 Regular" panose="020B0600000101010101" pitchFamily="50" charset="-127"/>
                        </a:rPr>
                        <a:t>)</a:t>
                      </a:r>
                      <a:endParaRPr lang="ko-KR" altLang="en-US" sz="8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LG스마트체 Regular" panose="020B0600000101010101" pitchFamily="50" charset="-127"/>
                          <a:ea typeface="LG스마트체 Regular" panose="020B0600000101010101" pitchFamily="50" charset="-127"/>
                        </a:rPr>
                        <a:t>6/25</a:t>
                      </a:r>
                      <a:endParaRPr lang="ko-KR" altLang="en-US" sz="8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6391239"/>
                  </a:ext>
                </a:extLst>
              </a:tr>
              <a:tr h="127197">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a:solidFill>
                            <a:schemeClr val="tx1"/>
                          </a:solidFill>
                          <a:latin typeface="LG스마트체 Regular" panose="020B0600000101010101" pitchFamily="50" charset="-127"/>
                          <a:ea typeface="LG스마트체 Regular" panose="020B0600000101010101" pitchFamily="50" charset="-127"/>
                        </a:rPr>
                        <a:t>기능 검증</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a:solidFill>
                            <a:schemeClr val="tx1"/>
                          </a:solidFill>
                          <a:latin typeface="LG스마트체 Regular" panose="020B0600000101010101" pitchFamily="50" charset="-127"/>
                          <a:ea typeface="LG스마트체 Regular" panose="020B0600000101010101" pitchFamily="50" charset="-127"/>
                        </a:rPr>
                        <a:t>선별투입 기능 검증</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LG스마트체 Regular" panose="020B0600000101010101" pitchFamily="50" charset="-127"/>
                          <a:ea typeface="LG스마트체 Regular" panose="020B0600000101010101" pitchFamily="50" charset="-127"/>
                        </a:rPr>
                        <a:t>7/27</a:t>
                      </a:r>
                      <a:endParaRPr lang="ko-KR" altLang="en-US" sz="800" dirty="0">
                        <a:solidFill>
                          <a:schemeClr val="tx1"/>
                        </a:solidFill>
                        <a:latin typeface="LG스마트체 Regular" panose="020B0600000101010101" pitchFamily="50" charset="-127"/>
                        <a:ea typeface="LG스마트체 Regular" panose="020B0600000101010101"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5314637"/>
                  </a:ext>
                </a:extLst>
              </a:tr>
            </a:tbl>
          </a:graphicData>
        </a:graphic>
      </p:graphicFrame>
      <p:sp>
        <p:nvSpPr>
          <p:cNvPr id="213" name="TextBox 212">
            <a:extLst>
              <a:ext uri="{FF2B5EF4-FFF2-40B4-BE49-F238E27FC236}">
                <a16:creationId xmlns:a16="http://schemas.microsoft.com/office/drawing/2014/main" id="{D005C9D2-9C81-505D-6BC4-5B12CED90CA1}"/>
              </a:ext>
            </a:extLst>
          </p:cNvPr>
          <p:cNvSpPr txBox="1"/>
          <p:nvPr/>
        </p:nvSpPr>
        <p:spPr>
          <a:xfrm>
            <a:off x="872180" y="3417235"/>
            <a:ext cx="4081575" cy="738664"/>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dirty="0">
                <a:latin typeface="Arial Narrow" panose="020B0606020202030204" pitchFamily="34" charset="0"/>
                <a:ea typeface="LG스마트체 Regular" panose="020B0600000101010101" pitchFamily="50" charset="-127"/>
              </a:rPr>
              <a:t>-. WA </a:t>
            </a:r>
            <a:r>
              <a:rPr kumimoji="1" lang="ko-KR" altLang="en-US" sz="1050" dirty="0">
                <a:latin typeface="Arial Narrow" panose="020B0606020202030204" pitchFamily="34" charset="0"/>
                <a:ea typeface="LG스마트체 Regular" panose="020B0600000101010101" pitchFamily="50" charset="-127"/>
              </a:rPr>
              <a:t>전극 </a:t>
            </a:r>
            <a:r>
              <a:rPr kumimoji="1" lang="en-US" altLang="ko-KR" sz="1050" dirty="0">
                <a:latin typeface="Arial Narrow" panose="020B0606020202030204" pitchFamily="34" charset="0"/>
                <a:ea typeface="LG스마트체 Regular" panose="020B0600000101010101" pitchFamily="50" charset="-127"/>
              </a:rPr>
              <a:t>2</a:t>
            </a:r>
            <a:r>
              <a:rPr kumimoji="1" lang="ko-KR" altLang="en-US" sz="1050" dirty="0">
                <a:latin typeface="Arial Narrow" panose="020B0606020202030204" pitchFamily="34" charset="0"/>
                <a:ea typeface="LG스마트체 Regular" panose="020B0600000101010101" pitchFamily="50" charset="-127"/>
              </a:rPr>
              <a:t>동</a:t>
            </a:r>
            <a:r>
              <a:rPr kumimoji="1" lang="en-US" altLang="ko-KR" sz="1050" dirty="0">
                <a:latin typeface="Arial Narrow" panose="020B0606020202030204" pitchFamily="34" charset="0"/>
                <a:ea typeface="LG스마트체 Regular" panose="020B0600000101010101" pitchFamily="50" charset="-127"/>
              </a:rPr>
              <a:t>(7</a:t>
            </a:r>
            <a:r>
              <a:rPr kumimoji="1" lang="ko-KR" altLang="en-US" sz="1050" dirty="0">
                <a:latin typeface="Arial Narrow" panose="020B0606020202030204" pitchFamily="34" charset="0"/>
                <a:ea typeface="LG스마트체 Regular" panose="020B0600000101010101" pitchFamily="50" charset="-127"/>
              </a:rPr>
              <a:t>라인</a:t>
            </a:r>
            <a:r>
              <a:rPr kumimoji="1" lang="en-US" altLang="ko-KR" sz="1050" dirty="0">
                <a:latin typeface="Arial Narrow" panose="020B0606020202030204" pitchFamily="34" charset="0"/>
                <a:ea typeface="LG스마트체 Regular" panose="020B0600000101010101" pitchFamily="50" charset="-127"/>
              </a:rPr>
              <a:t>, E77A)</a:t>
            </a:r>
            <a:r>
              <a:rPr kumimoji="1" lang="ko-KR" altLang="en-US" sz="1050" dirty="0">
                <a:latin typeface="Arial Narrow" panose="020B0606020202030204" pitchFamily="34" charset="0"/>
                <a:ea typeface="LG스마트체 Regular" panose="020B0600000101010101" pitchFamily="50" charset="-127"/>
              </a:rPr>
              <a:t> 대상 선별 투입 적용 후 효과 확인</a:t>
            </a:r>
            <a:r>
              <a:rPr kumimoji="1" lang="en-US" altLang="ko-KR" sz="1050" dirty="0">
                <a:latin typeface="Arial Narrow" panose="020B0606020202030204" pitchFamily="34" charset="0"/>
                <a:ea typeface="LG스마트체 Regular" panose="020B0600000101010101" pitchFamily="50" charset="-127"/>
              </a:rPr>
              <a:t>(8</a:t>
            </a:r>
            <a:r>
              <a:rPr kumimoji="1" lang="ko-KR" altLang="en-US" sz="1050" dirty="0">
                <a:latin typeface="Arial Narrow" panose="020B0606020202030204" pitchFamily="34" charset="0"/>
                <a:ea typeface="LG스마트체 Regular" panose="020B0600000101010101" pitchFamily="50" charset="-127"/>
              </a:rPr>
              <a:t>월</a:t>
            </a:r>
            <a:r>
              <a:rPr kumimoji="1" lang="en-US" altLang="ko-KR" sz="1050" dirty="0">
                <a:latin typeface="Arial Narrow" panose="020B0606020202030204" pitchFamily="34" charset="0"/>
                <a:ea typeface="LG스마트체 Regular" panose="020B0600000101010101" pitchFamily="50" charset="-127"/>
              </a:rPr>
              <a:t>)</a:t>
            </a:r>
            <a:br>
              <a:rPr kumimoji="1" lang="en-US" altLang="ko-KR" sz="1050" dirty="0">
                <a:latin typeface="Arial Narrow" panose="020B0606020202030204" pitchFamily="34" charset="0"/>
                <a:ea typeface="LG스마트체 Regular" panose="020B0600000101010101" pitchFamily="50" charset="-127"/>
              </a:rPr>
            </a:br>
            <a:r>
              <a:rPr kumimoji="1" lang="en-US" altLang="ko-KR" sz="1050" dirty="0">
                <a:latin typeface="Arial Narrow" panose="020B0606020202030204" pitchFamily="34" charset="0"/>
                <a:ea typeface="LG스마트체 Regular" panose="020B0600000101010101" pitchFamily="50" charset="-127"/>
              </a:rPr>
              <a:t>    - </a:t>
            </a:r>
            <a:r>
              <a:rPr kumimoji="1" lang="ko-KR" altLang="en-US" sz="1050" dirty="0">
                <a:latin typeface="Arial Narrow" panose="020B0606020202030204" pitchFamily="34" charset="0"/>
                <a:ea typeface="LG스마트체 Regular" panose="020B0600000101010101" pitchFamily="50" charset="-127"/>
              </a:rPr>
              <a:t>효과 </a:t>
            </a:r>
            <a:r>
              <a:rPr kumimoji="1" lang="en-US" altLang="ko-KR" sz="1050" dirty="0">
                <a:latin typeface="Arial Narrow" panose="020B0606020202030204" pitchFamily="34" charset="0"/>
                <a:ea typeface="LG스마트체 Regular" panose="020B0600000101010101" pitchFamily="50" charset="-127"/>
              </a:rPr>
              <a:t>(</a:t>
            </a:r>
            <a:r>
              <a:rPr kumimoji="1" lang="ko-KR" altLang="en-US" sz="1050" dirty="0">
                <a:latin typeface="Arial Narrow" panose="020B0606020202030204" pitchFamily="34" charset="0"/>
                <a:ea typeface="LG스마트체 Regular" panose="020B0600000101010101" pitchFamily="50" charset="-127"/>
              </a:rPr>
              <a:t>대표호기 롤프레스 양극 </a:t>
            </a:r>
            <a:r>
              <a:rPr kumimoji="1" lang="en-US" altLang="ko-KR" sz="1050" dirty="0">
                <a:latin typeface="Arial Narrow" panose="020B0606020202030204" pitchFamily="34" charset="0"/>
                <a:ea typeface="LG스마트체 Regular" panose="020B0600000101010101" pitchFamily="50" charset="-127"/>
              </a:rPr>
              <a:t>7-1</a:t>
            </a:r>
            <a:r>
              <a:rPr kumimoji="1" lang="ko-KR" altLang="en-US" sz="1050" dirty="0">
                <a:latin typeface="Arial Narrow" panose="020B0606020202030204" pitchFamily="34" charset="0"/>
                <a:ea typeface="LG스마트체 Regular" panose="020B0600000101010101" pitchFamily="50" charset="-127"/>
              </a:rPr>
              <a:t>호</a:t>
            </a:r>
            <a:r>
              <a:rPr kumimoji="1" lang="en-US" altLang="ko-KR" sz="1050" dirty="0">
                <a:latin typeface="Arial Narrow" panose="020B0606020202030204" pitchFamily="34" charset="0"/>
                <a:ea typeface="LG스마트체 Regular" panose="020B0600000101010101" pitchFamily="50" charset="-127"/>
              </a:rPr>
              <a:t>)</a:t>
            </a:r>
            <a:br>
              <a:rPr kumimoji="1" lang="en-US" altLang="ko-KR" sz="1050" dirty="0">
                <a:latin typeface="Arial Narrow" panose="020B0606020202030204" pitchFamily="34" charset="0"/>
                <a:ea typeface="LG스마트체 Regular" panose="020B0600000101010101" pitchFamily="50" charset="-127"/>
              </a:rPr>
            </a:br>
            <a:r>
              <a:rPr kumimoji="1" lang="en-US" altLang="ko-KR" sz="1050" dirty="0">
                <a:latin typeface="Arial Narrow" panose="020B0606020202030204" pitchFamily="34" charset="0"/>
                <a:ea typeface="LG스마트체 Regular" panose="020B0600000101010101" pitchFamily="50" charset="-127"/>
              </a:rPr>
              <a:t>     : </a:t>
            </a:r>
            <a:r>
              <a:rPr kumimoji="1" lang="ko-KR" altLang="en-US" sz="1050" dirty="0">
                <a:latin typeface="Arial Narrow" panose="020B0606020202030204" pitchFamily="34" charset="0"/>
                <a:ea typeface="LG스마트체 Regular" panose="020B0600000101010101" pitchFamily="50" charset="-127"/>
              </a:rPr>
              <a:t>재료교체 구간 단선율 </a:t>
            </a:r>
            <a:r>
              <a:rPr kumimoji="1" lang="en-US" altLang="ko-KR" sz="1050" dirty="0">
                <a:latin typeface="Arial Narrow" panose="020B0606020202030204" pitchFamily="34" charset="0"/>
                <a:ea typeface="LG스마트체 Regular" panose="020B0600000101010101" pitchFamily="50" charset="-127"/>
              </a:rPr>
              <a:t>3.2% </a:t>
            </a:r>
            <a:r>
              <a:rPr kumimoji="1" lang="ko-KR" altLang="en-US" sz="1050" dirty="0">
                <a:latin typeface="Arial Narrow" panose="020B0606020202030204" pitchFamily="34" charset="0"/>
                <a:ea typeface="LG스마트체 Regular" panose="020B0600000101010101" pitchFamily="50" charset="-127"/>
              </a:rPr>
              <a:t>→ </a:t>
            </a:r>
            <a:r>
              <a:rPr kumimoji="1" lang="en-US" altLang="ko-KR" sz="1050" dirty="0">
                <a:latin typeface="Arial Narrow" panose="020B0606020202030204" pitchFamily="34" charset="0"/>
                <a:ea typeface="LG스마트체 Regular" panose="020B0600000101010101" pitchFamily="50" charset="-127"/>
              </a:rPr>
              <a:t>1.1% </a:t>
            </a:r>
            <a:r>
              <a:rPr kumimoji="1" lang="ko-KR" altLang="en-US" sz="1050" dirty="0">
                <a:latin typeface="Arial Narrow" panose="020B0606020202030204" pitchFamily="34" charset="0"/>
                <a:ea typeface="LG스마트체 Regular" panose="020B0600000101010101" pitchFamily="50" charset="-127"/>
              </a:rPr>
              <a:t>개선 확인</a:t>
            </a:r>
            <a:br>
              <a:rPr kumimoji="1" lang="en-US" altLang="ko-KR" sz="1050" dirty="0">
                <a:latin typeface="Arial Narrow" panose="020B0606020202030204" pitchFamily="34" charset="0"/>
                <a:ea typeface="LG스마트체 Regular" panose="020B0600000101010101" pitchFamily="50" charset="-127"/>
              </a:rPr>
            </a:br>
            <a:r>
              <a:rPr kumimoji="1" lang="en-US" altLang="ko-KR" sz="1050" dirty="0">
                <a:latin typeface="Arial Narrow" panose="020B0606020202030204" pitchFamily="34" charset="0"/>
                <a:ea typeface="LG스마트체 Regular" panose="020B0600000101010101" pitchFamily="50" charset="-127"/>
              </a:rPr>
              <a:t>        *3.2%(W28,</a:t>
            </a:r>
            <a:r>
              <a:rPr kumimoji="1" lang="ko-KR" altLang="en-US" sz="1050" dirty="0">
                <a:latin typeface="Arial Narrow" panose="020B0606020202030204" pitchFamily="34" charset="0"/>
                <a:ea typeface="LG스마트체 Regular" panose="020B0600000101010101" pitchFamily="50" charset="-127"/>
              </a:rPr>
              <a:t> 적용 전</a:t>
            </a:r>
            <a:r>
              <a:rPr kumimoji="1" lang="en-US" altLang="ko-KR" sz="1050" dirty="0">
                <a:latin typeface="Arial Narrow" panose="020B0606020202030204" pitchFamily="34" charset="0"/>
                <a:ea typeface="LG스마트체 Regular" panose="020B0600000101010101" pitchFamily="50" charset="-127"/>
              </a:rPr>
              <a:t>) </a:t>
            </a:r>
            <a:r>
              <a:rPr kumimoji="1" lang="ko-KR" altLang="en-US" sz="1050" dirty="0">
                <a:latin typeface="Arial Narrow" panose="020B0606020202030204" pitchFamily="34" charset="0"/>
                <a:ea typeface="LG스마트체 Regular" panose="020B0600000101010101" pitchFamily="50" charset="-127"/>
              </a:rPr>
              <a:t>→ </a:t>
            </a:r>
            <a:r>
              <a:rPr kumimoji="1" lang="en-US" altLang="ko-KR" sz="1050" dirty="0">
                <a:latin typeface="Arial Narrow" panose="020B0606020202030204" pitchFamily="34" charset="0"/>
                <a:ea typeface="LG스마트체 Regular" panose="020B0600000101010101" pitchFamily="50" charset="-127"/>
              </a:rPr>
              <a:t>2.6%(W29, </a:t>
            </a:r>
            <a:r>
              <a:rPr kumimoji="1" lang="ko-KR" altLang="en-US" sz="1050" dirty="0">
                <a:latin typeface="Arial Narrow" panose="020B0606020202030204" pitchFamily="34" charset="0"/>
                <a:ea typeface="LG스마트체 Regular" panose="020B0600000101010101" pitchFamily="50" charset="-127"/>
              </a:rPr>
              <a:t>적용 시점</a:t>
            </a:r>
            <a:r>
              <a:rPr kumimoji="1" lang="en-US" altLang="ko-KR" sz="1050" dirty="0">
                <a:latin typeface="Arial Narrow" panose="020B0606020202030204" pitchFamily="34" charset="0"/>
                <a:ea typeface="LG스마트체 Regular" panose="020B0600000101010101" pitchFamily="50" charset="-127"/>
              </a:rPr>
              <a:t>) </a:t>
            </a:r>
            <a:r>
              <a:rPr kumimoji="1" lang="ko-KR" altLang="en-US" sz="1050" dirty="0">
                <a:latin typeface="Arial Narrow" panose="020B0606020202030204" pitchFamily="34" charset="0"/>
                <a:ea typeface="LG스마트체 Regular" panose="020B0600000101010101" pitchFamily="50" charset="-127"/>
              </a:rPr>
              <a:t>→ </a:t>
            </a:r>
            <a:r>
              <a:rPr kumimoji="1" lang="en-US" altLang="ko-KR" sz="1050" dirty="0">
                <a:latin typeface="Arial Narrow" panose="020B0606020202030204" pitchFamily="34" charset="0"/>
                <a:ea typeface="LG스마트체 Regular" panose="020B0600000101010101" pitchFamily="50" charset="-127"/>
              </a:rPr>
              <a:t>1.1%(W33, </a:t>
            </a:r>
            <a:r>
              <a:rPr kumimoji="1" lang="ko-KR" altLang="en-US" sz="1050" dirty="0">
                <a:latin typeface="Arial Narrow" panose="020B0606020202030204" pitchFamily="34" charset="0"/>
                <a:ea typeface="LG스마트체 Regular" panose="020B0600000101010101" pitchFamily="50" charset="-127"/>
              </a:rPr>
              <a:t>적용 후</a:t>
            </a:r>
            <a:r>
              <a:rPr kumimoji="1" lang="en-US" altLang="ko-KR" sz="1050" dirty="0">
                <a:latin typeface="Arial Narrow" panose="020B0606020202030204" pitchFamily="34" charset="0"/>
                <a:ea typeface="LG스마트체 Regular" panose="020B0600000101010101" pitchFamily="50" charset="-127"/>
              </a:rPr>
              <a:t>)</a:t>
            </a:r>
          </a:p>
        </p:txBody>
      </p:sp>
      <p:grpSp>
        <p:nvGrpSpPr>
          <p:cNvPr id="214" name="그룹 1">
            <a:extLst>
              <a:ext uri="{FF2B5EF4-FFF2-40B4-BE49-F238E27FC236}">
                <a16:creationId xmlns:a16="http://schemas.microsoft.com/office/drawing/2014/main" id="{8D22623F-86D8-995E-8BED-C9E84AE3C38A}"/>
              </a:ext>
            </a:extLst>
          </p:cNvPr>
          <p:cNvGrpSpPr/>
          <p:nvPr/>
        </p:nvGrpSpPr>
        <p:grpSpPr>
          <a:xfrm>
            <a:off x="6825208" y="1506476"/>
            <a:ext cx="105293" cy="1157041"/>
            <a:chOff x="2020628" y="1123354"/>
            <a:chExt cx="205184" cy="3466538"/>
          </a:xfrm>
        </p:grpSpPr>
        <p:grpSp>
          <p:nvGrpSpPr>
            <p:cNvPr id="215" name="그룹 2">
              <a:extLst>
                <a:ext uri="{FF2B5EF4-FFF2-40B4-BE49-F238E27FC236}">
                  <a16:creationId xmlns:a16="http://schemas.microsoft.com/office/drawing/2014/main" id="{FBADF100-9F5C-B8A3-0029-942D4DE61C19}"/>
                </a:ext>
              </a:extLst>
            </p:cNvPr>
            <p:cNvGrpSpPr/>
            <p:nvPr/>
          </p:nvGrpSpPr>
          <p:grpSpPr>
            <a:xfrm>
              <a:off x="2072680" y="1578060"/>
              <a:ext cx="120667" cy="3011832"/>
              <a:chOff x="4167960" y="2510051"/>
              <a:chExt cx="120667" cy="3122206"/>
            </a:xfrm>
          </p:grpSpPr>
          <p:cxnSp>
            <p:nvCxnSpPr>
              <p:cNvPr id="217" name="직선 연결선 167">
                <a:extLst>
                  <a:ext uri="{FF2B5EF4-FFF2-40B4-BE49-F238E27FC236}">
                    <a16:creationId xmlns:a16="http://schemas.microsoft.com/office/drawing/2014/main" id="{B9074D86-055B-DCC4-879B-5D018C9C7948}"/>
                  </a:ext>
                </a:extLst>
              </p:cNvPr>
              <p:cNvCxnSpPr>
                <a:cxnSpLocks/>
              </p:cNvCxnSpPr>
              <p:nvPr/>
            </p:nvCxnSpPr>
            <p:spPr>
              <a:xfrm>
                <a:off x="4228294" y="2685928"/>
                <a:ext cx="0" cy="2946329"/>
              </a:xfrm>
              <a:prstGeom prst="line">
                <a:avLst/>
              </a:prstGeom>
              <a:noFill/>
              <a:ln w="19050" cap="flat" cmpd="sng" algn="ctr">
                <a:solidFill>
                  <a:srgbClr val="FF0000"/>
                </a:solidFill>
                <a:prstDash val="sysDot"/>
              </a:ln>
              <a:effectLst/>
            </p:spPr>
          </p:cxnSp>
          <p:sp>
            <p:nvSpPr>
              <p:cNvPr id="218" name="이등변 삼각형 7">
                <a:extLst>
                  <a:ext uri="{FF2B5EF4-FFF2-40B4-BE49-F238E27FC236}">
                    <a16:creationId xmlns:a16="http://schemas.microsoft.com/office/drawing/2014/main" id="{3DD5167B-C4AB-D442-9C07-912C7EA18A13}"/>
                  </a:ext>
                </a:extLst>
              </p:cNvPr>
              <p:cNvSpPr/>
              <p:nvPr/>
            </p:nvSpPr>
            <p:spPr>
              <a:xfrm flipV="1">
                <a:off x="4167960" y="2510051"/>
                <a:ext cx="120667" cy="89074"/>
              </a:xfrm>
              <a:prstGeom prst="triangle">
                <a:avLst/>
              </a:prstGeom>
              <a:solidFill>
                <a:srgbClr val="FF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216" name="Text Box 4">
              <a:extLst>
                <a:ext uri="{FF2B5EF4-FFF2-40B4-BE49-F238E27FC236}">
                  <a16:creationId xmlns:a16="http://schemas.microsoft.com/office/drawing/2014/main" id="{86956B26-4FA7-B56D-0D6F-AD42E8C7C3D1}"/>
                </a:ext>
              </a:extLst>
            </p:cNvPr>
            <p:cNvSpPr txBox="1">
              <a:spLocks noChangeArrowheads="1"/>
            </p:cNvSpPr>
            <p:nvPr/>
          </p:nvSpPr>
          <p:spPr bwMode="auto">
            <a:xfrm>
              <a:off x="2020628" y="1123354"/>
              <a:ext cx="205184" cy="138501"/>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rPr>
                <a:t>현재</a:t>
              </a:r>
              <a:endParaRPr kumimoji="0" lang="en-US" altLang="ko-KR"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endParaRPr>
            </a:p>
          </p:txBody>
        </p:sp>
      </p:grpSp>
      <p:sp>
        <p:nvSpPr>
          <p:cNvPr id="220" name="TextBox 219">
            <a:extLst>
              <a:ext uri="{FF2B5EF4-FFF2-40B4-BE49-F238E27FC236}">
                <a16:creationId xmlns:a16="http://schemas.microsoft.com/office/drawing/2014/main" id="{2F415147-1884-F7A9-860C-940AD1F4BD0B}"/>
              </a:ext>
            </a:extLst>
          </p:cNvPr>
          <p:cNvSpPr txBox="1"/>
          <p:nvPr/>
        </p:nvSpPr>
        <p:spPr>
          <a:xfrm>
            <a:off x="5239645" y="3417235"/>
            <a:ext cx="4666355" cy="253916"/>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ko-KR" altLang="en-US" sz="1050" dirty="0">
                <a:latin typeface="Arial Narrow" panose="020B0606020202030204" pitchFamily="34" charset="0"/>
                <a:ea typeface="LG스마트체 Regular" panose="020B0600000101010101" pitchFamily="50" charset="-127"/>
              </a:rPr>
              <a:t>생산</a:t>
            </a:r>
            <a:r>
              <a:rPr kumimoji="1" lang="en-US" altLang="ko-KR" sz="1050" dirty="0">
                <a:latin typeface="Arial Narrow" panose="020B0606020202030204" pitchFamily="34" charset="0"/>
                <a:ea typeface="LG스마트체 Regular" panose="020B0600000101010101" pitchFamily="50" charset="-127"/>
              </a:rPr>
              <a:t>DX</a:t>
            </a:r>
            <a:r>
              <a:rPr kumimoji="1" lang="ko-KR" altLang="en-US" sz="1050" dirty="0">
                <a:latin typeface="Arial Narrow" panose="020B0606020202030204" pitchFamily="34" charset="0"/>
                <a:ea typeface="LG스마트체 Regular" panose="020B0600000101010101" pitchFamily="50" charset="-127"/>
              </a:rPr>
              <a:t>추진 및 </a:t>
            </a:r>
            <a:r>
              <a:rPr kumimoji="1" lang="en-US" altLang="ko-KR" sz="1050" dirty="0">
                <a:latin typeface="Arial Narrow" panose="020B0606020202030204" pitchFamily="34" charset="0"/>
                <a:ea typeface="LG스마트체 Regular" panose="020B0600000101010101" pitchFamily="50" charset="-127"/>
              </a:rPr>
              <a:t>WA</a:t>
            </a:r>
            <a:r>
              <a:rPr kumimoji="1" lang="ko-KR" altLang="en-US" sz="1050" dirty="0">
                <a:latin typeface="Arial Narrow" panose="020B0606020202030204" pitchFamily="34" charset="0"/>
                <a:ea typeface="LG스마트체 Regular" panose="020B0600000101010101" pitchFamily="50" charset="-127"/>
              </a:rPr>
              <a:t>법인과 함께 전 호기 확산 전개 진행 </a:t>
            </a:r>
            <a:r>
              <a:rPr kumimoji="1" lang="en-US" altLang="ko-KR" sz="1050" dirty="0">
                <a:latin typeface="Arial Narrow" panose="020B0606020202030204" pitchFamily="34" charset="0"/>
                <a:ea typeface="LG스마트체 Regular" panose="020B0600000101010101" pitchFamily="50" charset="-127"/>
              </a:rPr>
              <a:t>(10</a:t>
            </a:r>
            <a:r>
              <a:rPr kumimoji="1" lang="ko-KR" altLang="en-US" sz="1050" dirty="0">
                <a:latin typeface="Arial Narrow" panose="020B0606020202030204" pitchFamily="34" charset="0"/>
                <a:ea typeface="LG스마트체 Regular" panose="020B0600000101010101" pitchFamily="50" charset="-127"/>
              </a:rPr>
              <a:t>월</a:t>
            </a:r>
            <a:r>
              <a:rPr kumimoji="1" lang="en-US" altLang="ko-KR" sz="1050" dirty="0">
                <a:latin typeface="Arial Narrow" panose="020B0606020202030204" pitchFamily="34" charset="0"/>
                <a:ea typeface="LG스마트체 Regular" panose="020B0600000101010101" pitchFamily="50" charset="-127"/>
              </a:rPr>
              <a:t>)</a:t>
            </a:r>
            <a:endPar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endParaRPr>
          </a:p>
        </p:txBody>
      </p:sp>
      <p:sp>
        <p:nvSpPr>
          <p:cNvPr id="8" name="TextBox 7">
            <a:extLst>
              <a:ext uri="{FF2B5EF4-FFF2-40B4-BE49-F238E27FC236}">
                <a16:creationId xmlns:a16="http://schemas.microsoft.com/office/drawing/2014/main" id="{268FFD59-97CD-5A27-3889-F51499291576}"/>
              </a:ext>
            </a:extLst>
          </p:cNvPr>
          <p:cNvSpPr txBox="1"/>
          <p:nvPr/>
        </p:nvSpPr>
        <p:spPr>
          <a:xfrm>
            <a:off x="795738" y="4840585"/>
            <a:ext cx="1780997" cy="253916"/>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05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[WA </a:t>
            </a:r>
            <a:r>
              <a:rPr kumimoji="1" lang="ko-KR" altLang="en-US" sz="1050" dirty="0">
                <a:latin typeface="Arial Narrow" panose="020B0606020202030204" pitchFamily="34" charset="0"/>
                <a:ea typeface="LG스마트체 Regular" panose="020B0600000101010101" pitchFamily="50" charset="-127"/>
              </a:rPr>
              <a:t>전극 </a:t>
            </a:r>
            <a:r>
              <a:rPr kumimoji="1" lang="en-US" altLang="ko-KR" sz="1050" dirty="0">
                <a:latin typeface="Arial Narrow" panose="020B0606020202030204" pitchFamily="34" charset="0"/>
                <a:ea typeface="LG스마트체 Regular" panose="020B0600000101010101" pitchFamily="50" charset="-127"/>
              </a:rPr>
              <a:t>2</a:t>
            </a:r>
            <a:r>
              <a:rPr kumimoji="1" lang="ko-KR" altLang="en-US" sz="105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동</a:t>
            </a:r>
            <a:r>
              <a:rPr kumimoji="1" lang="en-US" altLang="ko-KR" sz="105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1" lang="ko-KR" altLang="en-US" sz="105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전개 </a:t>
            </a:r>
            <a:r>
              <a:rPr kumimoji="1" lang="ko-KR" altLang="en-US" sz="1050" dirty="0">
                <a:latin typeface="Arial Narrow" panose="020B0606020202030204" pitchFamily="34" charset="0"/>
                <a:ea typeface="LG스마트체 Regular" panose="020B0600000101010101" pitchFamily="50" charset="-127"/>
              </a:rPr>
              <a:t>주요 이력</a:t>
            </a:r>
            <a:r>
              <a:rPr kumimoji="1" lang="en-US" altLang="ko-KR" sz="105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endParaRPr kumimoji="1" lang="en-US" altLang="ko-KR" sz="900" dirty="0">
              <a:latin typeface="Arial Narrow" panose="020B0606020202030204" pitchFamily="34" charset="0"/>
              <a:ea typeface="LG스마트체 Regular" panose="020B0600000101010101" pitchFamily="50" charset="-127"/>
            </a:endParaRPr>
          </a:p>
        </p:txBody>
      </p:sp>
      <p:sp>
        <p:nvSpPr>
          <p:cNvPr id="5" name="실행 단추: 앞으로 또는 다음으로 이동 4">
            <a:hlinkClick r:id="rId4" action="ppaction://hlinksldjump" highlightClick="1"/>
            <a:extLst>
              <a:ext uri="{FF2B5EF4-FFF2-40B4-BE49-F238E27FC236}">
                <a16:creationId xmlns:a16="http://schemas.microsoft.com/office/drawing/2014/main" id="{185E233E-BBD8-99C5-975E-DFA82B30457B}"/>
              </a:ext>
            </a:extLst>
          </p:cNvPr>
          <p:cNvSpPr/>
          <p:nvPr/>
        </p:nvSpPr>
        <p:spPr>
          <a:xfrm>
            <a:off x="3584164" y="3786567"/>
            <a:ext cx="135236" cy="135236"/>
          </a:xfrm>
          <a:prstGeom prst="actionButtonForwardNext">
            <a:avLst/>
          </a:prstGeom>
          <a:solidFill>
            <a:schemeClr val="bg1">
              <a:lumMod val="7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7830CC77-3619-61DE-FF6D-2DACC4710F48}"/>
              </a:ext>
            </a:extLst>
          </p:cNvPr>
          <p:cNvSpPr txBox="1"/>
          <p:nvPr/>
        </p:nvSpPr>
        <p:spPr>
          <a:xfrm>
            <a:off x="4750612" y="6622748"/>
            <a:ext cx="404777" cy="25943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- 4 / 6 - </a:t>
            </a:r>
          </a:p>
        </p:txBody>
      </p:sp>
      <p:grpSp>
        <p:nvGrpSpPr>
          <p:cNvPr id="3" name="그룹 2">
            <a:extLst>
              <a:ext uri="{FF2B5EF4-FFF2-40B4-BE49-F238E27FC236}">
                <a16:creationId xmlns:a16="http://schemas.microsoft.com/office/drawing/2014/main" id="{FC98B3E4-1515-C0A6-B37E-EDEDD65477AF}"/>
              </a:ext>
            </a:extLst>
          </p:cNvPr>
          <p:cNvGrpSpPr/>
          <p:nvPr/>
        </p:nvGrpSpPr>
        <p:grpSpPr>
          <a:xfrm>
            <a:off x="7758397" y="114985"/>
            <a:ext cx="1781744" cy="604476"/>
            <a:chOff x="4232920" y="49957"/>
            <a:chExt cx="1781744" cy="604476"/>
          </a:xfrm>
        </p:grpSpPr>
        <p:sp>
          <p:nvSpPr>
            <p:cNvPr id="4" name="타원 3">
              <a:extLst>
                <a:ext uri="{FF2B5EF4-FFF2-40B4-BE49-F238E27FC236}">
                  <a16:creationId xmlns:a16="http://schemas.microsoft.com/office/drawing/2014/main" id="{761C2EBB-A0C8-91A1-5607-702E3DEC61A8}"/>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6" name="TextBox 5">
              <a:extLst>
                <a:ext uri="{FF2B5EF4-FFF2-40B4-BE49-F238E27FC236}">
                  <a16:creationId xmlns:a16="http://schemas.microsoft.com/office/drawing/2014/main" id="{C5D36EC6-2B1A-3876-3958-D2850284907C}"/>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타원 8">
              <a:extLst>
                <a:ext uri="{FF2B5EF4-FFF2-40B4-BE49-F238E27FC236}">
                  <a16:creationId xmlns:a16="http://schemas.microsoft.com/office/drawing/2014/main" id="{10B42349-61E1-DE4C-8FE0-CD6CDA9D3C53}"/>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0" name="TextBox 9">
              <a:extLst>
                <a:ext uri="{FF2B5EF4-FFF2-40B4-BE49-F238E27FC236}">
                  <a16:creationId xmlns:a16="http://schemas.microsoft.com/office/drawing/2014/main" id="{B64CDA87-5DCE-CDAF-9E78-B3A420B2959A}"/>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11" name="타원 10">
              <a:extLst>
                <a:ext uri="{FF2B5EF4-FFF2-40B4-BE49-F238E27FC236}">
                  <a16:creationId xmlns:a16="http://schemas.microsoft.com/office/drawing/2014/main" id="{6BCCF159-A50F-81C6-A116-CA9563A3945B}"/>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69D5C32D-3F2E-2782-E759-5AB02E55EE27}"/>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254954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9" name="Rectangle 4">
            <a:extLst>
              <a:ext uri="{FF2B5EF4-FFF2-40B4-BE49-F238E27FC236}">
                <a16:creationId xmlns:a16="http://schemas.microsoft.com/office/drawing/2014/main" id="{E5A8BC40-C62B-4E90-A33D-4D150AD73899}"/>
              </a:ext>
            </a:extLst>
          </p:cNvPr>
          <p:cNvSpPr>
            <a:spLocks noChangeArrowheads="1"/>
          </p:cNvSpPr>
          <p:nvPr/>
        </p:nvSpPr>
        <p:spPr bwMode="auto">
          <a:xfrm>
            <a:off x="200471" y="1510124"/>
            <a:ext cx="448035" cy="1149746"/>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일정</a:t>
            </a: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21" name="표 20"/>
          <p:cNvGraphicFramePr>
            <a:graphicFrameLocks noGrp="1"/>
          </p:cNvGraphicFramePr>
          <p:nvPr/>
        </p:nvGraphicFramePr>
        <p:xfrm>
          <a:off x="735049" y="761673"/>
          <a:ext cx="8862107" cy="702000"/>
        </p:xfrm>
        <a:graphic>
          <a:graphicData uri="http://schemas.openxmlformats.org/drawingml/2006/table">
            <a:tbl>
              <a:tblPr/>
              <a:tblGrid>
                <a:gridCol w="2398749">
                  <a:extLst>
                    <a:ext uri="{9D8B030D-6E8A-4147-A177-3AD203B41FA5}">
                      <a16:colId xmlns:a16="http://schemas.microsoft.com/office/drawing/2014/main" val="20000"/>
                    </a:ext>
                  </a:extLst>
                </a:gridCol>
                <a:gridCol w="4530971">
                  <a:extLst>
                    <a:ext uri="{9D8B030D-6E8A-4147-A177-3AD203B41FA5}">
                      <a16:colId xmlns:a16="http://schemas.microsoft.com/office/drawing/2014/main" val="20001"/>
                    </a:ext>
                  </a:extLst>
                </a:gridCol>
                <a:gridCol w="1199375">
                  <a:extLst>
                    <a:ext uri="{9D8B030D-6E8A-4147-A177-3AD203B41FA5}">
                      <a16:colId xmlns:a16="http://schemas.microsoft.com/office/drawing/2014/main" val="2961269463"/>
                    </a:ext>
                  </a:extLst>
                </a:gridCol>
                <a:gridCol w="733012">
                  <a:extLst>
                    <a:ext uri="{9D8B030D-6E8A-4147-A177-3AD203B41FA5}">
                      <a16:colId xmlns:a16="http://schemas.microsoft.com/office/drawing/2014/main" val="20007"/>
                    </a:ext>
                  </a:extLst>
                </a:gridCol>
              </a:tblGrid>
              <a:tr h="21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KPI</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’26</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년 분기목표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연간목표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비중</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상태</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48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ctr" latinLnBrk="1" hangingPunct="1">
                        <a:lnSpc>
                          <a:spcPct val="100000"/>
                        </a:lnSpc>
                        <a:spcBef>
                          <a:spcPct val="0"/>
                        </a:spcBef>
                        <a:spcAft>
                          <a:spcPct val="0"/>
                        </a:spcAft>
                        <a:buClrTx/>
                        <a:buSzTx/>
                        <a:buFontTx/>
                        <a:buNone/>
                        <a:tabLst/>
                        <a:defRPr/>
                      </a:pPr>
                      <a:r>
                        <a:rPr lang="en-US" altLang="ko-KR" sz="1000" b="1" kern="1200" spc="-10">
                          <a:solidFill>
                            <a:schemeClr val="tx1"/>
                          </a:solidFill>
                          <a:latin typeface="Arial Narrow" panose="020B0606020202030204" pitchFamily="34" charset="0"/>
                          <a:ea typeface="LG스마트체 Regular" panose="020B0600000101010101" pitchFamily="50" charset="-127"/>
                          <a:cs typeface="+mn-cs"/>
                        </a:rPr>
                        <a:t>PD Loss </a:t>
                      </a:r>
                      <a:r>
                        <a:rPr lang="ko-KR" altLang="en-US" sz="1000" b="1" kern="1200" spc="-10">
                          <a:solidFill>
                            <a:schemeClr val="tx1"/>
                          </a:solidFill>
                          <a:latin typeface="Arial Narrow" panose="020B0606020202030204" pitchFamily="34" charset="0"/>
                          <a:ea typeface="LG스마트체 Regular" panose="020B0600000101010101" pitchFamily="50" charset="-127"/>
                          <a:cs typeface="+mn-cs"/>
                        </a:rPr>
                        <a:t>개선을 통한 </a:t>
                      </a:r>
                      <a:br>
                        <a:rPr lang="ko-KR" altLang="en-US" sz="1000" b="1" kern="1200" spc="-10">
                          <a:solidFill>
                            <a:schemeClr val="tx1"/>
                          </a:solidFill>
                          <a:latin typeface="Arial Narrow" panose="020B0606020202030204" pitchFamily="34" charset="0"/>
                          <a:ea typeface="LG스마트체 Regular" panose="020B0600000101010101" pitchFamily="50" charset="-127"/>
                          <a:cs typeface="+mn-cs"/>
                        </a:rPr>
                      </a:br>
                      <a:r>
                        <a:rPr lang="ko-KR" altLang="en-US" sz="1000" b="1" kern="1200" spc="-10">
                          <a:solidFill>
                            <a:schemeClr val="tx1"/>
                          </a:solidFill>
                          <a:latin typeface="Arial Narrow" panose="020B0606020202030204" pitchFamily="34" charset="0"/>
                          <a:ea typeface="LG스마트체 Regular" panose="020B0600000101010101" pitchFamily="50" charset="-127"/>
                          <a:cs typeface="+mn-cs"/>
                        </a:rPr>
                        <a:t>설비 가동률 향상</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baseline="0">
                          <a:solidFill>
                            <a:schemeClr val="tx1"/>
                          </a:solidFill>
                          <a:effectLst/>
                          <a:latin typeface="Arial Narrow" panose="020B0606020202030204" pitchFamily="34" charset="0"/>
                          <a:ea typeface="LG스마트체 Regular" panose="020B0600000101010101" pitchFamily="50" charset="-127"/>
                        </a:rPr>
                        <a:t>-. </a:t>
                      </a:r>
                      <a:r>
                        <a:rPr kumimoji="1" lang="ko-KR" altLang="en-US"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롤프레스 너울</a:t>
                      </a:r>
                      <a:r>
                        <a:rPr kumimoji="1" lang="en-US" altLang="ko-KR"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r>
                        <a:rPr kumimoji="1" lang="ko-KR" altLang="en-US"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단선 </a:t>
                      </a:r>
                      <a:r>
                        <a:rPr kumimoji="1" lang="en-US" altLang="ko-KR"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PD </a:t>
                      </a:r>
                      <a:r>
                        <a:rPr kumimoji="1" lang="ko-KR" altLang="en-US"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개선점 적용 </a:t>
                      </a:r>
                      <a:r>
                        <a:rPr kumimoji="1" lang="en-US" altLang="ko-KR"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[2Q</a:t>
                      </a:r>
                      <a:r>
                        <a:rPr kumimoji="1" lang="ko-KR" altLang="en-US"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목표</a:t>
                      </a:r>
                      <a:r>
                        <a:rPr kumimoji="1" lang="en-US" altLang="ko-KR"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kern="1200" spc="0">
                          <a:solidFill>
                            <a:srgbClr val="006600"/>
                          </a:solidFill>
                          <a:latin typeface="Arial Narrow" panose="020B0606020202030204" pitchFamily="34" charset="0"/>
                          <a:ea typeface="LG스마트체 Regular" panose="020B0600000101010101" pitchFamily="50" charset="-127"/>
                          <a:cs typeface="+mn-cs"/>
                        </a:rPr>
                        <a:t>※ </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Q : </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롤프레스</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노칭 </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PD Loss 20% </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개선 </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연목표</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     D : ’26.8</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월</a:t>
                      </a:r>
                      <a:endParaRPr lang="ko-KR" altLang="en-US" sz="1000" b="0" i="0" u="none" strike="noStrike">
                        <a:solidFill>
                          <a:srgbClr val="006600"/>
                        </a:solidFill>
                        <a:effectLst/>
                        <a:latin typeface="Arial Narrow" panose="020B0606020202030204" pitchFamily="34" charset="0"/>
                        <a:ea typeface="LG스마트체 Regular" panose="020B0600000101010101" pitchFamily="50" charset="-127"/>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algn="ctr" fontAlgn="ct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10%</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endParaRPr lang="en-US" sz="1000" b="0"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22" name="Rectangle 4"/>
          <p:cNvSpPr>
            <a:spLocks noChangeArrowheads="1"/>
          </p:cNvSpPr>
          <p:nvPr/>
        </p:nvSpPr>
        <p:spPr bwMode="auto">
          <a:xfrm>
            <a:off x="200471" y="761674"/>
            <a:ext cx="448035" cy="702000"/>
          </a:xfrm>
          <a:prstGeom prst="rect">
            <a:avLst/>
          </a:prstGeom>
          <a:solidFill>
            <a:schemeClr val="bg1"/>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90000"/>
              </a:lnSpc>
              <a:spcBef>
                <a:spcPct val="3000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목표</a:t>
            </a:r>
            <a:endParaRPr kumimoji="1" lang="en-US" altLang="ko-KR"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2" name="표 1">
            <a:extLst>
              <a:ext uri="{FF2B5EF4-FFF2-40B4-BE49-F238E27FC236}">
                <a16:creationId xmlns:a16="http://schemas.microsoft.com/office/drawing/2014/main" id="{F28146AB-93D7-4C39-8E08-1CD3BC858E83}"/>
              </a:ext>
            </a:extLst>
          </p:cNvPr>
          <p:cNvGraphicFramePr>
            <a:graphicFrameLocks noGrp="1"/>
          </p:cNvGraphicFramePr>
          <p:nvPr/>
        </p:nvGraphicFramePr>
        <p:xfrm>
          <a:off x="735048" y="1521549"/>
          <a:ext cx="8862108" cy="1138320"/>
        </p:xfrm>
        <a:graphic>
          <a:graphicData uri="http://schemas.openxmlformats.org/drawingml/2006/table">
            <a:tbl>
              <a:tblPr/>
              <a:tblGrid>
                <a:gridCol w="738509">
                  <a:extLst>
                    <a:ext uri="{9D8B030D-6E8A-4147-A177-3AD203B41FA5}">
                      <a16:colId xmlns:a16="http://schemas.microsoft.com/office/drawing/2014/main" val="1710325250"/>
                    </a:ext>
                  </a:extLst>
                </a:gridCol>
                <a:gridCol w="738509">
                  <a:extLst>
                    <a:ext uri="{9D8B030D-6E8A-4147-A177-3AD203B41FA5}">
                      <a16:colId xmlns:a16="http://schemas.microsoft.com/office/drawing/2014/main" val="2582822843"/>
                    </a:ext>
                  </a:extLst>
                </a:gridCol>
                <a:gridCol w="738509">
                  <a:extLst>
                    <a:ext uri="{9D8B030D-6E8A-4147-A177-3AD203B41FA5}">
                      <a16:colId xmlns:a16="http://schemas.microsoft.com/office/drawing/2014/main" val="3574503571"/>
                    </a:ext>
                  </a:extLst>
                </a:gridCol>
                <a:gridCol w="738509">
                  <a:extLst>
                    <a:ext uri="{9D8B030D-6E8A-4147-A177-3AD203B41FA5}">
                      <a16:colId xmlns:a16="http://schemas.microsoft.com/office/drawing/2014/main" val="906262013"/>
                    </a:ext>
                  </a:extLst>
                </a:gridCol>
                <a:gridCol w="738509">
                  <a:extLst>
                    <a:ext uri="{9D8B030D-6E8A-4147-A177-3AD203B41FA5}">
                      <a16:colId xmlns:a16="http://schemas.microsoft.com/office/drawing/2014/main" val="3618680307"/>
                    </a:ext>
                  </a:extLst>
                </a:gridCol>
                <a:gridCol w="738509">
                  <a:extLst>
                    <a:ext uri="{9D8B030D-6E8A-4147-A177-3AD203B41FA5}">
                      <a16:colId xmlns:a16="http://schemas.microsoft.com/office/drawing/2014/main" val="1865859727"/>
                    </a:ext>
                  </a:extLst>
                </a:gridCol>
                <a:gridCol w="738509">
                  <a:extLst>
                    <a:ext uri="{9D8B030D-6E8A-4147-A177-3AD203B41FA5}">
                      <a16:colId xmlns:a16="http://schemas.microsoft.com/office/drawing/2014/main" val="214679234"/>
                    </a:ext>
                  </a:extLst>
                </a:gridCol>
                <a:gridCol w="738509">
                  <a:extLst>
                    <a:ext uri="{9D8B030D-6E8A-4147-A177-3AD203B41FA5}">
                      <a16:colId xmlns:a16="http://schemas.microsoft.com/office/drawing/2014/main" val="2741167305"/>
                    </a:ext>
                  </a:extLst>
                </a:gridCol>
                <a:gridCol w="738509">
                  <a:extLst>
                    <a:ext uri="{9D8B030D-6E8A-4147-A177-3AD203B41FA5}">
                      <a16:colId xmlns:a16="http://schemas.microsoft.com/office/drawing/2014/main" val="3278585182"/>
                    </a:ext>
                  </a:extLst>
                </a:gridCol>
                <a:gridCol w="738509">
                  <a:extLst>
                    <a:ext uri="{9D8B030D-6E8A-4147-A177-3AD203B41FA5}">
                      <a16:colId xmlns:a16="http://schemas.microsoft.com/office/drawing/2014/main" val="1712991450"/>
                    </a:ext>
                  </a:extLst>
                </a:gridCol>
                <a:gridCol w="738509">
                  <a:extLst>
                    <a:ext uri="{9D8B030D-6E8A-4147-A177-3AD203B41FA5}">
                      <a16:colId xmlns:a16="http://schemas.microsoft.com/office/drawing/2014/main" val="823744282"/>
                    </a:ext>
                  </a:extLst>
                </a:gridCol>
                <a:gridCol w="738509">
                  <a:extLst>
                    <a:ext uri="{9D8B030D-6E8A-4147-A177-3AD203B41FA5}">
                      <a16:colId xmlns:a16="http://schemas.microsoft.com/office/drawing/2014/main" val="2867782548"/>
                    </a:ext>
                  </a:extLst>
                </a:gridCol>
              </a:tblGrid>
              <a:tr h="127781">
                <a:tc gridSpan="12">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년</a:t>
                      </a:r>
                    </a:p>
                  </a:txBody>
                  <a:tcPr marL="0" marR="0" marT="0" marB="0" anchor="ctr">
                    <a:lnL w="12700" cap="flat" cmpd="sng" algn="ctr">
                      <a:noFill/>
                      <a:prstDash val="solid"/>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0257681"/>
                  </a:ext>
                </a:extLst>
              </a:tr>
              <a:tr h="127781">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3</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4</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7</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8</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9</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10</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850938"/>
                  </a:ext>
                </a:extLst>
              </a:tr>
              <a:tr h="864000">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057251"/>
                  </a:ext>
                </a:extLst>
              </a:tr>
            </a:tbl>
          </a:graphicData>
        </a:graphic>
      </p:graphicFrame>
      <p:grpSp>
        <p:nvGrpSpPr>
          <p:cNvPr id="115" name="그룹 1">
            <a:extLst>
              <a:ext uri="{FF2B5EF4-FFF2-40B4-BE49-F238E27FC236}">
                <a16:creationId xmlns:a16="http://schemas.microsoft.com/office/drawing/2014/main" id="{0F22DD07-56A9-4D18-9FCA-686476AE5046}"/>
              </a:ext>
            </a:extLst>
          </p:cNvPr>
          <p:cNvGrpSpPr/>
          <p:nvPr/>
        </p:nvGrpSpPr>
        <p:grpSpPr>
          <a:xfrm>
            <a:off x="6825208" y="1506476"/>
            <a:ext cx="205184" cy="1157041"/>
            <a:chOff x="2020628" y="1123354"/>
            <a:chExt cx="205184" cy="3466538"/>
          </a:xfrm>
        </p:grpSpPr>
        <p:grpSp>
          <p:nvGrpSpPr>
            <p:cNvPr id="116" name="그룹 2">
              <a:extLst>
                <a:ext uri="{FF2B5EF4-FFF2-40B4-BE49-F238E27FC236}">
                  <a16:creationId xmlns:a16="http://schemas.microsoft.com/office/drawing/2014/main" id="{06579EF2-FFC8-4115-9C2B-54F05CED6CF4}"/>
                </a:ext>
              </a:extLst>
            </p:cNvPr>
            <p:cNvGrpSpPr/>
            <p:nvPr/>
          </p:nvGrpSpPr>
          <p:grpSpPr>
            <a:xfrm>
              <a:off x="2072680" y="1578060"/>
              <a:ext cx="120667" cy="3011832"/>
              <a:chOff x="4167960" y="2510051"/>
              <a:chExt cx="120667" cy="3122206"/>
            </a:xfrm>
          </p:grpSpPr>
          <p:cxnSp>
            <p:nvCxnSpPr>
              <p:cNvPr id="120" name="직선 연결선 167">
                <a:extLst>
                  <a:ext uri="{FF2B5EF4-FFF2-40B4-BE49-F238E27FC236}">
                    <a16:creationId xmlns:a16="http://schemas.microsoft.com/office/drawing/2014/main" id="{9669F816-FAB6-4DAF-9267-13C603DDE602}"/>
                  </a:ext>
                </a:extLst>
              </p:cNvPr>
              <p:cNvCxnSpPr>
                <a:cxnSpLocks/>
              </p:cNvCxnSpPr>
              <p:nvPr/>
            </p:nvCxnSpPr>
            <p:spPr>
              <a:xfrm>
                <a:off x="4228294" y="2685928"/>
                <a:ext cx="0" cy="2946329"/>
              </a:xfrm>
              <a:prstGeom prst="line">
                <a:avLst/>
              </a:prstGeom>
              <a:noFill/>
              <a:ln w="19050" cap="flat" cmpd="sng" algn="ctr">
                <a:solidFill>
                  <a:srgbClr val="FF0000"/>
                </a:solidFill>
                <a:prstDash val="sysDot"/>
              </a:ln>
              <a:effectLst/>
            </p:spPr>
          </p:cxnSp>
          <p:sp>
            <p:nvSpPr>
              <p:cNvPr id="121" name="이등변 삼각형 7">
                <a:extLst>
                  <a:ext uri="{FF2B5EF4-FFF2-40B4-BE49-F238E27FC236}">
                    <a16:creationId xmlns:a16="http://schemas.microsoft.com/office/drawing/2014/main" id="{A09B542C-B3CB-44C4-A4B8-7354EB814C56}"/>
                  </a:ext>
                </a:extLst>
              </p:cNvPr>
              <p:cNvSpPr/>
              <p:nvPr/>
            </p:nvSpPr>
            <p:spPr>
              <a:xfrm flipV="1">
                <a:off x="4167960" y="2510051"/>
                <a:ext cx="120667" cy="89074"/>
              </a:xfrm>
              <a:prstGeom prst="triangle">
                <a:avLst/>
              </a:prstGeom>
              <a:solidFill>
                <a:srgbClr val="FF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119" name="Text Box 4">
              <a:extLst>
                <a:ext uri="{FF2B5EF4-FFF2-40B4-BE49-F238E27FC236}">
                  <a16:creationId xmlns:a16="http://schemas.microsoft.com/office/drawing/2014/main" id="{4A569193-A705-42EA-A7D3-A3B9DAAA588F}"/>
                </a:ext>
              </a:extLst>
            </p:cNvPr>
            <p:cNvSpPr txBox="1">
              <a:spLocks noChangeArrowheads="1"/>
            </p:cNvSpPr>
            <p:nvPr/>
          </p:nvSpPr>
          <p:spPr bwMode="auto">
            <a:xfrm>
              <a:off x="2020628" y="1123354"/>
              <a:ext cx="205184" cy="138501"/>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Arial" charset="0"/>
                </a:rPr>
                <a:t>현재</a:t>
              </a:r>
              <a:endParaRPr kumimoji="0" lang="en-US" altLang="ko-KR" sz="900" b="0" i="0" u="none" strike="noStrike" kern="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Arial" charset="0"/>
              </a:endParaRPr>
            </a:p>
          </p:txBody>
        </p:sp>
      </p:grpSp>
      <p:grpSp>
        <p:nvGrpSpPr>
          <p:cNvPr id="124" name="그룹 1">
            <a:extLst>
              <a:ext uri="{FF2B5EF4-FFF2-40B4-BE49-F238E27FC236}">
                <a16:creationId xmlns:a16="http://schemas.microsoft.com/office/drawing/2014/main" id="{35482C0B-D31F-4794-BF55-C236585D84E9}"/>
              </a:ext>
            </a:extLst>
          </p:cNvPr>
          <p:cNvGrpSpPr/>
          <p:nvPr/>
        </p:nvGrpSpPr>
        <p:grpSpPr>
          <a:xfrm>
            <a:off x="6606244" y="1484784"/>
            <a:ext cx="205184" cy="1181864"/>
            <a:chOff x="2020628" y="1123354"/>
            <a:chExt cx="205184" cy="3540909"/>
          </a:xfrm>
        </p:grpSpPr>
        <p:grpSp>
          <p:nvGrpSpPr>
            <p:cNvPr id="132" name="그룹 2">
              <a:extLst>
                <a:ext uri="{FF2B5EF4-FFF2-40B4-BE49-F238E27FC236}">
                  <a16:creationId xmlns:a16="http://schemas.microsoft.com/office/drawing/2014/main" id="{ADBCD9E1-794E-4C0B-9C3B-FA3AFA0586CE}"/>
                </a:ext>
              </a:extLst>
            </p:cNvPr>
            <p:cNvGrpSpPr/>
            <p:nvPr/>
          </p:nvGrpSpPr>
          <p:grpSpPr>
            <a:xfrm>
              <a:off x="2072680" y="1578060"/>
              <a:ext cx="120667" cy="3086203"/>
              <a:chOff x="4167960" y="2510051"/>
              <a:chExt cx="120667" cy="3199302"/>
            </a:xfrm>
          </p:grpSpPr>
          <p:cxnSp>
            <p:nvCxnSpPr>
              <p:cNvPr id="136" name="직선 연결선 167">
                <a:extLst>
                  <a:ext uri="{FF2B5EF4-FFF2-40B4-BE49-F238E27FC236}">
                    <a16:creationId xmlns:a16="http://schemas.microsoft.com/office/drawing/2014/main" id="{6EBC15AD-AEF2-45BD-954C-938D8A233FC8}"/>
                  </a:ext>
                </a:extLst>
              </p:cNvPr>
              <p:cNvCxnSpPr>
                <a:cxnSpLocks/>
              </p:cNvCxnSpPr>
              <p:nvPr/>
            </p:nvCxnSpPr>
            <p:spPr>
              <a:xfrm>
                <a:off x="4228294" y="2685928"/>
                <a:ext cx="0" cy="3023425"/>
              </a:xfrm>
              <a:prstGeom prst="line">
                <a:avLst/>
              </a:prstGeom>
              <a:noFill/>
              <a:ln w="19050" cap="flat" cmpd="sng" algn="ctr">
                <a:solidFill>
                  <a:srgbClr val="0000FF"/>
                </a:solidFill>
                <a:prstDash val="sysDot"/>
              </a:ln>
              <a:effectLst/>
            </p:spPr>
          </p:cxnSp>
          <p:sp>
            <p:nvSpPr>
              <p:cNvPr id="137" name="이등변 삼각형 7">
                <a:extLst>
                  <a:ext uri="{FF2B5EF4-FFF2-40B4-BE49-F238E27FC236}">
                    <a16:creationId xmlns:a16="http://schemas.microsoft.com/office/drawing/2014/main" id="{E95918B5-92CD-465F-B237-4B648E0576F0}"/>
                  </a:ext>
                </a:extLst>
              </p:cNvPr>
              <p:cNvSpPr/>
              <p:nvPr/>
            </p:nvSpPr>
            <p:spPr>
              <a:xfrm flipV="1">
                <a:off x="4167960" y="2510051"/>
                <a:ext cx="120667" cy="89074"/>
              </a:xfrm>
              <a:prstGeom prst="triangle">
                <a:avLst/>
              </a:prstGeom>
              <a:solidFill>
                <a:srgbClr val="FF0000"/>
              </a:solidFill>
              <a:ln w="25400" cap="flat" cmpd="sng" algn="ctr">
                <a:solidFill>
                  <a:srgbClr val="0000FF"/>
                </a:solid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133" name="Text Box 4">
              <a:extLst>
                <a:ext uri="{FF2B5EF4-FFF2-40B4-BE49-F238E27FC236}">
                  <a16:creationId xmlns:a16="http://schemas.microsoft.com/office/drawing/2014/main" id="{C04F6CA9-EE73-4848-B223-798A284D85D7}"/>
                </a:ext>
              </a:extLst>
            </p:cNvPr>
            <p:cNvSpPr txBox="1">
              <a:spLocks noChangeArrowheads="1"/>
            </p:cNvSpPr>
            <p:nvPr/>
          </p:nvSpPr>
          <p:spPr bwMode="auto">
            <a:xfrm>
              <a:off x="2020628" y="1123354"/>
              <a:ext cx="205184" cy="414948"/>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rPr>
                <a:t>완료</a:t>
              </a:r>
              <a:endParaRPr kumimoji="0" lang="en-US" altLang="ko-KR" sz="900" b="0" i="0" u="none" strike="noStrike" kern="0" cap="none" spc="0" normalizeH="0" baseline="0" noProof="0">
                <a:ln>
                  <a:noFill/>
                </a:ln>
                <a:solidFill>
                  <a:srgbClr val="0000FF"/>
                </a:solidFill>
                <a:effectLst/>
                <a:uLnTx/>
                <a:uFillTx/>
                <a:latin typeface="Arial Narrow" panose="020B0606020202030204" pitchFamily="34" charset="0"/>
                <a:ea typeface="LG스마트체 Regular" panose="020B0600000101010101" pitchFamily="50" charset="-127"/>
                <a:cs typeface="Arial" charset="0"/>
              </a:endParaRPr>
            </a:p>
          </p:txBody>
        </p:sp>
      </p:grpSp>
      <p:grpSp>
        <p:nvGrpSpPr>
          <p:cNvPr id="28" name="그룹 27"/>
          <p:cNvGrpSpPr/>
          <p:nvPr/>
        </p:nvGrpSpPr>
        <p:grpSpPr>
          <a:xfrm>
            <a:off x="839581" y="2821101"/>
            <a:ext cx="4008771" cy="341334"/>
            <a:chOff x="961536" y="4488828"/>
            <a:chExt cx="4008771" cy="341334"/>
          </a:xfrm>
        </p:grpSpPr>
        <p:sp>
          <p:nvSpPr>
            <p:cNvPr id="29" name="제목 9"/>
            <p:cNvSpPr txBox="1">
              <a:spLocks/>
            </p:cNvSpPr>
            <p:nvPr/>
          </p:nvSpPr>
          <p:spPr>
            <a:xfrm>
              <a:off x="2577457" y="4488828"/>
              <a:ext cx="776928"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진척사항</a:t>
              </a:r>
            </a:p>
          </p:txBody>
        </p:sp>
        <p:cxnSp>
          <p:nvCxnSpPr>
            <p:cNvPr id="30" name="직선 연결선 2"/>
            <p:cNvCxnSpPr>
              <a:cxnSpLocks noChangeShapeType="1"/>
            </p:cNvCxnSpPr>
            <p:nvPr/>
          </p:nvCxnSpPr>
          <p:spPr bwMode="auto">
            <a:xfrm>
              <a:off x="961536" y="4830162"/>
              <a:ext cx="400877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 name="그룹 30"/>
          <p:cNvGrpSpPr/>
          <p:nvPr/>
        </p:nvGrpSpPr>
        <p:grpSpPr>
          <a:xfrm>
            <a:off x="5141076" y="2828807"/>
            <a:ext cx="4553251" cy="333628"/>
            <a:chOff x="5152724" y="4496534"/>
            <a:chExt cx="4221222" cy="333628"/>
          </a:xfrm>
        </p:grpSpPr>
        <p:sp>
          <p:nvSpPr>
            <p:cNvPr id="32" name="제목 9"/>
            <p:cNvSpPr txBox="1">
              <a:spLocks/>
            </p:cNvSpPr>
            <p:nvPr/>
          </p:nvSpPr>
          <p:spPr>
            <a:xfrm>
              <a:off x="6885365" y="4496534"/>
              <a:ext cx="755940"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향후 계획</a:t>
              </a:r>
            </a:p>
          </p:txBody>
        </p:sp>
        <p:cxnSp>
          <p:nvCxnSpPr>
            <p:cNvPr id="33" name="직선 연결선 2"/>
            <p:cNvCxnSpPr>
              <a:cxnSpLocks noChangeShapeType="1"/>
            </p:cNvCxnSpPr>
            <p:nvPr/>
          </p:nvCxnSpPr>
          <p:spPr bwMode="auto">
            <a:xfrm>
              <a:off x="5152724" y="4830162"/>
              <a:ext cx="422122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1" name="Rectangle 4">
            <a:extLst>
              <a:ext uri="{FF2B5EF4-FFF2-40B4-BE49-F238E27FC236}">
                <a16:creationId xmlns:a16="http://schemas.microsoft.com/office/drawing/2014/main" id="{E511C3FD-2659-4D28-92C6-9D2551A1A003}"/>
              </a:ext>
            </a:extLst>
          </p:cNvPr>
          <p:cNvSpPr>
            <a:spLocks noChangeArrowheads="1"/>
          </p:cNvSpPr>
          <p:nvPr/>
        </p:nvSpPr>
        <p:spPr bwMode="auto">
          <a:xfrm>
            <a:off x="200471" y="2746039"/>
            <a:ext cx="448035" cy="3799689"/>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진척</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사항</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cxnSp>
        <p:nvCxnSpPr>
          <p:cNvPr id="149" name="직선 연결선 148">
            <a:extLst>
              <a:ext uri="{FF2B5EF4-FFF2-40B4-BE49-F238E27FC236}">
                <a16:creationId xmlns:a16="http://schemas.microsoft.com/office/drawing/2014/main" id="{16690609-1BD2-44B1-B9DB-30E0E480036B}"/>
              </a:ext>
            </a:extLst>
          </p:cNvPr>
          <p:cNvCxnSpPr>
            <a:cxnSpLocks/>
          </p:cNvCxnSpPr>
          <p:nvPr/>
        </p:nvCxnSpPr>
        <p:spPr>
          <a:xfrm flipV="1">
            <a:off x="4997300" y="2811865"/>
            <a:ext cx="0" cy="3929684"/>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타원 2">
            <a:extLst>
              <a:ext uri="{FF2B5EF4-FFF2-40B4-BE49-F238E27FC236}">
                <a16:creationId xmlns:a16="http://schemas.microsoft.com/office/drawing/2014/main" id="{47F0BBC4-2D77-1837-380F-8AA54F86BB95}"/>
              </a:ext>
            </a:extLst>
          </p:cNvPr>
          <p:cNvSpPr>
            <a:spLocks noChangeAspect="1"/>
          </p:cNvSpPr>
          <p:nvPr/>
        </p:nvSpPr>
        <p:spPr>
          <a:xfrm>
            <a:off x="9136690" y="1150348"/>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C1A09C20-345F-9718-4DE1-D3A549C578CE}"/>
              </a:ext>
            </a:extLst>
          </p:cNvPr>
          <p:cNvGrpSpPr/>
          <p:nvPr/>
        </p:nvGrpSpPr>
        <p:grpSpPr>
          <a:xfrm>
            <a:off x="746523" y="1971308"/>
            <a:ext cx="7456448" cy="824870"/>
            <a:chOff x="746523" y="1850514"/>
            <a:chExt cx="7456448" cy="824870"/>
          </a:xfrm>
        </p:grpSpPr>
        <p:cxnSp>
          <p:nvCxnSpPr>
            <p:cNvPr id="52" name="직선 화살표 연결선 51">
              <a:extLst>
                <a:ext uri="{FF2B5EF4-FFF2-40B4-BE49-F238E27FC236}">
                  <a16:creationId xmlns:a16="http://schemas.microsoft.com/office/drawing/2014/main" id="{76EAE1DE-4238-4CDC-9248-E01FCFA7A05C}"/>
                </a:ext>
              </a:extLst>
            </p:cNvPr>
            <p:cNvCxnSpPr>
              <a:cxnSpLocks/>
              <a:endCxn id="74" idx="2"/>
            </p:cNvCxnSpPr>
            <p:nvPr/>
          </p:nvCxnSpPr>
          <p:spPr>
            <a:xfrm>
              <a:off x="746523" y="2053688"/>
              <a:ext cx="5808788"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EE018A8-5C26-42D5-B180-CFAC20356082}"/>
                </a:ext>
              </a:extLst>
            </p:cNvPr>
            <p:cNvSpPr txBox="1"/>
            <p:nvPr/>
          </p:nvSpPr>
          <p:spPr>
            <a:xfrm>
              <a:off x="4879717" y="2109732"/>
              <a:ext cx="462233"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대표호기</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셋업</a:t>
              </a: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검증</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154" name="타원 153">
              <a:extLst>
                <a:ext uri="{FF2B5EF4-FFF2-40B4-BE49-F238E27FC236}">
                  <a16:creationId xmlns:a16="http://schemas.microsoft.com/office/drawing/2014/main" id="{9429C3F5-0E6A-4C62-95C9-502B21B29AB7}"/>
                </a:ext>
              </a:extLst>
            </p:cNvPr>
            <p:cNvSpPr/>
            <p:nvPr/>
          </p:nvSpPr>
          <p:spPr>
            <a:xfrm>
              <a:off x="5067003" y="1981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 name="타원 7">
              <a:extLst>
                <a:ext uri="{FF2B5EF4-FFF2-40B4-BE49-F238E27FC236}">
                  <a16:creationId xmlns:a16="http://schemas.microsoft.com/office/drawing/2014/main" id="{33EAF273-6333-7E96-71D7-DEB3BF6AF403}"/>
                </a:ext>
              </a:extLst>
            </p:cNvPr>
            <p:cNvSpPr/>
            <p:nvPr/>
          </p:nvSpPr>
          <p:spPr>
            <a:xfrm>
              <a:off x="1373195"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 name="TextBox 8">
              <a:extLst>
                <a:ext uri="{FF2B5EF4-FFF2-40B4-BE49-F238E27FC236}">
                  <a16:creationId xmlns:a16="http://schemas.microsoft.com/office/drawing/2014/main" id="{CF90D9D7-54F3-8E49-A4CF-6566842478D4}"/>
                </a:ext>
              </a:extLst>
            </p:cNvPr>
            <p:cNvSpPr txBox="1"/>
            <p:nvPr/>
          </p:nvSpPr>
          <p:spPr>
            <a:xfrm>
              <a:off x="1233579" y="2104583"/>
              <a:ext cx="462232"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Data </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연계</a:t>
              </a:r>
              <a:b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컨셉 수립</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 name="타원 11">
              <a:extLst>
                <a:ext uri="{FF2B5EF4-FFF2-40B4-BE49-F238E27FC236}">
                  <a16:creationId xmlns:a16="http://schemas.microsoft.com/office/drawing/2014/main" id="{29D98145-4F85-3AA9-47F3-1D13C8C706E8}"/>
                </a:ext>
              </a:extLst>
            </p:cNvPr>
            <p:cNvSpPr/>
            <p:nvPr/>
          </p:nvSpPr>
          <p:spPr>
            <a:xfrm>
              <a:off x="4339485"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4" name="타원 73">
              <a:extLst>
                <a:ext uri="{FF2B5EF4-FFF2-40B4-BE49-F238E27FC236}">
                  <a16:creationId xmlns:a16="http://schemas.microsoft.com/office/drawing/2014/main" id="{69297762-53C7-B2EC-C202-4002A2D45785}"/>
                </a:ext>
              </a:extLst>
            </p:cNvPr>
            <p:cNvSpPr/>
            <p:nvPr/>
          </p:nvSpPr>
          <p:spPr>
            <a:xfrm>
              <a:off x="6555311" y="1981688"/>
              <a:ext cx="144000" cy="144000"/>
            </a:xfrm>
            <a:prstGeom prst="ellipse">
              <a:avLst/>
            </a:prstGeom>
            <a:solidFill>
              <a:schemeClr val="accent6">
                <a:lumMod val="40000"/>
                <a:lumOff val="6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5" name="타원 104">
              <a:extLst>
                <a:ext uri="{FF2B5EF4-FFF2-40B4-BE49-F238E27FC236}">
                  <a16:creationId xmlns:a16="http://schemas.microsoft.com/office/drawing/2014/main" id="{963C13A4-ED84-5365-28EF-143687015273}"/>
                </a:ext>
              </a:extLst>
            </p:cNvPr>
            <p:cNvSpPr/>
            <p:nvPr/>
          </p:nvSpPr>
          <p:spPr>
            <a:xfrm>
              <a:off x="1033988"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15</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6" name="TextBox 105">
              <a:extLst>
                <a:ext uri="{FF2B5EF4-FFF2-40B4-BE49-F238E27FC236}">
                  <a16:creationId xmlns:a16="http://schemas.microsoft.com/office/drawing/2014/main" id="{A23175E3-62AA-2D7E-A21B-FBA7857EB2D8}"/>
                </a:ext>
              </a:extLst>
            </p:cNvPr>
            <p:cNvSpPr txBox="1"/>
            <p:nvPr/>
          </p:nvSpPr>
          <p:spPr>
            <a:xfrm>
              <a:off x="948260" y="2104583"/>
              <a:ext cx="255445" cy="318924"/>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과제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검토</a:t>
              </a:r>
            </a:p>
          </p:txBody>
        </p:sp>
        <p:sp>
          <p:nvSpPr>
            <p:cNvPr id="6" name="타원 5">
              <a:extLst>
                <a:ext uri="{FF2B5EF4-FFF2-40B4-BE49-F238E27FC236}">
                  <a16:creationId xmlns:a16="http://schemas.microsoft.com/office/drawing/2014/main" id="{150AF3FE-2719-95F3-5082-09FBA2546EC2}"/>
                </a:ext>
              </a:extLst>
            </p:cNvPr>
            <p:cNvSpPr/>
            <p:nvPr/>
          </p:nvSpPr>
          <p:spPr>
            <a:xfrm>
              <a:off x="2088784"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24</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3" name="TextBox 22">
              <a:extLst>
                <a:ext uri="{FF2B5EF4-FFF2-40B4-BE49-F238E27FC236}">
                  <a16:creationId xmlns:a16="http://schemas.microsoft.com/office/drawing/2014/main" id="{FD74229D-6C5F-F787-AB01-5C897836932C}"/>
                </a:ext>
              </a:extLst>
            </p:cNvPr>
            <p:cNvSpPr txBox="1"/>
            <p:nvPr/>
          </p:nvSpPr>
          <p:spPr>
            <a:xfrm>
              <a:off x="1839865" y="2104583"/>
              <a:ext cx="644976" cy="442035"/>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차 </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영향인자</a:t>
              </a: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관리방안 도출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5" name="타원 24">
              <a:extLst>
                <a:ext uri="{FF2B5EF4-FFF2-40B4-BE49-F238E27FC236}">
                  <a16:creationId xmlns:a16="http://schemas.microsoft.com/office/drawing/2014/main" id="{C8EB229F-47F0-BBB7-D20C-135BBD516368}"/>
                </a:ext>
              </a:extLst>
            </p:cNvPr>
            <p:cNvSpPr/>
            <p:nvPr/>
          </p:nvSpPr>
          <p:spPr>
            <a:xfrm>
              <a:off x="3865746" y="1979597"/>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18</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6" name="TextBox 25">
              <a:extLst>
                <a:ext uri="{FF2B5EF4-FFF2-40B4-BE49-F238E27FC236}">
                  <a16:creationId xmlns:a16="http://schemas.microsoft.com/office/drawing/2014/main" id="{A7C641AD-5FF4-5A08-EEEA-294DC8F5AF41}"/>
                </a:ext>
              </a:extLst>
            </p:cNvPr>
            <p:cNvSpPr txBox="1"/>
            <p:nvPr/>
          </p:nvSpPr>
          <p:spPr>
            <a:xfrm>
              <a:off x="3728930" y="2110238"/>
              <a:ext cx="462233" cy="565146"/>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차</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영향인자</a:t>
              </a: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관리방안</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도출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7" name="TextBox 26">
              <a:extLst>
                <a:ext uri="{FF2B5EF4-FFF2-40B4-BE49-F238E27FC236}">
                  <a16:creationId xmlns:a16="http://schemas.microsoft.com/office/drawing/2014/main" id="{3AFAEF45-E064-886E-07A4-C481A570FC62}"/>
                </a:ext>
              </a:extLst>
            </p:cNvPr>
            <p:cNvSpPr txBox="1"/>
            <p:nvPr/>
          </p:nvSpPr>
          <p:spPr>
            <a:xfrm>
              <a:off x="4174534" y="2109732"/>
              <a:ext cx="479866" cy="442035"/>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롤프레스</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자동보정</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Logic </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검토</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36" name="TextBox 35">
              <a:extLst>
                <a:ext uri="{FF2B5EF4-FFF2-40B4-BE49-F238E27FC236}">
                  <a16:creationId xmlns:a16="http://schemas.microsoft.com/office/drawing/2014/main" id="{7ED64461-AF69-2D4C-6E21-43C2559D5D4D}"/>
                </a:ext>
              </a:extLst>
            </p:cNvPr>
            <p:cNvSpPr txBox="1"/>
            <p:nvPr/>
          </p:nvSpPr>
          <p:spPr>
            <a:xfrm>
              <a:off x="6355883" y="2109732"/>
              <a:ext cx="346816"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효과성</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검증</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37" name="TextBox 36">
              <a:extLst>
                <a:ext uri="{FF2B5EF4-FFF2-40B4-BE49-F238E27FC236}">
                  <a16:creationId xmlns:a16="http://schemas.microsoft.com/office/drawing/2014/main" id="{5DE78472-33FE-F1B0-29E2-40140FAACA0C}"/>
                </a:ext>
              </a:extLst>
            </p:cNvPr>
            <p:cNvSpPr txBox="1"/>
            <p:nvPr/>
          </p:nvSpPr>
          <p:spPr>
            <a:xfrm>
              <a:off x="5645330" y="2109732"/>
              <a:ext cx="438188" cy="31892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모니터링</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a:t>
              </a: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디버깅</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38" name="타원 37">
              <a:extLst>
                <a:ext uri="{FF2B5EF4-FFF2-40B4-BE49-F238E27FC236}">
                  <a16:creationId xmlns:a16="http://schemas.microsoft.com/office/drawing/2014/main" id="{7B7007E5-7358-BF8C-249A-468A685389E2}"/>
                </a:ext>
              </a:extLst>
            </p:cNvPr>
            <p:cNvSpPr/>
            <p:nvPr/>
          </p:nvSpPr>
          <p:spPr>
            <a:xfrm>
              <a:off x="5820595" y="1981688"/>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4" name="TextBox 43">
              <a:extLst>
                <a:ext uri="{FF2B5EF4-FFF2-40B4-BE49-F238E27FC236}">
                  <a16:creationId xmlns:a16="http://schemas.microsoft.com/office/drawing/2014/main" id="{DC1E3898-CCBB-9219-62B7-1E888D9F4157}"/>
                </a:ext>
              </a:extLst>
            </p:cNvPr>
            <p:cNvSpPr txBox="1"/>
            <p:nvPr/>
          </p:nvSpPr>
          <p:spPr>
            <a:xfrm>
              <a:off x="7764783" y="1850514"/>
              <a:ext cx="438188" cy="195814"/>
            </a:xfrm>
            <a:prstGeom prst="rect">
              <a:avLst/>
            </a:prstGeom>
            <a:noFill/>
            <a:ln w="6350">
              <a:noFill/>
            </a:ln>
          </p:spPr>
          <p:txBody>
            <a:bodyPr wrap="none" lIns="36000" tIns="36000" rIns="36000" bIns="36000" rtlCol="0" anchor="t" anchorCtr="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rPr>
                <a:t>수평전개</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a:endParaRPr>
            </a:p>
          </p:txBody>
        </p:sp>
        <p:sp>
          <p:nvSpPr>
            <p:cNvPr id="5" name="타원 4">
              <a:extLst>
                <a:ext uri="{FF2B5EF4-FFF2-40B4-BE49-F238E27FC236}">
                  <a16:creationId xmlns:a16="http://schemas.microsoft.com/office/drawing/2014/main" id="{E1E3C1BA-3A21-7119-D68C-20DA8C161AD3}"/>
                </a:ext>
              </a:extLst>
            </p:cNvPr>
            <p:cNvSpPr/>
            <p:nvPr/>
          </p:nvSpPr>
          <p:spPr>
            <a:xfrm>
              <a:off x="3146966" y="1973942"/>
              <a:ext cx="144000" cy="144000"/>
            </a:xfrm>
            <a:prstGeom prst="ellipse">
              <a:avLst/>
            </a:prstGeom>
            <a:solidFill>
              <a:schemeClr val="bg1"/>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14</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 name="TextBox 9">
              <a:extLst>
                <a:ext uri="{FF2B5EF4-FFF2-40B4-BE49-F238E27FC236}">
                  <a16:creationId xmlns:a16="http://schemas.microsoft.com/office/drawing/2014/main" id="{1B479210-194D-5D28-CF33-809DACC3497A}"/>
                </a:ext>
              </a:extLst>
            </p:cNvPr>
            <p:cNvSpPr txBox="1"/>
            <p:nvPr/>
          </p:nvSpPr>
          <p:spPr>
            <a:xfrm>
              <a:off x="3010152" y="2104583"/>
              <a:ext cx="462233" cy="442035"/>
            </a:xfrm>
            <a:prstGeom prst="rect">
              <a:avLst/>
            </a:prstGeom>
            <a:noFill/>
            <a:ln w="6350">
              <a:noFill/>
            </a:ln>
          </p:spPr>
          <p:txBody>
            <a:bodyPr wrap="none" lIns="36000" tIns="36000" rIns="36000" bIns="36000" rtlCol="0" anchor="t" anchorCtr="0">
              <a:spAutoFit/>
            </a:bodyPr>
            <a:lstStyle>
              <a:defPPr>
                <a:defRPr lang="ko-KR"/>
              </a:defPPr>
              <a:lvl1pPr marR="0" lvl="0" indent="0" algn="ctr" fontAlgn="auto">
                <a:lnSpc>
                  <a:spcPct val="100000"/>
                </a:lnSpc>
                <a:spcBef>
                  <a:spcPts val="0"/>
                </a:spcBef>
                <a:spcAft>
                  <a:spcPts val="0"/>
                </a:spcAft>
                <a:buClrTx/>
                <a:buSzTx/>
                <a:buFontTx/>
                <a:buNone/>
                <a:tabLst/>
                <a:defRPr kumimoji="0" sz="800" i="0" u="none" strike="noStrike" kern="0" cap="none" spc="0" normalizeH="0" baseline="0">
                  <a:ln>
                    <a:noFill/>
                  </a:ln>
                  <a:solidFill>
                    <a:prstClr val="black"/>
                  </a:solidFill>
                  <a:effectLst/>
                  <a:uLnTx/>
                  <a:uFillTx/>
                  <a:latin typeface="Arial Narrow" panose="020B0606020202030204" pitchFamily="34" charset="0"/>
                  <a:ea typeface="LG스마트체 Regular" panose="020B0600000101010101" pitchFamily="50" charset="-127"/>
                </a:defRPr>
              </a:lvl1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코팅</a:t>
              </a:r>
              <a:r>
                <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Lot</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선별추입</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로직 검토</a:t>
              </a:r>
              <a:endParaRPr kumimoji="0" lang="en-US" altLang="ko-KR" sz="8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cxnSp>
        <p:nvCxnSpPr>
          <p:cNvPr id="42" name="직선 화살표 연결선 41">
            <a:extLst>
              <a:ext uri="{FF2B5EF4-FFF2-40B4-BE49-F238E27FC236}">
                <a16:creationId xmlns:a16="http://schemas.microsoft.com/office/drawing/2014/main" id="{B5BED116-342B-63BA-BA64-ACAC1FFC9C98}"/>
              </a:ext>
            </a:extLst>
          </p:cNvPr>
          <p:cNvCxnSpPr>
            <a:cxnSpLocks/>
          </p:cNvCxnSpPr>
          <p:nvPr/>
        </p:nvCxnSpPr>
        <p:spPr>
          <a:xfrm>
            <a:off x="6718361" y="2174482"/>
            <a:ext cx="3078223" cy="0"/>
          </a:xfrm>
          <a:prstGeom prst="straightConnector1">
            <a:avLst/>
          </a:prstGeom>
          <a:ln w="28575">
            <a:solidFill>
              <a:schemeClr val="accent5">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실행 단추: 홈으로 이동 12">
            <a:hlinkClick r:id="rId4" action="ppaction://hlinksldjump" highlightClick="1"/>
            <a:extLst>
              <a:ext uri="{FF2B5EF4-FFF2-40B4-BE49-F238E27FC236}">
                <a16:creationId xmlns:a16="http://schemas.microsoft.com/office/drawing/2014/main" id="{5F593DCB-7F2F-7F33-2097-5181427788D5}"/>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BC8E8534-E528-EA96-3388-5522809A1F91}"/>
              </a:ext>
            </a:extLst>
          </p:cNvPr>
          <p:cNvSpPr txBox="1"/>
          <p:nvPr/>
        </p:nvSpPr>
        <p:spPr>
          <a:xfrm>
            <a:off x="816727" y="3172055"/>
            <a:ext cx="4324349" cy="296620"/>
          </a:xfrm>
          <a:prstGeom prst="rect">
            <a:avLst/>
          </a:prstGeom>
          <a:noFill/>
        </p:spPr>
        <p:txBody>
          <a:bodyPr wrap="square" lIns="33231" rIns="33231" rtlCol="0">
            <a:spAutoFit/>
          </a:bodyPr>
          <a:lstStyle/>
          <a:p>
            <a:pPr marL="164127" marR="0" lvl="0" indent="-164127" algn="l" defTabSz="844083" rtl="0" eaLnBrk="1" fontAlgn="base" latinLnBrk="1" hangingPunct="1">
              <a:lnSpc>
                <a:spcPct val="12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롤프레스 </a:t>
            </a:r>
            <a:r>
              <a:rPr kumimoji="1" lang="ko-KR" altLang="en-US" sz="12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자동 보정 효과 파악</a:t>
            </a:r>
            <a:endParaRPr kumimoji="1" lang="en-US" altLang="ko-KR" sz="12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7" name="TextBox 6">
            <a:extLst>
              <a:ext uri="{FF2B5EF4-FFF2-40B4-BE49-F238E27FC236}">
                <a16:creationId xmlns:a16="http://schemas.microsoft.com/office/drawing/2014/main" id="{B72FE3BF-B516-B8DB-E407-F4F6DA8D307D}"/>
              </a:ext>
            </a:extLst>
          </p:cNvPr>
          <p:cNvSpPr txBox="1"/>
          <p:nvPr/>
        </p:nvSpPr>
        <p:spPr>
          <a:xfrm>
            <a:off x="801218" y="3449297"/>
            <a:ext cx="4196080" cy="2123658"/>
          </a:xfrm>
          <a:prstGeom prst="rect">
            <a:avLst/>
          </a:prstGeom>
        </p:spPr>
        <p:txBody>
          <a:bodyPr wrap="square">
            <a:spAutoFit/>
          </a:bodyPr>
          <a:lstStyle/>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1)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롤프레스 단선 발생 위치 코터 로딩 및 롤프레스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편차 분석</a:t>
            </a: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코터 로딩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OS/DS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편차가 롤프레스 압연율에 영향을 주어</a:t>
            </a: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롤프레스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Outfeed OS/DS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편차 발생됨을 확인 함</a:t>
            </a:r>
            <a:b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RSND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자동보정팀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자동 보정 적용</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(3-4</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p>
          <a:p>
            <a:pPr marL="0" marR="0" lvl="0" indent="0" algn="l" defTabSz="914400" rtl="0" eaLnBrk="1" fontAlgn="ctr" latinLnBrk="1" hangingPunct="1">
              <a:lnSpc>
                <a:spcPct val="120000"/>
              </a:lnSpc>
              <a:spcBef>
                <a:spcPts val="0"/>
              </a:spcBef>
              <a:spcAft>
                <a:spcPts val="0"/>
              </a:spcAft>
              <a:buClrTx/>
              <a:buSzTx/>
              <a:buFontTx/>
              <a:buNone/>
              <a:tabLst/>
              <a:defRPr/>
            </a:pP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2)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롤프레스 단선 횟수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개선율</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회</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/10,000m)</a:t>
            </a:r>
          </a:p>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E77A 0.88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0.56,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0.32, 37%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개선</a:t>
            </a: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20000"/>
              </a:lnSpc>
              <a:spcBef>
                <a:spcPts val="0"/>
              </a:spcBef>
              <a:spcAft>
                <a:spcPts val="0"/>
              </a:spcAft>
              <a:buClrTx/>
              <a:buSzTx/>
              <a:buFontTx/>
              <a:buNone/>
              <a:tabLst/>
              <a:defRPr/>
            </a:pP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3)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노칭</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단선 횟수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개선율</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회</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/10,000m)</a:t>
            </a:r>
          </a:p>
          <a:p>
            <a:pPr marL="0" marR="0" lvl="0" indent="0" algn="l" defTabSz="914400" rtl="0" eaLnBrk="1" fontAlgn="ctr" latinLnBrk="1" hangingPunct="1">
              <a:lnSpc>
                <a:spcPct val="120000"/>
              </a:lnSpc>
              <a:spcBef>
                <a:spcPts val="0"/>
              </a:spcBef>
              <a:spcAft>
                <a:spcPts val="0"/>
              </a:spcAft>
              <a:buClrTx/>
              <a:buSzTx/>
              <a:buFontTx/>
              <a:buNone/>
              <a:tabLst/>
              <a:defRPr/>
            </a:pP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E77A 0.07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0.05,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0.02, 25%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개선</a:t>
            </a:r>
            <a:endPar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 name="제목 3">
            <a:extLst>
              <a:ext uri="{FF2B5EF4-FFF2-40B4-BE49-F238E27FC236}">
                <a16:creationId xmlns:a16="http://schemas.microsoft.com/office/drawing/2014/main" id="{EDA0FB28-7221-3BB2-FE82-AB77FB317AE5}"/>
              </a:ext>
            </a:extLst>
          </p:cNvPr>
          <p:cNvSpPr txBox="1">
            <a:spLocks/>
          </p:cNvSpPr>
          <p:nvPr/>
        </p:nvSpPr>
        <p:spPr>
          <a:xfrm>
            <a:off x="134567" y="116447"/>
            <a:ext cx="5136964" cy="369332"/>
          </a:xfrm>
          <a:prstGeom prst="rect">
            <a:avLst/>
          </a:prstGeo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square" lIns="91440" tIns="45720" rIns="91440" bIns="45720" numCol="1" rtlCol="0" anchor="ctr" anchorCtr="0" compatLnSpc="1">
            <a:prstTxWarp prst="textNoShape">
              <a:avLst/>
            </a:prstTxWarp>
            <a:spAutoFit/>
          </a:bodyPr>
          <a:lstStyle>
            <a:lvl1pPr algn="ctr" defTabSz="914400" rtl="0" eaLnBrk="1" latinLnBrk="1" hangingPunct="1">
              <a:spcBef>
                <a:spcPct val="0"/>
              </a:spcBef>
              <a:buNone/>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3.</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 </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KPI 08</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월 진척 사항</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_</a:t>
            </a:r>
            <a:r>
              <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고질 불량 개선 </a:t>
            </a:r>
            <a:r>
              <a:rPr kumimoji="0" lang="en-US" altLang="ko-KR"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rPr>
              <a:t>(2/3)</a:t>
            </a:r>
            <a:endParaRPr kumimoji="0" lang="ko-KR" altLang="en-US" sz="1800" b="1" i="0" u="none" strike="noStrike" kern="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mj-cs"/>
            </a:endParaRPr>
          </a:p>
        </p:txBody>
      </p:sp>
      <p:sp>
        <p:nvSpPr>
          <p:cNvPr id="20" name="TextBox 19">
            <a:extLst>
              <a:ext uri="{FF2B5EF4-FFF2-40B4-BE49-F238E27FC236}">
                <a16:creationId xmlns:a16="http://schemas.microsoft.com/office/drawing/2014/main" id="{783EC888-3C84-4248-0134-EEDDD00ACD94}"/>
              </a:ext>
            </a:extLst>
          </p:cNvPr>
          <p:cNvSpPr txBox="1"/>
          <p:nvPr/>
        </p:nvSpPr>
        <p:spPr>
          <a:xfrm>
            <a:off x="5703147" y="354700"/>
            <a:ext cx="2088232" cy="338554"/>
          </a:xfrm>
          <a:prstGeom prst="rect">
            <a:avLst/>
          </a:prstGeom>
        </p:spPr>
        <p:txBody>
          <a:bodyPr wrap="square">
            <a:spAutoFit/>
          </a:bodyPr>
          <a:lstStyle/>
          <a:p>
            <a:pPr marL="0" marR="0" lvl="0" indent="0" algn="l" defTabSz="914400" rtl="0" eaLnBrk="1" fontAlgn="ctr" latinLnBrk="1" hangingPunct="1">
              <a:lnSpc>
                <a:spcPct val="100000"/>
              </a:lnSpc>
              <a:spcBef>
                <a:spcPts val="0"/>
              </a:spcBef>
              <a:spcAft>
                <a:spcPts val="0"/>
              </a:spcAft>
              <a:buClrTx/>
              <a:buSzTx/>
              <a:buFontTx/>
              <a:buNone/>
              <a:tabLst/>
              <a:defRPr/>
            </a:pPr>
            <a:r>
              <a:rPr kumimoji="1" lang="en-US" altLang="ko-KR" sz="16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6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롤프레스</a:t>
            </a:r>
            <a:r>
              <a:rPr kumimoji="1" lang="en-US" altLang="ko-KR" sz="16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6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노칭 가동률</a:t>
            </a:r>
            <a:r>
              <a:rPr kumimoji="1" lang="en-US" altLang="ko-KR" sz="16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sp>
        <p:nvSpPr>
          <p:cNvPr id="4" name="TextBox 3">
            <a:extLst>
              <a:ext uri="{FF2B5EF4-FFF2-40B4-BE49-F238E27FC236}">
                <a16:creationId xmlns:a16="http://schemas.microsoft.com/office/drawing/2014/main" id="{A0018BE3-D409-1C31-7E2F-1E35EDB36517}"/>
              </a:ext>
            </a:extLst>
          </p:cNvPr>
          <p:cNvSpPr txBox="1"/>
          <p:nvPr/>
        </p:nvSpPr>
        <p:spPr>
          <a:xfrm>
            <a:off x="5167058" y="3172055"/>
            <a:ext cx="4553251" cy="668003"/>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코터 로딩 기반 롤프레스 </a:t>
            </a:r>
            <a:r>
              <a:rPr kumimoji="1" lang="ko-KR" altLang="en-US" sz="12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자동 보정 적용</a:t>
            </a:r>
            <a:b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예측 값을 활용한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자동보정 기능 검증 후 양산 적용 예정</a:t>
            </a:r>
            <a:br>
              <a:rPr kumimoji="1" lang="en-US" altLang="ko-KR" sz="1100" dirty="0">
                <a:solidFill>
                  <a:prstClr val="black"/>
                </a:solidFill>
                <a:latin typeface="Arial Narrow" panose="020B0606020202030204" pitchFamily="34" charset="0"/>
                <a:ea typeface="LG스마트체 Regular" panose="020B0600000101010101" pitchFamily="50" charset="-127"/>
              </a:rPr>
            </a:br>
            <a:r>
              <a:rPr kumimoji="1" lang="en-US" altLang="ko-KR" sz="1100" dirty="0">
                <a:solidFill>
                  <a:prstClr val="black"/>
                </a:solidFill>
                <a:latin typeface="Arial Narrow" panose="020B0606020202030204" pitchFamily="34" charset="0"/>
                <a:ea typeface="LG스마트체 Regular" panose="020B0600000101010101" pitchFamily="50" charset="-127"/>
              </a:rPr>
              <a:t>   (9/11, w/</a:t>
            </a:r>
            <a:r>
              <a:rPr kumimoji="1" lang="ko-KR" altLang="en-US" sz="1100" dirty="0">
                <a:solidFill>
                  <a:prstClr val="black"/>
                </a:solidFill>
                <a:latin typeface="Arial Narrow" panose="020B0606020202030204" pitchFamily="34" charset="0"/>
                <a:ea typeface="LG스마트체 Regular" panose="020B0600000101010101" pitchFamily="50" charset="-127"/>
              </a:rPr>
              <a:t> </a:t>
            </a:r>
            <a:r>
              <a:rPr kumimoji="1" lang="en-US" altLang="ko-KR" sz="1100" dirty="0">
                <a:solidFill>
                  <a:prstClr val="black"/>
                </a:solidFill>
                <a:latin typeface="Arial Narrow" panose="020B0606020202030204" pitchFamily="34" charset="0"/>
                <a:ea typeface="LG스마트체 Regular" panose="020B0600000101010101" pitchFamily="50" charset="-127"/>
              </a:rPr>
              <a:t>RSND</a:t>
            </a:r>
            <a:r>
              <a:rPr kumimoji="1" lang="ko-KR" altLang="en-US" sz="1100" dirty="0">
                <a:solidFill>
                  <a:prstClr val="black"/>
                </a:solidFill>
                <a:latin typeface="Arial Narrow" panose="020B0606020202030204" pitchFamily="34" charset="0"/>
                <a:ea typeface="LG스마트체 Regular" panose="020B0600000101010101" pitchFamily="50" charset="-127"/>
              </a:rPr>
              <a:t> 자동보정팀</a:t>
            </a:r>
            <a:r>
              <a:rPr kumimoji="1" lang="en-US" altLang="ko-KR" sz="1100" dirty="0">
                <a:solidFill>
                  <a:prstClr val="black"/>
                </a:solidFill>
                <a:latin typeface="Arial Narrow" panose="020B0606020202030204" pitchFamily="34" charset="0"/>
                <a:ea typeface="LG스마트체 Regular" panose="020B0600000101010101" pitchFamily="50" charset="-127"/>
              </a:rPr>
              <a:t>)</a:t>
            </a:r>
            <a:endPar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14" name="TextBox 13">
            <a:extLst>
              <a:ext uri="{FF2B5EF4-FFF2-40B4-BE49-F238E27FC236}">
                <a16:creationId xmlns:a16="http://schemas.microsoft.com/office/drawing/2014/main" id="{8F92729F-A70C-F51A-EBC0-A65482AC4097}"/>
              </a:ext>
            </a:extLst>
          </p:cNvPr>
          <p:cNvSpPr txBox="1"/>
          <p:nvPr/>
        </p:nvSpPr>
        <p:spPr>
          <a:xfrm>
            <a:off x="816727" y="5668656"/>
            <a:ext cx="4136273" cy="656334"/>
          </a:xfrm>
          <a:prstGeom prst="rect">
            <a:avLst/>
          </a:prstGeom>
          <a:noFill/>
        </p:spPr>
        <p:txBody>
          <a:bodyPr wrap="square" lIns="33231" rIns="33231" rtlCol="0">
            <a:spAutoFit/>
          </a:bodyPr>
          <a:lstStyle/>
          <a:p>
            <a:pPr marL="164127" marR="0" lvl="0" indent="-164127" algn="l" defTabSz="844083" rtl="0" eaLnBrk="1" fontAlgn="base" latinLnBrk="1" hangingPunct="1">
              <a:lnSpc>
                <a:spcPct val="110000"/>
              </a:lnSpc>
              <a:spcBef>
                <a:spcPts val="0"/>
              </a:spcBef>
              <a:spcAft>
                <a:spcPts val="600"/>
              </a:spcAft>
              <a:buClrTx/>
              <a:buSzPct val="85000"/>
              <a:buFont typeface="Wingdings" panose="05000000000000000000" pitchFamily="2" charset="2"/>
              <a:buChar char="q"/>
              <a:tabLst/>
              <a:defRPr/>
            </a:pP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코터 로딩 기반 롤프레스 </a:t>
            </a:r>
            <a:r>
              <a:rPr kumimoji="1" lang="ko-KR" altLang="en-US" sz="12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자동 보정 개발 </a:t>
            </a:r>
            <a:br>
              <a:rPr kumimoji="1"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1" lang="en-US" altLang="ko-KR" sz="11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코터 로딩 기반 롤프레스 압연 후 </a:t>
            </a:r>
            <a:r>
              <a:rPr kumimoji="1" lang="ko-KR" altLang="en-US" sz="11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텐션</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예측 모델 개발 완료</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(8/26)</a:t>
            </a:r>
            <a:b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자동보정 로직 설계 완료</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(8</a:t>
            </a:r>
            <a:r>
              <a:rPr kumimoji="1"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altLang="ko-KR" sz="1100" dirty="0">
                <a:solidFill>
                  <a:prstClr val="black"/>
                </a:solidFill>
                <a:latin typeface="Arial Narrow" panose="020B0606020202030204" pitchFamily="34" charset="0"/>
                <a:ea typeface="LG스마트체 Regular" panose="020B0600000101010101" pitchFamily="50" charset="-127"/>
              </a:rPr>
              <a:t>RSND</a:t>
            </a:r>
            <a:r>
              <a:rPr kumimoji="1" lang="ko-KR" altLang="en-US" sz="1100" dirty="0">
                <a:solidFill>
                  <a:prstClr val="black"/>
                </a:solidFill>
                <a:latin typeface="Arial Narrow" panose="020B0606020202030204" pitchFamily="34" charset="0"/>
                <a:ea typeface="LG스마트체 Regular" panose="020B0600000101010101" pitchFamily="50" charset="-127"/>
              </a:rPr>
              <a:t>자동보정팀</a:t>
            </a:r>
            <a:r>
              <a:rPr kumimoji="1"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sp>
        <p:nvSpPr>
          <p:cNvPr id="19" name="TextBox 18">
            <a:extLst>
              <a:ext uri="{FF2B5EF4-FFF2-40B4-BE49-F238E27FC236}">
                <a16:creationId xmlns:a16="http://schemas.microsoft.com/office/drawing/2014/main" id="{1C94A4C4-FC1B-1257-B6C5-42EC3F016C73}"/>
              </a:ext>
            </a:extLst>
          </p:cNvPr>
          <p:cNvSpPr txBox="1"/>
          <p:nvPr/>
        </p:nvSpPr>
        <p:spPr>
          <a:xfrm>
            <a:off x="4750612" y="6622748"/>
            <a:ext cx="404777"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- 5 / 6 - </a:t>
            </a:r>
          </a:p>
        </p:txBody>
      </p:sp>
      <p:grpSp>
        <p:nvGrpSpPr>
          <p:cNvPr id="15" name="그룹 14">
            <a:extLst>
              <a:ext uri="{FF2B5EF4-FFF2-40B4-BE49-F238E27FC236}">
                <a16:creationId xmlns:a16="http://schemas.microsoft.com/office/drawing/2014/main" id="{1BE65576-EEFB-FAB5-8CBF-CE13BB96CE47}"/>
              </a:ext>
            </a:extLst>
          </p:cNvPr>
          <p:cNvGrpSpPr/>
          <p:nvPr/>
        </p:nvGrpSpPr>
        <p:grpSpPr>
          <a:xfrm>
            <a:off x="7758397" y="114985"/>
            <a:ext cx="1781744" cy="604476"/>
            <a:chOff x="4232920" y="49957"/>
            <a:chExt cx="1781744" cy="604476"/>
          </a:xfrm>
        </p:grpSpPr>
        <p:sp>
          <p:nvSpPr>
            <p:cNvPr id="16" name="타원 15">
              <a:extLst>
                <a:ext uri="{FF2B5EF4-FFF2-40B4-BE49-F238E27FC236}">
                  <a16:creationId xmlns:a16="http://schemas.microsoft.com/office/drawing/2014/main" id="{B8652E0E-8B24-B0D2-9315-7F1F83640ABF}"/>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4D515CEA-C2F3-D33D-2E84-3C6A7696FFCD}"/>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4" name="타원 23">
              <a:extLst>
                <a:ext uri="{FF2B5EF4-FFF2-40B4-BE49-F238E27FC236}">
                  <a16:creationId xmlns:a16="http://schemas.microsoft.com/office/drawing/2014/main" id="{01912F3A-349F-3508-3C63-A66A2EB61D19}"/>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0C8DCECE-7D52-4FEE-9296-A3B142CE8062}"/>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35" name="타원 34">
              <a:extLst>
                <a:ext uri="{FF2B5EF4-FFF2-40B4-BE49-F238E27FC236}">
                  <a16:creationId xmlns:a16="http://schemas.microsoft.com/office/drawing/2014/main" id="{FFC1203A-6D8C-7EA4-0F4A-A6F8FA315250}"/>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39" name="TextBox 38">
              <a:extLst>
                <a:ext uri="{FF2B5EF4-FFF2-40B4-BE49-F238E27FC236}">
                  <a16:creationId xmlns:a16="http://schemas.microsoft.com/office/drawing/2014/main" id="{4E4DD97C-625B-37C2-197F-A266943470B3}"/>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4599941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7D34C1B5-8178-4989-ED61-3332832A5CC3}"/>
              </a:ext>
            </a:extLst>
          </p:cNvPr>
          <p:cNvSpPr txBox="1"/>
          <p:nvPr/>
        </p:nvSpPr>
        <p:spPr>
          <a:xfrm>
            <a:off x="5296293" y="3118933"/>
            <a:ext cx="4553251" cy="282770"/>
          </a:xfrm>
          <a:prstGeom prst="rect">
            <a:avLst/>
          </a:prstGeom>
          <a:noFill/>
        </p:spPr>
        <p:txBody>
          <a:bodyPr wrap="square" lIns="33231" rIns="33231" rtlCol="0">
            <a:spAutoFit/>
          </a:bodyPr>
          <a:lstStyle/>
          <a:p>
            <a:pPr marL="164127" lvl="0" indent="-164127" defTabSz="844083" fontAlgn="base">
              <a:lnSpc>
                <a:spcPct val="110000"/>
              </a:lnSpc>
              <a:spcAft>
                <a:spcPts val="600"/>
              </a:spcAft>
              <a:buSzPct val="85000"/>
              <a:buFont typeface="Wingdings" panose="05000000000000000000" pitchFamily="2" charset="2"/>
              <a:buChar char="q"/>
              <a:defRPr/>
            </a:pPr>
            <a:r>
              <a:rPr kumimoji="1" lang="ko-KR" altLang="en-US" sz="1200" b="1">
                <a:latin typeface="Arial Narrow" panose="020B0606020202030204" pitchFamily="34" charset="0"/>
                <a:ea typeface="LG스마트체 Regular" panose="020B0600000101010101" pitchFamily="50" charset="-127"/>
                <a:sym typeface="Wingdings" panose="05000000000000000000" pitchFamily="2" charset="2"/>
              </a:rPr>
              <a:t>자동차 </a:t>
            </a:r>
            <a:r>
              <a:rPr kumimoji="1" lang="en-US" altLang="ko-KR" sz="1200" b="1">
                <a:latin typeface="Arial Narrow" panose="020B0606020202030204" pitchFamily="34" charset="0"/>
                <a:ea typeface="LG스마트체 Regular" panose="020B0600000101010101" pitchFamily="50" charset="-127"/>
                <a:sym typeface="Wingdings" panose="05000000000000000000" pitchFamily="2" charset="2"/>
              </a:rPr>
              <a:t>/ ESS </a:t>
            </a:r>
            <a:r>
              <a:rPr kumimoji="1" lang="ko-KR" altLang="en-US" sz="1200" b="1">
                <a:latin typeface="Arial Narrow" panose="020B0606020202030204" pitchFamily="34" charset="0"/>
                <a:ea typeface="LG스마트체 Regular" panose="020B0600000101010101" pitchFamily="50" charset="-127"/>
                <a:sym typeface="Wingdings" panose="05000000000000000000" pitchFamily="2" charset="2"/>
              </a:rPr>
              <a:t>전 모델 실적 보상 활동 </a:t>
            </a:r>
            <a:r>
              <a:rPr kumimoji="1" lang="en-US" altLang="ko-KR" sz="1200" b="1">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200" b="1">
                <a:latin typeface="Arial Narrow" panose="020B0606020202030204" pitchFamily="34" charset="0"/>
                <a:ea typeface="LG스마트체 Regular" panose="020B0600000101010101" pitchFamily="50" charset="-127"/>
                <a:sym typeface="Wingdings" panose="05000000000000000000" pitchFamily="2" charset="2"/>
              </a:rPr>
              <a:t>지속</a:t>
            </a:r>
            <a:r>
              <a:rPr kumimoji="1" lang="en-US" altLang="ko-KR" sz="1200" b="1">
                <a:latin typeface="Arial Narrow" panose="020B0606020202030204" pitchFamily="34" charset="0"/>
                <a:ea typeface="LG스마트체 Regular" panose="020B0600000101010101" pitchFamily="50" charset="-127"/>
                <a:sym typeface="Wingdings" panose="05000000000000000000" pitchFamily="2" charset="2"/>
              </a:rPr>
              <a:t>)</a:t>
            </a:r>
            <a:endParaRPr kumimoji="1" lang="en-US" altLang="ko-KR" sz="1050">
              <a:latin typeface="Arial Narrow" panose="020B0606020202030204" pitchFamily="34" charset="0"/>
              <a:ea typeface="LG스마트체 Regular" panose="020B0600000101010101" pitchFamily="50" charset="-127"/>
              <a:sym typeface="Wingdings" panose="05000000000000000000" pitchFamily="2" charset="2"/>
            </a:endParaRPr>
          </a:p>
        </p:txBody>
      </p:sp>
      <p:sp>
        <p:nvSpPr>
          <p:cNvPr id="23" name="TextBox 22">
            <a:extLst>
              <a:ext uri="{FF2B5EF4-FFF2-40B4-BE49-F238E27FC236}">
                <a16:creationId xmlns:a16="http://schemas.microsoft.com/office/drawing/2014/main" id="{BB396595-1E44-5866-8D40-FB3749441618}"/>
              </a:ext>
            </a:extLst>
          </p:cNvPr>
          <p:cNvSpPr txBox="1"/>
          <p:nvPr/>
        </p:nvSpPr>
        <p:spPr>
          <a:xfrm>
            <a:off x="648506" y="3118933"/>
            <a:ext cx="4678868" cy="492699"/>
          </a:xfrm>
          <a:prstGeom prst="rect">
            <a:avLst/>
          </a:prstGeom>
          <a:noFill/>
        </p:spPr>
        <p:txBody>
          <a:bodyPr wrap="square" lIns="33231" rIns="33231" rtlCol="0">
            <a:spAutoFit/>
          </a:bodyPr>
          <a:lstStyle/>
          <a:p>
            <a:pPr marL="164127" marR="0" lvl="0" indent="-164127" algn="l" defTabSz="844083" rtl="0" eaLnBrk="1" fontAlgn="base" latinLnBrk="1" hangingPunct="1">
              <a:lnSpc>
                <a:spcPct val="120000"/>
              </a:lnSpc>
              <a:spcBef>
                <a:spcPts val="0"/>
              </a:spcBef>
              <a:spcAft>
                <a:spcPts val="600"/>
              </a:spcAft>
              <a:buClrTx/>
              <a:buSzPct val="85000"/>
              <a:buFont typeface="Wingdings" panose="05000000000000000000" pitchFamily="2" charset="2"/>
              <a:buChar char="q"/>
              <a:tabLst/>
              <a:defRPr/>
            </a:pPr>
            <a:r>
              <a:rPr kumimoji="0"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ESWA </a:t>
            </a:r>
            <a:r>
              <a:rPr kumimoji="0" lang="ko-KR" altLang="en-US" sz="1200" b="1"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rPr>
              <a:t>라미</a:t>
            </a:r>
            <a:r>
              <a:rPr kumimoji="0"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0" lang="ko-KR" altLang="en-US"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공정 </a:t>
            </a:r>
            <a:r>
              <a:rPr kumimoji="0"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Loss </a:t>
            </a:r>
            <a:r>
              <a:rPr lang="ko-KR" altLang="en-US" sz="1200" b="1" dirty="0">
                <a:latin typeface="Arial Narrow" panose="020B0606020202030204" pitchFamily="34" charset="0"/>
                <a:ea typeface="LG스마트체 Regular" panose="020B0600000101010101" pitchFamily="50" charset="-127"/>
              </a:rPr>
              <a:t>세부 유형 분석 체계 기반 실적 보상 활동</a:t>
            </a:r>
            <a:br>
              <a:rPr lang="en-US" altLang="ko-KR" sz="1050" dirty="0">
                <a:latin typeface="Arial Narrow" panose="020B0606020202030204" pitchFamily="34" charset="0"/>
                <a:ea typeface="LG스마트체 Regular" panose="020B0600000101010101" pitchFamily="50" charset="-127"/>
              </a:rPr>
            </a:br>
            <a:r>
              <a:rPr lang="en-US" altLang="ko-KR" sz="1050" dirty="0">
                <a:latin typeface="Arial Narrow" panose="020B0606020202030204" pitchFamily="34" charset="0"/>
                <a:ea typeface="LG스마트체 Regular" panose="020B0600000101010101" pitchFamily="50" charset="-127"/>
              </a:rPr>
              <a:t>-. </a:t>
            </a:r>
            <a:r>
              <a:rPr lang="ko-KR" altLang="en-US" sz="1050" dirty="0">
                <a:latin typeface="Arial Narrow" panose="020B0606020202030204" pitchFamily="34" charset="0"/>
                <a:ea typeface="LG스마트체 Regular" panose="020B0600000101010101" pitchFamily="50" charset="-127"/>
              </a:rPr>
              <a:t>자동차</a:t>
            </a:r>
            <a:r>
              <a:rPr lang="en-US" altLang="ko-KR" sz="1050" dirty="0">
                <a:latin typeface="Arial Narrow" panose="020B0606020202030204" pitchFamily="34" charset="0"/>
                <a:ea typeface="LG스마트체 Regular" panose="020B0600000101010101" pitchFamily="50" charset="-127"/>
              </a:rPr>
              <a:t>/ESS</a:t>
            </a:r>
            <a:r>
              <a:rPr lang="ko-KR" altLang="en-US" sz="1050" dirty="0">
                <a:latin typeface="Arial Narrow" panose="020B0606020202030204" pitchFamily="34" charset="0"/>
                <a:ea typeface="LG스마트체 Regular" panose="020B0600000101010101" pitchFamily="50" charset="-127"/>
              </a:rPr>
              <a:t> </a:t>
            </a:r>
            <a:r>
              <a:rPr lang="en-US" altLang="ko-KR" sz="1050" dirty="0">
                <a:latin typeface="Arial Narrow" panose="020B0606020202030204" pitchFamily="34" charset="0"/>
                <a:ea typeface="LG스마트체 Regular" panose="020B0600000101010101" pitchFamily="50" charset="-127"/>
              </a:rPr>
              <a:t>4</a:t>
            </a:r>
            <a:r>
              <a:rPr lang="ko-KR" altLang="en-US" sz="1050" dirty="0">
                <a:latin typeface="Arial Narrow" panose="020B0606020202030204" pitchFamily="34" charset="0"/>
                <a:ea typeface="LG스마트체 Regular" panose="020B0600000101010101" pitchFamily="50" charset="-127"/>
              </a:rPr>
              <a:t>월 </a:t>
            </a:r>
            <a:r>
              <a:rPr lang="en-US" altLang="ko-KR" sz="1050" dirty="0">
                <a:latin typeface="Arial Narrow" panose="020B0606020202030204" pitchFamily="34" charset="0"/>
                <a:ea typeface="LG스마트체 Regular" panose="020B0600000101010101" pitchFamily="50" charset="-127"/>
              </a:rPr>
              <a:t>0.106% → 8</a:t>
            </a:r>
            <a:r>
              <a:rPr lang="ko-KR" altLang="en-US" sz="1050" dirty="0">
                <a:latin typeface="Arial Narrow" panose="020B0606020202030204" pitchFamily="34" charset="0"/>
                <a:ea typeface="LG스마트체 Regular" panose="020B0600000101010101" pitchFamily="50" charset="-127"/>
              </a:rPr>
              <a:t>월 누적 </a:t>
            </a:r>
            <a:r>
              <a:rPr lang="en-US" altLang="ko-KR" sz="1050" dirty="0">
                <a:latin typeface="Arial Narrow" panose="020B0606020202030204" pitchFamily="34" charset="0"/>
                <a:ea typeface="LG스마트체 Regular" panose="020B0600000101010101" pitchFamily="50" charset="-127"/>
              </a:rPr>
              <a:t>0.077%</a:t>
            </a:r>
            <a:r>
              <a:rPr lang="ko-KR" altLang="en-US" sz="1050" dirty="0">
                <a:latin typeface="Arial Narrow" panose="020B0606020202030204" pitchFamily="34" charset="0"/>
                <a:ea typeface="LG스마트체 Regular" panose="020B0600000101010101" pitchFamily="50" charset="-127"/>
              </a:rPr>
              <a:t>로 </a:t>
            </a:r>
            <a:r>
              <a:rPr lang="en-US" altLang="ko-KR" sz="1050" dirty="0">
                <a:latin typeface="Arial Narrow" panose="020B0606020202030204" pitchFamily="34" charset="0"/>
                <a:ea typeface="LG스마트체 Regular" panose="020B0600000101010101" pitchFamily="50" charset="-127"/>
              </a:rPr>
              <a:t>27.4% </a:t>
            </a:r>
            <a:r>
              <a:rPr lang="ko-KR" altLang="en-US" sz="1050" dirty="0">
                <a:latin typeface="Arial Narrow" panose="020B0606020202030204" pitchFamily="34" charset="0"/>
                <a:ea typeface="LG스마트체 Regular" panose="020B0600000101010101" pitchFamily="50" charset="-127"/>
              </a:rPr>
              <a:t>개선</a:t>
            </a:r>
            <a:endPar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endParaRPr>
          </a:p>
        </p:txBody>
      </p:sp>
      <p:sp>
        <p:nvSpPr>
          <p:cNvPr id="109" name="Rectangle 4">
            <a:extLst>
              <a:ext uri="{FF2B5EF4-FFF2-40B4-BE49-F238E27FC236}">
                <a16:creationId xmlns:a16="http://schemas.microsoft.com/office/drawing/2014/main" id="{E5A8BC40-C62B-4E90-A33D-4D150AD73899}"/>
              </a:ext>
            </a:extLst>
          </p:cNvPr>
          <p:cNvSpPr>
            <a:spLocks noChangeArrowheads="1"/>
          </p:cNvSpPr>
          <p:nvPr/>
        </p:nvSpPr>
        <p:spPr bwMode="auto">
          <a:xfrm>
            <a:off x="200471" y="1510124"/>
            <a:ext cx="448035" cy="1246320"/>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일정</a:t>
            </a:r>
            <a:endParaRPr kumimoji="1" lang="en-US" altLang="ko-KR" sz="1300" b="1" i="0" u="none" strike="noStrike" kern="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21" name="표 20"/>
          <p:cNvGraphicFramePr>
            <a:graphicFrameLocks noGrp="1"/>
          </p:cNvGraphicFramePr>
          <p:nvPr/>
        </p:nvGraphicFramePr>
        <p:xfrm>
          <a:off x="735049" y="761673"/>
          <a:ext cx="8862107" cy="702000"/>
        </p:xfrm>
        <a:graphic>
          <a:graphicData uri="http://schemas.openxmlformats.org/drawingml/2006/table">
            <a:tbl>
              <a:tblPr/>
              <a:tblGrid>
                <a:gridCol w="2398749">
                  <a:extLst>
                    <a:ext uri="{9D8B030D-6E8A-4147-A177-3AD203B41FA5}">
                      <a16:colId xmlns:a16="http://schemas.microsoft.com/office/drawing/2014/main" val="20000"/>
                    </a:ext>
                  </a:extLst>
                </a:gridCol>
                <a:gridCol w="4530971">
                  <a:extLst>
                    <a:ext uri="{9D8B030D-6E8A-4147-A177-3AD203B41FA5}">
                      <a16:colId xmlns:a16="http://schemas.microsoft.com/office/drawing/2014/main" val="20001"/>
                    </a:ext>
                  </a:extLst>
                </a:gridCol>
                <a:gridCol w="1199375">
                  <a:extLst>
                    <a:ext uri="{9D8B030D-6E8A-4147-A177-3AD203B41FA5}">
                      <a16:colId xmlns:a16="http://schemas.microsoft.com/office/drawing/2014/main" val="2961269463"/>
                    </a:ext>
                  </a:extLst>
                </a:gridCol>
                <a:gridCol w="733012">
                  <a:extLst>
                    <a:ext uri="{9D8B030D-6E8A-4147-A177-3AD203B41FA5}">
                      <a16:colId xmlns:a16="http://schemas.microsoft.com/office/drawing/2014/main" val="20007"/>
                    </a:ext>
                  </a:extLst>
                </a:gridCol>
              </a:tblGrid>
              <a:tr h="21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KPI</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’25</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년 분기목표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연간목표</a:t>
                      </a:r>
                      <a:r>
                        <a:rPr kumimoji="0" lang="en-US" altLang="ko-KR"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a:t>
                      </a:r>
                      <a:endPar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endParaRP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비중</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000" b="1" i="0" u="none" strike="noStrike" cap="none" spc="-70" normalizeH="0" baseline="0">
                          <a:ln>
                            <a:noFill/>
                          </a:ln>
                          <a:solidFill>
                            <a:schemeClr val="tx1"/>
                          </a:solidFill>
                          <a:effectLst/>
                          <a:latin typeface="Arial Narrow" panose="020B0606020202030204" pitchFamily="34" charset="0"/>
                          <a:ea typeface="LG스마트체 Regular" panose="020B0600000101010101" pitchFamily="50" charset="-127"/>
                          <a:cs typeface="Arial"/>
                        </a:rPr>
                        <a:t>상태</a:t>
                      </a:r>
                    </a:p>
                  </a:txBody>
                  <a:tcPr marL="10800" marR="10800" marT="10800" marB="10800" anchor="ctr" horzOverflow="overflow">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486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ctr" latinLnBrk="1" hangingPunct="1">
                        <a:lnSpc>
                          <a:spcPct val="100000"/>
                        </a:lnSpc>
                        <a:spcBef>
                          <a:spcPct val="0"/>
                        </a:spcBef>
                        <a:spcAft>
                          <a:spcPct val="0"/>
                        </a:spcAft>
                        <a:buClrTx/>
                        <a:buSzTx/>
                        <a:buFontTx/>
                        <a:buNone/>
                        <a:tabLst/>
                        <a:defRPr/>
                      </a:pPr>
                      <a:r>
                        <a:rPr lang="ko-KR" altLang="en-US" sz="1000" b="1" kern="1200" spc="-10">
                          <a:solidFill>
                            <a:schemeClr val="tx1"/>
                          </a:solidFill>
                          <a:latin typeface="Arial Narrow" panose="020B0606020202030204" pitchFamily="34" charset="0"/>
                          <a:ea typeface="LG스마트체 Regular" panose="020B0600000101010101" pitchFamily="50" charset="-127"/>
                          <a:cs typeface="+mn-cs"/>
                        </a:rPr>
                        <a:t>고질 불량 개선</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1" i="0" u="none" strike="noStrike" baseline="0">
                          <a:solidFill>
                            <a:schemeClr val="tx1"/>
                          </a:solidFill>
                          <a:effectLst/>
                          <a:latin typeface="Arial Narrow" panose="020B0606020202030204" pitchFamily="34" charset="0"/>
                          <a:ea typeface="LG스마트체 Regular" panose="020B0600000101010101" pitchFamily="50" charset="-127"/>
                        </a:rPr>
                        <a:t>-. DX </a:t>
                      </a:r>
                      <a:r>
                        <a:rPr lang="ko-KR" altLang="en-US" sz="1000" b="1" i="0" u="none" strike="noStrike" baseline="0">
                          <a:solidFill>
                            <a:schemeClr val="tx1"/>
                          </a:solidFill>
                          <a:effectLst/>
                          <a:latin typeface="Arial Narrow" panose="020B0606020202030204" pitchFamily="34" charset="0"/>
                          <a:ea typeface="LG스마트체 Regular" panose="020B0600000101010101" pitchFamily="50" charset="-127"/>
                        </a:rPr>
                        <a:t>기반 </a:t>
                      </a:r>
                      <a:r>
                        <a:rPr lang="en-US" altLang="ko-KR" sz="1000" b="1" i="0" u="none" strike="noStrike" baseline="0">
                          <a:solidFill>
                            <a:schemeClr val="tx1"/>
                          </a:solidFill>
                          <a:effectLst/>
                          <a:latin typeface="Arial Narrow" panose="020B0606020202030204" pitchFamily="34" charset="0"/>
                          <a:ea typeface="LG스마트체 Regular" panose="020B0600000101010101" pitchFamily="50" charset="-127"/>
                        </a:rPr>
                        <a:t>Drill</a:t>
                      </a:r>
                      <a:r>
                        <a:rPr lang="ko-KR" altLang="en-US" sz="1000" b="1" i="0" u="none" strike="noStrike" baseline="0">
                          <a:solidFill>
                            <a:schemeClr val="tx1"/>
                          </a:solidFill>
                          <a:effectLst/>
                          <a:latin typeface="Arial Narrow" panose="020B0606020202030204" pitchFamily="34" charset="0"/>
                          <a:ea typeface="LG스마트체 Regular" panose="020B0600000101010101" pitchFamily="50" charset="-127"/>
                        </a:rPr>
                        <a:t> </a:t>
                      </a:r>
                      <a:r>
                        <a:rPr lang="en-US" altLang="ko-KR" sz="1000" b="1" i="0" u="none" strike="noStrike" baseline="0">
                          <a:solidFill>
                            <a:schemeClr val="tx1"/>
                          </a:solidFill>
                          <a:effectLst/>
                          <a:latin typeface="Arial Narrow" panose="020B0606020202030204" pitchFamily="34" charset="0"/>
                          <a:ea typeface="LG스마트체 Regular" panose="020B0600000101010101" pitchFamily="50" charset="-127"/>
                        </a:rPr>
                        <a:t>down </a:t>
                      </a:r>
                      <a:r>
                        <a:rPr lang="ko-KR" altLang="en-US" sz="1000" b="1" i="0" u="none" strike="noStrike" baseline="0">
                          <a:solidFill>
                            <a:schemeClr val="tx1"/>
                          </a:solidFill>
                          <a:effectLst/>
                          <a:latin typeface="Arial Narrow" panose="020B0606020202030204" pitchFamily="34" charset="0"/>
                          <a:ea typeface="LG스마트체 Regular" panose="020B0600000101010101" pitchFamily="50" charset="-127"/>
                        </a:rPr>
                        <a:t>분석 체계 활용</a:t>
                      </a:r>
                      <a:r>
                        <a:rPr lang="en-US" altLang="ko-KR" sz="1000" b="1" i="0" u="none" strike="noStrike" baseline="0">
                          <a:solidFill>
                            <a:schemeClr val="tx1"/>
                          </a:solidFill>
                          <a:effectLst/>
                          <a:latin typeface="Arial Narrow" panose="020B0606020202030204" pitchFamily="34" charset="0"/>
                          <a:ea typeface="LG스마트체 Regular" panose="020B0600000101010101" pitchFamily="50" charset="-127"/>
                        </a:rPr>
                        <a:t>/</a:t>
                      </a:r>
                      <a:r>
                        <a:rPr lang="ko-KR" altLang="en-US" sz="1000" b="1" i="0" u="none" strike="noStrike" baseline="0">
                          <a:solidFill>
                            <a:schemeClr val="tx1"/>
                          </a:solidFill>
                          <a:effectLst/>
                          <a:latin typeface="Arial Narrow" panose="020B0606020202030204" pitchFamily="34" charset="0"/>
                          <a:ea typeface="LG스마트체 Regular" panose="020B0600000101010101" pitchFamily="50" charset="-127"/>
                        </a:rPr>
                        <a:t>개선 </a:t>
                      </a:r>
                      <a:r>
                        <a:rPr kumimoji="1" lang="en-US" altLang="ko-KR"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[2Q</a:t>
                      </a:r>
                      <a:r>
                        <a:rPr kumimoji="1" lang="ko-KR" altLang="en-US"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목표</a:t>
                      </a:r>
                      <a:r>
                        <a:rPr kumimoji="1" lang="en-US" altLang="ko-KR" sz="1000" b="1" i="0" u="none" strike="noStrike" kern="1200" cap="none" spc="-50" normalizeH="0" baseline="0" noProof="0">
                          <a:ln>
                            <a:noFill/>
                          </a:ln>
                          <a:solidFill>
                            <a:schemeClr val="tx1"/>
                          </a:solidFill>
                          <a:effectLst/>
                          <a:uLnTx/>
                          <a:uFillTx/>
                          <a:latin typeface="Arial Narrow" panose="020B0606020202030204" pitchFamily="34" charset="0"/>
                          <a:ea typeface="LG스마트체 Regular" panose="020B0600000101010101" pitchFamily="50" charset="-127"/>
                          <a:cs typeface="+mn-cs"/>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kern="1200" spc="0">
                          <a:solidFill>
                            <a:srgbClr val="006600"/>
                          </a:solidFill>
                          <a:latin typeface="Arial Narrow" panose="020B0606020202030204" pitchFamily="34" charset="0"/>
                          <a:ea typeface="LG스마트체 Regular" panose="020B0600000101010101" pitchFamily="50" charset="-127"/>
                          <a:cs typeface="+mn-cs"/>
                        </a:rPr>
                        <a:t>※ </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Q : </a:t>
                      </a:r>
                      <a:r>
                        <a:rPr lang="ko-KR" altLang="en-US" sz="1000" b="0" i="0" u="none" strike="noStrike" kern="1200" baseline="0" err="1">
                          <a:solidFill>
                            <a:srgbClr val="006600"/>
                          </a:solidFill>
                          <a:effectLst/>
                          <a:latin typeface="Arial Narrow" panose="020B0606020202030204" pitchFamily="34" charset="0"/>
                          <a:ea typeface="LG스마트체 Regular" panose="020B0600000101010101" pitchFamily="50" charset="-127"/>
                          <a:cs typeface="+mn-cs"/>
                        </a:rPr>
                        <a:t>라미</a:t>
                      </a:r>
                      <a:r>
                        <a:rPr lang="ko-KR" altLang="en-US" sz="1000" b="0" i="0" u="none" strike="noStrike" kern="1200" baseline="0">
                          <a:solidFill>
                            <a:srgbClr val="006600"/>
                          </a:solidFill>
                          <a:effectLst/>
                          <a:latin typeface="Arial Narrow" panose="020B0606020202030204" pitchFamily="34" charset="0"/>
                          <a:ea typeface="LG스마트체 Regular" panose="020B0600000101010101" pitchFamily="50" charset="-127"/>
                          <a:cs typeface="+mn-cs"/>
                        </a:rPr>
                        <a:t> 공정</a:t>
                      </a:r>
                      <a:r>
                        <a:rPr lang="en-US" altLang="ko-KR" sz="1000" b="0" i="0" u="none" strike="noStrike" kern="1200" baseline="0">
                          <a:solidFill>
                            <a:srgbClr val="006600"/>
                          </a:solidFill>
                          <a:effectLst/>
                          <a:latin typeface="Arial Narrow" panose="020B0606020202030204" pitchFamily="34" charset="0"/>
                          <a:ea typeface="LG스마트체 Regular" panose="020B0600000101010101" pitchFamily="50" charset="-127"/>
                          <a:cs typeface="+mn-cs"/>
                        </a:rPr>
                        <a:t>Loss/</a:t>
                      </a:r>
                      <a:r>
                        <a:rPr lang="ko-KR" altLang="en-US" sz="1000" b="0" i="0" u="none" strike="noStrike" kern="1200" baseline="0">
                          <a:solidFill>
                            <a:srgbClr val="006600"/>
                          </a:solidFill>
                          <a:effectLst/>
                          <a:latin typeface="Arial Narrow" panose="020B0606020202030204" pitchFamily="34" charset="0"/>
                          <a:ea typeface="LG스마트체 Regular" panose="020B0600000101010101" pitchFamily="50" charset="-127"/>
                          <a:cs typeface="+mn-cs"/>
                        </a:rPr>
                        <a:t>패키지 용접비전</a:t>
                      </a:r>
                      <a:r>
                        <a:rPr lang="en-US" altLang="ko-KR" sz="1000" b="0" i="0" u="none" strike="noStrike" kern="1200" baseline="0">
                          <a:solidFill>
                            <a:srgbClr val="006600"/>
                          </a:solidFill>
                          <a:effectLst/>
                          <a:latin typeface="Arial Narrow" panose="020B0606020202030204" pitchFamily="34" charset="0"/>
                          <a:ea typeface="LG스마트체 Regular" panose="020B0600000101010101" pitchFamily="50" charset="-127"/>
                          <a:cs typeface="+mn-cs"/>
                        </a:rPr>
                        <a:t>/EOL IR 20% </a:t>
                      </a:r>
                      <a:r>
                        <a:rPr lang="ko-KR" altLang="en-US" sz="1000" b="0" i="0" u="none" strike="noStrike" kern="1200" baseline="0">
                          <a:solidFill>
                            <a:srgbClr val="006600"/>
                          </a:solidFill>
                          <a:effectLst/>
                          <a:latin typeface="Arial Narrow" panose="020B0606020202030204" pitchFamily="34" charset="0"/>
                          <a:ea typeface="LG스마트체 Regular" panose="020B0600000101010101" pitchFamily="50" charset="-127"/>
                          <a:cs typeface="+mn-cs"/>
                        </a:rPr>
                        <a:t>개선</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 </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연목표</a:t>
                      </a: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a:t>
                      </a:r>
                    </a:p>
                    <a:p>
                      <a:pPr marL="0" marR="0" lvl="0" indent="0" algn="l"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b="0" i="0" u="none" strike="noStrike" baseline="0">
                          <a:solidFill>
                            <a:srgbClr val="006600"/>
                          </a:solidFill>
                          <a:effectLst/>
                          <a:latin typeface="Arial Narrow" panose="020B0606020202030204" pitchFamily="34" charset="0"/>
                          <a:ea typeface="LG스마트체 Regular" panose="020B0600000101010101" pitchFamily="50" charset="-127"/>
                        </a:rPr>
                        <a:t>     D : ’26.8</a:t>
                      </a:r>
                      <a:r>
                        <a:rPr lang="ko-KR" altLang="en-US" sz="1000" b="0" i="0" u="none" strike="noStrike" baseline="0">
                          <a:solidFill>
                            <a:srgbClr val="006600"/>
                          </a:solidFill>
                          <a:effectLst/>
                          <a:latin typeface="Arial Narrow" panose="020B0606020202030204" pitchFamily="34" charset="0"/>
                          <a:ea typeface="LG스마트체 Regular" panose="020B0600000101010101" pitchFamily="50" charset="-127"/>
                        </a:rPr>
                        <a:t>월</a:t>
                      </a:r>
                      <a:endParaRPr lang="ko-KR" altLang="en-US" sz="1000" b="0" i="0" u="none" strike="noStrike">
                        <a:solidFill>
                          <a:srgbClr val="006600"/>
                        </a:solidFill>
                        <a:effectLst/>
                        <a:latin typeface="Arial Narrow" panose="020B0606020202030204" pitchFamily="34" charset="0"/>
                        <a:ea typeface="LG스마트체 Regular" panose="020B0600000101010101" pitchFamily="50" charset="-127"/>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p>
                      <a:pPr algn="ctr" fontAlgn="ct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10%  (</a:t>
                      </a:r>
                      <a:r>
                        <a:rPr lang="ko-KR" altLang="en-US"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담당</a:t>
                      </a:r>
                      <a:r>
                        <a:rPr lang="en-US" altLang="ko-KR" sz="1000" b="1"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rPr>
                        <a:t>)</a:t>
                      </a: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algn="ctr" fontAlgn="ctr"/>
                      <a:endParaRPr lang="en-US" sz="1000" b="0" i="0" u="none" strike="noStrike" spc="-70" baseline="0">
                        <a:solidFill>
                          <a:schemeClr val="tx1"/>
                        </a:solidFill>
                        <a:latin typeface="Arial Narrow" panose="020B0606020202030204" pitchFamily="34" charset="0"/>
                        <a:ea typeface="LG스마트체 Regular" panose="020B0600000101010101" pitchFamily="50" charset="-127"/>
                        <a:cs typeface="Arial" pitchFamily="34" charset="0"/>
                      </a:endParaRPr>
                    </a:p>
                  </a:txBody>
                  <a:tcPr marL="8792" marR="8792" marT="9525"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22" name="Rectangle 4"/>
          <p:cNvSpPr>
            <a:spLocks noChangeArrowheads="1"/>
          </p:cNvSpPr>
          <p:nvPr/>
        </p:nvSpPr>
        <p:spPr bwMode="auto">
          <a:xfrm>
            <a:off x="200471" y="761674"/>
            <a:ext cx="448035" cy="702000"/>
          </a:xfrm>
          <a:prstGeom prst="rect">
            <a:avLst/>
          </a:prstGeom>
          <a:solidFill>
            <a:schemeClr val="bg1"/>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1" hangingPunct="1">
              <a:lnSpc>
                <a:spcPct val="90000"/>
              </a:lnSpc>
              <a:spcBef>
                <a:spcPct val="3000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목표</a:t>
            </a:r>
            <a:endParaRPr kumimoji="1" lang="en-US" altLang="ko-KR"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2" name="표 1">
            <a:extLst>
              <a:ext uri="{FF2B5EF4-FFF2-40B4-BE49-F238E27FC236}">
                <a16:creationId xmlns:a16="http://schemas.microsoft.com/office/drawing/2014/main" id="{F28146AB-93D7-4C39-8E08-1CD3BC858E83}"/>
              </a:ext>
            </a:extLst>
          </p:cNvPr>
          <p:cNvGraphicFramePr>
            <a:graphicFrameLocks noGrp="1"/>
          </p:cNvGraphicFramePr>
          <p:nvPr/>
        </p:nvGraphicFramePr>
        <p:xfrm>
          <a:off x="735048" y="1521549"/>
          <a:ext cx="8862108" cy="1246320"/>
        </p:xfrm>
        <a:graphic>
          <a:graphicData uri="http://schemas.openxmlformats.org/drawingml/2006/table">
            <a:tbl>
              <a:tblPr/>
              <a:tblGrid>
                <a:gridCol w="738509">
                  <a:extLst>
                    <a:ext uri="{9D8B030D-6E8A-4147-A177-3AD203B41FA5}">
                      <a16:colId xmlns:a16="http://schemas.microsoft.com/office/drawing/2014/main" val="1710325250"/>
                    </a:ext>
                  </a:extLst>
                </a:gridCol>
                <a:gridCol w="738509">
                  <a:extLst>
                    <a:ext uri="{9D8B030D-6E8A-4147-A177-3AD203B41FA5}">
                      <a16:colId xmlns:a16="http://schemas.microsoft.com/office/drawing/2014/main" val="2582822843"/>
                    </a:ext>
                  </a:extLst>
                </a:gridCol>
                <a:gridCol w="738509">
                  <a:extLst>
                    <a:ext uri="{9D8B030D-6E8A-4147-A177-3AD203B41FA5}">
                      <a16:colId xmlns:a16="http://schemas.microsoft.com/office/drawing/2014/main" val="3574503571"/>
                    </a:ext>
                  </a:extLst>
                </a:gridCol>
                <a:gridCol w="738509">
                  <a:extLst>
                    <a:ext uri="{9D8B030D-6E8A-4147-A177-3AD203B41FA5}">
                      <a16:colId xmlns:a16="http://schemas.microsoft.com/office/drawing/2014/main" val="906262013"/>
                    </a:ext>
                  </a:extLst>
                </a:gridCol>
                <a:gridCol w="738509">
                  <a:extLst>
                    <a:ext uri="{9D8B030D-6E8A-4147-A177-3AD203B41FA5}">
                      <a16:colId xmlns:a16="http://schemas.microsoft.com/office/drawing/2014/main" val="3618680307"/>
                    </a:ext>
                  </a:extLst>
                </a:gridCol>
                <a:gridCol w="738509">
                  <a:extLst>
                    <a:ext uri="{9D8B030D-6E8A-4147-A177-3AD203B41FA5}">
                      <a16:colId xmlns:a16="http://schemas.microsoft.com/office/drawing/2014/main" val="1865859727"/>
                    </a:ext>
                  </a:extLst>
                </a:gridCol>
                <a:gridCol w="738509">
                  <a:extLst>
                    <a:ext uri="{9D8B030D-6E8A-4147-A177-3AD203B41FA5}">
                      <a16:colId xmlns:a16="http://schemas.microsoft.com/office/drawing/2014/main" val="214679234"/>
                    </a:ext>
                  </a:extLst>
                </a:gridCol>
                <a:gridCol w="738509">
                  <a:extLst>
                    <a:ext uri="{9D8B030D-6E8A-4147-A177-3AD203B41FA5}">
                      <a16:colId xmlns:a16="http://schemas.microsoft.com/office/drawing/2014/main" val="2741167305"/>
                    </a:ext>
                  </a:extLst>
                </a:gridCol>
                <a:gridCol w="738509">
                  <a:extLst>
                    <a:ext uri="{9D8B030D-6E8A-4147-A177-3AD203B41FA5}">
                      <a16:colId xmlns:a16="http://schemas.microsoft.com/office/drawing/2014/main" val="3278585182"/>
                    </a:ext>
                  </a:extLst>
                </a:gridCol>
                <a:gridCol w="738509">
                  <a:extLst>
                    <a:ext uri="{9D8B030D-6E8A-4147-A177-3AD203B41FA5}">
                      <a16:colId xmlns:a16="http://schemas.microsoft.com/office/drawing/2014/main" val="1712991450"/>
                    </a:ext>
                  </a:extLst>
                </a:gridCol>
                <a:gridCol w="738509">
                  <a:extLst>
                    <a:ext uri="{9D8B030D-6E8A-4147-A177-3AD203B41FA5}">
                      <a16:colId xmlns:a16="http://schemas.microsoft.com/office/drawing/2014/main" val="823744282"/>
                    </a:ext>
                  </a:extLst>
                </a:gridCol>
                <a:gridCol w="738509">
                  <a:extLst>
                    <a:ext uri="{9D8B030D-6E8A-4147-A177-3AD203B41FA5}">
                      <a16:colId xmlns:a16="http://schemas.microsoft.com/office/drawing/2014/main" val="2867782548"/>
                    </a:ext>
                  </a:extLst>
                </a:gridCol>
              </a:tblGrid>
              <a:tr h="127781">
                <a:tc gridSpan="12">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년</a:t>
                      </a:r>
                    </a:p>
                  </a:txBody>
                  <a:tcPr marL="0" marR="0" marT="0" marB="0" anchor="ctr">
                    <a:lnL w="12700" cap="flat" cmpd="sng" algn="ctr">
                      <a:noFill/>
                      <a:prstDash val="solid"/>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70257681"/>
                  </a:ext>
                </a:extLst>
              </a:tr>
              <a:tr h="127781">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3</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4</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5</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6</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7</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8</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9</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10</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11</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r>
                        <a:rPr lang="en-US" altLang="ko-KR" sz="900" b="0" i="0" u="none" strike="noStrike">
                          <a:solidFill>
                            <a:srgbClr val="000000"/>
                          </a:solidFill>
                          <a:effectLst/>
                          <a:latin typeface="LG스마트체 Regular" panose="020B0600000101010101" pitchFamily="50" charset="-127"/>
                          <a:ea typeface="LG스마트체 Regular" panose="020B0600000101010101" pitchFamily="50" charset="-127"/>
                        </a:rPr>
                        <a:t>12</a:t>
                      </a:r>
                      <a:r>
                        <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0" marR="0" marT="0" marB="0" anchor="ctr">
                    <a:lnL w="6350" cap="flat" cmpd="sng" algn="ctr">
                      <a:solidFill>
                        <a:schemeClr val="bg1">
                          <a:lumMod val="65000"/>
                        </a:schemeClr>
                      </a:solidFill>
                      <a:prstDash val="sysDot"/>
                      <a:round/>
                      <a:headEnd type="none" w="med" len="med"/>
                      <a:tailEnd type="none" w="med" len="med"/>
                    </a:lnL>
                    <a:lnR>
                      <a:noFill/>
                    </a:lnR>
                    <a:lnT w="63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28850938"/>
                  </a:ext>
                </a:extLst>
              </a:tr>
              <a:tr h="972000">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12700" cap="flat" cmpd="sng" algn="ctr">
                      <a:noFill/>
                      <a:prstDash val="solid"/>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w="6350" cap="flat" cmpd="sng" algn="ctr">
                      <a:solidFill>
                        <a:schemeClr val="bg1">
                          <a:lumMod val="65000"/>
                        </a:schemeClr>
                      </a:solidFill>
                      <a:prstDash val="sysDot"/>
                      <a:round/>
                      <a:headEnd type="none" w="med" len="med"/>
                      <a:tailEnd type="none" w="med" len="med"/>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algn="ctr" fontAlgn="ctr"/>
                      <a:endParaRPr lang="ko-KR" altLang="en-US" sz="900" b="0" i="0" u="none" strike="noStrike">
                        <a:solidFill>
                          <a:srgbClr val="000000"/>
                        </a:solidFill>
                        <a:effectLst/>
                        <a:latin typeface="LG스마트체 Regular" panose="020B0600000101010101" pitchFamily="50" charset="-127"/>
                        <a:ea typeface="LG스마트체 Regular" panose="020B0600000101010101" pitchFamily="50" charset="-127"/>
                      </a:endParaRPr>
                    </a:p>
                  </a:txBody>
                  <a:tcPr marL="0" marR="0" marT="0" marB="0" anchor="ctr">
                    <a:lnL w="6350" cap="flat" cmpd="sng" algn="ctr">
                      <a:solidFill>
                        <a:schemeClr val="bg1">
                          <a:lumMod val="65000"/>
                        </a:schemeClr>
                      </a:solidFill>
                      <a:prstDash val="sysDot"/>
                      <a:round/>
                      <a:headEnd type="none" w="med" len="med"/>
                      <a:tailEnd type="none" w="med" len="med"/>
                    </a:lnL>
                    <a:lnR>
                      <a:noFill/>
                    </a:lnR>
                    <a:lnT w="190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34057251"/>
                  </a:ext>
                </a:extLst>
              </a:tr>
            </a:tbl>
          </a:graphicData>
        </a:graphic>
      </p:graphicFrame>
      <p:sp>
        <p:nvSpPr>
          <p:cNvPr id="3" name="타원 2">
            <a:extLst>
              <a:ext uri="{FF2B5EF4-FFF2-40B4-BE49-F238E27FC236}">
                <a16:creationId xmlns:a16="http://schemas.microsoft.com/office/drawing/2014/main" id="{47F0BBC4-2D77-1837-380F-8AA54F86BB95}"/>
              </a:ext>
            </a:extLst>
          </p:cNvPr>
          <p:cNvSpPr>
            <a:spLocks noChangeAspect="1"/>
          </p:cNvSpPr>
          <p:nvPr/>
        </p:nvSpPr>
        <p:spPr>
          <a:xfrm>
            <a:off x="9136690" y="1150348"/>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6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3" name="실행 단추: 홈으로 이동 12">
            <a:hlinkClick r:id="rId3" action="ppaction://hlinksldjump" highlightClick="1"/>
            <a:extLst>
              <a:ext uri="{FF2B5EF4-FFF2-40B4-BE49-F238E27FC236}">
                <a16:creationId xmlns:a16="http://schemas.microsoft.com/office/drawing/2014/main" id="{5F593DCB-7F2F-7F33-2097-5181427788D5}"/>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5" name="TextBox 4">
            <a:extLst>
              <a:ext uri="{FF2B5EF4-FFF2-40B4-BE49-F238E27FC236}">
                <a16:creationId xmlns:a16="http://schemas.microsoft.com/office/drawing/2014/main" id="{18C7641F-8588-D85B-C932-03B9144F3260}"/>
              </a:ext>
            </a:extLst>
          </p:cNvPr>
          <p:cNvSpPr txBox="1"/>
          <p:nvPr/>
        </p:nvSpPr>
        <p:spPr>
          <a:xfrm>
            <a:off x="5408603" y="110157"/>
            <a:ext cx="2304245" cy="338554"/>
          </a:xfrm>
          <a:prstGeom prst="rect">
            <a:avLst/>
          </a:prstGeom>
        </p:spPr>
        <p:txBody>
          <a:bodyPr wrap="square">
            <a:spAutoFit/>
          </a:bodyPr>
          <a:lstStyle/>
          <a:p>
            <a:pPr algn="l" fontAlgn="ctr"/>
            <a:r>
              <a:rPr kumimoji="1" lang="en-US" altLang="ko-KR" sz="1600" b="1">
                <a:solidFill>
                  <a:prstClr val="black"/>
                </a:solidFill>
                <a:latin typeface="Arial Narrow" panose="020B0606020202030204" pitchFamily="34" charset="0"/>
                <a:ea typeface="LG스마트체 Regular" panose="020B0600000101010101" pitchFamily="50" charset="-127"/>
              </a:rPr>
              <a:t>[</a:t>
            </a:r>
            <a:r>
              <a:rPr kumimoji="1" lang="ko-KR" altLang="en-US" sz="1600" b="1">
                <a:solidFill>
                  <a:prstClr val="black"/>
                </a:solidFill>
                <a:latin typeface="Arial Narrow" panose="020B0606020202030204" pitchFamily="34" charset="0"/>
                <a:ea typeface="LG스마트체 Regular" panose="020B0600000101010101" pitchFamily="50" charset="-127"/>
              </a:rPr>
              <a:t>라미 공정</a:t>
            </a:r>
            <a:r>
              <a:rPr kumimoji="1" lang="en-US" altLang="ko-KR" sz="1600" b="1">
                <a:solidFill>
                  <a:prstClr val="black"/>
                </a:solidFill>
                <a:latin typeface="Arial Narrow" panose="020B0606020202030204" pitchFamily="34" charset="0"/>
                <a:ea typeface="LG스마트체 Regular" panose="020B0600000101010101" pitchFamily="50" charset="-127"/>
              </a:rPr>
              <a:t>Loss/</a:t>
            </a:r>
            <a:r>
              <a:rPr kumimoji="1" lang="ko-KR" altLang="en-US" sz="1600" b="1">
                <a:solidFill>
                  <a:prstClr val="black"/>
                </a:solidFill>
                <a:latin typeface="Arial Narrow" panose="020B0606020202030204" pitchFamily="34" charset="0"/>
                <a:ea typeface="LG스마트체 Regular" panose="020B0600000101010101" pitchFamily="50" charset="-127"/>
              </a:rPr>
              <a:t>활성화 </a:t>
            </a:r>
            <a:r>
              <a:rPr kumimoji="1" lang="en-US" altLang="ko-KR" sz="1600" b="1">
                <a:solidFill>
                  <a:prstClr val="black"/>
                </a:solidFill>
                <a:latin typeface="Arial Narrow" panose="020B0606020202030204" pitchFamily="34" charset="0"/>
                <a:ea typeface="LG스마트체 Regular" panose="020B0600000101010101" pitchFamily="50" charset="-127"/>
              </a:rPr>
              <a:t>IR]</a:t>
            </a:r>
          </a:p>
        </p:txBody>
      </p:sp>
      <p:cxnSp>
        <p:nvCxnSpPr>
          <p:cNvPr id="41" name="직선 화살표 연결선 40">
            <a:extLst>
              <a:ext uri="{FF2B5EF4-FFF2-40B4-BE49-F238E27FC236}">
                <a16:creationId xmlns:a16="http://schemas.microsoft.com/office/drawing/2014/main" id="{C7022C09-F730-9CCE-DA24-8917626DA8B2}"/>
              </a:ext>
            </a:extLst>
          </p:cNvPr>
          <p:cNvCxnSpPr>
            <a:cxnSpLocks/>
          </p:cNvCxnSpPr>
          <p:nvPr/>
        </p:nvCxnSpPr>
        <p:spPr>
          <a:xfrm>
            <a:off x="839581" y="2060848"/>
            <a:ext cx="8749102" cy="0"/>
          </a:xfrm>
          <a:prstGeom prst="straightConnector1">
            <a:avLst/>
          </a:prstGeom>
          <a:ln w="285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D93345D-49AC-E764-8148-4A9A36C65358}"/>
              </a:ext>
            </a:extLst>
          </p:cNvPr>
          <p:cNvSpPr txBox="1"/>
          <p:nvPr/>
        </p:nvSpPr>
        <p:spPr>
          <a:xfrm>
            <a:off x="4679603" y="2147379"/>
            <a:ext cx="1500979" cy="442035"/>
          </a:xfrm>
          <a:prstGeom prst="rect">
            <a:avLst/>
          </a:prstGeom>
          <a:noFill/>
          <a:ln w="6350">
            <a:noFill/>
          </a:ln>
        </p:spPr>
        <p:txBody>
          <a:bodyPr wrap="none" lIns="36000" tIns="36000" rIns="36000" bIns="36000" rtlCol="0" anchor="t" anchorCtr="0">
            <a:spAutoFit/>
          </a:bodyP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800" kern="0" dirty="0">
                <a:solidFill>
                  <a:prstClr val="black"/>
                </a:solidFill>
                <a:latin typeface="Arial Narrow"/>
                <a:ea typeface="LG스마트체 Regular"/>
                <a:sym typeface="Wingdings"/>
              </a:rPr>
              <a:t>-. DX </a:t>
            </a:r>
            <a:r>
              <a:rPr kumimoji="0" lang="ko-KR" altLang="en-US" sz="800" kern="0" dirty="0">
                <a:solidFill>
                  <a:prstClr val="black"/>
                </a:solidFill>
                <a:latin typeface="Arial Narrow"/>
                <a:ea typeface="LG스마트체 Regular"/>
                <a:sym typeface="Wingdings"/>
              </a:rPr>
              <a:t>체계 개선점 적용 및 관리</a:t>
            </a:r>
            <a:br>
              <a:rPr kumimoji="0" lang="en-US" altLang="ko-KR" sz="800" kern="0" dirty="0">
                <a:solidFill>
                  <a:prstClr val="black"/>
                </a:solidFill>
                <a:latin typeface="Arial Narrow"/>
                <a:ea typeface="LG스마트체 Regular"/>
                <a:sym typeface="Wingdings"/>
              </a:rPr>
            </a:br>
            <a:r>
              <a:rPr kumimoji="0" lang="en-US" altLang="ko-KR" sz="800" kern="0" dirty="0">
                <a:solidFill>
                  <a:prstClr val="black"/>
                </a:solidFill>
                <a:latin typeface="Arial Narrow"/>
                <a:ea typeface="LG스마트체 Regular"/>
                <a:sym typeface="Wingdings"/>
              </a:rPr>
              <a:t> . </a:t>
            </a:r>
            <a:r>
              <a:rPr kumimoji="0" lang="ko-KR" altLang="en-US" sz="800" kern="0" dirty="0">
                <a:solidFill>
                  <a:prstClr val="black"/>
                </a:solidFill>
                <a:latin typeface="Arial Narrow"/>
                <a:ea typeface="LG스마트체 Regular"/>
                <a:sym typeface="Wingdings"/>
              </a:rPr>
              <a:t>고도화 사항 발굴 및 수율 개선을 </a:t>
            </a:r>
            <a:br>
              <a:rPr kumimoji="0" lang="en-US" altLang="ko-KR" sz="800" kern="0" dirty="0">
                <a:solidFill>
                  <a:prstClr val="black"/>
                </a:solidFill>
                <a:latin typeface="Arial Narrow"/>
                <a:ea typeface="LG스마트체 Regular"/>
                <a:sym typeface="Wingdings"/>
              </a:rPr>
            </a:br>
            <a:r>
              <a:rPr kumimoji="0" lang="en-US" altLang="ko-KR" sz="800" kern="0" dirty="0">
                <a:solidFill>
                  <a:prstClr val="black"/>
                </a:solidFill>
                <a:latin typeface="Arial Narrow"/>
                <a:ea typeface="LG스마트체 Regular"/>
                <a:sym typeface="Wingdings"/>
              </a:rPr>
              <a:t>   </a:t>
            </a:r>
            <a:r>
              <a:rPr kumimoji="0" lang="ko-KR" altLang="en-US" sz="800" kern="0" dirty="0">
                <a:solidFill>
                  <a:prstClr val="black"/>
                </a:solidFill>
                <a:latin typeface="Arial Narrow"/>
                <a:ea typeface="LG스마트체 Regular"/>
                <a:sym typeface="Wingdings"/>
              </a:rPr>
              <a:t>위한 개선점 적용 및 관리  </a:t>
            </a:r>
            <a:endParaRPr kumimoji="0" lang="en-US" altLang="ko-KR" sz="800" kern="0" dirty="0">
              <a:solidFill>
                <a:prstClr val="black"/>
              </a:solidFill>
              <a:latin typeface="Arial Narrow"/>
              <a:ea typeface="LG스마트체 Regular"/>
              <a:sym typeface="Wingdings"/>
            </a:endParaRPr>
          </a:p>
        </p:txBody>
      </p:sp>
      <p:sp>
        <p:nvSpPr>
          <p:cNvPr id="45" name="TextBox 44">
            <a:extLst>
              <a:ext uri="{FF2B5EF4-FFF2-40B4-BE49-F238E27FC236}">
                <a16:creationId xmlns:a16="http://schemas.microsoft.com/office/drawing/2014/main" id="{B96F6B54-6955-1C56-D64B-5BF18235C4EA}"/>
              </a:ext>
            </a:extLst>
          </p:cNvPr>
          <p:cNvSpPr txBox="1"/>
          <p:nvPr/>
        </p:nvSpPr>
        <p:spPr>
          <a:xfrm>
            <a:off x="1943300" y="2113577"/>
            <a:ext cx="2736303" cy="688256"/>
          </a:xfrm>
          <a:prstGeom prst="rect">
            <a:avLst/>
          </a:prstGeom>
          <a:noFill/>
          <a:ln w="6350">
            <a:noFill/>
          </a:ln>
        </p:spPr>
        <p:txBody>
          <a:bodyPr wrap="square" lIns="36000" tIns="36000" rIns="36000" bIns="36000" rtlCol="0" anchor="t" anchorCtr="0">
            <a:spAutoFit/>
          </a:bodyP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800" kern="0" dirty="0">
                <a:solidFill>
                  <a:prstClr val="black"/>
                </a:solidFill>
                <a:latin typeface="Arial Narrow"/>
                <a:ea typeface="LG스마트체 Regular"/>
                <a:sym typeface="Wingdings"/>
              </a:rPr>
              <a:t>-. DX</a:t>
            </a:r>
            <a:r>
              <a:rPr lang="ko-KR" altLang="en-US" sz="800" kern="0" dirty="0">
                <a:solidFill>
                  <a:prstClr val="black"/>
                </a:solidFill>
                <a:latin typeface="Arial Narrow"/>
                <a:ea typeface="LG스마트체 Regular"/>
                <a:sym typeface="Wingdings"/>
              </a:rPr>
              <a:t> 기반 </a:t>
            </a:r>
            <a:r>
              <a:rPr lang="en-US" altLang="ko-KR" sz="800" kern="0" dirty="0">
                <a:solidFill>
                  <a:prstClr val="black"/>
                </a:solidFill>
                <a:latin typeface="Arial Narrow"/>
                <a:ea typeface="LG스마트체 Regular"/>
                <a:sym typeface="Wingdings"/>
              </a:rPr>
              <a:t>Drill down </a:t>
            </a:r>
            <a:r>
              <a:rPr lang="ko-KR" altLang="en-US" sz="800" kern="0" dirty="0">
                <a:solidFill>
                  <a:prstClr val="black"/>
                </a:solidFill>
                <a:latin typeface="Arial Narrow"/>
                <a:ea typeface="LG스마트체 Regular"/>
                <a:sym typeface="Wingdings"/>
              </a:rPr>
              <a:t>분석 체계 활용</a:t>
            </a:r>
            <a:r>
              <a:rPr lang="en-US" altLang="ko-KR" sz="800" kern="0" dirty="0">
                <a:solidFill>
                  <a:prstClr val="black"/>
                </a:solidFill>
                <a:latin typeface="Arial Narrow"/>
                <a:ea typeface="LG스마트체 Regular"/>
                <a:sym typeface="Wingdings"/>
              </a:rPr>
              <a:t>/</a:t>
            </a:r>
            <a:r>
              <a:rPr lang="ko-KR" altLang="en-US" sz="800" kern="0" dirty="0">
                <a:solidFill>
                  <a:prstClr val="black"/>
                </a:solidFill>
                <a:latin typeface="Arial Narrow"/>
                <a:ea typeface="LG스마트체 Regular"/>
                <a:sym typeface="Wingdings"/>
              </a:rPr>
              <a:t>개선 </a:t>
            </a:r>
            <a:br>
              <a:rPr lang="en-US" altLang="ko-KR" sz="800" kern="0" dirty="0">
                <a:solidFill>
                  <a:prstClr val="black"/>
                </a:solidFill>
                <a:latin typeface="Arial Narrow"/>
                <a:ea typeface="LG스마트체 Regular"/>
                <a:sym typeface="Wingdings"/>
              </a:rPr>
            </a:br>
            <a:r>
              <a:rPr lang="en-US" altLang="ko-KR" sz="800" kern="0" dirty="0">
                <a:solidFill>
                  <a:prstClr val="black"/>
                </a:solidFill>
                <a:latin typeface="Arial Narrow"/>
                <a:ea typeface="LG스마트체 Regular"/>
                <a:sym typeface="Wingdings"/>
              </a:rPr>
              <a:t> . </a:t>
            </a:r>
            <a:r>
              <a:rPr lang="ko-KR" altLang="en-US" sz="800" kern="0" dirty="0">
                <a:solidFill>
                  <a:prstClr val="black"/>
                </a:solidFill>
                <a:latin typeface="Arial Narrow"/>
                <a:ea typeface="LG스마트체 Regular"/>
                <a:sym typeface="Wingdings"/>
              </a:rPr>
              <a:t>공정</a:t>
            </a:r>
            <a:r>
              <a:rPr lang="en-US" altLang="ko-KR" sz="800" kern="0" dirty="0">
                <a:solidFill>
                  <a:prstClr val="black"/>
                </a:solidFill>
                <a:latin typeface="Arial Narrow"/>
                <a:ea typeface="LG스마트체 Regular"/>
                <a:sym typeface="Wingdings"/>
              </a:rPr>
              <a:t>Loss : </a:t>
            </a:r>
            <a:r>
              <a:rPr lang="ko-KR" altLang="en-US" sz="800" kern="0" dirty="0">
                <a:solidFill>
                  <a:prstClr val="black"/>
                </a:solidFill>
                <a:latin typeface="Arial Narrow"/>
                <a:ea typeface="LG스마트체 Regular"/>
                <a:sym typeface="Wingdings"/>
              </a:rPr>
              <a:t>자공정</a:t>
            </a:r>
            <a:r>
              <a:rPr lang="en-US" altLang="ko-KR" sz="800" kern="0" dirty="0">
                <a:solidFill>
                  <a:prstClr val="black"/>
                </a:solidFill>
                <a:latin typeface="Arial Narrow"/>
                <a:ea typeface="LG스마트체 Regular"/>
                <a:sym typeface="Wingdings"/>
              </a:rPr>
              <a:t>/</a:t>
            </a:r>
            <a:r>
              <a:rPr lang="ko-KR" altLang="en-US" sz="800" kern="0" dirty="0" err="1">
                <a:solidFill>
                  <a:prstClr val="black"/>
                </a:solidFill>
                <a:latin typeface="Arial Narrow"/>
                <a:ea typeface="LG스마트체 Regular"/>
                <a:sym typeface="Wingdings"/>
              </a:rPr>
              <a:t>전공정</a:t>
            </a:r>
            <a:r>
              <a:rPr lang="ko-KR" altLang="en-US" sz="800" kern="0" dirty="0">
                <a:solidFill>
                  <a:prstClr val="black"/>
                </a:solidFill>
                <a:latin typeface="Arial Narrow"/>
                <a:ea typeface="LG스마트체 Regular"/>
                <a:sym typeface="Wingdings"/>
              </a:rPr>
              <a:t> 및 </a:t>
            </a:r>
            <a:r>
              <a:rPr lang="en-US" altLang="ko-KR" sz="800" kern="0" dirty="0">
                <a:solidFill>
                  <a:prstClr val="black"/>
                </a:solidFill>
                <a:latin typeface="Arial Narrow"/>
                <a:ea typeface="LG스마트체 Regular"/>
                <a:sym typeface="Wingdings"/>
              </a:rPr>
              <a:t>Loss </a:t>
            </a:r>
            <a:r>
              <a:rPr lang="ko-KR" altLang="en-US" sz="800" kern="0" dirty="0">
                <a:solidFill>
                  <a:prstClr val="black"/>
                </a:solidFill>
                <a:latin typeface="Arial Narrow"/>
                <a:ea typeface="LG스마트체 Regular"/>
                <a:sym typeface="Wingdings"/>
              </a:rPr>
              <a:t>발생 개소</a:t>
            </a:r>
            <a:r>
              <a:rPr lang="en-US" altLang="ko-KR" sz="800" kern="0" dirty="0">
                <a:solidFill>
                  <a:prstClr val="black"/>
                </a:solidFill>
                <a:latin typeface="Arial Narrow"/>
                <a:ea typeface="LG스마트체 Regular"/>
                <a:sym typeface="Wingdings"/>
              </a:rPr>
              <a:t> Detecting </a:t>
            </a:r>
            <a:r>
              <a:rPr lang="ko-KR" altLang="en-US" sz="800" kern="0" dirty="0">
                <a:solidFill>
                  <a:prstClr val="black"/>
                </a:solidFill>
                <a:latin typeface="Arial Narrow"/>
                <a:ea typeface="LG스마트체 Regular"/>
                <a:sym typeface="Wingdings"/>
              </a:rPr>
              <a:t>분석 </a:t>
            </a:r>
            <a:r>
              <a:rPr lang="en-US" altLang="ko-KR" sz="800" kern="0" dirty="0">
                <a:solidFill>
                  <a:prstClr val="black"/>
                </a:solidFill>
                <a:latin typeface="Arial Narrow"/>
                <a:ea typeface="LG스마트체 Regular"/>
                <a:sym typeface="Wingdings"/>
              </a:rPr>
              <a:t>/ </a:t>
            </a:r>
            <a:r>
              <a:rPr lang="ko-KR" altLang="en-US" sz="800" kern="0" dirty="0">
                <a:solidFill>
                  <a:prstClr val="black"/>
                </a:solidFill>
                <a:latin typeface="Arial Narrow"/>
                <a:ea typeface="LG스마트체 Regular"/>
                <a:sym typeface="Wingdings"/>
              </a:rPr>
              <a:t>개선 </a:t>
            </a:r>
            <a:br>
              <a:rPr lang="en-US" altLang="ko-KR" sz="800" kern="0" dirty="0">
                <a:solidFill>
                  <a:prstClr val="black"/>
                </a:solidFill>
                <a:latin typeface="Arial Narrow"/>
                <a:ea typeface="LG스마트체 Regular"/>
                <a:sym typeface="Wingdings"/>
              </a:rPr>
            </a:br>
            <a:r>
              <a:rPr lang="en-US" altLang="ko-KR" sz="800" kern="0" dirty="0">
                <a:solidFill>
                  <a:prstClr val="black"/>
                </a:solidFill>
                <a:latin typeface="Arial Narrow"/>
                <a:ea typeface="LG스마트체 Regular"/>
                <a:sym typeface="Wingdings"/>
              </a:rPr>
              <a:t> . EOL : </a:t>
            </a:r>
            <a:r>
              <a:rPr lang="ko-KR" altLang="en-US" sz="800" kern="0" dirty="0">
                <a:solidFill>
                  <a:prstClr val="black"/>
                </a:solidFill>
                <a:latin typeface="Arial Narrow"/>
                <a:ea typeface="LG스마트체 Regular"/>
                <a:sym typeface="Wingdings"/>
              </a:rPr>
              <a:t>공정 간 연계 기반 경로 분석 체계 구축</a:t>
            </a:r>
            <a:r>
              <a:rPr lang="en-US" altLang="ko-KR" sz="800" kern="0" dirty="0">
                <a:solidFill>
                  <a:prstClr val="black"/>
                </a:solidFill>
                <a:latin typeface="Arial Narrow"/>
                <a:ea typeface="LG스마트체 Regular"/>
                <a:sym typeface="Wingdings"/>
              </a:rPr>
              <a:t>/</a:t>
            </a:r>
            <a:r>
              <a:rPr lang="ko-KR" altLang="en-US" sz="800" kern="0" dirty="0">
                <a:solidFill>
                  <a:prstClr val="black"/>
                </a:solidFill>
                <a:latin typeface="Arial Narrow"/>
                <a:ea typeface="LG스마트체 Regular"/>
                <a:sym typeface="Wingdings"/>
              </a:rPr>
              <a:t>활용</a:t>
            </a:r>
            <a:br>
              <a:rPr lang="en-US" altLang="ko-KR" sz="800" kern="0" dirty="0">
                <a:solidFill>
                  <a:prstClr val="black"/>
                </a:solidFill>
                <a:latin typeface="Arial Narrow"/>
                <a:ea typeface="LG스마트체 Regular"/>
                <a:sym typeface="Wingdings"/>
              </a:rPr>
            </a:br>
            <a:r>
              <a:rPr lang="en-US" altLang="ko-KR" sz="800" kern="0" dirty="0">
                <a:solidFill>
                  <a:prstClr val="black"/>
                </a:solidFill>
                <a:latin typeface="Arial Narrow"/>
                <a:ea typeface="LG스마트체 Regular"/>
                <a:sym typeface="Wingdings"/>
              </a:rPr>
              <a:t> . </a:t>
            </a:r>
            <a:r>
              <a:rPr lang="ko-KR" altLang="en-US" sz="800" kern="0" dirty="0">
                <a:solidFill>
                  <a:prstClr val="black"/>
                </a:solidFill>
                <a:latin typeface="Arial Narrow"/>
                <a:ea typeface="LG스마트체 Regular"/>
                <a:sym typeface="Wingdings"/>
              </a:rPr>
              <a:t>롤프레스 단선 </a:t>
            </a:r>
            <a:r>
              <a:rPr lang="en-US" altLang="ko-KR" sz="800" kern="0" dirty="0">
                <a:solidFill>
                  <a:prstClr val="black"/>
                </a:solidFill>
                <a:latin typeface="Arial Narrow"/>
                <a:ea typeface="LG스마트체 Regular"/>
                <a:sym typeface="Wingdings"/>
              </a:rPr>
              <a:t>: </a:t>
            </a:r>
            <a:r>
              <a:rPr lang="ko-KR" altLang="en-US" sz="800" kern="0" dirty="0">
                <a:solidFill>
                  <a:prstClr val="black"/>
                </a:solidFill>
                <a:latin typeface="Arial Narrow"/>
                <a:ea typeface="LG스마트체 Regular"/>
                <a:sym typeface="Wingdings"/>
              </a:rPr>
              <a:t>공정개발 </a:t>
            </a:r>
            <a:r>
              <a:rPr lang="en-US" altLang="ko-KR" sz="800" kern="0" dirty="0">
                <a:solidFill>
                  <a:prstClr val="black"/>
                </a:solidFill>
                <a:latin typeface="Arial Narrow"/>
                <a:ea typeface="LG스마트체 Regular"/>
                <a:sym typeface="Wingdings"/>
              </a:rPr>
              <a:t>Agent Pilot / </a:t>
            </a:r>
            <a:r>
              <a:rPr lang="ko-KR" altLang="en-US" sz="800" kern="0" dirty="0">
                <a:solidFill>
                  <a:prstClr val="black"/>
                </a:solidFill>
                <a:latin typeface="Arial Narrow"/>
                <a:ea typeface="LG스마트체 Regular"/>
                <a:sym typeface="Wingdings"/>
              </a:rPr>
              <a:t>롤프레스 단선 </a:t>
            </a:r>
            <a:r>
              <a:rPr lang="en-US" altLang="ko-KR" sz="800" kern="0" dirty="0">
                <a:solidFill>
                  <a:prstClr val="black"/>
                </a:solidFill>
                <a:latin typeface="Arial Narrow"/>
                <a:ea typeface="LG스마트체 Regular"/>
                <a:sym typeface="Wingdings"/>
              </a:rPr>
              <a:t>/ </a:t>
            </a:r>
            <a:br>
              <a:rPr lang="en-US" altLang="ko-KR" sz="800" kern="0" dirty="0">
                <a:solidFill>
                  <a:prstClr val="black"/>
                </a:solidFill>
                <a:latin typeface="Arial Narrow"/>
                <a:ea typeface="LG스마트체 Regular"/>
                <a:sym typeface="Wingdings"/>
              </a:rPr>
            </a:br>
            <a:r>
              <a:rPr lang="en-US" altLang="ko-KR" sz="800" kern="0" dirty="0">
                <a:solidFill>
                  <a:prstClr val="black"/>
                </a:solidFill>
                <a:latin typeface="Arial Narrow"/>
                <a:ea typeface="LG스마트체 Regular"/>
                <a:sym typeface="Wingdings"/>
              </a:rPr>
              <a:t> . </a:t>
            </a:r>
            <a:r>
              <a:rPr lang="ko-KR" altLang="en-US" sz="800" kern="0" dirty="0">
                <a:solidFill>
                  <a:prstClr val="black"/>
                </a:solidFill>
                <a:latin typeface="Arial Narrow"/>
                <a:ea typeface="LG스마트체 Regular"/>
                <a:sym typeface="Wingdings"/>
              </a:rPr>
              <a:t>생산가동률 분석 </a:t>
            </a:r>
            <a:r>
              <a:rPr lang="en-US" altLang="ko-KR" sz="800" kern="0" dirty="0">
                <a:solidFill>
                  <a:prstClr val="black"/>
                </a:solidFill>
                <a:latin typeface="Arial Narrow"/>
                <a:ea typeface="LG스마트체 Regular"/>
                <a:sym typeface="Wingdings"/>
              </a:rPr>
              <a:t>W/F </a:t>
            </a:r>
            <a:r>
              <a:rPr lang="ko-KR" altLang="en-US" sz="800" kern="0" dirty="0">
                <a:solidFill>
                  <a:prstClr val="black"/>
                </a:solidFill>
                <a:latin typeface="Arial Narrow"/>
                <a:ea typeface="LG스마트체 Regular"/>
                <a:sym typeface="Wingdings"/>
              </a:rPr>
              <a:t>활용</a:t>
            </a:r>
            <a:endParaRPr kumimoji="0" lang="en-US" altLang="ko-KR" sz="800" kern="0" dirty="0">
              <a:solidFill>
                <a:prstClr val="black"/>
              </a:solidFill>
              <a:latin typeface="Arial Narrow"/>
              <a:ea typeface="LG스마트체 Regular"/>
              <a:sym typeface="Wingdings"/>
            </a:endParaRPr>
          </a:p>
        </p:txBody>
      </p:sp>
      <p:sp>
        <p:nvSpPr>
          <p:cNvPr id="48" name="타원 47">
            <a:extLst>
              <a:ext uri="{FF2B5EF4-FFF2-40B4-BE49-F238E27FC236}">
                <a16:creationId xmlns:a16="http://schemas.microsoft.com/office/drawing/2014/main" id="{61FA5E2E-E7A6-91DB-B85D-3F8EFE1C9525}"/>
              </a:ext>
            </a:extLst>
          </p:cNvPr>
          <p:cNvSpPr/>
          <p:nvPr/>
        </p:nvSpPr>
        <p:spPr>
          <a:xfrm>
            <a:off x="2882180" y="1991120"/>
            <a:ext cx="144000" cy="144000"/>
          </a:xfrm>
          <a:prstGeom prst="ellipse">
            <a:avLst/>
          </a:prstGeom>
          <a:solidFill>
            <a:schemeClr val="accent6">
              <a:lumMod val="20000"/>
              <a:lumOff val="8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2.0 Regular" panose="020B0600000101010101" pitchFamily="50" charset="-127"/>
              </a:rPr>
              <a:t>31</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endParaRPr>
          </a:p>
        </p:txBody>
      </p:sp>
      <p:sp>
        <p:nvSpPr>
          <p:cNvPr id="49" name="타원 48">
            <a:extLst>
              <a:ext uri="{FF2B5EF4-FFF2-40B4-BE49-F238E27FC236}">
                <a16:creationId xmlns:a16="http://schemas.microsoft.com/office/drawing/2014/main" id="{546E1EE4-6FD3-C8E7-96C2-227431F1E345}"/>
              </a:ext>
            </a:extLst>
          </p:cNvPr>
          <p:cNvSpPr/>
          <p:nvPr/>
        </p:nvSpPr>
        <p:spPr>
          <a:xfrm>
            <a:off x="5094102" y="1991120"/>
            <a:ext cx="144000" cy="144000"/>
          </a:xfrm>
          <a:prstGeom prst="ellipse">
            <a:avLst/>
          </a:prstGeom>
          <a:solidFill>
            <a:schemeClr val="accent6">
              <a:lumMod val="20000"/>
              <a:lumOff val="8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2.0 Regular" panose="020B0600000101010101" pitchFamily="50" charset="-127"/>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endParaRPr>
          </a:p>
        </p:txBody>
      </p:sp>
      <p:sp>
        <p:nvSpPr>
          <p:cNvPr id="51" name="타원 50">
            <a:extLst>
              <a:ext uri="{FF2B5EF4-FFF2-40B4-BE49-F238E27FC236}">
                <a16:creationId xmlns:a16="http://schemas.microsoft.com/office/drawing/2014/main" id="{BAD5B48A-BC12-D757-B2D5-AA3B9C5BBDF9}"/>
              </a:ext>
            </a:extLst>
          </p:cNvPr>
          <p:cNvSpPr/>
          <p:nvPr/>
        </p:nvSpPr>
        <p:spPr>
          <a:xfrm>
            <a:off x="7283446" y="1991120"/>
            <a:ext cx="144000" cy="144000"/>
          </a:xfrm>
          <a:prstGeom prst="ellipse">
            <a:avLst/>
          </a:prstGeom>
          <a:solidFill>
            <a:schemeClr val="accent6">
              <a:lumMod val="20000"/>
              <a:lumOff val="80000"/>
            </a:schemeClr>
          </a:solidFill>
          <a:ln w="6350">
            <a:solidFill>
              <a:schemeClr val="tx1"/>
            </a:solidFill>
          </a:ln>
        </p:spPr>
        <p:txBody>
          <a:bodyPr wrap="none" rtlCol="0" anchor="ctr">
            <a:noAutofit/>
          </a:bodyPr>
          <a:lstStyle/>
          <a:p>
            <a:pPr marL="0" marR="0" lvl="0" indent="0" algn="ctr" defTabSz="914362" rtl="0" eaLnBrk="1" fontAlgn="ctr" latinLnBrk="1" hangingPunct="1">
              <a:lnSpc>
                <a:spcPct val="100000"/>
              </a:lnSpc>
              <a:spcBef>
                <a:spcPts val="0"/>
              </a:spcBef>
              <a:spcAft>
                <a:spcPts val="0"/>
              </a:spcAft>
              <a:buClrTx/>
              <a:buSzTx/>
              <a:buFontTx/>
              <a:buNone/>
              <a:tabLst/>
              <a:defRPr/>
            </a:pPr>
            <a:r>
              <a:rPr lang="en-US" altLang="ko-KR" sz="1000" b="1" kern="0">
                <a:solidFill>
                  <a:prstClr val="black"/>
                </a:solidFill>
                <a:latin typeface="Arial Narrow" panose="020B0606020202030204" pitchFamily="34" charset="0"/>
                <a:ea typeface="LG스마트체2.0 Regular" panose="020B0600000101010101" pitchFamily="50" charset="-127"/>
              </a:rPr>
              <a:t>30</a:t>
            </a:r>
            <a:endPar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2.0 Regular" panose="020B0600000101010101" pitchFamily="50" charset="-127"/>
              <a:cs typeface="+mn-cs"/>
            </a:endParaRPr>
          </a:p>
        </p:txBody>
      </p:sp>
      <p:sp>
        <p:nvSpPr>
          <p:cNvPr id="53" name="TextBox 52">
            <a:extLst>
              <a:ext uri="{FF2B5EF4-FFF2-40B4-BE49-F238E27FC236}">
                <a16:creationId xmlns:a16="http://schemas.microsoft.com/office/drawing/2014/main" id="{5F8211CB-18C1-29B5-C164-6DA3BE3F5DD6}"/>
              </a:ext>
            </a:extLst>
          </p:cNvPr>
          <p:cNvSpPr txBox="1"/>
          <p:nvPr/>
        </p:nvSpPr>
        <p:spPr>
          <a:xfrm>
            <a:off x="6695363" y="2147379"/>
            <a:ext cx="1601968" cy="442035"/>
          </a:xfrm>
          <a:prstGeom prst="rect">
            <a:avLst/>
          </a:prstGeom>
          <a:noFill/>
          <a:ln w="6350">
            <a:noFill/>
          </a:ln>
        </p:spPr>
        <p:txBody>
          <a:bodyPr wrap="none" lIns="36000" tIns="36000" rIns="36000" bIns="36000" rtlCol="0" anchor="t" anchorCtr="0">
            <a:spAutoFit/>
          </a:bodyP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800" kern="0" dirty="0">
                <a:solidFill>
                  <a:prstClr val="black"/>
                </a:solidFill>
                <a:latin typeface="Arial Narrow"/>
                <a:ea typeface="LG스마트체 Regular"/>
                <a:sym typeface="Wingdings"/>
              </a:rPr>
              <a:t>-. DX</a:t>
            </a:r>
            <a:r>
              <a:rPr kumimoji="0" lang="ko-KR" altLang="en-US" sz="800" kern="0" dirty="0">
                <a:solidFill>
                  <a:prstClr val="black"/>
                </a:solidFill>
                <a:latin typeface="Arial Narrow"/>
                <a:ea typeface="LG스마트체 Regular"/>
                <a:sym typeface="Wingdings"/>
              </a:rPr>
              <a:t> 체계 활용을 통한 목표 달성</a:t>
            </a:r>
            <a:br>
              <a:rPr kumimoji="0" lang="en-US" altLang="ko-KR" sz="800" kern="0" dirty="0">
                <a:solidFill>
                  <a:prstClr val="black"/>
                </a:solidFill>
                <a:latin typeface="Arial Narrow"/>
                <a:ea typeface="LG스마트체 Regular"/>
                <a:sym typeface="Wingdings"/>
              </a:rPr>
            </a:br>
            <a:r>
              <a:rPr kumimoji="0" lang="en-US" altLang="ko-KR" sz="800" kern="0" dirty="0">
                <a:solidFill>
                  <a:prstClr val="black"/>
                </a:solidFill>
                <a:latin typeface="Arial Narrow"/>
                <a:ea typeface="LG스마트체 Regular"/>
                <a:sym typeface="Wingdings"/>
              </a:rPr>
              <a:t>  . </a:t>
            </a:r>
            <a:r>
              <a:rPr kumimoji="0" lang="ko-KR" altLang="en-US" sz="800" kern="0" dirty="0">
                <a:solidFill>
                  <a:prstClr val="black"/>
                </a:solidFill>
                <a:latin typeface="Arial Narrow"/>
                <a:ea typeface="LG스마트체 Regular"/>
                <a:sym typeface="Wingdings"/>
              </a:rPr>
              <a:t>현상</a:t>
            </a:r>
            <a:r>
              <a:rPr kumimoji="0" lang="en-US" altLang="ko-KR" sz="800" kern="0" dirty="0">
                <a:solidFill>
                  <a:prstClr val="black"/>
                </a:solidFill>
                <a:latin typeface="Arial Narrow"/>
                <a:ea typeface="LG스마트체 Regular"/>
                <a:sym typeface="Wingdings"/>
              </a:rPr>
              <a:t>/</a:t>
            </a:r>
            <a:r>
              <a:rPr kumimoji="0" lang="ko-KR" altLang="en-US" sz="800" kern="0" dirty="0">
                <a:solidFill>
                  <a:prstClr val="black"/>
                </a:solidFill>
                <a:latin typeface="Arial Narrow"/>
                <a:ea typeface="LG스마트체 Regular"/>
                <a:sym typeface="Wingdings"/>
              </a:rPr>
              <a:t>원인</a:t>
            </a:r>
            <a:r>
              <a:rPr kumimoji="0" lang="en-US" altLang="ko-KR" sz="800" kern="0" dirty="0">
                <a:solidFill>
                  <a:prstClr val="black"/>
                </a:solidFill>
                <a:latin typeface="Arial Narrow"/>
                <a:ea typeface="LG스마트체 Regular"/>
                <a:sym typeface="Wingdings"/>
              </a:rPr>
              <a:t>/</a:t>
            </a:r>
            <a:r>
              <a:rPr kumimoji="0" lang="ko-KR" altLang="en-US" sz="800" kern="0" dirty="0">
                <a:solidFill>
                  <a:prstClr val="black"/>
                </a:solidFill>
                <a:latin typeface="Arial Narrow"/>
                <a:ea typeface="LG스마트체 Regular"/>
                <a:sym typeface="Wingdings"/>
              </a:rPr>
              <a:t>조치 </a:t>
            </a:r>
            <a:r>
              <a:rPr lang="en-US" altLang="ko-KR" sz="800" kern="0" dirty="0">
                <a:solidFill>
                  <a:prstClr val="black"/>
                </a:solidFill>
                <a:latin typeface="Arial Narrow"/>
                <a:ea typeface="LG스마트체 Regular"/>
                <a:sym typeface="Wingdings"/>
              </a:rPr>
              <a:t>Point</a:t>
            </a:r>
            <a:r>
              <a:rPr lang="ko-KR" altLang="en-US" sz="800" kern="0" dirty="0">
                <a:solidFill>
                  <a:prstClr val="black"/>
                </a:solidFill>
                <a:latin typeface="Arial Narrow"/>
                <a:ea typeface="LG스마트체 Regular"/>
                <a:sym typeface="Wingdings"/>
              </a:rPr>
              <a:t>를 데이터 기반 </a:t>
            </a:r>
            <a:br>
              <a:rPr lang="en-US" altLang="ko-KR" sz="800" kern="0" dirty="0">
                <a:solidFill>
                  <a:prstClr val="black"/>
                </a:solidFill>
                <a:latin typeface="Arial Narrow"/>
                <a:ea typeface="LG스마트체 Regular"/>
                <a:sym typeface="Wingdings"/>
              </a:rPr>
            </a:br>
            <a:r>
              <a:rPr lang="en-US" altLang="ko-KR" sz="800" kern="0" dirty="0">
                <a:solidFill>
                  <a:prstClr val="black"/>
                </a:solidFill>
                <a:latin typeface="Arial Narrow"/>
                <a:ea typeface="LG스마트체 Regular"/>
                <a:sym typeface="Wingdings"/>
              </a:rPr>
              <a:t>    </a:t>
            </a:r>
            <a:r>
              <a:rPr lang="ko-KR" altLang="en-US" sz="800" kern="0" dirty="0">
                <a:solidFill>
                  <a:prstClr val="black"/>
                </a:solidFill>
                <a:latin typeface="Arial Narrow"/>
                <a:ea typeface="LG스마트체 Regular"/>
                <a:sym typeface="Wingdings"/>
              </a:rPr>
              <a:t>활용 목표 달성 및 관리 </a:t>
            </a:r>
            <a:endParaRPr kumimoji="0" lang="en-US" altLang="ko-KR" sz="800" kern="0" dirty="0">
              <a:solidFill>
                <a:prstClr val="black"/>
              </a:solidFill>
              <a:latin typeface="Arial Narrow"/>
              <a:ea typeface="LG스마트체 Regular"/>
              <a:sym typeface="Wingdings"/>
            </a:endParaRPr>
          </a:p>
        </p:txBody>
      </p:sp>
      <p:sp>
        <p:nvSpPr>
          <p:cNvPr id="4" name="제목 3">
            <a:extLst>
              <a:ext uri="{FF2B5EF4-FFF2-40B4-BE49-F238E27FC236}">
                <a16:creationId xmlns:a16="http://schemas.microsoft.com/office/drawing/2014/main" id="{9E6EEFAB-A1A3-C25F-BE59-FCD4111A6D77}"/>
              </a:ext>
            </a:extLst>
          </p:cNvPr>
          <p:cNvSpPr txBox="1">
            <a:spLocks/>
          </p:cNvSpPr>
          <p:nvPr/>
        </p:nvSpPr>
        <p:spPr>
          <a:xfrm>
            <a:off x="134567" y="116448"/>
            <a:ext cx="4117148" cy="369332"/>
          </a:xfrm>
          <a:prstGeom prst="rect">
            <a:avLst/>
          </a:prstGeom>
          <a:solidFill>
            <a:sysClr val="window" lastClr="FFFFFF"/>
          </a:solidFill>
          <a:ln w="12700">
            <a:gradFill>
              <a:gsLst>
                <a:gs pos="0">
                  <a:sysClr val="window" lastClr="FFFFFF">
                    <a:alpha val="0"/>
                    <a:lumMod val="0"/>
                    <a:lumOff val="100000"/>
                  </a:sysClr>
                </a:gs>
                <a:gs pos="98000">
                  <a:sysClr val="window" lastClr="FFFFFF">
                    <a:alpha val="0"/>
                    <a:lumMod val="0"/>
                    <a:lumOff val="100000"/>
                  </a:sysClr>
                </a:gs>
                <a:gs pos="99000">
                  <a:sysClr val="windowText" lastClr="000000"/>
                </a:gs>
              </a:gsLst>
              <a:lin ang="5400000" scaled="0"/>
            </a:gradFill>
            <a:miter lim="800000"/>
            <a:headEnd/>
            <a:tailEnd/>
          </a:ln>
        </p:spPr>
        <p:txBody>
          <a:bodyPr vert="horz" wrap="square" lIns="91440" tIns="45720" rIns="91440" bIns="45720" numCol="1" rtlCol="0" anchor="ctr" anchorCtr="0" compatLnSpc="1">
            <a:prstTxWarp prst="textNoShape">
              <a:avLst/>
            </a:prstTxWarp>
            <a:spAutoFit/>
          </a:bodyPr>
          <a:lstStyle>
            <a:lvl1pPr algn="ctr" defTabSz="914400" rtl="0" eaLnBrk="1" latinLnBrk="1" hangingPunct="1">
              <a:spcBef>
                <a:spcPct val="0"/>
              </a:spcBef>
              <a:buNone/>
              <a:defRPr kumimoji="0" lang="ko-KR" altLang="en-US" sz="1800" b="1" kern="0" baseline="0" dirty="0">
                <a:solidFill>
                  <a:srgbClr val="000000"/>
                </a:solidFill>
                <a:latin typeface="Arial Narrow" panose="020B0606020202030204" pitchFamily="34" charset="0"/>
                <a:ea typeface="LG스마트체 Regular" panose="020B0600000101010101" pitchFamily="50" charset="-127"/>
                <a:cs typeface="+mj-cs"/>
              </a:defRPr>
            </a:lvl1pPr>
          </a:lstStyle>
          <a:p>
            <a:pPr algn="l"/>
            <a:r>
              <a:rPr lang="en-US" altLang="ko-KR" dirty="0"/>
              <a:t>3.</a:t>
            </a:r>
            <a:r>
              <a:rPr lang="ko-KR" altLang="en-US" dirty="0"/>
              <a:t> </a:t>
            </a:r>
            <a:r>
              <a:rPr lang="en-US" altLang="ko-KR" dirty="0"/>
              <a:t>KPI 08</a:t>
            </a:r>
            <a:r>
              <a:rPr lang="ko-KR" altLang="en-US" dirty="0"/>
              <a:t>월 진척 사항</a:t>
            </a:r>
            <a:r>
              <a:rPr lang="en-US" altLang="ko-KR" dirty="0"/>
              <a:t>_</a:t>
            </a:r>
            <a:r>
              <a:rPr lang="ko-KR" altLang="en-US" dirty="0"/>
              <a:t>고질 불량 개선 </a:t>
            </a:r>
            <a:r>
              <a:rPr lang="en-US" altLang="ko-KR" dirty="0"/>
              <a:t>(3/3)</a:t>
            </a:r>
            <a:endParaRPr lang="ko-KR" altLang="en-US" dirty="0"/>
          </a:p>
        </p:txBody>
      </p:sp>
      <p:sp>
        <p:nvSpPr>
          <p:cNvPr id="19" name="Rectangle 4">
            <a:extLst>
              <a:ext uri="{FF2B5EF4-FFF2-40B4-BE49-F238E27FC236}">
                <a16:creationId xmlns:a16="http://schemas.microsoft.com/office/drawing/2014/main" id="{C163219C-B709-7610-ECF7-F78DA1461018}"/>
              </a:ext>
            </a:extLst>
          </p:cNvPr>
          <p:cNvSpPr>
            <a:spLocks noChangeArrowheads="1"/>
          </p:cNvSpPr>
          <p:nvPr/>
        </p:nvSpPr>
        <p:spPr bwMode="auto">
          <a:xfrm>
            <a:off x="200471" y="2828807"/>
            <a:ext cx="448035" cy="3886678"/>
          </a:xfrm>
          <a:prstGeom prst="rect">
            <a:avLst/>
          </a:prstGeom>
          <a:solidFill>
            <a:sysClr val="window" lastClr="FFFFFF"/>
          </a:solidFill>
          <a:ln w="6350">
            <a:solidFill>
              <a:schemeClr val="bg1">
                <a:lumMod val="50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har char="•"/>
              <a:defRPr kumimoji="1" sz="3200">
                <a:solidFill>
                  <a:schemeClr val="tx1"/>
                </a:solidFill>
                <a:latin typeface="굴림" pitchFamily="50" charset="-127"/>
                <a:ea typeface="굴림" pitchFamily="50" charset="-127"/>
              </a:defRPr>
            </a:lvl1pPr>
            <a:lvl2pPr marL="742950" indent="-285750" algn="l" eaLnBrk="0" hangingPunct="0">
              <a:spcBef>
                <a:spcPct val="20000"/>
              </a:spcBef>
              <a:buChar char="–"/>
              <a:defRPr kumimoji="1" sz="2800">
                <a:solidFill>
                  <a:schemeClr val="tx1"/>
                </a:solidFill>
                <a:latin typeface="굴림" pitchFamily="50" charset="-127"/>
                <a:ea typeface="굴림" pitchFamily="50" charset="-127"/>
              </a:defRPr>
            </a:lvl2pPr>
            <a:lvl3pPr marL="1143000" indent="-228600" algn="l" eaLnBrk="0" hangingPunct="0">
              <a:spcBef>
                <a:spcPct val="20000"/>
              </a:spcBef>
              <a:buChar char="•"/>
              <a:defRPr kumimoji="1" sz="2400">
                <a:solidFill>
                  <a:schemeClr val="tx1"/>
                </a:solidFill>
                <a:latin typeface="굴림" pitchFamily="50" charset="-127"/>
                <a:ea typeface="굴림" pitchFamily="50" charset="-127"/>
              </a:defRPr>
            </a:lvl3pPr>
            <a:lvl4pPr marL="1600200" indent="-228600" algn="l" eaLnBrk="0" hangingPunct="0">
              <a:spcBef>
                <a:spcPct val="20000"/>
              </a:spcBef>
              <a:buChar char="–"/>
              <a:defRPr kumimoji="1" sz="2000">
                <a:solidFill>
                  <a:schemeClr val="tx1"/>
                </a:solidFill>
                <a:latin typeface="굴림" pitchFamily="50" charset="-127"/>
                <a:ea typeface="굴림" pitchFamily="50" charset="-127"/>
              </a:defRPr>
            </a:lvl4pPr>
            <a:lvl5pPr marL="2057400" indent="-228600" algn="l" eaLnBrk="0" hangingPunct="0">
              <a:spcBef>
                <a:spcPct val="20000"/>
              </a:spcBef>
              <a:buChar char="»"/>
              <a:defRPr kumimoji="1" sz="2000">
                <a:solidFill>
                  <a:schemeClr val="tx1"/>
                </a:solidFill>
                <a:latin typeface="굴림" pitchFamily="50" charset="-127"/>
                <a:ea typeface="굴림" pitchFamily="50" charset="-127"/>
              </a:defRPr>
            </a:lvl5pPr>
            <a:lvl6pPr marL="25146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6pPr>
            <a:lvl7pPr marL="29718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7pPr>
            <a:lvl8pPr marL="34290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8pPr>
            <a:lvl9pPr marL="3886200" indent="-228600" eaLnBrk="0" fontAlgn="base" hangingPunct="0">
              <a:spcBef>
                <a:spcPct val="20000"/>
              </a:spcBef>
              <a:spcAft>
                <a:spcPct val="0"/>
              </a:spcAft>
              <a:buChar char="»"/>
              <a:defRPr kumimoji="1" sz="2000">
                <a:solidFill>
                  <a:schemeClr val="tx1"/>
                </a:solidFill>
                <a:latin typeface="굴림" pitchFamily="50" charset="-127"/>
                <a:ea typeface="굴림" pitchFamily="50" charset="-127"/>
              </a:defRPr>
            </a:lvl9pPr>
          </a:lstStyle>
          <a:p>
            <a:pPr marL="0" marR="0" lvl="0" indent="0" algn="ctr" defTabSz="914400" rtl="0" eaLnBrk="1" fontAlgn="base" latinLnBrk="0" hangingPunct="1">
              <a:lnSpc>
                <a:spcPct val="90000"/>
              </a:lnSpc>
              <a:spcBef>
                <a:spcPct val="30000"/>
              </a:spcBef>
              <a:spcAft>
                <a:spcPct val="0"/>
              </a:spcAft>
              <a:buClrTx/>
              <a:buSzTx/>
              <a:buFontTx/>
              <a:buNone/>
              <a:tabLst/>
              <a:defRPr/>
            </a:pPr>
            <a:r>
              <a:rPr kumimoji="1" lang="ko-KR" altLang="en-US"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rPr>
              <a:t>진척</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914400" rtl="0" eaLnBrk="1" fontAlgn="base" latinLnBrk="0" hangingPunct="1">
              <a:lnSpc>
                <a:spcPct val="90000"/>
              </a:lnSpc>
              <a:spcBef>
                <a:spcPct val="30000"/>
              </a:spcBef>
              <a:spcAft>
                <a:spcPct val="0"/>
              </a:spcAft>
              <a:buClrTx/>
              <a:buSzTx/>
              <a:buFontTx/>
              <a:buNone/>
              <a:tabLst/>
              <a:defRPr/>
            </a:pPr>
            <a:r>
              <a:rPr lang="ko-KR" altLang="en-US" sz="1300" b="1" kern="0" spc="-50">
                <a:solidFill>
                  <a:srgbClr val="000000"/>
                </a:solidFill>
                <a:latin typeface="Arial Narrow" panose="020B0606020202030204" pitchFamily="34" charset="0"/>
                <a:ea typeface="LG스마트체 Regular" panose="020B0600000101010101" pitchFamily="50" charset="-127"/>
              </a:rPr>
              <a:t>사항</a:t>
            </a:r>
            <a:endParaRPr kumimoji="1" lang="en-US" altLang="ko-KR" sz="1300" b="1" i="0" u="none" strike="noStrike" kern="0" cap="none" spc="-5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mn-cs"/>
            </a:endParaRPr>
          </a:p>
        </p:txBody>
      </p:sp>
      <p:cxnSp>
        <p:nvCxnSpPr>
          <p:cNvPr id="20" name="직선 연결선 19">
            <a:extLst>
              <a:ext uri="{FF2B5EF4-FFF2-40B4-BE49-F238E27FC236}">
                <a16:creationId xmlns:a16="http://schemas.microsoft.com/office/drawing/2014/main" id="{967C25BA-4733-0278-6C99-9AE474A9670C}"/>
              </a:ext>
            </a:extLst>
          </p:cNvPr>
          <p:cNvCxnSpPr>
            <a:cxnSpLocks/>
          </p:cNvCxnSpPr>
          <p:nvPr/>
        </p:nvCxnSpPr>
        <p:spPr>
          <a:xfrm flipV="1">
            <a:off x="5210552" y="2811865"/>
            <a:ext cx="0" cy="3929684"/>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71FABBB-1466-F439-F76E-43E198DC3344}"/>
              </a:ext>
            </a:extLst>
          </p:cNvPr>
          <p:cNvGrpSpPr/>
          <p:nvPr/>
        </p:nvGrpSpPr>
        <p:grpSpPr>
          <a:xfrm>
            <a:off x="839581" y="2757489"/>
            <a:ext cx="4285230" cy="341334"/>
            <a:chOff x="961536" y="4488828"/>
            <a:chExt cx="4008771" cy="341334"/>
          </a:xfrm>
        </p:grpSpPr>
        <p:sp>
          <p:nvSpPr>
            <p:cNvPr id="16" name="제목 9">
              <a:extLst>
                <a:ext uri="{FF2B5EF4-FFF2-40B4-BE49-F238E27FC236}">
                  <a16:creationId xmlns:a16="http://schemas.microsoft.com/office/drawing/2014/main" id="{A8ADD0EA-0721-90AF-BB80-6971E75FEEFF}"/>
                </a:ext>
              </a:extLst>
            </p:cNvPr>
            <p:cNvSpPr txBox="1">
              <a:spLocks/>
            </p:cNvSpPr>
            <p:nvPr/>
          </p:nvSpPr>
          <p:spPr>
            <a:xfrm>
              <a:off x="2577457" y="4488828"/>
              <a:ext cx="776928"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진척사항</a:t>
              </a:r>
            </a:p>
          </p:txBody>
        </p:sp>
        <p:cxnSp>
          <p:nvCxnSpPr>
            <p:cNvPr id="26" name="직선 연결선 2">
              <a:extLst>
                <a:ext uri="{FF2B5EF4-FFF2-40B4-BE49-F238E27FC236}">
                  <a16:creationId xmlns:a16="http://schemas.microsoft.com/office/drawing/2014/main" id="{FC64788B-C39C-EB36-BED0-FA2F01CEE7A3}"/>
                </a:ext>
              </a:extLst>
            </p:cNvPr>
            <p:cNvCxnSpPr>
              <a:cxnSpLocks noChangeShapeType="1"/>
            </p:cNvCxnSpPr>
            <p:nvPr/>
          </p:nvCxnSpPr>
          <p:spPr bwMode="auto">
            <a:xfrm>
              <a:off x="961536" y="4830162"/>
              <a:ext cx="4008771"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8" name="그룹 27">
            <a:extLst>
              <a:ext uri="{FF2B5EF4-FFF2-40B4-BE49-F238E27FC236}">
                <a16:creationId xmlns:a16="http://schemas.microsoft.com/office/drawing/2014/main" id="{FCF67386-7CF1-155B-E792-04BDE5138C11}"/>
              </a:ext>
            </a:extLst>
          </p:cNvPr>
          <p:cNvGrpSpPr/>
          <p:nvPr/>
        </p:nvGrpSpPr>
        <p:grpSpPr>
          <a:xfrm>
            <a:off x="5296294" y="2765195"/>
            <a:ext cx="4300862" cy="333628"/>
            <a:chOff x="5152724" y="4496534"/>
            <a:chExt cx="4221222" cy="333628"/>
          </a:xfrm>
        </p:grpSpPr>
        <p:sp>
          <p:nvSpPr>
            <p:cNvPr id="29" name="제목 9">
              <a:extLst>
                <a:ext uri="{FF2B5EF4-FFF2-40B4-BE49-F238E27FC236}">
                  <a16:creationId xmlns:a16="http://schemas.microsoft.com/office/drawing/2014/main" id="{AA2874EF-55D0-F810-72D8-F14377783A04}"/>
                </a:ext>
              </a:extLst>
            </p:cNvPr>
            <p:cNvSpPr txBox="1">
              <a:spLocks/>
            </p:cNvSpPr>
            <p:nvPr/>
          </p:nvSpPr>
          <p:spPr>
            <a:xfrm>
              <a:off x="6885365" y="4496534"/>
              <a:ext cx="755940" cy="317996"/>
            </a:xfrm>
            <a:prstGeom prst="rect">
              <a:avLst/>
            </a:prstGeom>
            <a:noFill/>
            <a:ln w="9525" algn="ctr">
              <a:noFill/>
              <a:miter lim="800000"/>
              <a:headEnd/>
              <a:tailEnd/>
            </a:ln>
          </p:spPr>
          <p:txBody>
            <a:bodyPr wrap="none" lIns="95782" tIns="47891" rIns="95782" bIns="47891">
              <a:spAutoFit/>
            </a:bodyPr>
            <a:lstStyle>
              <a:defPPr>
                <a:defRPr lang="ko-KR"/>
              </a:defPPr>
              <a:lvl1pPr algn="l" defTabSz="957263">
                <a:defRPr sz="2000">
                  <a:solidFill>
                    <a:srgbClr val="000000"/>
                  </a:solidFill>
                  <a:latin typeface="LG스마트체 Bold" pitchFamily="50" charset="-127"/>
                  <a:ea typeface="LG스마트체 Bold" pitchFamily="50" charset="-127"/>
                  <a:cs typeface="Arial" charset="0"/>
                </a:defRPr>
              </a:lvl1pPr>
            </a:lstStyle>
            <a:p>
              <a:pPr marL="0" marR="0" lvl="0" indent="0" algn="ctr" defTabSz="957263" rtl="0" eaLnBrk="1" fontAlgn="base" latinLnBrk="1" hangingPunct="1">
                <a:lnSpc>
                  <a:spcPct val="120000"/>
                </a:lnSpc>
                <a:spcBef>
                  <a:spcPct val="0"/>
                </a:spcBef>
                <a:spcAft>
                  <a:spcPct val="0"/>
                </a:spcAft>
                <a:buClrTx/>
                <a:buSzTx/>
                <a:buFontTx/>
                <a:buNone/>
                <a:tabLst/>
                <a:defRPr/>
              </a:pPr>
              <a:r>
                <a:rPr kumimoji="1" lang="ko-KR" altLang="en-US" sz="1300" b="1" i="0" u="none" strike="noStrike" kern="1200" cap="none" spc="0" normalizeH="0" baseline="0" noProof="0">
                  <a:ln>
                    <a:noFill/>
                  </a:ln>
                  <a:solidFill>
                    <a:srgbClr val="000000"/>
                  </a:solidFill>
                  <a:effectLst/>
                  <a:uLnTx/>
                  <a:uFillTx/>
                  <a:latin typeface="Arial Narrow" panose="020B0606020202030204" pitchFamily="34" charset="0"/>
                  <a:ea typeface="LG스마트체 Regular" panose="020B0600000101010101" pitchFamily="50" charset="-127"/>
                  <a:cs typeface="Arial" charset="0"/>
                </a:rPr>
                <a:t>향후 계획</a:t>
              </a:r>
            </a:p>
          </p:txBody>
        </p:sp>
        <p:cxnSp>
          <p:nvCxnSpPr>
            <p:cNvPr id="30" name="직선 연결선 2">
              <a:extLst>
                <a:ext uri="{FF2B5EF4-FFF2-40B4-BE49-F238E27FC236}">
                  <a16:creationId xmlns:a16="http://schemas.microsoft.com/office/drawing/2014/main" id="{91649B81-C5E5-6E43-3A63-B0F89D985A3B}"/>
                </a:ext>
              </a:extLst>
            </p:cNvPr>
            <p:cNvCxnSpPr>
              <a:cxnSpLocks noChangeShapeType="1"/>
            </p:cNvCxnSpPr>
            <p:nvPr/>
          </p:nvCxnSpPr>
          <p:spPr bwMode="auto">
            <a:xfrm>
              <a:off x="5152724" y="4830162"/>
              <a:ext cx="4221222"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5" name="그룹 1">
            <a:extLst>
              <a:ext uri="{FF2B5EF4-FFF2-40B4-BE49-F238E27FC236}">
                <a16:creationId xmlns:a16="http://schemas.microsoft.com/office/drawing/2014/main" id="{0F22DD07-56A9-4D18-9FCA-686476AE5046}"/>
              </a:ext>
            </a:extLst>
          </p:cNvPr>
          <p:cNvGrpSpPr/>
          <p:nvPr/>
        </p:nvGrpSpPr>
        <p:grpSpPr>
          <a:xfrm>
            <a:off x="6590528" y="1578651"/>
            <a:ext cx="205184" cy="1177793"/>
            <a:chOff x="2020628" y="1123354"/>
            <a:chExt cx="205184" cy="7364846"/>
          </a:xfrm>
        </p:grpSpPr>
        <p:grpSp>
          <p:nvGrpSpPr>
            <p:cNvPr id="116" name="그룹 2">
              <a:extLst>
                <a:ext uri="{FF2B5EF4-FFF2-40B4-BE49-F238E27FC236}">
                  <a16:creationId xmlns:a16="http://schemas.microsoft.com/office/drawing/2014/main" id="{06579EF2-FFC8-4115-9C2B-54F05CED6CF4}"/>
                </a:ext>
              </a:extLst>
            </p:cNvPr>
            <p:cNvGrpSpPr/>
            <p:nvPr/>
          </p:nvGrpSpPr>
          <p:grpSpPr>
            <a:xfrm>
              <a:off x="2072680" y="1578060"/>
              <a:ext cx="120667" cy="6910140"/>
              <a:chOff x="4167960" y="2510051"/>
              <a:chExt cx="120667" cy="7163374"/>
            </a:xfrm>
          </p:grpSpPr>
          <p:cxnSp>
            <p:nvCxnSpPr>
              <p:cNvPr id="120" name="직선 연결선 167">
                <a:extLst>
                  <a:ext uri="{FF2B5EF4-FFF2-40B4-BE49-F238E27FC236}">
                    <a16:creationId xmlns:a16="http://schemas.microsoft.com/office/drawing/2014/main" id="{9669F816-FAB6-4DAF-9267-13C603DDE602}"/>
                  </a:ext>
                </a:extLst>
              </p:cNvPr>
              <p:cNvCxnSpPr>
                <a:cxnSpLocks/>
              </p:cNvCxnSpPr>
              <p:nvPr/>
            </p:nvCxnSpPr>
            <p:spPr>
              <a:xfrm>
                <a:off x="4228294" y="2685927"/>
                <a:ext cx="0" cy="6987498"/>
              </a:xfrm>
              <a:prstGeom prst="line">
                <a:avLst/>
              </a:prstGeom>
              <a:noFill/>
              <a:ln w="19050" cap="flat" cmpd="sng" algn="ctr">
                <a:solidFill>
                  <a:srgbClr val="FF0000"/>
                </a:solidFill>
                <a:prstDash val="sysDot"/>
              </a:ln>
              <a:effectLst/>
            </p:spPr>
          </p:cxnSp>
          <p:sp>
            <p:nvSpPr>
              <p:cNvPr id="121" name="이등변 삼각형 7">
                <a:extLst>
                  <a:ext uri="{FF2B5EF4-FFF2-40B4-BE49-F238E27FC236}">
                    <a16:creationId xmlns:a16="http://schemas.microsoft.com/office/drawing/2014/main" id="{A09B542C-B3CB-44C4-A4B8-7354EB814C56}"/>
                  </a:ext>
                </a:extLst>
              </p:cNvPr>
              <p:cNvSpPr/>
              <p:nvPr/>
            </p:nvSpPr>
            <p:spPr>
              <a:xfrm flipV="1">
                <a:off x="4167960" y="2510051"/>
                <a:ext cx="120667" cy="89074"/>
              </a:xfrm>
              <a:prstGeom prst="triangle">
                <a:avLst/>
              </a:prstGeom>
              <a:solidFill>
                <a:srgbClr val="FF0000"/>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ko-KR" altLang="en-US" sz="4000" b="0" i="0" u="none" strike="noStrike" kern="0" cap="none" spc="0" normalizeH="0" baseline="0" noProof="0">
                  <a:ln>
                    <a:noFill/>
                  </a:ln>
                  <a:solidFill>
                    <a:prstClr val="white"/>
                  </a:solidFill>
                  <a:effectLst/>
                  <a:uLnTx/>
                  <a:uFillTx/>
                  <a:latin typeface="LG스마트체 Regular" panose="020B0600000101010101" pitchFamily="50" charset="-127"/>
                  <a:ea typeface="LG스마트체 Regular" panose="020B0600000101010101" pitchFamily="50" charset="-127"/>
                </a:endParaRPr>
              </a:p>
            </p:txBody>
          </p:sp>
        </p:grpSp>
        <p:sp>
          <p:nvSpPr>
            <p:cNvPr id="119" name="Text Box 4">
              <a:extLst>
                <a:ext uri="{FF2B5EF4-FFF2-40B4-BE49-F238E27FC236}">
                  <a16:creationId xmlns:a16="http://schemas.microsoft.com/office/drawing/2014/main" id="{4A569193-A705-42EA-A7D3-A3B9DAAA588F}"/>
                </a:ext>
              </a:extLst>
            </p:cNvPr>
            <p:cNvSpPr txBox="1">
              <a:spLocks noChangeArrowheads="1"/>
            </p:cNvSpPr>
            <p:nvPr/>
          </p:nvSpPr>
          <p:spPr bwMode="auto">
            <a:xfrm>
              <a:off x="2020628" y="1123354"/>
              <a:ext cx="205184" cy="138501"/>
            </a:xfrm>
            <a:prstGeom prst="rect">
              <a:avLst/>
            </a:prstGeom>
            <a:noFill/>
            <a:ln w="9525">
              <a:noFill/>
              <a:miter lim="800000"/>
              <a:headEnd/>
              <a:tailEnd/>
            </a:ln>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rPr>
                <a:t>현재</a:t>
              </a:r>
              <a:endParaRPr kumimoji="0" lang="en-US" altLang="ko-KR" sz="900" b="0" i="0" u="none" strike="noStrike" kern="0" cap="none" spc="0" normalizeH="0" baseline="0" noProof="0">
                <a:ln>
                  <a:noFill/>
                </a:ln>
                <a:solidFill>
                  <a:srgbClr val="FF0000"/>
                </a:solidFill>
                <a:effectLst/>
                <a:uLnTx/>
                <a:uFillTx/>
                <a:latin typeface="Arial Narrow" panose="020B0606020202030204" pitchFamily="34" charset="0"/>
                <a:ea typeface="LG스마트체 Regular" panose="020B0600000101010101" pitchFamily="50" charset="-127"/>
                <a:cs typeface="Arial" charset="0"/>
              </a:endParaRPr>
            </a:p>
          </p:txBody>
        </p:sp>
      </p:grpSp>
      <p:sp>
        <p:nvSpPr>
          <p:cNvPr id="11" name="TextBox 10">
            <a:extLst>
              <a:ext uri="{FF2B5EF4-FFF2-40B4-BE49-F238E27FC236}">
                <a16:creationId xmlns:a16="http://schemas.microsoft.com/office/drawing/2014/main" id="{95627F90-C867-4121-A16A-E85DB109C823}"/>
              </a:ext>
            </a:extLst>
          </p:cNvPr>
          <p:cNvSpPr txBox="1"/>
          <p:nvPr/>
        </p:nvSpPr>
        <p:spPr>
          <a:xfrm>
            <a:off x="4088904" y="3322745"/>
            <a:ext cx="2639093" cy="415498"/>
          </a:xfrm>
          <a:prstGeom prst="rect">
            <a:avLst/>
          </a:prstGeom>
          <a:noFill/>
        </p:spPr>
        <p:txBody>
          <a:bodyPr wrap="square" rtlCol="0">
            <a:spAutoFit/>
          </a:bodyPr>
          <a:lstStyle/>
          <a:p>
            <a:r>
              <a:rPr lang="ko-KR" altLang="en-US" sz="1050" dirty="0" err="1">
                <a:solidFill>
                  <a:srgbClr val="006600"/>
                </a:solidFill>
                <a:latin typeface="Arial Narrow" panose="020B0606020202030204" pitchFamily="34" charset="0"/>
                <a:ea typeface="LG스마트체 Regular" panose="020B0600000101010101" pitchFamily="50" charset="-127"/>
              </a:rPr>
              <a:t>ㄴ자동차</a:t>
            </a:r>
            <a:r>
              <a:rPr lang="ko-KR" altLang="en-US" sz="1050" dirty="0">
                <a:solidFill>
                  <a:srgbClr val="006600"/>
                </a:solidFill>
                <a:latin typeface="Arial Narrow" panose="020B0606020202030204" pitchFamily="34" charset="0"/>
                <a:ea typeface="LG스마트체 Regular" panose="020B0600000101010101" pitchFamily="50" charset="-127"/>
              </a:rPr>
              <a:t> </a:t>
            </a:r>
            <a:r>
              <a:rPr lang="en-US" altLang="ko-KR" sz="1050" dirty="0">
                <a:solidFill>
                  <a:srgbClr val="006600"/>
                </a:solidFill>
                <a:latin typeface="Arial Narrow" panose="020B0606020202030204" pitchFamily="34" charset="0"/>
                <a:ea typeface="LG스마트체 Regular" panose="020B0600000101010101" pitchFamily="50" charset="-127"/>
              </a:rPr>
              <a:t>(3</a:t>
            </a:r>
            <a:r>
              <a:rPr lang="ko-KR" altLang="en-US" sz="1050" dirty="0">
                <a:solidFill>
                  <a:srgbClr val="006600"/>
                </a:solidFill>
                <a:latin typeface="Arial Narrow" panose="020B0606020202030204" pitchFamily="34" charset="0"/>
                <a:ea typeface="LG스마트체 Regular" panose="020B0600000101010101" pitchFamily="50" charset="-127"/>
              </a:rPr>
              <a:t>월</a:t>
            </a:r>
            <a:r>
              <a:rPr lang="en-US" altLang="ko-KR" sz="1050" dirty="0">
                <a:solidFill>
                  <a:srgbClr val="006600"/>
                </a:solidFill>
                <a:latin typeface="Arial Narrow" panose="020B0606020202030204" pitchFamily="34" charset="0"/>
                <a:ea typeface="LG스마트체 Regular" panose="020B0600000101010101" pitchFamily="50" charset="-127"/>
              </a:rPr>
              <a:t>),</a:t>
            </a:r>
            <a:br>
              <a:rPr lang="en-US" altLang="ko-KR" sz="1050" dirty="0">
                <a:solidFill>
                  <a:srgbClr val="006600"/>
                </a:solidFill>
                <a:latin typeface="Arial Narrow" panose="020B0606020202030204" pitchFamily="34" charset="0"/>
                <a:ea typeface="LG스마트체 Regular" panose="020B0600000101010101" pitchFamily="50" charset="-127"/>
              </a:rPr>
            </a:br>
            <a:r>
              <a:rPr lang="en-US" altLang="ko-KR" sz="1050" dirty="0">
                <a:solidFill>
                  <a:srgbClr val="006600"/>
                </a:solidFill>
                <a:latin typeface="Arial Narrow" panose="020B0606020202030204" pitchFamily="34" charset="0"/>
                <a:ea typeface="LG스마트체 Regular" panose="020B0600000101010101" pitchFamily="50" charset="-127"/>
              </a:rPr>
              <a:t>    ESS </a:t>
            </a:r>
            <a:r>
              <a:rPr lang="ko-KR" altLang="en-US" sz="1050" dirty="0">
                <a:solidFill>
                  <a:srgbClr val="006600"/>
                </a:solidFill>
                <a:latin typeface="Arial Narrow" panose="020B0606020202030204" pitchFamily="34" charset="0"/>
                <a:ea typeface="LG스마트체 Regular" panose="020B0600000101010101" pitchFamily="50" charset="-127"/>
              </a:rPr>
              <a:t>수평 전개 </a:t>
            </a:r>
            <a:r>
              <a:rPr lang="en-US" altLang="ko-KR" sz="1050" dirty="0">
                <a:solidFill>
                  <a:srgbClr val="006600"/>
                </a:solidFill>
                <a:latin typeface="Arial Narrow" panose="020B0606020202030204" pitchFamily="34" charset="0"/>
                <a:ea typeface="LG스마트체 Regular" panose="020B0600000101010101" pitchFamily="50" charset="-127"/>
              </a:rPr>
              <a:t>(4</a:t>
            </a:r>
            <a:r>
              <a:rPr lang="ko-KR" altLang="en-US" sz="1050" dirty="0">
                <a:solidFill>
                  <a:srgbClr val="006600"/>
                </a:solidFill>
                <a:latin typeface="Arial Narrow" panose="020B0606020202030204" pitchFamily="34" charset="0"/>
                <a:ea typeface="LG스마트체 Regular" panose="020B0600000101010101" pitchFamily="50" charset="-127"/>
              </a:rPr>
              <a:t>월</a:t>
            </a:r>
            <a:r>
              <a:rPr lang="en-US" altLang="ko-KR" sz="1050" dirty="0">
                <a:solidFill>
                  <a:srgbClr val="006600"/>
                </a:solidFill>
                <a:latin typeface="Arial Narrow" panose="020B0606020202030204" pitchFamily="34" charset="0"/>
                <a:ea typeface="LG스마트체 Regular" panose="020B0600000101010101" pitchFamily="50" charset="-127"/>
              </a:rPr>
              <a:t>)</a:t>
            </a:r>
            <a:endParaRPr lang="ko-KR" altLang="en-US" sz="1050" dirty="0">
              <a:solidFill>
                <a:srgbClr val="006600"/>
              </a:solidFill>
              <a:latin typeface="Arial Narrow" panose="020B0606020202030204" pitchFamily="34" charset="0"/>
              <a:ea typeface="LG스마트체 Regular" panose="020B0600000101010101" pitchFamily="50" charset="-127"/>
            </a:endParaRPr>
          </a:p>
        </p:txBody>
      </p:sp>
      <p:sp>
        <p:nvSpPr>
          <p:cNvPr id="12" name="TextBox 11">
            <a:extLst>
              <a:ext uri="{FF2B5EF4-FFF2-40B4-BE49-F238E27FC236}">
                <a16:creationId xmlns:a16="http://schemas.microsoft.com/office/drawing/2014/main" id="{1FE2A8BD-A1DE-B1FF-3DC2-920D438DEAFC}"/>
              </a:ext>
            </a:extLst>
          </p:cNvPr>
          <p:cNvSpPr txBox="1"/>
          <p:nvPr/>
        </p:nvSpPr>
        <p:spPr>
          <a:xfrm>
            <a:off x="4750612" y="6622748"/>
            <a:ext cx="404777"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- 6 / 6 - </a:t>
            </a:r>
          </a:p>
        </p:txBody>
      </p:sp>
      <p:sp>
        <p:nvSpPr>
          <p:cNvPr id="14" name="TextBox 13">
            <a:extLst>
              <a:ext uri="{FF2B5EF4-FFF2-40B4-BE49-F238E27FC236}">
                <a16:creationId xmlns:a16="http://schemas.microsoft.com/office/drawing/2014/main" id="{71FEAAF9-5242-3E1B-630F-1E8B6B28FB4E}"/>
              </a:ext>
            </a:extLst>
          </p:cNvPr>
          <p:cNvSpPr txBox="1"/>
          <p:nvPr/>
        </p:nvSpPr>
        <p:spPr>
          <a:xfrm>
            <a:off x="5296293" y="3818536"/>
            <a:ext cx="4553251" cy="1068947"/>
          </a:xfrm>
          <a:prstGeom prst="rect">
            <a:avLst/>
          </a:prstGeom>
          <a:noFill/>
        </p:spPr>
        <p:txBody>
          <a:bodyPr wrap="square" lIns="33231" rIns="33231" rtlCol="0">
            <a:spAutoFit/>
          </a:bodyPr>
          <a:lstStyle/>
          <a:p>
            <a:pPr marL="164127" lvl="0" indent="-164127" defTabSz="844083" fontAlgn="base">
              <a:lnSpc>
                <a:spcPct val="110000"/>
              </a:lnSpc>
              <a:spcAft>
                <a:spcPts val="600"/>
              </a:spcAft>
              <a:buSzPct val="85000"/>
              <a:buFont typeface="Wingdings" panose="05000000000000000000" pitchFamily="2" charset="2"/>
              <a:buChar char="q"/>
              <a:defRPr/>
            </a:pPr>
            <a:r>
              <a:rPr kumimoji="1" lang="en-US" altLang="ko-KR" sz="1200" b="1" dirty="0">
                <a:latin typeface="Arial Narrow" panose="020B0606020202030204" pitchFamily="34" charset="0"/>
                <a:ea typeface="LG스마트체 Regular" panose="020B0600000101010101" pitchFamily="50" charset="-127"/>
                <a:sym typeface="Wingdings" panose="05000000000000000000" pitchFamily="2" charset="2"/>
              </a:rPr>
              <a:t>ESS</a:t>
            </a:r>
            <a:r>
              <a:rPr kumimoji="1" lang="ko-KR" altLang="en-US" sz="1200" b="1" dirty="0">
                <a:latin typeface="Arial Narrow" panose="020B0606020202030204" pitchFamily="34" charset="0"/>
                <a:ea typeface="LG스마트체 Regular" panose="020B0600000101010101" pitchFamily="50" charset="-127"/>
                <a:sym typeface="Wingdings" panose="05000000000000000000" pitchFamily="2" charset="2"/>
              </a:rPr>
              <a:t> 절연저항 불량률 모니터링 </a:t>
            </a:r>
            <a:r>
              <a:rPr kumimoji="1" lang="en-US" altLang="ko-KR" sz="1200" b="1"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200" b="1" dirty="0">
                <a:latin typeface="Arial Narrow" panose="020B0606020202030204" pitchFamily="34" charset="0"/>
                <a:ea typeface="LG스마트체 Regular" panose="020B0600000101010101" pitchFamily="50" charset="-127"/>
                <a:sym typeface="Wingdings" panose="05000000000000000000" pitchFamily="2" charset="2"/>
              </a:rPr>
              <a:t>지속</a:t>
            </a:r>
            <a:r>
              <a:rPr kumimoji="1" lang="en-US" altLang="ko-KR" sz="1200" b="1" dirty="0">
                <a:latin typeface="Arial Narrow" panose="020B0606020202030204" pitchFamily="34" charset="0"/>
                <a:ea typeface="LG스마트체 Regular" panose="020B0600000101010101" pitchFamily="50" charset="-127"/>
                <a:sym typeface="Wingdings" panose="05000000000000000000" pitchFamily="2" charset="2"/>
              </a:rPr>
              <a:t>)</a:t>
            </a:r>
            <a:br>
              <a:rPr kumimoji="1" lang="en-US" altLang="ko-KR" sz="1200" b="1"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시스템 관리를 통한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PKG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치수 </a:t>
            </a:r>
            <a:r>
              <a:rPr kumimoji="1" lang="ko-KR" altLang="en-US" sz="1050" dirty="0" err="1">
                <a:latin typeface="Arial Narrow" panose="020B0606020202030204" pitchFamily="34" charset="0"/>
                <a:ea typeface="LG스마트체 Regular" panose="020B0600000101010101" pitchFamily="50" charset="-127"/>
                <a:sym typeface="Wingdings" panose="05000000000000000000" pitchFamily="2" charset="2"/>
              </a:rPr>
              <a:t>중심치</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 이탈 모니터링 체계 운영</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PKG / EOL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시간대 별 측정값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Trend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모니터링 </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Spec. Target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대비 측정값 이탈 수준 정량화  </a:t>
            </a:r>
            <a:endPar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endParaRPr>
          </a:p>
          <a:p>
            <a:pPr lvl="0" defTabSz="844083" fontAlgn="base">
              <a:lnSpc>
                <a:spcPct val="110000"/>
              </a:lnSpc>
              <a:spcAft>
                <a:spcPts val="600"/>
              </a:spcAft>
              <a:buSzPct val="85000"/>
              <a:defRPr/>
            </a:pP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불량 발생 근본 원인 분석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조립</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활성화 공정 연계</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endParaRPr lang="en-US" altLang="ko-KR" sz="1050" dirty="0">
              <a:latin typeface="Arial Narrow" panose="020B0606020202030204" pitchFamily="34" charset="0"/>
              <a:ea typeface="LG스마트체 Regular" panose="020B0600000101010101" pitchFamily="50" charset="-127"/>
              <a:sym typeface="Wingdings" panose="05000000000000000000" pitchFamily="2" charset="2"/>
            </a:endParaRPr>
          </a:p>
        </p:txBody>
      </p:sp>
      <p:sp>
        <p:nvSpPr>
          <p:cNvPr id="25" name="TextBox 24">
            <a:extLst>
              <a:ext uri="{FF2B5EF4-FFF2-40B4-BE49-F238E27FC236}">
                <a16:creationId xmlns:a16="http://schemas.microsoft.com/office/drawing/2014/main" id="{6B36D2E7-87E6-530A-1880-1634BFDA3155}"/>
              </a:ext>
            </a:extLst>
          </p:cNvPr>
          <p:cNvSpPr txBox="1"/>
          <p:nvPr/>
        </p:nvSpPr>
        <p:spPr>
          <a:xfrm>
            <a:off x="648506" y="3777862"/>
            <a:ext cx="4678868" cy="2819490"/>
          </a:xfrm>
          <a:prstGeom prst="rect">
            <a:avLst/>
          </a:prstGeom>
          <a:noFill/>
        </p:spPr>
        <p:txBody>
          <a:bodyPr wrap="square" lIns="33231" rIns="33231" rtlCol="0">
            <a:spAutoFit/>
          </a:bodyPr>
          <a:lstStyle/>
          <a:p>
            <a:pPr marL="164127" lvl="0" indent="-164127" defTabSz="844083" fontAlgn="base">
              <a:lnSpc>
                <a:spcPct val="120000"/>
              </a:lnSpc>
              <a:spcAft>
                <a:spcPts val="600"/>
              </a:spcAft>
              <a:buSzPct val="85000"/>
              <a:buFont typeface="Wingdings" panose="05000000000000000000" pitchFamily="2" charset="2"/>
              <a:buChar char="q"/>
              <a:defRPr/>
            </a:pPr>
            <a:r>
              <a:rPr kumimoji="0"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ESWA EOL </a:t>
            </a:r>
            <a:r>
              <a:rPr kumimoji="0" lang="ko-KR" altLang="en-US"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절연저항 경로 분석 기반 </a:t>
            </a:r>
            <a:r>
              <a:rPr lang="en-US" altLang="ko-KR" sz="1200" b="1" dirty="0">
                <a:latin typeface="Arial Narrow" panose="020B0606020202030204" pitchFamily="34" charset="0"/>
                <a:ea typeface="LG스마트체 Regular" panose="020B0600000101010101" pitchFamily="50" charset="-127"/>
              </a:rPr>
              <a:t>IP/PP</a:t>
            </a:r>
            <a:r>
              <a:rPr lang="ko-KR" altLang="en-US" sz="1200" b="1" dirty="0">
                <a:latin typeface="Arial Narrow" panose="020B0606020202030204" pitchFamily="34" charset="0"/>
                <a:ea typeface="LG스마트체 Regular" panose="020B0600000101010101" pitchFamily="50" charset="-127"/>
              </a:rPr>
              <a:t> 정합화 및 </a:t>
            </a:r>
            <a:r>
              <a:rPr kumimoji="0" lang="ko-KR" altLang="en-US"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이상 </a:t>
            </a:r>
            <a:r>
              <a:rPr kumimoji="0" lang="en-US" altLang="ko-KR" sz="1200" b="1"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Unit </a:t>
            </a:r>
            <a:r>
              <a:rPr lang="ko-KR" altLang="en-US" sz="1200" b="1" dirty="0">
                <a:latin typeface="Arial Narrow" panose="020B0606020202030204" pitchFamily="34" charset="0"/>
                <a:ea typeface="LG스마트체 Regular" panose="020B0600000101010101" pitchFamily="50" charset="-127"/>
              </a:rPr>
              <a:t>개선</a:t>
            </a:r>
            <a:br>
              <a:rPr lang="en-US" altLang="ko-KR" sz="1050" dirty="0">
                <a:latin typeface="Arial Narrow" panose="020B0606020202030204" pitchFamily="34" charset="0"/>
                <a:ea typeface="LG스마트체 Regular" panose="020B0600000101010101" pitchFamily="50" charset="-127"/>
              </a:rPr>
            </a:br>
            <a:r>
              <a:rPr lang="en-US" altLang="ko-KR" sz="1050" dirty="0">
                <a:latin typeface="Arial Narrow" panose="020B0606020202030204" pitchFamily="34" charset="0"/>
                <a:ea typeface="LG스마트체 Regular" panose="020B0600000101010101" pitchFamily="50" charset="-127"/>
              </a:rPr>
              <a:t>-</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자동차</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/ESS</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1</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월 </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0.40% → 8</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월 누적 </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0.10%</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로 </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75.5% </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개선</a:t>
            </a:r>
            <a:br>
              <a:rPr lang="en-US" altLang="ko-KR" sz="1050" dirty="0">
                <a:latin typeface="Arial Narrow" panose="020B0606020202030204" pitchFamily="34" charset="0"/>
                <a:ea typeface="LG스마트체 Regular" panose="020B0600000101010101" pitchFamily="50" charset="-127"/>
              </a:rPr>
            </a:br>
            <a:r>
              <a:rPr lang="en-US" altLang="ko-KR" sz="1050" dirty="0">
                <a:latin typeface="Arial Narrow" panose="020B0606020202030204" pitchFamily="34" charset="0"/>
                <a:ea typeface="LG스마트체 Regular" panose="020B0600000101010101" pitchFamily="50" charset="-127"/>
              </a:rPr>
              <a:t>. E77A </a:t>
            </a:r>
            <a:r>
              <a:rPr lang="ko-KR" altLang="en-US" sz="1050" dirty="0">
                <a:latin typeface="Arial Narrow" panose="020B0606020202030204" pitchFamily="34" charset="0"/>
                <a:ea typeface="LG스마트체 Regular" panose="020B0600000101010101" pitchFamily="50" charset="-127"/>
              </a:rPr>
              <a:t>경로 분석 기반 </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DGS</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인자 도출 및 개선 </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(2</a:t>
            </a:r>
            <a:r>
              <a:rPr kumimoji="0"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월</a:t>
            </a: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a:t>
            </a:r>
            <a:b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br>
            <a:r>
              <a:rPr kumimoji="0"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rPr>
              <a:t>   :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실링 온도</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압력</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챔버 이상</a:t>
            </a:r>
            <a:b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진공 유지시간 이상</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DGS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챔버 상단 오링 교체</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(7</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월</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b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DGS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핵심 인자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FDC </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적용 및 운영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조립 </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FDC</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a:t>
            </a: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b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1050" b="0" i="0" u="none" strike="noStrike" kern="1200" cap="none" spc="0" normalizeH="0" baseline="0" noProof="0" dirty="0" err="1">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메인실링</a:t>
            </a:r>
            <a:r>
              <a:rPr kumimoji="1" lang="ko-KR" altLang="en-US" sz="105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온도</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ko-KR" altLang="en-US" sz="1050" dirty="0" err="1">
                <a:latin typeface="Arial Narrow" panose="020B0606020202030204" pitchFamily="34" charset="0"/>
                <a:ea typeface="LG스마트체 Regular" panose="020B0600000101010101" pitchFamily="50" charset="-127"/>
                <a:sym typeface="Wingdings" panose="05000000000000000000" pitchFamily="2" charset="2"/>
              </a:rPr>
              <a:t>진공도달시간</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진공유지시간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(4</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진공 프로파일</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적용 검토 중</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5~6</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JF2S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분리막 접힘</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err="1">
                <a:latin typeface="Arial Narrow" panose="020B0606020202030204" pitchFamily="34" charset="0"/>
                <a:ea typeface="LG스마트체 Regular" panose="020B0600000101010101" pitchFamily="50" charset="-127"/>
                <a:sym typeface="Wingdings" panose="05000000000000000000" pitchFamily="2" charset="2"/>
              </a:rPr>
              <a:t>저전압</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 품질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Issue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투입 기인 불량률 증가</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JF2S DGS </a:t>
            </a:r>
            <a:r>
              <a:rPr kumimoji="1" lang="ko-KR" altLang="en-US" sz="1050" dirty="0" err="1">
                <a:latin typeface="Arial Narrow" panose="020B0606020202030204" pitchFamily="34" charset="0"/>
                <a:ea typeface="LG스마트체 Regular" panose="020B0600000101010101" pitchFamily="50" charset="-127"/>
                <a:sym typeface="Wingdings" panose="05000000000000000000" pitchFamily="2" charset="2"/>
              </a:rPr>
              <a:t>메인실링</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Tool Gap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밸런스 조정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(5</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6</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JF1 PKG Cell </a:t>
            </a:r>
            <a:r>
              <a:rPr kumimoji="1" lang="en-US" altLang="ko-KR" sz="1050" dirty="0" err="1">
                <a:latin typeface="Arial Narrow" panose="020B0606020202030204" pitchFamily="34" charset="0"/>
                <a:ea typeface="LG스마트체 Regular" panose="020B0600000101010101" pitchFamily="50" charset="-127"/>
                <a:sym typeface="Wingdings" panose="05000000000000000000" pitchFamily="2" charset="2"/>
              </a:rPr>
              <a:t>Ass’y</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B unit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불량률 증가</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Cell </a:t>
            </a:r>
            <a:r>
              <a:rPr kumimoji="1" lang="en-US" altLang="ko-KR" sz="1050" dirty="0" err="1">
                <a:latin typeface="Arial Narrow" panose="020B0606020202030204" pitchFamily="34" charset="0"/>
                <a:ea typeface="LG스마트체 Regular" panose="020B0600000101010101" pitchFamily="50" charset="-127"/>
                <a:sym typeface="Wingdings" panose="05000000000000000000" pitchFamily="2" charset="2"/>
              </a:rPr>
              <a:t>Ass’y</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B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실링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Unit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 조건</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(Groove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위치</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형상 등</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 정합화 적용</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(6</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7</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PKG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설비 간 불량률 및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PV</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비교</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분석</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리드 위치 재조정</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(7</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 8</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JF1 PKG Cell </a:t>
            </a:r>
            <a:r>
              <a:rPr kumimoji="1" lang="en-US" altLang="ko-KR" sz="1050" dirty="0" err="1">
                <a:latin typeface="Arial Narrow" panose="020B0606020202030204" pitchFamily="34" charset="0"/>
                <a:ea typeface="LG스마트체 Regular" panose="020B0600000101010101" pitchFamily="50" charset="-127"/>
                <a:sym typeface="Wingdings" panose="05000000000000000000" pitchFamily="2" charset="2"/>
              </a:rPr>
              <a:t>Ass’y</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 unit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불량률 증가</a:t>
            </a:r>
            <a:b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b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Cell </a:t>
            </a:r>
            <a:r>
              <a:rPr kumimoji="1" lang="en-US" altLang="ko-KR" sz="1050" dirty="0" err="1">
                <a:latin typeface="Arial Narrow" panose="020B0606020202030204" pitchFamily="34" charset="0"/>
                <a:ea typeface="LG스마트체 Regular" panose="020B0600000101010101" pitchFamily="50" charset="-127"/>
                <a:sym typeface="Wingdings" panose="05000000000000000000" pitchFamily="2" charset="2"/>
              </a:rPr>
              <a:t>Ass’y</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 A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실링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Unit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상</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하부 </a:t>
            </a:r>
            <a:r>
              <a:rPr kumimoji="1" lang="ko-KR" altLang="en-US" sz="1050" dirty="0" err="1">
                <a:latin typeface="Arial Narrow" panose="020B0606020202030204" pitchFamily="34" charset="0"/>
                <a:ea typeface="LG스마트체 Regular" panose="020B0600000101010101" pitchFamily="50" charset="-127"/>
                <a:sym typeface="Wingdings" panose="05000000000000000000" pitchFamily="2" charset="2"/>
              </a:rPr>
              <a:t>실링툴</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 미스매치로 </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Unit </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교체 및 재조정</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(8</a:t>
            </a:r>
            <a:r>
              <a:rPr kumimoji="1" lang="ko-KR" altLang="en-US" sz="1050" dirty="0">
                <a:latin typeface="Arial Narrow" panose="020B0606020202030204" pitchFamily="34" charset="0"/>
                <a:ea typeface="LG스마트체 Regular" panose="020B0600000101010101" pitchFamily="50" charset="-127"/>
                <a:sym typeface="Wingdings" panose="05000000000000000000" pitchFamily="2" charset="2"/>
              </a:rPr>
              <a:t>월</a:t>
            </a:r>
            <a:r>
              <a:rPr kumimoji="1" lang="en-US" altLang="ko-KR" sz="1050" dirty="0">
                <a:latin typeface="Arial Narrow" panose="020B0606020202030204" pitchFamily="34" charset="0"/>
                <a:ea typeface="LG스마트체 Regular" panose="020B0600000101010101" pitchFamily="50" charset="-127"/>
                <a:sym typeface="Wingdings" panose="05000000000000000000" pitchFamily="2" charset="2"/>
              </a:rPr>
              <a:t>)</a:t>
            </a:r>
          </a:p>
        </p:txBody>
      </p:sp>
      <p:sp>
        <p:nvSpPr>
          <p:cNvPr id="36" name="TextBox 35">
            <a:extLst>
              <a:ext uri="{FF2B5EF4-FFF2-40B4-BE49-F238E27FC236}">
                <a16:creationId xmlns:a16="http://schemas.microsoft.com/office/drawing/2014/main" id="{F833CF70-1C54-8A78-69D7-C19737FC7034}"/>
              </a:ext>
            </a:extLst>
          </p:cNvPr>
          <p:cNvSpPr txBox="1"/>
          <p:nvPr/>
        </p:nvSpPr>
        <p:spPr>
          <a:xfrm>
            <a:off x="-1553497" y="3726426"/>
            <a:ext cx="184731" cy="369332"/>
          </a:xfrm>
          <a:prstGeom prst="rect">
            <a:avLst/>
          </a:prstGeom>
          <a:noFill/>
        </p:spPr>
        <p:txBody>
          <a:bodyPr wrap="none" rtlCol="0">
            <a:spAutoFit/>
          </a:bodyPr>
          <a:lstStyle/>
          <a:p>
            <a:endParaRPr lang="ko-KR" altLang="en-US" dirty="0"/>
          </a:p>
        </p:txBody>
      </p:sp>
      <p:graphicFrame>
        <p:nvGraphicFramePr>
          <p:cNvPr id="55" name="표 54">
            <a:extLst>
              <a:ext uri="{FF2B5EF4-FFF2-40B4-BE49-F238E27FC236}">
                <a16:creationId xmlns:a16="http://schemas.microsoft.com/office/drawing/2014/main" id="{87F5D74E-F9E2-3C38-B8EA-2C6A74D72236}"/>
              </a:ext>
            </a:extLst>
          </p:cNvPr>
          <p:cNvGraphicFramePr>
            <a:graphicFrameLocks noGrp="1"/>
          </p:cNvGraphicFramePr>
          <p:nvPr/>
        </p:nvGraphicFramePr>
        <p:xfrm>
          <a:off x="10164561" y="1240348"/>
          <a:ext cx="3048000" cy="1704975"/>
        </p:xfrm>
        <a:graphic>
          <a:graphicData uri="http://schemas.openxmlformats.org/drawingml/2006/table">
            <a:tbl>
              <a:tblPr/>
              <a:tblGrid>
                <a:gridCol w="508000">
                  <a:extLst>
                    <a:ext uri="{9D8B030D-6E8A-4147-A177-3AD203B41FA5}">
                      <a16:colId xmlns:a16="http://schemas.microsoft.com/office/drawing/2014/main" val="3480382758"/>
                    </a:ext>
                  </a:extLst>
                </a:gridCol>
                <a:gridCol w="508000">
                  <a:extLst>
                    <a:ext uri="{9D8B030D-6E8A-4147-A177-3AD203B41FA5}">
                      <a16:colId xmlns:a16="http://schemas.microsoft.com/office/drawing/2014/main" val="1379978388"/>
                    </a:ext>
                  </a:extLst>
                </a:gridCol>
                <a:gridCol w="508000">
                  <a:extLst>
                    <a:ext uri="{9D8B030D-6E8A-4147-A177-3AD203B41FA5}">
                      <a16:colId xmlns:a16="http://schemas.microsoft.com/office/drawing/2014/main" val="337734442"/>
                    </a:ext>
                  </a:extLst>
                </a:gridCol>
                <a:gridCol w="508000">
                  <a:extLst>
                    <a:ext uri="{9D8B030D-6E8A-4147-A177-3AD203B41FA5}">
                      <a16:colId xmlns:a16="http://schemas.microsoft.com/office/drawing/2014/main" val="4177446713"/>
                    </a:ext>
                  </a:extLst>
                </a:gridCol>
                <a:gridCol w="508000">
                  <a:extLst>
                    <a:ext uri="{9D8B030D-6E8A-4147-A177-3AD203B41FA5}">
                      <a16:colId xmlns:a16="http://schemas.microsoft.com/office/drawing/2014/main" val="3977514295"/>
                    </a:ext>
                  </a:extLst>
                </a:gridCol>
                <a:gridCol w="508000">
                  <a:extLst>
                    <a:ext uri="{9D8B030D-6E8A-4147-A177-3AD203B41FA5}">
                      <a16:colId xmlns:a16="http://schemas.microsoft.com/office/drawing/2014/main" val="2078243625"/>
                    </a:ext>
                  </a:extLst>
                </a:gridCol>
              </a:tblGrid>
              <a:tr h="209550">
                <a:tc rowSpan="3">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gridSpan="4">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절연저항 불량율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rowSpan="3">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개선율</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66218296"/>
                  </a:ext>
                </a:extLst>
              </a:tr>
              <a:tr h="209550">
                <a:tc vMerge="1">
                  <a:txBody>
                    <a:bodyPr/>
                    <a:lstStyle/>
                    <a:p>
                      <a:pPr latinLnBrk="1"/>
                      <a:endParaRPr lang="ko-KR" altLang="en-US"/>
                    </a:p>
                  </a:txBody>
                  <a:tcPr/>
                </a:tc>
                <a:tc gridSpan="2">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rowSpan="2">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rowSpan="2">
                  <a:txBody>
                    <a:bodyPr/>
                    <a:lstStyle/>
                    <a:p>
                      <a:pPr algn="ctr" rtl="0" fontAlgn="ctr">
                        <a:buNone/>
                      </a:pPr>
                      <a:r>
                        <a:rPr 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연간 누적</a:t>
                      </a:r>
                      <a:b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br>
                      <a: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(2</a:t>
                      </a:r>
                      <a:r>
                        <a:rPr lang="ko-KR" altLang="en-US" sz="800" b="1" i="0" u="none" strike="noStrike" dirty="0">
                          <a:solidFill>
                            <a:srgbClr val="000000"/>
                          </a:solidFill>
                          <a:effectLst/>
                          <a:latin typeface="LG스마트체 Regular" panose="020B0600000101010101" pitchFamily="50" charset="-127"/>
                          <a:ea typeface="LG스마트체 Regular" panose="020B0600000101010101" pitchFamily="50" charset="-127"/>
                        </a:rPr>
                        <a:t>월</a:t>
                      </a:r>
                      <a: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~8</a:t>
                      </a:r>
                      <a:r>
                        <a:rPr lang="ko-KR" altLang="en-US" sz="800" b="1" i="0" u="none" strike="noStrike" dirty="0">
                          <a:solidFill>
                            <a:srgbClr val="000000"/>
                          </a:solidFill>
                          <a:effectLst/>
                          <a:latin typeface="LG스마트체 Regular" panose="020B0600000101010101" pitchFamily="50" charset="-127"/>
                          <a:ea typeface="LG스마트체 Regular" panose="020B0600000101010101" pitchFamily="50" charset="-127"/>
                        </a:rPr>
                        <a:t>월</a:t>
                      </a:r>
                      <a: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a:t>
                      </a:r>
                      <a:endParaRPr lang="ko-KR" sz="800" b="1" i="0" u="none" strike="noStrike" dirty="0">
                        <a:solidFill>
                          <a:srgbClr val="000000"/>
                        </a:solidFill>
                        <a:effectLst/>
                        <a:latin typeface="LG스마트체 Regular" panose="020B0600000101010101" pitchFamily="50" charset="-127"/>
                        <a:ea typeface="LG스마트체 Regular" panose="020B0600000101010101"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vMerge="1">
                  <a:txBody>
                    <a:bodyPr/>
                    <a:lstStyle/>
                    <a:p>
                      <a:pPr latinLnBrk="1"/>
                      <a:endParaRPr lang="ko-KR" altLang="en-US"/>
                    </a:p>
                  </a:txBody>
                  <a:tcPr/>
                </a:tc>
                <a:extLst>
                  <a:ext uri="{0D108BD9-81ED-4DB2-BD59-A6C34878D82A}">
                    <a16:rowId xmlns:a16="http://schemas.microsoft.com/office/drawing/2014/main" val="1456096364"/>
                  </a:ext>
                </a:extLst>
              </a:tr>
              <a:tr h="142875">
                <a:tc vMerge="1">
                  <a:txBody>
                    <a:bodyPr/>
                    <a:lstStyle/>
                    <a:p>
                      <a:pPr latinLnBrk="1"/>
                      <a:endParaRPr lang="ko-KR" altLang="en-US"/>
                    </a:p>
                  </a:txBody>
                  <a:tcPr/>
                </a:tc>
                <a:tc>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자동차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3080154886"/>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1월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94790321"/>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2월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17.50%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37536201"/>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3월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49.50%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411090669"/>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4월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62.25%</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15484149"/>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5월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69.25%</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924564066"/>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6월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72.00%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60613487"/>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7월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76.00%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34398834"/>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8월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dirty="0">
                          <a:solidFill>
                            <a:srgbClr val="000000"/>
                          </a:solidFill>
                          <a:effectLst/>
                          <a:latin typeface="LG스마트체 Regular" panose="020B0600000101010101" pitchFamily="50" charset="-127"/>
                          <a:ea typeface="LG스마트체 Regular" panose="020B0600000101010101"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dirty="0">
                          <a:solidFill>
                            <a:srgbClr val="000000"/>
                          </a:solidFill>
                          <a:effectLst/>
                          <a:latin typeface="LG스마트체 Regular" panose="020B0600000101010101" pitchFamily="50" charset="-127"/>
                          <a:ea typeface="LG스마트체 Regular" panose="020B0600000101010101" pitchFamily="50" charset="-127"/>
                        </a:rPr>
                        <a:t>75.50%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0419013"/>
                  </a:ext>
                </a:extLst>
              </a:tr>
            </a:tbl>
          </a:graphicData>
        </a:graphic>
      </p:graphicFrame>
      <p:graphicFrame>
        <p:nvGraphicFramePr>
          <p:cNvPr id="57" name="표 56">
            <a:extLst>
              <a:ext uri="{FF2B5EF4-FFF2-40B4-BE49-F238E27FC236}">
                <a16:creationId xmlns:a16="http://schemas.microsoft.com/office/drawing/2014/main" id="{D6883049-D60F-AF73-BC11-C4589857FBBA}"/>
              </a:ext>
            </a:extLst>
          </p:cNvPr>
          <p:cNvGraphicFramePr>
            <a:graphicFrameLocks noGrp="1"/>
          </p:cNvGraphicFramePr>
          <p:nvPr>
            <p:extLst>
              <p:ext uri="{D42A27DB-BD31-4B8C-83A1-F6EECF244321}">
                <p14:modId xmlns:p14="http://schemas.microsoft.com/office/powerpoint/2010/main" val="4114148633"/>
              </p:ext>
            </p:extLst>
          </p:nvPr>
        </p:nvGraphicFramePr>
        <p:xfrm>
          <a:off x="10164561" y="3166743"/>
          <a:ext cx="3048000" cy="1143000"/>
        </p:xfrm>
        <a:graphic>
          <a:graphicData uri="http://schemas.openxmlformats.org/drawingml/2006/table">
            <a:tbl>
              <a:tblPr/>
              <a:tblGrid>
                <a:gridCol w="508000">
                  <a:extLst>
                    <a:ext uri="{9D8B030D-6E8A-4147-A177-3AD203B41FA5}">
                      <a16:colId xmlns:a16="http://schemas.microsoft.com/office/drawing/2014/main" val="601106116"/>
                    </a:ext>
                  </a:extLst>
                </a:gridCol>
                <a:gridCol w="508000">
                  <a:extLst>
                    <a:ext uri="{9D8B030D-6E8A-4147-A177-3AD203B41FA5}">
                      <a16:colId xmlns:a16="http://schemas.microsoft.com/office/drawing/2014/main" val="432089752"/>
                    </a:ext>
                  </a:extLst>
                </a:gridCol>
                <a:gridCol w="508000">
                  <a:extLst>
                    <a:ext uri="{9D8B030D-6E8A-4147-A177-3AD203B41FA5}">
                      <a16:colId xmlns:a16="http://schemas.microsoft.com/office/drawing/2014/main" val="2595166224"/>
                    </a:ext>
                  </a:extLst>
                </a:gridCol>
                <a:gridCol w="508000">
                  <a:extLst>
                    <a:ext uri="{9D8B030D-6E8A-4147-A177-3AD203B41FA5}">
                      <a16:colId xmlns:a16="http://schemas.microsoft.com/office/drawing/2014/main" val="2471979398"/>
                    </a:ext>
                  </a:extLst>
                </a:gridCol>
                <a:gridCol w="508000">
                  <a:extLst>
                    <a:ext uri="{9D8B030D-6E8A-4147-A177-3AD203B41FA5}">
                      <a16:colId xmlns:a16="http://schemas.microsoft.com/office/drawing/2014/main" val="3697927199"/>
                    </a:ext>
                  </a:extLst>
                </a:gridCol>
                <a:gridCol w="508000">
                  <a:extLst>
                    <a:ext uri="{9D8B030D-6E8A-4147-A177-3AD203B41FA5}">
                      <a16:colId xmlns:a16="http://schemas.microsoft.com/office/drawing/2014/main" val="1949679523"/>
                    </a:ext>
                  </a:extLst>
                </a:gridCol>
              </a:tblGrid>
              <a:tr h="142875">
                <a:tc rowSpan="3">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2F2F2"/>
                    </a:solidFill>
                  </a:tcPr>
                </a:tc>
                <a:tc gridSpan="4">
                  <a:txBody>
                    <a:bodyPr/>
                    <a:lstStyle/>
                    <a:p>
                      <a:pPr algn="ctr" rtl="0" fontAlgn="ctr">
                        <a:buNone/>
                      </a:pPr>
                      <a:r>
                        <a:rPr lang="ko-KR" sz="800" b="1" i="0" u="none" strike="noStrike" dirty="0" err="1">
                          <a:solidFill>
                            <a:srgbClr val="000000"/>
                          </a:solidFill>
                          <a:effectLst/>
                          <a:latin typeface="LG스마트체 Regular" panose="020B0600000101010101" pitchFamily="50" charset="-127"/>
                          <a:ea typeface="LG스마트체 Regular" panose="020B0600000101010101" pitchFamily="50" charset="-127"/>
                        </a:rPr>
                        <a:t>공정Loss</a:t>
                      </a:r>
                      <a:endParaRPr lang="ko-KR" sz="800" b="1" i="0" u="none" strike="noStrike" dirty="0">
                        <a:solidFill>
                          <a:srgbClr val="000000"/>
                        </a:solidFill>
                        <a:effectLst/>
                        <a:latin typeface="LG스마트체 Regular" panose="020B0600000101010101" pitchFamily="50" charset="-127"/>
                        <a:ea typeface="LG스마트체 Regular" panose="020B0600000101010101"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rowSpan="3">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개선율</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2F2F2"/>
                    </a:solidFill>
                  </a:tcPr>
                </a:tc>
                <a:extLst>
                  <a:ext uri="{0D108BD9-81ED-4DB2-BD59-A6C34878D82A}">
                    <a16:rowId xmlns:a16="http://schemas.microsoft.com/office/drawing/2014/main" val="3063805227"/>
                  </a:ext>
                </a:extLst>
              </a:tr>
              <a:tr h="142875">
                <a:tc vMerge="1">
                  <a:txBody>
                    <a:bodyPr/>
                    <a:lstStyle/>
                    <a:p>
                      <a:pPr latinLnBrk="1"/>
                      <a:endParaRPr lang="ko-KR" altLang="en-US"/>
                    </a:p>
                  </a:txBody>
                  <a:tcPr/>
                </a:tc>
                <a:tc gridSpan="2">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rowSpan="2">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Total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2F2F2"/>
                    </a:solidFill>
                  </a:tcPr>
                </a:tc>
                <a:tc rowSpan="2">
                  <a:txBody>
                    <a:bodyPr/>
                    <a:lstStyle/>
                    <a:p>
                      <a:pPr algn="ctr" rtl="0" fontAlgn="ctr">
                        <a:buNone/>
                      </a:pPr>
                      <a:r>
                        <a:rPr 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연간 누적</a:t>
                      </a:r>
                      <a:endPar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endParaRPr>
                    </a:p>
                    <a:p>
                      <a:pPr algn="ctr" rtl="0" fontAlgn="ctr">
                        <a:buNone/>
                      </a:pPr>
                      <a: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(5</a:t>
                      </a:r>
                      <a:r>
                        <a:rPr lang="ko-KR" altLang="en-US" sz="800" b="1" i="0" u="none" strike="noStrike" dirty="0">
                          <a:solidFill>
                            <a:srgbClr val="000000"/>
                          </a:solidFill>
                          <a:effectLst/>
                          <a:latin typeface="LG스마트체 Regular" panose="020B0600000101010101" pitchFamily="50" charset="-127"/>
                          <a:ea typeface="LG스마트체 Regular" panose="020B0600000101010101" pitchFamily="50" charset="-127"/>
                        </a:rPr>
                        <a:t>월</a:t>
                      </a:r>
                      <a: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~8</a:t>
                      </a:r>
                      <a:r>
                        <a:rPr lang="ko-KR" altLang="en-US" sz="800" b="1" i="0" u="none" strike="noStrike" dirty="0">
                          <a:solidFill>
                            <a:srgbClr val="000000"/>
                          </a:solidFill>
                          <a:effectLst/>
                          <a:latin typeface="LG스마트체 Regular" panose="020B0600000101010101" pitchFamily="50" charset="-127"/>
                          <a:ea typeface="LG스마트체 Regular" panose="020B0600000101010101" pitchFamily="50" charset="-127"/>
                        </a:rPr>
                        <a:t>월</a:t>
                      </a:r>
                      <a:r>
                        <a:rPr lang="en-US" altLang="ko-KR" sz="800" b="1" i="0" u="none" strike="noStrike" dirty="0">
                          <a:solidFill>
                            <a:srgbClr val="000000"/>
                          </a:solidFill>
                          <a:effectLst/>
                          <a:latin typeface="LG스마트체 Regular" panose="020B0600000101010101" pitchFamily="50" charset="-127"/>
                          <a:ea typeface="LG스마트체 Regular" panose="020B0600000101010101" pitchFamily="50" charset="-127"/>
                        </a:rPr>
                        <a:t>)</a:t>
                      </a:r>
                      <a:endParaRPr lang="ko-KR" sz="800" b="1" i="0" u="none" strike="noStrike" dirty="0">
                        <a:solidFill>
                          <a:srgbClr val="000000"/>
                        </a:solidFill>
                        <a:effectLst/>
                        <a:latin typeface="LG스마트체 Regular" panose="020B0600000101010101" pitchFamily="50" charset="-127"/>
                        <a:ea typeface="LG스마트체 Regular" panose="020B0600000101010101"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2F2F2"/>
                    </a:solidFill>
                  </a:tcPr>
                </a:tc>
                <a:tc vMerge="1">
                  <a:txBody>
                    <a:bodyPr/>
                    <a:lstStyle/>
                    <a:p>
                      <a:pPr latinLnBrk="1"/>
                      <a:endParaRPr lang="ko-KR" altLang="en-US"/>
                    </a:p>
                  </a:txBody>
                  <a:tcPr/>
                </a:tc>
                <a:extLst>
                  <a:ext uri="{0D108BD9-81ED-4DB2-BD59-A6C34878D82A}">
                    <a16:rowId xmlns:a16="http://schemas.microsoft.com/office/drawing/2014/main" val="2008352583"/>
                  </a:ext>
                </a:extLst>
              </a:tr>
              <a:tr h="142875">
                <a:tc vMerge="1">
                  <a:txBody>
                    <a:bodyPr/>
                    <a:lstStyle/>
                    <a:p>
                      <a:pPr latinLnBrk="1"/>
                      <a:endParaRPr lang="ko-KR" altLang="en-US"/>
                    </a:p>
                  </a:txBody>
                  <a:tcPr/>
                </a:tc>
                <a:tc>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자동차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2F2F2"/>
                    </a:solidFill>
                  </a:tcPr>
                </a:tc>
                <a:tc>
                  <a:txBody>
                    <a:bodyPr/>
                    <a:lstStyle/>
                    <a:p>
                      <a:pPr algn="ctr" rtl="0" fontAlgn="ctr">
                        <a:buNone/>
                      </a:pPr>
                      <a:r>
                        <a:rPr lang="ko-KR" sz="800" b="1" i="0" u="none" strike="noStrike">
                          <a:solidFill>
                            <a:srgbClr val="000000"/>
                          </a:solidFill>
                          <a:effectLst/>
                          <a:latin typeface="LG스마트체 Regular" panose="020B0600000101010101" pitchFamily="50" charset="-127"/>
                          <a:ea typeface="LG스마트체 Regular" panose="020B0600000101010101" pitchFamily="50" charset="-127"/>
                        </a:rPr>
                        <a:t>ESS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2F2F2"/>
                    </a:solidFill>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670610757"/>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4월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100.00%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52546595"/>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5월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57.55%</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621532179"/>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6월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35.85%</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71794371"/>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7월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0.102%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28.30%</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61589470"/>
                  </a:ext>
                </a:extLst>
              </a:tr>
              <a:tr h="142875">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8월</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a:solidFill>
                            <a:srgbClr val="000000"/>
                          </a:solidFill>
                          <a:effectLst/>
                          <a:latin typeface="LG스마트체 Regular" panose="020B0600000101010101" pitchFamily="50" charset="-127"/>
                          <a:ea typeface="LG스마트체 Regular" panose="020B0600000101010101" pitchFamily="50" charset="-127"/>
                        </a:rPr>
                        <a:t>0.077%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ko-KR" sz="800" b="0" i="0" u="none" strike="noStrike" dirty="0">
                          <a:solidFill>
                            <a:srgbClr val="000000"/>
                          </a:solidFill>
                          <a:effectLst/>
                          <a:latin typeface="LG스마트체 Regular" panose="020B0600000101010101" pitchFamily="50" charset="-127"/>
                          <a:ea typeface="LG스마트체 Regular" panose="020B0600000101010101" pitchFamily="50" charset="-127"/>
                        </a:rPr>
                        <a:t>27.36%</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3855513"/>
                  </a:ext>
                </a:extLst>
              </a:tr>
            </a:tbl>
          </a:graphicData>
        </a:graphic>
      </p:graphicFrame>
      <p:sp>
        <p:nvSpPr>
          <p:cNvPr id="6" name="TextBox 5">
            <a:extLst>
              <a:ext uri="{FF2B5EF4-FFF2-40B4-BE49-F238E27FC236}">
                <a16:creationId xmlns:a16="http://schemas.microsoft.com/office/drawing/2014/main" id="{258226F2-554D-F8F9-48DC-4DF5A567459B}"/>
              </a:ext>
            </a:extLst>
          </p:cNvPr>
          <p:cNvSpPr txBox="1"/>
          <p:nvPr/>
        </p:nvSpPr>
        <p:spPr>
          <a:xfrm>
            <a:off x="10164561" y="4353009"/>
            <a:ext cx="1933790" cy="195814"/>
          </a:xfrm>
          <a:prstGeom prst="rect">
            <a:avLst/>
          </a:prstGeom>
          <a:noFill/>
          <a:ln w="6350">
            <a:noFill/>
          </a:ln>
        </p:spPr>
        <p:txBody>
          <a:bodyPr wrap="none" lIns="36000" tIns="36000" rIns="36000" bIns="36000" rtlCol="0" anchor="t" anchorCtr="0">
            <a:spAutoFit/>
          </a:bodyPr>
          <a:lstStyle/>
          <a:p>
            <a:pPr marL="0" marR="0" lvl="0" indent="0" defTabSz="914400" rtl="0" eaLnBrk="1" fontAlgn="auto" latinLnBrk="1" hangingPunct="1">
              <a:lnSpc>
                <a:spcPct val="100000"/>
              </a:lnSpc>
              <a:spcBef>
                <a:spcPts val="0"/>
              </a:spcBef>
              <a:spcAft>
                <a:spcPts val="0"/>
              </a:spcAft>
              <a:buClrTx/>
              <a:buSzTx/>
              <a:buFontTx/>
              <a:buNone/>
              <a:tabLst/>
              <a:defRPr/>
            </a:pPr>
            <a:r>
              <a:rPr kumimoji="0" lang="en-US" altLang="ko-KR" sz="800" kern="0" dirty="0">
                <a:solidFill>
                  <a:prstClr val="black"/>
                </a:solidFill>
                <a:latin typeface="Arial Narrow"/>
                <a:ea typeface="LG스마트체 Regular"/>
                <a:sym typeface="Wingdings"/>
              </a:rPr>
              <a:t>E77,</a:t>
            </a:r>
            <a:r>
              <a:rPr kumimoji="0" lang="ko-KR" altLang="en-US" sz="800" kern="0" dirty="0">
                <a:solidFill>
                  <a:prstClr val="black"/>
                </a:solidFill>
                <a:latin typeface="Arial Narrow"/>
                <a:ea typeface="LG스마트체 Regular"/>
                <a:sym typeface="Wingdings"/>
              </a:rPr>
              <a:t> </a:t>
            </a:r>
            <a:r>
              <a:rPr kumimoji="0" lang="en-US" altLang="ko-KR" sz="800" kern="0" dirty="0">
                <a:solidFill>
                  <a:prstClr val="black"/>
                </a:solidFill>
                <a:latin typeface="Arial Narrow"/>
                <a:ea typeface="LG스마트체 Regular"/>
                <a:sym typeface="Wingdings"/>
              </a:rPr>
              <a:t>E128.</a:t>
            </a:r>
            <a:r>
              <a:rPr kumimoji="0" lang="ko-KR" altLang="en-US" sz="800" kern="0" dirty="0">
                <a:solidFill>
                  <a:prstClr val="black"/>
                </a:solidFill>
                <a:latin typeface="Arial Narrow"/>
                <a:ea typeface="LG스마트체 Regular"/>
                <a:sym typeface="Wingdings"/>
              </a:rPr>
              <a:t> </a:t>
            </a:r>
            <a:r>
              <a:rPr kumimoji="0" lang="en-US" altLang="ko-KR" sz="800" kern="0" dirty="0">
                <a:solidFill>
                  <a:prstClr val="black"/>
                </a:solidFill>
                <a:latin typeface="Arial Narrow"/>
                <a:ea typeface="LG스마트체 Regular"/>
                <a:sym typeface="Wingdings"/>
              </a:rPr>
              <a:t>E126,</a:t>
            </a:r>
            <a:r>
              <a:rPr kumimoji="0" lang="ko-KR" altLang="en-US" sz="800" kern="0" dirty="0">
                <a:solidFill>
                  <a:prstClr val="black"/>
                </a:solidFill>
                <a:latin typeface="Arial Narrow"/>
                <a:ea typeface="LG스마트체 Regular"/>
                <a:sym typeface="Wingdings"/>
              </a:rPr>
              <a:t> </a:t>
            </a:r>
            <a:r>
              <a:rPr kumimoji="0" lang="en-US" altLang="ko-KR" sz="800" kern="0" dirty="0">
                <a:solidFill>
                  <a:prstClr val="black"/>
                </a:solidFill>
                <a:latin typeface="Arial Narrow"/>
                <a:ea typeface="LG스마트체 Regular"/>
                <a:sym typeface="Wingdings"/>
              </a:rPr>
              <a:t>E85,</a:t>
            </a:r>
            <a:r>
              <a:rPr kumimoji="0" lang="ko-KR" altLang="en-US" sz="800" kern="0" dirty="0">
                <a:solidFill>
                  <a:prstClr val="black"/>
                </a:solidFill>
                <a:latin typeface="Arial Narrow"/>
                <a:ea typeface="LG스마트체 Regular"/>
                <a:sym typeface="Wingdings"/>
              </a:rPr>
              <a:t> </a:t>
            </a:r>
            <a:r>
              <a:rPr kumimoji="0" lang="en-US" altLang="ko-KR" sz="800" kern="0" dirty="0">
                <a:solidFill>
                  <a:prstClr val="black"/>
                </a:solidFill>
                <a:latin typeface="Arial Narrow"/>
                <a:ea typeface="LG스마트체 Regular"/>
                <a:sym typeface="Wingdings"/>
              </a:rPr>
              <a:t>E90</a:t>
            </a:r>
            <a:r>
              <a:rPr lang="en-US" altLang="ko-KR" sz="800" kern="0" dirty="0">
                <a:solidFill>
                  <a:prstClr val="black"/>
                </a:solidFill>
                <a:latin typeface="Arial Narrow"/>
                <a:ea typeface="LG스마트체 Regular"/>
                <a:sym typeface="Wingdings"/>
              </a:rPr>
              <a:t>,</a:t>
            </a:r>
            <a:r>
              <a:rPr lang="ko-KR" altLang="en-US" sz="800" kern="0" dirty="0">
                <a:solidFill>
                  <a:prstClr val="black"/>
                </a:solidFill>
                <a:latin typeface="Arial Narrow"/>
                <a:ea typeface="LG스마트체 Regular"/>
                <a:sym typeface="Wingdings"/>
              </a:rPr>
              <a:t> </a:t>
            </a:r>
            <a:r>
              <a:rPr lang="en-US" altLang="ko-KR" sz="800" kern="0" dirty="0">
                <a:solidFill>
                  <a:prstClr val="black"/>
                </a:solidFill>
                <a:latin typeface="Arial Narrow"/>
                <a:ea typeface="LG스마트체 Regular"/>
                <a:sym typeface="Wingdings"/>
              </a:rPr>
              <a:t>JF2S,</a:t>
            </a:r>
            <a:r>
              <a:rPr lang="ko-KR" altLang="en-US" sz="800" kern="0" dirty="0">
                <a:solidFill>
                  <a:prstClr val="black"/>
                </a:solidFill>
                <a:latin typeface="Arial Narrow"/>
                <a:ea typeface="LG스마트체 Regular"/>
                <a:sym typeface="Wingdings"/>
              </a:rPr>
              <a:t> </a:t>
            </a:r>
            <a:r>
              <a:rPr lang="en-US" altLang="ko-KR" sz="800" kern="0" dirty="0">
                <a:solidFill>
                  <a:prstClr val="black"/>
                </a:solidFill>
                <a:latin typeface="Arial Narrow"/>
                <a:ea typeface="LG스마트체 Regular"/>
                <a:sym typeface="Wingdings"/>
              </a:rPr>
              <a:t>JF1,</a:t>
            </a:r>
            <a:r>
              <a:rPr lang="ko-KR" altLang="en-US" sz="800" kern="0" dirty="0">
                <a:solidFill>
                  <a:prstClr val="black"/>
                </a:solidFill>
                <a:latin typeface="Arial Narrow"/>
                <a:ea typeface="LG스마트체 Regular"/>
                <a:sym typeface="Wingdings"/>
              </a:rPr>
              <a:t> </a:t>
            </a:r>
            <a:r>
              <a:rPr lang="en-US" altLang="ko-KR" sz="800" kern="0" dirty="0">
                <a:solidFill>
                  <a:prstClr val="black"/>
                </a:solidFill>
                <a:latin typeface="Arial Narrow"/>
                <a:ea typeface="LG스마트체 Regular"/>
                <a:sym typeface="Wingdings"/>
              </a:rPr>
              <a:t>JP5</a:t>
            </a:r>
            <a:r>
              <a:rPr lang="ko-KR" altLang="en-US" sz="800" kern="0" dirty="0">
                <a:solidFill>
                  <a:prstClr val="black"/>
                </a:solidFill>
                <a:latin typeface="Arial Narrow"/>
                <a:ea typeface="LG스마트체 Regular"/>
                <a:sym typeface="Wingdings"/>
              </a:rPr>
              <a:t> 대상</a:t>
            </a:r>
            <a:endParaRPr kumimoji="0" lang="en-US" altLang="ko-KR" sz="800" kern="0" dirty="0">
              <a:solidFill>
                <a:prstClr val="black"/>
              </a:solidFill>
              <a:latin typeface="Arial Narrow"/>
              <a:ea typeface="LG스마트체 Regular"/>
              <a:sym typeface="Wingdings"/>
            </a:endParaRPr>
          </a:p>
        </p:txBody>
      </p:sp>
      <p:grpSp>
        <p:nvGrpSpPr>
          <p:cNvPr id="7" name="그룹 6">
            <a:extLst>
              <a:ext uri="{FF2B5EF4-FFF2-40B4-BE49-F238E27FC236}">
                <a16:creationId xmlns:a16="http://schemas.microsoft.com/office/drawing/2014/main" id="{64A3AF09-9580-8C32-90D2-B51493CF5018}"/>
              </a:ext>
            </a:extLst>
          </p:cNvPr>
          <p:cNvGrpSpPr/>
          <p:nvPr/>
        </p:nvGrpSpPr>
        <p:grpSpPr>
          <a:xfrm>
            <a:off x="7758397" y="114985"/>
            <a:ext cx="1781744" cy="604476"/>
            <a:chOff x="4232920" y="49957"/>
            <a:chExt cx="1781744" cy="604476"/>
          </a:xfrm>
        </p:grpSpPr>
        <p:sp>
          <p:nvSpPr>
            <p:cNvPr id="8" name="타원 7">
              <a:extLst>
                <a:ext uri="{FF2B5EF4-FFF2-40B4-BE49-F238E27FC236}">
                  <a16:creationId xmlns:a16="http://schemas.microsoft.com/office/drawing/2014/main" id="{2277ED2E-F581-85C4-0A85-348FD7BBBAC8}"/>
                </a:ext>
              </a:extLst>
            </p:cNvPr>
            <p:cNvSpPr>
              <a:spLocks noChangeAspect="1"/>
            </p:cNvSpPr>
            <p:nvPr/>
          </p:nvSpPr>
          <p:spPr>
            <a:xfrm>
              <a:off x="4232920" y="49957"/>
              <a:ext cx="180000" cy="180000"/>
            </a:xfrm>
            <a:prstGeom prst="ellipse">
              <a:avLst/>
            </a:prstGeom>
            <a:solidFill>
              <a:srgbClr val="33993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5091178-7ABC-D4E7-46B9-CFBE137E3BC9}"/>
                </a:ext>
              </a:extLst>
            </p:cNvPr>
            <p:cNvSpPr txBox="1"/>
            <p:nvPr/>
          </p:nvSpPr>
          <p:spPr>
            <a:xfrm>
              <a:off x="4458469" y="52657"/>
              <a:ext cx="1276953"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초과 달성 </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점 기준</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0" name="타원 9">
              <a:extLst>
                <a:ext uri="{FF2B5EF4-FFF2-40B4-BE49-F238E27FC236}">
                  <a16:creationId xmlns:a16="http://schemas.microsoft.com/office/drawing/2014/main" id="{43959D71-5D47-8D94-6EC6-D1AB1369B722}"/>
                </a:ext>
              </a:extLst>
            </p:cNvPr>
            <p:cNvSpPr>
              <a:spLocks noChangeAspect="1"/>
            </p:cNvSpPr>
            <p:nvPr/>
          </p:nvSpPr>
          <p:spPr>
            <a:xfrm>
              <a:off x="4232920" y="474433"/>
              <a:ext cx="180000" cy="180000"/>
            </a:xfrm>
            <a:prstGeom prst="ellipse">
              <a:avLst/>
            </a:prstGeom>
            <a:solidFill>
              <a:srgbClr val="FF5050"/>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3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39259629-2A88-E60C-2845-C9AF402583CC}"/>
                </a:ext>
              </a:extLst>
            </p:cNvPr>
            <p:cNvSpPr txBox="1"/>
            <p:nvPr/>
          </p:nvSpPr>
          <p:spPr>
            <a:xfrm>
              <a:off x="4458469" y="477133"/>
              <a:ext cx="155619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미달</a:t>
              </a:r>
              <a:r>
                <a:rPr kumimoji="0" lang="en-US" altLang="ko-KR"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050" b="0" i="0" u="none" strike="noStrike" kern="1200" cap="none" spc="-3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연간 목표 차질 예상</a:t>
              </a:r>
            </a:p>
          </p:txBody>
        </p:sp>
        <p:sp>
          <p:nvSpPr>
            <p:cNvPr id="24" name="타원 23">
              <a:extLst>
                <a:ext uri="{FF2B5EF4-FFF2-40B4-BE49-F238E27FC236}">
                  <a16:creationId xmlns:a16="http://schemas.microsoft.com/office/drawing/2014/main" id="{6707E25C-9598-10DC-1385-9CF318D1748B}"/>
                </a:ext>
              </a:extLst>
            </p:cNvPr>
            <p:cNvSpPr>
              <a:spLocks noChangeAspect="1"/>
            </p:cNvSpPr>
            <p:nvPr/>
          </p:nvSpPr>
          <p:spPr>
            <a:xfrm>
              <a:off x="4232920" y="262195"/>
              <a:ext cx="180000" cy="180000"/>
            </a:xfrm>
            <a:prstGeom prst="ellipse">
              <a:avLst/>
            </a:prstGeom>
            <a:solidFill>
              <a:srgbClr val="FFFF66"/>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a:pPr>
              <a:endParaRPr kumimoji="0" lang="ko-KR" altLang="en-US" sz="700" b="0" i="0" u="none" strike="noStrike" kern="1200" cap="none" spc="0" normalizeH="0" baseline="0" noProof="0">
                <a:ln>
                  <a:noFill/>
                </a:ln>
                <a:solidFill>
                  <a:srgbClr val="FFFFFF"/>
                </a:solidFill>
                <a:effectLst/>
                <a:uLnTx/>
                <a:uFillTx/>
                <a:latin typeface="Calibri"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EC185077-D0D3-6E18-38BA-BA79213A36CB}"/>
                </a:ext>
              </a:extLst>
            </p:cNvPr>
            <p:cNvSpPr txBox="1"/>
            <p:nvPr/>
          </p:nvSpPr>
          <p:spPr>
            <a:xfrm>
              <a:off x="4458469" y="264895"/>
              <a:ext cx="1374735" cy="166649"/>
            </a:xfrm>
            <a:prstGeom prst="rect">
              <a:avLst/>
            </a:prstGeom>
            <a:noFill/>
          </p:spPr>
          <p:txBody>
            <a:bodyPr wrap="none" lIns="0" tIns="0" rIns="0" bIns="0" rtlCol="0">
              <a:spAutoFit/>
            </a:bodyPr>
            <a:lstStyle/>
            <a:p>
              <a:pPr marL="0" marR="0" lvl="0" indent="0" algn="l" defTabSz="457200" rtl="0" eaLnBrk="1" fontAlgn="auto" latinLnBrk="0" hangingPunct="1">
                <a:lnSpc>
                  <a:spcPct val="110000"/>
                </a:lnSpc>
                <a:spcBef>
                  <a:spcPts val="300"/>
                </a:spcBef>
                <a:spcAft>
                  <a:spcPts val="0"/>
                </a:spcAft>
                <a:buClrTx/>
                <a:buSzTx/>
                <a:buFontTx/>
                <a:buNone/>
                <a:tabLst/>
                <a:defRPr/>
              </a:pPr>
              <a:r>
                <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목표 달성 수준</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또는 소폭 미달</a:t>
              </a:r>
              <a:r>
                <a:rPr kumimoji="0" lang="en-US" altLang="ko-KR" sz="90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1050" b="0" i="0" u="none" strike="noStrike" kern="1200" cap="none" spc="-6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Tree>
    <p:extLst>
      <p:ext uri="{BB962C8B-B14F-4D97-AF65-F5344CB8AC3E}">
        <p14:creationId xmlns:p14="http://schemas.microsoft.com/office/powerpoint/2010/main" val="110930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693D6D8-DAFD-8DBC-E6D2-E485CF852374}"/>
              </a:ext>
            </a:extLst>
          </p:cNvPr>
          <p:cNvSpPr txBox="1"/>
          <p:nvPr/>
        </p:nvSpPr>
        <p:spPr>
          <a:xfrm>
            <a:off x="8169236" y="126275"/>
            <a:ext cx="1311118" cy="456906"/>
          </a:xfrm>
          <a:prstGeom prst="rect">
            <a:avLst/>
          </a:prstGeom>
          <a:noFill/>
        </p:spPr>
        <p:txBody>
          <a:bodyPr wrap="square" lIns="32888" rIns="32888" rtlCol="0">
            <a:spAutoFit/>
          </a:bodyPr>
          <a:lstStyle/>
          <a:p>
            <a:pPr marL="0" marR="0" lvl="0" indent="0" algn="l" defTabSz="835389" rtl="0" eaLnBrk="1" fontAlgn="base" latinLnBrk="1" hangingPunct="1">
              <a:lnSpc>
                <a:spcPct val="120000"/>
              </a:lnSpc>
              <a:spcBef>
                <a:spcPts val="0"/>
              </a:spcBef>
              <a:spcAft>
                <a:spcPts val="594"/>
              </a:spcAft>
              <a:buClrTx/>
              <a:buSzPct val="85000"/>
              <a:buFontTx/>
              <a:buNone/>
              <a:tabLst/>
              <a:defRPr/>
            </a:pP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a:t>
            </a: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a:t>
            </a:r>
            <a:br>
              <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작성일 </a:t>
            </a:r>
            <a:r>
              <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‘26.09.02</a:t>
            </a:r>
          </a:p>
        </p:txBody>
      </p:sp>
      <p:sp>
        <p:nvSpPr>
          <p:cNvPr id="27" name="실행 단추: 홈으로 이동 26">
            <a:hlinkClick r:id="rId3" action="ppaction://hlinksldjump" highlightClick="1"/>
            <a:extLst>
              <a:ext uri="{FF2B5EF4-FFF2-40B4-BE49-F238E27FC236}">
                <a16:creationId xmlns:a16="http://schemas.microsoft.com/office/drawing/2014/main" id="{C8114264-52F5-84EE-BFB3-98407DC2C2A3}"/>
              </a:ext>
            </a:extLst>
          </p:cNvPr>
          <p:cNvSpPr/>
          <p:nvPr/>
        </p:nvSpPr>
        <p:spPr>
          <a:xfrm>
            <a:off x="9540892" y="151530"/>
            <a:ext cx="249402" cy="249402"/>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04982" rtl="0" eaLnBrk="1" fontAlgn="auto" latinLnBrk="1"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8" name="제목 4">
            <a:extLst>
              <a:ext uri="{FF2B5EF4-FFF2-40B4-BE49-F238E27FC236}">
                <a16:creationId xmlns:a16="http://schemas.microsoft.com/office/drawing/2014/main" id="{932C7E70-552D-8D33-DF0A-B1E98EBBB25B}"/>
              </a:ext>
            </a:extLst>
          </p:cNvPr>
          <p:cNvSpPr txBox="1">
            <a:spLocks/>
          </p:cNvSpPr>
          <p:nvPr/>
        </p:nvSpPr>
        <p:spPr>
          <a:xfrm>
            <a:off x="126265" y="170929"/>
            <a:ext cx="4970751" cy="369332"/>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유첨</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북미 </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ESS </a:t>
            </a: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셀 수율 현황 </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a:t>
            </a:r>
            <a:r>
              <a:rPr kumimoji="1" lang="ko-KR" altLang="en-US"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누적</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ko-KR" altLang="en-US" sz="1400" b="1" i="0" u="none" strike="noStrike" kern="0" cap="none" spc="0" normalizeH="0" baseline="0" noProof="0" dirty="0" err="1">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법인별</a:t>
            </a:r>
            <a:r>
              <a:rPr kumimoji="1" lang="ko-KR" altLang="en-US"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Top5 </a:t>
            </a:r>
            <a:r>
              <a:rPr kumimoji="1" lang="ko-KR" altLang="en-US"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불량</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a:t>
            </a:r>
            <a:endParaRPr kumimoji="0" lang="ko-KR" altLang="en-US" sz="14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endParaRPr>
          </a:p>
        </p:txBody>
      </p:sp>
      <p:sp>
        <p:nvSpPr>
          <p:cNvPr id="20" name="실행 단추: 홈으로 이동 19">
            <a:hlinkClick r:id="rId4" action="ppaction://hlinksldjump" highlightClick="1"/>
            <a:extLst>
              <a:ext uri="{FF2B5EF4-FFF2-40B4-BE49-F238E27FC236}">
                <a16:creationId xmlns:a16="http://schemas.microsoft.com/office/drawing/2014/main" id="{3B83DAEA-CCF3-94A3-3F23-21C40D451DDA}"/>
              </a:ext>
            </a:extLst>
          </p:cNvPr>
          <p:cNvSpPr/>
          <p:nvPr/>
        </p:nvSpPr>
        <p:spPr>
          <a:xfrm>
            <a:off x="9540892" y="528663"/>
            <a:ext cx="249402" cy="249402"/>
          </a:xfrm>
          <a:prstGeom prst="actionButtonHome">
            <a:avLst/>
          </a:prstGeom>
          <a:no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04982" rtl="0" eaLnBrk="1" fontAlgn="auto" latinLnBrk="1"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21" name="실행 단추: 앞으로 또는 다음으로 이동 20">
            <a:hlinkClick r:id="rId5" action="ppaction://hlinksldjump" highlightClick="1"/>
            <a:extLst>
              <a:ext uri="{FF2B5EF4-FFF2-40B4-BE49-F238E27FC236}">
                <a16:creationId xmlns:a16="http://schemas.microsoft.com/office/drawing/2014/main" id="{29B1F60E-58F0-256E-6201-540958ADF8EF}"/>
              </a:ext>
            </a:extLst>
          </p:cNvPr>
          <p:cNvSpPr/>
          <p:nvPr/>
        </p:nvSpPr>
        <p:spPr>
          <a:xfrm>
            <a:off x="3206813" y="810726"/>
            <a:ext cx="144016" cy="144016"/>
          </a:xfrm>
          <a:prstGeom prst="actionButtonForwardNext">
            <a:avLst/>
          </a:prstGeom>
          <a:solidFill>
            <a:schemeClr val="bg1">
              <a:lumMod val="9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cxnSp>
        <p:nvCxnSpPr>
          <p:cNvPr id="24" name="직선 연결선 23">
            <a:extLst>
              <a:ext uri="{FF2B5EF4-FFF2-40B4-BE49-F238E27FC236}">
                <a16:creationId xmlns:a16="http://schemas.microsoft.com/office/drawing/2014/main" id="{FC1D15ED-4D37-D69E-D748-D2F908F801B4}"/>
              </a:ext>
            </a:extLst>
          </p:cNvPr>
          <p:cNvCxnSpPr>
            <a:cxnSpLocks/>
          </p:cNvCxnSpPr>
          <p:nvPr/>
        </p:nvCxnSpPr>
        <p:spPr>
          <a:xfrm flipH="1">
            <a:off x="255292" y="528508"/>
            <a:ext cx="448168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실행 단추: 앞으로 또는 다음 258">
            <a:hlinkClick r:id="rId6" action="ppaction://hlinksldjump" highlightClick="1"/>
            <a:extLst>
              <a:ext uri="{FF2B5EF4-FFF2-40B4-BE49-F238E27FC236}">
                <a16:creationId xmlns:a16="http://schemas.microsoft.com/office/drawing/2014/main" id="{1A6BA059-2A4B-9AB3-2B8D-EEF3E97C4F19}"/>
              </a:ext>
            </a:extLst>
          </p:cNvPr>
          <p:cNvSpPr/>
          <p:nvPr/>
        </p:nvSpPr>
        <p:spPr>
          <a:xfrm>
            <a:off x="7080333" y="4917241"/>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a:ln>
                <a:noFill/>
              </a:ln>
              <a:solidFill>
                <a:srgbClr val="1F497D"/>
              </a:solidFill>
              <a:effectLst/>
              <a:uLnTx/>
              <a:uFillTx/>
              <a:latin typeface="Arial Narrow" panose="020B0606020202030204" pitchFamily="34" charset="0"/>
              <a:ea typeface="LG스마트체 Regular" panose="020B0600000101010101" pitchFamily="50" charset="-127"/>
              <a:cs typeface="+mn-cs"/>
            </a:endParaRPr>
          </a:p>
        </p:txBody>
      </p:sp>
      <p:sp>
        <p:nvSpPr>
          <p:cNvPr id="49" name="실행 단추: 앞으로 또는 다음 258">
            <a:hlinkClick r:id="rId7" action="ppaction://hlinksldjump" highlightClick="1"/>
            <a:extLst>
              <a:ext uri="{FF2B5EF4-FFF2-40B4-BE49-F238E27FC236}">
                <a16:creationId xmlns:a16="http://schemas.microsoft.com/office/drawing/2014/main" id="{37D6A684-4BF8-3822-A103-199C955F1596}"/>
              </a:ext>
            </a:extLst>
          </p:cNvPr>
          <p:cNvSpPr/>
          <p:nvPr/>
        </p:nvSpPr>
        <p:spPr>
          <a:xfrm>
            <a:off x="7080333" y="3817558"/>
            <a:ext cx="145970" cy="145970"/>
          </a:xfrm>
          <a:prstGeom prst="actionButtonForwardNext">
            <a:avLst/>
          </a:prstGeom>
          <a:solidFill>
            <a:schemeClr val="bg1">
              <a:lumMod val="95000"/>
            </a:schemeClr>
          </a:solidFill>
          <a:ln w="6350" cap="flat" cmpd="sng" algn="ctr">
            <a:solidFill>
              <a:schemeClr val="bg1">
                <a:lumMod val="5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1" hangingPunct="1">
              <a:lnSpc>
                <a:spcPct val="80000"/>
              </a:lnSpc>
              <a:spcBef>
                <a:spcPct val="0"/>
              </a:spcBef>
              <a:spcAft>
                <a:spcPct val="0"/>
              </a:spcAft>
              <a:buClrTx/>
              <a:buSzTx/>
              <a:buFontTx/>
              <a:buNone/>
              <a:tabLst/>
              <a:defRPr/>
            </a:pPr>
            <a:endParaRPr kumimoji="1" lang="ko-KR" altLang="en-US" sz="2800" b="0" i="0" u="none" strike="noStrike" kern="1200" cap="none" spc="0" normalizeH="0" baseline="0" noProof="0">
              <a:ln>
                <a:noFill/>
              </a:ln>
              <a:solidFill>
                <a:srgbClr val="1F497D"/>
              </a:solidFill>
              <a:effectLst/>
              <a:uLnTx/>
              <a:uFillTx/>
              <a:latin typeface="Arial Narrow" panose="020B0606020202030204" pitchFamily="34" charset="0"/>
              <a:ea typeface="LG스마트체 Regular" panose="020B0600000101010101" pitchFamily="50" charset="-127"/>
              <a:cs typeface="+mn-cs"/>
            </a:endParaRPr>
          </a:p>
        </p:txBody>
      </p:sp>
      <p:sp>
        <p:nvSpPr>
          <p:cNvPr id="31" name="직사각형 30">
            <a:extLst>
              <a:ext uri="{FF2B5EF4-FFF2-40B4-BE49-F238E27FC236}">
                <a16:creationId xmlns:a16="http://schemas.microsoft.com/office/drawing/2014/main" id="{A7D1D2A3-54AF-AA9D-4018-9E016B6EDF7E}"/>
              </a:ext>
            </a:extLst>
          </p:cNvPr>
          <p:cNvSpPr/>
          <p:nvPr/>
        </p:nvSpPr>
        <p:spPr>
          <a:xfrm>
            <a:off x="179813" y="1017787"/>
            <a:ext cx="221265" cy="5765326"/>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1386"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업무내용</a:t>
            </a:r>
            <a:endParaRPr kumimoji="0" lang="en-US" altLang="ko-KR" sz="1386"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nvGrpSpPr>
          <p:cNvPr id="32" name="그룹 31">
            <a:extLst>
              <a:ext uri="{FF2B5EF4-FFF2-40B4-BE49-F238E27FC236}">
                <a16:creationId xmlns:a16="http://schemas.microsoft.com/office/drawing/2014/main" id="{72837832-B537-1C6D-7905-BB744C2DC709}"/>
              </a:ext>
            </a:extLst>
          </p:cNvPr>
          <p:cNvGrpSpPr/>
          <p:nvPr/>
        </p:nvGrpSpPr>
        <p:grpSpPr>
          <a:xfrm>
            <a:off x="819592" y="705029"/>
            <a:ext cx="4133408" cy="342743"/>
            <a:chOff x="-1158101" y="188640"/>
            <a:chExt cx="4176464" cy="346313"/>
          </a:xfrm>
        </p:grpSpPr>
        <p:sp>
          <p:nvSpPr>
            <p:cNvPr id="34" name="TextBox 33">
              <a:extLst>
                <a:ext uri="{FF2B5EF4-FFF2-40B4-BE49-F238E27FC236}">
                  <a16:creationId xmlns:a16="http://schemas.microsoft.com/office/drawing/2014/main" id="{CB5A5E7F-55EA-6D35-E055-15A319E785FC}"/>
                </a:ext>
              </a:extLst>
            </p:cNvPr>
            <p:cNvSpPr txBox="1"/>
            <p:nvPr/>
          </p:nvSpPr>
          <p:spPr>
            <a:xfrm>
              <a:off x="-654045" y="188640"/>
              <a:ext cx="2952328" cy="346313"/>
            </a:xfrm>
            <a:prstGeom prst="rect">
              <a:avLst/>
            </a:prstGeom>
            <a:noFill/>
          </p:spPr>
          <p:txBody>
            <a:bodyPr wrap="square" rtlCol="0">
              <a:spAutoFit/>
            </a:bodyPr>
            <a:lstStyle/>
            <a:p>
              <a:pPr marL="0" marR="0" lvl="0" indent="0" algn="ctr" defTabSz="904982" rtl="0" eaLnBrk="1" fontAlgn="auto" latinLnBrk="1" hangingPunct="1">
                <a:lnSpc>
                  <a:spcPct val="110000"/>
                </a:lnSpc>
                <a:spcBef>
                  <a:spcPts val="297"/>
                </a:spcBef>
                <a:spcAft>
                  <a:spcPts val="0"/>
                </a:spcAft>
                <a:buClrTx/>
                <a:buSzTx/>
                <a:buFontTx/>
                <a:buNone/>
                <a:tabLst/>
                <a:defRPr/>
              </a:pPr>
              <a:r>
                <a:rPr kumimoji="0" lang="ko-KR" altLang="en-US" sz="158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수율 현황</a:t>
              </a:r>
            </a:p>
          </p:txBody>
        </p:sp>
        <p:cxnSp>
          <p:nvCxnSpPr>
            <p:cNvPr id="39" name="직선 연결선 38">
              <a:extLst>
                <a:ext uri="{FF2B5EF4-FFF2-40B4-BE49-F238E27FC236}">
                  <a16:creationId xmlns:a16="http://schemas.microsoft.com/office/drawing/2014/main" id="{4D47CD2F-12C9-FD42-77A8-D3B79BA38E7E}"/>
                </a:ext>
              </a:extLst>
            </p:cNvPr>
            <p:cNvCxnSpPr>
              <a:cxnSpLocks/>
            </p:cNvCxnSpPr>
            <p:nvPr/>
          </p:nvCxnSpPr>
          <p:spPr>
            <a:xfrm flipH="1">
              <a:off x="-1158101" y="504656"/>
              <a:ext cx="417646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그룹 42">
            <a:extLst>
              <a:ext uri="{FF2B5EF4-FFF2-40B4-BE49-F238E27FC236}">
                <a16:creationId xmlns:a16="http://schemas.microsoft.com/office/drawing/2014/main" id="{86B0D23C-2096-E0E3-8FD6-515C666C5A26}"/>
              </a:ext>
            </a:extLst>
          </p:cNvPr>
          <p:cNvGrpSpPr/>
          <p:nvPr/>
        </p:nvGrpSpPr>
        <p:grpSpPr>
          <a:xfrm>
            <a:off x="5914004" y="705029"/>
            <a:ext cx="3600000" cy="342679"/>
            <a:chOff x="-1213058" y="188640"/>
            <a:chExt cx="4248473" cy="346249"/>
          </a:xfrm>
        </p:grpSpPr>
        <p:sp>
          <p:nvSpPr>
            <p:cNvPr id="50" name="TextBox 49">
              <a:extLst>
                <a:ext uri="{FF2B5EF4-FFF2-40B4-BE49-F238E27FC236}">
                  <a16:creationId xmlns:a16="http://schemas.microsoft.com/office/drawing/2014/main" id="{7953AEE6-3874-43E9-B0AD-A60E36B889C5}"/>
                </a:ext>
              </a:extLst>
            </p:cNvPr>
            <p:cNvSpPr txBox="1"/>
            <p:nvPr/>
          </p:nvSpPr>
          <p:spPr>
            <a:xfrm>
              <a:off x="-423430" y="188640"/>
              <a:ext cx="2341144" cy="346249"/>
            </a:xfrm>
            <a:prstGeom prst="rect">
              <a:avLst/>
            </a:prstGeom>
            <a:noFill/>
          </p:spPr>
          <p:txBody>
            <a:bodyPr wrap="square" rtlCol="0">
              <a:spAutoFit/>
            </a:bodyPr>
            <a:lstStyle/>
            <a:p>
              <a:pPr marL="0" marR="0" lvl="0" indent="0" algn="ctr" defTabSz="904982" rtl="0" eaLnBrk="1" fontAlgn="auto" latinLnBrk="1" hangingPunct="1">
                <a:lnSpc>
                  <a:spcPct val="110000"/>
                </a:lnSpc>
                <a:spcBef>
                  <a:spcPts val="297"/>
                </a:spcBef>
                <a:spcAft>
                  <a:spcPts val="0"/>
                </a:spcAft>
                <a:buClrTx/>
                <a:buSzTx/>
                <a:buFontTx/>
                <a:buNone/>
                <a:tabLst/>
                <a:defRPr/>
              </a:pPr>
              <a:r>
                <a:rPr kumimoji="0" lang="en-US" altLang="ko-KR" sz="158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Catch-Up </a:t>
              </a:r>
              <a:r>
                <a:rPr kumimoji="0" lang="ko-KR" altLang="en-US" sz="158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방안</a:t>
              </a:r>
            </a:p>
          </p:txBody>
        </p:sp>
        <p:cxnSp>
          <p:nvCxnSpPr>
            <p:cNvPr id="51" name="직선 연결선 50">
              <a:extLst>
                <a:ext uri="{FF2B5EF4-FFF2-40B4-BE49-F238E27FC236}">
                  <a16:creationId xmlns:a16="http://schemas.microsoft.com/office/drawing/2014/main" id="{83171165-AE2B-D061-408B-6A6199DDB426}"/>
                </a:ext>
              </a:extLst>
            </p:cNvPr>
            <p:cNvCxnSpPr>
              <a:cxnSpLocks/>
            </p:cNvCxnSpPr>
            <p:nvPr/>
          </p:nvCxnSpPr>
          <p:spPr>
            <a:xfrm flipH="1">
              <a:off x="-1213058" y="504656"/>
              <a:ext cx="4248473"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직선 연결선 53">
            <a:extLst>
              <a:ext uri="{FF2B5EF4-FFF2-40B4-BE49-F238E27FC236}">
                <a16:creationId xmlns:a16="http://schemas.microsoft.com/office/drawing/2014/main" id="{574A4185-F0CA-9E89-884E-AE0E55C0EFAF}"/>
              </a:ext>
            </a:extLst>
          </p:cNvPr>
          <p:cNvCxnSpPr>
            <a:cxnSpLocks/>
          </p:cNvCxnSpPr>
          <p:nvPr/>
        </p:nvCxnSpPr>
        <p:spPr>
          <a:xfrm flipV="1">
            <a:off x="5724916" y="1099076"/>
            <a:ext cx="0" cy="5388478"/>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56" name="표 55">
            <a:extLst>
              <a:ext uri="{FF2B5EF4-FFF2-40B4-BE49-F238E27FC236}">
                <a16:creationId xmlns:a16="http://schemas.microsoft.com/office/drawing/2014/main" id="{7F6DBCC3-AE32-8BC9-1F02-CA0143F8E89E}"/>
              </a:ext>
            </a:extLst>
          </p:cNvPr>
          <p:cNvGraphicFramePr>
            <a:graphicFrameLocks noGrp="1"/>
          </p:cNvGraphicFramePr>
          <p:nvPr>
            <p:extLst>
              <p:ext uri="{D42A27DB-BD31-4B8C-83A1-F6EECF244321}">
                <p14:modId xmlns:p14="http://schemas.microsoft.com/office/powerpoint/2010/main" val="201526089"/>
              </p:ext>
            </p:extLst>
          </p:nvPr>
        </p:nvGraphicFramePr>
        <p:xfrm>
          <a:off x="3185238" y="1272070"/>
          <a:ext cx="2430187" cy="3387917"/>
        </p:xfrm>
        <a:graphic>
          <a:graphicData uri="http://schemas.openxmlformats.org/drawingml/2006/table">
            <a:tbl>
              <a:tblPr/>
              <a:tblGrid>
                <a:gridCol w="641320">
                  <a:extLst>
                    <a:ext uri="{9D8B030D-6E8A-4147-A177-3AD203B41FA5}">
                      <a16:colId xmlns:a16="http://schemas.microsoft.com/office/drawing/2014/main" val="50853754"/>
                    </a:ext>
                  </a:extLst>
                </a:gridCol>
                <a:gridCol w="356289">
                  <a:extLst>
                    <a:ext uri="{9D8B030D-6E8A-4147-A177-3AD203B41FA5}">
                      <a16:colId xmlns:a16="http://schemas.microsoft.com/office/drawing/2014/main" val="3971736398"/>
                    </a:ext>
                  </a:extLst>
                </a:gridCol>
                <a:gridCol w="356289">
                  <a:extLst>
                    <a:ext uri="{9D8B030D-6E8A-4147-A177-3AD203B41FA5}">
                      <a16:colId xmlns:a16="http://schemas.microsoft.com/office/drawing/2014/main" val="312552490"/>
                    </a:ext>
                  </a:extLst>
                </a:gridCol>
                <a:gridCol w="356289">
                  <a:extLst>
                    <a:ext uri="{9D8B030D-6E8A-4147-A177-3AD203B41FA5}">
                      <a16:colId xmlns:a16="http://schemas.microsoft.com/office/drawing/2014/main" val="864025061"/>
                    </a:ext>
                  </a:extLst>
                </a:gridCol>
                <a:gridCol w="360000">
                  <a:extLst>
                    <a:ext uri="{9D8B030D-6E8A-4147-A177-3AD203B41FA5}">
                      <a16:colId xmlns:a16="http://schemas.microsoft.com/office/drawing/2014/main" val="545338682"/>
                    </a:ext>
                  </a:extLst>
                </a:gridCol>
                <a:gridCol w="360000">
                  <a:extLst>
                    <a:ext uri="{9D8B030D-6E8A-4147-A177-3AD203B41FA5}">
                      <a16:colId xmlns:a16="http://schemas.microsoft.com/office/drawing/2014/main" val="1230889987"/>
                    </a:ext>
                  </a:extLst>
                </a:gridCol>
              </a:tblGrid>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ESMI</a:t>
                      </a: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LG스마트체 Regular" panose="020B0600000101010101" pitchFamily="50" charset="-127"/>
                        </a:rPr>
                        <a:t>ESOT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LG스마트체 Regular" panose="020B0600000101010101" pitchFamily="50" charset="-127"/>
                        </a:rPr>
                        <a:t>ESMIL</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LG스마트체 Regular" panose="020B0600000101010101" pitchFamily="50" charset="-127"/>
                        </a:rPr>
                        <a:t>ESHD</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Total</a:t>
                      </a: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7360940"/>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종합 목표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93.7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92.9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82416675"/>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종합 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95.1</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93.6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FF"/>
                          </a:solidFill>
                          <a:effectLst/>
                          <a:latin typeface="Arial Narrow" panose="020B0606020202030204" pitchFamily="34" charset="0"/>
                          <a:ea typeface="맑은 고딕" panose="020B0503020000020004" pitchFamily="50" charset="-127"/>
                        </a:rPr>
                        <a:t>94.8</a:t>
                      </a:r>
                      <a:endParaRPr lang="ko-KR" sz="9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100954814"/>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전극 목표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620951680"/>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전극 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98.5</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FF"/>
                          </a:solidFill>
                          <a:effectLst/>
                          <a:latin typeface="Arial Narrow" panose="020B0606020202030204" pitchFamily="34" charset="0"/>
                          <a:ea typeface="맑은 고딕" panose="020B0503020000020004" pitchFamily="50" charset="-127"/>
                        </a:rPr>
                        <a:t>98.5</a:t>
                      </a:r>
                      <a:endParaRPr lang="ko-KR" sz="9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200100664"/>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믹서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3880709"/>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코터</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2162010"/>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롤프레스</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3530637"/>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노칭</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0902447"/>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셀</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목표</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83373470"/>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셀 </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96.5</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96.5</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FF"/>
                          </a:solidFill>
                          <a:effectLst/>
                          <a:latin typeface="Arial Narrow" panose="020B0606020202030204" pitchFamily="34" charset="0"/>
                          <a:ea typeface="맑은 고딕" panose="020B0503020000020004" pitchFamily="50" charset="-127"/>
                        </a:rPr>
                        <a:t>96.2</a:t>
                      </a:r>
                      <a:endParaRPr lang="ko-KR" sz="9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56166914"/>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조립 목표</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7103434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조립</a:t>
                      </a:r>
                      <a:r>
                        <a:rPr lang="ko-KR" sz="900" b="0" i="0" u="none" strike="noStrike" dirty="0">
                          <a:solidFill>
                            <a:srgbClr val="000000"/>
                          </a:solidFill>
                          <a:effectLst/>
                          <a:latin typeface="Arial Narrow" panose="020B0606020202030204" pitchFamily="34" charset="0"/>
                          <a:ea typeface="맑은 고딕" panose="020B0503020000020004" pitchFamily="50" charset="-127"/>
                        </a:rPr>
                        <a:t> </a:t>
                      </a:r>
                      <a:r>
                        <a:rPr lang="ko-KR" altLang="en-US" sz="900" b="0" i="0" u="none" strike="noStrike" dirty="0">
                          <a:solidFill>
                            <a:srgbClr val="000000"/>
                          </a:solidFill>
                          <a:effectLst/>
                          <a:latin typeface="Arial Narrow" panose="020B0606020202030204" pitchFamily="34" charset="0"/>
                          <a:ea typeface="맑은 고딕" panose="020B0503020000020004" pitchFamily="50" charset="-127"/>
                        </a:rPr>
                        <a:t>수율</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FF"/>
                          </a:solidFill>
                          <a:effectLst/>
                          <a:latin typeface="Arial Narrow" panose="020B0606020202030204" pitchFamily="34" charset="0"/>
                          <a:ea typeface="맑은 고딕" panose="020B0503020000020004" pitchFamily="50" charset="-127"/>
                        </a:rPr>
                        <a:t>97.4</a:t>
                      </a:r>
                      <a:endParaRPr lang="ko-KR" sz="9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522260659"/>
                  </a:ext>
                </a:extLst>
              </a:tr>
              <a:tr h="83871">
                <a:tc>
                  <a:txBody>
                    <a:bodyPr/>
                    <a:lstStyle/>
                    <a:p>
                      <a:pPr algn="ctr" fontAlgn="ctr">
                        <a:buNone/>
                      </a:pPr>
                      <a:r>
                        <a:rPr lang="ko-KR" sz="900" b="0" i="0" u="none" strike="noStrike">
                          <a:solidFill>
                            <a:srgbClr val="000000"/>
                          </a:solidFill>
                          <a:effectLst/>
                          <a:latin typeface="Arial Narrow" panose="020B0606020202030204" pitchFamily="34" charset="0"/>
                          <a:ea typeface="LG스마트체 Regular" panose="020B0600000101010101" pitchFamily="50" charset="-127"/>
                        </a:rPr>
                        <a:t>라미</a:t>
                      </a:r>
                      <a:endParaRPr lang="ko-KR" sz="900" b="0" i="0" u="none" strike="noStrike">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009272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스태킹</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2644006"/>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패키지</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11330731"/>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활성화 목표</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102125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활성화 </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FF0000"/>
                          </a:solidFill>
                          <a:effectLst/>
                          <a:latin typeface="Arial Narrow" panose="020B0606020202030204" pitchFamily="34" charset="0"/>
                          <a:ea typeface="맑은 고딕" panose="020B0503020000020004" pitchFamily="50" charset="-127"/>
                        </a:rPr>
                        <a:t>98.8</a:t>
                      </a:r>
                      <a:endParaRPr lang="ko-KR" sz="900" b="1" i="0" u="none" strike="noStrike" dirty="0">
                        <a:solidFill>
                          <a:srgbClr val="FF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801682248"/>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맑은 고딕" panose="020B0503020000020004" pitchFamily="50" charset="-127"/>
                        </a:rPr>
                        <a:t>1</a:t>
                      </a: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차</a:t>
                      </a:r>
                      <a:r>
                        <a:rPr lang="ko-KR" sz="900" b="0" i="0" u="none" strike="noStrike" dirty="0">
                          <a:solidFill>
                            <a:srgbClr val="000000"/>
                          </a:solidFill>
                          <a:effectLst/>
                          <a:latin typeface="Arial Narrow" panose="020B0606020202030204" pitchFamily="34" charset="0"/>
                          <a:ea typeface="맑은 고딕" panose="020B0503020000020004" pitchFamily="50" charset="-127"/>
                        </a:rPr>
                        <a:t> </a:t>
                      </a:r>
                      <a:r>
                        <a:rPr lang="ko-KR" sz="900" b="0" i="0" u="none" strike="noStrike" dirty="0" err="1">
                          <a:solidFill>
                            <a:srgbClr val="000000"/>
                          </a:solidFill>
                          <a:effectLst/>
                          <a:latin typeface="Arial Narrow" panose="020B0606020202030204" pitchFamily="34" charset="0"/>
                          <a:ea typeface="맑은 고딕" panose="020B0503020000020004" pitchFamily="50" charset="-127"/>
                        </a:rPr>
                        <a:t>For</a:t>
                      </a:r>
                      <a:r>
                        <a:rPr lang="ko-KR" sz="900" b="0" i="0" u="none" strike="noStrike" dirty="0">
                          <a:solidFill>
                            <a:srgbClr val="000000"/>
                          </a:solidFill>
                          <a:effectLst/>
                          <a:latin typeface="Arial Narrow" panose="020B0606020202030204" pitchFamily="34" charset="0"/>
                          <a:ea typeface="맑은 고딕" panose="020B0503020000020004" pitchFamily="50" charset="-127"/>
                        </a:rPr>
                        <a: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5946929"/>
                  </a:ext>
                </a:extLst>
              </a:tr>
              <a:tr h="83871">
                <a:tc>
                  <a:txBody>
                    <a:bodyPr/>
                    <a:lstStyle/>
                    <a:p>
                      <a:pPr algn="ctr" fontAlgn="ctr">
                        <a:buNone/>
                      </a:pPr>
                      <a:r>
                        <a:rPr lang="ko-KR" sz="900" b="0" i="0" u="none" strike="noStrike" dirty="0" err="1">
                          <a:solidFill>
                            <a:srgbClr val="000000"/>
                          </a:solidFill>
                          <a:effectLst/>
                          <a:latin typeface="Arial Narrow" panose="020B0606020202030204" pitchFamily="34" charset="0"/>
                          <a:ea typeface="LG스마트체 Regular" panose="020B0600000101010101" pitchFamily="50" charset="-127"/>
                        </a:rPr>
                        <a:t>디가스</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6229798"/>
                  </a:ext>
                </a:extLst>
              </a:tr>
              <a:tr h="83871">
                <a:tc>
                  <a:txBody>
                    <a:bodyPr/>
                    <a:lstStyle/>
                    <a:p>
                      <a:pPr algn="ctr" fontAlgn="ctr">
                        <a:buNone/>
                      </a:pPr>
                      <a:r>
                        <a:rPr lang="ko-KR" sz="900" b="0" i="0" u="none" strike="noStrike">
                          <a:solidFill>
                            <a:srgbClr val="000000"/>
                          </a:solidFill>
                          <a:effectLst/>
                          <a:latin typeface="Arial Narrow" panose="020B0606020202030204" pitchFamily="34" charset="0"/>
                          <a:ea typeface="맑은 고딕" panose="020B0503020000020004" pitchFamily="50" charset="-127"/>
                        </a:rPr>
                        <a:t>2</a:t>
                      </a:r>
                      <a:r>
                        <a:rPr lang="ko-KR" sz="900" b="0" i="0" u="none" strike="noStrike">
                          <a:solidFill>
                            <a:srgbClr val="000000"/>
                          </a:solidFill>
                          <a:effectLst/>
                          <a:latin typeface="Arial Narrow" panose="020B0606020202030204" pitchFamily="34" charset="0"/>
                          <a:ea typeface="LG스마트체 Regular" panose="020B0600000101010101" pitchFamily="50" charset="-127"/>
                        </a:rPr>
                        <a:t>차</a:t>
                      </a:r>
                      <a:r>
                        <a:rPr lang="ko-KR" sz="900" b="0" i="0" u="none" strike="noStrike">
                          <a:solidFill>
                            <a:srgbClr val="000000"/>
                          </a:solidFill>
                          <a:effectLst/>
                          <a:latin typeface="Arial Narrow" panose="020B0606020202030204" pitchFamily="34" charset="0"/>
                          <a:ea typeface="맑은 고딕" panose="020B0503020000020004" pitchFamily="50" charset="-127"/>
                        </a:rPr>
                        <a:t> </a:t>
                      </a:r>
                      <a:r>
                        <a:rPr lang="ko-KR" sz="900" b="0" i="0" u="none" strike="noStrike" err="1">
                          <a:solidFill>
                            <a:srgbClr val="000000"/>
                          </a:solidFill>
                          <a:effectLst/>
                          <a:latin typeface="Arial Narrow" panose="020B0606020202030204" pitchFamily="34" charset="0"/>
                          <a:ea typeface="맑은 고딕" panose="020B0503020000020004" pitchFamily="50" charset="-127"/>
                        </a:rPr>
                        <a:t>For</a:t>
                      </a:r>
                      <a:r>
                        <a:rPr lang="ko-KR" sz="900" b="0" i="0" u="none" strike="noStrike">
                          <a:solidFill>
                            <a:srgbClr val="000000"/>
                          </a:solidFill>
                          <a:effectLst/>
                          <a:latin typeface="Arial Narrow" panose="020B0606020202030204" pitchFamily="34" charset="0"/>
                          <a:ea typeface="맑은 고딕" panose="020B0503020000020004" pitchFamily="50" charset="-127"/>
                        </a:rPr>
                        <a: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5220171"/>
                  </a:ext>
                </a:extLst>
              </a:tr>
              <a:tr h="83871">
                <a:tc>
                  <a:txBody>
                    <a:bodyPr/>
                    <a:lstStyle/>
                    <a:p>
                      <a:pPr algn="ctr" fontAlgn="ctr">
                        <a:buNone/>
                      </a:pPr>
                      <a:r>
                        <a:rPr lang="ko-KR" sz="900" b="0" i="0" u="none" strike="noStrike" dirty="0" err="1">
                          <a:solidFill>
                            <a:srgbClr val="000000"/>
                          </a:solidFill>
                          <a:effectLst/>
                          <a:latin typeface="Arial Narrow" panose="020B0606020202030204" pitchFamily="34" charset="0"/>
                          <a:ea typeface="맑은 고딕" panose="020B0503020000020004" pitchFamily="50" charset="-127"/>
                        </a:rPr>
                        <a:t>Grading</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9139487"/>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맑은 고딕" panose="020B0503020000020004" pitchFamily="50" charset="-127"/>
                        </a:rPr>
                        <a:t>EOL</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33860305"/>
                  </a:ext>
                </a:extLst>
              </a:tr>
            </a:tbl>
          </a:graphicData>
        </a:graphic>
      </p:graphicFrame>
      <p:graphicFrame>
        <p:nvGraphicFramePr>
          <p:cNvPr id="58" name="표 57">
            <a:extLst>
              <a:ext uri="{FF2B5EF4-FFF2-40B4-BE49-F238E27FC236}">
                <a16:creationId xmlns:a16="http://schemas.microsoft.com/office/drawing/2014/main" id="{91E4281D-F2C0-AE3E-82B6-51528ABD6444}"/>
              </a:ext>
            </a:extLst>
          </p:cNvPr>
          <p:cNvGraphicFramePr>
            <a:graphicFrameLocks noGrp="1"/>
          </p:cNvGraphicFramePr>
          <p:nvPr>
            <p:extLst>
              <p:ext uri="{D42A27DB-BD31-4B8C-83A1-F6EECF244321}">
                <p14:modId xmlns:p14="http://schemas.microsoft.com/office/powerpoint/2010/main" val="1608284602"/>
              </p:ext>
            </p:extLst>
          </p:nvPr>
        </p:nvGraphicFramePr>
        <p:xfrm>
          <a:off x="545093" y="1272070"/>
          <a:ext cx="2430187" cy="3387917"/>
        </p:xfrm>
        <a:graphic>
          <a:graphicData uri="http://schemas.openxmlformats.org/drawingml/2006/table">
            <a:tbl>
              <a:tblPr/>
              <a:tblGrid>
                <a:gridCol w="641320">
                  <a:extLst>
                    <a:ext uri="{9D8B030D-6E8A-4147-A177-3AD203B41FA5}">
                      <a16:colId xmlns:a16="http://schemas.microsoft.com/office/drawing/2014/main" val="50853754"/>
                    </a:ext>
                  </a:extLst>
                </a:gridCol>
                <a:gridCol w="356289">
                  <a:extLst>
                    <a:ext uri="{9D8B030D-6E8A-4147-A177-3AD203B41FA5}">
                      <a16:colId xmlns:a16="http://schemas.microsoft.com/office/drawing/2014/main" val="3971736398"/>
                    </a:ext>
                  </a:extLst>
                </a:gridCol>
                <a:gridCol w="356289">
                  <a:extLst>
                    <a:ext uri="{9D8B030D-6E8A-4147-A177-3AD203B41FA5}">
                      <a16:colId xmlns:a16="http://schemas.microsoft.com/office/drawing/2014/main" val="312552490"/>
                    </a:ext>
                  </a:extLst>
                </a:gridCol>
                <a:gridCol w="356289">
                  <a:extLst>
                    <a:ext uri="{9D8B030D-6E8A-4147-A177-3AD203B41FA5}">
                      <a16:colId xmlns:a16="http://schemas.microsoft.com/office/drawing/2014/main" val="864025061"/>
                    </a:ext>
                  </a:extLst>
                </a:gridCol>
                <a:gridCol w="360000">
                  <a:extLst>
                    <a:ext uri="{9D8B030D-6E8A-4147-A177-3AD203B41FA5}">
                      <a16:colId xmlns:a16="http://schemas.microsoft.com/office/drawing/2014/main" val="545338682"/>
                    </a:ext>
                  </a:extLst>
                </a:gridCol>
                <a:gridCol w="360000">
                  <a:extLst>
                    <a:ext uri="{9D8B030D-6E8A-4147-A177-3AD203B41FA5}">
                      <a16:colId xmlns:a16="http://schemas.microsoft.com/office/drawing/2014/main" val="3876834440"/>
                    </a:ext>
                  </a:extLst>
                </a:gridCol>
              </a:tblGrid>
              <a:tr h="83871">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ESMI</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ESOT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ESMIL</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ESHD</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mn-ea"/>
                        </a:rPr>
                        <a:t>Total</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7360940"/>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종합 목표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94.2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92.9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000000"/>
                          </a:solidFill>
                          <a:effectLst/>
                          <a:latin typeface="Arial Narrow" panose="020B0606020202030204" pitchFamily="34" charset="0"/>
                          <a:ea typeface="맑은 고딕" panose="020B0503020000020004" pitchFamily="50" charset="-127"/>
                          <a:cs typeface="+mn-cs"/>
                        </a:rPr>
                        <a:t>94.4</a:t>
                      </a:r>
                      <a:endParaRPr lang="ko-KR" altLang="en-US" sz="900" b="1"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83373470"/>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종합 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97.1</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96.5</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1414FE"/>
                          </a:solidFill>
                          <a:effectLst/>
                          <a:latin typeface="Arial Narrow" panose="020B0606020202030204" pitchFamily="34" charset="0"/>
                          <a:ea typeface="맑은 고딕" panose="020B0503020000020004" pitchFamily="50" charset="-127"/>
                          <a:cs typeface="+mn-cs"/>
                        </a:rPr>
                        <a:t>96.6</a:t>
                      </a:r>
                      <a:endParaRPr lang="ko-KR" altLang="en-US" sz="900" b="1" i="0" u="none" strike="noStrike" kern="1200" dirty="0">
                        <a:solidFill>
                          <a:srgbClr val="1414FE"/>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30762421"/>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전극 목표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000000"/>
                          </a:solidFill>
                          <a:effectLst/>
                          <a:latin typeface="Arial Narrow" panose="020B0606020202030204" pitchFamily="34" charset="0"/>
                          <a:ea typeface="맑은 고딕" panose="020B0503020000020004" pitchFamily="50" charset="-127"/>
                          <a:cs typeface="+mn-cs"/>
                        </a:rPr>
                        <a:t>98.3</a:t>
                      </a:r>
                      <a:endParaRPr lang="ko-KR" altLang="en-US" sz="900" b="1"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30881707"/>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전극 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1414FE"/>
                          </a:solidFill>
                          <a:effectLst/>
                          <a:latin typeface="Arial Narrow" panose="020B0606020202030204" pitchFamily="34" charset="0"/>
                          <a:ea typeface="맑은 고딕" panose="020B0503020000020004" pitchFamily="50" charset="-127"/>
                          <a:cs typeface="+mn-cs"/>
                        </a:rPr>
                        <a:t>99.4</a:t>
                      </a:r>
                      <a:endParaRPr lang="ko-KR" altLang="en-US" sz="900" b="1" i="0" u="none" strike="noStrike" kern="1200" dirty="0">
                        <a:solidFill>
                          <a:srgbClr val="1414FE"/>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348198780"/>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믹서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99.0</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4163332"/>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코터</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99.8</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2184602"/>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롤프레스</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99.8</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5062918"/>
                  </a:ext>
                </a:extLst>
              </a:tr>
              <a:tr h="83871">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노칭</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99.8</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3835427"/>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셀</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목표</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95.0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000000"/>
                          </a:solidFill>
                          <a:effectLst/>
                          <a:latin typeface="Arial Narrow" panose="020B0606020202030204" pitchFamily="34" charset="0"/>
                          <a:ea typeface="맑은 고딕" panose="020B0503020000020004" pitchFamily="50" charset="-127"/>
                          <a:cs typeface="+mn-cs"/>
                        </a:rPr>
                        <a:t>96.0</a:t>
                      </a:r>
                      <a:endParaRPr lang="ko-KR" altLang="en-US" sz="900" b="1"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882214476"/>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셀 </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97.5</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1414FE"/>
                          </a:solidFill>
                          <a:effectLst/>
                          <a:latin typeface="Arial Narrow" panose="020B0606020202030204" pitchFamily="34" charset="0"/>
                          <a:ea typeface="맑은 고딕" panose="020B0503020000020004" pitchFamily="50" charset="-127"/>
                          <a:cs typeface="+mn-cs"/>
                        </a:rPr>
                        <a:t>97.3</a:t>
                      </a:r>
                      <a:endParaRPr lang="ko-KR" altLang="en-US" sz="900" b="1" i="0" u="none" strike="noStrike" kern="1200" dirty="0">
                        <a:solidFill>
                          <a:srgbClr val="1414FE"/>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56166914"/>
                  </a:ext>
                </a:extLst>
              </a:tr>
              <a:tr h="83871">
                <a:tc>
                  <a:txBody>
                    <a:bodyPr/>
                    <a:lstStyle/>
                    <a:p>
                      <a:pPr algn="ctr" fontAlgn="ctr">
                        <a:buNone/>
                      </a:pPr>
                      <a:r>
                        <a:rPr lang="ko-KR" sz="900" b="0" i="0" u="none" strike="noStrike">
                          <a:solidFill>
                            <a:srgbClr val="000000"/>
                          </a:solidFill>
                          <a:effectLst/>
                          <a:latin typeface="Arial Narrow" panose="020B0606020202030204" pitchFamily="34" charset="0"/>
                          <a:ea typeface="LG스마트체 Regular" panose="020B0600000101010101" pitchFamily="50" charset="-127"/>
                        </a:rPr>
                        <a:t>조립 목표</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96.2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000000"/>
                          </a:solidFill>
                          <a:effectLst/>
                          <a:latin typeface="Arial Narrow" panose="020B0606020202030204" pitchFamily="34" charset="0"/>
                          <a:ea typeface="맑은 고딕" panose="020B0503020000020004" pitchFamily="50" charset="-127"/>
                          <a:cs typeface="+mn-cs"/>
                        </a:rPr>
                        <a:t>97.0</a:t>
                      </a:r>
                      <a:endParaRPr lang="ko-KR" altLang="en-US" sz="900" b="1"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7103434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조립</a:t>
                      </a:r>
                      <a:r>
                        <a:rPr lang="ko-KR" sz="900" b="0" i="0" u="none" strike="noStrike" dirty="0">
                          <a:solidFill>
                            <a:srgbClr val="000000"/>
                          </a:solidFill>
                          <a:effectLst/>
                          <a:latin typeface="Arial Narrow" panose="020B0606020202030204" pitchFamily="34" charset="0"/>
                          <a:ea typeface="맑은 고딕" panose="020B0503020000020004" pitchFamily="50" charset="-127"/>
                        </a:rPr>
                        <a:t> </a:t>
                      </a:r>
                      <a:r>
                        <a:rPr lang="ko-KR" altLang="en-US" sz="900" b="0" i="0" u="none" strike="noStrike" dirty="0">
                          <a:solidFill>
                            <a:srgbClr val="000000"/>
                          </a:solidFill>
                          <a:effectLst/>
                          <a:latin typeface="Arial Narrow" panose="020B0606020202030204" pitchFamily="34" charset="0"/>
                          <a:ea typeface="맑은 고딕" panose="020B0503020000020004" pitchFamily="50" charset="-127"/>
                        </a:rPr>
                        <a:t>수율</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98.4</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97.9</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98.1</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1414FE"/>
                          </a:solidFill>
                          <a:effectLst/>
                          <a:latin typeface="Arial Narrow" panose="020B0606020202030204" pitchFamily="34" charset="0"/>
                          <a:ea typeface="맑은 고딕" panose="020B0503020000020004" pitchFamily="50" charset="-127"/>
                          <a:cs typeface="+mn-cs"/>
                        </a:rPr>
                        <a:t>98.2</a:t>
                      </a:r>
                      <a:endParaRPr lang="ko-KR" altLang="en-US" sz="900" b="1" i="0" u="none" strike="noStrike" kern="1200" dirty="0">
                        <a:solidFill>
                          <a:srgbClr val="1414FE"/>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52226065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라미</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99.1</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009272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스태킹</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99.2</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2644006"/>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패키지</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99.9</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11330731"/>
                  </a:ext>
                </a:extLst>
              </a:tr>
              <a:tr h="83871">
                <a:tc>
                  <a:txBody>
                    <a:bodyPr/>
                    <a:lstStyle/>
                    <a:p>
                      <a:pPr algn="ctr" fontAlgn="ctr">
                        <a:buNone/>
                      </a:pPr>
                      <a:r>
                        <a:rPr lang="ko-KR" sz="900" b="0" i="0" u="none" strike="noStrike">
                          <a:solidFill>
                            <a:srgbClr val="000000"/>
                          </a:solidFill>
                          <a:effectLst/>
                          <a:latin typeface="Arial Narrow" panose="020B0606020202030204" pitchFamily="34" charset="0"/>
                          <a:ea typeface="LG스마트체 Regular" panose="020B0600000101010101" pitchFamily="50" charset="-127"/>
                        </a:rPr>
                        <a:t>활성화 목표</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99.2</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99.0</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98.7</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98.8</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000000"/>
                          </a:solidFill>
                          <a:effectLst/>
                          <a:latin typeface="Arial Narrow" panose="020B0606020202030204" pitchFamily="34" charset="0"/>
                          <a:ea typeface="맑은 고딕" panose="020B0503020000020004" pitchFamily="50" charset="-127"/>
                          <a:cs typeface="+mn-cs"/>
                        </a:rPr>
                        <a:t>99.0</a:t>
                      </a:r>
                      <a:endParaRPr lang="ko-KR" altLang="en-US" sz="900" b="1"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1021259"/>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활성화 </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99.3</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99.1</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900" b="1" i="0" u="none" strike="noStrike" dirty="0">
                          <a:solidFill>
                            <a:srgbClr val="000000"/>
                          </a:solidFill>
                          <a:effectLst/>
                          <a:latin typeface="Arial Narrow" panose="020B0606020202030204" pitchFamily="34" charset="0"/>
                          <a:ea typeface="맑은 고딕" panose="020B0503020000020004" pitchFamily="50" charset="-127"/>
                        </a:rPr>
                        <a:t>98.6</a:t>
                      </a:r>
                      <a:endParaRPr lang="ko-KR" sz="9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904982" rtl="0" eaLnBrk="1" fontAlgn="ctr" latinLnBrk="1" hangingPunct="1">
                        <a:buNone/>
                      </a:pPr>
                      <a:r>
                        <a:rPr lang="en-US" altLang="ko-KR" sz="900" b="1" i="0" u="none" strike="noStrike" kern="1200" dirty="0">
                          <a:solidFill>
                            <a:srgbClr val="1414FE"/>
                          </a:solidFill>
                          <a:effectLst/>
                          <a:latin typeface="Arial Narrow" panose="020B0606020202030204" pitchFamily="34" charset="0"/>
                          <a:ea typeface="맑은 고딕" panose="020B0503020000020004" pitchFamily="50" charset="-127"/>
                          <a:cs typeface="+mn-cs"/>
                        </a:rPr>
                        <a:t>99.1</a:t>
                      </a:r>
                      <a:endParaRPr lang="ko-KR" altLang="en-US" sz="900" b="1" i="0" u="none" strike="noStrike" kern="1200" dirty="0">
                        <a:solidFill>
                          <a:srgbClr val="1414FE"/>
                        </a:solidFill>
                        <a:effectLst/>
                        <a:latin typeface="Arial Narrow" panose="020B0606020202030204" pitchFamily="34" charset="0"/>
                        <a:ea typeface="맑은 고딕" panose="020B0503020000020004" pitchFamily="50" charset="-127"/>
                        <a:cs typeface="+mn-cs"/>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801682248"/>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맑은 고딕" panose="020B0503020000020004" pitchFamily="50" charset="-127"/>
                        </a:rPr>
                        <a:t>1</a:t>
                      </a: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차</a:t>
                      </a:r>
                      <a:r>
                        <a:rPr lang="ko-KR" sz="900" b="0" i="0" u="none" strike="noStrike" dirty="0">
                          <a:solidFill>
                            <a:srgbClr val="000000"/>
                          </a:solidFill>
                          <a:effectLst/>
                          <a:latin typeface="Arial Narrow" panose="020B0606020202030204" pitchFamily="34" charset="0"/>
                          <a:ea typeface="맑은 고딕" panose="020B0503020000020004" pitchFamily="50" charset="-127"/>
                        </a:rPr>
                        <a:t> </a:t>
                      </a:r>
                      <a:r>
                        <a:rPr lang="ko-KR" sz="900" b="0" i="0" u="none" strike="noStrike" dirty="0" err="1">
                          <a:solidFill>
                            <a:srgbClr val="000000"/>
                          </a:solidFill>
                          <a:effectLst/>
                          <a:latin typeface="Arial Narrow" panose="020B0606020202030204" pitchFamily="34" charset="0"/>
                          <a:ea typeface="맑은 고딕" panose="020B0503020000020004" pitchFamily="50" charset="-127"/>
                        </a:rPr>
                        <a:t>For</a:t>
                      </a:r>
                      <a:r>
                        <a:rPr lang="ko-KR" sz="900" b="0" i="0" u="none" strike="noStrike" dirty="0">
                          <a:solidFill>
                            <a:srgbClr val="000000"/>
                          </a:solidFill>
                          <a:effectLst/>
                          <a:latin typeface="Arial Narrow" panose="020B0606020202030204" pitchFamily="34" charset="0"/>
                          <a:ea typeface="맑은 고딕" panose="020B0503020000020004" pitchFamily="50" charset="-127"/>
                        </a:rPr>
                        <a: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100.0</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5946929"/>
                  </a:ext>
                </a:extLst>
              </a:tr>
              <a:tr h="83871">
                <a:tc>
                  <a:txBody>
                    <a:bodyPr/>
                    <a:lstStyle/>
                    <a:p>
                      <a:pPr algn="ctr" fontAlgn="ctr">
                        <a:buNone/>
                      </a:pPr>
                      <a:r>
                        <a:rPr lang="ko-KR" sz="900" b="0" i="0" u="none" strike="noStrike" dirty="0" err="1">
                          <a:solidFill>
                            <a:srgbClr val="000000"/>
                          </a:solidFill>
                          <a:effectLst/>
                          <a:latin typeface="Arial Narrow" panose="020B0606020202030204" pitchFamily="34" charset="0"/>
                          <a:ea typeface="LG스마트체 Regular" panose="020B0600000101010101" pitchFamily="50" charset="-127"/>
                        </a:rPr>
                        <a:t>디가스</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100.0</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6229798"/>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맑은 고딕" panose="020B0503020000020004" pitchFamily="50" charset="-127"/>
                        </a:rPr>
                        <a:t>2</a:t>
                      </a:r>
                      <a:r>
                        <a:rPr lang="ko-KR" sz="900" b="0" i="0" u="none" strike="noStrike" dirty="0">
                          <a:solidFill>
                            <a:srgbClr val="000000"/>
                          </a:solidFill>
                          <a:effectLst/>
                          <a:latin typeface="Arial Narrow" panose="020B0606020202030204" pitchFamily="34" charset="0"/>
                          <a:ea typeface="LG스마트체 Regular" panose="020B0600000101010101" pitchFamily="50" charset="-127"/>
                        </a:rPr>
                        <a:t>차</a:t>
                      </a:r>
                      <a:r>
                        <a:rPr lang="ko-KR" sz="900" b="0" i="0" u="none" strike="noStrike" dirty="0">
                          <a:solidFill>
                            <a:srgbClr val="000000"/>
                          </a:solidFill>
                          <a:effectLst/>
                          <a:latin typeface="Arial Narrow" panose="020B0606020202030204" pitchFamily="34" charset="0"/>
                          <a:ea typeface="맑은 고딕" panose="020B0503020000020004" pitchFamily="50" charset="-127"/>
                        </a:rPr>
                        <a:t> </a:t>
                      </a:r>
                      <a:r>
                        <a:rPr lang="ko-KR" sz="900" b="0" i="0" u="none" strike="noStrike" dirty="0" err="1">
                          <a:solidFill>
                            <a:srgbClr val="000000"/>
                          </a:solidFill>
                          <a:effectLst/>
                          <a:latin typeface="Arial Narrow" panose="020B0606020202030204" pitchFamily="34" charset="0"/>
                          <a:ea typeface="맑은 고딕" panose="020B0503020000020004" pitchFamily="50" charset="-127"/>
                        </a:rPr>
                        <a:t>For</a:t>
                      </a:r>
                      <a:r>
                        <a:rPr lang="ko-KR" sz="900" b="0" i="0" u="none" strike="noStrike" dirty="0">
                          <a:solidFill>
                            <a:srgbClr val="000000"/>
                          </a:solidFill>
                          <a:effectLst/>
                          <a:latin typeface="Arial Narrow" panose="020B0606020202030204" pitchFamily="34" charset="0"/>
                          <a:ea typeface="맑은 고딕" panose="020B0503020000020004" pitchFamily="50" charset="-127"/>
                        </a:rPr>
                        <a: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99.9</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75220171"/>
                  </a:ext>
                </a:extLst>
              </a:tr>
              <a:tr h="83871">
                <a:tc>
                  <a:txBody>
                    <a:bodyPr/>
                    <a:lstStyle/>
                    <a:p>
                      <a:pPr algn="ctr" fontAlgn="ctr">
                        <a:buNone/>
                      </a:pPr>
                      <a:r>
                        <a:rPr lang="ko-KR" sz="900" b="0" i="0" u="none" strike="noStrike" dirty="0" err="1">
                          <a:solidFill>
                            <a:srgbClr val="000000"/>
                          </a:solidFill>
                          <a:effectLst/>
                          <a:latin typeface="Arial Narrow" panose="020B0606020202030204" pitchFamily="34" charset="0"/>
                          <a:ea typeface="맑은 고딕" panose="020B0503020000020004" pitchFamily="50" charset="-127"/>
                        </a:rPr>
                        <a:t>Grading</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99.7</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49139487"/>
                  </a:ext>
                </a:extLst>
              </a:tr>
              <a:tr h="83871">
                <a:tc>
                  <a:txBody>
                    <a:bodyPr/>
                    <a:lstStyle/>
                    <a:p>
                      <a:pPr algn="ctr" fontAlgn="ctr">
                        <a:buNone/>
                      </a:pPr>
                      <a:r>
                        <a:rPr lang="ko-KR" sz="900" b="0" i="0" u="none" strike="noStrike" dirty="0">
                          <a:solidFill>
                            <a:srgbClr val="000000"/>
                          </a:solidFill>
                          <a:effectLst/>
                          <a:latin typeface="Arial Narrow" panose="020B0606020202030204" pitchFamily="34" charset="0"/>
                          <a:ea typeface="맑은 고딕" panose="020B0503020000020004" pitchFamily="50" charset="-127"/>
                        </a:rPr>
                        <a:t>EOL</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algn="ctr" defTabSz="904982" rtl="0" eaLnBrk="1" fontAlgn="ctr" latinLnBrk="1" hangingPunct="1">
                        <a:buNone/>
                      </a:pPr>
                      <a:r>
                        <a:rPr lang="en-US" altLang="ko-KR" sz="900" b="0" i="0" u="none" strike="noStrike" kern="1200" dirty="0">
                          <a:solidFill>
                            <a:srgbClr val="000000"/>
                          </a:solidFill>
                          <a:effectLst/>
                          <a:latin typeface="Arial Narrow" panose="020B0606020202030204" pitchFamily="34" charset="0"/>
                          <a:ea typeface="맑은 고딕" panose="020B0503020000020004" pitchFamily="50" charset="-127"/>
                          <a:cs typeface="+mn-cs"/>
                        </a:rPr>
                        <a:t>99.6</a:t>
                      </a:r>
                      <a:endParaRPr lang="ko-KR" altLang="en-US" sz="900" b="0" i="0" u="none" strike="noStrike" kern="1200" dirty="0">
                        <a:solidFill>
                          <a:srgbClr val="000000"/>
                        </a:solidFill>
                        <a:effectLst/>
                        <a:latin typeface="Arial Narrow" panose="020B0606020202030204" pitchFamily="34" charset="0"/>
                        <a:ea typeface="맑은 고딕" panose="020B0503020000020004" pitchFamily="50" charset="-127"/>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33860305"/>
                  </a:ext>
                </a:extLst>
              </a:tr>
            </a:tbl>
          </a:graphicData>
        </a:graphic>
      </p:graphicFrame>
      <p:sp>
        <p:nvSpPr>
          <p:cNvPr id="61" name="TextBox 60">
            <a:extLst>
              <a:ext uri="{FF2B5EF4-FFF2-40B4-BE49-F238E27FC236}">
                <a16:creationId xmlns:a16="http://schemas.microsoft.com/office/drawing/2014/main" id="{45A67821-CFAE-59C3-938E-24A07853E6F3}"/>
              </a:ext>
            </a:extLst>
          </p:cNvPr>
          <p:cNvSpPr txBox="1"/>
          <p:nvPr/>
        </p:nvSpPr>
        <p:spPr>
          <a:xfrm>
            <a:off x="435546" y="1045319"/>
            <a:ext cx="2395719" cy="243683"/>
          </a:xfrm>
          <a:prstGeom prst="rect">
            <a:avLst/>
          </a:prstGeom>
          <a:noFill/>
        </p:spPr>
        <p:txBody>
          <a:bodyPr wrap="square" rtlCol="0">
            <a:spAutoFit/>
          </a:bodyPr>
          <a:lstStyle/>
          <a:p>
            <a:pPr marL="0" marR="0" lvl="0" indent="0" algn="l" defTabSz="904982" rtl="0" eaLnBrk="1" fontAlgn="auto" latinLnBrk="1" hangingPunct="1">
              <a:lnSpc>
                <a:spcPct val="100000"/>
              </a:lnSpc>
              <a:spcBef>
                <a:spcPts val="0"/>
              </a:spcBef>
              <a:spcAft>
                <a:spcPts val="0"/>
              </a:spcAft>
              <a:buClrTx/>
              <a:buSzTx/>
              <a:buFontTx/>
              <a:buNone/>
              <a:tabLst/>
              <a:defRPr/>
            </a:pPr>
            <a:r>
              <a:rPr kumimoji="0" lang="ko-KR" altLang="en-US"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수율 현황</a:t>
            </a:r>
            <a:r>
              <a:rPr kumimoji="0" lang="en-US" altLang="ko-KR"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(8</a:t>
            </a:r>
            <a:r>
              <a:rPr kumimoji="0" lang="ko-KR" altLang="en-US"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월</a:t>
            </a:r>
            <a:r>
              <a:rPr kumimoji="0" lang="en-US" altLang="ko-KR"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a:t>
            </a:r>
            <a:endParaRPr kumimoji="0" lang="ko-KR" altLang="en-US"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endParaRPr>
          </a:p>
        </p:txBody>
      </p:sp>
      <p:graphicFrame>
        <p:nvGraphicFramePr>
          <p:cNvPr id="62" name="표 61">
            <a:extLst>
              <a:ext uri="{FF2B5EF4-FFF2-40B4-BE49-F238E27FC236}">
                <a16:creationId xmlns:a16="http://schemas.microsoft.com/office/drawing/2014/main" id="{0B542F12-2C22-E057-C5A6-BB520B7309B1}"/>
              </a:ext>
            </a:extLst>
          </p:cNvPr>
          <p:cNvGraphicFramePr>
            <a:graphicFrameLocks noGrp="1"/>
          </p:cNvGraphicFramePr>
          <p:nvPr/>
        </p:nvGraphicFramePr>
        <p:xfrm>
          <a:off x="464336" y="4895901"/>
          <a:ext cx="1266071" cy="1699389"/>
        </p:xfrm>
        <a:graphic>
          <a:graphicData uri="http://schemas.openxmlformats.org/drawingml/2006/table">
            <a:tbl>
              <a:tblPr/>
              <a:tblGrid>
                <a:gridCol w="679254">
                  <a:extLst>
                    <a:ext uri="{9D8B030D-6E8A-4147-A177-3AD203B41FA5}">
                      <a16:colId xmlns:a16="http://schemas.microsoft.com/office/drawing/2014/main" val="50853754"/>
                    </a:ext>
                  </a:extLst>
                </a:gridCol>
                <a:gridCol w="226817">
                  <a:extLst>
                    <a:ext uri="{9D8B030D-6E8A-4147-A177-3AD203B41FA5}">
                      <a16:colId xmlns:a16="http://schemas.microsoft.com/office/drawing/2014/main" val="3971736398"/>
                    </a:ext>
                  </a:extLst>
                </a:gridCol>
                <a:gridCol w="360000">
                  <a:extLst>
                    <a:ext uri="{9D8B030D-6E8A-4147-A177-3AD203B41FA5}">
                      <a16:colId xmlns:a16="http://schemas.microsoft.com/office/drawing/2014/main" val="312552490"/>
                    </a:ext>
                  </a:extLst>
                </a:gridCol>
              </a:tblGrid>
              <a:tr h="282716">
                <a:tc>
                  <a:txBody>
                    <a:bodyPr/>
                    <a:lstStyle/>
                    <a:p>
                      <a:pPr algn="ctr" fontAlgn="ctr">
                        <a:buNone/>
                      </a:pPr>
                      <a:r>
                        <a:rPr lang="ko-KR" altLang="en-US" sz="900" b="0" i="0" u="none" strike="noStrike" dirty="0" err="1">
                          <a:solidFill>
                            <a:srgbClr val="000000"/>
                          </a:solidFill>
                          <a:effectLst/>
                          <a:latin typeface="Arial Narrow" panose="020B0606020202030204" pitchFamily="34" charset="0"/>
                          <a:ea typeface="LG스마트체 Regular" panose="020B0600000101010101" pitchFamily="50" charset="-127"/>
                        </a:rPr>
                        <a:t>불량명</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97360940"/>
                  </a:ext>
                </a:extLst>
              </a:tr>
              <a:tr h="282716">
                <a:tc>
                  <a:txBody>
                    <a:bodyPr/>
                    <a:lstStyle/>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롤프레스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연신량</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0.45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0.49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3373470"/>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스태킹</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모노세파외관</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0.45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166914"/>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NG Mark</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0.47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1034349"/>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스태킹</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미확인</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2260659"/>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노칭</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 </a:t>
                      </a: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전공정</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092729"/>
                  </a:ext>
                </a:extLst>
              </a:tr>
            </a:tbl>
          </a:graphicData>
        </a:graphic>
      </p:graphicFrame>
      <p:graphicFrame>
        <p:nvGraphicFramePr>
          <p:cNvPr id="63" name="표 62">
            <a:extLst>
              <a:ext uri="{FF2B5EF4-FFF2-40B4-BE49-F238E27FC236}">
                <a16:creationId xmlns:a16="http://schemas.microsoft.com/office/drawing/2014/main" id="{AB7D3080-D4AD-60A3-39EE-E2AD27A26048}"/>
              </a:ext>
            </a:extLst>
          </p:cNvPr>
          <p:cNvGraphicFramePr>
            <a:graphicFrameLocks noGrp="1"/>
          </p:cNvGraphicFramePr>
          <p:nvPr/>
        </p:nvGraphicFramePr>
        <p:xfrm>
          <a:off x="1777432" y="4895901"/>
          <a:ext cx="1267200" cy="1699389"/>
        </p:xfrm>
        <a:graphic>
          <a:graphicData uri="http://schemas.openxmlformats.org/drawingml/2006/table">
            <a:tbl>
              <a:tblPr/>
              <a:tblGrid>
                <a:gridCol w="667835">
                  <a:extLst>
                    <a:ext uri="{9D8B030D-6E8A-4147-A177-3AD203B41FA5}">
                      <a16:colId xmlns:a16="http://schemas.microsoft.com/office/drawing/2014/main" val="50853754"/>
                    </a:ext>
                  </a:extLst>
                </a:gridCol>
                <a:gridCol w="231667">
                  <a:extLst>
                    <a:ext uri="{9D8B030D-6E8A-4147-A177-3AD203B41FA5}">
                      <a16:colId xmlns:a16="http://schemas.microsoft.com/office/drawing/2014/main" val="3971736398"/>
                    </a:ext>
                  </a:extLst>
                </a:gridCol>
                <a:gridCol w="367698">
                  <a:extLst>
                    <a:ext uri="{9D8B030D-6E8A-4147-A177-3AD203B41FA5}">
                      <a16:colId xmlns:a16="http://schemas.microsoft.com/office/drawing/2014/main" val="312552490"/>
                    </a:ext>
                  </a:extLst>
                </a:gridCol>
              </a:tblGrid>
              <a:tr h="282716">
                <a:tc>
                  <a:txBody>
                    <a:bodyPr/>
                    <a:lstStyle/>
                    <a:p>
                      <a:pPr algn="ctr" fontAlgn="ctr">
                        <a:buNone/>
                      </a:pPr>
                      <a:r>
                        <a:rPr lang="ko-KR" altLang="en-US" sz="900" b="0" i="0" u="none" strike="noStrike" dirty="0" err="1">
                          <a:solidFill>
                            <a:srgbClr val="000000"/>
                          </a:solidFill>
                          <a:effectLst/>
                          <a:latin typeface="Arial Narrow" panose="020B0606020202030204" pitchFamily="34" charset="0"/>
                          <a:ea typeface="LG스마트체 Regular" panose="020B0600000101010101" pitchFamily="50" charset="-127"/>
                        </a:rPr>
                        <a:t>불량명</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97360940"/>
                  </a:ext>
                </a:extLst>
              </a:tr>
              <a:tr h="282716">
                <a:tc>
                  <a:txBody>
                    <a:bodyPr/>
                    <a:lstStyle/>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롤프레스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연신량</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3373470"/>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NG Mark</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0.86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166914"/>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믹싱</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공정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Loss</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1034349"/>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스태킹</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모노세파외관</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0.27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2260659"/>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IR</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092729"/>
                  </a:ext>
                </a:extLst>
              </a:tr>
            </a:tbl>
          </a:graphicData>
        </a:graphic>
      </p:graphicFrame>
      <p:graphicFrame>
        <p:nvGraphicFramePr>
          <p:cNvPr id="64" name="표 63">
            <a:extLst>
              <a:ext uri="{FF2B5EF4-FFF2-40B4-BE49-F238E27FC236}">
                <a16:creationId xmlns:a16="http://schemas.microsoft.com/office/drawing/2014/main" id="{C1AE4CA1-1800-7D98-C604-C4CA76DA7747}"/>
              </a:ext>
            </a:extLst>
          </p:cNvPr>
          <p:cNvGraphicFramePr>
            <a:graphicFrameLocks noGrp="1"/>
          </p:cNvGraphicFramePr>
          <p:nvPr/>
        </p:nvGraphicFramePr>
        <p:xfrm>
          <a:off x="3091657" y="4895901"/>
          <a:ext cx="1267200" cy="1698358"/>
        </p:xfrm>
        <a:graphic>
          <a:graphicData uri="http://schemas.openxmlformats.org/drawingml/2006/table">
            <a:tbl>
              <a:tblPr/>
              <a:tblGrid>
                <a:gridCol w="667835">
                  <a:extLst>
                    <a:ext uri="{9D8B030D-6E8A-4147-A177-3AD203B41FA5}">
                      <a16:colId xmlns:a16="http://schemas.microsoft.com/office/drawing/2014/main" val="50853754"/>
                    </a:ext>
                  </a:extLst>
                </a:gridCol>
                <a:gridCol w="231667">
                  <a:extLst>
                    <a:ext uri="{9D8B030D-6E8A-4147-A177-3AD203B41FA5}">
                      <a16:colId xmlns:a16="http://schemas.microsoft.com/office/drawing/2014/main" val="3971736398"/>
                    </a:ext>
                  </a:extLst>
                </a:gridCol>
                <a:gridCol w="367698">
                  <a:extLst>
                    <a:ext uri="{9D8B030D-6E8A-4147-A177-3AD203B41FA5}">
                      <a16:colId xmlns:a16="http://schemas.microsoft.com/office/drawing/2014/main" val="312552490"/>
                    </a:ext>
                  </a:extLst>
                </a:gridCol>
              </a:tblGrid>
              <a:tr h="282716">
                <a:tc>
                  <a:txBody>
                    <a:bodyPr/>
                    <a:lstStyle/>
                    <a:p>
                      <a:pPr algn="ctr" fontAlgn="ctr">
                        <a:buNone/>
                      </a:pPr>
                      <a:r>
                        <a:rPr lang="ko-KR" altLang="en-US" sz="900" b="0" i="0" u="none" strike="noStrike" dirty="0" err="1">
                          <a:solidFill>
                            <a:srgbClr val="000000"/>
                          </a:solidFill>
                          <a:effectLst/>
                          <a:latin typeface="Arial Narrow" panose="020B0606020202030204" pitchFamily="34" charset="0"/>
                          <a:ea typeface="LG스마트체 Regular" panose="020B0600000101010101" pitchFamily="50" charset="-127"/>
                        </a:rPr>
                        <a:t>불량명</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97360940"/>
                  </a:ext>
                </a:extLst>
              </a:tr>
              <a:tr h="282716">
                <a:tc>
                  <a:txBody>
                    <a:bodyPr/>
                    <a:lstStyle/>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롤프레스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연신량</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3373470"/>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NG Mark</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0.50</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166914"/>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W </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등급</a:t>
                      </a:r>
                      <a:b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br>
                      <a:r>
                        <a:rPr lang="en-US" altLang="ko-KR" sz="800" b="0" i="0" u="none" strike="noStrike" dirty="0">
                          <a:solidFill>
                            <a:srgbClr val="006600"/>
                          </a:solidFill>
                          <a:effectLst/>
                          <a:latin typeface="Arial Narrow" panose="020B0606020202030204" pitchFamily="34" charset="0"/>
                          <a:ea typeface="LG스마트체 Regular" panose="020B0600000101010101" pitchFamily="50" charset="-127"/>
                        </a:rPr>
                        <a:t>(=Q-NG)</a:t>
                      </a:r>
                      <a:endParaRPr lang="ko-KR" sz="900" b="0" i="0" u="none" strike="noStrike" dirty="0">
                        <a:solidFill>
                          <a:srgbClr val="0066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1034349"/>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스태킹</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모노세파외관</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0.28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0.29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2260659"/>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노칭</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 미확인</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0.24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0.19</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092729"/>
                  </a:ext>
                </a:extLst>
              </a:tr>
            </a:tbl>
          </a:graphicData>
        </a:graphic>
      </p:graphicFrame>
      <p:graphicFrame>
        <p:nvGraphicFramePr>
          <p:cNvPr id="66" name="표 65">
            <a:extLst>
              <a:ext uri="{FF2B5EF4-FFF2-40B4-BE49-F238E27FC236}">
                <a16:creationId xmlns:a16="http://schemas.microsoft.com/office/drawing/2014/main" id="{C3986C6E-4E38-9C7D-03CE-4FD9B153217E}"/>
              </a:ext>
            </a:extLst>
          </p:cNvPr>
          <p:cNvGraphicFramePr>
            <a:graphicFrameLocks noGrp="1"/>
          </p:cNvGraphicFramePr>
          <p:nvPr/>
        </p:nvGraphicFramePr>
        <p:xfrm>
          <a:off x="4405881" y="4895901"/>
          <a:ext cx="1267199" cy="1698358"/>
        </p:xfrm>
        <a:graphic>
          <a:graphicData uri="http://schemas.openxmlformats.org/drawingml/2006/table">
            <a:tbl>
              <a:tblPr/>
              <a:tblGrid>
                <a:gridCol w="534752">
                  <a:extLst>
                    <a:ext uri="{9D8B030D-6E8A-4147-A177-3AD203B41FA5}">
                      <a16:colId xmlns:a16="http://schemas.microsoft.com/office/drawing/2014/main" val="50853754"/>
                    </a:ext>
                  </a:extLst>
                </a:gridCol>
                <a:gridCol w="283106">
                  <a:extLst>
                    <a:ext uri="{9D8B030D-6E8A-4147-A177-3AD203B41FA5}">
                      <a16:colId xmlns:a16="http://schemas.microsoft.com/office/drawing/2014/main" val="3971736398"/>
                    </a:ext>
                  </a:extLst>
                </a:gridCol>
                <a:gridCol w="449341">
                  <a:extLst>
                    <a:ext uri="{9D8B030D-6E8A-4147-A177-3AD203B41FA5}">
                      <a16:colId xmlns:a16="http://schemas.microsoft.com/office/drawing/2014/main" val="312552490"/>
                    </a:ext>
                  </a:extLst>
                </a:gridCol>
              </a:tblGrid>
              <a:tr h="282716">
                <a:tc>
                  <a:txBody>
                    <a:bodyPr/>
                    <a:lstStyle/>
                    <a:p>
                      <a:pPr algn="ctr" fontAlgn="ctr">
                        <a:buNone/>
                      </a:pPr>
                      <a:r>
                        <a:rPr lang="ko-KR" altLang="en-US" sz="900" b="0" i="0" u="none" strike="noStrike" dirty="0" err="1">
                          <a:solidFill>
                            <a:srgbClr val="000000"/>
                          </a:solidFill>
                          <a:effectLst/>
                          <a:latin typeface="Arial Narrow" panose="020B0606020202030204" pitchFamily="34" charset="0"/>
                          <a:ea typeface="LG스마트체 Regular" panose="020B0600000101010101" pitchFamily="50" charset="-127"/>
                        </a:rPr>
                        <a:t>불량명</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97360940"/>
                  </a:ext>
                </a:extLst>
              </a:tr>
              <a:tr h="282716">
                <a:tc>
                  <a:txBody>
                    <a:bodyPr/>
                    <a:lstStyle/>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믹싱</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공정 </a:t>
                      </a: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Loss</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0.93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3373470"/>
                  </a:ext>
                </a:extLst>
              </a:tr>
              <a:tr h="282716">
                <a:tc>
                  <a:txBody>
                    <a:bodyPr/>
                    <a:lstStyle/>
                    <a:p>
                      <a:pPr algn="ctr" rtl="0" fontAlgn="ctr">
                        <a:buNone/>
                      </a:pP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롤프레스 </a:t>
                      </a:r>
                      <a:endPar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p>
                      <a:pPr algn="ctr" rtl="0" fontAlgn="ctr">
                        <a:buNone/>
                      </a:pPr>
                      <a:r>
                        <a:rPr lang="ko-KR" altLang="en-US" sz="900" b="0" i="0" u="none" strike="noStrike" dirty="0" err="1">
                          <a:solidFill>
                            <a:schemeClr val="tx1"/>
                          </a:solidFill>
                          <a:effectLst/>
                          <a:latin typeface="Arial Narrow" panose="020B0606020202030204" pitchFamily="34" charset="0"/>
                          <a:ea typeface="LG스마트체 Regular" panose="020B0600000101010101" pitchFamily="50" charset="-127"/>
                        </a:rPr>
                        <a:t>연신량</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0.53</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166914"/>
                  </a:ext>
                </a:extLst>
              </a:tr>
              <a:tr h="282716">
                <a:tc>
                  <a:txBody>
                    <a:bodyPr/>
                    <a:lstStyle/>
                    <a:p>
                      <a:pPr marL="0" marR="0" lvl="0" indent="0" algn="ctr" defTabSz="904982"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E </a:t>
                      </a:r>
                      <a:r>
                        <a:rPr lang="ko-KR" altLang="en-US" sz="900" b="0" i="0" u="none" strike="noStrike" dirty="0">
                          <a:solidFill>
                            <a:schemeClr val="tx1"/>
                          </a:solidFill>
                          <a:effectLst/>
                          <a:latin typeface="Arial Narrow" panose="020B0606020202030204" pitchFamily="34" charset="0"/>
                          <a:ea typeface="LG스마트체 Regular" panose="020B0600000101010101" pitchFamily="50" charset="-127"/>
                        </a:rPr>
                        <a:t>등급</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0.35</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0.27</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1034349"/>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NG Mark</a:t>
                      </a:r>
                      <a:endParaRPr lang="ko-KR" alt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0.42</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0.54</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2260659"/>
                  </a:ext>
                </a:extLst>
              </a:tr>
              <a:tr h="282716">
                <a:tc>
                  <a:txBody>
                    <a:bodyPr/>
                    <a:lstStyle/>
                    <a:p>
                      <a:pPr algn="ctr" rtl="0" fontAlgn="ctr">
                        <a:buNone/>
                      </a:pPr>
                      <a:r>
                        <a:rPr lang="en-US" altLang="ko-KR" sz="900" b="0" i="0" u="none" strike="noStrike" dirty="0">
                          <a:solidFill>
                            <a:schemeClr val="tx1"/>
                          </a:solidFill>
                          <a:effectLst/>
                          <a:latin typeface="Arial Narrow" panose="020B0606020202030204" pitchFamily="34" charset="0"/>
                          <a:ea typeface="LG스마트체 Regular" panose="020B0600000101010101" pitchFamily="50" charset="-127"/>
                        </a:rPr>
                        <a:t>mV/day</a:t>
                      </a:r>
                      <a:endParaRPr lang="ko-KR" sz="9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0.31</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900" b="0" i="0" u="none" strike="noStrike" dirty="0">
                          <a:solidFill>
                            <a:srgbClr val="000000"/>
                          </a:solidFill>
                          <a:effectLst/>
                          <a:latin typeface="Arial Narrow" panose="020B0606020202030204" pitchFamily="34" charset="0"/>
                          <a:ea typeface="맑은 고딕" panose="020B0503020000020004" pitchFamily="50" charset="-127"/>
                        </a:rPr>
                        <a:t>0.18</a:t>
                      </a:r>
                      <a:endParaRPr lang="ko-KR" sz="9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0092729"/>
                  </a:ext>
                </a:extLst>
              </a:tr>
            </a:tbl>
          </a:graphicData>
        </a:graphic>
      </p:graphicFrame>
      <p:sp>
        <p:nvSpPr>
          <p:cNvPr id="67" name="TextBox 66">
            <a:extLst>
              <a:ext uri="{FF2B5EF4-FFF2-40B4-BE49-F238E27FC236}">
                <a16:creationId xmlns:a16="http://schemas.microsoft.com/office/drawing/2014/main" id="{E4558B41-2936-E67A-9FA2-A21EA744A8E6}"/>
              </a:ext>
            </a:extLst>
          </p:cNvPr>
          <p:cNvSpPr txBox="1"/>
          <p:nvPr/>
        </p:nvSpPr>
        <p:spPr>
          <a:xfrm>
            <a:off x="3101471" y="1045319"/>
            <a:ext cx="2395719" cy="243683"/>
          </a:xfrm>
          <a:prstGeom prst="rect">
            <a:avLst/>
          </a:prstGeom>
          <a:noFill/>
        </p:spPr>
        <p:txBody>
          <a:bodyPr wrap="square" rtlCol="0">
            <a:spAutoFit/>
          </a:bodyPr>
          <a:lstStyle/>
          <a:p>
            <a:pPr marL="0" marR="0" lvl="0" indent="0" algn="l" defTabSz="904982" rtl="0" eaLnBrk="1" fontAlgn="auto" latinLnBrk="1" hangingPunct="1">
              <a:lnSpc>
                <a:spcPct val="100000"/>
              </a:lnSpc>
              <a:spcBef>
                <a:spcPts val="0"/>
              </a:spcBef>
              <a:spcAft>
                <a:spcPts val="0"/>
              </a:spcAft>
              <a:buClrTx/>
              <a:buSzTx/>
              <a:buFontTx/>
              <a:buNone/>
              <a:tabLst/>
              <a:defRPr/>
            </a:pPr>
            <a:r>
              <a:rPr kumimoji="0" lang="ko-KR" altLang="en-US"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수율 현황</a:t>
            </a:r>
            <a:r>
              <a:rPr kumimoji="0" lang="en-US" altLang="ko-KR"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누적</a:t>
            </a:r>
            <a:r>
              <a:rPr kumimoji="0" lang="en-US" altLang="ko-KR"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a:t>
            </a:r>
            <a:endParaRPr kumimoji="0" lang="ko-KR" altLang="en-US" sz="990"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endParaRPr>
          </a:p>
        </p:txBody>
      </p:sp>
      <p:sp>
        <p:nvSpPr>
          <p:cNvPr id="68" name="TextBox 67">
            <a:extLst>
              <a:ext uri="{FF2B5EF4-FFF2-40B4-BE49-F238E27FC236}">
                <a16:creationId xmlns:a16="http://schemas.microsoft.com/office/drawing/2014/main" id="{A09FBB9D-2C2F-DF14-2BA3-3FB38C6E55D3}"/>
              </a:ext>
            </a:extLst>
          </p:cNvPr>
          <p:cNvSpPr txBox="1"/>
          <p:nvPr/>
        </p:nvSpPr>
        <p:spPr>
          <a:xfrm>
            <a:off x="547867" y="4714746"/>
            <a:ext cx="1099008" cy="328680"/>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ESMI</a:t>
            </a:r>
            <a:r>
              <a:rPr kumimoji="0" lang="ko-KR" altLang="en-US"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주요 불량 </a:t>
            </a:r>
            <a:r>
              <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(Top</a:t>
            </a:r>
            <a:r>
              <a:rPr kumimoji="0" lang="ko-KR" altLang="en-US"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5)</a:t>
            </a:r>
          </a:p>
        </p:txBody>
      </p:sp>
      <p:sp>
        <p:nvSpPr>
          <p:cNvPr id="69" name="TextBox 68">
            <a:extLst>
              <a:ext uri="{FF2B5EF4-FFF2-40B4-BE49-F238E27FC236}">
                <a16:creationId xmlns:a16="http://schemas.microsoft.com/office/drawing/2014/main" id="{4B8F3E5F-1F20-0FFE-3F28-218126A520D5}"/>
              </a:ext>
            </a:extLst>
          </p:cNvPr>
          <p:cNvSpPr txBox="1"/>
          <p:nvPr/>
        </p:nvSpPr>
        <p:spPr>
          <a:xfrm>
            <a:off x="1964596" y="4714746"/>
            <a:ext cx="892872" cy="210507"/>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ESOT</a:t>
            </a:r>
            <a:r>
              <a:rPr kumimoji="0" lang="ko-KR" altLang="en-US"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주요 불량</a:t>
            </a:r>
            <a:endPar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0" name="TextBox 69">
            <a:extLst>
              <a:ext uri="{FF2B5EF4-FFF2-40B4-BE49-F238E27FC236}">
                <a16:creationId xmlns:a16="http://schemas.microsoft.com/office/drawing/2014/main" id="{4270A034-F3F3-CB7F-1120-82A7AE61CFB5}"/>
              </a:ext>
            </a:extLst>
          </p:cNvPr>
          <p:cNvSpPr txBox="1"/>
          <p:nvPr/>
        </p:nvSpPr>
        <p:spPr>
          <a:xfrm>
            <a:off x="3278821" y="4714746"/>
            <a:ext cx="892872" cy="210507"/>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ESMIL</a:t>
            </a:r>
            <a:r>
              <a:rPr kumimoji="0" lang="ko-KR" altLang="en-US"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주요 불량</a:t>
            </a:r>
            <a:endPar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1" name="TextBox 70">
            <a:extLst>
              <a:ext uri="{FF2B5EF4-FFF2-40B4-BE49-F238E27FC236}">
                <a16:creationId xmlns:a16="http://schemas.microsoft.com/office/drawing/2014/main" id="{403D1ED2-874D-6380-36CB-6C27E47320D9}"/>
              </a:ext>
            </a:extLst>
          </p:cNvPr>
          <p:cNvSpPr txBox="1"/>
          <p:nvPr/>
        </p:nvSpPr>
        <p:spPr>
          <a:xfrm>
            <a:off x="4593044" y="4714746"/>
            <a:ext cx="892872" cy="210507"/>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ESHD</a:t>
            </a:r>
            <a:r>
              <a:rPr kumimoji="0" lang="ko-KR" altLang="en-US"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주요 불량</a:t>
            </a:r>
            <a:endParaRPr kumimoji="0" lang="en-US" altLang="ko-KR" sz="768"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2" name="TextBox 71">
            <a:extLst>
              <a:ext uri="{FF2B5EF4-FFF2-40B4-BE49-F238E27FC236}">
                <a16:creationId xmlns:a16="http://schemas.microsoft.com/office/drawing/2014/main" id="{67393547-D6A9-2550-8652-31D2FDA11223}"/>
              </a:ext>
            </a:extLst>
          </p:cNvPr>
          <p:cNvSpPr txBox="1"/>
          <p:nvPr/>
        </p:nvSpPr>
        <p:spPr>
          <a:xfrm>
            <a:off x="5817097" y="1285450"/>
            <a:ext cx="3466444" cy="464999"/>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공통</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외관 불량 </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5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모노세파</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스택 외관</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Q-NG, EOL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외관</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b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준실시간 모니터링 체계 구축</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활용</a:t>
            </a:r>
            <a:endPar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73" name="TextBox 72">
            <a:extLst>
              <a:ext uri="{FF2B5EF4-FFF2-40B4-BE49-F238E27FC236}">
                <a16:creationId xmlns:a16="http://schemas.microsoft.com/office/drawing/2014/main" id="{4CCC07B0-CA0E-C014-16D4-0E42A1342B47}"/>
              </a:ext>
            </a:extLst>
          </p:cNvPr>
          <p:cNvSpPr txBox="1"/>
          <p:nvPr/>
        </p:nvSpPr>
        <p:spPr>
          <a:xfrm>
            <a:off x="5817097" y="1045319"/>
            <a:ext cx="2141090" cy="27110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50" b="1" i="0" u="sng"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5</a:t>
            </a:r>
            <a:r>
              <a:rPr kumimoji="1" lang="ko-KR" altLang="en-US" sz="1050" b="1" i="0" u="sng"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점 목표 달성을 위한 </a:t>
            </a:r>
            <a:r>
              <a:rPr kumimoji="1" lang="en-US" altLang="ko-KR" sz="1050" b="1" i="0" u="sng"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Catch-Up </a:t>
            </a:r>
            <a:r>
              <a:rPr kumimoji="1" lang="ko-KR" altLang="en-US" sz="1050" b="1" i="0" u="sng"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방안</a:t>
            </a:r>
            <a:endParaRPr kumimoji="1" lang="en-US" altLang="ko-KR" sz="1050" b="1" i="0" u="sng"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74" name="타원 73">
            <a:extLst>
              <a:ext uri="{FF2B5EF4-FFF2-40B4-BE49-F238E27FC236}">
                <a16:creationId xmlns:a16="http://schemas.microsoft.com/office/drawing/2014/main" id="{F8798F90-6E86-14E1-4FF6-D6AA8CEA9B49}"/>
              </a:ext>
            </a:extLst>
          </p:cNvPr>
          <p:cNvSpPr/>
          <p:nvPr/>
        </p:nvSpPr>
        <p:spPr>
          <a:xfrm>
            <a:off x="491093" y="547793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1</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75" name="타원 74">
            <a:extLst>
              <a:ext uri="{FF2B5EF4-FFF2-40B4-BE49-F238E27FC236}">
                <a16:creationId xmlns:a16="http://schemas.microsoft.com/office/drawing/2014/main" id="{803C570B-3FBA-2A2E-9753-408E1AF992F1}"/>
              </a:ext>
            </a:extLst>
          </p:cNvPr>
          <p:cNvSpPr/>
          <p:nvPr/>
        </p:nvSpPr>
        <p:spPr>
          <a:xfrm>
            <a:off x="467671" y="6644027"/>
            <a:ext cx="108000" cy="108000"/>
          </a:xfrm>
          <a:prstGeom prst="ellipse">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2</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76" name="타원 75">
            <a:extLst>
              <a:ext uri="{FF2B5EF4-FFF2-40B4-BE49-F238E27FC236}">
                <a16:creationId xmlns:a16="http://schemas.microsoft.com/office/drawing/2014/main" id="{7B387F81-79E3-C9C9-AD17-35AB39350044}"/>
              </a:ext>
            </a:extLst>
          </p:cNvPr>
          <p:cNvSpPr/>
          <p:nvPr/>
        </p:nvSpPr>
        <p:spPr>
          <a:xfrm>
            <a:off x="1700909" y="6646754"/>
            <a:ext cx="108000" cy="108000"/>
          </a:xfrm>
          <a:prstGeom prst="ellipse">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3</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77" name="타원 76">
            <a:extLst>
              <a:ext uri="{FF2B5EF4-FFF2-40B4-BE49-F238E27FC236}">
                <a16:creationId xmlns:a16="http://schemas.microsoft.com/office/drawing/2014/main" id="{7FF3405E-1CD2-6F91-BA49-FE61263B3A09}"/>
              </a:ext>
            </a:extLst>
          </p:cNvPr>
          <p:cNvSpPr/>
          <p:nvPr/>
        </p:nvSpPr>
        <p:spPr>
          <a:xfrm>
            <a:off x="5826620" y="1343084"/>
            <a:ext cx="180000" cy="180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1</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78" name="TextBox 77">
            <a:extLst>
              <a:ext uri="{FF2B5EF4-FFF2-40B4-BE49-F238E27FC236}">
                <a16:creationId xmlns:a16="http://schemas.microsoft.com/office/drawing/2014/main" id="{BEA6F0C1-7523-3A11-9291-8EB68318A7CE}"/>
              </a:ext>
            </a:extLst>
          </p:cNvPr>
          <p:cNvSpPr txBox="1"/>
          <p:nvPr/>
        </p:nvSpPr>
        <p:spPr>
          <a:xfrm>
            <a:off x="4900958"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- 1 / 4 -</a:t>
            </a:r>
          </a:p>
        </p:txBody>
      </p:sp>
      <p:graphicFrame>
        <p:nvGraphicFramePr>
          <p:cNvPr id="79" name="표 78">
            <a:extLst>
              <a:ext uri="{FF2B5EF4-FFF2-40B4-BE49-F238E27FC236}">
                <a16:creationId xmlns:a16="http://schemas.microsoft.com/office/drawing/2014/main" id="{5AA3BFCC-C70F-6FB1-08CC-E685C2B16DCF}"/>
              </a:ext>
            </a:extLst>
          </p:cNvPr>
          <p:cNvGraphicFramePr>
            <a:graphicFrameLocks noGrp="1"/>
          </p:cNvGraphicFramePr>
          <p:nvPr/>
        </p:nvGraphicFramePr>
        <p:xfrm>
          <a:off x="6058108" y="1821841"/>
          <a:ext cx="3731103" cy="1392120"/>
        </p:xfrm>
        <a:graphic>
          <a:graphicData uri="http://schemas.openxmlformats.org/drawingml/2006/table">
            <a:tbl>
              <a:tblPr firstRow="1" bandRow="1">
                <a:tableStyleId>{5C22544A-7EE6-4342-B048-85BDC9FD1C3A}</a:tableStyleId>
              </a:tblPr>
              <a:tblGrid>
                <a:gridCol w="314567">
                  <a:extLst>
                    <a:ext uri="{9D8B030D-6E8A-4147-A177-3AD203B41FA5}">
                      <a16:colId xmlns:a16="http://schemas.microsoft.com/office/drawing/2014/main" val="2202791993"/>
                    </a:ext>
                  </a:extLst>
                </a:gridCol>
                <a:gridCol w="314567">
                  <a:extLst>
                    <a:ext uri="{9D8B030D-6E8A-4147-A177-3AD203B41FA5}">
                      <a16:colId xmlns:a16="http://schemas.microsoft.com/office/drawing/2014/main" val="3635036131"/>
                    </a:ext>
                  </a:extLst>
                </a:gridCol>
                <a:gridCol w="314567">
                  <a:extLst>
                    <a:ext uri="{9D8B030D-6E8A-4147-A177-3AD203B41FA5}">
                      <a16:colId xmlns:a16="http://schemas.microsoft.com/office/drawing/2014/main" val="2650229649"/>
                    </a:ext>
                  </a:extLst>
                </a:gridCol>
                <a:gridCol w="314567">
                  <a:extLst>
                    <a:ext uri="{9D8B030D-6E8A-4147-A177-3AD203B41FA5}">
                      <a16:colId xmlns:a16="http://schemas.microsoft.com/office/drawing/2014/main" val="3715894017"/>
                    </a:ext>
                  </a:extLst>
                </a:gridCol>
                <a:gridCol w="314567">
                  <a:extLst>
                    <a:ext uri="{9D8B030D-6E8A-4147-A177-3AD203B41FA5}">
                      <a16:colId xmlns:a16="http://schemas.microsoft.com/office/drawing/2014/main" val="2203677260"/>
                    </a:ext>
                  </a:extLst>
                </a:gridCol>
                <a:gridCol w="314567">
                  <a:extLst>
                    <a:ext uri="{9D8B030D-6E8A-4147-A177-3AD203B41FA5}">
                      <a16:colId xmlns:a16="http://schemas.microsoft.com/office/drawing/2014/main" val="2303494722"/>
                    </a:ext>
                  </a:extLst>
                </a:gridCol>
                <a:gridCol w="314567">
                  <a:extLst>
                    <a:ext uri="{9D8B030D-6E8A-4147-A177-3AD203B41FA5}">
                      <a16:colId xmlns:a16="http://schemas.microsoft.com/office/drawing/2014/main" val="1863902802"/>
                    </a:ext>
                  </a:extLst>
                </a:gridCol>
                <a:gridCol w="314567">
                  <a:extLst>
                    <a:ext uri="{9D8B030D-6E8A-4147-A177-3AD203B41FA5}">
                      <a16:colId xmlns:a16="http://schemas.microsoft.com/office/drawing/2014/main" val="1220522646"/>
                    </a:ext>
                  </a:extLst>
                </a:gridCol>
                <a:gridCol w="314567">
                  <a:extLst>
                    <a:ext uri="{9D8B030D-6E8A-4147-A177-3AD203B41FA5}">
                      <a16:colId xmlns:a16="http://schemas.microsoft.com/office/drawing/2014/main" val="2887449426"/>
                    </a:ext>
                  </a:extLst>
                </a:gridCol>
                <a:gridCol w="900000">
                  <a:extLst>
                    <a:ext uri="{9D8B030D-6E8A-4147-A177-3AD203B41FA5}">
                      <a16:colId xmlns:a16="http://schemas.microsoft.com/office/drawing/2014/main" val="237705411"/>
                    </a:ext>
                  </a:extLst>
                </a:gridCol>
              </a:tblGrid>
              <a:tr h="0">
                <a:tc rowSpan="2">
                  <a:txBody>
                    <a:bodyPr/>
                    <a:lstStyle/>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법인</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4">
                  <a:txBody>
                    <a:bodyPr/>
                    <a:lstStyle/>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적용 현황 </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dirty="0"/>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gridSpan="5">
                  <a:txBody>
                    <a:bodyPr/>
                    <a:lstStyle/>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불량률 </a:t>
                      </a:r>
                      <a:r>
                        <a:rPr lang="en-US" altLang="ko-KR" sz="900" baseline="0" dirty="0">
                          <a:solidFill>
                            <a:schemeClr val="tx1"/>
                          </a:solidFill>
                          <a:latin typeface="Arial Narrow" panose="020B0606020202030204" pitchFamily="34" charset="0"/>
                          <a:ea typeface="LG스마트체 Regular" panose="020B0600000101010101" pitchFamily="50" charset="-127"/>
                        </a:rPr>
                        <a:t>[</a:t>
                      </a:r>
                      <a:r>
                        <a:rPr lang="ko-KR" altLang="en-US" sz="900" baseline="0" dirty="0">
                          <a:solidFill>
                            <a:schemeClr val="tx1"/>
                          </a:solidFill>
                          <a:latin typeface="Arial Narrow" panose="020B0606020202030204" pitchFamily="34" charset="0"/>
                          <a:ea typeface="LG스마트체 Regular" panose="020B0600000101010101" pitchFamily="50" charset="-127"/>
                        </a:rPr>
                        <a:t>단위 </a:t>
                      </a:r>
                      <a:r>
                        <a:rPr lang="en-US" altLang="ko-KR" sz="900" baseline="0" dirty="0">
                          <a:solidFill>
                            <a:schemeClr val="tx1"/>
                          </a:solidFill>
                          <a:latin typeface="Arial Narrow" panose="020B0606020202030204" pitchFamily="34" charset="0"/>
                          <a:ea typeface="LG스마트체 Regular" panose="020B0600000101010101" pitchFamily="50" charset="-127"/>
                        </a:rPr>
                        <a:t>%] (8/1~8/23)</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dirty="0"/>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pPr algn="ctr" latinLnBrk="1"/>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19565416"/>
                  </a:ext>
                </a:extLst>
              </a:tr>
              <a:tr h="0">
                <a:tc vMerge="1">
                  <a:txBody>
                    <a:bodyPr/>
                    <a:lstStyle/>
                    <a:p>
                      <a:pPr latinLnBrk="1"/>
                      <a:endParaRPr lang="ko-KR" altLang="en-US"/>
                    </a:p>
                  </a:txBody>
                  <a:tcPr/>
                </a:tc>
                <a:tc>
                  <a:txBody>
                    <a:bodyPr/>
                    <a:lstStyle/>
                    <a:p>
                      <a:pPr algn="ctr" latinLnBrk="1"/>
                      <a:r>
                        <a:rPr lang="ko-KR" altLang="en-US" sz="900" baseline="0" dirty="0" err="1">
                          <a:solidFill>
                            <a:schemeClr val="tx1"/>
                          </a:solidFill>
                          <a:latin typeface="Arial Narrow" panose="020B0606020202030204" pitchFamily="34" charset="0"/>
                          <a:ea typeface="LG스마트체 Regular" panose="020B0600000101010101" pitchFamily="50" charset="-127"/>
                        </a:rPr>
                        <a:t>모노세파</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스택</a:t>
                      </a:r>
                      <a:endParaRPr lang="en-US" altLang="ko-KR" sz="900" baseline="0" dirty="0">
                        <a:solidFill>
                          <a:schemeClr val="tx1"/>
                        </a:solidFill>
                        <a:latin typeface="Arial Narrow" panose="020B0606020202030204" pitchFamily="34" charset="0"/>
                        <a:ea typeface="LG스마트체 Regular" panose="020B0600000101010101" pitchFamily="50" charset="-127"/>
                      </a:endParaRPr>
                    </a:p>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외관</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IRS</a:t>
                      </a:r>
                    </a:p>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Q NG</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EOL</a:t>
                      </a:r>
                    </a:p>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외관</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900" baseline="0" dirty="0" err="1">
                          <a:solidFill>
                            <a:schemeClr val="tx1"/>
                          </a:solidFill>
                          <a:latin typeface="Arial Narrow" panose="020B0606020202030204" pitchFamily="34" charset="0"/>
                          <a:ea typeface="LG스마트체 Regular" panose="020B0600000101010101" pitchFamily="50" charset="-127"/>
                        </a:rPr>
                        <a:t>모노세파</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스택</a:t>
                      </a:r>
                      <a:endParaRPr lang="en-US" altLang="ko-KR" sz="900" baseline="0" dirty="0">
                        <a:solidFill>
                          <a:schemeClr val="tx1"/>
                        </a:solidFill>
                        <a:latin typeface="Arial Narrow" panose="020B0606020202030204" pitchFamily="34" charset="0"/>
                        <a:ea typeface="LG스마트체 Regular" panose="020B0600000101010101" pitchFamily="50" charset="-127"/>
                      </a:endParaRPr>
                    </a:p>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외관</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IRS</a:t>
                      </a:r>
                    </a:p>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Q NG</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EOL</a:t>
                      </a:r>
                    </a:p>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외관</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900" baseline="0" dirty="0">
                          <a:solidFill>
                            <a:schemeClr val="tx1"/>
                          </a:solidFill>
                          <a:latin typeface="Arial Narrow" panose="020B0606020202030204" pitchFamily="34" charset="0"/>
                          <a:ea typeface="LG스마트체 Regular" panose="020B0600000101010101" pitchFamily="50" charset="-127"/>
                        </a:rPr>
                        <a:t>합계 </a:t>
                      </a:r>
                      <a:endParaRPr lang="en-US" altLang="ko-KR" sz="900" baseline="0" dirty="0">
                        <a:solidFill>
                          <a:schemeClr val="tx1"/>
                        </a:solidFill>
                        <a:latin typeface="Arial Narrow" panose="020B0606020202030204" pitchFamily="34" charset="0"/>
                        <a:ea typeface="LG스마트체 Regular" panose="020B0600000101010101" pitchFamily="50" charset="-127"/>
                      </a:endParaRPr>
                    </a:p>
                    <a:p>
                      <a:pPr algn="ctr" latinLnBrk="1"/>
                      <a:r>
                        <a:rPr lang="en-US" altLang="ko-KR" sz="800" baseline="0" dirty="0">
                          <a:solidFill>
                            <a:schemeClr val="tx1"/>
                          </a:solidFill>
                          <a:latin typeface="Arial Narrow" panose="020B0606020202030204" pitchFamily="34" charset="0"/>
                          <a:ea typeface="LG스마트체 Regular" panose="020B0600000101010101" pitchFamily="50" charset="-127"/>
                        </a:rPr>
                        <a:t>(</a:t>
                      </a:r>
                      <a:r>
                        <a:rPr lang="ko-KR" altLang="en-US" sz="800" baseline="0" dirty="0" err="1">
                          <a:solidFill>
                            <a:schemeClr val="tx1"/>
                          </a:solidFill>
                          <a:latin typeface="Arial Narrow" panose="020B0606020202030204" pitchFamily="34" charset="0"/>
                          <a:ea typeface="LG스마트체 Regular" panose="020B0600000101010101" pitchFamily="50" charset="-127"/>
                        </a:rPr>
                        <a:t>현재→예상</a:t>
                      </a:r>
                      <a:r>
                        <a:rPr lang="en-US" altLang="ko-KR" sz="800" baseline="0" dirty="0">
                          <a:solidFill>
                            <a:schemeClr val="tx1"/>
                          </a:solidFill>
                          <a:latin typeface="Arial Narrow" panose="020B0606020202030204" pitchFamily="34" charset="0"/>
                          <a:ea typeface="LG스마트체 Regular" panose="020B0600000101010101" pitchFamily="50" charset="-127"/>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65973155"/>
                  </a:ext>
                </a:extLst>
              </a:tr>
              <a:tr h="0">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MI</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0.47</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0.05</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0.04</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0.14</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0.70</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0.56,</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0.14</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9623351"/>
                  </a:ext>
                </a:extLst>
              </a:tr>
              <a:tr h="0">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OT</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0.17</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0.07</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0.04</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0.27</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0.55</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0.44,</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0.11</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5839951"/>
                  </a:ext>
                </a:extLst>
              </a:tr>
              <a:tr h="0">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MIL</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0.28</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0.11</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0.34</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0.01</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0.74</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0.59,</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0.15</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627261"/>
                  </a:ext>
                </a:extLst>
              </a:tr>
              <a:tr h="0">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HD</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04982"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0.20</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0.06</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0.29</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0.03</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900" baseline="0" dirty="0">
                          <a:solidFill>
                            <a:schemeClr val="tx1"/>
                          </a:solidFill>
                          <a:latin typeface="Arial Narrow" panose="020B0606020202030204" pitchFamily="34" charset="0"/>
                          <a:ea typeface="LG스마트체 Regular" panose="020B0600000101010101" pitchFamily="50" charset="-127"/>
                        </a:rPr>
                        <a:t>0.58</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0.46,</a:t>
                      </a:r>
                      <a:r>
                        <a:rPr lang="ko-KR" altLang="en-US" sz="900" baseline="0" dirty="0">
                          <a:solidFill>
                            <a:schemeClr val="tx1"/>
                          </a:solidFill>
                          <a:latin typeface="Arial Narrow" panose="020B0606020202030204" pitchFamily="34" charset="0"/>
                          <a:ea typeface="LG스마트체 Regular" panose="020B0600000101010101" pitchFamily="50" charset="-127"/>
                        </a:rPr>
                        <a:t>▽</a:t>
                      </a:r>
                      <a:r>
                        <a:rPr lang="en-US" altLang="ko-KR" sz="900" baseline="0" dirty="0">
                          <a:solidFill>
                            <a:schemeClr val="tx1"/>
                          </a:solidFill>
                          <a:latin typeface="Arial Narrow" panose="020B0606020202030204" pitchFamily="34" charset="0"/>
                          <a:ea typeface="LG스마트체 Regular" panose="020B0600000101010101" pitchFamily="50" charset="-127"/>
                        </a:rPr>
                        <a:t>0.12</a:t>
                      </a:r>
                      <a:endParaRPr lang="ko-KR" altLang="en-US" sz="900" baseline="0" dirty="0">
                        <a:solidFill>
                          <a:schemeClr val="tx1"/>
                        </a:solidFill>
                        <a:latin typeface="Arial Narrow" panose="020B0606020202030204" pitchFamily="34" charset="0"/>
                        <a:ea typeface="LG스마트체 Regular" panose="020B0600000101010101" pitchFamily="50" charset="-127"/>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2148819"/>
                  </a:ext>
                </a:extLst>
              </a:tr>
            </a:tbl>
          </a:graphicData>
        </a:graphic>
      </p:graphicFrame>
      <p:sp>
        <p:nvSpPr>
          <p:cNvPr id="80" name="TextBox 79">
            <a:extLst>
              <a:ext uri="{FF2B5EF4-FFF2-40B4-BE49-F238E27FC236}">
                <a16:creationId xmlns:a16="http://schemas.microsoft.com/office/drawing/2014/main" id="{BC865407-D880-2D62-C0EA-48235AD0EFD1}"/>
              </a:ext>
            </a:extLst>
          </p:cNvPr>
          <p:cNvSpPr txBox="1"/>
          <p:nvPr/>
        </p:nvSpPr>
        <p:spPr>
          <a:xfrm>
            <a:off x="5912687" y="3217405"/>
            <a:ext cx="3890272" cy="439479"/>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북미 전 법인 수평전개 완료</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(9/2)</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다빈치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WF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대비 현황 파악 소요 시간 단축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(2hr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5min)</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으로 조치 가속화 기대</a:t>
            </a:r>
            <a:endPar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81" name="TextBox 80">
            <a:extLst>
              <a:ext uri="{FF2B5EF4-FFF2-40B4-BE49-F238E27FC236}">
                <a16:creationId xmlns:a16="http://schemas.microsoft.com/office/drawing/2014/main" id="{947B488F-2503-9549-BE40-56005529F4E6}"/>
              </a:ext>
            </a:extLst>
          </p:cNvPr>
          <p:cNvSpPr txBox="1"/>
          <p:nvPr/>
        </p:nvSpPr>
        <p:spPr>
          <a:xfrm>
            <a:off x="5817097" y="3764048"/>
            <a:ext cx="4020964" cy="96295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 (</a:t>
            </a:r>
            <a:r>
              <a:rPr kumimoji="1" lang="ko-KR" altLang="en-US" sz="105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위치 불량</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b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가감속</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시점 제어 인자 자동 분석 모델 구축</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활용</a:t>
            </a:r>
            <a:b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As-is :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가감속</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시점의 비전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Trend</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PV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변동을 육안으로 비교하여 판단</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To-be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자동화 모델이 데이터 패턴의 유사성을 비교하여 불량 연관 인자 분석</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MI 8</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월</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(~23</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일</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X</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축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위치불량률</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0.12%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0.10%,</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0.02%p</a:t>
            </a:r>
          </a:p>
        </p:txBody>
      </p:sp>
      <p:sp>
        <p:nvSpPr>
          <p:cNvPr id="82" name="타원 81">
            <a:extLst>
              <a:ext uri="{FF2B5EF4-FFF2-40B4-BE49-F238E27FC236}">
                <a16:creationId xmlns:a16="http://schemas.microsoft.com/office/drawing/2014/main" id="{59BB6BDB-78FB-ED03-B709-50A07C2715D3}"/>
              </a:ext>
            </a:extLst>
          </p:cNvPr>
          <p:cNvSpPr/>
          <p:nvPr/>
        </p:nvSpPr>
        <p:spPr>
          <a:xfrm>
            <a:off x="5826620" y="3821682"/>
            <a:ext cx="180000" cy="180000"/>
          </a:xfrm>
          <a:prstGeom prst="ellipse">
            <a:avLst/>
          </a:prstGeom>
          <a:solidFill>
            <a:srgbClr val="000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2</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4B3237C9-35B6-E336-2E6E-3ABFBBB23F3F}"/>
              </a:ext>
            </a:extLst>
          </p:cNvPr>
          <p:cNvSpPr txBox="1"/>
          <p:nvPr/>
        </p:nvSpPr>
        <p:spPr>
          <a:xfrm>
            <a:off x="5817097" y="4837774"/>
            <a:ext cx="4020964" cy="1873718"/>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활성화</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a:t>
            </a:r>
            <a:r>
              <a:rPr kumimoji="1" lang="ko-KR" altLang="en-US" sz="105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딩</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불량 </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b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en-US" altLang="ko-KR" sz="105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전극</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활성화 전 공정 대상 </a:t>
            </a:r>
            <a:r>
              <a:rPr kumimoji="1" lang="ko-KR" alt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연관 인자 분석 중 </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en-US" altLang="ko-KR"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w.ESOT</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b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현상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양극 커팅 후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확인되며</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이후 반제품에서 동일 형태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유지됨</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양극 전극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수준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OT</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7~8mm,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타 사이트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4~5mm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*OT</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0" normalizeH="0" baseline="0" noProof="0" dirty="0" err="1">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스택셀</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0" normalizeH="0" baseline="0" noProof="0" dirty="0" err="1">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수준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1~2mm</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센서 검사 결과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8</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월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부적합률</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2.64%,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실불량률</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0.4%</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부적합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센서 측정값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1.5mm </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이상</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0" normalizeH="0" baseline="0" noProof="0" dirty="0" err="1">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실불량</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수동 측정값 </a:t>
            </a:r>
            <a:r>
              <a:rPr kumimoji="1" lang="en-US" altLang="ko-KR"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1.5mm </a:t>
            </a:r>
            <a:r>
              <a:rPr kumimoji="1" lang="ko-KR" altLang="en-US" sz="8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이상</a:t>
            </a:r>
            <a:endParaRPr kumimoji="1" lang="en-US" altLang="ko-KR" sz="900"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개선 방안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전극</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활성화 공정 별 검증 진행 및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EOL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센서 설치</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(8/4~)</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전극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코터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텐션</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롤프레스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역압</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사용 범위</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보관 기간</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조립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상</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하 롤러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구동비</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라미롤</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압력</a:t>
            </a:r>
            <a:b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b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 </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활성화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밴딩</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평탄화 관점에서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Hot</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Press</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시간</a:t>
            </a:r>
            <a:endPar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84" name="타원 83">
            <a:extLst>
              <a:ext uri="{FF2B5EF4-FFF2-40B4-BE49-F238E27FC236}">
                <a16:creationId xmlns:a16="http://schemas.microsoft.com/office/drawing/2014/main" id="{EC7CBF81-3305-39E2-9205-19B22785BCF5}"/>
              </a:ext>
            </a:extLst>
          </p:cNvPr>
          <p:cNvSpPr/>
          <p:nvPr/>
        </p:nvSpPr>
        <p:spPr>
          <a:xfrm>
            <a:off x="5826620" y="4895408"/>
            <a:ext cx="180000" cy="180000"/>
          </a:xfrm>
          <a:prstGeom prst="ellipse">
            <a:avLst/>
          </a:prstGeom>
          <a:solidFill>
            <a:srgbClr val="00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3</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69E6259F-EB2A-14DA-4B3D-77C3C3021AE0}"/>
              </a:ext>
            </a:extLst>
          </p:cNvPr>
          <p:cNvSpPr txBox="1"/>
          <p:nvPr/>
        </p:nvSpPr>
        <p:spPr>
          <a:xfrm>
            <a:off x="1667566" y="6600372"/>
            <a:ext cx="892872" cy="215444"/>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기타</a:t>
            </a: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등급</a:t>
            </a: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밴딩</a:t>
            </a: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sp>
        <p:nvSpPr>
          <p:cNvPr id="86" name="TextBox 85">
            <a:extLst>
              <a:ext uri="{FF2B5EF4-FFF2-40B4-BE49-F238E27FC236}">
                <a16:creationId xmlns:a16="http://schemas.microsoft.com/office/drawing/2014/main" id="{614461F7-D288-68BF-0523-62CB9BF985F1}"/>
              </a:ext>
            </a:extLst>
          </p:cNvPr>
          <p:cNvSpPr txBox="1"/>
          <p:nvPr/>
        </p:nvSpPr>
        <p:spPr>
          <a:xfrm>
            <a:off x="2343155" y="6600372"/>
            <a:ext cx="440154" cy="215444"/>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0.05</a:t>
            </a:r>
          </a:p>
        </p:txBody>
      </p:sp>
      <p:sp>
        <p:nvSpPr>
          <p:cNvPr id="87" name="TextBox 86">
            <a:extLst>
              <a:ext uri="{FF2B5EF4-FFF2-40B4-BE49-F238E27FC236}">
                <a16:creationId xmlns:a16="http://schemas.microsoft.com/office/drawing/2014/main" id="{DB4A6230-BE1C-9364-8447-BCA4721959C3}"/>
              </a:ext>
            </a:extLst>
          </p:cNvPr>
          <p:cNvSpPr txBox="1"/>
          <p:nvPr/>
        </p:nvSpPr>
        <p:spPr>
          <a:xfrm>
            <a:off x="2648744" y="6600372"/>
            <a:ext cx="440154" cy="215444"/>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0.01</a:t>
            </a:r>
          </a:p>
        </p:txBody>
      </p:sp>
      <p:sp>
        <p:nvSpPr>
          <p:cNvPr id="88" name="TextBox 87">
            <a:extLst>
              <a:ext uri="{FF2B5EF4-FFF2-40B4-BE49-F238E27FC236}">
                <a16:creationId xmlns:a16="http://schemas.microsoft.com/office/drawing/2014/main" id="{99633449-DB47-1FBB-EB27-AFD93C172544}"/>
              </a:ext>
            </a:extLst>
          </p:cNvPr>
          <p:cNvSpPr txBox="1"/>
          <p:nvPr/>
        </p:nvSpPr>
        <p:spPr>
          <a:xfrm>
            <a:off x="372847" y="6592912"/>
            <a:ext cx="892872" cy="215444"/>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라미</a:t>
            </a:r>
            <a:r>
              <a:rPr kumimoji="0" lang="ko-KR" altLang="en-US"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위치</a:t>
            </a:r>
            <a:endPar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9" name="TextBox 88">
            <a:extLst>
              <a:ext uri="{FF2B5EF4-FFF2-40B4-BE49-F238E27FC236}">
                <a16:creationId xmlns:a16="http://schemas.microsoft.com/office/drawing/2014/main" id="{B125D904-E4F0-9D86-709B-377EDA7A7ED2}"/>
              </a:ext>
            </a:extLst>
          </p:cNvPr>
          <p:cNvSpPr txBox="1"/>
          <p:nvPr/>
        </p:nvSpPr>
        <p:spPr>
          <a:xfrm>
            <a:off x="1048436" y="6592912"/>
            <a:ext cx="440154" cy="215444"/>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0.16</a:t>
            </a:r>
          </a:p>
        </p:txBody>
      </p:sp>
      <p:sp>
        <p:nvSpPr>
          <p:cNvPr id="90" name="TextBox 89">
            <a:extLst>
              <a:ext uri="{FF2B5EF4-FFF2-40B4-BE49-F238E27FC236}">
                <a16:creationId xmlns:a16="http://schemas.microsoft.com/office/drawing/2014/main" id="{810653A1-51DC-0FC3-BC9F-85DBA1A05133}"/>
              </a:ext>
            </a:extLst>
          </p:cNvPr>
          <p:cNvSpPr txBox="1"/>
          <p:nvPr/>
        </p:nvSpPr>
        <p:spPr>
          <a:xfrm>
            <a:off x="1344494" y="6592912"/>
            <a:ext cx="440154" cy="215444"/>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0.25</a:t>
            </a:r>
          </a:p>
        </p:txBody>
      </p:sp>
      <p:sp>
        <p:nvSpPr>
          <p:cNvPr id="91" name="타원 90">
            <a:extLst>
              <a:ext uri="{FF2B5EF4-FFF2-40B4-BE49-F238E27FC236}">
                <a16:creationId xmlns:a16="http://schemas.microsoft.com/office/drawing/2014/main" id="{B8C5F144-A695-4198-6245-BBE55ED066FD}"/>
              </a:ext>
            </a:extLst>
          </p:cNvPr>
          <p:cNvSpPr/>
          <p:nvPr/>
        </p:nvSpPr>
        <p:spPr>
          <a:xfrm>
            <a:off x="3131238" y="5787377"/>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1</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92" name="타원 91">
            <a:extLst>
              <a:ext uri="{FF2B5EF4-FFF2-40B4-BE49-F238E27FC236}">
                <a16:creationId xmlns:a16="http://schemas.microsoft.com/office/drawing/2014/main" id="{460FE186-3FDE-ED53-43FA-03D2FAD9A38C}"/>
              </a:ext>
            </a:extLst>
          </p:cNvPr>
          <p:cNvSpPr/>
          <p:nvPr/>
        </p:nvSpPr>
        <p:spPr>
          <a:xfrm>
            <a:off x="1824363" y="6064836"/>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1</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93" name="타원 92">
            <a:extLst>
              <a:ext uri="{FF2B5EF4-FFF2-40B4-BE49-F238E27FC236}">
                <a16:creationId xmlns:a16="http://schemas.microsoft.com/office/drawing/2014/main" id="{87D449ED-1D87-A351-66DC-FBE6C9127F49}"/>
              </a:ext>
            </a:extLst>
          </p:cNvPr>
          <p:cNvSpPr/>
          <p:nvPr/>
        </p:nvSpPr>
        <p:spPr>
          <a:xfrm>
            <a:off x="3127570" y="6047274"/>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rPr>
              <a:t>1</a:t>
            </a:r>
            <a:endParaRPr kumimoji="0" lang="ko-KR" altLang="en-US" sz="105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Tree>
    <p:extLst>
      <p:ext uri="{BB962C8B-B14F-4D97-AF65-F5344CB8AC3E}">
        <p14:creationId xmlns:p14="http://schemas.microsoft.com/office/powerpoint/2010/main" val="779122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직사각형 38">
            <a:extLst>
              <a:ext uri="{FF2B5EF4-FFF2-40B4-BE49-F238E27FC236}">
                <a16:creationId xmlns:a16="http://schemas.microsoft.com/office/drawing/2014/main" id="{E37F04F0-B21B-9771-9FB2-AD6628CBDC65}"/>
              </a:ext>
            </a:extLst>
          </p:cNvPr>
          <p:cNvSpPr/>
          <p:nvPr/>
        </p:nvSpPr>
        <p:spPr>
          <a:xfrm>
            <a:off x="263189" y="1746222"/>
            <a:ext cx="276337" cy="3194945"/>
          </a:xfrm>
          <a:prstGeom prst="rect">
            <a:avLst/>
          </a:prstGeom>
          <a:solidFill>
            <a:sysClr val="window" lastClr="FFFFFF">
              <a:lumMod val="95000"/>
            </a:sysClr>
          </a:solidFill>
          <a:ln w="6350" cap="flat" cmpd="sng" algn="ctr">
            <a:solidFill>
              <a:sysClr val="windowText" lastClr="000000"/>
            </a:solidFill>
            <a:prstDash val="solid"/>
            <a:miter lim="800000"/>
          </a:ln>
          <a:effectLst/>
        </p:spPr>
        <p:txBody>
          <a:bodyPr rtlCol="0" anchor="ct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ko-KR" altLang="en-US" sz="96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수율</a:t>
            </a:r>
          </a:p>
        </p:txBody>
      </p:sp>
      <p:sp>
        <p:nvSpPr>
          <p:cNvPr id="40" name="직사각형 39">
            <a:extLst>
              <a:ext uri="{FF2B5EF4-FFF2-40B4-BE49-F238E27FC236}">
                <a16:creationId xmlns:a16="http://schemas.microsoft.com/office/drawing/2014/main" id="{BA4E51A8-B185-1E70-4E38-B0D0689421EF}"/>
              </a:ext>
            </a:extLst>
          </p:cNvPr>
          <p:cNvSpPr/>
          <p:nvPr/>
        </p:nvSpPr>
        <p:spPr>
          <a:xfrm>
            <a:off x="263189" y="4996849"/>
            <a:ext cx="276337" cy="1825801"/>
          </a:xfrm>
          <a:prstGeom prst="rect">
            <a:avLst/>
          </a:prstGeom>
          <a:solidFill>
            <a:sysClr val="window" lastClr="FFFFFF">
              <a:lumMod val="95000"/>
            </a:sysClr>
          </a:solidFill>
          <a:ln w="6350" cap="flat" cmpd="sng" algn="ctr">
            <a:solidFill>
              <a:sysClr val="windowText" lastClr="000000"/>
            </a:solidFill>
            <a:prstDash val="solid"/>
            <a:miter lim="800000"/>
          </a:ln>
          <a:effectLst/>
        </p:spPr>
        <p:txBody>
          <a:bodyPr rtlCol="0" anchor="ct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ko-KR" altLang="en-US" sz="96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불량</a:t>
            </a:r>
          </a:p>
        </p:txBody>
      </p:sp>
      <p:graphicFrame>
        <p:nvGraphicFramePr>
          <p:cNvPr id="41" name="표 40">
            <a:extLst>
              <a:ext uri="{FF2B5EF4-FFF2-40B4-BE49-F238E27FC236}">
                <a16:creationId xmlns:a16="http://schemas.microsoft.com/office/drawing/2014/main" id="{E6E8977B-D1B0-1C2F-1EF4-2A1F0FAFB90F}"/>
              </a:ext>
            </a:extLst>
          </p:cNvPr>
          <p:cNvGraphicFramePr>
            <a:graphicFrameLocks noGrp="1"/>
          </p:cNvGraphicFramePr>
          <p:nvPr/>
        </p:nvGraphicFramePr>
        <p:xfrm>
          <a:off x="3596811" y="1746223"/>
          <a:ext cx="1933109" cy="3226825"/>
        </p:xfrm>
        <a:graphic>
          <a:graphicData uri="http://schemas.openxmlformats.org/drawingml/2006/table">
            <a:tbl>
              <a:tblPr/>
              <a:tblGrid>
                <a:gridCol w="285031">
                  <a:extLst>
                    <a:ext uri="{9D8B030D-6E8A-4147-A177-3AD203B41FA5}">
                      <a16:colId xmlns:a16="http://schemas.microsoft.com/office/drawing/2014/main" val="3625827197"/>
                    </a:ext>
                  </a:extLst>
                </a:gridCol>
                <a:gridCol w="320880">
                  <a:extLst>
                    <a:ext uri="{9D8B030D-6E8A-4147-A177-3AD203B41FA5}">
                      <a16:colId xmlns:a16="http://schemas.microsoft.com/office/drawing/2014/main" val="659561473"/>
                    </a:ext>
                  </a:extLst>
                </a:gridCol>
                <a:gridCol w="320880">
                  <a:extLst>
                    <a:ext uri="{9D8B030D-6E8A-4147-A177-3AD203B41FA5}">
                      <a16:colId xmlns:a16="http://schemas.microsoft.com/office/drawing/2014/main" val="2868714762"/>
                    </a:ext>
                  </a:extLst>
                </a:gridCol>
                <a:gridCol w="320880">
                  <a:extLst>
                    <a:ext uri="{9D8B030D-6E8A-4147-A177-3AD203B41FA5}">
                      <a16:colId xmlns:a16="http://schemas.microsoft.com/office/drawing/2014/main" val="597163299"/>
                    </a:ext>
                  </a:extLst>
                </a:gridCol>
                <a:gridCol w="43678">
                  <a:extLst>
                    <a:ext uri="{9D8B030D-6E8A-4147-A177-3AD203B41FA5}">
                      <a16:colId xmlns:a16="http://schemas.microsoft.com/office/drawing/2014/main" val="3736888109"/>
                    </a:ext>
                  </a:extLst>
                </a:gridCol>
                <a:gridCol w="320880">
                  <a:extLst>
                    <a:ext uri="{9D8B030D-6E8A-4147-A177-3AD203B41FA5}">
                      <a16:colId xmlns:a16="http://schemas.microsoft.com/office/drawing/2014/main" val="3584291418"/>
                    </a:ext>
                  </a:extLst>
                </a:gridCol>
                <a:gridCol w="320880">
                  <a:extLst>
                    <a:ext uri="{9D8B030D-6E8A-4147-A177-3AD203B41FA5}">
                      <a16:colId xmlns:a16="http://schemas.microsoft.com/office/drawing/2014/main" val="1631771928"/>
                    </a:ext>
                  </a:extLst>
                </a:gridCol>
              </a:tblGrid>
              <a:tr h="310797">
                <a:tc>
                  <a:txBody>
                    <a:bodyPr/>
                    <a:lstStyle/>
                    <a:p>
                      <a:pPr algn="ctr" fontAlgn="ctr"/>
                      <a:r>
                        <a:rPr lang="en-US" altLang="ko-KR" sz="1000" b="1" i="0" u="none" strike="noStrike" dirty="0">
                          <a:solidFill>
                            <a:srgbClr val="000000"/>
                          </a:solidFill>
                          <a:effectLst/>
                          <a:latin typeface="+mn-lt"/>
                          <a:ea typeface="LG스마트체 Regular" panose="020B0600000101010101" pitchFamily="50" charset="-127"/>
                        </a:rPr>
                        <a:t>8</a:t>
                      </a:r>
                      <a:r>
                        <a:rPr lang="ko-KR" altLang="en-US" sz="1000" b="1" i="0" u="none" strike="noStrike" dirty="0">
                          <a:solidFill>
                            <a:srgbClr val="000000"/>
                          </a:solidFill>
                          <a:effectLst/>
                          <a:latin typeface="+mn-lt"/>
                          <a:ea typeface="LG스마트체 Regular" panose="020B0600000101010101" pitchFamily="50" charset="-127"/>
                        </a:rPr>
                        <a:t>월 </a:t>
                      </a:r>
                      <a:endParaRPr lang="en-US" altLang="ko-KR" sz="1000" b="1" i="0" u="none" strike="noStrike" dirty="0">
                        <a:solidFill>
                          <a:srgbClr val="000000"/>
                        </a:solidFill>
                        <a:effectLst/>
                        <a:latin typeface="+mn-lt"/>
                        <a:ea typeface="LG스마트체 Regular" panose="020B0600000101010101" pitchFamily="50" charset="-127"/>
                      </a:endParaRPr>
                    </a:p>
                    <a:p>
                      <a:pPr algn="ctr" fontAlgn="ctr"/>
                      <a:r>
                        <a:rPr lang="ko-KR" altLang="en-US" sz="1000" b="1" i="0" u="none" strike="noStrike" dirty="0">
                          <a:solidFill>
                            <a:srgbClr val="000000"/>
                          </a:solidFill>
                          <a:effectLst/>
                          <a:latin typeface="+mn-lt"/>
                          <a:ea typeface="LG스마트체 Regular" panose="020B0600000101010101" pitchFamily="50" charset="-127"/>
                        </a:rPr>
                        <a:t>목표</a:t>
                      </a:r>
                      <a:endParaRPr lang="en-US" altLang="ko-KR" sz="1000" b="1" i="0" u="none" strike="noStrike" dirty="0">
                        <a:solidFill>
                          <a:srgbClr val="000000"/>
                        </a:solidFill>
                        <a:effectLst/>
                        <a:latin typeface="+mn-lt"/>
                        <a:ea typeface="LG스마트체 Regular" panose="020B0600000101010101" pitchFamily="50" charset="-127"/>
                      </a:endParaRP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6</a:t>
                      </a:r>
                      <a:endParaRPr lang="ko-KR" sz="1000" b="1"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7</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8</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fontAlgn="ctr"/>
                      <a:endParaRPr lang="en-US" altLang="ko-KR" sz="1000" b="1" i="0" u="none" strike="noStrike">
                        <a:solidFill>
                          <a:srgbClr val="000000"/>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536342443"/>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94.7</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95.5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96.0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96.9</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2959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98.4</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99.3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5</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899990"/>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4561696"/>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726993"/>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28509"/>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049059"/>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9085875"/>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96.3</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96.2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96.4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7.5</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33565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97.2</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97.7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97.5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8.4</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31355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98.8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9.2</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782952"/>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9.4</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9639468"/>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.8</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5518744"/>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99.0</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98.5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9.1</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3278621"/>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03334"/>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823684"/>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7</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2855783"/>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6607071"/>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99.1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99.1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623274"/>
                  </a:ext>
                </a:extLst>
              </a:tr>
            </a:tbl>
          </a:graphicData>
        </a:graphic>
      </p:graphicFrame>
      <p:sp>
        <p:nvSpPr>
          <p:cNvPr id="58" name="TextBox 57">
            <a:extLst>
              <a:ext uri="{FF2B5EF4-FFF2-40B4-BE49-F238E27FC236}">
                <a16:creationId xmlns:a16="http://schemas.microsoft.com/office/drawing/2014/main" id="{248D4B69-50DE-4903-0341-86D955FE9A4C}"/>
              </a:ext>
            </a:extLst>
          </p:cNvPr>
          <p:cNvSpPr txBox="1"/>
          <p:nvPr/>
        </p:nvSpPr>
        <p:spPr>
          <a:xfrm>
            <a:off x="376955" y="748272"/>
            <a:ext cx="8513847" cy="501976"/>
          </a:xfrm>
          <a:prstGeom prst="rect">
            <a:avLst/>
          </a:prstGeom>
          <a:noFill/>
        </p:spPr>
        <p:txBody>
          <a:bodyPr wrap="square" rtlCol="0">
            <a:spAutoFit/>
          </a:bodyPr>
          <a:lstStyle/>
          <a:p>
            <a:pPr marL="0" marR="0" lvl="0" indent="0" algn="l" defTabSz="877306" rtl="0" eaLnBrk="1" fontAlgn="auto" latinLnBrk="1" hangingPunct="1">
              <a:lnSpc>
                <a:spcPct val="100000"/>
              </a:lnSpc>
              <a:spcBef>
                <a:spcPts val="0"/>
              </a:spcBef>
              <a:spcAft>
                <a:spcPts val="0"/>
              </a:spcAft>
              <a:buClrTx/>
              <a:buSzTx/>
              <a:buFontTx/>
              <a:buNone/>
              <a:tabLst/>
              <a:defRPr/>
            </a:pP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’26</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년도 물동 계획 기준 </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ESS </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중 </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81%</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가 </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MI/OT/MIL/HD</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사이트에서 생산되며 </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MI 41%, OT 18%, MI_LS 10%, HD 12% </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입니다</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b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344" b="1" i="0" u="none" strike="noStrike" kern="1200" cap="none" spc="0" normalizeH="0" baseline="0" noProof="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집중해야할</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공정과 주요 불량으로는 라미 위치</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/NG</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마킹</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344" b="1" i="0" u="none" strike="noStrike" kern="1200" cap="none" spc="0" normalizeH="0" baseline="0" noProof="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스태킹</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344" b="1" i="0" u="none" strike="noStrike" kern="1200" cap="none" spc="0" normalizeH="0" baseline="0" noProof="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모노세파</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1344" b="1" i="0" u="none" strike="noStrike" kern="1200" cap="none" spc="0" normalizeH="0" baseline="0" noProof="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모노스택</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 EOL IR </a:t>
            </a:r>
            <a:r>
              <a:rPr kumimoji="0" lang="ko-KR" altLang="en-US"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입니다</a:t>
            </a:r>
            <a:r>
              <a:rPr kumimoji="0" lang="en-US" altLang="ko-KR" sz="1344"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sp>
        <p:nvSpPr>
          <p:cNvPr id="59" name="TextBox 58">
            <a:extLst>
              <a:ext uri="{FF2B5EF4-FFF2-40B4-BE49-F238E27FC236}">
                <a16:creationId xmlns:a16="http://schemas.microsoft.com/office/drawing/2014/main" id="{161E184F-CDE2-100C-69D8-6EE39DCBECB6}"/>
              </a:ext>
            </a:extLst>
          </p:cNvPr>
          <p:cNvSpPr txBox="1"/>
          <p:nvPr/>
        </p:nvSpPr>
        <p:spPr>
          <a:xfrm>
            <a:off x="2747019" y="636636"/>
            <a:ext cx="2350124" cy="225318"/>
          </a:xfrm>
          <a:prstGeom prst="rect">
            <a:avLst/>
          </a:prstGeom>
          <a:noFill/>
        </p:spPr>
        <p:txBody>
          <a:bodyPr wrap="square" rtlCol="0">
            <a:spAutoFit/>
          </a:bodyPr>
          <a:lstStyle/>
          <a:p>
            <a:pPr marL="0" marR="0" lvl="0" indent="0" algn="l" defTabSz="877306" rtl="0" eaLnBrk="1" fontAlgn="auto" latinLnBrk="1" hangingPunct="1">
              <a:lnSpc>
                <a:spcPct val="100000"/>
              </a:lnSpc>
              <a:spcBef>
                <a:spcPts val="0"/>
              </a:spcBef>
              <a:spcAft>
                <a:spcPts val="0"/>
              </a:spcAft>
              <a:buClrTx/>
              <a:buSzTx/>
              <a:buFontTx/>
              <a:buNone/>
              <a:tabLst/>
              <a:defRPr/>
            </a:pP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나머지</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19% </a:t>
            </a: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중 </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GM</a:t>
            </a: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13%p,</a:t>
            </a: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NB</a:t>
            </a: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3%p WA</a:t>
            </a: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 </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3%p</a:t>
            </a:r>
          </a:p>
        </p:txBody>
      </p:sp>
      <p:sp>
        <p:nvSpPr>
          <p:cNvPr id="60" name="TextBox 59">
            <a:extLst>
              <a:ext uri="{FF2B5EF4-FFF2-40B4-BE49-F238E27FC236}">
                <a16:creationId xmlns:a16="http://schemas.microsoft.com/office/drawing/2014/main" id="{468A2B96-4FB5-9DE0-BA4F-5D5A28F766EC}"/>
              </a:ext>
            </a:extLst>
          </p:cNvPr>
          <p:cNvSpPr txBox="1"/>
          <p:nvPr/>
        </p:nvSpPr>
        <p:spPr>
          <a:xfrm>
            <a:off x="992046" y="636638"/>
            <a:ext cx="955563" cy="224328"/>
          </a:xfrm>
          <a:prstGeom prst="rect">
            <a:avLst/>
          </a:prstGeom>
          <a:noFill/>
        </p:spPr>
        <p:txBody>
          <a:bodyPr wrap="square" rtlCol="0">
            <a:spAutoFit/>
          </a:bodyPr>
          <a:lstStyle/>
          <a:p>
            <a:pPr marL="0" marR="0" lvl="0" indent="0" algn="l" defTabSz="877306" rtl="0" eaLnBrk="1" fontAlgn="auto" latinLnBrk="1" hangingPunct="1">
              <a:lnSpc>
                <a:spcPct val="100000"/>
              </a:lnSpc>
              <a:spcBef>
                <a:spcPts val="0"/>
              </a:spcBef>
              <a:spcAft>
                <a:spcPts val="0"/>
              </a:spcAft>
              <a:buClrTx/>
              <a:buSzTx/>
              <a:buFontTx/>
              <a:buNone/>
              <a:tabLst/>
              <a:defRPr/>
            </a:pP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a:t>
            </a:r>
            <a:r>
              <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26.06.01 </a:t>
            </a:r>
            <a:r>
              <a:rPr kumimoji="0" lang="ko-KR" altLang="en-US"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rPr>
              <a:t>기준</a:t>
            </a:r>
            <a:endParaRPr kumimoji="0" lang="en-US" altLang="ko-KR" sz="864" b="1" i="0" u="none" strike="noStrike" kern="1200" cap="none" spc="0" normalizeH="0" baseline="0" noProof="0">
              <a:ln>
                <a:noFill/>
              </a:ln>
              <a:solidFill>
                <a:srgbClr val="006600"/>
              </a:solidFill>
              <a:effectLst/>
              <a:uLnTx/>
              <a:uFillTx/>
              <a:latin typeface="Arial Narrow" panose="020B0606020202030204" pitchFamily="34" charset="0"/>
              <a:ea typeface="LG스마트체 Regular" panose="020B0600000101010101" pitchFamily="50" charset="-127"/>
              <a:cs typeface="+mn-cs"/>
            </a:endParaRPr>
          </a:p>
        </p:txBody>
      </p:sp>
      <p:graphicFrame>
        <p:nvGraphicFramePr>
          <p:cNvPr id="26" name="표 25">
            <a:extLst>
              <a:ext uri="{FF2B5EF4-FFF2-40B4-BE49-F238E27FC236}">
                <a16:creationId xmlns:a16="http://schemas.microsoft.com/office/drawing/2014/main" id="{C9106F58-45F0-E579-EDFA-58AC68D3C982}"/>
              </a:ext>
            </a:extLst>
          </p:cNvPr>
          <p:cNvGraphicFramePr>
            <a:graphicFrameLocks noGrp="1"/>
          </p:cNvGraphicFramePr>
          <p:nvPr/>
        </p:nvGraphicFramePr>
        <p:xfrm>
          <a:off x="5679733" y="1746224"/>
          <a:ext cx="1933109" cy="3226825"/>
        </p:xfrm>
        <a:graphic>
          <a:graphicData uri="http://schemas.openxmlformats.org/drawingml/2006/table">
            <a:tbl>
              <a:tblPr/>
              <a:tblGrid>
                <a:gridCol w="285031">
                  <a:extLst>
                    <a:ext uri="{9D8B030D-6E8A-4147-A177-3AD203B41FA5}">
                      <a16:colId xmlns:a16="http://schemas.microsoft.com/office/drawing/2014/main" val="3625827197"/>
                    </a:ext>
                  </a:extLst>
                </a:gridCol>
                <a:gridCol w="320880">
                  <a:extLst>
                    <a:ext uri="{9D8B030D-6E8A-4147-A177-3AD203B41FA5}">
                      <a16:colId xmlns:a16="http://schemas.microsoft.com/office/drawing/2014/main" val="659561473"/>
                    </a:ext>
                  </a:extLst>
                </a:gridCol>
                <a:gridCol w="320880">
                  <a:extLst>
                    <a:ext uri="{9D8B030D-6E8A-4147-A177-3AD203B41FA5}">
                      <a16:colId xmlns:a16="http://schemas.microsoft.com/office/drawing/2014/main" val="2868714762"/>
                    </a:ext>
                  </a:extLst>
                </a:gridCol>
                <a:gridCol w="320880">
                  <a:extLst>
                    <a:ext uri="{9D8B030D-6E8A-4147-A177-3AD203B41FA5}">
                      <a16:colId xmlns:a16="http://schemas.microsoft.com/office/drawing/2014/main" val="597163299"/>
                    </a:ext>
                  </a:extLst>
                </a:gridCol>
                <a:gridCol w="43678">
                  <a:extLst>
                    <a:ext uri="{9D8B030D-6E8A-4147-A177-3AD203B41FA5}">
                      <a16:colId xmlns:a16="http://schemas.microsoft.com/office/drawing/2014/main" val="3736888109"/>
                    </a:ext>
                  </a:extLst>
                </a:gridCol>
                <a:gridCol w="320880">
                  <a:extLst>
                    <a:ext uri="{9D8B030D-6E8A-4147-A177-3AD203B41FA5}">
                      <a16:colId xmlns:a16="http://schemas.microsoft.com/office/drawing/2014/main" val="3584291418"/>
                    </a:ext>
                  </a:extLst>
                </a:gridCol>
                <a:gridCol w="320880">
                  <a:extLst>
                    <a:ext uri="{9D8B030D-6E8A-4147-A177-3AD203B41FA5}">
                      <a16:colId xmlns:a16="http://schemas.microsoft.com/office/drawing/2014/main" val="1631771928"/>
                    </a:ext>
                  </a:extLst>
                </a:gridCol>
              </a:tblGrid>
              <a:tr h="310797">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1000" b="1" i="0" u="none" strike="noStrike" dirty="0">
                          <a:solidFill>
                            <a:srgbClr val="000000"/>
                          </a:solidFill>
                          <a:effectLst/>
                          <a:latin typeface="Arial Narrow" panose="020B0606020202030204" pitchFamily="34" charset="0"/>
                          <a:ea typeface="LG스마트체 Regular" panose="020B0600000101010101" pitchFamily="50" charset="-127"/>
                        </a:rPr>
                        <a:t>월 </a:t>
                      </a:r>
                      <a:endPar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endParaRPr>
                    </a:p>
                    <a:p>
                      <a:pPr algn="ctr" fontAlgn="ctr"/>
                      <a:r>
                        <a:rPr lang="ko-KR" altLang="en-US" sz="1000" b="1" i="0" u="none" strike="noStrike" dirty="0">
                          <a:solidFill>
                            <a:srgbClr val="000000"/>
                          </a:solidFill>
                          <a:effectLst/>
                          <a:latin typeface="Arial Narrow" panose="020B0606020202030204" pitchFamily="34" charset="0"/>
                          <a:ea typeface="LG스마트체 Regular" panose="020B0600000101010101" pitchFamily="50" charset="-127"/>
                        </a:rPr>
                        <a:t>목표</a:t>
                      </a:r>
                      <a:endPar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6</a:t>
                      </a:r>
                      <a:endParaRPr lang="ko-KR" sz="1000" b="1"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7</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8</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fontAlgn="ctr"/>
                      <a:endParaRPr lang="en-US" altLang="ko-KR" sz="1000" b="1" i="0" u="none" strike="noStrike">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536342443"/>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94.2</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96.1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95.7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96.5</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2959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98.4</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99.1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4</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102.1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899990"/>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102.5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103.5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4561696"/>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8</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726993"/>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8</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28509"/>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049059"/>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8</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9085875"/>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95.7</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97.0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96.</a:t>
                      </a:r>
                      <a:r>
                        <a:rPr lang="en-US" altLang="ko-KR" sz="1000" b="0" i="0" u="none" strike="noStrike" dirty="0">
                          <a:solidFill>
                            <a:schemeClr val="tx1"/>
                          </a:solidFill>
                          <a:effectLst/>
                          <a:latin typeface="Arial Narrow" panose="020B0606020202030204" pitchFamily="34" charset="0"/>
                          <a:ea typeface="맑은 고딕" panose="020B0503020000020004" pitchFamily="50" charset="-127"/>
                        </a:rPr>
                        <a:t>7</a:t>
                      </a:r>
                      <a:endParaRPr lang="ko-KR" sz="1000" b="0" i="0" u="none" strike="noStrike" dirty="0">
                        <a:solidFill>
                          <a:schemeClr val="tx1"/>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7.0</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95.6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33565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96.9</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97.9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97.6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97.</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31355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98.9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9.1</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782952"/>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98.</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307628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325115"/>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98.7</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99.1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99.1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99.1</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148152"/>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9550022"/>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8429215"/>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692777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99.4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99.5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5</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0682533"/>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7</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101.1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623274"/>
                  </a:ext>
                </a:extLst>
              </a:tr>
            </a:tbl>
          </a:graphicData>
        </a:graphic>
      </p:graphicFrame>
      <p:graphicFrame>
        <p:nvGraphicFramePr>
          <p:cNvPr id="37" name="표 36">
            <a:extLst>
              <a:ext uri="{FF2B5EF4-FFF2-40B4-BE49-F238E27FC236}">
                <a16:creationId xmlns:a16="http://schemas.microsoft.com/office/drawing/2014/main" id="{B2B9FCBC-F88D-5F2D-BF4E-99790F1912EF}"/>
              </a:ext>
            </a:extLst>
          </p:cNvPr>
          <p:cNvGraphicFramePr>
            <a:graphicFrameLocks noGrp="1"/>
          </p:cNvGraphicFramePr>
          <p:nvPr/>
        </p:nvGraphicFramePr>
        <p:xfrm>
          <a:off x="610576" y="1746225"/>
          <a:ext cx="2875171" cy="3227016"/>
        </p:xfrm>
        <a:graphic>
          <a:graphicData uri="http://schemas.openxmlformats.org/drawingml/2006/table">
            <a:tbl>
              <a:tblPr/>
              <a:tblGrid>
                <a:gridCol w="101143">
                  <a:extLst>
                    <a:ext uri="{9D8B030D-6E8A-4147-A177-3AD203B41FA5}">
                      <a16:colId xmlns:a16="http://schemas.microsoft.com/office/drawing/2014/main" val="907961719"/>
                    </a:ext>
                  </a:extLst>
                </a:gridCol>
                <a:gridCol w="101143">
                  <a:extLst>
                    <a:ext uri="{9D8B030D-6E8A-4147-A177-3AD203B41FA5}">
                      <a16:colId xmlns:a16="http://schemas.microsoft.com/office/drawing/2014/main" val="3916784147"/>
                    </a:ext>
                  </a:extLst>
                </a:gridCol>
                <a:gridCol w="352616">
                  <a:extLst>
                    <a:ext uri="{9D8B030D-6E8A-4147-A177-3AD203B41FA5}">
                      <a16:colId xmlns:a16="http://schemas.microsoft.com/office/drawing/2014/main" val="3283930349"/>
                    </a:ext>
                  </a:extLst>
                </a:gridCol>
                <a:gridCol w="387878">
                  <a:extLst>
                    <a:ext uri="{9D8B030D-6E8A-4147-A177-3AD203B41FA5}">
                      <a16:colId xmlns:a16="http://schemas.microsoft.com/office/drawing/2014/main" val="3870823936"/>
                    </a:ext>
                  </a:extLst>
                </a:gridCol>
                <a:gridCol w="285031">
                  <a:extLst>
                    <a:ext uri="{9D8B030D-6E8A-4147-A177-3AD203B41FA5}">
                      <a16:colId xmlns:a16="http://schemas.microsoft.com/office/drawing/2014/main" val="1213012566"/>
                    </a:ext>
                  </a:extLst>
                </a:gridCol>
                <a:gridCol w="320660">
                  <a:extLst>
                    <a:ext uri="{9D8B030D-6E8A-4147-A177-3AD203B41FA5}">
                      <a16:colId xmlns:a16="http://schemas.microsoft.com/office/drawing/2014/main" val="3625827197"/>
                    </a:ext>
                  </a:extLst>
                </a:gridCol>
                <a:gridCol w="320660">
                  <a:extLst>
                    <a:ext uri="{9D8B030D-6E8A-4147-A177-3AD203B41FA5}">
                      <a16:colId xmlns:a16="http://schemas.microsoft.com/office/drawing/2014/main" val="659561473"/>
                    </a:ext>
                  </a:extLst>
                </a:gridCol>
                <a:gridCol w="320660">
                  <a:extLst>
                    <a:ext uri="{9D8B030D-6E8A-4147-A177-3AD203B41FA5}">
                      <a16:colId xmlns:a16="http://schemas.microsoft.com/office/drawing/2014/main" val="2868714762"/>
                    </a:ext>
                  </a:extLst>
                </a:gridCol>
                <a:gridCol w="44060">
                  <a:extLst>
                    <a:ext uri="{9D8B030D-6E8A-4147-A177-3AD203B41FA5}">
                      <a16:colId xmlns:a16="http://schemas.microsoft.com/office/drawing/2014/main" val="492387388"/>
                    </a:ext>
                  </a:extLst>
                </a:gridCol>
                <a:gridCol w="320660">
                  <a:extLst>
                    <a:ext uri="{9D8B030D-6E8A-4147-A177-3AD203B41FA5}">
                      <a16:colId xmlns:a16="http://schemas.microsoft.com/office/drawing/2014/main" val="1766775200"/>
                    </a:ext>
                  </a:extLst>
                </a:gridCol>
                <a:gridCol w="320660">
                  <a:extLst>
                    <a:ext uri="{9D8B030D-6E8A-4147-A177-3AD203B41FA5}">
                      <a16:colId xmlns:a16="http://schemas.microsoft.com/office/drawing/2014/main" val="228338975"/>
                    </a:ext>
                  </a:extLst>
                </a:gridCol>
              </a:tblGrid>
              <a:tr h="310988">
                <a:tc gridSpan="4">
                  <a:txBody>
                    <a:bodyPr/>
                    <a:lstStyle/>
                    <a:p>
                      <a:pPr algn="ctr" rtl="0" fontAlgn="ctr">
                        <a:buNone/>
                      </a:pPr>
                      <a:r>
                        <a:rPr lang="ko-KR" sz="1000" b="1" i="0" u="none" strike="noStrike" dirty="0">
                          <a:solidFill>
                            <a:srgbClr val="000000"/>
                          </a:solidFill>
                          <a:effectLst/>
                          <a:latin typeface="+mn-lt"/>
                          <a:ea typeface="+mn-ea"/>
                        </a:rPr>
                        <a:t>ESMI</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h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altLang="ko-KR" sz="1000" b="1" i="0" u="none" strike="noStrike" dirty="0">
                          <a:solidFill>
                            <a:srgbClr val="000000"/>
                          </a:solidFill>
                          <a:effectLst/>
                          <a:latin typeface="+mn-lt"/>
                          <a:ea typeface="+mn-ea"/>
                        </a:rPr>
                        <a:t>8</a:t>
                      </a:r>
                      <a:r>
                        <a:rPr lang="ko-KR" sz="1000" b="1" i="0" u="none" strike="noStrike" dirty="0">
                          <a:solidFill>
                            <a:srgbClr val="000000"/>
                          </a:solidFill>
                          <a:effectLst/>
                          <a:latin typeface="+mn-lt"/>
                          <a:ea typeface="+mn-ea"/>
                        </a:rPr>
                        <a:t>월 </a:t>
                      </a:r>
                      <a:endParaRPr lang="en-US" altLang="ko-KR" sz="1000" b="1" i="0" u="none" strike="noStrike" dirty="0">
                        <a:solidFill>
                          <a:srgbClr val="000000"/>
                        </a:solidFill>
                        <a:effectLst/>
                        <a:latin typeface="+mn-lt"/>
                        <a:ea typeface="+mn-ea"/>
                      </a:endParaRPr>
                    </a:p>
                    <a:p>
                      <a:pPr algn="ctr" rtl="0" fontAlgn="ctr">
                        <a:buNone/>
                      </a:pPr>
                      <a:r>
                        <a:rPr lang="ko-KR" sz="1000" b="1" i="0" u="none" strike="noStrike" dirty="0">
                          <a:solidFill>
                            <a:srgbClr val="000000"/>
                          </a:solidFill>
                          <a:effectLst/>
                          <a:latin typeface="+mn-lt"/>
                          <a:ea typeface="+mn-ea"/>
                        </a:rPr>
                        <a:t>목표</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6</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7</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8</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342443"/>
                  </a:ext>
                </a:extLst>
              </a:tr>
              <a:tr h="160256">
                <a:tc gridSpan="4">
                  <a:txBody>
                    <a:bodyPr/>
                    <a:lstStyle/>
                    <a:p>
                      <a:pPr algn="l" rtl="0" fontAlgn="ctr">
                        <a:buNone/>
                      </a:pPr>
                      <a:r>
                        <a:rPr lang="ko-KR" altLang="en-US" sz="1000" b="1" i="0" u="none" strike="noStrike" dirty="0">
                          <a:solidFill>
                            <a:srgbClr val="000000"/>
                          </a:solidFill>
                          <a:effectLst/>
                          <a:latin typeface="+mn-lt"/>
                          <a:ea typeface="+mn-ea"/>
                        </a:rPr>
                        <a:t>종합</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9525" marR="9525" marT="9525"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9525" marR="9525" marT="9525" marB="0" anchor="ctr">
                    <a:solidFill>
                      <a:schemeClr val="bg1"/>
                    </a:solidFill>
                  </a:tcPr>
                </a:tc>
                <a:tc hMerge="1">
                  <a:txBody>
                    <a:bodyPr/>
                    <a:lstStyle/>
                    <a:p>
                      <a:endParaRPr dirty="0"/>
                    </a:p>
                  </a:txBody>
                  <a:tcPr marL="9525" marR="9525" marT="9525" marB="0" anchor="c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94.8</a:t>
                      </a: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95.3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95.9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95.9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96.4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96.5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17839626"/>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algn="l" rtl="0" fontAlgn="ctr">
                        <a:buNone/>
                      </a:pPr>
                      <a:r>
                        <a:rPr lang="ko-KR" sz="1000" b="1" i="0" u="none" strike="noStrike" dirty="0">
                          <a:solidFill>
                            <a:srgbClr val="000000"/>
                          </a:solidFill>
                          <a:effectLst/>
                          <a:latin typeface="+mn-lt"/>
                          <a:ea typeface="+mn-ea"/>
                        </a:rPr>
                        <a:t>전극</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L="9525" marR="9525" marT="9525" marB="0" anchor="ctr">
                    <a:solidFill>
                      <a:schemeClr val="bg1"/>
                    </a:solidFill>
                  </a:tcPr>
                </a:tc>
                <a:tc hMerge="1">
                  <a:txBody>
                    <a:bodyPr/>
                    <a:lstStyle/>
                    <a:p>
                      <a:endParaRPr dirty="0"/>
                    </a:p>
                  </a:txBody>
                  <a:tcPr marL="9525" marR="9525" marT="9525" marB="0" anchor="c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98.4</a:t>
                      </a:r>
                      <a:endParaRPr lang="ko-KR" sz="1000" b="1"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98.6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FF0000"/>
                          </a:solidFill>
                          <a:effectLst/>
                          <a:latin typeface="Arial Narrow" panose="020B0606020202030204" pitchFamily="34" charset="0"/>
                          <a:ea typeface="맑은 고딕" panose="020B0503020000020004" pitchFamily="50" charset="-127"/>
                        </a:rPr>
                        <a:t>97.4</a:t>
                      </a:r>
                      <a:endParaRPr lang="ko-KR" sz="1000" b="0" i="0" u="none" strike="noStrike" dirty="0">
                        <a:solidFill>
                          <a:srgbClr val="FF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6465735"/>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algn="ctr" rtl="0" fontAlgn="ctr">
                        <a:buNone/>
                      </a:pPr>
                      <a:r>
                        <a:rPr lang="ko-KR" sz="1000" b="0" i="0" u="none" strike="noStrike" dirty="0">
                          <a:solidFill>
                            <a:srgbClr val="000000"/>
                          </a:solidFill>
                          <a:effectLst/>
                          <a:latin typeface="+mn-lt"/>
                          <a:ea typeface="+mn-ea"/>
                        </a:rPr>
                        <a:t>　</a:t>
                      </a:r>
                    </a:p>
                    <a:p>
                      <a:pPr algn="ctr" rtl="0" fontAlgn="ctr">
                        <a:buNone/>
                      </a:pPr>
                      <a:r>
                        <a:rPr lang="ko-KR" altLang="en-US" sz="1000" b="0" i="0" u="none" strike="noStrike" dirty="0">
                          <a:solidFill>
                            <a:srgbClr val="000000"/>
                          </a:solidFill>
                          <a:effectLst/>
                          <a:latin typeface="+mn-lt"/>
                          <a:ea typeface="+mn-ea"/>
                        </a:rPr>
                        <a:t>　</a:t>
                      </a:r>
                    </a:p>
                    <a:p>
                      <a:pPr algn="ctr" rtl="0" fontAlgn="ctr">
                        <a:buNone/>
                      </a:pPr>
                      <a:r>
                        <a:rPr lang="en-US" altLang="ko-KR" sz="1000" b="0" i="0" u="none" strike="noStrike" dirty="0">
                          <a:solidFill>
                            <a:srgbClr val="000000"/>
                          </a:solidFill>
                          <a:effectLst/>
                          <a:latin typeface="+mn-lt"/>
                          <a:ea typeface="+mn-ea"/>
                        </a:rPr>
                        <a:t>-</a:t>
                      </a:r>
                      <a:r>
                        <a:rPr lang="ko-KR" altLang="en-US" sz="1000" b="0" i="0" u="none" strike="noStrike" dirty="0">
                          <a:solidFill>
                            <a:srgbClr val="000000"/>
                          </a:solidFill>
                          <a:effectLst/>
                          <a:latin typeface="+mn-lt"/>
                          <a:ea typeface="+mn-ea"/>
                        </a:rPr>
                        <a:t>　</a:t>
                      </a:r>
                    </a:p>
                    <a:p>
                      <a:pPr algn="ctr" rtl="0" fontAlgn="ctr">
                        <a:buNone/>
                      </a:pPr>
                      <a:r>
                        <a:rPr lang="ko-KR" altLang="en-US" sz="1000" b="0" i="0" u="none" strike="noStrike" dirty="0">
                          <a:solidFill>
                            <a:srgbClr val="000000"/>
                          </a:solidFill>
                          <a:effectLst/>
                          <a:latin typeface="+mn-lt"/>
                          <a:ea typeface="+mn-ea"/>
                        </a:rPr>
                        <a:t>　</a:t>
                      </a:r>
                    </a:p>
                    <a:p>
                      <a:pPr algn="ctr" rtl="0" fontAlgn="ctr">
                        <a:buNone/>
                      </a:pPr>
                      <a:r>
                        <a:rPr lang="ko-KR" altLang="en-US" sz="1000" b="0"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0" i="0" u="none" strike="noStrike" dirty="0">
                          <a:solidFill>
                            <a:srgbClr val="000000"/>
                          </a:solidFill>
                          <a:effectLst/>
                          <a:latin typeface="+mn-lt"/>
                          <a:ea typeface="+mn-ea"/>
                        </a:rPr>
                        <a:t>믹서</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a:t>
                      </a: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98.3</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0358601"/>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9525" marR="9525" marT="9525" marB="0" anchor="ctr">
                    <a:solidFill>
                      <a:schemeClr val="bg1"/>
                    </a:solidFill>
                  </a:tcPr>
                </a:tc>
                <a:tc>
                  <a:txBody>
                    <a:bodyPr/>
                    <a:lstStyle/>
                    <a:p>
                      <a:pPr algn="ctr" rtl="0" fontAlgn="ctr">
                        <a:buNone/>
                      </a:pPr>
                      <a:r>
                        <a:rPr lang="ko-KR" sz="1000" b="0" i="0" u="none" strike="noStrike" dirty="0">
                          <a:solidFill>
                            <a:srgbClr val="000000"/>
                          </a:solidFill>
                          <a:effectLst/>
                          <a:latin typeface="+mn-lt"/>
                          <a:ea typeface="+mn-ea"/>
                        </a:rPr>
                        <a:t>코터</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a:t>
                      </a: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947990"/>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9525" marR="9525" marT="9525" marB="0" anchor="ctr">
                    <a:solidFill>
                      <a:schemeClr val="bg1"/>
                    </a:solidFill>
                  </a:tcPr>
                </a:tc>
                <a:tc>
                  <a:txBody>
                    <a:bodyPr/>
                    <a:lstStyle/>
                    <a:p>
                      <a:pPr algn="ctr" rtl="0" fontAlgn="ctr">
                        <a:buNone/>
                      </a:pPr>
                      <a:r>
                        <a:rPr lang="en-US" altLang="ko-KR" sz="1000" b="0" i="0" u="none" strike="noStrike" dirty="0">
                          <a:solidFill>
                            <a:srgbClr val="000000"/>
                          </a:solidFill>
                          <a:effectLst/>
                          <a:latin typeface="+mn-lt"/>
                          <a:ea typeface="+mn-ea"/>
                        </a:rPr>
                        <a:t>R/P</a:t>
                      </a:r>
                      <a:endParaRPr lang="ko-KR" sz="1000" b="0"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a:t>
                      </a: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99.5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8</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2288856"/>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a:p>
                  </a:txBody>
                  <a:tcPr marL="9525" marR="9525" marT="9525" marB="0" anchor="ctr">
                    <a:solidFill>
                      <a:schemeClr val="bg1"/>
                    </a:solidFill>
                  </a:tcPr>
                </a:tc>
                <a:tc>
                  <a:txBody>
                    <a:bodyPr/>
                    <a:lstStyle/>
                    <a:p>
                      <a:pPr algn="ctr" rtl="0" fontAlgn="ctr">
                        <a:buNone/>
                      </a:pPr>
                      <a:r>
                        <a:rPr lang="ko-KR" sz="1000" b="0" i="0" u="none" strike="noStrike" dirty="0" err="1">
                          <a:solidFill>
                            <a:srgbClr val="000000"/>
                          </a:solidFill>
                          <a:effectLst/>
                          <a:latin typeface="+mn-lt"/>
                          <a:ea typeface="+mn-ea"/>
                        </a:rPr>
                        <a:t>슬리터</a:t>
                      </a:r>
                      <a:endParaRPr lang="ko-KR" sz="1000" b="0"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a:t>
                      </a: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7956849"/>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dirty="0"/>
                    </a:p>
                  </a:txBody>
                  <a:tcPr marL="9525" marR="9525" marT="9525" marB="0" anchor="ctr">
                    <a:solidFill>
                      <a:schemeClr val="bg1"/>
                    </a:solidFill>
                  </a:tcPr>
                </a:tc>
                <a:tc>
                  <a:txBody>
                    <a:bodyPr/>
                    <a:lstStyle/>
                    <a:p>
                      <a:pPr algn="ctr" rtl="0" fontAlgn="ctr">
                        <a:buNone/>
                      </a:pPr>
                      <a:r>
                        <a:rPr lang="ko-KR" sz="1000" b="0" i="0" u="none" strike="noStrike" dirty="0">
                          <a:solidFill>
                            <a:srgbClr val="000000"/>
                          </a:solidFill>
                          <a:effectLst/>
                          <a:latin typeface="+mn-lt"/>
                          <a:ea typeface="+mn-ea"/>
                        </a:rPr>
                        <a:t>노칭</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1" i="0" u="none" strike="noStrike" dirty="0">
                          <a:solidFill>
                            <a:srgbClr val="000000"/>
                          </a:solidFill>
                          <a:effectLst/>
                          <a:latin typeface="+mn-lt"/>
                          <a:ea typeface="+mn-ea"/>
                        </a:rPr>
                        <a:t>-</a:t>
                      </a: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99.4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410782"/>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11">
                  <a:txBody>
                    <a:bodyPr/>
                    <a:lstStyle/>
                    <a:p>
                      <a:pPr algn="l" fontAlgn="t">
                        <a:buNone/>
                      </a:pPr>
                      <a:r>
                        <a:rPr lang="ko-KR" sz="1000" b="0" i="0" u="none" strike="noStrike" dirty="0">
                          <a:solidFill>
                            <a:srgbClr val="000000"/>
                          </a:solidFill>
                          <a:effectLst/>
                          <a:latin typeface="+mn-lt"/>
                          <a:ea typeface="+mn-ea"/>
                        </a:rPr>
                        <a:t>셀</a:t>
                      </a:r>
                    </a:p>
                  </a:txBody>
                  <a:tcPr marL="9330" marR="9330" marT="9330" marB="0">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fontAlgn="ctr">
                        <a:buNone/>
                      </a:pPr>
                      <a:r>
                        <a:rPr lang="ko-KR" sz="1000" b="0" i="0" u="none" strike="noStrike" dirty="0">
                          <a:solidFill>
                            <a:srgbClr val="000000"/>
                          </a:solidFill>
                          <a:effectLst/>
                          <a:latin typeface="+mn-lt"/>
                          <a:ea typeface="+mn-ea"/>
                        </a:rPr>
                        <a:t>　</a:t>
                      </a:r>
                    </a:p>
                  </a:txBody>
                  <a:tcPr marL="9330" marR="9330" marT="9330" marB="0" anchor="ct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ko-KR" sz="1000" b="1" i="0" u="none" strike="noStrike" dirty="0">
                          <a:solidFill>
                            <a:schemeClr val="tx1"/>
                          </a:solidFill>
                          <a:effectLst/>
                          <a:latin typeface="+mn-lt"/>
                          <a:ea typeface="LG스마트체 Regular" panose="020B0600000101010101" pitchFamily="50" charset="-127"/>
                        </a:rPr>
                        <a:t>96.3</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96.7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97.0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97.</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6</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429597"/>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l" rtl="0" fontAlgn="ctr">
                        <a:buNone/>
                      </a:pPr>
                      <a:r>
                        <a:rPr lang="ko-KR" sz="1000" b="0" i="0" u="none" strike="noStrike" dirty="0">
                          <a:solidFill>
                            <a:srgbClr val="000000"/>
                          </a:solidFill>
                          <a:effectLst/>
                          <a:latin typeface="+mn-lt"/>
                          <a:ea typeface="+mn-ea"/>
                        </a:rPr>
                        <a:t>조립</a:t>
                      </a:r>
                    </a:p>
                  </a:txBody>
                  <a:tcPr marL="9330" marR="9330" marT="9330" marB="0">
                    <a:lnL w="6350" cap="flat" cmpd="sng" algn="ctr">
                      <a:solidFill>
                        <a:schemeClr val="tx1"/>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 lastClr="FFFFFF"/>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1" i="0" u="none" strike="noStrike" dirty="0">
                          <a:solidFill>
                            <a:schemeClr val="tx1"/>
                          </a:solidFill>
                          <a:effectLst/>
                          <a:latin typeface="+mn-lt"/>
                          <a:ea typeface="LG스마트체 Regular" panose="020B0600000101010101" pitchFamily="50" charset="-127"/>
                        </a:rPr>
                        <a:t>97.2</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97.3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97.8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98.2</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5899990"/>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라미</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4561696"/>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스태킹</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98.6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9.2</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0726993"/>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패키지</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28509"/>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6">
                  <a:txBody>
                    <a:bodyPr/>
                    <a:lstStyle/>
                    <a:p>
                      <a:pPr algn="l" rtl="0" fontAlgn="ctr">
                        <a:buNone/>
                      </a:pPr>
                      <a:r>
                        <a:rPr lang="ko-KR" sz="1000" b="0" i="0" u="none" strike="noStrike" dirty="0">
                          <a:solidFill>
                            <a:srgbClr val="000000"/>
                          </a:solidFill>
                          <a:effectLst/>
                          <a:latin typeface="+mn-lt"/>
                          <a:ea typeface="+mn-ea"/>
                        </a:rPr>
                        <a:t>활성화</a:t>
                      </a:r>
                    </a:p>
                  </a:txBody>
                  <a:tcPr marL="9330" marR="9330" marT="9330" marB="0">
                    <a:lnL w="6350" cap="flat" cmpd="sng" algn="ctr">
                      <a:solidFill>
                        <a:schemeClr val="tx1"/>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buNone/>
                      </a:pPr>
                      <a:r>
                        <a:rPr lang="ko-KR" sz="1000" b="0" i="0" u="none" strike="noStrike">
                          <a:solidFill>
                            <a:srgbClr val="000000"/>
                          </a:solidFill>
                          <a:effectLst/>
                          <a:latin typeface="+mn-lt"/>
                          <a:ea typeface="+mn-ea"/>
                        </a:rPr>
                        <a:t>　</a:t>
                      </a:r>
                    </a:p>
                  </a:txBody>
                  <a:tcPr marL="9330" marR="9330" marT="9330" marB="0" anchor="ctr">
                    <a:lnL w="6350" cap="flat" cmpd="sng" algn="ctr">
                      <a:solidFill>
                        <a:sysClr val="window" lastClr="FFFFFF"/>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1" i="0" u="none" strike="noStrike" dirty="0">
                          <a:solidFill>
                            <a:schemeClr val="tx1"/>
                          </a:solidFill>
                          <a:effectLst/>
                          <a:latin typeface="+mn-lt"/>
                          <a:ea typeface="LG스마트체 Regular" panose="020B0600000101010101" pitchFamily="50" charset="-127"/>
                        </a:rPr>
                        <a:t>99.2</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99.3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99.1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FF"/>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3</a:t>
                      </a:r>
                      <a:r>
                        <a:rPr lang="ko-KR" sz="1000" b="0" i="0" u="none" strike="noStrike" dirty="0">
                          <a:solidFill>
                            <a:srgbClr val="0000FF"/>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7049059"/>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1차 for.</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9085875"/>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디가스</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335650"/>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2차 for.</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313557"/>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dirty="0" err="1">
                          <a:solidFill>
                            <a:srgbClr val="000000"/>
                          </a:solidFill>
                          <a:effectLst/>
                          <a:latin typeface="+mn-lt"/>
                          <a:ea typeface="+mn-ea"/>
                        </a:rPr>
                        <a:t>Grading</a:t>
                      </a:r>
                      <a:endParaRPr lang="ko-KR" sz="1000" b="0"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chemeClr val="tx1"/>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5782952"/>
                  </a:ext>
                </a:extLst>
              </a:tr>
              <a:tr h="160256">
                <a:tc>
                  <a:txBody>
                    <a:bodyPr/>
                    <a:lstStyle/>
                    <a:p>
                      <a:pPr algn="ctr" rtl="0" fontAlgn="ctr">
                        <a:buNone/>
                      </a:pPr>
                      <a:r>
                        <a:rPr lang="ko-KR" sz="1000" b="1" i="0" u="none" strike="noStrike" dirty="0">
                          <a:solidFill>
                            <a:srgbClr val="000000"/>
                          </a:solidFill>
                          <a:effectLst/>
                          <a:latin typeface="+mn-lt"/>
                          <a:ea typeface="+mn-ea"/>
                        </a:rPr>
                        <a:t>　</a:t>
                      </a: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mpd="sng">
                      <a:noFill/>
                      <a:prstDash val="soli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latinLnBrk="1"/>
                      <a:endParaRPr lang="ko-KR"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ko-KR" sz="1000" b="0" i="0" u="none" strike="noStrike">
                          <a:solidFill>
                            <a:srgbClr val="000000"/>
                          </a:solidFill>
                          <a:effectLst/>
                          <a:latin typeface="+mn-lt"/>
                          <a:ea typeface="+mn-ea"/>
                        </a:rPr>
                        <a:t>EOL</a:t>
                      </a: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altLang="ko-KR" sz="1000" b="0" i="0" u="none" strike="noStrike" dirty="0">
                          <a:solidFill>
                            <a:srgbClr val="0000FF"/>
                          </a:solidFill>
                          <a:effectLst/>
                          <a:latin typeface="+mn-lt"/>
                          <a:ea typeface="LG스마트체 Regular" panose="020B0600000101010101" pitchFamily="50" charset="-127"/>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99.4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99.4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a:t>
                      </a: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6</a:t>
                      </a:r>
                      <a:r>
                        <a:rPr lang="ko-KR" sz="10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7623274"/>
                  </a:ext>
                </a:extLst>
              </a:tr>
            </a:tbl>
          </a:graphicData>
        </a:graphic>
      </p:graphicFrame>
      <p:graphicFrame>
        <p:nvGraphicFramePr>
          <p:cNvPr id="6" name="표 5">
            <a:extLst>
              <a:ext uri="{FF2B5EF4-FFF2-40B4-BE49-F238E27FC236}">
                <a16:creationId xmlns:a16="http://schemas.microsoft.com/office/drawing/2014/main" id="{04995C28-9E0E-5B42-C86A-EA0BA0304E35}"/>
              </a:ext>
            </a:extLst>
          </p:cNvPr>
          <p:cNvGraphicFramePr>
            <a:graphicFrameLocks noGrp="1"/>
          </p:cNvGraphicFramePr>
          <p:nvPr/>
        </p:nvGraphicFramePr>
        <p:xfrm>
          <a:off x="7772330" y="1746225"/>
          <a:ext cx="1937919" cy="3226825"/>
        </p:xfrm>
        <a:graphic>
          <a:graphicData uri="http://schemas.openxmlformats.org/drawingml/2006/table">
            <a:tbl>
              <a:tblPr/>
              <a:tblGrid>
                <a:gridCol w="284400">
                  <a:extLst>
                    <a:ext uri="{9D8B030D-6E8A-4147-A177-3AD203B41FA5}">
                      <a16:colId xmlns:a16="http://schemas.microsoft.com/office/drawing/2014/main" val="3625827197"/>
                    </a:ext>
                  </a:extLst>
                </a:gridCol>
                <a:gridCol w="320400">
                  <a:extLst>
                    <a:ext uri="{9D8B030D-6E8A-4147-A177-3AD203B41FA5}">
                      <a16:colId xmlns:a16="http://schemas.microsoft.com/office/drawing/2014/main" val="3229855240"/>
                    </a:ext>
                  </a:extLst>
                </a:gridCol>
                <a:gridCol w="320400">
                  <a:extLst>
                    <a:ext uri="{9D8B030D-6E8A-4147-A177-3AD203B41FA5}">
                      <a16:colId xmlns:a16="http://schemas.microsoft.com/office/drawing/2014/main" val="597163299"/>
                    </a:ext>
                  </a:extLst>
                </a:gridCol>
                <a:gridCol w="320400">
                  <a:extLst>
                    <a:ext uri="{9D8B030D-6E8A-4147-A177-3AD203B41FA5}">
                      <a16:colId xmlns:a16="http://schemas.microsoft.com/office/drawing/2014/main" val="1865042938"/>
                    </a:ext>
                  </a:extLst>
                </a:gridCol>
                <a:gridCol w="51519">
                  <a:extLst>
                    <a:ext uri="{9D8B030D-6E8A-4147-A177-3AD203B41FA5}">
                      <a16:colId xmlns:a16="http://schemas.microsoft.com/office/drawing/2014/main" val="3736888109"/>
                    </a:ext>
                  </a:extLst>
                </a:gridCol>
                <a:gridCol w="320400">
                  <a:extLst>
                    <a:ext uri="{9D8B030D-6E8A-4147-A177-3AD203B41FA5}">
                      <a16:colId xmlns:a16="http://schemas.microsoft.com/office/drawing/2014/main" val="3584291418"/>
                    </a:ext>
                  </a:extLst>
                </a:gridCol>
                <a:gridCol w="320400">
                  <a:extLst>
                    <a:ext uri="{9D8B030D-6E8A-4147-A177-3AD203B41FA5}">
                      <a16:colId xmlns:a16="http://schemas.microsoft.com/office/drawing/2014/main" val="1631771928"/>
                    </a:ext>
                  </a:extLst>
                </a:gridCol>
              </a:tblGrid>
              <a:tr h="310797">
                <a:tc>
                  <a:txBody>
                    <a:bodyPr/>
                    <a:lstStyle/>
                    <a:p>
                      <a:pPr algn="ctr" fontAlgn="ctr"/>
                      <a:r>
                        <a:rPr lang="en-US" altLang="ko-KR" sz="1000" b="1" i="0" u="none" strike="noStrike" dirty="0">
                          <a:solidFill>
                            <a:srgbClr val="000000"/>
                          </a:solidFill>
                          <a:effectLst/>
                          <a:latin typeface="+mn-lt"/>
                          <a:ea typeface="LG스마트체 Regular" panose="020B0600000101010101" pitchFamily="50" charset="-127"/>
                        </a:rPr>
                        <a:t>8</a:t>
                      </a:r>
                      <a:r>
                        <a:rPr lang="ko-KR" altLang="en-US" sz="1000" b="1" i="0" u="none" strike="noStrike" dirty="0">
                          <a:solidFill>
                            <a:srgbClr val="000000"/>
                          </a:solidFill>
                          <a:effectLst/>
                          <a:latin typeface="+mn-lt"/>
                          <a:ea typeface="LG스마트체 Regular" panose="020B0600000101010101" pitchFamily="50" charset="-127"/>
                        </a:rPr>
                        <a:t>월 </a:t>
                      </a:r>
                      <a:br>
                        <a:rPr lang="en-US" altLang="ko-KR" sz="1000" b="1" i="0" u="none" strike="noStrike" dirty="0">
                          <a:solidFill>
                            <a:srgbClr val="000000"/>
                          </a:solidFill>
                          <a:effectLst/>
                          <a:latin typeface="+mn-lt"/>
                          <a:ea typeface="LG스마트체 Regular" panose="020B0600000101010101" pitchFamily="50" charset="-127"/>
                        </a:rPr>
                      </a:br>
                      <a:r>
                        <a:rPr lang="ko-KR" altLang="en-US" sz="1000" b="1" i="0" u="none" strike="noStrike" dirty="0">
                          <a:solidFill>
                            <a:srgbClr val="000000"/>
                          </a:solidFill>
                          <a:effectLst/>
                          <a:latin typeface="+mn-lt"/>
                          <a:ea typeface="LG스마트체 Regular" panose="020B0600000101010101" pitchFamily="50" charset="-127"/>
                        </a:rPr>
                        <a:t>목표</a:t>
                      </a:r>
                      <a:endParaRPr lang="en-US" altLang="ko-KR" sz="1000" b="1" i="0" u="none" strike="noStrike" dirty="0">
                        <a:solidFill>
                          <a:srgbClr val="000000"/>
                        </a:solidFill>
                        <a:effectLst/>
                        <a:latin typeface="+mn-lt"/>
                        <a:ea typeface="LG스마트체 Regular" panose="020B0600000101010101" pitchFamily="50" charset="-127"/>
                      </a:endParaRP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6</a:t>
                      </a:r>
                      <a:endParaRPr lang="ko-KR" sz="1000" b="1"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a:solidFill>
                            <a:srgbClr val="000000"/>
                          </a:solidFill>
                          <a:effectLst/>
                          <a:latin typeface="+mn-lt"/>
                          <a:ea typeface="+mn-ea"/>
                        </a:rPr>
                        <a:t>‘26.</a:t>
                      </a:r>
                      <a:r>
                        <a:rPr lang="en-US" altLang="ko-KR" sz="1000" b="1" i="0" u="none" strike="noStrike" dirty="0">
                          <a:solidFill>
                            <a:srgbClr val="000000"/>
                          </a:solidFill>
                          <a:effectLst/>
                          <a:latin typeface="+mn-lt"/>
                          <a:ea typeface="+mn-ea"/>
                        </a:rPr>
                        <a:t>7</a:t>
                      </a:r>
                      <a:endParaRPr lang="ko-KR" sz="1000" b="1" i="0" u="none" strike="noStrike" dirty="0">
                        <a:solidFill>
                          <a:srgbClr val="000000"/>
                        </a:solidFill>
                        <a:effectLst/>
                        <a:latin typeface="+mn-lt"/>
                        <a:ea typeface="+mn-ea"/>
                      </a:endParaRPr>
                    </a:p>
                  </a:txBody>
                  <a:tcPr marL="9330" marR="9330" marT="9330"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en-US" altLang="ko-KR" sz="1000" b="1" i="0" u="none" strike="noStrike" dirty="0">
                          <a:solidFill>
                            <a:srgbClr val="000000"/>
                          </a:solidFill>
                          <a:effectLst/>
                          <a:latin typeface="+mn-lt"/>
                          <a:ea typeface="+mn-ea"/>
                        </a:rPr>
                        <a:t>‘26.8</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fontAlgn="ctr"/>
                      <a:endParaRPr lang="en-US" altLang="ko-KR" sz="1000" b="1" i="0" u="none" strike="noStrike" dirty="0">
                        <a:solidFill>
                          <a:srgbClr val="000000"/>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536342443"/>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92.9</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92.9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95.4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95.0</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96.5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96.1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2959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97.8</a:t>
                      </a: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97.8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98.5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98.2</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899990"/>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chemeClr val="tx1"/>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102.9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4561696"/>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99.5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726993"/>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99.2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99.5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28509"/>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7049059"/>
                  </a:ext>
                </a:extLst>
              </a:tr>
              <a:tr h="160256">
                <a:tc>
                  <a:txBody>
                    <a:bodyPr/>
                    <a:lstStyle/>
                    <a:p>
                      <a:pPr marL="0" algn="ctr" defTabSz="886436" rtl="0" eaLnBrk="1" fontAlgn="ctr" latinLnBrk="1" hangingPunct="1">
                        <a:buNone/>
                      </a:pPr>
                      <a:endParaRPr lang="en-US" altLang="ko-KR" sz="1000" b="1" i="0" u="none" strike="noStrike" kern="1200" dirty="0">
                        <a:solidFill>
                          <a:srgbClr val="000000"/>
                        </a:solidFill>
                        <a:effectLst/>
                        <a:latin typeface="+mn-lt"/>
                        <a:ea typeface="+mn-ea"/>
                        <a:cs typeface="+mn-cs"/>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99.2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9085875"/>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95.0</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95.1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96.9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96.7</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97.1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96.8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33565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96.2</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97.2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97.9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FF"/>
                          </a:solidFill>
                          <a:effectLst/>
                          <a:latin typeface="Arial Narrow" panose="020B0606020202030204" pitchFamily="34" charset="0"/>
                          <a:ea typeface="맑은 고딕" panose="020B0503020000020004" pitchFamily="50" charset="-127"/>
                        </a:rPr>
                        <a:t>98.1</a:t>
                      </a:r>
                      <a:endParaRPr lang="ko-KR" sz="1000" b="0"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31355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98.6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98.8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782952"/>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98.9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chemeClr val="tx1"/>
                          </a:solidFill>
                          <a:effectLst/>
                          <a:latin typeface="Arial Narrow" panose="020B0606020202030204" pitchFamily="34" charset="0"/>
                          <a:ea typeface="맑은 고딕" panose="020B0503020000020004" pitchFamily="50" charset="-127"/>
                        </a:rPr>
                        <a:t>99.2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4765912"/>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431849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98.8</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97.8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FF0000"/>
                          </a:solidFill>
                          <a:effectLst/>
                          <a:latin typeface="Arial Narrow" panose="020B0606020202030204" pitchFamily="34" charset="0"/>
                          <a:ea typeface="맑은 고딕" panose="020B0503020000020004" pitchFamily="50" charset="-127"/>
                        </a:rPr>
                        <a:t>98.6</a:t>
                      </a:r>
                      <a:endParaRPr lang="ko-KR" sz="1000" b="0" i="0" u="none" strike="noStrike" dirty="0">
                        <a:solidFill>
                          <a:srgbClr val="FF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0497234"/>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8493337"/>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100.0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100.0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296762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99.7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chemeClr val="tx1"/>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7854109"/>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99.9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a:solidFill>
                            <a:srgbClr val="000000"/>
                          </a:solidFill>
                          <a:effectLst/>
                          <a:latin typeface="Arial Narrow" panose="020B0606020202030204" pitchFamily="34" charset="0"/>
                          <a:ea typeface="맑은 고딕" panose="020B0503020000020004" pitchFamily="50" charset="-127"/>
                        </a:rPr>
                        <a:t>99.6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98.9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3005200"/>
                  </a:ext>
                </a:extLst>
              </a:tr>
              <a:tr h="160256">
                <a:tc>
                  <a:txBody>
                    <a:bodyPr/>
                    <a:lstStyle/>
                    <a:p>
                      <a:pPr marL="0" algn="ctr" defTabSz="886436" rtl="0" eaLnBrk="1" fontAlgn="ctr" latinLnBrk="1" hangingPunct="1">
                        <a:buNone/>
                      </a:pPr>
                      <a:r>
                        <a:rPr lang="en-US" altLang="ko-KR" sz="1000" b="1" i="0" u="none" strike="noStrike" kern="1200" dirty="0">
                          <a:solidFill>
                            <a:srgbClr val="000000"/>
                          </a:solidFill>
                          <a:effectLst/>
                          <a:latin typeface="+mn-lt"/>
                          <a:ea typeface="+mn-ea"/>
                          <a:cs typeface="+mn-cs"/>
                        </a:rPr>
                        <a:t>-</a:t>
                      </a: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98.4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맑은 고딕" panose="020B0503020000020004" pitchFamily="50" charset="-127"/>
                        </a:rPr>
                        <a:t>99.8 </a:t>
                      </a: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mn-lt"/>
                        <a:ea typeface="LG스마트체 Regular" panose="020B0600000101010101" pitchFamily="50" charset="-127"/>
                      </a:endParaRPr>
                    </a:p>
                  </a:txBody>
                  <a:tcPr marL="9139" marR="9139" marT="9139"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99.5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7623274"/>
                  </a:ext>
                </a:extLst>
              </a:tr>
            </a:tbl>
          </a:graphicData>
        </a:graphic>
      </p:graphicFrame>
      <p:cxnSp>
        <p:nvCxnSpPr>
          <p:cNvPr id="7" name="직선 연결선 6">
            <a:extLst>
              <a:ext uri="{FF2B5EF4-FFF2-40B4-BE49-F238E27FC236}">
                <a16:creationId xmlns:a16="http://schemas.microsoft.com/office/drawing/2014/main" id="{C58041BA-15CA-B635-FD8D-73955390A0A7}"/>
              </a:ext>
            </a:extLst>
          </p:cNvPr>
          <p:cNvCxnSpPr>
            <a:cxnSpLocks/>
          </p:cNvCxnSpPr>
          <p:nvPr/>
        </p:nvCxnSpPr>
        <p:spPr>
          <a:xfrm>
            <a:off x="729918" y="1565121"/>
            <a:ext cx="2747635" cy="0"/>
          </a:xfrm>
          <a:prstGeom prst="line">
            <a:avLst/>
          </a:prstGeom>
          <a:noFill/>
          <a:ln w="6350" cap="flat" cmpd="sng" algn="ctr">
            <a:solidFill>
              <a:sysClr val="windowText" lastClr="000000"/>
            </a:solidFill>
            <a:prstDash val="solid"/>
            <a:miter lim="800000"/>
          </a:ln>
          <a:effectLst/>
        </p:spPr>
      </p:cxnSp>
      <p:sp>
        <p:nvSpPr>
          <p:cNvPr id="20" name="TextBox 19">
            <a:extLst>
              <a:ext uri="{FF2B5EF4-FFF2-40B4-BE49-F238E27FC236}">
                <a16:creationId xmlns:a16="http://schemas.microsoft.com/office/drawing/2014/main" id="{9B19A96F-F898-FB18-8715-0CD1049689BA}"/>
              </a:ext>
            </a:extLst>
          </p:cNvPr>
          <p:cNvSpPr txBox="1"/>
          <p:nvPr/>
        </p:nvSpPr>
        <p:spPr>
          <a:xfrm>
            <a:off x="1778776" y="1262649"/>
            <a:ext cx="644566" cy="301301"/>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ESMI</a:t>
            </a:r>
            <a:endParaRPr kumimoji="0" lang="ko-KR" altLang="en-US"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3" name="TextBox 22">
            <a:extLst>
              <a:ext uri="{FF2B5EF4-FFF2-40B4-BE49-F238E27FC236}">
                <a16:creationId xmlns:a16="http://schemas.microsoft.com/office/drawing/2014/main" id="{096A21F7-1B66-266E-C4B4-8EC764C52F26}"/>
              </a:ext>
            </a:extLst>
          </p:cNvPr>
          <p:cNvSpPr txBox="1"/>
          <p:nvPr/>
        </p:nvSpPr>
        <p:spPr>
          <a:xfrm>
            <a:off x="3879356" y="1262648"/>
            <a:ext cx="1381684" cy="301301"/>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ESOT</a:t>
            </a:r>
            <a:endParaRPr kumimoji="0" lang="ko-KR" altLang="en-US"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5" name="TextBox 24">
            <a:extLst>
              <a:ext uri="{FF2B5EF4-FFF2-40B4-BE49-F238E27FC236}">
                <a16:creationId xmlns:a16="http://schemas.microsoft.com/office/drawing/2014/main" id="{F94081E2-F367-4EE3-1F69-F66557B0005F}"/>
              </a:ext>
            </a:extLst>
          </p:cNvPr>
          <p:cNvSpPr txBox="1"/>
          <p:nvPr/>
        </p:nvSpPr>
        <p:spPr>
          <a:xfrm>
            <a:off x="421333" y="1175604"/>
            <a:ext cx="1270925" cy="621076"/>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8</a:t>
            </a:r>
            <a:r>
              <a:rPr kumimoji="0" lang="ko-KR" altLang="en-US"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 실적 </a:t>
            </a:r>
            <a:r>
              <a:rPr kumimoji="0" lang="en-US" altLang="ko-KR"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8/1 ~ 8/31</a:t>
            </a:r>
          </a:p>
          <a:p>
            <a:pPr marL="0" marR="0" lvl="0" indent="0" algn="l" defTabSz="438652" rtl="0" eaLnBrk="1" fontAlgn="auto" latinLnBrk="1" hangingPunct="1">
              <a:lnSpc>
                <a:spcPct val="100000"/>
              </a:lnSpc>
              <a:spcBef>
                <a:spcPts val="0"/>
              </a:spcBef>
              <a:spcAft>
                <a:spcPts val="0"/>
              </a:spcAft>
              <a:buClrTx/>
              <a:buSzTx/>
              <a:buFontTx/>
              <a:buNone/>
              <a:tabLst/>
              <a:defRPr/>
            </a:pPr>
            <a:r>
              <a:rPr kumimoji="0" lang="ko-KR" altLang="en-US"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단위 </a:t>
            </a:r>
            <a:r>
              <a:rPr kumimoji="0" lang="en-US" altLang="ko-KR"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p>
          <a:p>
            <a:pPr marL="0" marR="0" lvl="0" indent="0" algn="l" defTabSz="438652" rtl="0" eaLnBrk="1" fontAlgn="auto" latinLnBrk="1" hangingPunct="1">
              <a:lnSpc>
                <a:spcPct val="100000"/>
              </a:lnSpc>
              <a:spcBef>
                <a:spcPts val="0"/>
              </a:spcBef>
              <a:spcAft>
                <a:spcPts val="0"/>
              </a:spcAft>
              <a:buClrTx/>
              <a:buSzTx/>
              <a:buFontTx/>
              <a:buNone/>
              <a:tabLst/>
              <a:defRPr/>
            </a:pPr>
            <a:endParaRPr kumimoji="0" lang="en-US" altLang="ko-KR"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8</a:t>
            </a:r>
            <a:r>
              <a:rPr kumimoji="0" lang="ko-KR" altLang="en-US"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 목표 초과 </a:t>
            </a:r>
            <a:r>
              <a:rPr kumimoji="0" lang="ko-KR" altLang="en-US" sz="864" b="1" i="0" u="none" strike="noStrike" kern="1200" cap="none" spc="0" normalizeH="0" baseline="0" noProof="0" dirty="0">
                <a:ln>
                  <a:noFill/>
                </a:ln>
                <a:solidFill>
                  <a:srgbClr val="0000FF"/>
                </a:solidFill>
                <a:effectLst/>
                <a:uLnTx/>
                <a:uFillTx/>
                <a:latin typeface="Arial Narrow" panose="020B0606020202030204" pitchFamily="34" charset="0"/>
                <a:ea typeface="LG스마트체 Regular" panose="020B0600000101010101" pitchFamily="50" charset="-127"/>
                <a:cs typeface="+mn-cs"/>
              </a:rPr>
              <a:t>■</a:t>
            </a:r>
            <a:r>
              <a:rPr kumimoji="0" lang="en-US" altLang="ko-KR"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864"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미달 </a:t>
            </a:r>
            <a:r>
              <a:rPr kumimoji="0" lang="ko-KR" altLang="en-US" sz="864" b="1" i="0" u="none" strike="noStrike" kern="120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mn-cs"/>
              </a:rPr>
              <a:t>■</a:t>
            </a:r>
            <a:endParaRPr kumimoji="0" lang="en-US" altLang="ko-KR" sz="864" b="1" i="0" u="none" strike="noStrike" kern="120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mn-cs"/>
            </a:endParaRPr>
          </a:p>
        </p:txBody>
      </p:sp>
      <p:sp>
        <p:nvSpPr>
          <p:cNvPr id="31" name="TextBox 30">
            <a:extLst>
              <a:ext uri="{FF2B5EF4-FFF2-40B4-BE49-F238E27FC236}">
                <a16:creationId xmlns:a16="http://schemas.microsoft.com/office/drawing/2014/main" id="{195459DF-D02B-ED88-D283-B575B74F3F16}"/>
              </a:ext>
            </a:extLst>
          </p:cNvPr>
          <p:cNvSpPr txBox="1"/>
          <p:nvPr/>
        </p:nvSpPr>
        <p:spPr>
          <a:xfrm>
            <a:off x="2859620"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~8/23</a:t>
            </a:r>
          </a:p>
        </p:txBody>
      </p:sp>
      <p:sp>
        <p:nvSpPr>
          <p:cNvPr id="32" name="TextBox 31">
            <a:extLst>
              <a:ext uri="{FF2B5EF4-FFF2-40B4-BE49-F238E27FC236}">
                <a16:creationId xmlns:a16="http://schemas.microsoft.com/office/drawing/2014/main" id="{307D1568-9B3F-C941-62DB-CED7E59FFDC8}"/>
              </a:ext>
            </a:extLst>
          </p:cNvPr>
          <p:cNvSpPr txBox="1"/>
          <p:nvPr/>
        </p:nvSpPr>
        <p:spPr>
          <a:xfrm>
            <a:off x="3157552"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~8/30</a:t>
            </a:r>
          </a:p>
        </p:txBody>
      </p:sp>
      <p:sp>
        <p:nvSpPr>
          <p:cNvPr id="53" name="TextBox 52">
            <a:extLst>
              <a:ext uri="{FF2B5EF4-FFF2-40B4-BE49-F238E27FC236}">
                <a16:creationId xmlns:a16="http://schemas.microsoft.com/office/drawing/2014/main" id="{5FB05DF2-6A27-1EF4-5D34-518039791392}"/>
              </a:ext>
            </a:extLst>
          </p:cNvPr>
          <p:cNvSpPr txBox="1"/>
          <p:nvPr/>
        </p:nvSpPr>
        <p:spPr>
          <a:xfrm>
            <a:off x="5904848" y="1262648"/>
            <a:ext cx="1381684" cy="301301"/>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ESMIL</a:t>
            </a:r>
            <a:endParaRPr kumimoji="0" lang="ko-KR" altLang="en-US"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61" name="TextBox 60">
            <a:extLst>
              <a:ext uri="{FF2B5EF4-FFF2-40B4-BE49-F238E27FC236}">
                <a16:creationId xmlns:a16="http://schemas.microsoft.com/office/drawing/2014/main" id="{7B354D9F-C1D5-75F8-61BA-2005BCC48235}"/>
              </a:ext>
            </a:extLst>
          </p:cNvPr>
          <p:cNvSpPr txBox="1"/>
          <p:nvPr/>
        </p:nvSpPr>
        <p:spPr>
          <a:xfrm>
            <a:off x="7997007" y="1262648"/>
            <a:ext cx="1381684" cy="301301"/>
          </a:xfrm>
          <a:prstGeom prst="rect">
            <a:avLst/>
          </a:prstGeom>
          <a:noFill/>
        </p:spPr>
        <p:txBody>
          <a:bodyPr wrap="square" rtlCol="0">
            <a:spAutoFit/>
          </a:bodyPr>
          <a:lstStyle/>
          <a:p>
            <a:pPr marL="0" marR="0" lvl="0" indent="0" algn="ctr" defTabSz="438652" rtl="0" eaLnBrk="1" fontAlgn="auto" latinLnBrk="1" hangingPunct="1">
              <a:lnSpc>
                <a:spcPct val="100000"/>
              </a:lnSpc>
              <a:spcBef>
                <a:spcPts val="0"/>
              </a:spcBef>
              <a:spcAft>
                <a:spcPts val="0"/>
              </a:spcAft>
              <a:buClrTx/>
              <a:buSzTx/>
              <a:buFontTx/>
              <a:buNone/>
              <a:tabLst/>
              <a:defRPr/>
            </a:pPr>
            <a:r>
              <a:rPr kumimoji="0" lang="en-US" altLang="ko-KR"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ESHD</a:t>
            </a:r>
            <a:endParaRPr kumimoji="0" lang="ko-KR" altLang="en-US" sz="1358"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63" name="직선 연결선 62">
            <a:extLst>
              <a:ext uri="{FF2B5EF4-FFF2-40B4-BE49-F238E27FC236}">
                <a16:creationId xmlns:a16="http://schemas.microsoft.com/office/drawing/2014/main" id="{2202BC77-B061-87EA-6CF6-0A531CB6CC64}"/>
              </a:ext>
            </a:extLst>
          </p:cNvPr>
          <p:cNvCxnSpPr>
            <a:cxnSpLocks/>
          </p:cNvCxnSpPr>
          <p:nvPr/>
        </p:nvCxnSpPr>
        <p:spPr>
          <a:xfrm>
            <a:off x="3590772" y="1565121"/>
            <a:ext cx="1895777" cy="0"/>
          </a:xfrm>
          <a:prstGeom prst="line">
            <a:avLst/>
          </a:prstGeom>
          <a:noFill/>
          <a:ln w="6350" cap="flat" cmpd="sng" algn="ctr">
            <a:solidFill>
              <a:sysClr val="windowText" lastClr="000000"/>
            </a:solidFill>
            <a:prstDash val="solid"/>
            <a:miter lim="800000"/>
          </a:ln>
          <a:effectLst/>
        </p:spPr>
      </p:cxnSp>
      <p:cxnSp>
        <p:nvCxnSpPr>
          <p:cNvPr id="70" name="직선 연결선 69">
            <a:extLst>
              <a:ext uri="{FF2B5EF4-FFF2-40B4-BE49-F238E27FC236}">
                <a16:creationId xmlns:a16="http://schemas.microsoft.com/office/drawing/2014/main" id="{1F055C02-8E2F-FDCE-6522-C233536FA44F}"/>
              </a:ext>
            </a:extLst>
          </p:cNvPr>
          <p:cNvCxnSpPr>
            <a:cxnSpLocks/>
          </p:cNvCxnSpPr>
          <p:nvPr/>
        </p:nvCxnSpPr>
        <p:spPr>
          <a:xfrm>
            <a:off x="5652970" y="1565121"/>
            <a:ext cx="1895777" cy="0"/>
          </a:xfrm>
          <a:prstGeom prst="line">
            <a:avLst/>
          </a:prstGeom>
          <a:noFill/>
          <a:ln w="6350" cap="flat" cmpd="sng" algn="ctr">
            <a:solidFill>
              <a:sysClr val="windowText" lastClr="000000"/>
            </a:solidFill>
            <a:prstDash val="solid"/>
            <a:miter lim="800000"/>
          </a:ln>
          <a:effectLst/>
        </p:spPr>
      </p:cxnSp>
      <p:cxnSp>
        <p:nvCxnSpPr>
          <p:cNvPr id="71" name="직선 연결선 70">
            <a:extLst>
              <a:ext uri="{FF2B5EF4-FFF2-40B4-BE49-F238E27FC236}">
                <a16:creationId xmlns:a16="http://schemas.microsoft.com/office/drawing/2014/main" id="{852B5566-BE17-0B45-A5DF-54DCAF6F1C8A}"/>
              </a:ext>
            </a:extLst>
          </p:cNvPr>
          <p:cNvCxnSpPr>
            <a:cxnSpLocks/>
          </p:cNvCxnSpPr>
          <p:nvPr/>
        </p:nvCxnSpPr>
        <p:spPr>
          <a:xfrm>
            <a:off x="7713118" y="1565121"/>
            <a:ext cx="1895777" cy="0"/>
          </a:xfrm>
          <a:prstGeom prst="line">
            <a:avLst/>
          </a:prstGeom>
          <a:noFill/>
          <a:ln w="6350" cap="flat" cmpd="sng" algn="ctr">
            <a:solidFill>
              <a:sysClr val="windowText" lastClr="000000"/>
            </a:solidFill>
            <a:prstDash val="solid"/>
            <a:miter lim="800000"/>
          </a:ln>
          <a:effectLst/>
        </p:spPr>
      </p:cxnSp>
      <p:graphicFrame>
        <p:nvGraphicFramePr>
          <p:cNvPr id="73" name="표 72">
            <a:extLst>
              <a:ext uri="{FF2B5EF4-FFF2-40B4-BE49-F238E27FC236}">
                <a16:creationId xmlns:a16="http://schemas.microsoft.com/office/drawing/2014/main" id="{18DDADF9-0D52-C2CF-1BBA-39602721F00C}"/>
              </a:ext>
            </a:extLst>
          </p:cNvPr>
          <p:cNvGraphicFramePr>
            <a:graphicFrameLocks noGrp="1"/>
          </p:cNvGraphicFramePr>
          <p:nvPr/>
        </p:nvGraphicFramePr>
        <p:xfrm>
          <a:off x="614013" y="4996845"/>
          <a:ext cx="2878333" cy="1780980"/>
        </p:xfrm>
        <a:graphic>
          <a:graphicData uri="http://schemas.openxmlformats.org/drawingml/2006/table">
            <a:tbl>
              <a:tblPr/>
              <a:tblGrid>
                <a:gridCol w="1222125">
                  <a:extLst>
                    <a:ext uri="{9D8B030D-6E8A-4147-A177-3AD203B41FA5}">
                      <a16:colId xmlns:a16="http://schemas.microsoft.com/office/drawing/2014/main" val="1220292543"/>
                    </a:ext>
                  </a:extLst>
                </a:gridCol>
                <a:gridCol w="322506">
                  <a:extLst>
                    <a:ext uri="{9D8B030D-6E8A-4147-A177-3AD203B41FA5}">
                      <a16:colId xmlns:a16="http://schemas.microsoft.com/office/drawing/2014/main" val="3093194829"/>
                    </a:ext>
                  </a:extLst>
                </a:gridCol>
                <a:gridCol w="322506">
                  <a:extLst>
                    <a:ext uri="{9D8B030D-6E8A-4147-A177-3AD203B41FA5}">
                      <a16:colId xmlns:a16="http://schemas.microsoft.com/office/drawing/2014/main" val="1270165823"/>
                    </a:ext>
                  </a:extLst>
                </a:gridCol>
                <a:gridCol w="322506">
                  <a:extLst>
                    <a:ext uri="{9D8B030D-6E8A-4147-A177-3AD203B41FA5}">
                      <a16:colId xmlns:a16="http://schemas.microsoft.com/office/drawing/2014/main" val="2299555173"/>
                    </a:ext>
                  </a:extLst>
                </a:gridCol>
                <a:gridCol w="43678">
                  <a:extLst>
                    <a:ext uri="{9D8B030D-6E8A-4147-A177-3AD203B41FA5}">
                      <a16:colId xmlns:a16="http://schemas.microsoft.com/office/drawing/2014/main" val="1737061280"/>
                    </a:ext>
                  </a:extLst>
                </a:gridCol>
                <a:gridCol w="322506">
                  <a:extLst>
                    <a:ext uri="{9D8B030D-6E8A-4147-A177-3AD203B41FA5}">
                      <a16:colId xmlns:a16="http://schemas.microsoft.com/office/drawing/2014/main" val="2704916649"/>
                    </a:ext>
                  </a:extLst>
                </a:gridCol>
                <a:gridCol w="322506">
                  <a:extLst>
                    <a:ext uri="{9D8B030D-6E8A-4147-A177-3AD203B41FA5}">
                      <a16:colId xmlns:a16="http://schemas.microsoft.com/office/drawing/2014/main" val="438030659"/>
                    </a:ext>
                  </a:extLst>
                </a:gridCol>
              </a:tblGrid>
              <a:tr h="159968">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ko-KR" altLang="en-US" sz="1000" b="1" i="0" u="none" strike="noStrike" dirty="0">
                          <a:solidFill>
                            <a:srgbClr val="000000"/>
                          </a:solidFill>
                          <a:effectLst/>
                          <a:latin typeface="Arial Narrow" panose="020B0606020202030204" pitchFamily="34" charset="0"/>
                          <a:ea typeface="LG스마트체 Regular" panose="020B0600000101010101" pitchFamily="50" charset="-127"/>
                        </a:rPr>
                        <a:t>주요 불량</a:t>
                      </a:r>
                      <a:endParaRPr lang="en-US" sz="10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’26.6</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’26.7</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’26.8</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endPar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12166857"/>
                  </a:ext>
                </a:extLst>
              </a:tr>
              <a:tr h="160159">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롤프레스 </a:t>
                      </a: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연신량</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179492"/>
                  </a:ext>
                </a:extLst>
              </a:tr>
              <a:tr h="160159">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스태킹</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 모노세파외관</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0.82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536799"/>
                  </a:ext>
                </a:extLst>
              </a:tr>
              <a:tr h="160159">
                <a:tc>
                  <a:txBody>
                    <a:bodyPr/>
                    <a:lstStyle>
                      <a:lvl1pPr marL="0" algn="l" defTabSz="914400" rtl="0" eaLnBrk="1" latinLnBrk="1" hangingPunct="1">
                        <a:defRPr sz="1800" kern="1200">
                          <a:solidFill>
                            <a:schemeClr val="tx1"/>
                          </a:solidFill>
                          <a:latin typeface="Calibri" panose="020F0502020204030204"/>
                        </a:defRPr>
                      </a:lvl1pPr>
                      <a:lvl2pPr marL="457200" algn="l" defTabSz="914400" rtl="0" eaLnBrk="1" latinLnBrk="1" hangingPunct="1">
                        <a:defRPr sz="1800" kern="1200">
                          <a:solidFill>
                            <a:schemeClr val="tx1"/>
                          </a:solidFill>
                          <a:latin typeface="Calibri" panose="020F0502020204030204"/>
                        </a:defRPr>
                      </a:lvl2pPr>
                      <a:lvl3pPr marL="914400" algn="l" defTabSz="914400" rtl="0" eaLnBrk="1" latinLnBrk="1" hangingPunct="1">
                        <a:defRPr sz="1800" kern="1200">
                          <a:solidFill>
                            <a:schemeClr val="tx1"/>
                          </a:solidFill>
                          <a:latin typeface="Calibri" panose="020F0502020204030204"/>
                        </a:defRPr>
                      </a:lvl3pPr>
                      <a:lvl4pPr marL="1371600" algn="l" defTabSz="914400" rtl="0" eaLnBrk="1" latinLnBrk="1" hangingPunct="1">
                        <a:defRPr sz="1800" kern="1200">
                          <a:solidFill>
                            <a:schemeClr val="tx1"/>
                          </a:solidFill>
                          <a:latin typeface="Calibri" panose="020F0502020204030204"/>
                        </a:defRPr>
                      </a:lvl4pPr>
                      <a:lvl5pPr marL="1828800" algn="l" defTabSz="914400" rtl="0" eaLnBrk="1" latinLnBrk="1" hangingPunct="1">
                        <a:defRPr sz="1800" kern="1200">
                          <a:solidFill>
                            <a:schemeClr val="tx1"/>
                          </a:solidFill>
                          <a:latin typeface="Calibri" panose="020F0502020204030204"/>
                        </a:defRPr>
                      </a:lvl5pPr>
                      <a:lvl6pPr marL="2286000" algn="l" defTabSz="914400" rtl="0" eaLnBrk="1" latinLnBrk="1" hangingPunct="1">
                        <a:defRPr sz="1800" kern="1200">
                          <a:solidFill>
                            <a:schemeClr val="tx1"/>
                          </a:solidFill>
                          <a:latin typeface="Calibri" panose="020F0502020204030204"/>
                        </a:defRPr>
                      </a:lvl6pPr>
                      <a:lvl7pPr marL="2743200" algn="l" defTabSz="914400" rtl="0" eaLnBrk="1" latinLnBrk="1" hangingPunct="1">
                        <a:defRPr sz="1800" kern="1200">
                          <a:solidFill>
                            <a:schemeClr val="tx1"/>
                          </a:solidFill>
                          <a:latin typeface="Calibri" panose="020F0502020204030204"/>
                        </a:defRPr>
                      </a:lvl7pPr>
                      <a:lvl8pPr marL="3200400" algn="l" defTabSz="914400" rtl="0" eaLnBrk="1" latinLnBrk="1" hangingPunct="1">
                        <a:defRPr sz="1800" kern="1200">
                          <a:solidFill>
                            <a:schemeClr val="tx1"/>
                          </a:solidFill>
                          <a:latin typeface="Calibri" panose="020F0502020204030204"/>
                        </a:defRPr>
                      </a:lvl8pPr>
                      <a:lvl9pPr marL="3657600" algn="l" defTabSz="914400" rtl="0" eaLnBrk="1" latinLnBrk="1" hangingPunct="1">
                        <a:defRPr sz="1800" kern="1200">
                          <a:solidFill>
                            <a:schemeClr val="tx1"/>
                          </a:solidFill>
                          <a:latin typeface="Calibri" panose="020F0502020204030204"/>
                        </a:defRPr>
                      </a:lvl9pPr>
                    </a:lstStyle>
                    <a:p>
                      <a:pPr algn="ctr" fontAlgn="ct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NG Mark</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7871608"/>
                  </a:ext>
                </a:extLst>
              </a:tr>
              <a:tr h="160159">
                <a:tc>
                  <a:txBody>
                    <a:bodyPr/>
                    <a:lstStyle/>
                    <a:p>
                      <a:pPr algn="ctr" fontAlgn="ct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스태킹</a:t>
                      </a: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미확인</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1993046"/>
                  </a:ext>
                </a:extLst>
              </a:tr>
              <a:tr h="160159">
                <a:tc>
                  <a:txBody>
                    <a:bodyPr/>
                    <a:lstStyle/>
                    <a:p>
                      <a:pPr algn="ctr" fontAlgn="ct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노칭</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전공정</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 불량</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2552238"/>
                  </a:ext>
                </a:extLst>
              </a:tr>
              <a:tr h="160159">
                <a:tc>
                  <a:txBody>
                    <a:bodyPr/>
                    <a:lstStyle/>
                    <a:p>
                      <a:pPr algn="ctr" fontAlgn="ct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Q-Grade</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68404"/>
                  </a:ext>
                </a:extLst>
              </a:tr>
              <a:tr h="160159">
                <a:tc>
                  <a:txBody>
                    <a:bodyPr/>
                    <a:lstStyle/>
                    <a:p>
                      <a:pPr algn="ctr" fontAlgn="ct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롤프레스 조건조정</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358961"/>
                  </a:ext>
                </a:extLst>
              </a:tr>
              <a:tr h="160159">
                <a:tc>
                  <a:txBody>
                    <a:bodyPr/>
                    <a:lstStyle/>
                    <a:p>
                      <a:pPr algn="ctr" fontAlgn="ct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노칭</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 미확인</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983430"/>
                  </a:ext>
                </a:extLst>
              </a:tr>
              <a:tr h="160159">
                <a:tc>
                  <a:txBody>
                    <a:bodyPr/>
                    <a:lstStyle/>
                    <a:p>
                      <a:pPr algn="ctr" fontAlgn="ct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라미</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 위치</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941517"/>
                  </a:ext>
                </a:extLst>
              </a:tr>
              <a:tr h="160159">
                <a:tc>
                  <a:txBody>
                    <a:bodyPr/>
                    <a:lstStyle/>
                    <a:p>
                      <a:pPr algn="ctr" fontAlgn="ct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스태킹</a:t>
                      </a:r>
                      <a:r>
                        <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rPr>
                        <a:t> </a:t>
                      </a:r>
                      <a:r>
                        <a:rPr lang="ko-KR" altLang="en-US" sz="1000" b="0" i="0" u="none" strike="noStrike" dirty="0" err="1">
                          <a:solidFill>
                            <a:srgbClr val="000000"/>
                          </a:solidFill>
                          <a:effectLst/>
                          <a:latin typeface="Arial Narrow" panose="020B0606020202030204" pitchFamily="34" charset="0"/>
                          <a:ea typeface="LG스마트체 Regular" panose="020B0600000101010101" pitchFamily="50" charset="-127"/>
                        </a:rPr>
                        <a:t>모노스택</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408552"/>
                  </a:ext>
                </a:extLst>
              </a:tr>
            </a:tbl>
          </a:graphicData>
        </a:graphic>
      </p:graphicFrame>
      <p:graphicFrame>
        <p:nvGraphicFramePr>
          <p:cNvPr id="79" name="표 78">
            <a:extLst>
              <a:ext uri="{FF2B5EF4-FFF2-40B4-BE49-F238E27FC236}">
                <a16:creationId xmlns:a16="http://schemas.microsoft.com/office/drawing/2014/main" id="{7EB8A20D-96F4-B4A4-E2CD-09A25D10CA97}"/>
              </a:ext>
            </a:extLst>
          </p:cNvPr>
          <p:cNvGraphicFramePr>
            <a:graphicFrameLocks noGrp="1"/>
          </p:cNvGraphicFramePr>
          <p:nvPr/>
        </p:nvGraphicFramePr>
        <p:xfrm>
          <a:off x="3879356" y="4996844"/>
          <a:ext cx="1648348" cy="1780980"/>
        </p:xfrm>
        <a:graphic>
          <a:graphicData uri="http://schemas.openxmlformats.org/drawingml/2006/table">
            <a:tbl>
              <a:tblPr/>
              <a:tblGrid>
                <a:gridCol w="320934">
                  <a:extLst>
                    <a:ext uri="{9D8B030D-6E8A-4147-A177-3AD203B41FA5}">
                      <a16:colId xmlns:a16="http://schemas.microsoft.com/office/drawing/2014/main" val="3093194829"/>
                    </a:ext>
                  </a:extLst>
                </a:gridCol>
                <a:gridCol w="320934">
                  <a:extLst>
                    <a:ext uri="{9D8B030D-6E8A-4147-A177-3AD203B41FA5}">
                      <a16:colId xmlns:a16="http://schemas.microsoft.com/office/drawing/2014/main" val="1270165823"/>
                    </a:ext>
                  </a:extLst>
                </a:gridCol>
                <a:gridCol w="320934">
                  <a:extLst>
                    <a:ext uri="{9D8B030D-6E8A-4147-A177-3AD203B41FA5}">
                      <a16:colId xmlns:a16="http://schemas.microsoft.com/office/drawing/2014/main" val="2299555173"/>
                    </a:ext>
                  </a:extLst>
                </a:gridCol>
                <a:gridCol w="43678">
                  <a:extLst>
                    <a:ext uri="{9D8B030D-6E8A-4147-A177-3AD203B41FA5}">
                      <a16:colId xmlns:a16="http://schemas.microsoft.com/office/drawing/2014/main" val="1737061280"/>
                    </a:ext>
                  </a:extLst>
                </a:gridCol>
                <a:gridCol w="320934">
                  <a:extLst>
                    <a:ext uri="{9D8B030D-6E8A-4147-A177-3AD203B41FA5}">
                      <a16:colId xmlns:a16="http://schemas.microsoft.com/office/drawing/2014/main" val="2704916649"/>
                    </a:ext>
                  </a:extLst>
                </a:gridCol>
                <a:gridCol w="320934">
                  <a:extLst>
                    <a:ext uri="{9D8B030D-6E8A-4147-A177-3AD203B41FA5}">
                      <a16:colId xmlns:a16="http://schemas.microsoft.com/office/drawing/2014/main" val="438030659"/>
                    </a:ext>
                  </a:extLst>
                </a:gridCol>
              </a:tblGrid>
              <a:tr h="159968">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’26.6</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’26.7</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’26.8</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endPar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12166857"/>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179492"/>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536799"/>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7871608"/>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2173316"/>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359000"/>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8367126"/>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9063102"/>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2478103"/>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049954"/>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6479829"/>
                  </a:ext>
                </a:extLst>
              </a:tr>
            </a:tbl>
          </a:graphicData>
        </a:graphic>
      </p:graphicFrame>
      <p:graphicFrame>
        <p:nvGraphicFramePr>
          <p:cNvPr id="85" name="표 84">
            <a:extLst>
              <a:ext uri="{FF2B5EF4-FFF2-40B4-BE49-F238E27FC236}">
                <a16:creationId xmlns:a16="http://schemas.microsoft.com/office/drawing/2014/main" id="{3055DC74-F80C-16EF-334B-46DF11B56FF1}"/>
              </a:ext>
            </a:extLst>
          </p:cNvPr>
          <p:cNvGraphicFramePr>
            <a:graphicFrameLocks noGrp="1"/>
          </p:cNvGraphicFramePr>
          <p:nvPr/>
        </p:nvGraphicFramePr>
        <p:xfrm>
          <a:off x="5953389" y="4996844"/>
          <a:ext cx="1660441" cy="1780980"/>
        </p:xfrm>
        <a:graphic>
          <a:graphicData uri="http://schemas.openxmlformats.org/drawingml/2006/table">
            <a:tbl>
              <a:tblPr/>
              <a:tblGrid>
                <a:gridCol w="323347">
                  <a:extLst>
                    <a:ext uri="{9D8B030D-6E8A-4147-A177-3AD203B41FA5}">
                      <a16:colId xmlns:a16="http://schemas.microsoft.com/office/drawing/2014/main" val="3093194829"/>
                    </a:ext>
                  </a:extLst>
                </a:gridCol>
                <a:gridCol w="323347">
                  <a:extLst>
                    <a:ext uri="{9D8B030D-6E8A-4147-A177-3AD203B41FA5}">
                      <a16:colId xmlns:a16="http://schemas.microsoft.com/office/drawing/2014/main" val="1270165823"/>
                    </a:ext>
                  </a:extLst>
                </a:gridCol>
                <a:gridCol w="323347">
                  <a:extLst>
                    <a:ext uri="{9D8B030D-6E8A-4147-A177-3AD203B41FA5}">
                      <a16:colId xmlns:a16="http://schemas.microsoft.com/office/drawing/2014/main" val="2299555173"/>
                    </a:ext>
                  </a:extLst>
                </a:gridCol>
                <a:gridCol w="43706">
                  <a:extLst>
                    <a:ext uri="{9D8B030D-6E8A-4147-A177-3AD203B41FA5}">
                      <a16:colId xmlns:a16="http://schemas.microsoft.com/office/drawing/2014/main" val="1737061280"/>
                    </a:ext>
                  </a:extLst>
                </a:gridCol>
                <a:gridCol w="323347">
                  <a:extLst>
                    <a:ext uri="{9D8B030D-6E8A-4147-A177-3AD203B41FA5}">
                      <a16:colId xmlns:a16="http://schemas.microsoft.com/office/drawing/2014/main" val="2704916649"/>
                    </a:ext>
                  </a:extLst>
                </a:gridCol>
                <a:gridCol w="323347">
                  <a:extLst>
                    <a:ext uri="{9D8B030D-6E8A-4147-A177-3AD203B41FA5}">
                      <a16:colId xmlns:a16="http://schemas.microsoft.com/office/drawing/2014/main" val="438030659"/>
                    </a:ext>
                  </a:extLst>
                </a:gridCol>
              </a:tblGrid>
              <a:tr h="159968">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’26.6</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’26.7</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’26.8</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endPar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12166857"/>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0.62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179492"/>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536799"/>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7871608"/>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3212049"/>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112912"/>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938729"/>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828764"/>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9688325"/>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0.08</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6496787"/>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4691627"/>
                  </a:ext>
                </a:extLst>
              </a:tr>
            </a:tbl>
          </a:graphicData>
        </a:graphic>
      </p:graphicFrame>
      <p:graphicFrame>
        <p:nvGraphicFramePr>
          <p:cNvPr id="99" name="표 98">
            <a:extLst>
              <a:ext uri="{FF2B5EF4-FFF2-40B4-BE49-F238E27FC236}">
                <a16:creationId xmlns:a16="http://schemas.microsoft.com/office/drawing/2014/main" id="{F5EAE1AA-5649-0F26-D1D9-58468D815EE6}"/>
              </a:ext>
            </a:extLst>
          </p:cNvPr>
          <p:cNvGraphicFramePr>
            <a:graphicFrameLocks noGrp="1"/>
          </p:cNvGraphicFramePr>
          <p:nvPr/>
        </p:nvGraphicFramePr>
        <p:xfrm>
          <a:off x="8039515" y="4996844"/>
          <a:ext cx="1666012" cy="1780980"/>
        </p:xfrm>
        <a:graphic>
          <a:graphicData uri="http://schemas.openxmlformats.org/drawingml/2006/table">
            <a:tbl>
              <a:tblPr/>
              <a:tblGrid>
                <a:gridCol w="322424">
                  <a:extLst>
                    <a:ext uri="{9D8B030D-6E8A-4147-A177-3AD203B41FA5}">
                      <a16:colId xmlns:a16="http://schemas.microsoft.com/office/drawing/2014/main" val="1270165823"/>
                    </a:ext>
                  </a:extLst>
                </a:gridCol>
                <a:gridCol w="322424">
                  <a:extLst>
                    <a:ext uri="{9D8B030D-6E8A-4147-A177-3AD203B41FA5}">
                      <a16:colId xmlns:a16="http://schemas.microsoft.com/office/drawing/2014/main" val="2299555173"/>
                    </a:ext>
                  </a:extLst>
                </a:gridCol>
                <a:gridCol w="322424">
                  <a:extLst>
                    <a:ext uri="{9D8B030D-6E8A-4147-A177-3AD203B41FA5}">
                      <a16:colId xmlns:a16="http://schemas.microsoft.com/office/drawing/2014/main" val="2205525499"/>
                    </a:ext>
                  </a:extLst>
                </a:gridCol>
                <a:gridCol w="53892">
                  <a:extLst>
                    <a:ext uri="{9D8B030D-6E8A-4147-A177-3AD203B41FA5}">
                      <a16:colId xmlns:a16="http://schemas.microsoft.com/office/drawing/2014/main" val="1737061280"/>
                    </a:ext>
                  </a:extLst>
                </a:gridCol>
                <a:gridCol w="322424">
                  <a:extLst>
                    <a:ext uri="{9D8B030D-6E8A-4147-A177-3AD203B41FA5}">
                      <a16:colId xmlns:a16="http://schemas.microsoft.com/office/drawing/2014/main" val="2704916649"/>
                    </a:ext>
                  </a:extLst>
                </a:gridCol>
                <a:gridCol w="322424">
                  <a:extLst>
                    <a:ext uri="{9D8B030D-6E8A-4147-A177-3AD203B41FA5}">
                      <a16:colId xmlns:a16="http://schemas.microsoft.com/office/drawing/2014/main" val="438030659"/>
                    </a:ext>
                  </a:extLst>
                </a:gridCol>
              </a:tblGrid>
              <a:tr h="159968">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’26.6</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’26.7</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rPr>
                        <a:t>’26.8</a:t>
                      </a: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endParaRPr lang="en-US" altLang="ko-KR" sz="1000" b="1"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34</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buNone/>
                      </a:pPr>
                      <a:r>
                        <a:rPr lang="ko-KR" sz="1000" b="1" i="0" u="none" strike="noStrike" dirty="0" err="1">
                          <a:solidFill>
                            <a:srgbClr val="000000"/>
                          </a:solidFill>
                          <a:effectLst/>
                          <a:latin typeface="+mn-lt"/>
                          <a:ea typeface="+mn-ea"/>
                        </a:rPr>
                        <a:t>W</a:t>
                      </a:r>
                      <a:r>
                        <a:rPr lang="en-US" altLang="ko-KR" sz="1000" b="1" i="0" u="none" strike="noStrike" dirty="0">
                          <a:solidFill>
                            <a:srgbClr val="000000"/>
                          </a:solidFill>
                          <a:effectLst/>
                          <a:latin typeface="+mn-lt"/>
                          <a:ea typeface="+mn-ea"/>
                        </a:rPr>
                        <a:t>35</a:t>
                      </a:r>
                      <a:endParaRPr lang="ko-KR" sz="1000" b="1" i="0" u="none" strike="noStrike" dirty="0">
                        <a:solidFill>
                          <a:srgbClr val="000000"/>
                        </a:solidFill>
                        <a:effectLst/>
                        <a:latin typeface="+mn-lt"/>
                        <a:ea typeface="+mn-ea"/>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12166857"/>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5179492"/>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9536799"/>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0.76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0.52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0.40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7871608"/>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0534375"/>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8006301"/>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0.37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0.24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689078"/>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9686794"/>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0.00</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0.02</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0.01</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3659825"/>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0.13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0.09</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0.06</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4357002"/>
                  </a:ext>
                </a:extLst>
              </a:tr>
              <a:tr h="160256">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0.07</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0.05</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1000" b="0" i="0" u="none" strike="noStrike" dirty="0">
                        <a:solidFill>
                          <a:schemeClr val="tx1"/>
                        </a:solidFill>
                        <a:effectLst/>
                        <a:latin typeface="Arial Narrow" panose="020B0606020202030204" pitchFamily="34" charset="0"/>
                        <a:ea typeface="LG스마트체 Regular" panose="020B0600000101010101" pitchFamily="50" charset="-127"/>
                      </a:endParaRPr>
                    </a:p>
                  </a:txBody>
                  <a:tcPr marL="9139" marR="9139" marT="91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0.03</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맑은 고딕" panose="020B0503020000020004" pitchFamily="50" charset="-127"/>
                        </a:rPr>
                        <a:t>0.04</a:t>
                      </a:r>
                      <a:endParaRPr lang="ko-KR" sz="1000" b="0"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386192"/>
                  </a:ext>
                </a:extLst>
              </a:tr>
            </a:tbl>
          </a:graphicData>
        </a:graphic>
      </p:graphicFrame>
      <p:graphicFrame>
        <p:nvGraphicFramePr>
          <p:cNvPr id="10" name="표 9">
            <a:extLst>
              <a:ext uri="{FF2B5EF4-FFF2-40B4-BE49-F238E27FC236}">
                <a16:creationId xmlns:a16="http://schemas.microsoft.com/office/drawing/2014/main" id="{B21F4B82-8068-79D3-22B7-71009D6008E4}"/>
              </a:ext>
            </a:extLst>
          </p:cNvPr>
          <p:cNvGraphicFramePr>
            <a:graphicFrameLocks noGrp="1"/>
          </p:cNvGraphicFramePr>
          <p:nvPr/>
        </p:nvGraphicFramePr>
        <p:xfrm>
          <a:off x="5528025" y="56220"/>
          <a:ext cx="2430187" cy="648000"/>
        </p:xfrm>
        <a:graphic>
          <a:graphicData uri="http://schemas.openxmlformats.org/drawingml/2006/table">
            <a:tbl>
              <a:tblPr/>
              <a:tblGrid>
                <a:gridCol w="641320">
                  <a:extLst>
                    <a:ext uri="{9D8B030D-6E8A-4147-A177-3AD203B41FA5}">
                      <a16:colId xmlns:a16="http://schemas.microsoft.com/office/drawing/2014/main" val="201737788"/>
                    </a:ext>
                  </a:extLst>
                </a:gridCol>
                <a:gridCol w="356289">
                  <a:extLst>
                    <a:ext uri="{9D8B030D-6E8A-4147-A177-3AD203B41FA5}">
                      <a16:colId xmlns:a16="http://schemas.microsoft.com/office/drawing/2014/main" val="4164954008"/>
                    </a:ext>
                  </a:extLst>
                </a:gridCol>
                <a:gridCol w="356289">
                  <a:extLst>
                    <a:ext uri="{9D8B030D-6E8A-4147-A177-3AD203B41FA5}">
                      <a16:colId xmlns:a16="http://schemas.microsoft.com/office/drawing/2014/main" val="1640393644"/>
                    </a:ext>
                  </a:extLst>
                </a:gridCol>
                <a:gridCol w="356289">
                  <a:extLst>
                    <a:ext uri="{9D8B030D-6E8A-4147-A177-3AD203B41FA5}">
                      <a16:colId xmlns:a16="http://schemas.microsoft.com/office/drawing/2014/main" val="594394994"/>
                    </a:ext>
                  </a:extLst>
                </a:gridCol>
                <a:gridCol w="360000">
                  <a:extLst>
                    <a:ext uri="{9D8B030D-6E8A-4147-A177-3AD203B41FA5}">
                      <a16:colId xmlns:a16="http://schemas.microsoft.com/office/drawing/2014/main" val="578203835"/>
                    </a:ext>
                  </a:extLst>
                </a:gridCol>
                <a:gridCol w="360000">
                  <a:extLst>
                    <a:ext uri="{9D8B030D-6E8A-4147-A177-3AD203B41FA5}">
                      <a16:colId xmlns:a16="http://schemas.microsoft.com/office/drawing/2014/main" val="22391646"/>
                    </a:ext>
                  </a:extLst>
                </a:gridCol>
              </a:tblGrid>
              <a:tr h="216000">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누적</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(~8</a:t>
                      </a: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월</a:t>
                      </a:r>
                      <a:r>
                        <a:rPr lang="en-US" altLang="ko-KR" sz="900" b="0" i="0" u="none" strike="noStrike" dirty="0">
                          <a:solidFill>
                            <a:srgbClr val="000000"/>
                          </a:solidFill>
                          <a:effectLst/>
                          <a:latin typeface="Arial Narrow" panose="020B0606020202030204" pitchFamily="34" charset="0"/>
                          <a:ea typeface="LG스마트체 Regular" panose="020B0600000101010101" pitchFamily="50" charset="-127"/>
                        </a:rPr>
                        <a:t>)</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ESMI</a:t>
                      </a: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LG스마트체 Regular" panose="020B0600000101010101" pitchFamily="50" charset="-127"/>
                        </a:rPr>
                        <a:t>ESOT</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LG스마트체 Regular" panose="020B0600000101010101" pitchFamily="50" charset="-127"/>
                        </a:rPr>
                        <a:t>ESMIL</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ko-KR" sz="1000" b="0" i="0" u="none" strike="noStrike" dirty="0">
                          <a:solidFill>
                            <a:srgbClr val="000000"/>
                          </a:solidFill>
                          <a:effectLst/>
                          <a:latin typeface="Arial Narrow" panose="020B0606020202030204" pitchFamily="34" charset="0"/>
                          <a:ea typeface="LG스마트체 Regular" panose="020B0600000101010101" pitchFamily="50" charset="-127"/>
                        </a:rPr>
                        <a:t>ESHD</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rPr>
                        <a:t>Total</a:t>
                      </a:r>
                      <a:endParaRPr 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8975327"/>
                  </a:ext>
                </a:extLst>
              </a:tr>
              <a:tr h="216000">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종합 목표</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Arial Narrow" panose="020B0606020202030204" pitchFamily="34" charset="0"/>
                          <a:ea typeface="맑은 고딕" panose="020B0503020000020004" pitchFamily="50" charset="-127"/>
                        </a:rPr>
                        <a:t>94.8</a:t>
                      </a:r>
                      <a:endParaRPr lang="ko-KR" sz="10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00"/>
                          </a:solidFill>
                          <a:effectLst/>
                          <a:latin typeface="Arial Narrow" panose="020B0606020202030204" pitchFamily="34" charset="0"/>
                          <a:ea typeface="맑은 고딕" panose="020B0503020000020004" pitchFamily="50" charset="-127"/>
                        </a:rPr>
                        <a:t>94.4</a:t>
                      </a:r>
                      <a:endParaRPr lang="ko-KR" sz="10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00"/>
                          </a:solidFill>
                          <a:effectLst/>
                          <a:latin typeface="Arial Narrow" panose="020B0606020202030204" pitchFamily="34" charset="0"/>
                          <a:ea typeface="맑은 고딕" panose="020B0503020000020004" pitchFamily="50" charset="-127"/>
                        </a:rPr>
                        <a:t>93.7</a:t>
                      </a:r>
                      <a:endParaRPr lang="ko-KR" sz="10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00"/>
                          </a:solidFill>
                          <a:effectLst/>
                          <a:latin typeface="Arial Narrow" panose="020B0606020202030204" pitchFamily="34" charset="0"/>
                          <a:ea typeface="맑은 고딕" panose="020B0503020000020004" pitchFamily="50" charset="-127"/>
                        </a:rPr>
                        <a:t>92.9</a:t>
                      </a:r>
                      <a:endParaRPr lang="ko-KR" sz="10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00"/>
                          </a:solidFill>
                          <a:effectLst/>
                          <a:latin typeface="Arial Narrow" panose="020B0606020202030204" pitchFamily="34" charset="0"/>
                          <a:ea typeface="맑은 고딕" panose="020B0503020000020004" pitchFamily="50" charset="-127"/>
                        </a:rPr>
                        <a:t>94.3</a:t>
                      </a:r>
                      <a:endParaRPr lang="ko-KR" sz="1000" b="1" i="0" u="none" strike="noStrike" dirty="0">
                        <a:solidFill>
                          <a:srgbClr val="00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3741023"/>
                  </a:ext>
                </a:extLst>
              </a:tr>
              <a:tr h="216000">
                <a:tc>
                  <a:txBody>
                    <a:bodyPr/>
                    <a:lstStyle/>
                    <a:p>
                      <a:pPr algn="ctr" fontAlgn="ctr">
                        <a:buNone/>
                      </a:pPr>
                      <a:r>
                        <a:rPr lang="ko-KR" altLang="en-US" sz="900" b="0" i="0" u="none" strike="noStrike" dirty="0">
                          <a:solidFill>
                            <a:srgbClr val="000000"/>
                          </a:solidFill>
                          <a:effectLst/>
                          <a:latin typeface="Arial Narrow" panose="020B0606020202030204" pitchFamily="34" charset="0"/>
                          <a:ea typeface="LG스마트체 Regular" panose="020B0600000101010101" pitchFamily="50" charset="-127"/>
                        </a:rPr>
                        <a:t>종합 수율</a:t>
                      </a:r>
                      <a:endParaRPr lang="ko-KR" sz="9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FF"/>
                          </a:solidFill>
                          <a:effectLst/>
                          <a:latin typeface="Arial Narrow" panose="020B0606020202030204" pitchFamily="34" charset="0"/>
                          <a:ea typeface="맑은 고딕" panose="020B0503020000020004" pitchFamily="50" charset="-127"/>
                        </a:rPr>
                        <a:t>94.8</a:t>
                      </a:r>
                      <a:endParaRPr lang="ko-KR" sz="10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FF0000"/>
                          </a:solidFill>
                          <a:effectLst/>
                          <a:latin typeface="Arial Narrow" panose="020B0606020202030204" pitchFamily="34" charset="0"/>
                          <a:ea typeface="맑은 고딕" panose="020B0503020000020004" pitchFamily="50" charset="-127"/>
                        </a:rPr>
                        <a:t>93.6</a:t>
                      </a:r>
                      <a:endParaRPr lang="ko-KR" sz="1000" b="1" i="0" u="none" strike="noStrike" dirty="0">
                        <a:solidFill>
                          <a:srgbClr val="FF0000"/>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FF"/>
                          </a:solidFill>
                          <a:effectLst/>
                          <a:latin typeface="Arial Narrow" panose="020B0606020202030204" pitchFamily="34" charset="0"/>
                          <a:ea typeface="맑은 고딕" panose="020B0503020000020004" pitchFamily="50" charset="-127"/>
                        </a:rPr>
                        <a:t>95.4</a:t>
                      </a:r>
                      <a:endParaRPr lang="ko-KR" sz="10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FF"/>
                          </a:solidFill>
                          <a:effectLst/>
                          <a:latin typeface="Arial Narrow" panose="020B0606020202030204" pitchFamily="34" charset="0"/>
                          <a:ea typeface="맑은 고딕" panose="020B0503020000020004" pitchFamily="50" charset="-127"/>
                        </a:rPr>
                        <a:t>94.0</a:t>
                      </a:r>
                      <a:endParaRPr lang="ko-KR" sz="10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altLang="ko-KR" sz="1000" b="1" i="0" u="none" strike="noStrike" dirty="0">
                          <a:solidFill>
                            <a:srgbClr val="0000FF"/>
                          </a:solidFill>
                          <a:effectLst/>
                          <a:latin typeface="Arial Narrow" panose="020B0606020202030204" pitchFamily="34" charset="0"/>
                          <a:ea typeface="맑은 고딕" panose="020B0503020000020004" pitchFamily="50" charset="-127"/>
                        </a:rPr>
                        <a:t>94.8</a:t>
                      </a:r>
                      <a:endParaRPr lang="ko-KR" sz="1000" b="1" i="0" u="none" strike="noStrike" dirty="0">
                        <a:solidFill>
                          <a:srgbClr val="0000FF"/>
                        </a:solidFill>
                        <a:effectLst/>
                        <a:latin typeface="Arial Narrow" panose="020B0606020202030204" pitchFamily="34" charset="0"/>
                        <a:ea typeface="맑은 고딕" panose="020B0503020000020004" pitchFamily="50" charset="-127"/>
                      </a:endParaRP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223701448"/>
                  </a:ext>
                </a:extLst>
              </a:tr>
            </a:tbl>
          </a:graphicData>
        </a:graphic>
      </p:graphicFrame>
      <p:sp>
        <p:nvSpPr>
          <p:cNvPr id="14" name="실행 단추: 홈으로 이동 13">
            <a:hlinkClick r:id="rId3" action="ppaction://hlinksldjump" highlightClick="1"/>
            <a:extLst>
              <a:ext uri="{FF2B5EF4-FFF2-40B4-BE49-F238E27FC236}">
                <a16:creationId xmlns:a16="http://schemas.microsoft.com/office/drawing/2014/main" id="{D201A67E-270D-72C8-46FE-7BF7E6C8E9DB}"/>
              </a:ext>
            </a:extLst>
          </p:cNvPr>
          <p:cNvSpPr/>
          <p:nvPr/>
        </p:nvSpPr>
        <p:spPr>
          <a:xfrm>
            <a:off x="9540892" y="151530"/>
            <a:ext cx="249402" cy="249402"/>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04982" rtl="0" eaLnBrk="1" fontAlgn="auto" latinLnBrk="1"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15" name="제목 4">
            <a:extLst>
              <a:ext uri="{FF2B5EF4-FFF2-40B4-BE49-F238E27FC236}">
                <a16:creationId xmlns:a16="http://schemas.microsoft.com/office/drawing/2014/main" id="{1BBF18FE-CD6C-6272-A9F6-448F670E50E1}"/>
              </a:ext>
            </a:extLst>
          </p:cNvPr>
          <p:cNvSpPr txBox="1">
            <a:spLocks/>
          </p:cNvSpPr>
          <p:nvPr/>
        </p:nvSpPr>
        <p:spPr>
          <a:xfrm>
            <a:off x="126265" y="170929"/>
            <a:ext cx="4106655" cy="369332"/>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유첨</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북미 </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ESS </a:t>
            </a: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셀 수율 현황 </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a:t>
            </a:r>
            <a:r>
              <a:rPr kumimoji="1" lang="ko-KR" altLang="en-US" sz="1400" b="1" i="0" u="none" strike="noStrike" kern="0" cap="none" spc="0" normalizeH="0" baseline="0" noProof="0" dirty="0" err="1">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법인별</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ko-KR" altLang="en-US"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월간</a:t>
            </a:r>
            <a:r>
              <a:rPr kumimoji="1" lang="en-US" altLang="ko-KR" sz="14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a:t>
            </a:r>
            <a:endParaRPr kumimoji="0" lang="ko-KR" altLang="en-US" sz="14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endParaRPr>
          </a:p>
        </p:txBody>
      </p:sp>
      <p:sp>
        <p:nvSpPr>
          <p:cNvPr id="17" name="실행 단추: 홈으로 이동 16">
            <a:hlinkClick r:id="rId4" action="ppaction://hlinksldjump" highlightClick="1"/>
            <a:extLst>
              <a:ext uri="{FF2B5EF4-FFF2-40B4-BE49-F238E27FC236}">
                <a16:creationId xmlns:a16="http://schemas.microsoft.com/office/drawing/2014/main" id="{CCF111EE-1348-1A12-900E-0ED2DF32717F}"/>
              </a:ext>
            </a:extLst>
          </p:cNvPr>
          <p:cNvSpPr/>
          <p:nvPr/>
        </p:nvSpPr>
        <p:spPr>
          <a:xfrm>
            <a:off x="9540892" y="582035"/>
            <a:ext cx="249402" cy="249402"/>
          </a:xfrm>
          <a:prstGeom prst="actionButtonHome">
            <a:avLst/>
          </a:prstGeom>
          <a:no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04982" rtl="0" eaLnBrk="1" fontAlgn="auto" latinLnBrk="1"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cxnSp>
        <p:nvCxnSpPr>
          <p:cNvPr id="18" name="직선 연결선 17">
            <a:extLst>
              <a:ext uri="{FF2B5EF4-FFF2-40B4-BE49-F238E27FC236}">
                <a16:creationId xmlns:a16="http://schemas.microsoft.com/office/drawing/2014/main" id="{6B982A4B-2CE1-0453-972D-BFFA7F68CCCF}"/>
              </a:ext>
            </a:extLst>
          </p:cNvPr>
          <p:cNvCxnSpPr>
            <a:cxnSpLocks/>
          </p:cNvCxnSpPr>
          <p:nvPr/>
        </p:nvCxnSpPr>
        <p:spPr>
          <a:xfrm flipH="1">
            <a:off x="255292" y="528508"/>
            <a:ext cx="3734818"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3BD46E1-2202-04B7-FA0E-E78E2D23C62B}"/>
              </a:ext>
            </a:extLst>
          </p:cNvPr>
          <p:cNvSpPr txBox="1"/>
          <p:nvPr/>
        </p:nvSpPr>
        <p:spPr>
          <a:xfrm>
            <a:off x="4882325"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~8/23</a:t>
            </a:r>
          </a:p>
        </p:txBody>
      </p:sp>
      <p:sp>
        <p:nvSpPr>
          <p:cNvPr id="27" name="TextBox 26">
            <a:extLst>
              <a:ext uri="{FF2B5EF4-FFF2-40B4-BE49-F238E27FC236}">
                <a16:creationId xmlns:a16="http://schemas.microsoft.com/office/drawing/2014/main" id="{06F3C1EC-4CF3-2C32-E4B6-B59D4460A3C1}"/>
              </a:ext>
            </a:extLst>
          </p:cNvPr>
          <p:cNvSpPr txBox="1"/>
          <p:nvPr/>
        </p:nvSpPr>
        <p:spPr>
          <a:xfrm>
            <a:off x="5180257"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~8/30</a:t>
            </a:r>
          </a:p>
        </p:txBody>
      </p:sp>
      <p:sp>
        <p:nvSpPr>
          <p:cNvPr id="29" name="TextBox 28">
            <a:extLst>
              <a:ext uri="{FF2B5EF4-FFF2-40B4-BE49-F238E27FC236}">
                <a16:creationId xmlns:a16="http://schemas.microsoft.com/office/drawing/2014/main" id="{E147C1C7-F2C8-5050-D82A-9BCC73886A71}"/>
              </a:ext>
            </a:extLst>
          </p:cNvPr>
          <p:cNvSpPr txBox="1"/>
          <p:nvPr/>
        </p:nvSpPr>
        <p:spPr>
          <a:xfrm>
            <a:off x="6924840"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~8/23</a:t>
            </a:r>
          </a:p>
        </p:txBody>
      </p:sp>
      <p:sp>
        <p:nvSpPr>
          <p:cNvPr id="33" name="TextBox 32">
            <a:extLst>
              <a:ext uri="{FF2B5EF4-FFF2-40B4-BE49-F238E27FC236}">
                <a16:creationId xmlns:a16="http://schemas.microsoft.com/office/drawing/2014/main" id="{44E2F79A-01A1-A3C4-C2DD-72D85AFC2BFA}"/>
              </a:ext>
            </a:extLst>
          </p:cNvPr>
          <p:cNvSpPr txBox="1"/>
          <p:nvPr/>
        </p:nvSpPr>
        <p:spPr>
          <a:xfrm>
            <a:off x="7222772"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~8/30</a:t>
            </a:r>
          </a:p>
        </p:txBody>
      </p:sp>
      <p:sp>
        <p:nvSpPr>
          <p:cNvPr id="35" name="TextBox 34">
            <a:extLst>
              <a:ext uri="{FF2B5EF4-FFF2-40B4-BE49-F238E27FC236}">
                <a16:creationId xmlns:a16="http://schemas.microsoft.com/office/drawing/2014/main" id="{9DF9566C-1027-CB35-5244-7E5F2F1E22C0}"/>
              </a:ext>
            </a:extLst>
          </p:cNvPr>
          <p:cNvSpPr txBox="1"/>
          <p:nvPr/>
        </p:nvSpPr>
        <p:spPr>
          <a:xfrm>
            <a:off x="9061266"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~8/23</a:t>
            </a:r>
          </a:p>
        </p:txBody>
      </p:sp>
      <p:sp>
        <p:nvSpPr>
          <p:cNvPr id="38" name="TextBox 37">
            <a:extLst>
              <a:ext uri="{FF2B5EF4-FFF2-40B4-BE49-F238E27FC236}">
                <a16:creationId xmlns:a16="http://schemas.microsoft.com/office/drawing/2014/main" id="{5346F2C3-AF03-3C33-FDAD-25E7F1D8CFF5}"/>
              </a:ext>
            </a:extLst>
          </p:cNvPr>
          <p:cNvSpPr txBox="1"/>
          <p:nvPr/>
        </p:nvSpPr>
        <p:spPr>
          <a:xfrm>
            <a:off x="9359198" y="1563579"/>
            <a:ext cx="418338" cy="208638"/>
          </a:xfrm>
          <a:prstGeom prst="rect">
            <a:avLst/>
          </a:prstGeom>
          <a:noFill/>
        </p:spPr>
        <p:txBody>
          <a:bodyPr wrap="square" rtlCol="0">
            <a:spAutoFit/>
          </a:bodyPr>
          <a:lstStyle/>
          <a:p>
            <a:pPr marL="0" marR="0" lvl="0" indent="0" algn="l" defTabSz="438652" rtl="0" eaLnBrk="1" fontAlgn="auto" latinLnBrk="1" hangingPunct="1">
              <a:lnSpc>
                <a:spcPct val="100000"/>
              </a:lnSpc>
              <a:spcBef>
                <a:spcPts val="0"/>
              </a:spcBef>
              <a:spcAft>
                <a:spcPts val="0"/>
              </a:spcAft>
              <a:buClrTx/>
              <a:buSzTx/>
              <a:buFontTx/>
              <a:buNone/>
              <a:tabLst/>
              <a:defRPr/>
            </a:pPr>
            <a:r>
              <a:rPr kumimoji="0" lang="en-US" altLang="ko-KR" sz="768" b="0" i="0" u="none" strike="noStrike" kern="1200" cap="none" spc="0" normalizeH="0" baseline="0" noProof="0" dirty="0">
                <a:ln>
                  <a:noFill/>
                </a:ln>
                <a:solidFill>
                  <a:srgbClr val="006600"/>
                </a:solidFill>
                <a:effectLst/>
                <a:uLnTx/>
                <a:uFillTx/>
                <a:latin typeface="Arial Narrow" panose="020B0606020202030204" pitchFamily="34" charset="0"/>
                <a:ea typeface="LG스마트체 Regular" panose="020B0600000101010101" pitchFamily="50" charset="-127"/>
                <a:cs typeface="+mn-cs"/>
              </a:rPr>
              <a:t>~8/30</a:t>
            </a:r>
          </a:p>
        </p:txBody>
      </p:sp>
      <p:sp>
        <p:nvSpPr>
          <p:cNvPr id="2" name="TextBox 1">
            <a:extLst>
              <a:ext uri="{FF2B5EF4-FFF2-40B4-BE49-F238E27FC236}">
                <a16:creationId xmlns:a16="http://schemas.microsoft.com/office/drawing/2014/main" id="{D28B706F-7683-943C-E0F7-C17B52476FCF}"/>
              </a:ext>
            </a:extLst>
          </p:cNvPr>
          <p:cNvSpPr txBox="1"/>
          <p:nvPr/>
        </p:nvSpPr>
        <p:spPr>
          <a:xfrm>
            <a:off x="4900958" y="6735210"/>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 / 4 -</a:t>
            </a:r>
          </a:p>
        </p:txBody>
      </p:sp>
    </p:spTree>
    <p:extLst>
      <p:ext uri="{BB962C8B-B14F-4D97-AF65-F5344CB8AC3E}">
        <p14:creationId xmlns:p14="http://schemas.microsoft.com/office/powerpoint/2010/main" val="1575733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6CAA3-370C-2C84-A7F4-C550AB599CBB}"/>
            </a:ext>
          </a:extLst>
        </p:cNvPr>
        <p:cNvGrpSpPr/>
        <p:nvPr/>
      </p:nvGrpSpPr>
      <p:grpSpPr>
        <a:xfrm>
          <a:off x="0" y="0"/>
          <a:ext cx="0" cy="0"/>
          <a:chOff x="0" y="0"/>
          <a:chExt cx="0" cy="0"/>
        </a:xfrm>
      </p:grpSpPr>
      <p:sp>
        <p:nvSpPr>
          <p:cNvPr id="8" name="제목 4">
            <a:extLst>
              <a:ext uri="{FF2B5EF4-FFF2-40B4-BE49-F238E27FC236}">
                <a16:creationId xmlns:a16="http://schemas.microsoft.com/office/drawing/2014/main" id="{6821D106-AF34-0DB3-5334-7D893360AE08}"/>
              </a:ext>
            </a:extLst>
          </p:cNvPr>
          <p:cNvSpPr txBox="1">
            <a:spLocks/>
          </p:cNvSpPr>
          <p:nvPr/>
        </p:nvSpPr>
        <p:spPr>
          <a:xfrm>
            <a:off x="126265" y="170929"/>
            <a:ext cx="4970751" cy="369332"/>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유첨</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0" lang="ko-KR" altLang="en-US" sz="1800" b="1" i="0" u="none" strike="noStrike" kern="1200" cap="none" spc="0" normalizeH="0" baseline="0" noProof="0" dirty="0" err="1">
                <a:ln>
                  <a:noFill/>
                </a:ln>
                <a:solidFill>
                  <a:prstClr val="black"/>
                </a:solidFill>
                <a:effectLst/>
                <a:uLnTx/>
                <a:uFillTx/>
                <a:latin typeface="Arial Narrow"/>
                <a:ea typeface="LG스마트체 Regular" panose="020B0600000101010101" pitchFamily="50" charset="-127"/>
                <a:cs typeface="Arial" panose="020B0604020202020204" pitchFamily="34" charset="0"/>
              </a:rPr>
              <a:t>가감속</a:t>
            </a:r>
            <a:r>
              <a:rPr kumimoji="0" lang="ko-KR" altLang="en-US" sz="18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Arial" panose="020B0604020202020204" pitchFamily="34" charset="0"/>
              </a:rPr>
              <a:t> 시점 제어인자 분석 진행 방향</a:t>
            </a:r>
          </a:p>
        </p:txBody>
      </p:sp>
      <p:cxnSp>
        <p:nvCxnSpPr>
          <p:cNvPr id="35" name="직선 연결선 34">
            <a:extLst>
              <a:ext uri="{FF2B5EF4-FFF2-40B4-BE49-F238E27FC236}">
                <a16:creationId xmlns:a16="http://schemas.microsoft.com/office/drawing/2014/main" id="{71C47DB6-EB01-C04A-7BAE-EBC7E11C484F}"/>
              </a:ext>
            </a:extLst>
          </p:cNvPr>
          <p:cNvCxnSpPr>
            <a:cxnSpLocks/>
          </p:cNvCxnSpPr>
          <p:nvPr/>
        </p:nvCxnSpPr>
        <p:spPr>
          <a:xfrm flipH="1">
            <a:off x="255292" y="528508"/>
            <a:ext cx="448168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그림 35">
            <a:extLst>
              <a:ext uri="{FF2B5EF4-FFF2-40B4-BE49-F238E27FC236}">
                <a16:creationId xmlns:a16="http://schemas.microsoft.com/office/drawing/2014/main" id="{75060400-B430-59DD-8F96-A65E3B32FE0E}"/>
              </a:ext>
            </a:extLst>
          </p:cNvPr>
          <p:cNvPicPr>
            <a:picLocks noChangeAspect="1"/>
          </p:cNvPicPr>
          <p:nvPr/>
        </p:nvPicPr>
        <p:blipFill>
          <a:blip r:embed="rId3"/>
          <a:stretch>
            <a:fillRect/>
          </a:stretch>
        </p:blipFill>
        <p:spPr>
          <a:xfrm>
            <a:off x="303017" y="1391285"/>
            <a:ext cx="3022462" cy="1571623"/>
          </a:xfrm>
          <a:prstGeom prst="rect">
            <a:avLst/>
          </a:prstGeom>
        </p:spPr>
      </p:pic>
      <p:sp>
        <p:nvSpPr>
          <p:cNvPr id="37" name="직사각형 36">
            <a:extLst>
              <a:ext uri="{FF2B5EF4-FFF2-40B4-BE49-F238E27FC236}">
                <a16:creationId xmlns:a16="http://schemas.microsoft.com/office/drawing/2014/main" id="{A8D07263-E122-1430-CE3E-CC4EB5F7B655}"/>
              </a:ext>
            </a:extLst>
          </p:cNvPr>
          <p:cNvSpPr/>
          <p:nvPr/>
        </p:nvSpPr>
        <p:spPr bwMode="auto">
          <a:xfrm>
            <a:off x="312584" y="577209"/>
            <a:ext cx="9456849" cy="521328"/>
          </a:xfrm>
          <a:prstGeom prst="rect">
            <a:avLst/>
          </a:prstGeom>
          <a:noFill/>
          <a:ln w="9525" cap="flat" cmpd="sng" algn="ctr">
            <a:noFill/>
            <a:prstDash val="solid"/>
            <a:round/>
            <a:headEnd type="none" w="med" len="med"/>
            <a:tailEnd type="none" w="med" len="med"/>
          </a:ln>
          <a:effectLst/>
        </p:spPr>
        <p:txBody>
          <a:bodyPr vert="horz" wrap="square" lIns="89564" tIns="44783" rIns="89564" bIns="44783" numCol="1" rtlCol="0" anchor="t" anchorCtr="0" compatLnSpc="1">
            <a:prstTxWarp prst="textNoShape">
              <a:avLst/>
            </a:prstTxWarp>
            <a:spAutoFit/>
          </a:bodyPr>
          <a:lstStyle/>
          <a:p>
            <a:pPr marL="0" marR="0" lvl="0" indent="0" algn="l" defTabSz="452491" rtl="0" eaLnBrk="1" fontAlgn="base" latinLnBrk="0" hangingPunct="1">
              <a:lnSpc>
                <a:spcPct val="100000"/>
              </a:lnSpc>
              <a:spcBef>
                <a:spcPts val="196"/>
              </a:spcBef>
              <a:spcAft>
                <a:spcPct val="0"/>
              </a:spcAft>
              <a:buClrTx/>
              <a:buSzTx/>
              <a:buFontTx/>
              <a:buNone/>
              <a:tabLst/>
              <a:defRPr/>
            </a:pP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기존 </a:t>
            </a:r>
            <a:r>
              <a:rPr kumimoji="1" lang="ko-KR" altLang="en-US" sz="1400" b="1" i="0" u="none" strike="noStrike" kern="1200" cap="none" spc="0" normalizeH="0" baseline="0" noProof="0" dirty="0" err="1">
                <a:ln>
                  <a:noFill/>
                </a:ln>
                <a:solidFill>
                  <a:prstClr val="black"/>
                </a:solidFill>
                <a:effectLst/>
                <a:uLnTx/>
                <a:uFillTx/>
                <a:latin typeface="Arial Narrow"/>
                <a:ea typeface="LG스마트체 Regular" panose="020B0600000101010101" pitchFamily="50" charset="-127"/>
                <a:cs typeface="+mn-cs"/>
              </a:rPr>
              <a:t>가감속</a:t>
            </a: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 </a:t>
            </a:r>
            <a:r>
              <a:rPr kumimoji="1" lang="en-US" altLang="ko-KR"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Seq.</a:t>
            </a: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별 </a:t>
            </a:r>
            <a:r>
              <a:rPr kumimoji="1" lang="en-US" altLang="ko-KR"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PV </a:t>
            </a: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중첩 비교 방식은 방대한 불량</a:t>
            </a:r>
            <a:r>
              <a:rPr kumimoji="1" lang="en-US" altLang="ko-KR"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a:t>
            </a: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제어 인자를 엔지니어가 눈으로 비교하는데 한계가 있어</a:t>
            </a:r>
            <a:r>
              <a:rPr kumimoji="1" lang="en-US" altLang="ko-KR"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 </a:t>
            </a:r>
            <a:r>
              <a:rPr kumimoji="1" lang="ko-KR" altLang="en-US" sz="1400" b="1" i="0" u="none" strike="noStrike" kern="1200" cap="none" spc="0" normalizeH="0" baseline="0" noProof="0" dirty="0" err="1">
                <a:ln>
                  <a:noFill/>
                </a:ln>
                <a:solidFill>
                  <a:prstClr val="black"/>
                </a:solidFill>
                <a:effectLst/>
                <a:uLnTx/>
                <a:uFillTx/>
                <a:latin typeface="Arial Narrow"/>
                <a:ea typeface="LG스마트체 Regular" panose="020B0600000101010101" pitchFamily="50" charset="-127"/>
                <a:cs typeface="+mn-cs"/>
              </a:rPr>
              <a:t>가감속</a:t>
            </a: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 </a:t>
            </a:r>
            <a:r>
              <a:rPr kumimoji="1" lang="en-US" altLang="ko-KR"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Seq. </a:t>
            </a:r>
            <a:r>
              <a:rPr kumimoji="1" lang="ko-KR" altLang="en-US"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특화 모델을 구축하여 불량 영향 인자를 자동 분석하고자 합니다</a:t>
            </a:r>
            <a:r>
              <a:rPr kumimoji="1" lang="en-US" altLang="ko-KR" sz="1400" b="1" i="0" u="none" strike="noStrike" kern="1200" cap="none" spc="0" normalizeH="0" baseline="0" noProof="0" dirty="0">
                <a:ln>
                  <a:noFill/>
                </a:ln>
                <a:solidFill>
                  <a:prstClr val="black"/>
                </a:solidFill>
                <a:effectLst/>
                <a:uLnTx/>
                <a:uFillTx/>
                <a:latin typeface="Arial Narrow"/>
                <a:ea typeface="LG스마트체 Regular" panose="020B0600000101010101" pitchFamily="50" charset="-127"/>
                <a:cs typeface="+mn-cs"/>
              </a:rPr>
              <a:t>.</a:t>
            </a:r>
          </a:p>
        </p:txBody>
      </p:sp>
      <p:sp>
        <p:nvSpPr>
          <p:cNvPr id="38" name="TextBox 37">
            <a:extLst>
              <a:ext uri="{FF2B5EF4-FFF2-40B4-BE49-F238E27FC236}">
                <a16:creationId xmlns:a16="http://schemas.microsoft.com/office/drawing/2014/main" id="{05C6CF16-46E7-2988-548B-5A3A67F7BFD1}"/>
              </a:ext>
            </a:extLst>
          </p:cNvPr>
          <p:cNvSpPr txBox="1"/>
          <p:nvPr/>
        </p:nvSpPr>
        <p:spPr bwMode="auto">
          <a:xfrm>
            <a:off x="221062" y="4122783"/>
            <a:ext cx="2398052" cy="276999"/>
          </a:xfrm>
          <a:prstGeom prst="rect">
            <a:avLst/>
          </a:prstGeom>
          <a:noFill/>
          <a:ln w="9525">
            <a:noFill/>
            <a:miter lim="800000"/>
            <a:headEnd/>
            <a:tailEnd/>
          </a:ln>
        </p:spPr>
        <p:txBody>
          <a:bodyPr wrap="square" rtlCol="0">
            <a:sp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1" lang="ko-KR" altLang="en-US" sz="12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anose="020B0604020202020204" pitchFamily="34" charset="0"/>
              </a:rPr>
              <a:t>■ 모델 핵심 알고리즘</a:t>
            </a:r>
          </a:p>
        </p:txBody>
      </p:sp>
      <p:sp>
        <p:nvSpPr>
          <p:cNvPr id="43" name="Shape 18">
            <a:extLst>
              <a:ext uri="{FF2B5EF4-FFF2-40B4-BE49-F238E27FC236}">
                <a16:creationId xmlns:a16="http://schemas.microsoft.com/office/drawing/2014/main" id="{E0C820A4-6F51-F29A-1B46-ECE6EC3A92D0}"/>
              </a:ext>
            </a:extLst>
          </p:cNvPr>
          <p:cNvSpPr/>
          <p:nvPr/>
        </p:nvSpPr>
        <p:spPr>
          <a:xfrm>
            <a:off x="221063" y="4411476"/>
            <a:ext cx="4658250" cy="2257884"/>
          </a:xfrm>
          <a:prstGeom prst="roundRect">
            <a:avLst>
              <a:gd name="adj" fmla="val 2941"/>
            </a:avLst>
          </a:prstGeom>
          <a:solidFill>
            <a:srgbClr val="FFFF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51" name="Text 19">
            <a:extLst>
              <a:ext uri="{FF2B5EF4-FFF2-40B4-BE49-F238E27FC236}">
                <a16:creationId xmlns:a16="http://schemas.microsoft.com/office/drawing/2014/main" id="{58715CF8-B1EA-3973-7CDE-8FBA510810AB}"/>
              </a:ext>
            </a:extLst>
          </p:cNvPr>
          <p:cNvSpPr/>
          <p:nvPr/>
        </p:nvSpPr>
        <p:spPr>
          <a:xfrm>
            <a:off x="404207" y="4577498"/>
            <a:ext cx="2866616" cy="207525"/>
          </a:xfrm>
          <a:prstGeom prst="rect">
            <a:avLst/>
          </a:prstGeom>
          <a:noFill/>
          <a:ln/>
        </p:spPr>
        <p:txBody>
          <a:bodyPr wrap="square" lIns="251" tIns="251" rIns="251" bIns="251"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3A999"/>
                </a:solidFill>
                <a:effectLst/>
                <a:uLnTx/>
                <a:uFillTx/>
                <a:latin typeface="Arial Narrow" panose="020B0606020202030204" pitchFamily="34" charset="0"/>
                <a:ea typeface="LG스마트체 Regular" panose="020B0600000101010101" pitchFamily="50" charset="-127"/>
                <a:cs typeface="Malgun Gothic" pitchFamily="34" charset="-120"/>
              </a:rPr>
              <a:t>CCF : Cross-Correlation Function</a:t>
            </a:r>
            <a:endParaRPr kumimoji="0" lang="en-US" sz="12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61" name="Text 20">
            <a:extLst>
              <a:ext uri="{FF2B5EF4-FFF2-40B4-BE49-F238E27FC236}">
                <a16:creationId xmlns:a16="http://schemas.microsoft.com/office/drawing/2014/main" id="{B4A6C95A-6920-E422-E564-E384FB36E47F}"/>
              </a:ext>
            </a:extLst>
          </p:cNvPr>
          <p:cNvSpPr/>
          <p:nvPr/>
        </p:nvSpPr>
        <p:spPr>
          <a:xfrm>
            <a:off x="404208" y="4892937"/>
            <a:ext cx="2548102" cy="431655"/>
          </a:xfrm>
          <a:prstGeom prst="rect">
            <a:avLst/>
          </a:prstGeom>
          <a:noFill/>
          <a:ln/>
        </p:spPr>
        <p:txBody>
          <a:bodyPr wrap="square" lIns="377" tIns="377" rIns="377" bIns="377" rtlCol="0" anchor="ctr">
            <a:no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PV와</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검사값을</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Sequence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축에서</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앞뒤로</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밀어보며</a:t>
            </a:r>
            <a:endPar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몇 Cell </a:t>
            </a: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차이</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에서</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관계가</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가장</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큰지</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확인</a:t>
            </a:r>
            <a:endPar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64" name="Shape 21">
            <a:extLst>
              <a:ext uri="{FF2B5EF4-FFF2-40B4-BE49-F238E27FC236}">
                <a16:creationId xmlns:a16="http://schemas.microsoft.com/office/drawing/2014/main" id="{01459821-55E7-3A28-7AE8-FD2813EAE5D9}"/>
              </a:ext>
            </a:extLst>
          </p:cNvPr>
          <p:cNvSpPr/>
          <p:nvPr/>
        </p:nvSpPr>
        <p:spPr>
          <a:xfrm>
            <a:off x="2952311" y="6113191"/>
            <a:ext cx="1473122" cy="0"/>
          </a:xfrm>
          <a:prstGeom prst="line">
            <a:avLst/>
          </a:prstGeom>
          <a:noFill/>
          <a:ln w="12700">
            <a:solidFill>
              <a:srgbClr val="60708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68" name="Shape 22">
            <a:extLst>
              <a:ext uri="{FF2B5EF4-FFF2-40B4-BE49-F238E27FC236}">
                <a16:creationId xmlns:a16="http://schemas.microsoft.com/office/drawing/2014/main" id="{D9C38098-EDBE-7BB0-9129-90A5C7A18238}"/>
              </a:ext>
            </a:extLst>
          </p:cNvPr>
          <p:cNvSpPr/>
          <p:nvPr/>
        </p:nvSpPr>
        <p:spPr>
          <a:xfrm>
            <a:off x="2952311" y="5050657"/>
            <a:ext cx="0" cy="1062534"/>
          </a:xfrm>
          <a:prstGeom prst="line">
            <a:avLst/>
          </a:prstGeom>
          <a:noFill/>
          <a:ln w="12700">
            <a:solidFill>
              <a:srgbClr val="60708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69" name="Shape 23">
            <a:extLst>
              <a:ext uri="{FF2B5EF4-FFF2-40B4-BE49-F238E27FC236}">
                <a16:creationId xmlns:a16="http://schemas.microsoft.com/office/drawing/2014/main" id="{5E20EF40-2717-5A71-39F6-CC1B806CED3E}"/>
              </a:ext>
            </a:extLst>
          </p:cNvPr>
          <p:cNvSpPr/>
          <p:nvPr/>
        </p:nvSpPr>
        <p:spPr>
          <a:xfrm>
            <a:off x="3016013" y="5756246"/>
            <a:ext cx="254810" cy="0"/>
          </a:xfrm>
          <a:prstGeom prst="line">
            <a:avLst/>
          </a:prstGeom>
          <a:noFill/>
          <a:ln w="25400">
            <a:solidFill>
              <a:srgbClr val="13A99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0" name="Shape 24">
            <a:extLst>
              <a:ext uri="{FF2B5EF4-FFF2-40B4-BE49-F238E27FC236}">
                <a16:creationId xmlns:a16="http://schemas.microsoft.com/office/drawing/2014/main" id="{4980E49F-8E14-7F3B-5E4D-56AC403AABFF}"/>
              </a:ext>
            </a:extLst>
          </p:cNvPr>
          <p:cNvSpPr/>
          <p:nvPr/>
        </p:nvSpPr>
        <p:spPr>
          <a:xfrm>
            <a:off x="3270823" y="5548720"/>
            <a:ext cx="262773" cy="0"/>
          </a:xfrm>
          <a:prstGeom prst="line">
            <a:avLst/>
          </a:prstGeom>
          <a:noFill/>
          <a:ln w="25400">
            <a:solidFill>
              <a:srgbClr val="13A99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1" name="Shape 25">
            <a:extLst>
              <a:ext uri="{FF2B5EF4-FFF2-40B4-BE49-F238E27FC236}">
                <a16:creationId xmlns:a16="http://schemas.microsoft.com/office/drawing/2014/main" id="{BAF29C30-CF2F-5B72-3542-19370BDD8797}"/>
              </a:ext>
            </a:extLst>
          </p:cNvPr>
          <p:cNvSpPr/>
          <p:nvPr/>
        </p:nvSpPr>
        <p:spPr>
          <a:xfrm>
            <a:off x="3533595" y="5258183"/>
            <a:ext cx="254810" cy="0"/>
          </a:xfrm>
          <a:prstGeom prst="line">
            <a:avLst/>
          </a:prstGeom>
          <a:noFill/>
          <a:ln w="25400">
            <a:solidFill>
              <a:srgbClr val="13A99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4" name="Shape 26">
            <a:extLst>
              <a:ext uri="{FF2B5EF4-FFF2-40B4-BE49-F238E27FC236}">
                <a16:creationId xmlns:a16="http://schemas.microsoft.com/office/drawing/2014/main" id="{D37B8745-62C0-BA61-2332-1594CC0357CB}"/>
              </a:ext>
            </a:extLst>
          </p:cNvPr>
          <p:cNvSpPr/>
          <p:nvPr/>
        </p:nvSpPr>
        <p:spPr>
          <a:xfrm>
            <a:off x="3788406" y="5208377"/>
            <a:ext cx="278699" cy="149419"/>
          </a:xfrm>
          <a:prstGeom prst="line">
            <a:avLst/>
          </a:prstGeom>
          <a:noFill/>
          <a:ln w="25400">
            <a:solidFill>
              <a:srgbClr val="13A99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5" name="Shape 27">
            <a:extLst>
              <a:ext uri="{FF2B5EF4-FFF2-40B4-BE49-F238E27FC236}">
                <a16:creationId xmlns:a16="http://schemas.microsoft.com/office/drawing/2014/main" id="{04272320-FF0D-EF5A-BC83-C0AB823FE1BB}"/>
              </a:ext>
            </a:extLst>
          </p:cNvPr>
          <p:cNvSpPr/>
          <p:nvPr/>
        </p:nvSpPr>
        <p:spPr>
          <a:xfrm>
            <a:off x="4067105" y="5357796"/>
            <a:ext cx="278699" cy="149419"/>
          </a:xfrm>
          <a:prstGeom prst="line">
            <a:avLst/>
          </a:prstGeom>
          <a:noFill/>
          <a:ln w="25400">
            <a:solidFill>
              <a:srgbClr val="13A99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6" name="Shape 28">
            <a:extLst>
              <a:ext uri="{FF2B5EF4-FFF2-40B4-BE49-F238E27FC236}">
                <a16:creationId xmlns:a16="http://schemas.microsoft.com/office/drawing/2014/main" id="{5F24A930-23B5-AA0E-B54E-F139B7E43331}"/>
              </a:ext>
            </a:extLst>
          </p:cNvPr>
          <p:cNvSpPr/>
          <p:nvPr/>
        </p:nvSpPr>
        <p:spPr>
          <a:xfrm>
            <a:off x="3016013" y="6046782"/>
            <a:ext cx="254810" cy="0"/>
          </a:xfrm>
          <a:prstGeom prst="line">
            <a:avLst/>
          </a:prstGeom>
          <a:noFill/>
          <a:ln w="25400">
            <a:solidFill>
              <a:srgbClr val="F2993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7" name="Shape 29">
            <a:extLst>
              <a:ext uri="{FF2B5EF4-FFF2-40B4-BE49-F238E27FC236}">
                <a16:creationId xmlns:a16="http://schemas.microsoft.com/office/drawing/2014/main" id="{89858AD5-E9E0-5436-7471-D230CB6D38E0}"/>
              </a:ext>
            </a:extLst>
          </p:cNvPr>
          <p:cNvSpPr/>
          <p:nvPr/>
        </p:nvSpPr>
        <p:spPr>
          <a:xfrm>
            <a:off x="3270823" y="5963772"/>
            <a:ext cx="262773" cy="0"/>
          </a:xfrm>
          <a:prstGeom prst="line">
            <a:avLst/>
          </a:prstGeom>
          <a:noFill/>
          <a:ln w="25400">
            <a:solidFill>
              <a:srgbClr val="F2993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8" name="Shape 30">
            <a:extLst>
              <a:ext uri="{FF2B5EF4-FFF2-40B4-BE49-F238E27FC236}">
                <a16:creationId xmlns:a16="http://schemas.microsoft.com/office/drawing/2014/main" id="{767E7DBF-90DA-2A06-A66A-E74BE88A90AB}"/>
              </a:ext>
            </a:extLst>
          </p:cNvPr>
          <p:cNvSpPr/>
          <p:nvPr/>
        </p:nvSpPr>
        <p:spPr>
          <a:xfrm>
            <a:off x="3533595" y="5864159"/>
            <a:ext cx="254810" cy="0"/>
          </a:xfrm>
          <a:prstGeom prst="line">
            <a:avLst/>
          </a:prstGeom>
          <a:noFill/>
          <a:ln w="25400">
            <a:solidFill>
              <a:srgbClr val="F2993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79" name="Shape 31">
            <a:extLst>
              <a:ext uri="{FF2B5EF4-FFF2-40B4-BE49-F238E27FC236}">
                <a16:creationId xmlns:a16="http://schemas.microsoft.com/office/drawing/2014/main" id="{354AA2D8-686F-560B-D8AF-05BF3D9F7C29}"/>
              </a:ext>
            </a:extLst>
          </p:cNvPr>
          <p:cNvSpPr/>
          <p:nvPr/>
        </p:nvSpPr>
        <p:spPr>
          <a:xfrm>
            <a:off x="3788406" y="5731342"/>
            <a:ext cx="278699" cy="0"/>
          </a:xfrm>
          <a:prstGeom prst="line">
            <a:avLst/>
          </a:prstGeom>
          <a:noFill/>
          <a:ln w="25400">
            <a:solidFill>
              <a:srgbClr val="F2993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2" name="Shape 32">
            <a:extLst>
              <a:ext uri="{FF2B5EF4-FFF2-40B4-BE49-F238E27FC236}">
                <a16:creationId xmlns:a16="http://schemas.microsoft.com/office/drawing/2014/main" id="{BE4DDC0F-5D47-4DA9-4101-D3224FAFDC88}"/>
              </a:ext>
            </a:extLst>
          </p:cNvPr>
          <p:cNvSpPr/>
          <p:nvPr/>
        </p:nvSpPr>
        <p:spPr>
          <a:xfrm>
            <a:off x="4067105" y="5590225"/>
            <a:ext cx="278699" cy="116214"/>
          </a:xfrm>
          <a:prstGeom prst="line">
            <a:avLst/>
          </a:prstGeom>
          <a:noFill/>
          <a:ln w="25400">
            <a:solidFill>
              <a:srgbClr val="F2993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5" name="Text 33">
            <a:extLst>
              <a:ext uri="{FF2B5EF4-FFF2-40B4-BE49-F238E27FC236}">
                <a16:creationId xmlns:a16="http://schemas.microsoft.com/office/drawing/2014/main" id="{AADCA20A-8877-A551-C149-E8713138DD9F}"/>
              </a:ext>
            </a:extLst>
          </p:cNvPr>
          <p:cNvSpPr/>
          <p:nvPr/>
        </p:nvSpPr>
        <p:spPr>
          <a:xfrm>
            <a:off x="3963586" y="5078711"/>
            <a:ext cx="238885" cy="132816"/>
          </a:xfrm>
          <a:prstGeom prst="rect">
            <a:avLst/>
          </a:prstGeom>
          <a:noFill/>
          <a:ln/>
        </p:spPr>
        <p:txBody>
          <a:bodyPr wrap="square" lIns="251" tIns="251" rIns="251" bIns="251" rtlCol="0" anchor="ctr">
            <a:no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3A999"/>
                </a:solidFill>
                <a:effectLst/>
                <a:uLnTx/>
                <a:uFillTx/>
                <a:latin typeface="Arial Narrow" panose="020B0606020202030204" pitchFamily="34" charset="0"/>
                <a:ea typeface="LG스마트체 Regular" panose="020B0600000101010101" pitchFamily="50" charset="-127"/>
                <a:cs typeface="Malgun Gothic" pitchFamily="34" charset="-120"/>
              </a:rPr>
              <a:t>PV</a:t>
            </a:r>
            <a:endParaRPr kumimoji="0"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88" name="Text 34">
            <a:extLst>
              <a:ext uri="{FF2B5EF4-FFF2-40B4-BE49-F238E27FC236}">
                <a16:creationId xmlns:a16="http://schemas.microsoft.com/office/drawing/2014/main" id="{ED918FEF-5756-5EEE-0DAD-980F6AC2F7A9}"/>
              </a:ext>
            </a:extLst>
          </p:cNvPr>
          <p:cNvSpPr/>
          <p:nvPr/>
        </p:nvSpPr>
        <p:spPr>
          <a:xfrm>
            <a:off x="4394547" y="5645475"/>
            <a:ext cx="366289" cy="132816"/>
          </a:xfrm>
          <a:prstGeom prst="rect">
            <a:avLst/>
          </a:prstGeom>
          <a:noFill/>
          <a:ln/>
        </p:spPr>
        <p:txBody>
          <a:bodyPr wrap="square" lIns="251" tIns="251" rIns="251" bIns="251" rtlCol="0" anchor="ctr">
            <a:no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F2993A"/>
                </a:solidFill>
                <a:effectLst/>
                <a:uLnTx/>
                <a:uFillTx/>
                <a:latin typeface="Arial Narrow" panose="020B0606020202030204" pitchFamily="34" charset="0"/>
                <a:ea typeface="LG스마트체 Regular" panose="020B0600000101010101" pitchFamily="50" charset="-127"/>
                <a:cs typeface="Malgun Gothic" pitchFamily="34" charset="-120"/>
              </a:rPr>
              <a:t>검사값</a:t>
            </a:r>
            <a:endParaRPr kumimoji="0"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91" name="Text 35">
            <a:extLst>
              <a:ext uri="{FF2B5EF4-FFF2-40B4-BE49-F238E27FC236}">
                <a16:creationId xmlns:a16="http://schemas.microsoft.com/office/drawing/2014/main" id="{0D2E8B49-B5AE-7E26-0B70-C7F49AF640BA}"/>
              </a:ext>
            </a:extLst>
          </p:cNvPr>
          <p:cNvSpPr/>
          <p:nvPr/>
        </p:nvSpPr>
        <p:spPr>
          <a:xfrm>
            <a:off x="3111567" y="6237707"/>
            <a:ext cx="1313865" cy="149419"/>
          </a:xfrm>
          <a:prstGeom prst="rect">
            <a:avLst/>
          </a:prstGeom>
          <a:noFill/>
          <a:ln/>
        </p:spPr>
        <p:txBody>
          <a:bodyPr wrap="square" lIns="251" tIns="251" rIns="251" bIns="251" rtlCol="0" anchor="ctr">
            <a:noAutofit/>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lag +2에서 최대 상관</a:t>
            </a:r>
            <a:endParaRPr kumimoji="0" 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19" name="Text 36">
            <a:extLst>
              <a:ext uri="{FF2B5EF4-FFF2-40B4-BE49-F238E27FC236}">
                <a16:creationId xmlns:a16="http://schemas.microsoft.com/office/drawing/2014/main" id="{BECDBCE2-362B-7786-5D5C-9B9E5D75F621}"/>
              </a:ext>
            </a:extLst>
          </p:cNvPr>
          <p:cNvSpPr/>
          <p:nvPr/>
        </p:nvSpPr>
        <p:spPr>
          <a:xfrm>
            <a:off x="404208" y="5930568"/>
            <a:ext cx="2388846" cy="456557"/>
          </a:xfrm>
          <a:prstGeom prst="rect">
            <a:avLst/>
          </a:prstGeom>
          <a:noFill/>
          <a:ln/>
        </p:spPr>
        <p:txBody>
          <a:bodyPr wrap="square" lIns="377" tIns="377" rIns="377" bIns="377"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활용: CCF로 후보 lag를 찾고, lag1~lag3 / delta / rolling feature를 생성해 </a:t>
            </a:r>
            <a:r>
              <a:rPr kumimoji="1" lang="en-US" sz="1000" b="0" i="0" u="none" strike="noStrike" kern="1200" cap="none" spc="0" normalizeH="0" baseline="0" noProof="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모델에서</a:t>
            </a:r>
            <a:r>
              <a:rPr kumimoji="1" lang="en-US" sz="1000" b="0" i="0" u="none" strike="noStrike" kern="1200" cap="none" spc="0" normalizeH="0" baseline="0" noProof="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검증</a:t>
            </a:r>
            <a:endParaRPr kumimoji="1" lang="en-US" sz="1000" b="0" i="0" u="none" strike="noStrike" kern="1200" cap="none" spc="0" normalizeH="0" baseline="0" noProof="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endParaRPr>
          </a:p>
        </p:txBody>
      </p:sp>
      <p:sp>
        <p:nvSpPr>
          <p:cNvPr id="121" name="Shape 37">
            <a:extLst>
              <a:ext uri="{FF2B5EF4-FFF2-40B4-BE49-F238E27FC236}">
                <a16:creationId xmlns:a16="http://schemas.microsoft.com/office/drawing/2014/main" id="{705EE900-FE88-EB0F-220D-B1EB8BE26920}"/>
              </a:ext>
            </a:extLst>
          </p:cNvPr>
          <p:cNvSpPr/>
          <p:nvPr/>
        </p:nvSpPr>
        <p:spPr>
          <a:xfrm>
            <a:off x="5158011" y="4408619"/>
            <a:ext cx="4562696" cy="2257884"/>
          </a:xfrm>
          <a:prstGeom prst="roundRect">
            <a:avLst>
              <a:gd name="adj" fmla="val 2941"/>
            </a:avLst>
          </a:prstGeom>
          <a:solidFill>
            <a:srgbClr val="FFFF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2" name="Text 38">
            <a:extLst>
              <a:ext uri="{FF2B5EF4-FFF2-40B4-BE49-F238E27FC236}">
                <a16:creationId xmlns:a16="http://schemas.microsoft.com/office/drawing/2014/main" id="{B6A9F88D-D81B-7543-331C-C2DBA9AC6802}"/>
              </a:ext>
            </a:extLst>
          </p:cNvPr>
          <p:cNvSpPr/>
          <p:nvPr/>
        </p:nvSpPr>
        <p:spPr>
          <a:xfrm>
            <a:off x="5317266" y="4532259"/>
            <a:ext cx="2791892" cy="208400"/>
          </a:xfrm>
          <a:prstGeom prst="rect">
            <a:avLst/>
          </a:prstGeom>
          <a:noFill/>
          <a:ln/>
        </p:spPr>
        <p:txBody>
          <a:bodyPr wrap="square" lIns="251" tIns="251" rIns="251" bIns="251"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2993A"/>
                </a:solidFill>
                <a:effectLst/>
                <a:uLnTx/>
                <a:uFillTx/>
                <a:latin typeface="Arial Narrow" panose="020B0606020202030204" pitchFamily="34" charset="0"/>
                <a:ea typeface="LG스마트체 Regular" panose="020B0600000101010101" pitchFamily="50" charset="-127"/>
                <a:cs typeface="Malgun Gothic" pitchFamily="34" charset="-120"/>
              </a:rPr>
              <a:t>DTW : Dynamic Time Warping</a:t>
            </a:r>
            <a:endParaRPr kumimoji="0" lang="en-US" sz="12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3" name="Text 39">
            <a:extLst>
              <a:ext uri="{FF2B5EF4-FFF2-40B4-BE49-F238E27FC236}">
                <a16:creationId xmlns:a16="http://schemas.microsoft.com/office/drawing/2014/main" id="{17203BE0-C431-395A-AE22-E472AEE9CCA3}"/>
              </a:ext>
            </a:extLst>
          </p:cNvPr>
          <p:cNvSpPr/>
          <p:nvPr/>
        </p:nvSpPr>
        <p:spPr>
          <a:xfrm>
            <a:off x="5205786" y="4848574"/>
            <a:ext cx="2508288" cy="431654"/>
          </a:xfrm>
          <a:prstGeom prst="rect">
            <a:avLst/>
          </a:prstGeom>
          <a:noFill/>
          <a:ln/>
        </p:spPr>
        <p:txBody>
          <a:bodyPr wrap="square" lIns="377" tIns="377" rIns="377" bIns="377"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Stop&amp;Go</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Group별</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가속</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응답</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패턴이</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조금</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늦거나</a:t>
            </a:r>
            <a:endPar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길이가</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달라도</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모양이</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비슷한지</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비교</a:t>
            </a:r>
            <a:endPar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4" name="Shape 40">
            <a:extLst>
              <a:ext uri="{FF2B5EF4-FFF2-40B4-BE49-F238E27FC236}">
                <a16:creationId xmlns:a16="http://schemas.microsoft.com/office/drawing/2014/main" id="{3C500BD9-5A9C-C194-87FD-311538445CA5}"/>
              </a:ext>
            </a:extLst>
          </p:cNvPr>
          <p:cNvSpPr/>
          <p:nvPr/>
        </p:nvSpPr>
        <p:spPr>
          <a:xfrm>
            <a:off x="7650373" y="6068828"/>
            <a:ext cx="1552750" cy="0"/>
          </a:xfrm>
          <a:prstGeom prst="line">
            <a:avLst/>
          </a:prstGeom>
          <a:noFill/>
          <a:ln w="12700">
            <a:solidFill>
              <a:srgbClr val="60708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5" name="Shape 41">
            <a:extLst>
              <a:ext uri="{FF2B5EF4-FFF2-40B4-BE49-F238E27FC236}">
                <a16:creationId xmlns:a16="http://schemas.microsoft.com/office/drawing/2014/main" id="{E724E1E1-C22D-8229-C699-10EB52D6C63A}"/>
              </a:ext>
            </a:extLst>
          </p:cNvPr>
          <p:cNvSpPr/>
          <p:nvPr/>
        </p:nvSpPr>
        <p:spPr>
          <a:xfrm>
            <a:off x="7650373" y="5006294"/>
            <a:ext cx="0" cy="1062534"/>
          </a:xfrm>
          <a:prstGeom prst="line">
            <a:avLst/>
          </a:prstGeom>
          <a:noFill/>
          <a:ln w="12700">
            <a:solidFill>
              <a:srgbClr val="60708A"/>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6" name="Shape 42">
            <a:extLst>
              <a:ext uri="{FF2B5EF4-FFF2-40B4-BE49-F238E27FC236}">
                <a16:creationId xmlns:a16="http://schemas.microsoft.com/office/drawing/2014/main" id="{72BDA4CD-29D1-4DAD-8435-7ED9EECF94B2}"/>
              </a:ext>
            </a:extLst>
          </p:cNvPr>
          <p:cNvSpPr/>
          <p:nvPr/>
        </p:nvSpPr>
        <p:spPr>
          <a:xfrm>
            <a:off x="7722038" y="5861302"/>
            <a:ext cx="246847" cy="0"/>
          </a:xfrm>
          <a:prstGeom prst="line">
            <a:avLst/>
          </a:prstGeom>
          <a:noFill/>
          <a:ln w="25400">
            <a:solidFill>
              <a:srgbClr val="2F80ED"/>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7" name="Shape 43">
            <a:extLst>
              <a:ext uri="{FF2B5EF4-FFF2-40B4-BE49-F238E27FC236}">
                <a16:creationId xmlns:a16="http://schemas.microsoft.com/office/drawing/2014/main" id="{4D8FC55E-D2BA-C685-A52F-411F216C48B0}"/>
              </a:ext>
            </a:extLst>
          </p:cNvPr>
          <p:cNvSpPr/>
          <p:nvPr/>
        </p:nvSpPr>
        <p:spPr>
          <a:xfrm>
            <a:off x="7968886" y="5836399"/>
            <a:ext cx="262773" cy="0"/>
          </a:xfrm>
          <a:prstGeom prst="line">
            <a:avLst/>
          </a:prstGeom>
          <a:noFill/>
          <a:ln w="25400">
            <a:solidFill>
              <a:srgbClr val="2F80ED"/>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8" name="Shape 44">
            <a:extLst>
              <a:ext uri="{FF2B5EF4-FFF2-40B4-BE49-F238E27FC236}">
                <a16:creationId xmlns:a16="http://schemas.microsoft.com/office/drawing/2014/main" id="{9AA30AD4-F6A5-39F8-A95C-D0BFCA410572}"/>
              </a:ext>
            </a:extLst>
          </p:cNvPr>
          <p:cNvSpPr/>
          <p:nvPr/>
        </p:nvSpPr>
        <p:spPr>
          <a:xfrm>
            <a:off x="8231659" y="5645475"/>
            <a:ext cx="254810" cy="0"/>
          </a:xfrm>
          <a:prstGeom prst="line">
            <a:avLst/>
          </a:prstGeom>
          <a:noFill/>
          <a:ln w="25400">
            <a:solidFill>
              <a:srgbClr val="2F80ED"/>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29" name="Shape 45">
            <a:extLst>
              <a:ext uri="{FF2B5EF4-FFF2-40B4-BE49-F238E27FC236}">
                <a16:creationId xmlns:a16="http://schemas.microsoft.com/office/drawing/2014/main" id="{C1DB2C80-21C2-2427-795C-D102B66D8D49}"/>
              </a:ext>
            </a:extLst>
          </p:cNvPr>
          <p:cNvSpPr/>
          <p:nvPr/>
        </p:nvSpPr>
        <p:spPr>
          <a:xfrm>
            <a:off x="8486469" y="5255326"/>
            <a:ext cx="254810" cy="0"/>
          </a:xfrm>
          <a:prstGeom prst="line">
            <a:avLst/>
          </a:prstGeom>
          <a:noFill/>
          <a:ln w="25400">
            <a:solidFill>
              <a:srgbClr val="2F80ED"/>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0" name="Shape 46">
            <a:extLst>
              <a:ext uri="{FF2B5EF4-FFF2-40B4-BE49-F238E27FC236}">
                <a16:creationId xmlns:a16="http://schemas.microsoft.com/office/drawing/2014/main" id="{B7166349-240C-D156-AF86-20C8A5B6B09E}"/>
              </a:ext>
            </a:extLst>
          </p:cNvPr>
          <p:cNvSpPr/>
          <p:nvPr/>
        </p:nvSpPr>
        <p:spPr>
          <a:xfrm>
            <a:off x="8741279" y="5172315"/>
            <a:ext cx="318513" cy="0"/>
          </a:xfrm>
          <a:prstGeom prst="line">
            <a:avLst/>
          </a:prstGeom>
          <a:noFill/>
          <a:ln w="25400">
            <a:solidFill>
              <a:srgbClr val="2F80ED"/>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1" name="Shape 47">
            <a:extLst>
              <a:ext uri="{FF2B5EF4-FFF2-40B4-BE49-F238E27FC236}">
                <a16:creationId xmlns:a16="http://schemas.microsoft.com/office/drawing/2014/main" id="{6873CDB3-8414-B5D7-06F5-37DF34633BF6}"/>
              </a:ext>
            </a:extLst>
          </p:cNvPr>
          <p:cNvSpPr/>
          <p:nvPr/>
        </p:nvSpPr>
        <p:spPr>
          <a:xfrm>
            <a:off x="7722038" y="5977516"/>
            <a:ext cx="270736" cy="0"/>
          </a:xfrm>
          <a:prstGeom prst="line">
            <a:avLst/>
          </a:prstGeom>
          <a:noFill/>
          <a:ln w="25400">
            <a:solidFill>
              <a:srgbClr val="6B62D6"/>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2" name="Shape 48">
            <a:extLst>
              <a:ext uri="{FF2B5EF4-FFF2-40B4-BE49-F238E27FC236}">
                <a16:creationId xmlns:a16="http://schemas.microsoft.com/office/drawing/2014/main" id="{C15194AB-A85D-748D-0E6C-D9C48CB18313}"/>
              </a:ext>
            </a:extLst>
          </p:cNvPr>
          <p:cNvSpPr/>
          <p:nvPr/>
        </p:nvSpPr>
        <p:spPr>
          <a:xfrm>
            <a:off x="7992774" y="5977516"/>
            <a:ext cx="270736" cy="0"/>
          </a:xfrm>
          <a:prstGeom prst="line">
            <a:avLst/>
          </a:prstGeom>
          <a:noFill/>
          <a:ln w="25400">
            <a:solidFill>
              <a:srgbClr val="6B62D6"/>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3" name="Shape 49">
            <a:extLst>
              <a:ext uri="{FF2B5EF4-FFF2-40B4-BE49-F238E27FC236}">
                <a16:creationId xmlns:a16="http://schemas.microsoft.com/office/drawing/2014/main" id="{7A37D160-1AA2-B03D-0890-88CFE06BE5BD}"/>
              </a:ext>
            </a:extLst>
          </p:cNvPr>
          <p:cNvSpPr/>
          <p:nvPr/>
        </p:nvSpPr>
        <p:spPr>
          <a:xfrm>
            <a:off x="8263510" y="5811495"/>
            <a:ext cx="262773" cy="0"/>
          </a:xfrm>
          <a:prstGeom prst="line">
            <a:avLst/>
          </a:prstGeom>
          <a:noFill/>
          <a:ln w="25400">
            <a:solidFill>
              <a:srgbClr val="6B62D6"/>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4" name="Shape 50">
            <a:extLst>
              <a:ext uri="{FF2B5EF4-FFF2-40B4-BE49-F238E27FC236}">
                <a16:creationId xmlns:a16="http://schemas.microsoft.com/office/drawing/2014/main" id="{0A2BE1C0-5974-D173-9F0C-676197258A8D}"/>
              </a:ext>
            </a:extLst>
          </p:cNvPr>
          <p:cNvSpPr/>
          <p:nvPr/>
        </p:nvSpPr>
        <p:spPr>
          <a:xfrm>
            <a:off x="8526283" y="5570765"/>
            <a:ext cx="262773" cy="0"/>
          </a:xfrm>
          <a:prstGeom prst="line">
            <a:avLst/>
          </a:prstGeom>
          <a:noFill/>
          <a:ln w="25400">
            <a:solidFill>
              <a:srgbClr val="6B62D6"/>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5" name="Shape 51">
            <a:extLst>
              <a:ext uri="{FF2B5EF4-FFF2-40B4-BE49-F238E27FC236}">
                <a16:creationId xmlns:a16="http://schemas.microsoft.com/office/drawing/2014/main" id="{8B282A44-A4CA-E431-EB27-1556E108C256}"/>
              </a:ext>
            </a:extLst>
          </p:cNvPr>
          <p:cNvSpPr/>
          <p:nvPr/>
        </p:nvSpPr>
        <p:spPr>
          <a:xfrm>
            <a:off x="8789056" y="5238723"/>
            <a:ext cx="270736" cy="0"/>
          </a:xfrm>
          <a:prstGeom prst="line">
            <a:avLst/>
          </a:prstGeom>
          <a:noFill/>
          <a:ln w="25400">
            <a:solidFill>
              <a:srgbClr val="6B62D6"/>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6" name="Shape 52">
            <a:extLst>
              <a:ext uri="{FF2B5EF4-FFF2-40B4-BE49-F238E27FC236}">
                <a16:creationId xmlns:a16="http://schemas.microsoft.com/office/drawing/2014/main" id="{D93A1086-542C-36F6-2F2F-599460EDD502}"/>
              </a:ext>
            </a:extLst>
          </p:cNvPr>
          <p:cNvSpPr/>
          <p:nvPr/>
        </p:nvSpPr>
        <p:spPr>
          <a:xfrm>
            <a:off x="7968886" y="5836399"/>
            <a:ext cx="294624" cy="0"/>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7" name="Shape 53">
            <a:extLst>
              <a:ext uri="{FF2B5EF4-FFF2-40B4-BE49-F238E27FC236}">
                <a16:creationId xmlns:a16="http://schemas.microsoft.com/office/drawing/2014/main" id="{8D027143-D44C-6CB8-BAA7-413C1FA5F044}"/>
              </a:ext>
            </a:extLst>
          </p:cNvPr>
          <p:cNvSpPr/>
          <p:nvPr/>
        </p:nvSpPr>
        <p:spPr>
          <a:xfrm>
            <a:off x="8231659" y="5645475"/>
            <a:ext cx="294624" cy="0"/>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8" name="Shape 54">
            <a:extLst>
              <a:ext uri="{FF2B5EF4-FFF2-40B4-BE49-F238E27FC236}">
                <a16:creationId xmlns:a16="http://schemas.microsoft.com/office/drawing/2014/main" id="{2CCDED25-0EF0-687D-D9D5-809E256978C2}"/>
              </a:ext>
            </a:extLst>
          </p:cNvPr>
          <p:cNvSpPr/>
          <p:nvPr/>
        </p:nvSpPr>
        <p:spPr>
          <a:xfrm>
            <a:off x="8486469" y="5255326"/>
            <a:ext cx="302587" cy="0"/>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39" name="Shape 55">
            <a:extLst>
              <a:ext uri="{FF2B5EF4-FFF2-40B4-BE49-F238E27FC236}">
                <a16:creationId xmlns:a16="http://schemas.microsoft.com/office/drawing/2014/main" id="{53F23F35-6D1A-830A-A512-02F328471A3B}"/>
              </a:ext>
            </a:extLst>
          </p:cNvPr>
          <p:cNvSpPr/>
          <p:nvPr/>
        </p:nvSpPr>
        <p:spPr>
          <a:xfrm>
            <a:off x="8741279" y="5172315"/>
            <a:ext cx="318513" cy="49806"/>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0" name="Text 56">
            <a:extLst>
              <a:ext uri="{FF2B5EF4-FFF2-40B4-BE49-F238E27FC236}">
                <a16:creationId xmlns:a16="http://schemas.microsoft.com/office/drawing/2014/main" id="{64A49E99-95C8-0429-CD9C-12A19E7F47EC}"/>
              </a:ext>
            </a:extLst>
          </p:cNvPr>
          <p:cNvSpPr/>
          <p:nvPr/>
        </p:nvSpPr>
        <p:spPr>
          <a:xfrm>
            <a:off x="9107569" y="5006294"/>
            <a:ext cx="437955" cy="132817"/>
          </a:xfrm>
          <a:prstGeom prst="rect">
            <a:avLst/>
          </a:prstGeom>
          <a:noFill/>
          <a:ln/>
        </p:spPr>
        <p:txBody>
          <a:bodyPr wrap="square" lIns="251" tIns="251" rIns="251" bIns="251" rtlCol="0" anchor="ctr">
            <a:no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Group A</a:t>
            </a:r>
            <a:endParaRPr kumimoji="0" 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1" name="Text 57">
            <a:extLst>
              <a:ext uri="{FF2B5EF4-FFF2-40B4-BE49-F238E27FC236}">
                <a16:creationId xmlns:a16="http://schemas.microsoft.com/office/drawing/2014/main" id="{A7F88E5D-1679-AEAC-3183-6B2D87D7231C}"/>
              </a:ext>
            </a:extLst>
          </p:cNvPr>
          <p:cNvSpPr/>
          <p:nvPr/>
        </p:nvSpPr>
        <p:spPr>
          <a:xfrm>
            <a:off x="9107569" y="5197218"/>
            <a:ext cx="437955" cy="132817"/>
          </a:xfrm>
          <a:prstGeom prst="rect">
            <a:avLst/>
          </a:prstGeom>
          <a:noFill/>
          <a:ln/>
        </p:spPr>
        <p:txBody>
          <a:bodyPr wrap="square" lIns="251" tIns="251" rIns="251" bIns="251" rtlCol="0" anchor="ctr">
            <a:no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6B62D6"/>
                </a:solidFill>
                <a:effectLst/>
                <a:uLnTx/>
                <a:uFillTx/>
                <a:latin typeface="Arial Narrow" panose="020B0606020202030204" pitchFamily="34" charset="0"/>
                <a:ea typeface="LG스마트체 Regular" panose="020B0600000101010101" pitchFamily="50" charset="-127"/>
                <a:cs typeface="Malgun Gothic" pitchFamily="34" charset="-120"/>
              </a:rPr>
              <a:t>Group B</a:t>
            </a:r>
            <a:endParaRPr kumimoji="0" 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2" name="Text 58">
            <a:extLst>
              <a:ext uri="{FF2B5EF4-FFF2-40B4-BE49-F238E27FC236}">
                <a16:creationId xmlns:a16="http://schemas.microsoft.com/office/drawing/2014/main" id="{8FDBF4ED-6E50-178B-94A1-CE37BDBDEA6F}"/>
              </a:ext>
            </a:extLst>
          </p:cNvPr>
          <p:cNvSpPr/>
          <p:nvPr/>
        </p:nvSpPr>
        <p:spPr>
          <a:xfrm>
            <a:off x="7889257" y="6193343"/>
            <a:ext cx="1194423" cy="149419"/>
          </a:xfrm>
          <a:prstGeom prst="rect">
            <a:avLst/>
          </a:prstGeom>
          <a:noFill/>
          <a:ln/>
        </p:spPr>
        <p:txBody>
          <a:bodyPr wrap="square" lIns="251" tIns="251" rIns="251" bIns="251" rtlCol="0" anchor="ctr">
            <a:noAutofit/>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패턴 유사도 비교</a:t>
            </a:r>
            <a:endParaRPr kumimoji="0" lang="en-US" sz="10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3" name="Text 59">
            <a:extLst>
              <a:ext uri="{FF2B5EF4-FFF2-40B4-BE49-F238E27FC236}">
                <a16:creationId xmlns:a16="http://schemas.microsoft.com/office/drawing/2014/main" id="{4F2462FA-68EC-6F82-DDBD-67DE75A15FC1}"/>
              </a:ext>
            </a:extLst>
          </p:cNvPr>
          <p:cNvSpPr/>
          <p:nvPr/>
        </p:nvSpPr>
        <p:spPr>
          <a:xfrm>
            <a:off x="5237637" y="5919409"/>
            <a:ext cx="2388846" cy="456557"/>
          </a:xfrm>
          <a:prstGeom prst="rect">
            <a:avLst/>
          </a:prstGeom>
          <a:noFill/>
          <a:ln/>
        </p:spPr>
        <p:txBody>
          <a:bodyPr wrap="square" lIns="377" tIns="377" rIns="377" bIns="377"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활용</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속도·보정량</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패턴을</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DTW로</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군집화하고</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군집별</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NG율</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검사값</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차이를</a:t>
            </a:r>
            <a:r>
              <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rPr>
              <a:t>비교</a:t>
            </a:r>
            <a:endParaRPr kumimoji="1" lang="en-US" sz="1000" b="0" i="0" u="none" strike="noStrike" kern="120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mn-cs"/>
            </a:endParaRPr>
          </a:p>
        </p:txBody>
      </p:sp>
      <p:grpSp>
        <p:nvGrpSpPr>
          <p:cNvPr id="144" name="그룹 143">
            <a:extLst>
              <a:ext uri="{FF2B5EF4-FFF2-40B4-BE49-F238E27FC236}">
                <a16:creationId xmlns:a16="http://schemas.microsoft.com/office/drawing/2014/main" id="{7A40A8D6-8658-978E-897D-410129BD4475}"/>
              </a:ext>
            </a:extLst>
          </p:cNvPr>
          <p:cNvGrpSpPr/>
          <p:nvPr/>
        </p:nvGrpSpPr>
        <p:grpSpPr>
          <a:xfrm>
            <a:off x="1169739" y="1454944"/>
            <a:ext cx="479644" cy="207823"/>
            <a:chOff x="2186973" y="2129150"/>
            <a:chExt cx="484640" cy="209988"/>
          </a:xfrm>
        </p:grpSpPr>
        <p:sp>
          <p:nvSpPr>
            <p:cNvPr id="145" name="Shape 31">
              <a:extLst>
                <a:ext uri="{FF2B5EF4-FFF2-40B4-BE49-F238E27FC236}">
                  <a16:creationId xmlns:a16="http://schemas.microsoft.com/office/drawing/2014/main" id="{319F9372-3F1B-B24C-2750-EB338BB2D2D4}"/>
                </a:ext>
              </a:extLst>
            </p:cNvPr>
            <p:cNvSpPr/>
            <p:nvPr/>
          </p:nvSpPr>
          <p:spPr>
            <a:xfrm>
              <a:off x="2186973" y="2129150"/>
              <a:ext cx="484640" cy="209988"/>
            </a:xfrm>
            <a:prstGeom prst="roundRect">
              <a:avLst>
                <a:gd name="adj" fmla="val 23077"/>
              </a:avLst>
            </a:prstGeom>
            <a:solidFill>
              <a:srgbClr val="EAF3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6" name="Text 32">
              <a:extLst>
                <a:ext uri="{FF2B5EF4-FFF2-40B4-BE49-F238E27FC236}">
                  <a16:creationId xmlns:a16="http://schemas.microsoft.com/office/drawing/2014/main" id="{95A799F0-656F-7CC7-9C0D-DCD5AC027ECB}"/>
                </a:ext>
              </a:extLst>
            </p:cNvPr>
            <p:cNvSpPr/>
            <p:nvPr/>
          </p:nvSpPr>
          <p:spPr>
            <a:xfrm>
              <a:off x="2203128" y="2185685"/>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NG율</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grpSp>
        <p:nvGrpSpPr>
          <p:cNvPr id="147" name="그룹 146">
            <a:extLst>
              <a:ext uri="{FF2B5EF4-FFF2-40B4-BE49-F238E27FC236}">
                <a16:creationId xmlns:a16="http://schemas.microsoft.com/office/drawing/2014/main" id="{D2228304-CF82-9099-6752-0A6C9CD4E322}"/>
              </a:ext>
            </a:extLst>
          </p:cNvPr>
          <p:cNvGrpSpPr/>
          <p:nvPr/>
        </p:nvGrpSpPr>
        <p:grpSpPr>
          <a:xfrm>
            <a:off x="2516104" y="1454944"/>
            <a:ext cx="479644" cy="207823"/>
            <a:chOff x="2671614" y="2129150"/>
            <a:chExt cx="484640" cy="209988"/>
          </a:xfrm>
        </p:grpSpPr>
        <p:sp>
          <p:nvSpPr>
            <p:cNvPr id="148" name="Shape 33">
              <a:extLst>
                <a:ext uri="{FF2B5EF4-FFF2-40B4-BE49-F238E27FC236}">
                  <a16:creationId xmlns:a16="http://schemas.microsoft.com/office/drawing/2014/main" id="{80711484-375D-2025-27F2-F295E77D6416}"/>
                </a:ext>
              </a:extLst>
            </p:cNvPr>
            <p:cNvSpPr/>
            <p:nvPr/>
          </p:nvSpPr>
          <p:spPr>
            <a:xfrm>
              <a:off x="2671614" y="2129150"/>
              <a:ext cx="484640" cy="209988"/>
            </a:xfrm>
            <a:prstGeom prst="roundRect">
              <a:avLst>
                <a:gd name="adj" fmla="val 23077"/>
              </a:avLst>
            </a:prstGeom>
            <a:solidFill>
              <a:srgbClr val="E7F8F5"/>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49" name="Text 34">
              <a:extLst>
                <a:ext uri="{FF2B5EF4-FFF2-40B4-BE49-F238E27FC236}">
                  <a16:creationId xmlns:a16="http://schemas.microsoft.com/office/drawing/2014/main" id="{8B38BED4-FE16-C2C0-57E1-4A228EF787FF}"/>
                </a:ext>
              </a:extLst>
            </p:cNvPr>
            <p:cNvSpPr/>
            <p:nvPr/>
          </p:nvSpPr>
          <p:spPr>
            <a:xfrm>
              <a:off x="2687768" y="2185685"/>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측정값</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
        <p:nvSpPr>
          <p:cNvPr id="150" name="Text 35">
            <a:extLst>
              <a:ext uri="{FF2B5EF4-FFF2-40B4-BE49-F238E27FC236}">
                <a16:creationId xmlns:a16="http://schemas.microsoft.com/office/drawing/2014/main" id="{1AAD8812-6584-E6E9-65B8-BC7143990386}"/>
              </a:ext>
            </a:extLst>
          </p:cNvPr>
          <p:cNvSpPr/>
          <p:nvPr/>
        </p:nvSpPr>
        <p:spPr>
          <a:xfrm>
            <a:off x="386169" y="3584544"/>
            <a:ext cx="3324013" cy="519558"/>
          </a:xfrm>
          <a:prstGeom prst="rect">
            <a:avLst/>
          </a:prstGeom>
          <a:noFill/>
          <a:ln/>
        </p:spPr>
        <p:txBody>
          <a:bodyPr wrap="square" lIns="377" tIns="377" rIns="377" bIns="377"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PV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항목이</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많고</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Sequence별</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패턴이</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겹쳐</a:t>
            </a:r>
            <a:endPar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2491"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눈으로는</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진짜</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영향</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인자”와</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동시에</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흔든</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인자”를</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구분하기</a:t>
            </a:r>
            <a:r>
              <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1" lang="en-US" sz="10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rPr>
              <a:t>어려움</a:t>
            </a:r>
            <a:endParaRPr kumimoji="1" 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1" name="Shape 36">
            <a:extLst>
              <a:ext uri="{FF2B5EF4-FFF2-40B4-BE49-F238E27FC236}">
                <a16:creationId xmlns:a16="http://schemas.microsoft.com/office/drawing/2014/main" id="{9F31FA0E-8553-4F6A-32B8-0B8C9B7416CA}"/>
              </a:ext>
            </a:extLst>
          </p:cNvPr>
          <p:cNvSpPr/>
          <p:nvPr/>
        </p:nvSpPr>
        <p:spPr>
          <a:xfrm>
            <a:off x="3389431" y="2499997"/>
            <a:ext cx="599555" cy="0"/>
          </a:xfrm>
          <a:prstGeom prst="line">
            <a:avLst/>
          </a:prstGeom>
          <a:noFill/>
          <a:ln w="20320">
            <a:solidFill>
              <a:srgbClr val="D5DEE9"/>
            </a:solidFill>
            <a:prstDash val="solid"/>
            <a:headEnd type="none"/>
            <a:tailEnd type="triangle"/>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2" name="Shape 37">
            <a:extLst>
              <a:ext uri="{FF2B5EF4-FFF2-40B4-BE49-F238E27FC236}">
                <a16:creationId xmlns:a16="http://schemas.microsoft.com/office/drawing/2014/main" id="{F00AA506-3FFD-8578-CEC4-0CB3D2B9F9D2}"/>
              </a:ext>
            </a:extLst>
          </p:cNvPr>
          <p:cNvSpPr/>
          <p:nvPr/>
        </p:nvSpPr>
        <p:spPr>
          <a:xfrm>
            <a:off x="4084915" y="1600591"/>
            <a:ext cx="1758694" cy="2517855"/>
          </a:xfrm>
          <a:prstGeom prst="trapezoid">
            <a:avLst/>
          </a:prstGeom>
          <a:solidFill>
            <a:srgbClr val="EEF4FF"/>
          </a:solid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3" name="Text 38">
            <a:extLst>
              <a:ext uri="{FF2B5EF4-FFF2-40B4-BE49-F238E27FC236}">
                <a16:creationId xmlns:a16="http://schemas.microsoft.com/office/drawing/2014/main" id="{64811008-615E-B31A-8A99-F87C22F2281F}"/>
              </a:ext>
            </a:extLst>
          </p:cNvPr>
          <p:cNvSpPr/>
          <p:nvPr/>
        </p:nvSpPr>
        <p:spPr>
          <a:xfrm>
            <a:off x="4348720" y="1840388"/>
            <a:ext cx="1239080" cy="199829"/>
          </a:xfrm>
          <a:prstGeom prst="rect">
            <a:avLst/>
          </a:prstGeom>
          <a:noFill/>
          <a:ln/>
        </p:spPr>
        <p:txBody>
          <a:bodyPr wrap="square" lIns="251" tIns="251" rIns="251" bIns="251" rtlCol="0" anchor="ctr">
            <a:normAutofit fontScale="92500" lnSpcReduction="1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485" b="1" i="0" u="none" strike="noStrike" kern="1200" cap="none" spc="0" normalizeH="0" baseline="0" noProof="0" dirty="0" err="1">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분석</a:t>
            </a:r>
            <a:r>
              <a:rPr kumimoji="0" lang="en-US" sz="1485" b="1" i="0" u="none" strike="noStrike" kern="1200" cap="none" spc="0" normalizeH="0" baseline="0" noProof="0" dirty="0">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ko-KR" altLang="en-US" sz="1485" b="1" i="0" u="none" strike="noStrike" kern="1200" cap="none" spc="0" normalizeH="0" baseline="0" noProof="0" dirty="0">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모델</a:t>
            </a:r>
            <a:endParaRPr kumimoji="0" lang="en-US" sz="1485"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4" name="Text 39">
            <a:extLst>
              <a:ext uri="{FF2B5EF4-FFF2-40B4-BE49-F238E27FC236}">
                <a16:creationId xmlns:a16="http://schemas.microsoft.com/office/drawing/2014/main" id="{593127EF-4486-334B-15B6-768CF9AF396F}"/>
              </a:ext>
            </a:extLst>
          </p:cNvPr>
          <p:cNvSpPr/>
          <p:nvPr/>
        </p:nvSpPr>
        <p:spPr>
          <a:xfrm>
            <a:off x="4324736" y="2264025"/>
            <a:ext cx="1279051" cy="287755"/>
          </a:xfrm>
          <a:prstGeom prst="rect">
            <a:avLst/>
          </a:prstGeom>
          <a:noFill/>
          <a:ln/>
        </p:spPr>
        <p:txBody>
          <a:bodyPr wrap="square" lIns="251" tIns="251" rIns="251" bIns="251" rtlCol="0" anchor="ctr">
            <a:normAutofit fontScale="92500" lnSpcReduction="1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① CCF</a:t>
            </a:r>
            <a:endParaRPr kumimoji="0" lang="en-US" sz="108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lag </a:t>
            </a: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후보</a:t>
            </a: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탐색</a:t>
            </a:r>
            <a:endParaRPr kumimoji="0" lang="en-US" sz="108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5" name="Text 40">
            <a:extLst>
              <a:ext uri="{FF2B5EF4-FFF2-40B4-BE49-F238E27FC236}">
                <a16:creationId xmlns:a16="http://schemas.microsoft.com/office/drawing/2014/main" id="{DC678670-3EF0-D57E-DE47-6C775EB80EC6}"/>
              </a:ext>
            </a:extLst>
          </p:cNvPr>
          <p:cNvSpPr/>
          <p:nvPr/>
        </p:nvSpPr>
        <p:spPr>
          <a:xfrm>
            <a:off x="4292761" y="2799569"/>
            <a:ext cx="1343002" cy="287755"/>
          </a:xfrm>
          <a:prstGeom prst="rect">
            <a:avLst/>
          </a:prstGeom>
          <a:noFill/>
          <a:ln/>
        </p:spPr>
        <p:txBody>
          <a:bodyPr wrap="square" lIns="251" tIns="251" rIns="251" bIns="251" rtlCol="0" anchor="ctr">
            <a:normAutofit fontScale="92500" lnSpcReduction="1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② DTW</a:t>
            </a:r>
            <a:endParaRPr kumimoji="0" lang="en-US" sz="108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응답</a:t>
            </a: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패턴</a:t>
            </a: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군집</a:t>
            </a:r>
            <a:endParaRPr kumimoji="0" lang="en-US" sz="108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6" name="Text 41">
            <a:extLst>
              <a:ext uri="{FF2B5EF4-FFF2-40B4-BE49-F238E27FC236}">
                <a16:creationId xmlns:a16="http://schemas.microsoft.com/office/drawing/2014/main" id="{56737EB1-476E-5D8B-DB5E-C1C06ABA5BEB}"/>
              </a:ext>
            </a:extLst>
          </p:cNvPr>
          <p:cNvSpPr/>
          <p:nvPr/>
        </p:nvSpPr>
        <p:spPr>
          <a:xfrm>
            <a:off x="4212819" y="3335113"/>
            <a:ext cx="1518872" cy="287755"/>
          </a:xfrm>
          <a:prstGeom prst="rect">
            <a:avLst/>
          </a:prstGeom>
          <a:noFill/>
          <a:ln/>
        </p:spPr>
        <p:txBody>
          <a:bodyPr wrap="square" lIns="251" tIns="251" rIns="251" bIns="251" rtlCol="0" anchor="ctr">
            <a:normAutofit fontScale="92500" lnSpcReduction="1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③ SHAP</a:t>
            </a:r>
            <a:endParaRPr kumimoji="0" lang="en-US" sz="108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Sequence별</a:t>
            </a:r>
            <a:r>
              <a:rPr kumimoji="0" lang="en-US" sz="1089" b="1" i="0" u="none" strike="noStrike" kern="1200" cap="none" spc="0" normalizeH="0" baseline="0" noProof="0" dirty="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1089"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영향도</a:t>
            </a:r>
            <a:endParaRPr kumimoji="0" lang="en-US" sz="108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7" name="Shape 42">
            <a:extLst>
              <a:ext uri="{FF2B5EF4-FFF2-40B4-BE49-F238E27FC236}">
                <a16:creationId xmlns:a16="http://schemas.microsoft.com/office/drawing/2014/main" id="{09863DAF-50C2-0E36-71DE-CD15093A8A0D}"/>
              </a:ext>
            </a:extLst>
          </p:cNvPr>
          <p:cNvSpPr/>
          <p:nvPr/>
        </p:nvSpPr>
        <p:spPr>
          <a:xfrm>
            <a:off x="5947531" y="2499997"/>
            <a:ext cx="599555" cy="0"/>
          </a:xfrm>
          <a:prstGeom prst="line">
            <a:avLst/>
          </a:prstGeom>
          <a:noFill/>
          <a:ln w="20320">
            <a:solidFill>
              <a:srgbClr val="D5DEE9"/>
            </a:solidFill>
            <a:prstDash val="solid"/>
            <a:headEnd type="none"/>
            <a:tailEnd type="triangle"/>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8" name="Shape 44">
            <a:extLst>
              <a:ext uri="{FF2B5EF4-FFF2-40B4-BE49-F238E27FC236}">
                <a16:creationId xmlns:a16="http://schemas.microsoft.com/office/drawing/2014/main" id="{B4E7CFD4-D7F5-149E-0FF0-109D384F741E}"/>
              </a:ext>
            </a:extLst>
          </p:cNvPr>
          <p:cNvSpPr/>
          <p:nvPr/>
        </p:nvSpPr>
        <p:spPr>
          <a:xfrm>
            <a:off x="6706967" y="1352453"/>
            <a:ext cx="2837893" cy="0"/>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59" name="Shape 45">
            <a:extLst>
              <a:ext uri="{FF2B5EF4-FFF2-40B4-BE49-F238E27FC236}">
                <a16:creationId xmlns:a16="http://schemas.microsoft.com/office/drawing/2014/main" id="{DB7DBF5F-61C9-6B75-C42E-6D3F4DFCBC0A}"/>
              </a:ext>
            </a:extLst>
          </p:cNvPr>
          <p:cNvSpPr/>
          <p:nvPr/>
        </p:nvSpPr>
        <p:spPr>
          <a:xfrm>
            <a:off x="6746940" y="1460883"/>
            <a:ext cx="2678011" cy="575510"/>
          </a:xfrm>
          <a:prstGeom prst="roundRect">
            <a:avLst>
              <a:gd name="adj" fmla="val 11111"/>
            </a:avLst>
          </a:prstGeom>
          <a:solidFill>
            <a:srgbClr val="FFFF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0" name="Text 46">
            <a:extLst>
              <a:ext uri="{FF2B5EF4-FFF2-40B4-BE49-F238E27FC236}">
                <a16:creationId xmlns:a16="http://schemas.microsoft.com/office/drawing/2014/main" id="{83603D75-E6B2-C8F5-2CAF-BF4EC62C70A6}"/>
              </a:ext>
            </a:extLst>
          </p:cNvPr>
          <p:cNvSpPr/>
          <p:nvPr/>
        </p:nvSpPr>
        <p:spPr>
          <a:xfrm>
            <a:off x="6906819" y="1596767"/>
            <a:ext cx="2238338" cy="119898"/>
          </a:xfrm>
          <a:prstGeom prst="rect">
            <a:avLst/>
          </a:prstGeom>
          <a:noFill/>
          <a:ln/>
        </p:spPr>
        <p:txBody>
          <a:bodyPr wrap="square" lIns="251" tIns="251" rIns="251" bIns="251" rtlCol="0" anchor="ctr">
            <a:normAutofit fontScale="70000" lnSpcReduction="2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87" b="1" i="0" u="none" strike="noStrike" kern="1200" cap="none" spc="0" normalizeH="0" baseline="0" noProof="0" dirty="0" err="1">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Sequence별</a:t>
            </a:r>
            <a:r>
              <a:rPr kumimoji="0" lang="en-US" sz="1287" b="1" i="0" u="none" strike="noStrike" kern="1200" cap="none" spc="0" normalizeH="0" baseline="0" noProof="0" dirty="0">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1287" b="1" i="0" u="none" strike="noStrike" kern="1200" cap="none" spc="0" normalizeH="0" baseline="0" noProof="0" dirty="0" err="1">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핵심</a:t>
            </a:r>
            <a:r>
              <a:rPr kumimoji="0" lang="en-US" sz="1287" b="1" i="0" u="none" strike="noStrike" kern="1200" cap="none" spc="0" normalizeH="0" baseline="0" noProof="0" dirty="0">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 PV </a:t>
            </a:r>
            <a:r>
              <a:rPr kumimoji="0" lang="en-US" sz="1287" b="1" i="0" u="none" strike="noStrike" kern="1200" cap="none" spc="0" normalizeH="0" baseline="0" noProof="0" dirty="0" err="1">
                <a:ln>
                  <a:noFill/>
                </a:ln>
                <a:solidFill>
                  <a:srgbClr val="2F80ED"/>
                </a:solidFill>
                <a:effectLst/>
                <a:uLnTx/>
                <a:uFillTx/>
                <a:latin typeface="Arial Narrow" panose="020B0606020202030204" pitchFamily="34" charset="0"/>
                <a:ea typeface="LG스마트체 Regular" panose="020B0600000101010101" pitchFamily="50" charset="-127"/>
                <a:cs typeface="Malgun Gothic" pitchFamily="34" charset="-120"/>
              </a:rPr>
              <a:t>후보</a:t>
            </a:r>
            <a:endParaRPr kumimoji="0" lang="en-US" sz="1287"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1" name="Text 47">
            <a:extLst>
              <a:ext uri="{FF2B5EF4-FFF2-40B4-BE49-F238E27FC236}">
                <a16:creationId xmlns:a16="http://schemas.microsoft.com/office/drawing/2014/main" id="{C5A6C7ED-ED6A-FE16-9FA8-29C1E629DF57}"/>
              </a:ext>
            </a:extLst>
          </p:cNvPr>
          <p:cNvSpPr/>
          <p:nvPr/>
        </p:nvSpPr>
        <p:spPr>
          <a:xfrm>
            <a:off x="6906819" y="1804590"/>
            <a:ext cx="2358249" cy="127891"/>
          </a:xfrm>
          <a:prstGeom prst="rect">
            <a:avLst/>
          </a:prstGeom>
          <a:noFill/>
          <a:ln/>
        </p:spPr>
        <p:txBody>
          <a:bodyPr wrap="square" lIns="377" tIns="377" rIns="377" bIns="377" rtlCol="0" anchor="ctr">
            <a:normAutofit fontScale="92500" lnSpcReduction="1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940" b="0" i="0" u="none" strike="noStrike" kern="1200" cap="none" spc="0" normalizeH="0" baseline="0" noProof="0" dirty="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예: Seq 80 </a:t>
            </a:r>
            <a:r>
              <a:rPr kumimoji="0" lang="en-US" sz="940" b="0" i="0" u="none" strike="noStrike" kern="1200" cap="none" spc="0" normalizeH="0" baseline="0" noProof="0" dirty="0" err="1">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부근에서</a:t>
            </a:r>
            <a:r>
              <a:rPr kumimoji="0" lang="en-US" sz="940" b="0" i="0" u="none" strike="noStrike" kern="1200" cap="none" spc="0" normalizeH="0" baseline="0" noProof="0" dirty="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940" b="0" i="0" u="none" strike="noStrike" kern="1200" cap="none" spc="0" normalizeH="0" baseline="0" noProof="0" dirty="0" err="1">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양극</a:t>
            </a:r>
            <a:r>
              <a:rPr kumimoji="0" lang="en-US" sz="940" b="0" i="0" u="none" strike="noStrike" kern="1200" cap="none" spc="0" normalizeH="0" baseline="0" noProof="0" dirty="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 Cutter </a:t>
            </a:r>
            <a:r>
              <a:rPr kumimoji="0" lang="en-US" sz="940" b="0" i="0" u="none" strike="noStrike" kern="1200" cap="none" spc="0" normalizeH="0" baseline="0" noProof="0" dirty="0" err="1">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보정량</a:t>
            </a:r>
            <a:r>
              <a:rPr kumimoji="0" lang="en-US" sz="940" b="0" i="0" u="none" strike="noStrike" kern="1200" cap="none" spc="0" normalizeH="0" baseline="0" noProof="0" dirty="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940" b="0" i="0" u="none" strike="noStrike" kern="1200" cap="none" spc="0" normalizeH="0" baseline="0" noProof="0" dirty="0" err="1">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영향</a:t>
            </a:r>
            <a:r>
              <a:rPr kumimoji="0" lang="en-US" sz="940" b="0" i="0" u="none" strike="noStrike" kern="1200" cap="none" spc="0" normalizeH="0" baseline="0" noProof="0" dirty="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 </a:t>
            </a:r>
            <a:r>
              <a:rPr kumimoji="0" lang="en-US" sz="940" b="0" i="0" u="none" strike="noStrike" kern="1200" cap="none" spc="0" normalizeH="0" baseline="0" noProof="0" dirty="0" err="1">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증가</a:t>
            </a:r>
            <a:endParaRPr kumimoji="0" lang="en-US" sz="94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2" name="Shape 48">
            <a:extLst>
              <a:ext uri="{FF2B5EF4-FFF2-40B4-BE49-F238E27FC236}">
                <a16:creationId xmlns:a16="http://schemas.microsoft.com/office/drawing/2014/main" id="{AD815043-B5A8-C60B-68C9-59A37E17FF82}"/>
              </a:ext>
            </a:extLst>
          </p:cNvPr>
          <p:cNvSpPr/>
          <p:nvPr/>
        </p:nvSpPr>
        <p:spPr>
          <a:xfrm>
            <a:off x="6746940" y="2180270"/>
            <a:ext cx="2678011" cy="575510"/>
          </a:xfrm>
          <a:prstGeom prst="roundRect">
            <a:avLst>
              <a:gd name="adj" fmla="val 11111"/>
            </a:avLst>
          </a:prstGeom>
          <a:solidFill>
            <a:srgbClr val="FFFF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3" name="Text 49">
            <a:extLst>
              <a:ext uri="{FF2B5EF4-FFF2-40B4-BE49-F238E27FC236}">
                <a16:creationId xmlns:a16="http://schemas.microsoft.com/office/drawing/2014/main" id="{073193C2-7032-90F6-11B7-5A57F197542D}"/>
              </a:ext>
            </a:extLst>
          </p:cNvPr>
          <p:cNvSpPr/>
          <p:nvPr/>
        </p:nvSpPr>
        <p:spPr>
          <a:xfrm>
            <a:off x="6906819" y="2316155"/>
            <a:ext cx="2238338" cy="119898"/>
          </a:xfrm>
          <a:prstGeom prst="rect">
            <a:avLst/>
          </a:prstGeom>
          <a:noFill/>
          <a:ln/>
        </p:spPr>
        <p:txBody>
          <a:bodyPr wrap="square" lIns="251" tIns="251" rIns="251" bIns="251" rtlCol="0" anchor="ctr">
            <a:normAutofit fontScale="70000" lnSpcReduction="2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87" b="1" i="0" u="none" strike="noStrike" kern="1200" cap="none" spc="0" normalizeH="0" baseline="0" noProof="0">
                <a:ln>
                  <a:noFill/>
                </a:ln>
                <a:solidFill>
                  <a:srgbClr val="13A999"/>
                </a:solidFill>
                <a:effectLst/>
                <a:uLnTx/>
                <a:uFillTx/>
                <a:latin typeface="Arial Narrow" panose="020B0606020202030204" pitchFamily="34" charset="0"/>
                <a:ea typeface="LG스마트체 Regular" panose="020B0600000101010101" pitchFamily="50" charset="-127"/>
                <a:cs typeface="Malgun Gothic" pitchFamily="34" charset="-120"/>
              </a:rPr>
              <a:t>lag가 있는 영향 관계</a:t>
            </a:r>
            <a:endParaRPr kumimoji="0" lang="en-US" sz="1287"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4" name="Text 50">
            <a:extLst>
              <a:ext uri="{FF2B5EF4-FFF2-40B4-BE49-F238E27FC236}">
                <a16:creationId xmlns:a16="http://schemas.microsoft.com/office/drawing/2014/main" id="{105AE229-6263-B436-9A67-819FF7CD9E75}"/>
              </a:ext>
            </a:extLst>
          </p:cNvPr>
          <p:cNvSpPr/>
          <p:nvPr/>
        </p:nvSpPr>
        <p:spPr>
          <a:xfrm>
            <a:off x="6906819" y="2523978"/>
            <a:ext cx="2358249" cy="127891"/>
          </a:xfrm>
          <a:prstGeom prst="rect">
            <a:avLst/>
          </a:prstGeom>
          <a:noFill/>
          <a:ln/>
        </p:spPr>
        <p:txBody>
          <a:bodyPr wrap="square" lIns="377" tIns="377" rIns="377" bIns="377" rtlCol="0" anchor="ctr">
            <a:normAutofit fontScale="92500" lnSpcReduction="1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940" b="0"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예: PV 변화 후 2~3 Cell 뒤 검사값 악화</a:t>
            </a:r>
            <a:endParaRPr kumimoji="0" lang="en-US" sz="94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5" name="Shape 51">
            <a:extLst>
              <a:ext uri="{FF2B5EF4-FFF2-40B4-BE49-F238E27FC236}">
                <a16:creationId xmlns:a16="http://schemas.microsoft.com/office/drawing/2014/main" id="{E46D3D0A-6727-9DED-9723-0FC3553683B7}"/>
              </a:ext>
            </a:extLst>
          </p:cNvPr>
          <p:cNvSpPr/>
          <p:nvPr/>
        </p:nvSpPr>
        <p:spPr>
          <a:xfrm>
            <a:off x="6746940" y="2899657"/>
            <a:ext cx="2678011" cy="575510"/>
          </a:xfrm>
          <a:prstGeom prst="roundRect">
            <a:avLst>
              <a:gd name="adj" fmla="val 11111"/>
            </a:avLst>
          </a:prstGeom>
          <a:solidFill>
            <a:srgbClr val="FFFF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6" name="Text 52">
            <a:extLst>
              <a:ext uri="{FF2B5EF4-FFF2-40B4-BE49-F238E27FC236}">
                <a16:creationId xmlns:a16="http://schemas.microsoft.com/office/drawing/2014/main" id="{F0C2223D-7AB8-9581-CE94-704EFF54E5A9}"/>
              </a:ext>
            </a:extLst>
          </p:cNvPr>
          <p:cNvSpPr/>
          <p:nvPr/>
        </p:nvSpPr>
        <p:spPr>
          <a:xfrm>
            <a:off x="6906819" y="3035542"/>
            <a:ext cx="2238338" cy="119898"/>
          </a:xfrm>
          <a:prstGeom prst="rect">
            <a:avLst/>
          </a:prstGeom>
          <a:noFill/>
          <a:ln/>
        </p:spPr>
        <p:txBody>
          <a:bodyPr wrap="square" lIns="251" tIns="251" rIns="251" bIns="251" rtlCol="0" anchor="ctr">
            <a:normAutofit fontScale="70000" lnSpcReduction="2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87" b="1" i="0" u="none" strike="noStrike" kern="1200" cap="none" spc="0" normalizeH="0" baseline="0" noProof="0">
                <a:ln>
                  <a:noFill/>
                </a:ln>
                <a:solidFill>
                  <a:srgbClr val="F2993A"/>
                </a:solidFill>
                <a:effectLst/>
                <a:uLnTx/>
                <a:uFillTx/>
                <a:latin typeface="Arial Narrow" panose="020B0606020202030204" pitchFamily="34" charset="0"/>
                <a:ea typeface="LG스마트체 Regular" panose="020B0600000101010101" pitchFamily="50" charset="-127"/>
                <a:cs typeface="Malgun Gothic" pitchFamily="34" charset="-120"/>
              </a:rPr>
              <a:t>불량이 높은 가감속 패턴</a:t>
            </a:r>
            <a:endParaRPr kumimoji="0" lang="en-US" sz="1287"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7" name="Text 53">
            <a:extLst>
              <a:ext uri="{FF2B5EF4-FFF2-40B4-BE49-F238E27FC236}">
                <a16:creationId xmlns:a16="http://schemas.microsoft.com/office/drawing/2014/main" id="{C051F1AB-07C1-CB7F-2F38-2E20D31515E7}"/>
              </a:ext>
            </a:extLst>
          </p:cNvPr>
          <p:cNvSpPr/>
          <p:nvPr/>
        </p:nvSpPr>
        <p:spPr>
          <a:xfrm>
            <a:off x="6906819" y="3243365"/>
            <a:ext cx="2358249" cy="127891"/>
          </a:xfrm>
          <a:prstGeom prst="rect">
            <a:avLst/>
          </a:prstGeom>
          <a:noFill/>
          <a:ln/>
        </p:spPr>
        <p:txBody>
          <a:bodyPr wrap="square" lIns="377" tIns="377" rIns="377" bIns="377" rtlCol="0" anchor="ctr">
            <a:normAutofit fontScale="92500" lnSpcReduction="1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940" b="0"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예: Overshoot/Oscillation Group에서 NG율 상승</a:t>
            </a:r>
            <a:endParaRPr kumimoji="0" lang="en-US" sz="94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8" name="Shape 54">
            <a:extLst>
              <a:ext uri="{FF2B5EF4-FFF2-40B4-BE49-F238E27FC236}">
                <a16:creationId xmlns:a16="http://schemas.microsoft.com/office/drawing/2014/main" id="{C522FE4B-7CAB-3ED6-7636-93DB2175DDFF}"/>
              </a:ext>
            </a:extLst>
          </p:cNvPr>
          <p:cNvSpPr/>
          <p:nvPr/>
        </p:nvSpPr>
        <p:spPr>
          <a:xfrm>
            <a:off x="6746940" y="3619045"/>
            <a:ext cx="2678011" cy="575510"/>
          </a:xfrm>
          <a:prstGeom prst="roundRect">
            <a:avLst>
              <a:gd name="adj" fmla="val 11111"/>
            </a:avLst>
          </a:prstGeom>
          <a:solidFill>
            <a:srgbClr val="FFFF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69" name="Text 55">
            <a:extLst>
              <a:ext uri="{FF2B5EF4-FFF2-40B4-BE49-F238E27FC236}">
                <a16:creationId xmlns:a16="http://schemas.microsoft.com/office/drawing/2014/main" id="{020849A1-391F-103A-5DA3-9B55F50927F5}"/>
              </a:ext>
            </a:extLst>
          </p:cNvPr>
          <p:cNvSpPr/>
          <p:nvPr/>
        </p:nvSpPr>
        <p:spPr>
          <a:xfrm>
            <a:off x="6906819" y="3754929"/>
            <a:ext cx="2238338" cy="119898"/>
          </a:xfrm>
          <a:prstGeom prst="rect">
            <a:avLst/>
          </a:prstGeom>
          <a:noFill/>
          <a:ln/>
        </p:spPr>
        <p:txBody>
          <a:bodyPr wrap="square" lIns="251" tIns="251" rIns="251" bIns="251" rtlCol="0" anchor="ctr">
            <a:normAutofit fontScale="70000" lnSpcReduction="2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87" b="1" i="0" u="none" strike="noStrike" kern="1200" cap="none" spc="0" normalizeH="0" baseline="0" noProof="0">
                <a:ln>
                  <a:noFill/>
                </a:ln>
                <a:solidFill>
                  <a:srgbClr val="6B62D6"/>
                </a:solidFill>
                <a:effectLst/>
                <a:uLnTx/>
                <a:uFillTx/>
                <a:latin typeface="Arial Narrow" panose="020B0606020202030204" pitchFamily="34" charset="0"/>
                <a:ea typeface="LG스마트체 Regular" panose="020B0600000101010101" pitchFamily="50" charset="-127"/>
                <a:cs typeface="Malgun Gothic" pitchFamily="34" charset="-120"/>
              </a:rPr>
              <a:t>설비별 공통/고유 원인 분리</a:t>
            </a:r>
            <a:endParaRPr kumimoji="0" lang="en-US" sz="1287"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0" name="Text 56">
            <a:extLst>
              <a:ext uri="{FF2B5EF4-FFF2-40B4-BE49-F238E27FC236}">
                <a16:creationId xmlns:a16="http://schemas.microsoft.com/office/drawing/2014/main" id="{366ACE9C-1EB4-7C72-3650-93F50E8A5082}"/>
              </a:ext>
            </a:extLst>
          </p:cNvPr>
          <p:cNvSpPr/>
          <p:nvPr/>
        </p:nvSpPr>
        <p:spPr>
          <a:xfrm>
            <a:off x="6906819" y="4034760"/>
            <a:ext cx="2358249" cy="127891"/>
          </a:xfrm>
          <a:prstGeom prst="rect">
            <a:avLst/>
          </a:prstGeom>
          <a:noFill/>
          <a:ln/>
        </p:spPr>
        <p:txBody>
          <a:bodyPr wrap="square" lIns="377" tIns="377" rIns="377" bIns="377" rtlCol="0" anchor="ctr">
            <a:normAutofit fontScale="92500" lnSpcReduction="10000"/>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940" b="0"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공통 관리 인자와 설비별 튜닝 포인트를 구분</a:t>
            </a:r>
            <a:endParaRPr kumimoji="0" lang="en-US" sz="94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1" name="Shape 44">
            <a:extLst>
              <a:ext uri="{FF2B5EF4-FFF2-40B4-BE49-F238E27FC236}">
                <a16:creationId xmlns:a16="http://schemas.microsoft.com/office/drawing/2014/main" id="{D3B547C1-374A-8A49-0E47-C37FCF107668}"/>
              </a:ext>
            </a:extLst>
          </p:cNvPr>
          <p:cNvSpPr/>
          <p:nvPr/>
        </p:nvSpPr>
        <p:spPr>
          <a:xfrm>
            <a:off x="3595759" y="1352453"/>
            <a:ext cx="2837893" cy="0"/>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nvGrpSpPr>
          <p:cNvPr id="172" name="그룹 171">
            <a:extLst>
              <a:ext uri="{FF2B5EF4-FFF2-40B4-BE49-F238E27FC236}">
                <a16:creationId xmlns:a16="http://schemas.microsoft.com/office/drawing/2014/main" id="{B6170D0F-29C9-553E-3B32-2E29F9A7D057}"/>
              </a:ext>
            </a:extLst>
          </p:cNvPr>
          <p:cNvGrpSpPr/>
          <p:nvPr/>
        </p:nvGrpSpPr>
        <p:grpSpPr>
          <a:xfrm>
            <a:off x="297693" y="3056064"/>
            <a:ext cx="2877863" cy="543538"/>
            <a:chOff x="345341" y="3699597"/>
            <a:chExt cx="2907841" cy="549200"/>
          </a:xfrm>
        </p:grpSpPr>
        <p:sp>
          <p:nvSpPr>
            <p:cNvPr id="173" name="Shape 5">
              <a:extLst>
                <a:ext uri="{FF2B5EF4-FFF2-40B4-BE49-F238E27FC236}">
                  <a16:creationId xmlns:a16="http://schemas.microsoft.com/office/drawing/2014/main" id="{C3EA769E-094D-F21B-630C-09F8F1052637}"/>
                </a:ext>
              </a:extLst>
            </p:cNvPr>
            <p:cNvSpPr/>
            <p:nvPr/>
          </p:nvSpPr>
          <p:spPr>
            <a:xfrm>
              <a:off x="345341" y="3699597"/>
              <a:ext cx="484640" cy="209988"/>
            </a:xfrm>
            <a:prstGeom prst="roundRect">
              <a:avLst>
                <a:gd name="adj" fmla="val 23077"/>
              </a:avLst>
            </a:prstGeom>
            <a:solidFill>
              <a:srgbClr val="FFF2E2"/>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4" name="Text 6">
              <a:extLst>
                <a:ext uri="{FF2B5EF4-FFF2-40B4-BE49-F238E27FC236}">
                  <a16:creationId xmlns:a16="http://schemas.microsoft.com/office/drawing/2014/main" id="{F2FB5390-89B0-D861-FDFE-A0372441207B}"/>
                </a:ext>
              </a:extLst>
            </p:cNvPr>
            <p:cNvSpPr/>
            <p:nvPr/>
          </p:nvSpPr>
          <p:spPr>
            <a:xfrm>
              <a:off x="361496" y="3756133"/>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속도</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5" name="Shape 7">
              <a:extLst>
                <a:ext uri="{FF2B5EF4-FFF2-40B4-BE49-F238E27FC236}">
                  <a16:creationId xmlns:a16="http://schemas.microsoft.com/office/drawing/2014/main" id="{4537BFE3-D068-8390-FA35-75E28E87BC02}"/>
                </a:ext>
              </a:extLst>
            </p:cNvPr>
            <p:cNvSpPr/>
            <p:nvPr/>
          </p:nvSpPr>
          <p:spPr>
            <a:xfrm>
              <a:off x="1023837" y="3699597"/>
              <a:ext cx="484640" cy="209988"/>
            </a:xfrm>
            <a:prstGeom prst="roundRect">
              <a:avLst>
                <a:gd name="adj" fmla="val 23077"/>
              </a:avLst>
            </a:prstGeom>
            <a:solidFill>
              <a:srgbClr val="EAF3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6" name="Text 8">
              <a:extLst>
                <a:ext uri="{FF2B5EF4-FFF2-40B4-BE49-F238E27FC236}">
                  <a16:creationId xmlns:a16="http://schemas.microsoft.com/office/drawing/2014/main" id="{78AE5A24-B1D9-1504-EBF3-AD287ABE2F96}"/>
                </a:ext>
              </a:extLst>
            </p:cNvPr>
            <p:cNvSpPr/>
            <p:nvPr/>
          </p:nvSpPr>
          <p:spPr>
            <a:xfrm>
              <a:off x="1039992" y="3756133"/>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dirty="0" err="1">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보정량</a:t>
              </a:r>
              <a:endParaRPr kumimoji="0" lang="en-US" sz="772"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7" name="Shape 9">
              <a:extLst>
                <a:ext uri="{FF2B5EF4-FFF2-40B4-BE49-F238E27FC236}">
                  <a16:creationId xmlns:a16="http://schemas.microsoft.com/office/drawing/2014/main" id="{AE93B4D5-535F-AF5A-4474-361991071778}"/>
                </a:ext>
              </a:extLst>
            </p:cNvPr>
            <p:cNvSpPr/>
            <p:nvPr/>
          </p:nvSpPr>
          <p:spPr>
            <a:xfrm>
              <a:off x="1508477" y="3699597"/>
              <a:ext cx="484640" cy="209988"/>
            </a:xfrm>
            <a:prstGeom prst="roundRect">
              <a:avLst>
                <a:gd name="adj" fmla="val 23077"/>
              </a:avLst>
            </a:prstGeom>
            <a:solidFill>
              <a:srgbClr val="E7F8F5"/>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8" name="Text 10">
              <a:extLst>
                <a:ext uri="{FF2B5EF4-FFF2-40B4-BE49-F238E27FC236}">
                  <a16:creationId xmlns:a16="http://schemas.microsoft.com/office/drawing/2014/main" id="{EF83EC85-9521-3162-6BA8-0BA3DB8C5882}"/>
                </a:ext>
              </a:extLst>
            </p:cNvPr>
            <p:cNvSpPr/>
            <p:nvPr/>
          </p:nvSpPr>
          <p:spPr>
            <a:xfrm>
              <a:off x="1524632" y="3756133"/>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피치</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79" name="Shape 11">
              <a:extLst>
                <a:ext uri="{FF2B5EF4-FFF2-40B4-BE49-F238E27FC236}">
                  <a16:creationId xmlns:a16="http://schemas.microsoft.com/office/drawing/2014/main" id="{48A8B5E5-0F29-937E-F5C0-22CC5526EEA0}"/>
                </a:ext>
              </a:extLst>
            </p:cNvPr>
            <p:cNvSpPr/>
            <p:nvPr/>
          </p:nvSpPr>
          <p:spPr>
            <a:xfrm>
              <a:off x="2186973" y="3699597"/>
              <a:ext cx="484640" cy="209988"/>
            </a:xfrm>
            <a:prstGeom prst="roundRect">
              <a:avLst>
                <a:gd name="adj" fmla="val 23077"/>
              </a:avLst>
            </a:prstGeom>
            <a:solidFill>
              <a:srgbClr val="FFF2E2"/>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0" name="Text 12">
              <a:extLst>
                <a:ext uri="{FF2B5EF4-FFF2-40B4-BE49-F238E27FC236}">
                  <a16:creationId xmlns:a16="http://schemas.microsoft.com/office/drawing/2014/main" id="{3DFB6431-6433-9687-866C-26D6D43BF8F4}"/>
                </a:ext>
              </a:extLst>
            </p:cNvPr>
            <p:cNvSpPr/>
            <p:nvPr/>
          </p:nvSpPr>
          <p:spPr>
            <a:xfrm>
              <a:off x="2203128" y="3756133"/>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Gap</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1" name="Shape 13">
              <a:extLst>
                <a:ext uri="{FF2B5EF4-FFF2-40B4-BE49-F238E27FC236}">
                  <a16:creationId xmlns:a16="http://schemas.microsoft.com/office/drawing/2014/main" id="{329E9E4B-3777-85CE-A62C-6F1E953F2006}"/>
                </a:ext>
              </a:extLst>
            </p:cNvPr>
            <p:cNvSpPr/>
            <p:nvPr/>
          </p:nvSpPr>
          <p:spPr>
            <a:xfrm>
              <a:off x="2671614" y="3699597"/>
              <a:ext cx="484640" cy="209988"/>
            </a:xfrm>
            <a:prstGeom prst="roundRect">
              <a:avLst>
                <a:gd name="adj" fmla="val 23077"/>
              </a:avLst>
            </a:prstGeom>
            <a:solidFill>
              <a:srgbClr val="EAF3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2" name="Text 14">
              <a:extLst>
                <a:ext uri="{FF2B5EF4-FFF2-40B4-BE49-F238E27FC236}">
                  <a16:creationId xmlns:a16="http://schemas.microsoft.com/office/drawing/2014/main" id="{B2C2FE1E-A68C-2C9D-C5E0-2EF556EF7750}"/>
                </a:ext>
              </a:extLst>
            </p:cNvPr>
            <p:cNvSpPr/>
            <p:nvPr/>
          </p:nvSpPr>
          <p:spPr>
            <a:xfrm>
              <a:off x="2687768" y="3756133"/>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Offset</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3" name="Shape 15">
              <a:extLst>
                <a:ext uri="{FF2B5EF4-FFF2-40B4-BE49-F238E27FC236}">
                  <a16:creationId xmlns:a16="http://schemas.microsoft.com/office/drawing/2014/main" id="{CDF539FF-AE2E-C071-AD26-8E73E623904C}"/>
                </a:ext>
              </a:extLst>
            </p:cNvPr>
            <p:cNvSpPr/>
            <p:nvPr/>
          </p:nvSpPr>
          <p:spPr>
            <a:xfrm>
              <a:off x="442269" y="4038809"/>
              <a:ext cx="484640" cy="209988"/>
            </a:xfrm>
            <a:prstGeom prst="roundRect">
              <a:avLst>
                <a:gd name="adj" fmla="val 23077"/>
              </a:avLst>
            </a:prstGeom>
            <a:solidFill>
              <a:srgbClr val="E7F8F5"/>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4" name="Text 16">
              <a:extLst>
                <a:ext uri="{FF2B5EF4-FFF2-40B4-BE49-F238E27FC236}">
                  <a16:creationId xmlns:a16="http://schemas.microsoft.com/office/drawing/2014/main" id="{08785334-8B8E-E57C-224E-E3317A777FD3}"/>
                </a:ext>
              </a:extLst>
            </p:cNvPr>
            <p:cNvSpPr/>
            <p:nvPr/>
          </p:nvSpPr>
          <p:spPr>
            <a:xfrm>
              <a:off x="458424" y="4095344"/>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Dancer</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5" name="Shape 17">
              <a:extLst>
                <a:ext uri="{FF2B5EF4-FFF2-40B4-BE49-F238E27FC236}">
                  <a16:creationId xmlns:a16="http://schemas.microsoft.com/office/drawing/2014/main" id="{0C6B912F-CA80-BD11-46B5-4D8EB2E5B46E}"/>
                </a:ext>
              </a:extLst>
            </p:cNvPr>
            <p:cNvSpPr/>
            <p:nvPr/>
          </p:nvSpPr>
          <p:spPr>
            <a:xfrm>
              <a:off x="926909" y="4038809"/>
              <a:ext cx="484640" cy="209988"/>
            </a:xfrm>
            <a:prstGeom prst="roundRect">
              <a:avLst>
                <a:gd name="adj" fmla="val 23077"/>
              </a:avLst>
            </a:prstGeom>
            <a:solidFill>
              <a:srgbClr val="FFF2E2"/>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6" name="Text 18">
              <a:extLst>
                <a:ext uri="{FF2B5EF4-FFF2-40B4-BE49-F238E27FC236}">
                  <a16:creationId xmlns:a16="http://schemas.microsoft.com/office/drawing/2014/main" id="{D257E841-A2BB-E6B6-5E6F-58A6CF694902}"/>
                </a:ext>
              </a:extLst>
            </p:cNvPr>
            <p:cNvSpPr/>
            <p:nvPr/>
          </p:nvSpPr>
          <p:spPr>
            <a:xfrm>
              <a:off x="943064" y="4095344"/>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상부/하부차</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7" name="Shape 19">
              <a:extLst>
                <a:ext uri="{FF2B5EF4-FFF2-40B4-BE49-F238E27FC236}">
                  <a16:creationId xmlns:a16="http://schemas.microsoft.com/office/drawing/2014/main" id="{C00377CB-7E15-F9F0-A9ED-B97FB4B35E97}"/>
                </a:ext>
              </a:extLst>
            </p:cNvPr>
            <p:cNvSpPr/>
            <p:nvPr/>
          </p:nvSpPr>
          <p:spPr>
            <a:xfrm>
              <a:off x="1605405" y="4038809"/>
              <a:ext cx="484640" cy="209988"/>
            </a:xfrm>
            <a:prstGeom prst="roundRect">
              <a:avLst>
                <a:gd name="adj" fmla="val 23077"/>
              </a:avLst>
            </a:prstGeom>
            <a:solidFill>
              <a:srgbClr val="EAF3FF"/>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8" name="Text 20">
              <a:extLst>
                <a:ext uri="{FF2B5EF4-FFF2-40B4-BE49-F238E27FC236}">
                  <a16:creationId xmlns:a16="http://schemas.microsoft.com/office/drawing/2014/main" id="{F2ADD765-D7A1-1BF7-3A20-91DBCA4DE7C6}"/>
                </a:ext>
              </a:extLst>
            </p:cNvPr>
            <p:cNvSpPr/>
            <p:nvPr/>
          </p:nvSpPr>
          <p:spPr>
            <a:xfrm>
              <a:off x="1621560" y="4095344"/>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Feed</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89" name="Shape 21">
              <a:extLst>
                <a:ext uri="{FF2B5EF4-FFF2-40B4-BE49-F238E27FC236}">
                  <a16:creationId xmlns:a16="http://schemas.microsoft.com/office/drawing/2014/main" id="{B84D784F-5654-64D7-AB2A-6DD717126096}"/>
                </a:ext>
              </a:extLst>
            </p:cNvPr>
            <p:cNvSpPr/>
            <p:nvPr/>
          </p:nvSpPr>
          <p:spPr>
            <a:xfrm>
              <a:off x="2090045" y="4038809"/>
              <a:ext cx="484640" cy="209988"/>
            </a:xfrm>
            <a:prstGeom prst="roundRect">
              <a:avLst>
                <a:gd name="adj" fmla="val 23077"/>
              </a:avLst>
            </a:prstGeom>
            <a:solidFill>
              <a:srgbClr val="E7F8F5"/>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0" name="Text 22">
              <a:extLst>
                <a:ext uri="{FF2B5EF4-FFF2-40B4-BE49-F238E27FC236}">
                  <a16:creationId xmlns:a16="http://schemas.microsoft.com/office/drawing/2014/main" id="{D0B730B3-49A9-BA64-975D-D145A2849736}"/>
                </a:ext>
              </a:extLst>
            </p:cNvPr>
            <p:cNvSpPr/>
            <p:nvPr/>
          </p:nvSpPr>
          <p:spPr>
            <a:xfrm>
              <a:off x="2106200" y="4095344"/>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Cutter</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1" name="Shape 23">
              <a:extLst>
                <a:ext uri="{FF2B5EF4-FFF2-40B4-BE49-F238E27FC236}">
                  <a16:creationId xmlns:a16="http://schemas.microsoft.com/office/drawing/2014/main" id="{197C94B5-738A-B743-7525-97FC31BEB430}"/>
                </a:ext>
              </a:extLst>
            </p:cNvPr>
            <p:cNvSpPr/>
            <p:nvPr/>
          </p:nvSpPr>
          <p:spPr>
            <a:xfrm>
              <a:off x="2768542" y="4038809"/>
              <a:ext cx="484640" cy="209988"/>
            </a:xfrm>
            <a:prstGeom prst="roundRect">
              <a:avLst>
                <a:gd name="adj" fmla="val 23077"/>
              </a:avLst>
            </a:prstGeom>
            <a:solidFill>
              <a:srgbClr val="FFF2E2"/>
            </a:solidFill>
            <a:ln w="12700">
              <a:solidFill>
                <a:srgbClr val="D5DEE9"/>
              </a:solidFill>
              <a:prstDash val="solid"/>
            </a:ln>
            <a:effectLst>
              <a:outerShdw blurRad="12700" dist="50800" dir="2700000" algn="bl" rotWithShape="0">
                <a:srgbClr val="C9D4E3">
                  <a:alpha val="18000"/>
                </a:srgbClr>
              </a:outerShdw>
            </a:effectLst>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2" name="Text 24">
              <a:extLst>
                <a:ext uri="{FF2B5EF4-FFF2-40B4-BE49-F238E27FC236}">
                  <a16:creationId xmlns:a16="http://schemas.microsoft.com/office/drawing/2014/main" id="{3A85EB72-DFAE-628E-498B-0101539E9862}"/>
                </a:ext>
              </a:extLst>
            </p:cNvPr>
            <p:cNvSpPr/>
            <p:nvPr/>
          </p:nvSpPr>
          <p:spPr>
            <a:xfrm>
              <a:off x="2784696" y="4095344"/>
              <a:ext cx="452331" cy="80765"/>
            </a:xfrm>
            <a:prstGeom prst="rect">
              <a:avLst/>
            </a:prstGeom>
            <a:noFill/>
            <a:ln/>
          </p:spPr>
          <p:txBody>
            <a:bodyPr wrap="square" lIns="251" tIns="251" rIns="251" bIns="251" rtlCol="0" anchor="ctr">
              <a:normAutofit fontScale="77500" lnSpcReduction="20000"/>
            </a:bodyPr>
            <a:lstStyle/>
            <a:p>
              <a:pPr marL="0" marR="0" lvl="0" indent="0" algn="ctr" defTabSz="452491" rtl="0" eaLnBrk="1" fontAlgn="auto" latinLnBrk="0" hangingPunct="1">
                <a:lnSpc>
                  <a:spcPct val="100000"/>
                </a:lnSpc>
                <a:spcBef>
                  <a:spcPts val="0"/>
                </a:spcBef>
                <a:spcAft>
                  <a:spcPts val="0"/>
                </a:spcAft>
                <a:buClrTx/>
                <a:buSzTx/>
                <a:buFontTx/>
                <a:buNone/>
                <a:tabLst/>
                <a:defRPr/>
              </a:pPr>
              <a:r>
                <a:rPr kumimoji="0" lang="en-US" sz="772" b="1" i="0" u="none" strike="noStrike" kern="1200" cap="none" spc="0" normalizeH="0" baseline="0" noProof="0">
                  <a:ln>
                    <a:noFill/>
                  </a:ln>
                  <a:solidFill>
                    <a:srgbClr val="17213A"/>
                  </a:solidFill>
                  <a:effectLst/>
                  <a:uLnTx/>
                  <a:uFillTx/>
                  <a:latin typeface="Arial Narrow" panose="020B0606020202030204" pitchFamily="34" charset="0"/>
                  <a:ea typeface="LG스마트체 Regular" panose="020B0600000101010101" pitchFamily="50" charset="-127"/>
                  <a:cs typeface="Malgun Gothic" pitchFamily="34" charset="-120"/>
                </a:rPr>
                <a:t>Tab</a:t>
              </a:r>
              <a:endParaRPr kumimoji="0" lang="en-US" sz="772"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grpSp>
      <p:sp>
        <p:nvSpPr>
          <p:cNvPr id="193" name="Text 3">
            <a:extLst>
              <a:ext uri="{FF2B5EF4-FFF2-40B4-BE49-F238E27FC236}">
                <a16:creationId xmlns:a16="http://schemas.microsoft.com/office/drawing/2014/main" id="{C3CA45A2-75ED-339C-E662-C151E4CE8CA6}"/>
              </a:ext>
            </a:extLst>
          </p:cNvPr>
          <p:cNvSpPr/>
          <p:nvPr/>
        </p:nvSpPr>
        <p:spPr>
          <a:xfrm>
            <a:off x="1484754" y="1102671"/>
            <a:ext cx="1131216" cy="236257"/>
          </a:xfrm>
          <a:prstGeom prst="rect">
            <a:avLst/>
          </a:prstGeom>
          <a:noFill/>
          <a:ln/>
        </p:spPr>
        <p:txBody>
          <a:bodyPr wrap="square" lIns="251" tIns="251" rIns="251" bIns="251"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As-is</a:t>
            </a:r>
            <a:endParaRPr kumimoji="0" 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4" name="Text 3">
            <a:extLst>
              <a:ext uri="{FF2B5EF4-FFF2-40B4-BE49-F238E27FC236}">
                <a16:creationId xmlns:a16="http://schemas.microsoft.com/office/drawing/2014/main" id="{824D1654-00A5-9B62-1F5C-216B585FE75D}"/>
              </a:ext>
            </a:extLst>
          </p:cNvPr>
          <p:cNvSpPr/>
          <p:nvPr/>
        </p:nvSpPr>
        <p:spPr>
          <a:xfrm>
            <a:off x="4712393" y="1112685"/>
            <a:ext cx="1131216" cy="226243"/>
          </a:xfrm>
          <a:prstGeom prst="rect">
            <a:avLst/>
          </a:prstGeom>
          <a:noFill/>
          <a:ln/>
        </p:spPr>
        <p:txBody>
          <a:bodyPr wrap="square" lIns="251" tIns="251" rIns="251" bIns="251"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algun Gothic" pitchFamily="34" charset="-120"/>
              </a:rPr>
              <a:t>To-be</a:t>
            </a:r>
            <a:endParaRPr kumimoji="0" 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5" name="Text 3">
            <a:extLst>
              <a:ext uri="{FF2B5EF4-FFF2-40B4-BE49-F238E27FC236}">
                <a16:creationId xmlns:a16="http://schemas.microsoft.com/office/drawing/2014/main" id="{99AB2246-E2D4-9960-992E-DB00A137B268}"/>
              </a:ext>
            </a:extLst>
          </p:cNvPr>
          <p:cNvSpPr/>
          <p:nvPr/>
        </p:nvSpPr>
        <p:spPr>
          <a:xfrm>
            <a:off x="7790602" y="1112685"/>
            <a:ext cx="1131216" cy="226243"/>
          </a:xfrm>
          <a:prstGeom prst="rect">
            <a:avLst/>
          </a:prstGeom>
          <a:noFill/>
          <a:ln/>
        </p:spPr>
        <p:txBody>
          <a:bodyPr wrap="square" lIns="251" tIns="251" rIns="251" bIns="251"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en-US" sz="1287" b="0" i="0" u="none" strike="noStrike" kern="1200" cap="none" spc="0" normalizeH="0" baseline="0" noProof="0">
              <a:ln>
                <a:noFill/>
              </a:ln>
              <a:solidFill>
                <a:prstClr val="black"/>
              </a:solidFill>
              <a:effectLst/>
              <a:uLnTx/>
              <a:uFillTx/>
              <a:latin typeface="Arial Narrow"/>
              <a:ea typeface="LG스마트체 Regular"/>
              <a:cs typeface="+mn-cs"/>
            </a:endParaRPr>
          </a:p>
        </p:txBody>
      </p:sp>
      <p:sp>
        <p:nvSpPr>
          <p:cNvPr id="196" name="Text 3">
            <a:extLst>
              <a:ext uri="{FF2B5EF4-FFF2-40B4-BE49-F238E27FC236}">
                <a16:creationId xmlns:a16="http://schemas.microsoft.com/office/drawing/2014/main" id="{E4039168-3A3D-20EE-DB60-F05C09BBE199}"/>
              </a:ext>
            </a:extLst>
          </p:cNvPr>
          <p:cNvSpPr/>
          <p:nvPr/>
        </p:nvSpPr>
        <p:spPr>
          <a:xfrm>
            <a:off x="7649200" y="1112685"/>
            <a:ext cx="1131216" cy="226243"/>
          </a:xfrm>
          <a:prstGeom prst="rect">
            <a:avLst/>
          </a:prstGeom>
          <a:noFill/>
          <a:ln/>
        </p:spPr>
        <p:txBody>
          <a:bodyPr wrap="square" lIns="251" tIns="251" rIns="251" bIns="251" rtlCol="0" anchor="ctr">
            <a:normAutofit/>
          </a:bodyPr>
          <a:lstStyle/>
          <a:p>
            <a:pPr marL="0" marR="0" lvl="0" indent="0" algn="l" defTabSz="452491"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a:ln>
                  <a:noFill/>
                </a:ln>
                <a:solidFill>
                  <a:srgbClr val="60708A"/>
                </a:solidFill>
                <a:effectLst/>
                <a:uLnTx/>
                <a:uFillTx/>
                <a:latin typeface="Arial Narrow" panose="020B0606020202030204" pitchFamily="34" charset="0"/>
                <a:ea typeface="LG스마트체 Regular" panose="020B0600000101010101" pitchFamily="50" charset="-127"/>
                <a:cs typeface="+mn-cs"/>
              </a:rPr>
              <a:t>기대 결과</a:t>
            </a:r>
            <a:endParaRPr kumimoji="0" lang="en-US" sz="1200" b="1"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7" name="Shape 44">
            <a:extLst>
              <a:ext uri="{FF2B5EF4-FFF2-40B4-BE49-F238E27FC236}">
                <a16:creationId xmlns:a16="http://schemas.microsoft.com/office/drawing/2014/main" id="{EF57E9F0-054C-4CE9-E002-FBB78B1B89DB}"/>
              </a:ext>
            </a:extLst>
          </p:cNvPr>
          <p:cNvSpPr/>
          <p:nvPr/>
        </p:nvSpPr>
        <p:spPr>
          <a:xfrm>
            <a:off x="440717" y="1352453"/>
            <a:ext cx="2837893" cy="0"/>
          </a:xfrm>
          <a:prstGeom prst="line">
            <a:avLst/>
          </a:prstGeom>
          <a:noFill/>
          <a:ln w="12700">
            <a:solidFill>
              <a:srgbClr val="D5DEE9"/>
            </a:solidFill>
            <a:prstDash val="solid"/>
          </a:ln>
        </p:spPr>
        <p:txBody>
          <a:bodyPr/>
          <a:lstStyle/>
          <a:p>
            <a:pPr marL="0" marR="0" lvl="0" indent="0" algn="l" defTabSz="452491" rtl="0" eaLnBrk="1" fontAlgn="auto" latinLnBrk="0" hangingPunct="1">
              <a:lnSpc>
                <a:spcPct val="100000"/>
              </a:lnSpc>
              <a:spcBef>
                <a:spcPts val="0"/>
              </a:spcBef>
              <a:spcAft>
                <a:spcPts val="0"/>
              </a:spcAft>
              <a:buClrTx/>
              <a:buSzTx/>
              <a:buFontTx/>
              <a:buNone/>
              <a:tabLst/>
              <a:defRPr/>
            </a:pPr>
            <a:endParaRPr kumimoji="0" lang="ko-KR" altLang="en-US" sz="1781"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199" name="Action Button: Go Back or Previous 339">
            <a:hlinkClick r:id="rId4" action="ppaction://hlinksldjump" highlightClick="1"/>
            <a:extLst>
              <a:ext uri="{FF2B5EF4-FFF2-40B4-BE49-F238E27FC236}">
                <a16:creationId xmlns:a16="http://schemas.microsoft.com/office/drawing/2014/main" id="{E782C559-97AB-41BD-E50F-4506D76F6403}"/>
              </a:ext>
            </a:extLst>
          </p:cNvPr>
          <p:cNvSpPr/>
          <p:nvPr/>
        </p:nvSpPr>
        <p:spPr>
          <a:xfrm>
            <a:off x="9620345" y="231511"/>
            <a:ext cx="203006" cy="203006"/>
          </a:xfrm>
          <a:prstGeom prst="actionButtonBackPrevious">
            <a:avLst/>
          </a:prstGeom>
          <a:solidFill>
            <a:schemeClr val="bg1">
              <a:lumMod val="85000"/>
            </a:schemeClr>
          </a:solidFill>
          <a:ln w="0"/>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201" name="TextBox 200">
            <a:extLst>
              <a:ext uri="{FF2B5EF4-FFF2-40B4-BE49-F238E27FC236}">
                <a16:creationId xmlns:a16="http://schemas.microsoft.com/office/drawing/2014/main" id="{43752633-E737-BC31-86C4-07A7083C2B5D}"/>
              </a:ext>
            </a:extLst>
          </p:cNvPr>
          <p:cNvSpPr txBox="1"/>
          <p:nvPr/>
        </p:nvSpPr>
        <p:spPr>
          <a:xfrm>
            <a:off x="7722039" y="126275"/>
            <a:ext cx="1758316" cy="269304"/>
          </a:xfrm>
          <a:prstGeom prst="rect">
            <a:avLst/>
          </a:prstGeom>
          <a:noFill/>
        </p:spPr>
        <p:txBody>
          <a:bodyPr wrap="square" lIns="32888" rIns="32888" rtlCol="0">
            <a:spAutoFit/>
          </a:bodyPr>
          <a:lstStyle/>
          <a:p>
            <a:pPr marL="0" marR="0" lvl="0" indent="0" algn="l" defTabSz="835389" rtl="0" eaLnBrk="1" fontAlgn="base" latinLnBrk="1" hangingPunct="1">
              <a:lnSpc>
                <a:spcPct val="120000"/>
              </a:lnSpc>
              <a:spcBef>
                <a:spcPts val="0"/>
              </a:spcBef>
              <a:spcAft>
                <a:spcPts val="594"/>
              </a:spcAft>
              <a:buClrTx/>
              <a:buSzPct val="85000"/>
              <a:buFontTx/>
              <a:buNone/>
              <a:tabLst/>
              <a:defRPr/>
            </a:pP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작성자 </a:t>
            </a:r>
            <a:r>
              <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a:t>
            </a: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a:t>
            </a: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a:t>
            </a:r>
            <a:endPar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2" name="TextBox 1">
            <a:extLst>
              <a:ext uri="{FF2B5EF4-FFF2-40B4-BE49-F238E27FC236}">
                <a16:creationId xmlns:a16="http://schemas.microsoft.com/office/drawing/2014/main" id="{EF05C789-73EB-A6F4-2D09-FF30C41054FB}"/>
              </a:ext>
            </a:extLst>
          </p:cNvPr>
          <p:cNvSpPr txBox="1"/>
          <p:nvPr/>
        </p:nvSpPr>
        <p:spPr>
          <a:xfrm>
            <a:off x="4900958"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- 3 / 4 -</a:t>
            </a:r>
          </a:p>
        </p:txBody>
      </p:sp>
    </p:spTree>
    <p:extLst>
      <p:ext uri="{BB962C8B-B14F-4D97-AF65-F5344CB8AC3E}">
        <p14:creationId xmlns:p14="http://schemas.microsoft.com/office/powerpoint/2010/main" val="1277025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ction Button: Go Back or Previous 339">
            <a:hlinkClick r:id="rId3" action="ppaction://hlinksldjump" highlightClick="1"/>
            <a:extLst>
              <a:ext uri="{FF2B5EF4-FFF2-40B4-BE49-F238E27FC236}">
                <a16:creationId xmlns:a16="http://schemas.microsoft.com/office/drawing/2014/main" id="{4B1C5B4A-DD27-48A0-ED54-16F39DC3B7A8}"/>
              </a:ext>
            </a:extLst>
          </p:cNvPr>
          <p:cNvSpPr/>
          <p:nvPr/>
        </p:nvSpPr>
        <p:spPr>
          <a:xfrm>
            <a:off x="9620345" y="231511"/>
            <a:ext cx="203006" cy="203006"/>
          </a:xfrm>
          <a:prstGeom prst="actionButtonBackPrevious">
            <a:avLst/>
          </a:prstGeom>
          <a:solidFill>
            <a:schemeClr val="bg1">
              <a:lumMod val="85000"/>
            </a:schemeClr>
          </a:solidFill>
          <a:ln w="0"/>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3" name="Rectangle 188">
            <a:extLst>
              <a:ext uri="{FF2B5EF4-FFF2-40B4-BE49-F238E27FC236}">
                <a16:creationId xmlns:a16="http://schemas.microsoft.com/office/drawing/2014/main" id="{FDCBB160-F80E-ECB0-5FFD-1F5973DE9773}"/>
              </a:ext>
            </a:extLst>
          </p:cNvPr>
          <p:cNvSpPr>
            <a:spLocks noChangeArrowheads="1"/>
          </p:cNvSpPr>
          <p:nvPr/>
        </p:nvSpPr>
        <p:spPr bwMode="auto">
          <a:xfrm>
            <a:off x="2755429" y="638161"/>
            <a:ext cx="1296000" cy="261360"/>
          </a:xfrm>
          <a:prstGeom prst="rect">
            <a:avLst/>
          </a:prstGeom>
          <a:solidFill>
            <a:schemeClr val="bg1">
              <a:lumMod val="85000"/>
            </a:schemeClr>
          </a:solidFill>
          <a:ln w="6350" algn="ctr">
            <a:solidFill>
              <a:srgbClr val="808080"/>
            </a:solidFill>
            <a:miter lim="800000"/>
            <a:headEnd/>
            <a:tailEnd/>
          </a:ln>
          <a:effectLst>
            <a:outerShdw dist="38100" dir="2700000" algn="tl" rotWithShape="0">
              <a:srgbClr val="000000">
                <a:alpha val="39999"/>
              </a:srgbClr>
            </a:outerShdw>
          </a:effectLst>
        </p:spPr>
        <p:txBody>
          <a:bodyPr wrap="square" lIns="0" tIns="0" rIns="0" bIns="0" anchor="ctr">
            <a:no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en-US" altLang="ko-KR"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Level 2</a:t>
            </a:r>
            <a:endParaRPr kumimoji="0" lang="ko-KR" altLang="en-US"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4" name="Rectangle 188">
            <a:extLst>
              <a:ext uri="{FF2B5EF4-FFF2-40B4-BE49-F238E27FC236}">
                <a16:creationId xmlns:a16="http://schemas.microsoft.com/office/drawing/2014/main" id="{E0378EB7-EDD3-5B9E-53B5-60F0AB0016CF}"/>
              </a:ext>
            </a:extLst>
          </p:cNvPr>
          <p:cNvSpPr>
            <a:spLocks noChangeArrowheads="1"/>
          </p:cNvSpPr>
          <p:nvPr/>
        </p:nvSpPr>
        <p:spPr bwMode="auto">
          <a:xfrm>
            <a:off x="262151" y="638161"/>
            <a:ext cx="972000" cy="261360"/>
          </a:xfrm>
          <a:prstGeom prst="rect">
            <a:avLst/>
          </a:prstGeom>
          <a:solidFill>
            <a:schemeClr val="bg1">
              <a:lumMod val="85000"/>
            </a:schemeClr>
          </a:solidFill>
          <a:ln w="6350" algn="ctr">
            <a:solidFill>
              <a:srgbClr val="808080"/>
            </a:solidFill>
            <a:miter lim="800000"/>
            <a:headEnd/>
            <a:tailEnd/>
          </a:ln>
          <a:effectLst>
            <a:outerShdw dist="38100" dir="2700000" algn="tl" rotWithShape="0">
              <a:srgbClr val="000000">
                <a:alpha val="39999"/>
              </a:srgbClr>
            </a:outerShdw>
          </a:effectLst>
        </p:spPr>
        <p:txBody>
          <a:bodyPr wrap="square" lIns="0" tIns="0" rIns="0" bIns="0" anchor="ctr">
            <a:no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ko-KR" altLang="en-US"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불량항목</a:t>
            </a:r>
          </a:p>
        </p:txBody>
      </p:sp>
      <p:sp>
        <p:nvSpPr>
          <p:cNvPr id="5" name="Rectangle 188">
            <a:extLst>
              <a:ext uri="{FF2B5EF4-FFF2-40B4-BE49-F238E27FC236}">
                <a16:creationId xmlns:a16="http://schemas.microsoft.com/office/drawing/2014/main" id="{52EA4CD9-C86E-6143-A304-21F7890EA49E}"/>
              </a:ext>
            </a:extLst>
          </p:cNvPr>
          <p:cNvSpPr>
            <a:spLocks noChangeArrowheads="1"/>
          </p:cNvSpPr>
          <p:nvPr/>
        </p:nvSpPr>
        <p:spPr bwMode="auto">
          <a:xfrm>
            <a:off x="1528421" y="638161"/>
            <a:ext cx="972000" cy="261360"/>
          </a:xfrm>
          <a:prstGeom prst="rect">
            <a:avLst/>
          </a:prstGeom>
          <a:solidFill>
            <a:schemeClr val="bg1">
              <a:lumMod val="85000"/>
            </a:schemeClr>
          </a:solidFill>
          <a:ln w="6350" algn="ctr">
            <a:solidFill>
              <a:srgbClr val="808080"/>
            </a:solidFill>
            <a:miter lim="800000"/>
            <a:headEnd/>
            <a:tailEnd/>
          </a:ln>
          <a:effectLst>
            <a:outerShdw dist="38100" dir="2700000" algn="tl" rotWithShape="0">
              <a:srgbClr val="000000">
                <a:alpha val="39999"/>
              </a:srgbClr>
            </a:outerShdw>
          </a:effectLst>
        </p:spPr>
        <p:txBody>
          <a:bodyPr wrap="square" lIns="0" tIns="0" rIns="0" bIns="0" anchor="ctr">
            <a:no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en-US" altLang="ko-KR"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Level 1</a:t>
            </a:r>
            <a:endParaRPr kumimoji="0" lang="ko-KR" altLang="en-US"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6" name="Rectangle 188">
            <a:extLst>
              <a:ext uri="{FF2B5EF4-FFF2-40B4-BE49-F238E27FC236}">
                <a16:creationId xmlns:a16="http://schemas.microsoft.com/office/drawing/2014/main" id="{BFD0E5F1-44C0-6935-24F9-A737C5E7B08B}"/>
              </a:ext>
            </a:extLst>
          </p:cNvPr>
          <p:cNvSpPr>
            <a:spLocks noChangeArrowheads="1"/>
          </p:cNvSpPr>
          <p:nvPr/>
        </p:nvSpPr>
        <p:spPr bwMode="auto">
          <a:xfrm>
            <a:off x="4305000" y="638161"/>
            <a:ext cx="1296000" cy="261360"/>
          </a:xfrm>
          <a:prstGeom prst="rect">
            <a:avLst/>
          </a:prstGeom>
          <a:solidFill>
            <a:schemeClr val="bg1">
              <a:lumMod val="85000"/>
            </a:schemeClr>
          </a:solidFill>
          <a:ln w="6350" algn="ctr">
            <a:solidFill>
              <a:srgbClr val="808080"/>
            </a:solidFill>
            <a:miter lim="800000"/>
            <a:headEnd/>
            <a:tailEnd/>
          </a:ln>
          <a:effectLst>
            <a:outerShdw dist="38100" dir="2700000" algn="tl" rotWithShape="0">
              <a:srgbClr val="000000">
                <a:alpha val="39999"/>
              </a:srgbClr>
            </a:outerShdw>
          </a:effectLst>
        </p:spPr>
        <p:txBody>
          <a:bodyPr wrap="square" lIns="0" tIns="0" rIns="0" bIns="0" anchor="ctr">
            <a:no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en-US" altLang="ko-KR"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Level 3</a:t>
            </a:r>
            <a:endParaRPr kumimoji="0" lang="ko-KR" altLang="en-US"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7" name="Rectangle 188">
            <a:extLst>
              <a:ext uri="{FF2B5EF4-FFF2-40B4-BE49-F238E27FC236}">
                <a16:creationId xmlns:a16="http://schemas.microsoft.com/office/drawing/2014/main" id="{98EDCCCF-6E27-FD6B-DFE8-1FA3B6265493}"/>
              </a:ext>
            </a:extLst>
          </p:cNvPr>
          <p:cNvSpPr>
            <a:spLocks noChangeArrowheads="1"/>
          </p:cNvSpPr>
          <p:nvPr/>
        </p:nvSpPr>
        <p:spPr bwMode="auto">
          <a:xfrm>
            <a:off x="5824298" y="638161"/>
            <a:ext cx="3967401" cy="261360"/>
          </a:xfrm>
          <a:prstGeom prst="rect">
            <a:avLst/>
          </a:prstGeom>
          <a:solidFill>
            <a:schemeClr val="bg1">
              <a:lumMod val="85000"/>
            </a:schemeClr>
          </a:solidFill>
          <a:ln w="6350" algn="ctr">
            <a:solidFill>
              <a:srgbClr val="808080"/>
            </a:solidFill>
            <a:miter lim="800000"/>
            <a:headEnd/>
            <a:tailEnd/>
          </a:ln>
          <a:effectLst>
            <a:outerShdw dist="38100" dir="2700000" algn="tl" rotWithShape="0">
              <a:srgbClr val="000000">
                <a:alpha val="39999"/>
              </a:srgbClr>
            </a:outerShdw>
          </a:effectLst>
        </p:spPr>
        <p:txBody>
          <a:bodyPr wrap="square" lIns="0" tIns="0" rIns="0" bIns="0" anchor="ctr">
            <a:noAutofit/>
          </a:bodyPr>
          <a:lstStyle/>
          <a:p>
            <a:pPr marL="0" marR="0" lvl="0" indent="0" algn="ctr" defTabSz="457200" rtl="0" eaLnBrk="1" fontAlgn="auto" latinLnBrk="0" hangingPunct="1">
              <a:lnSpc>
                <a:spcPct val="110000"/>
              </a:lnSpc>
              <a:spcBef>
                <a:spcPts val="0"/>
              </a:spcBef>
              <a:spcAft>
                <a:spcPts val="0"/>
              </a:spcAft>
              <a:buClrTx/>
              <a:buSzTx/>
              <a:buFontTx/>
              <a:buNone/>
              <a:tabLst/>
              <a:defRPr/>
            </a:pPr>
            <a:r>
              <a:rPr kumimoji="0" lang="ko-KR" altLang="en-US" sz="105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검토 결과</a:t>
            </a:r>
          </a:p>
        </p:txBody>
      </p:sp>
      <p:sp>
        <p:nvSpPr>
          <p:cNvPr id="9" name="Rectangle 439">
            <a:extLst>
              <a:ext uri="{FF2B5EF4-FFF2-40B4-BE49-F238E27FC236}">
                <a16:creationId xmlns:a16="http://schemas.microsoft.com/office/drawing/2014/main" id="{CC37BDAB-3CE3-04FE-951B-6D507499FFA2}"/>
              </a:ext>
            </a:extLst>
          </p:cNvPr>
          <p:cNvSpPr>
            <a:spLocks noChangeArrowheads="1"/>
          </p:cNvSpPr>
          <p:nvPr/>
        </p:nvSpPr>
        <p:spPr bwMode="auto">
          <a:xfrm>
            <a:off x="262150" y="1088761"/>
            <a:ext cx="970564"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Cell</a:t>
            </a: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 </a:t>
            </a:r>
            <a:r>
              <a:rPr kumimoji="0" lang="ko-KR" altLang="en-US" sz="1000" b="1" i="0" u="none" strike="noStrike" kern="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벤딩</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0" name="Rectangle 439">
            <a:extLst>
              <a:ext uri="{FF2B5EF4-FFF2-40B4-BE49-F238E27FC236}">
                <a16:creationId xmlns:a16="http://schemas.microsoft.com/office/drawing/2014/main" id="{6010811E-6F78-6677-E68F-99222B24CA46}"/>
              </a:ext>
            </a:extLst>
          </p:cNvPr>
          <p:cNvSpPr>
            <a:spLocks noChangeArrowheads="1"/>
          </p:cNvSpPr>
          <p:nvPr/>
        </p:nvSpPr>
        <p:spPr bwMode="auto">
          <a:xfrm>
            <a:off x="1528975" y="1424847"/>
            <a:ext cx="970564"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전극</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1" name="Rectangle 439">
            <a:extLst>
              <a:ext uri="{FF2B5EF4-FFF2-40B4-BE49-F238E27FC236}">
                <a16:creationId xmlns:a16="http://schemas.microsoft.com/office/drawing/2014/main" id="{78FCA9B9-12DF-CB8C-B312-D848312A1F81}"/>
              </a:ext>
            </a:extLst>
          </p:cNvPr>
          <p:cNvSpPr>
            <a:spLocks noChangeArrowheads="1"/>
          </p:cNvSpPr>
          <p:nvPr/>
        </p:nvSpPr>
        <p:spPr bwMode="auto">
          <a:xfrm>
            <a:off x="2755429" y="142484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리와인더</a:t>
            </a: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 </a:t>
            </a:r>
            <a:r>
              <a:rPr kumimoji="0" lang="ko-KR" altLang="en-US" sz="1000" b="1" i="0" u="none" strike="noStrike" kern="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텐션</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2" name="Rectangle 439">
            <a:extLst>
              <a:ext uri="{FF2B5EF4-FFF2-40B4-BE49-F238E27FC236}">
                <a16:creationId xmlns:a16="http://schemas.microsoft.com/office/drawing/2014/main" id="{50422363-EDDA-BAE1-D4DD-39FA6C6D8C0A}"/>
              </a:ext>
            </a:extLst>
          </p:cNvPr>
          <p:cNvSpPr>
            <a:spLocks noChangeArrowheads="1"/>
          </p:cNvSpPr>
          <p:nvPr/>
        </p:nvSpPr>
        <p:spPr bwMode="auto">
          <a:xfrm>
            <a:off x="4305000" y="142484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코터 텐션 값</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3" name="Rectangle 439">
            <a:extLst>
              <a:ext uri="{FF2B5EF4-FFF2-40B4-BE49-F238E27FC236}">
                <a16:creationId xmlns:a16="http://schemas.microsoft.com/office/drawing/2014/main" id="{CAEFD204-21DB-1CE6-97C8-7621D1F8F8EF}"/>
              </a:ext>
            </a:extLst>
          </p:cNvPr>
          <p:cNvSpPr>
            <a:spLocks noChangeArrowheads="1"/>
          </p:cNvSpPr>
          <p:nvPr/>
        </p:nvSpPr>
        <p:spPr bwMode="auto">
          <a:xfrm>
            <a:off x="5814774" y="1424847"/>
            <a:ext cx="3024000"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검증 진행 중 </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(~9/5)</a:t>
            </a:r>
          </a:p>
        </p:txBody>
      </p:sp>
      <p:cxnSp>
        <p:nvCxnSpPr>
          <p:cNvPr id="14" name="직선 연결선 81">
            <a:extLst>
              <a:ext uri="{FF2B5EF4-FFF2-40B4-BE49-F238E27FC236}">
                <a16:creationId xmlns:a16="http://schemas.microsoft.com/office/drawing/2014/main" id="{4DE29FF4-386F-31E7-B0F7-B1416E1BA013}"/>
              </a:ext>
            </a:extLst>
          </p:cNvPr>
          <p:cNvCxnSpPr>
            <a:stCxn id="10" idx="3"/>
            <a:endCxn id="11" idx="1"/>
          </p:cNvCxnSpPr>
          <p:nvPr/>
        </p:nvCxnSpPr>
        <p:spPr>
          <a:xfrm>
            <a:off x="2499539" y="1533036"/>
            <a:ext cx="25589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직선 연결선 85">
            <a:extLst>
              <a:ext uri="{FF2B5EF4-FFF2-40B4-BE49-F238E27FC236}">
                <a16:creationId xmlns:a16="http://schemas.microsoft.com/office/drawing/2014/main" id="{9D3C07E5-64DE-02EF-9563-C1C5C0CC963B}"/>
              </a:ext>
            </a:extLst>
          </p:cNvPr>
          <p:cNvCxnSpPr>
            <a:stCxn id="11" idx="3"/>
            <a:endCxn id="12" idx="1"/>
          </p:cNvCxnSpPr>
          <p:nvPr/>
        </p:nvCxnSpPr>
        <p:spPr>
          <a:xfrm>
            <a:off x="4051429" y="1533036"/>
            <a:ext cx="25357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439">
            <a:extLst>
              <a:ext uri="{FF2B5EF4-FFF2-40B4-BE49-F238E27FC236}">
                <a16:creationId xmlns:a16="http://schemas.microsoft.com/office/drawing/2014/main" id="{A1598FA8-E8D9-D3DB-CFCB-8DD0D0FF59BD}"/>
              </a:ext>
            </a:extLst>
          </p:cNvPr>
          <p:cNvSpPr>
            <a:spLocks noChangeArrowheads="1"/>
          </p:cNvSpPr>
          <p:nvPr/>
        </p:nvSpPr>
        <p:spPr bwMode="auto">
          <a:xfrm>
            <a:off x="1528975" y="3799422"/>
            <a:ext cx="970564"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L&amp;S</a:t>
            </a:r>
          </a:p>
        </p:txBody>
      </p:sp>
      <p:sp>
        <p:nvSpPr>
          <p:cNvPr id="17" name="Rectangle 439">
            <a:extLst>
              <a:ext uri="{FF2B5EF4-FFF2-40B4-BE49-F238E27FC236}">
                <a16:creationId xmlns:a16="http://schemas.microsoft.com/office/drawing/2014/main" id="{88091862-2FA2-D077-71D5-A77FAAC14510}"/>
              </a:ext>
            </a:extLst>
          </p:cNvPr>
          <p:cNvSpPr>
            <a:spLocks noChangeArrowheads="1"/>
          </p:cNvSpPr>
          <p:nvPr/>
        </p:nvSpPr>
        <p:spPr bwMode="auto">
          <a:xfrm>
            <a:off x="2755429" y="3799422"/>
            <a:ext cx="1296000" cy="216378"/>
          </a:xfrm>
          <a:prstGeom prst="rect">
            <a:avLst/>
          </a:prstGeom>
          <a:solidFill>
            <a:schemeClr val="dk1">
              <a:alpha val="10000"/>
            </a:schemeClr>
          </a:solidFill>
          <a:ln>
            <a:noFill/>
          </a:ln>
        </p:spPr>
        <p:style>
          <a:lnRef idx="0">
            <a:scrgbClr r="0" g="0" b="0"/>
          </a:lnRef>
          <a:fillRef idx="0">
            <a:scrgbClr r="0" g="0" b="0"/>
          </a:fillRef>
          <a:effectRef idx="0">
            <a:scrgbClr r="0" g="0" b="0"/>
          </a:effectRef>
          <a:fontRef idx="minor">
            <a:schemeClr val="lt1"/>
          </a:fontRef>
        </p:style>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Laminated</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 공정조건</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8" name="Rectangle 439">
            <a:extLst>
              <a:ext uri="{FF2B5EF4-FFF2-40B4-BE49-F238E27FC236}">
                <a16:creationId xmlns:a16="http://schemas.microsoft.com/office/drawing/2014/main" id="{A6607F6A-8956-E433-EB78-48A9A71849F8}"/>
              </a:ext>
            </a:extLst>
          </p:cNvPr>
          <p:cNvSpPr>
            <a:spLocks noChangeArrowheads="1"/>
          </p:cNvSpPr>
          <p:nvPr/>
        </p:nvSpPr>
        <p:spPr bwMode="auto">
          <a:xfrm>
            <a:off x="5814773" y="3799422"/>
            <a:ext cx="3976925" cy="216378"/>
          </a:xfrm>
          <a:prstGeom prst="rect">
            <a:avLst/>
          </a:prstGeom>
          <a:noFill/>
          <a:ln w="6350" algn="ctr">
            <a:noFill/>
            <a:miter lim="800000"/>
            <a:headEnd/>
            <a:tailEnd/>
          </a:ln>
          <a:effectLst/>
        </p:spPr>
        <p:txBody>
          <a:bodyPr wrap="none" lIns="0" tIns="46799" rIns="0" bIns="46799" anchor="ctr"/>
          <a:lstStyle/>
          <a:p>
            <a:pPr marL="228600" marR="0" lvl="0" indent="-22860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Arial" pitchFamily="34" charset="0"/>
              </a:rPr>
              <a:t>유의성 없음</a:t>
            </a:r>
            <a:endParaRPr kumimoji="0" lang="en-US" altLang="ko-KR" sz="1000" b="0" i="0" u="none" strike="noStrike" kern="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9" name="Rectangle 439">
            <a:extLst>
              <a:ext uri="{FF2B5EF4-FFF2-40B4-BE49-F238E27FC236}">
                <a16:creationId xmlns:a16="http://schemas.microsoft.com/office/drawing/2014/main" id="{A31EF22C-2AD7-03B6-D41C-6EE1E56D0BC7}"/>
              </a:ext>
            </a:extLst>
          </p:cNvPr>
          <p:cNvSpPr>
            <a:spLocks noChangeArrowheads="1"/>
          </p:cNvSpPr>
          <p:nvPr/>
        </p:nvSpPr>
        <p:spPr bwMode="auto">
          <a:xfrm>
            <a:off x="4305000" y="3799422"/>
            <a:ext cx="1296000" cy="216378"/>
          </a:xfrm>
          <a:prstGeom prst="rect">
            <a:avLst/>
          </a:prstGeom>
          <a:solidFill>
            <a:schemeClr val="dk1">
              <a:alpha val="10000"/>
            </a:schemeClr>
          </a:solidFill>
          <a:ln>
            <a:noFill/>
          </a:ln>
        </p:spPr>
        <p:style>
          <a:lnRef idx="0">
            <a:scrgbClr r="0" g="0" b="0"/>
          </a:lnRef>
          <a:fillRef idx="0">
            <a:scrgbClr r="0" g="0" b="0"/>
          </a:fillRef>
          <a:effectRef idx="0">
            <a:scrgbClr r="0" g="0" b="0"/>
          </a:effectRef>
          <a:fontRef idx="minor">
            <a:schemeClr val="lt1"/>
          </a:fontRef>
        </p:style>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0" i="0" u="none" strike="noStrike" kern="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Lami</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 roll pressure</a:t>
            </a:r>
          </a:p>
        </p:txBody>
      </p:sp>
      <p:cxnSp>
        <p:nvCxnSpPr>
          <p:cNvPr id="20" name="직선 연결선 22">
            <a:extLst>
              <a:ext uri="{FF2B5EF4-FFF2-40B4-BE49-F238E27FC236}">
                <a16:creationId xmlns:a16="http://schemas.microsoft.com/office/drawing/2014/main" id="{85190BC3-203C-C31E-CE1D-BC6AECFF533D}"/>
              </a:ext>
            </a:extLst>
          </p:cNvPr>
          <p:cNvCxnSpPr>
            <a:stCxn id="16" idx="3"/>
            <a:endCxn id="17" idx="1"/>
          </p:cNvCxnSpPr>
          <p:nvPr/>
        </p:nvCxnSpPr>
        <p:spPr>
          <a:xfrm>
            <a:off x="2499539" y="3907611"/>
            <a:ext cx="25589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직선 연결선 23">
            <a:extLst>
              <a:ext uri="{FF2B5EF4-FFF2-40B4-BE49-F238E27FC236}">
                <a16:creationId xmlns:a16="http://schemas.microsoft.com/office/drawing/2014/main" id="{E50E12DB-2C0C-ED01-351F-29438FD145D3}"/>
              </a:ext>
            </a:extLst>
          </p:cNvPr>
          <p:cNvCxnSpPr>
            <a:cxnSpLocks/>
            <a:stCxn id="17" idx="3"/>
            <a:endCxn id="19" idx="1"/>
          </p:cNvCxnSpPr>
          <p:nvPr/>
        </p:nvCxnSpPr>
        <p:spPr>
          <a:xfrm>
            <a:off x="4051429" y="3907611"/>
            <a:ext cx="25357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Rectangle 439">
            <a:extLst>
              <a:ext uri="{FF2B5EF4-FFF2-40B4-BE49-F238E27FC236}">
                <a16:creationId xmlns:a16="http://schemas.microsoft.com/office/drawing/2014/main" id="{4DD6AB20-BD19-98F8-AF6F-0CD0280FB664}"/>
              </a:ext>
            </a:extLst>
          </p:cNvPr>
          <p:cNvSpPr>
            <a:spLocks noChangeArrowheads="1"/>
          </p:cNvSpPr>
          <p:nvPr/>
        </p:nvSpPr>
        <p:spPr bwMode="auto">
          <a:xfrm>
            <a:off x="2755429" y="481709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라미 롤러 스피드</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23" name="Rectangle 439">
            <a:extLst>
              <a:ext uri="{FF2B5EF4-FFF2-40B4-BE49-F238E27FC236}">
                <a16:creationId xmlns:a16="http://schemas.microsoft.com/office/drawing/2014/main" id="{39A35A75-A6D1-13E1-0070-7CE985776707}"/>
              </a:ext>
            </a:extLst>
          </p:cNvPr>
          <p:cNvSpPr>
            <a:spLocks noChangeArrowheads="1"/>
          </p:cNvSpPr>
          <p:nvPr/>
        </p:nvSpPr>
        <p:spPr bwMode="auto">
          <a:xfrm>
            <a:off x="4305000" y="4138647"/>
            <a:ext cx="1296000" cy="216378"/>
          </a:xfrm>
          <a:prstGeom prst="rect">
            <a:avLst/>
          </a:prstGeom>
          <a:solidFill>
            <a:schemeClr val="dk1">
              <a:alpha val="10000"/>
            </a:schemeClr>
          </a:solidFill>
          <a:ln>
            <a:noFill/>
          </a:ln>
        </p:spPr>
        <p:style>
          <a:lnRef idx="0">
            <a:scrgbClr r="0" g="0" b="0"/>
          </a:lnRef>
          <a:fillRef idx="0">
            <a:scrgbClr r="0" g="0" b="0"/>
          </a:fillRef>
          <a:effectRef idx="0">
            <a:scrgbClr r="0" g="0" b="0"/>
          </a:effectRef>
          <a:fontRef idx="minor">
            <a:schemeClr val="lt1"/>
          </a:fontRef>
        </p:style>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IR/</a:t>
            </a:r>
            <a:r>
              <a:rPr kumimoji="0" lang="en-US" altLang="ko-KR" sz="10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Mica heater</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24" name="Rectangle 439">
            <a:extLst>
              <a:ext uri="{FF2B5EF4-FFF2-40B4-BE49-F238E27FC236}">
                <a16:creationId xmlns:a16="http://schemas.microsoft.com/office/drawing/2014/main" id="{865D014C-AA89-43E2-8CC7-A4FE2122E4CA}"/>
              </a:ext>
            </a:extLst>
          </p:cNvPr>
          <p:cNvSpPr>
            <a:spLocks noChangeArrowheads="1"/>
          </p:cNvSpPr>
          <p:nvPr/>
        </p:nvSpPr>
        <p:spPr bwMode="auto">
          <a:xfrm>
            <a:off x="4305000" y="4477872"/>
            <a:ext cx="1296000" cy="216378"/>
          </a:xfrm>
          <a:prstGeom prst="rect">
            <a:avLst/>
          </a:prstGeom>
          <a:solidFill>
            <a:schemeClr val="dk1">
              <a:alpha val="10000"/>
            </a:schemeClr>
          </a:solidFill>
          <a:ln>
            <a:noFill/>
          </a:ln>
        </p:spPr>
        <p:style>
          <a:lnRef idx="0">
            <a:scrgbClr r="0" g="0" b="0"/>
          </a:lnRef>
          <a:fillRef idx="0">
            <a:scrgbClr r="0" g="0" b="0"/>
          </a:fillRef>
          <a:effectRef idx="0">
            <a:scrgbClr r="0" g="0" b="0"/>
          </a:effectRef>
          <a:fontRef idx="minor">
            <a:schemeClr val="lt1"/>
          </a:fontRef>
        </p:style>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라미 </a:t>
            </a:r>
            <a:r>
              <a:rPr kumimoji="0" lang="ko-KR" altLang="en-US" sz="10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롤 </a:t>
            </a:r>
            <a:r>
              <a:rPr kumimoji="0" lang="en-US" altLang="ko-KR" sz="1000" b="0"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Heater</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25" name="Rectangle 439">
            <a:extLst>
              <a:ext uri="{FF2B5EF4-FFF2-40B4-BE49-F238E27FC236}">
                <a16:creationId xmlns:a16="http://schemas.microsoft.com/office/drawing/2014/main" id="{D5BB33C8-E0E8-6B7C-3238-153FCCD31A01}"/>
              </a:ext>
            </a:extLst>
          </p:cNvPr>
          <p:cNvSpPr>
            <a:spLocks noChangeArrowheads="1"/>
          </p:cNvSpPr>
          <p:nvPr/>
        </p:nvSpPr>
        <p:spPr bwMode="auto">
          <a:xfrm>
            <a:off x="4305000" y="481709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상</a:t>
            </a: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a:t>
            </a: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하 롤러 속도비</a:t>
            </a: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a:t>
            </a:r>
          </a:p>
        </p:txBody>
      </p:sp>
      <p:cxnSp>
        <p:nvCxnSpPr>
          <p:cNvPr id="26" name="연결선: 꺾임 29">
            <a:extLst>
              <a:ext uri="{FF2B5EF4-FFF2-40B4-BE49-F238E27FC236}">
                <a16:creationId xmlns:a16="http://schemas.microsoft.com/office/drawing/2014/main" id="{A5274F66-9229-4066-0F66-E8BAD8FB7F87}"/>
              </a:ext>
            </a:extLst>
          </p:cNvPr>
          <p:cNvCxnSpPr>
            <a:cxnSpLocks/>
            <a:stCxn id="17" idx="3"/>
            <a:endCxn id="23" idx="1"/>
          </p:cNvCxnSpPr>
          <p:nvPr/>
        </p:nvCxnSpPr>
        <p:spPr>
          <a:xfrm>
            <a:off x="4051429" y="3907611"/>
            <a:ext cx="253571" cy="339225"/>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439">
            <a:extLst>
              <a:ext uri="{FF2B5EF4-FFF2-40B4-BE49-F238E27FC236}">
                <a16:creationId xmlns:a16="http://schemas.microsoft.com/office/drawing/2014/main" id="{48FF3573-1E11-F469-6158-4A513BC152D2}"/>
              </a:ext>
            </a:extLst>
          </p:cNvPr>
          <p:cNvSpPr>
            <a:spLocks noChangeArrowheads="1"/>
          </p:cNvSpPr>
          <p:nvPr/>
        </p:nvSpPr>
        <p:spPr bwMode="auto">
          <a:xfrm>
            <a:off x="5814774" y="4130680"/>
            <a:ext cx="988936" cy="216378"/>
          </a:xfrm>
          <a:prstGeom prst="rect">
            <a:avLst/>
          </a:prstGeom>
          <a:noFill/>
          <a:ln w="6350" algn="ctr">
            <a:noFill/>
            <a:miter lim="800000"/>
            <a:headEnd/>
            <a:tailEnd/>
          </a:ln>
          <a:effectLst/>
        </p:spPr>
        <p:txBody>
          <a:bodyPr wrap="none" lIns="0" tIns="46799" rIns="0" bIns="46799" anchor="ctr"/>
          <a:lstStyle/>
          <a:p>
            <a:pPr marL="228600" marR="0" lvl="0" indent="-22860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Arial" pitchFamily="34" charset="0"/>
              </a:rPr>
              <a:t>유의성 없음</a:t>
            </a:r>
            <a:endParaRPr kumimoji="0" lang="en-US" altLang="ko-KR" sz="1000" b="0" i="0" u="none" strike="noStrike" kern="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28" name="Rectangle 439">
            <a:extLst>
              <a:ext uri="{FF2B5EF4-FFF2-40B4-BE49-F238E27FC236}">
                <a16:creationId xmlns:a16="http://schemas.microsoft.com/office/drawing/2014/main" id="{1B957511-6E61-0333-CE3A-67E7DA2B6A2F}"/>
              </a:ext>
            </a:extLst>
          </p:cNvPr>
          <p:cNvSpPr>
            <a:spLocks noChangeArrowheads="1"/>
          </p:cNvSpPr>
          <p:nvPr/>
        </p:nvSpPr>
        <p:spPr bwMode="auto">
          <a:xfrm>
            <a:off x="5814773" y="4817097"/>
            <a:ext cx="3907077" cy="216378"/>
          </a:xfrm>
          <a:prstGeom prst="rect">
            <a:avLst/>
          </a:prstGeom>
          <a:noFill/>
          <a:ln w="6350" algn="ctr">
            <a:noFill/>
            <a:miter lim="800000"/>
            <a:headEnd/>
            <a:tailEnd/>
          </a:ln>
          <a:effectLst/>
        </p:spPr>
        <p:txBody>
          <a:bodyPr wrap="none" lIns="0" tIns="46799" rIns="0" bIns="46799" anchor="ctr"/>
          <a:lstStyle/>
          <a:p>
            <a:pPr marL="228600" marR="0" lvl="0" indent="-22860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유의함</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29" name="Rectangle 439">
            <a:extLst>
              <a:ext uri="{FF2B5EF4-FFF2-40B4-BE49-F238E27FC236}">
                <a16:creationId xmlns:a16="http://schemas.microsoft.com/office/drawing/2014/main" id="{BB916172-188F-23BC-8B7C-F44A856613B5}"/>
              </a:ext>
            </a:extLst>
          </p:cNvPr>
          <p:cNvSpPr>
            <a:spLocks noChangeArrowheads="1"/>
          </p:cNvSpPr>
          <p:nvPr/>
        </p:nvSpPr>
        <p:spPr bwMode="auto">
          <a:xfrm>
            <a:off x="5814774" y="4477872"/>
            <a:ext cx="3024000" cy="216378"/>
          </a:xfrm>
          <a:prstGeom prst="rect">
            <a:avLst/>
          </a:prstGeom>
          <a:noFill/>
          <a:ln w="6350" algn="ctr">
            <a:noFill/>
            <a:miter lim="800000"/>
            <a:headEnd/>
            <a:tailEnd/>
          </a:ln>
          <a:effectLst/>
        </p:spPr>
        <p:txBody>
          <a:bodyPr wrap="none" lIns="0" tIns="46799" rIns="0" bIns="46799" anchor="ctr"/>
          <a:lstStyle/>
          <a:p>
            <a:pPr marL="228600" marR="0" lvl="0" indent="-22860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Arial" pitchFamily="34" charset="0"/>
              </a:rPr>
              <a:t>유의성 없음</a:t>
            </a:r>
            <a:endParaRPr kumimoji="0" lang="en-US" altLang="ko-KR" sz="1000" b="0" i="0" u="none" strike="noStrike" kern="0" cap="none" spc="0" normalizeH="0" baseline="0" noProof="0" dirty="0">
              <a:ln>
                <a:noFill/>
              </a:ln>
              <a:solidFill>
                <a:prstClr val="white">
                  <a:lumMod val="65000"/>
                </a:prstClr>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30" name="꺾인 연결선 70">
            <a:extLst>
              <a:ext uri="{FF2B5EF4-FFF2-40B4-BE49-F238E27FC236}">
                <a16:creationId xmlns:a16="http://schemas.microsoft.com/office/drawing/2014/main" id="{786FEED4-8D6C-5741-9956-0BFE9B5B5C09}"/>
              </a:ext>
            </a:extLst>
          </p:cNvPr>
          <p:cNvCxnSpPr>
            <a:cxnSpLocks/>
            <a:stCxn id="9" idx="3"/>
            <a:endCxn id="16" idx="1"/>
          </p:cNvCxnSpPr>
          <p:nvPr/>
        </p:nvCxnSpPr>
        <p:spPr>
          <a:xfrm>
            <a:off x="1232714" y="1196950"/>
            <a:ext cx="296261" cy="2710661"/>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연결선: 꺾임 36">
            <a:extLst>
              <a:ext uri="{FF2B5EF4-FFF2-40B4-BE49-F238E27FC236}">
                <a16:creationId xmlns:a16="http://schemas.microsoft.com/office/drawing/2014/main" id="{69649EAE-04EB-324C-AE0D-35EAE5B1FAE2}"/>
              </a:ext>
            </a:extLst>
          </p:cNvPr>
          <p:cNvCxnSpPr>
            <a:cxnSpLocks/>
            <a:stCxn id="17" idx="3"/>
            <a:endCxn id="24" idx="1"/>
          </p:cNvCxnSpPr>
          <p:nvPr/>
        </p:nvCxnSpPr>
        <p:spPr>
          <a:xfrm>
            <a:off x="4051429" y="3907611"/>
            <a:ext cx="253571" cy="678450"/>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439">
            <a:extLst>
              <a:ext uri="{FF2B5EF4-FFF2-40B4-BE49-F238E27FC236}">
                <a16:creationId xmlns:a16="http://schemas.microsoft.com/office/drawing/2014/main" id="{DBC854C2-57C1-9F30-9C1B-E37779529C45}"/>
              </a:ext>
            </a:extLst>
          </p:cNvPr>
          <p:cNvSpPr>
            <a:spLocks noChangeArrowheads="1"/>
          </p:cNvSpPr>
          <p:nvPr/>
        </p:nvSpPr>
        <p:spPr bwMode="auto">
          <a:xfrm>
            <a:off x="4305000" y="1764072"/>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롤프레스 텐션 값</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33" name="연결선: 꺾임 15">
            <a:extLst>
              <a:ext uri="{FF2B5EF4-FFF2-40B4-BE49-F238E27FC236}">
                <a16:creationId xmlns:a16="http://schemas.microsoft.com/office/drawing/2014/main" id="{FC2908BA-E773-D9E3-672C-389C7DBD012A}"/>
              </a:ext>
            </a:extLst>
          </p:cNvPr>
          <p:cNvCxnSpPr>
            <a:cxnSpLocks/>
            <a:stCxn id="11" idx="3"/>
            <a:endCxn id="44" idx="1"/>
          </p:cNvCxnSpPr>
          <p:nvPr/>
        </p:nvCxnSpPr>
        <p:spPr>
          <a:xfrm>
            <a:off x="4051429" y="1533036"/>
            <a:ext cx="253571" cy="678450"/>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439">
            <a:extLst>
              <a:ext uri="{FF2B5EF4-FFF2-40B4-BE49-F238E27FC236}">
                <a16:creationId xmlns:a16="http://schemas.microsoft.com/office/drawing/2014/main" id="{766DEB60-6A73-548B-5167-DBD271E1DAA5}"/>
              </a:ext>
            </a:extLst>
          </p:cNvPr>
          <p:cNvSpPr>
            <a:spLocks noChangeArrowheads="1"/>
          </p:cNvSpPr>
          <p:nvPr/>
        </p:nvSpPr>
        <p:spPr bwMode="auto">
          <a:xfrm>
            <a:off x="5824298" y="1749414"/>
            <a:ext cx="1133715"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추가논의 필요</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39" name="Rectangle 439">
            <a:extLst>
              <a:ext uri="{FF2B5EF4-FFF2-40B4-BE49-F238E27FC236}">
                <a16:creationId xmlns:a16="http://schemas.microsoft.com/office/drawing/2014/main" id="{01BF8802-F476-4F63-1AB6-213DF42E3B64}"/>
              </a:ext>
            </a:extLst>
          </p:cNvPr>
          <p:cNvSpPr>
            <a:spLocks noChangeArrowheads="1"/>
          </p:cNvSpPr>
          <p:nvPr/>
        </p:nvSpPr>
        <p:spPr bwMode="auto">
          <a:xfrm>
            <a:off x="2755428" y="2442522"/>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보관 기간</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40" name="Rectangle 439">
            <a:extLst>
              <a:ext uri="{FF2B5EF4-FFF2-40B4-BE49-F238E27FC236}">
                <a16:creationId xmlns:a16="http://schemas.microsoft.com/office/drawing/2014/main" id="{9985BEF1-CE8C-8FE8-E270-6469B60548B3}"/>
              </a:ext>
            </a:extLst>
          </p:cNvPr>
          <p:cNvSpPr>
            <a:spLocks noChangeArrowheads="1"/>
          </p:cNvSpPr>
          <p:nvPr/>
        </p:nvSpPr>
        <p:spPr bwMode="auto">
          <a:xfrm>
            <a:off x="4305000" y="2442522"/>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최단 기간 검증</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41" name="직선 연결선 39">
            <a:extLst>
              <a:ext uri="{FF2B5EF4-FFF2-40B4-BE49-F238E27FC236}">
                <a16:creationId xmlns:a16="http://schemas.microsoft.com/office/drawing/2014/main" id="{0720C59A-CF59-9C08-C49A-674101AB8349}"/>
              </a:ext>
            </a:extLst>
          </p:cNvPr>
          <p:cNvCxnSpPr>
            <a:cxnSpLocks/>
            <a:stCxn id="39" idx="3"/>
            <a:endCxn id="40" idx="1"/>
          </p:cNvCxnSpPr>
          <p:nvPr/>
        </p:nvCxnSpPr>
        <p:spPr>
          <a:xfrm>
            <a:off x="4051428" y="2550711"/>
            <a:ext cx="2535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39">
            <a:extLst>
              <a:ext uri="{FF2B5EF4-FFF2-40B4-BE49-F238E27FC236}">
                <a16:creationId xmlns:a16="http://schemas.microsoft.com/office/drawing/2014/main" id="{6D98FABB-B2EC-9EEF-3E70-862344738286}"/>
              </a:ext>
            </a:extLst>
          </p:cNvPr>
          <p:cNvSpPr>
            <a:spLocks noChangeArrowheads="1"/>
          </p:cNvSpPr>
          <p:nvPr/>
        </p:nvSpPr>
        <p:spPr bwMode="auto">
          <a:xfrm>
            <a:off x="5814774" y="2431510"/>
            <a:ext cx="3024000"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검증 진행 중 </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(~9/8 )</a:t>
            </a:r>
          </a:p>
        </p:txBody>
      </p:sp>
      <p:sp>
        <p:nvSpPr>
          <p:cNvPr id="44" name="Rectangle 439">
            <a:extLst>
              <a:ext uri="{FF2B5EF4-FFF2-40B4-BE49-F238E27FC236}">
                <a16:creationId xmlns:a16="http://schemas.microsoft.com/office/drawing/2014/main" id="{CD979788-F565-F29F-C4FC-FFF1BDDA6CE6}"/>
              </a:ext>
            </a:extLst>
          </p:cNvPr>
          <p:cNvSpPr>
            <a:spLocks noChangeArrowheads="1"/>
          </p:cNvSpPr>
          <p:nvPr/>
        </p:nvSpPr>
        <p:spPr bwMode="auto">
          <a:xfrm>
            <a:off x="4305000" y="210329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N&amp;D </a:t>
            </a: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텐션 값</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45" name="Rectangle 439">
            <a:extLst>
              <a:ext uri="{FF2B5EF4-FFF2-40B4-BE49-F238E27FC236}">
                <a16:creationId xmlns:a16="http://schemas.microsoft.com/office/drawing/2014/main" id="{20CF50AC-F631-62C2-1809-9C296C07B224}"/>
              </a:ext>
            </a:extLst>
          </p:cNvPr>
          <p:cNvSpPr>
            <a:spLocks noChangeArrowheads="1"/>
          </p:cNvSpPr>
          <p:nvPr/>
        </p:nvSpPr>
        <p:spPr bwMode="auto">
          <a:xfrm>
            <a:off x="5814774" y="2070713"/>
            <a:ext cx="1209914"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추가 논의 필요</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46" name="연결선: 꺾임 48">
            <a:extLst>
              <a:ext uri="{FF2B5EF4-FFF2-40B4-BE49-F238E27FC236}">
                <a16:creationId xmlns:a16="http://schemas.microsoft.com/office/drawing/2014/main" id="{1B0AEAB1-94E6-392F-628D-3DA204AC984B}"/>
              </a:ext>
            </a:extLst>
          </p:cNvPr>
          <p:cNvCxnSpPr>
            <a:cxnSpLocks/>
            <a:stCxn id="10" idx="3"/>
            <a:endCxn id="39" idx="1"/>
          </p:cNvCxnSpPr>
          <p:nvPr/>
        </p:nvCxnSpPr>
        <p:spPr>
          <a:xfrm>
            <a:off x="2499539" y="1533036"/>
            <a:ext cx="255889" cy="1017675"/>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39">
            <a:extLst>
              <a:ext uri="{FF2B5EF4-FFF2-40B4-BE49-F238E27FC236}">
                <a16:creationId xmlns:a16="http://schemas.microsoft.com/office/drawing/2014/main" id="{16859856-6764-CE33-4015-27DD5321CE1F}"/>
              </a:ext>
            </a:extLst>
          </p:cNvPr>
          <p:cNvSpPr>
            <a:spLocks noChangeArrowheads="1"/>
          </p:cNvSpPr>
          <p:nvPr/>
        </p:nvSpPr>
        <p:spPr bwMode="auto">
          <a:xfrm>
            <a:off x="1528975" y="5834772"/>
            <a:ext cx="970564"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Formation</a:t>
            </a:r>
          </a:p>
        </p:txBody>
      </p:sp>
      <p:sp>
        <p:nvSpPr>
          <p:cNvPr id="48" name="Rectangle 439">
            <a:extLst>
              <a:ext uri="{FF2B5EF4-FFF2-40B4-BE49-F238E27FC236}">
                <a16:creationId xmlns:a16="http://schemas.microsoft.com/office/drawing/2014/main" id="{E046C00F-BB02-2ECA-3005-2E5CC566EF77}"/>
              </a:ext>
            </a:extLst>
          </p:cNvPr>
          <p:cNvSpPr>
            <a:spLocks noChangeArrowheads="1"/>
          </p:cNvSpPr>
          <p:nvPr/>
        </p:nvSpPr>
        <p:spPr bwMode="auto">
          <a:xfrm>
            <a:off x="2755428" y="5834772"/>
            <a:ext cx="1295999"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분리막 </a:t>
            </a: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Wet</a:t>
            </a: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접착력</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49" name="Rectangle 439">
            <a:extLst>
              <a:ext uri="{FF2B5EF4-FFF2-40B4-BE49-F238E27FC236}">
                <a16:creationId xmlns:a16="http://schemas.microsoft.com/office/drawing/2014/main" id="{A4448362-7716-1B04-D3F3-1B6EAFEE9DC7}"/>
              </a:ext>
            </a:extLst>
          </p:cNvPr>
          <p:cNvSpPr>
            <a:spLocks noChangeArrowheads="1"/>
          </p:cNvSpPr>
          <p:nvPr/>
        </p:nvSpPr>
        <p:spPr bwMode="auto">
          <a:xfrm>
            <a:off x="4305000" y="5834772"/>
            <a:ext cx="1295999"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PP </a:t>
            </a: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온도</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50" name="꺾인 연결선 70">
            <a:extLst>
              <a:ext uri="{FF2B5EF4-FFF2-40B4-BE49-F238E27FC236}">
                <a16:creationId xmlns:a16="http://schemas.microsoft.com/office/drawing/2014/main" id="{36D650C6-F371-CEA5-3FF5-174D765A3868}"/>
              </a:ext>
            </a:extLst>
          </p:cNvPr>
          <p:cNvCxnSpPr>
            <a:cxnSpLocks/>
            <a:stCxn id="9" idx="3"/>
            <a:endCxn id="47" idx="1"/>
          </p:cNvCxnSpPr>
          <p:nvPr/>
        </p:nvCxnSpPr>
        <p:spPr>
          <a:xfrm>
            <a:off x="1232714" y="1196950"/>
            <a:ext cx="296261" cy="4746011"/>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연결선: 꺾임 15">
            <a:extLst>
              <a:ext uri="{FF2B5EF4-FFF2-40B4-BE49-F238E27FC236}">
                <a16:creationId xmlns:a16="http://schemas.microsoft.com/office/drawing/2014/main" id="{DFE7AC3A-0767-4801-2AFD-709812B22B9C}"/>
              </a:ext>
            </a:extLst>
          </p:cNvPr>
          <p:cNvCxnSpPr>
            <a:cxnSpLocks/>
            <a:stCxn id="11" idx="3"/>
            <a:endCxn id="32" idx="1"/>
          </p:cNvCxnSpPr>
          <p:nvPr/>
        </p:nvCxnSpPr>
        <p:spPr>
          <a:xfrm>
            <a:off x="4051429" y="1533036"/>
            <a:ext cx="253571" cy="339225"/>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439">
            <a:extLst>
              <a:ext uri="{FF2B5EF4-FFF2-40B4-BE49-F238E27FC236}">
                <a16:creationId xmlns:a16="http://schemas.microsoft.com/office/drawing/2014/main" id="{F8DCC981-5A02-44D1-326C-D3D4C1E7913C}"/>
              </a:ext>
            </a:extLst>
          </p:cNvPr>
          <p:cNvSpPr>
            <a:spLocks noChangeArrowheads="1"/>
          </p:cNvSpPr>
          <p:nvPr/>
        </p:nvSpPr>
        <p:spPr bwMode="auto">
          <a:xfrm>
            <a:off x="2755428" y="278174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R/P</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54" name="Rectangle 439">
            <a:extLst>
              <a:ext uri="{FF2B5EF4-FFF2-40B4-BE49-F238E27FC236}">
                <a16:creationId xmlns:a16="http://schemas.microsoft.com/office/drawing/2014/main" id="{0736E41E-EA43-8D79-725B-59877A30092D}"/>
              </a:ext>
            </a:extLst>
          </p:cNvPr>
          <p:cNvSpPr>
            <a:spLocks noChangeArrowheads="1"/>
          </p:cNvSpPr>
          <p:nvPr/>
        </p:nvSpPr>
        <p:spPr bwMode="auto">
          <a:xfrm>
            <a:off x="4305000" y="278174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역압 사용 범위​</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55" name="연결선: 꺾임 48">
            <a:extLst>
              <a:ext uri="{FF2B5EF4-FFF2-40B4-BE49-F238E27FC236}">
                <a16:creationId xmlns:a16="http://schemas.microsoft.com/office/drawing/2014/main" id="{1977DDB2-6B51-9C98-B0BE-F5CF06E28A7B}"/>
              </a:ext>
            </a:extLst>
          </p:cNvPr>
          <p:cNvCxnSpPr>
            <a:cxnSpLocks/>
            <a:stCxn id="10" idx="3"/>
            <a:endCxn id="53" idx="1"/>
          </p:cNvCxnSpPr>
          <p:nvPr/>
        </p:nvCxnSpPr>
        <p:spPr>
          <a:xfrm>
            <a:off x="2499539" y="1533036"/>
            <a:ext cx="255889" cy="1356900"/>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39">
            <a:extLst>
              <a:ext uri="{FF2B5EF4-FFF2-40B4-BE49-F238E27FC236}">
                <a16:creationId xmlns:a16="http://schemas.microsoft.com/office/drawing/2014/main" id="{2D48259F-1512-74E6-F945-B0EF47686ED6}"/>
              </a:ext>
            </a:extLst>
          </p:cNvPr>
          <p:cNvCxnSpPr>
            <a:cxnSpLocks/>
            <a:stCxn id="53" idx="3"/>
            <a:endCxn id="54" idx="1"/>
          </p:cNvCxnSpPr>
          <p:nvPr/>
        </p:nvCxnSpPr>
        <p:spPr>
          <a:xfrm>
            <a:off x="4051428" y="2889936"/>
            <a:ext cx="2535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439">
            <a:extLst>
              <a:ext uri="{FF2B5EF4-FFF2-40B4-BE49-F238E27FC236}">
                <a16:creationId xmlns:a16="http://schemas.microsoft.com/office/drawing/2014/main" id="{9A22C5A9-BBF3-0BBE-F9F7-FDF6D5E53025}"/>
              </a:ext>
            </a:extLst>
          </p:cNvPr>
          <p:cNvSpPr>
            <a:spLocks noChangeArrowheads="1"/>
          </p:cNvSpPr>
          <p:nvPr/>
        </p:nvSpPr>
        <p:spPr bwMode="auto">
          <a:xfrm>
            <a:off x="5814774" y="2786415"/>
            <a:ext cx="1438514"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검증 진행 중 </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(~8/26)</a:t>
            </a:r>
          </a:p>
        </p:txBody>
      </p:sp>
      <p:sp>
        <p:nvSpPr>
          <p:cNvPr id="58" name="Rectangle 439">
            <a:extLst>
              <a:ext uri="{FF2B5EF4-FFF2-40B4-BE49-F238E27FC236}">
                <a16:creationId xmlns:a16="http://schemas.microsoft.com/office/drawing/2014/main" id="{2860B4A7-36F6-5BF3-FB36-F9CD6F2DC197}"/>
              </a:ext>
            </a:extLst>
          </p:cNvPr>
          <p:cNvSpPr>
            <a:spLocks noChangeArrowheads="1"/>
          </p:cNvSpPr>
          <p:nvPr/>
        </p:nvSpPr>
        <p:spPr bwMode="auto">
          <a:xfrm>
            <a:off x="2755429" y="5156322"/>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스택 전둘레테이핑</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59" name="Rectangle 439">
            <a:extLst>
              <a:ext uri="{FF2B5EF4-FFF2-40B4-BE49-F238E27FC236}">
                <a16:creationId xmlns:a16="http://schemas.microsoft.com/office/drawing/2014/main" id="{19F17A82-C06E-F290-8C1D-5C7E4E434CE8}"/>
              </a:ext>
            </a:extLst>
          </p:cNvPr>
          <p:cNvSpPr>
            <a:spLocks noChangeArrowheads="1"/>
          </p:cNvSpPr>
          <p:nvPr/>
        </p:nvSpPr>
        <p:spPr bwMode="auto">
          <a:xfrm>
            <a:off x="4305000" y="5156322"/>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압력</a:t>
            </a: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a:t>
            </a: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진공</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60" name="Rectangle 439">
            <a:extLst>
              <a:ext uri="{FF2B5EF4-FFF2-40B4-BE49-F238E27FC236}">
                <a16:creationId xmlns:a16="http://schemas.microsoft.com/office/drawing/2014/main" id="{65E9AEE4-BE37-B848-D194-D035E3BCA261}"/>
              </a:ext>
            </a:extLst>
          </p:cNvPr>
          <p:cNvSpPr>
            <a:spLocks noChangeArrowheads="1"/>
          </p:cNvSpPr>
          <p:nvPr/>
        </p:nvSpPr>
        <p:spPr bwMode="auto">
          <a:xfrm>
            <a:off x="2755429" y="549554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스택 쇼트프레스</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62" name="Rectangle 439">
            <a:extLst>
              <a:ext uri="{FF2B5EF4-FFF2-40B4-BE49-F238E27FC236}">
                <a16:creationId xmlns:a16="http://schemas.microsoft.com/office/drawing/2014/main" id="{817C3C15-3FC1-0D8F-FFD9-C8AB40E66BAD}"/>
              </a:ext>
            </a:extLst>
          </p:cNvPr>
          <p:cNvSpPr>
            <a:spLocks noChangeArrowheads="1"/>
          </p:cNvSpPr>
          <p:nvPr/>
        </p:nvSpPr>
        <p:spPr bwMode="auto">
          <a:xfrm>
            <a:off x="5814773" y="5495547"/>
            <a:ext cx="3907077" cy="216378"/>
          </a:xfrm>
          <a:prstGeom prst="rect">
            <a:avLst/>
          </a:prstGeom>
          <a:noFill/>
          <a:ln w="6350" algn="ctr">
            <a:noFill/>
            <a:miter lim="800000"/>
            <a:headEnd/>
            <a:tailEnd/>
          </a:ln>
          <a:effectLst/>
        </p:spPr>
        <p:txBody>
          <a:bodyPr wrap="none" lIns="0" tIns="46799" rIns="0" bIns="46799" anchor="ctr"/>
          <a:lstStyle/>
          <a:p>
            <a:pPr marL="228600" marR="0" lvl="0" indent="-22860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검증 진행 중 </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(~8/27)</a:t>
            </a:r>
          </a:p>
        </p:txBody>
      </p:sp>
      <p:sp>
        <p:nvSpPr>
          <p:cNvPr id="63" name="Rectangle 439">
            <a:extLst>
              <a:ext uri="{FF2B5EF4-FFF2-40B4-BE49-F238E27FC236}">
                <a16:creationId xmlns:a16="http://schemas.microsoft.com/office/drawing/2014/main" id="{38C8BC6B-1237-A1F4-35F6-F204ED679993}"/>
              </a:ext>
            </a:extLst>
          </p:cNvPr>
          <p:cNvSpPr>
            <a:spLocks noChangeArrowheads="1"/>
          </p:cNvSpPr>
          <p:nvPr/>
        </p:nvSpPr>
        <p:spPr bwMode="auto">
          <a:xfrm>
            <a:off x="4305000" y="549554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압력</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65" name="연결선: 꺾임 48">
            <a:extLst>
              <a:ext uri="{FF2B5EF4-FFF2-40B4-BE49-F238E27FC236}">
                <a16:creationId xmlns:a16="http://schemas.microsoft.com/office/drawing/2014/main" id="{89683567-6A4F-A9A9-4961-9FCD391E52B3}"/>
              </a:ext>
            </a:extLst>
          </p:cNvPr>
          <p:cNvCxnSpPr>
            <a:cxnSpLocks/>
            <a:stCxn id="16" idx="3"/>
            <a:endCxn id="58" idx="1"/>
          </p:cNvCxnSpPr>
          <p:nvPr/>
        </p:nvCxnSpPr>
        <p:spPr>
          <a:xfrm>
            <a:off x="2499539" y="3907611"/>
            <a:ext cx="255890" cy="1356900"/>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연결선: 꺾임 48">
            <a:extLst>
              <a:ext uri="{FF2B5EF4-FFF2-40B4-BE49-F238E27FC236}">
                <a16:creationId xmlns:a16="http://schemas.microsoft.com/office/drawing/2014/main" id="{44BFD8E3-DC9F-CB66-555E-957586345F60}"/>
              </a:ext>
            </a:extLst>
          </p:cNvPr>
          <p:cNvCxnSpPr>
            <a:cxnSpLocks/>
            <a:stCxn id="16" idx="3"/>
            <a:endCxn id="60" idx="1"/>
          </p:cNvCxnSpPr>
          <p:nvPr/>
        </p:nvCxnSpPr>
        <p:spPr>
          <a:xfrm>
            <a:off x="2499539" y="3907611"/>
            <a:ext cx="255890" cy="1696125"/>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28">
            <a:extLst>
              <a:ext uri="{FF2B5EF4-FFF2-40B4-BE49-F238E27FC236}">
                <a16:creationId xmlns:a16="http://schemas.microsoft.com/office/drawing/2014/main" id="{B2D26588-09BD-5CC2-EEA5-17B589AAC75E}"/>
              </a:ext>
            </a:extLst>
          </p:cNvPr>
          <p:cNvCxnSpPr>
            <a:cxnSpLocks/>
            <a:stCxn id="60" idx="3"/>
            <a:endCxn id="63" idx="1"/>
          </p:cNvCxnSpPr>
          <p:nvPr/>
        </p:nvCxnSpPr>
        <p:spPr>
          <a:xfrm>
            <a:off x="4051429" y="5603736"/>
            <a:ext cx="25357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Rectangle 439">
            <a:extLst>
              <a:ext uri="{FF2B5EF4-FFF2-40B4-BE49-F238E27FC236}">
                <a16:creationId xmlns:a16="http://schemas.microsoft.com/office/drawing/2014/main" id="{BFE43C26-6985-982F-5354-F8887879B5E4}"/>
              </a:ext>
            </a:extLst>
          </p:cNvPr>
          <p:cNvSpPr>
            <a:spLocks noChangeArrowheads="1"/>
          </p:cNvSpPr>
          <p:nvPr/>
        </p:nvSpPr>
        <p:spPr bwMode="auto">
          <a:xfrm>
            <a:off x="4305000" y="3120972"/>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상</a:t>
            </a: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a:t>
            </a: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하 롤러 속도비</a:t>
            </a: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73" name="Rectangle 439">
            <a:extLst>
              <a:ext uri="{FF2B5EF4-FFF2-40B4-BE49-F238E27FC236}">
                <a16:creationId xmlns:a16="http://schemas.microsoft.com/office/drawing/2014/main" id="{A3A7821E-5498-0B4C-8D61-13A0B127E565}"/>
              </a:ext>
            </a:extLst>
          </p:cNvPr>
          <p:cNvSpPr>
            <a:spLocks noChangeArrowheads="1"/>
          </p:cNvSpPr>
          <p:nvPr/>
        </p:nvSpPr>
        <p:spPr bwMode="auto">
          <a:xfrm>
            <a:off x="5814774" y="3102952"/>
            <a:ext cx="3837226"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검토 중</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80" name="Rectangle 439">
            <a:extLst>
              <a:ext uri="{FF2B5EF4-FFF2-40B4-BE49-F238E27FC236}">
                <a16:creationId xmlns:a16="http://schemas.microsoft.com/office/drawing/2014/main" id="{9661FC1C-C896-2853-7876-28CA9B44C43E}"/>
              </a:ext>
            </a:extLst>
          </p:cNvPr>
          <p:cNvSpPr>
            <a:spLocks noChangeArrowheads="1"/>
          </p:cNvSpPr>
          <p:nvPr/>
        </p:nvSpPr>
        <p:spPr bwMode="auto">
          <a:xfrm>
            <a:off x="4305000" y="3460197"/>
            <a:ext cx="1296000"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R/P</a:t>
            </a: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a:rPr>
              <a:t> 후 전극 온도</a:t>
            </a:r>
            <a:endPar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81" name="연결선: 꺾임 36">
            <a:extLst>
              <a:ext uri="{FF2B5EF4-FFF2-40B4-BE49-F238E27FC236}">
                <a16:creationId xmlns:a16="http://schemas.microsoft.com/office/drawing/2014/main" id="{9355497A-8DE2-A014-D9BB-77A9C1FC3ACD}"/>
              </a:ext>
            </a:extLst>
          </p:cNvPr>
          <p:cNvCxnSpPr>
            <a:cxnSpLocks/>
            <a:stCxn id="53" idx="3"/>
            <a:endCxn id="72" idx="1"/>
          </p:cNvCxnSpPr>
          <p:nvPr/>
        </p:nvCxnSpPr>
        <p:spPr>
          <a:xfrm>
            <a:off x="4051428" y="2889936"/>
            <a:ext cx="253572" cy="339225"/>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연결선: 꺾임 36">
            <a:extLst>
              <a:ext uri="{FF2B5EF4-FFF2-40B4-BE49-F238E27FC236}">
                <a16:creationId xmlns:a16="http://schemas.microsoft.com/office/drawing/2014/main" id="{A0CB1683-CE79-A335-BAE0-DCE4311E54A6}"/>
              </a:ext>
            </a:extLst>
          </p:cNvPr>
          <p:cNvCxnSpPr>
            <a:cxnSpLocks/>
            <a:stCxn id="53" idx="3"/>
            <a:endCxn id="80" idx="1"/>
          </p:cNvCxnSpPr>
          <p:nvPr/>
        </p:nvCxnSpPr>
        <p:spPr>
          <a:xfrm>
            <a:off x="4051428" y="2889936"/>
            <a:ext cx="253572" cy="678450"/>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Rectangle 439">
            <a:extLst>
              <a:ext uri="{FF2B5EF4-FFF2-40B4-BE49-F238E27FC236}">
                <a16:creationId xmlns:a16="http://schemas.microsoft.com/office/drawing/2014/main" id="{E8F6436B-9CDB-1510-1029-D5047430ECDB}"/>
              </a:ext>
            </a:extLst>
          </p:cNvPr>
          <p:cNvSpPr>
            <a:spLocks noChangeArrowheads="1"/>
          </p:cNvSpPr>
          <p:nvPr/>
        </p:nvSpPr>
        <p:spPr bwMode="auto">
          <a:xfrm>
            <a:off x="5814774" y="3460197"/>
            <a:ext cx="3837226"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검토 중</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86" name="Rectangle 439">
            <a:extLst>
              <a:ext uri="{FF2B5EF4-FFF2-40B4-BE49-F238E27FC236}">
                <a16:creationId xmlns:a16="http://schemas.microsoft.com/office/drawing/2014/main" id="{4A3F0418-94A8-8F9C-0C39-8F9EDD105FF3}"/>
              </a:ext>
            </a:extLst>
          </p:cNvPr>
          <p:cNvSpPr>
            <a:spLocks noChangeArrowheads="1"/>
          </p:cNvSpPr>
          <p:nvPr/>
        </p:nvSpPr>
        <p:spPr bwMode="auto">
          <a:xfrm>
            <a:off x="4665851" y="1088761"/>
            <a:ext cx="5157500" cy="181320"/>
          </a:xfrm>
          <a:prstGeom prst="rect">
            <a:avLst/>
          </a:prstGeom>
          <a:noFill/>
          <a:ln w="6350" algn="ctr">
            <a:noFill/>
            <a:miter lim="800000"/>
            <a:headEnd/>
            <a:tailEnd/>
          </a:ln>
          <a:effectLst/>
        </p:spPr>
        <p:txBody>
          <a:bodyPr wrap="none" lIns="0" tIns="46799" rIns="0" bIns="46799" anchor="ct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전극 벤딩 수준 별</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벤딩 없는 전극</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 </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벤딩 심한 전극</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 </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x </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반제품 벤딩 수준 영향성 확인 필요</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87" name="Rectangle 439">
            <a:extLst>
              <a:ext uri="{FF2B5EF4-FFF2-40B4-BE49-F238E27FC236}">
                <a16:creationId xmlns:a16="http://schemas.microsoft.com/office/drawing/2014/main" id="{BF0D7BC6-3CFE-8BF7-5CA9-693EB3731457}"/>
              </a:ext>
            </a:extLst>
          </p:cNvPr>
          <p:cNvSpPr>
            <a:spLocks noChangeArrowheads="1"/>
          </p:cNvSpPr>
          <p:nvPr/>
        </p:nvSpPr>
        <p:spPr bwMode="auto">
          <a:xfrm>
            <a:off x="1528975" y="1088761"/>
            <a:ext cx="3033500" cy="21637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벤딩 발현 개소</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cxnSp>
        <p:nvCxnSpPr>
          <p:cNvPr id="89" name="직선 연결선 39">
            <a:extLst>
              <a:ext uri="{FF2B5EF4-FFF2-40B4-BE49-F238E27FC236}">
                <a16:creationId xmlns:a16="http://schemas.microsoft.com/office/drawing/2014/main" id="{C3EA42EB-0243-A540-1C76-EF1B4CDCF0CE}"/>
              </a:ext>
            </a:extLst>
          </p:cNvPr>
          <p:cNvCxnSpPr>
            <a:cxnSpLocks/>
            <a:stCxn id="9" idx="3"/>
            <a:endCxn id="87" idx="1"/>
          </p:cNvCxnSpPr>
          <p:nvPr/>
        </p:nvCxnSpPr>
        <p:spPr>
          <a:xfrm>
            <a:off x="1232714" y="1196950"/>
            <a:ext cx="29626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Rectangle 439">
            <a:extLst>
              <a:ext uri="{FF2B5EF4-FFF2-40B4-BE49-F238E27FC236}">
                <a16:creationId xmlns:a16="http://schemas.microsoft.com/office/drawing/2014/main" id="{109B3490-0ABC-A29A-0A3F-19FDF043B4D3}"/>
              </a:ext>
            </a:extLst>
          </p:cNvPr>
          <p:cNvSpPr>
            <a:spLocks noChangeArrowheads="1"/>
          </p:cNvSpPr>
          <p:nvPr/>
        </p:nvSpPr>
        <p:spPr bwMode="auto">
          <a:xfrm>
            <a:off x="1528975" y="6296425"/>
            <a:ext cx="970564"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Degas</a:t>
            </a:r>
          </a:p>
        </p:txBody>
      </p:sp>
      <p:sp>
        <p:nvSpPr>
          <p:cNvPr id="92" name="Rectangle 439">
            <a:extLst>
              <a:ext uri="{FF2B5EF4-FFF2-40B4-BE49-F238E27FC236}">
                <a16:creationId xmlns:a16="http://schemas.microsoft.com/office/drawing/2014/main" id="{8BDE742D-B4DC-5746-135E-0CD3E64D220D}"/>
              </a:ext>
            </a:extLst>
          </p:cNvPr>
          <p:cNvSpPr>
            <a:spLocks noChangeArrowheads="1"/>
          </p:cNvSpPr>
          <p:nvPr/>
        </p:nvSpPr>
        <p:spPr bwMode="auto">
          <a:xfrm>
            <a:off x="2755428" y="6296425"/>
            <a:ext cx="1295999"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벤딩 평탄화</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93" name="Rectangle 439">
            <a:extLst>
              <a:ext uri="{FF2B5EF4-FFF2-40B4-BE49-F238E27FC236}">
                <a16:creationId xmlns:a16="http://schemas.microsoft.com/office/drawing/2014/main" id="{325D6C4F-E867-0C08-EB37-69EC7C57D911}"/>
              </a:ext>
            </a:extLst>
          </p:cNvPr>
          <p:cNvSpPr>
            <a:spLocks noChangeArrowheads="1"/>
          </p:cNvSpPr>
          <p:nvPr/>
        </p:nvSpPr>
        <p:spPr bwMode="auto">
          <a:xfrm>
            <a:off x="4305000" y="6296425"/>
            <a:ext cx="1295999"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H/</a:t>
            </a:r>
            <a:r>
              <a:rPr kumimoji="0" lang="en-US" altLang="ko-KR"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P </a:t>
            </a: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시간</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94" name="Rectangle 439">
            <a:extLst>
              <a:ext uri="{FF2B5EF4-FFF2-40B4-BE49-F238E27FC236}">
                <a16:creationId xmlns:a16="http://schemas.microsoft.com/office/drawing/2014/main" id="{5A0A7641-6AB6-80C0-5AD8-46FFF995B8A1}"/>
              </a:ext>
            </a:extLst>
          </p:cNvPr>
          <p:cNvSpPr>
            <a:spLocks noChangeArrowheads="1"/>
          </p:cNvSpPr>
          <p:nvPr/>
        </p:nvSpPr>
        <p:spPr bwMode="auto">
          <a:xfrm>
            <a:off x="1528975" y="6543705"/>
            <a:ext cx="970564"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EOL</a:t>
            </a:r>
          </a:p>
        </p:txBody>
      </p:sp>
      <p:sp>
        <p:nvSpPr>
          <p:cNvPr id="95" name="Rectangle 439">
            <a:extLst>
              <a:ext uri="{FF2B5EF4-FFF2-40B4-BE49-F238E27FC236}">
                <a16:creationId xmlns:a16="http://schemas.microsoft.com/office/drawing/2014/main" id="{4333F6B8-F824-373A-5D54-064925A1D412}"/>
              </a:ext>
            </a:extLst>
          </p:cNvPr>
          <p:cNvSpPr>
            <a:spLocks noChangeArrowheads="1"/>
          </p:cNvSpPr>
          <p:nvPr/>
        </p:nvSpPr>
        <p:spPr bwMode="auto">
          <a:xfrm>
            <a:off x="2755428" y="6543705"/>
            <a:ext cx="1295999"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ko-KR" altLang="en-US" sz="1000" b="1" i="0" u="none" strike="noStrike" kern="0" cap="none" spc="0" normalizeH="0" baseline="0" noProof="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벤딩 평탄화</a:t>
            </a:r>
            <a:endPar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96" name="Rectangle 439">
            <a:extLst>
              <a:ext uri="{FF2B5EF4-FFF2-40B4-BE49-F238E27FC236}">
                <a16:creationId xmlns:a16="http://schemas.microsoft.com/office/drawing/2014/main" id="{4EC62A0F-F4BE-2DB9-B6B1-EA74A61FCE8A}"/>
              </a:ext>
            </a:extLst>
          </p:cNvPr>
          <p:cNvSpPr>
            <a:spLocks noChangeArrowheads="1"/>
          </p:cNvSpPr>
          <p:nvPr/>
        </p:nvSpPr>
        <p:spPr bwMode="auto">
          <a:xfrm>
            <a:off x="4305000" y="6543705"/>
            <a:ext cx="1295999" cy="216378"/>
          </a:xfrm>
          <a:prstGeom prst="rect">
            <a:avLst/>
          </a:prstGeom>
          <a:solidFill>
            <a:schemeClr val="bg1"/>
          </a:solidFill>
          <a:ln w="3175" algn="ctr">
            <a:solidFill>
              <a:schemeClr val="tx1"/>
            </a:solidFill>
            <a:miter lim="800000"/>
            <a:headEnd/>
            <a:tailEnd/>
          </a:ln>
          <a:effectLst/>
        </p:spPr>
        <p:txBody>
          <a:bodyPr wrap="none" lIns="89999" tIns="46799" rIns="89999" bIns="46799" anchor="ctr"/>
          <a:lstStyle/>
          <a:p>
            <a:pPr marL="0" marR="0" lvl="0" indent="0" algn="ctr" defTabSz="914389" rtl="0" eaLnBrk="1" fontAlgn="auto" latinLnBrk="0" hangingPunct="1">
              <a:lnSpc>
                <a:spcPct val="11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Cold press</a:t>
            </a:r>
          </a:p>
        </p:txBody>
      </p:sp>
      <p:sp>
        <p:nvSpPr>
          <p:cNvPr id="97" name="Rectangle 22">
            <a:extLst>
              <a:ext uri="{FF2B5EF4-FFF2-40B4-BE49-F238E27FC236}">
                <a16:creationId xmlns:a16="http://schemas.microsoft.com/office/drawing/2014/main" id="{1F0DBA04-274A-7D4F-44D0-410B72FB61F7}"/>
              </a:ext>
            </a:extLst>
          </p:cNvPr>
          <p:cNvSpPr/>
          <p:nvPr/>
        </p:nvSpPr>
        <p:spPr>
          <a:xfrm>
            <a:off x="7112478" y="1398381"/>
            <a:ext cx="1749197" cy="235193"/>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텐션 값 변경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(300N → 250N_8/15)</a:t>
            </a:r>
          </a:p>
        </p:txBody>
      </p:sp>
      <p:sp>
        <p:nvSpPr>
          <p:cNvPr id="98" name="Rectangle 111">
            <a:extLst>
              <a:ext uri="{FF2B5EF4-FFF2-40B4-BE49-F238E27FC236}">
                <a16:creationId xmlns:a16="http://schemas.microsoft.com/office/drawing/2014/main" id="{36CD9EE1-09E8-9DF3-B701-D0708901B561}"/>
              </a:ext>
            </a:extLst>
          </p:cNvPr>
          <p:cNvSpPr/>
          <p:nvPr/>
        </p:nvSpPr>
        <p:spPr>
          <a:xfrm>
            <a:off x="6741995" y="1726033"/>
            <a:ext cx="2071401" cy="235193"/>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북미 전 법인 동일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Tension (280N)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적용 중</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99" name="Rectangle 112">
            <a:extLst>
              <a:ext uri="{FF2B5EF4-FFF2-40B4-BE49-F238E27FC236}">
                <a16:creationId xmlns:a16="http://schemas.microsoft.com/office/drawing/2014/main" id="{B542F04B-09EF-4E36-739C-7D32C4CAF7EF}"/>
              </a:ext>
            </a:extLst>
          </p:cNvPr>
          <p:cNvSpPr/>
          <p:nvPr/>
        </p:nvSpPr>
        <p:spPr>
          <a:xfrm>
            <a:off x="6741995" y="2054848"/>
            <a:ext cx="2382383" cy="235193"/>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북미 전 법인 동일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Tension(0.4~0.45MPa)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적용 중</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0" name="Rectangle 113">
            <a:extLst>
              <a:ext uri="{FF2B5EF4-FFF2-40B4-BE49-F238E27FC236}">
                <a16:creationId xmlns:a16="http://schemas.microsoft.com/office/drawing/2014/main" id="{E80D91D3-1EBC-0051-12AD-71133A16B2BC}"/>
              </a:ext>
            </a:extLst>
          </p:cNvPr>
          <p:cNvSpPr/>
          <p:nvPr/>
        </p:nvSpPr>
        <p:spPr>
          <a:xfrm>
            <a:off x="7104218" y="2422145"/>
            <a:ext cx="2374368" cy="235962"/>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코팅 공정 이후 최단 기간 셀 조립 및 벤딩 수준</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1" name="Rectangle 114">
            <a:extLst>
              <a:ext uri="{FF2B5EF4-FFF2-40B4-BE49-F238E27FC236}">
                <a16:creationId xmlns:a16="http://schemas.microsoft.com/office/drawing/2014/main" id="{0B927840-835A-7E17-CB8C-F81A03956BAB}"/>
              </a:ext>
            </a:extLst>
          </p:cNvPr>
          <p:cNvSpPr/>
          <p:nvPr/>
        </p:nvSpPr>
        <p:spPr>
          <a:xfrm>
            <a:off x="7104218" y="2777836"/>
            <a:ext cx="1906291" cy="235962"/>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역압 사용범위 별 벤딩 발생수준 검증</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2" name="Rectangle 115">
            <a:extLst>
              <a:ext uri="{FF2B5EF4-FFF2-40B4-BE49-F238E27FC236}">
                <a16:creationId xmlns:a16="http://schemas.microsoft.com/office/drawing/2014/main" id="{A603E7D1-A72C-361E-0159-AD9A209A70F6}"/>
              </a:ext>
            </a:extLst>
          </p:cNvPr>
          <p:cNvSpPr/>
          <p:nvPr/>
        </p:nvSpPr>
        <p:spPr>
          <a:xfrm>
            <a:off x="6741995" y="3791489"/>
            <a:ext cx="2744662" cy="235193"/>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라미 롤 압력 상</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하한</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(420 / 540kgf)</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적용에 따른 차이 없음</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3" name="Rectangle 116">
            <a:extLst>
              <a:ext uri="{FF2B5EF4-FFF2-40B4-BE49-F238E27FC236}">
                <a16:creationId xmlns:a16="http://schemas.microsoft.com/office/drawing/2014/main" id="{567D93DF-759C-A481-5322-BBB4AAD37E33}"/>
              </a:ext>
            </a:extLst>
          </p:cNvPr>
          <p:cNvSpPr/>
          <p:nvPr/>
        </p:nvSpPr>
        <p:spPr>
          <a:xfrm>
            <a:off x="6741995" y="4127785"/>
            <a:ext cx="2300630" cy="235064"/>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IR/Mica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온도 상</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하한</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(50/70</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적용에 따른 벤딩</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4" name="Rectangle 117">
            <a:extLst>
              <a:ext uri="{FF2B5EF4-FFF2-40B4-BE49-F238E27FC236}">
                <a16:creationId xmlns:a16="http://schemas.microsoft.com/office/drawing/2014/main" id="{09D16CB1-4D39-73E2-3F40-852133527B2E}"/>
              </a:ext>
            </a:extLst>
          </p:cNvPr>
          <p:cNvSpPr/>
          <p:nvPr/>
        </p:nvSpPr>
        <p:spPr>
          <a:xfrm>
            <a:off x="6741995" y="4477872"/>
            <a:ext cx="2929007" cy="235064"/>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라미 롤 히터 온도 상</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하한</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(70 / 90℃)</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적용에 따른 유의성 없음</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5" name="Rectangle 118">
            <a:extLst>
              <a:ext uri="{FF2B5EF4-FFF2-40B4-BE49-F238E27FC236}">
                <a16:creationId xmlns:a16="http://schemas.microsoft.com/office/drawing/2014/main" id="{2ECCBC3A-F231-17A6-6F6E-1E362586199E}"/>
              </a:ext>
            </a:extLst>
          </p:cNvPr>
          <p:cNvSpPr/>
          <p:nvPr/>
        </p:nvSpPr>
        <p:spPr>
          <a:xfrm>
            <a:off x="6741995" y="4817097"/>
            <a:ext cx="2834430" cy="235193"/>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상부속도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&gt;0.1%,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하부속도 ≤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0%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조건에서 벤딩 완화 확인됨</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6" name="Rectangle 119">
            <a:extLst>
              <a:ext uri="{FF2B5EF4-FFF2-40B4-BE49-F238E27FC236}">
                <a16:creationId xmlns:a16="http://schemas.microsoft.com/office/drawing/2014/main" id="{7F71971A-8E4A-B001-9ECF-ECB942BBB7C5}"/>
              </a:ext>
            </a:extLst>
          </p:cNvPr>
          <p:cNvSpPr/>
          <p:nvPr/>
        </p:nvSpPr>
        <p:spPr>
          <a:xfrm>
            <a:off x="7244601" y="5156322"/>
            <a:ext cx="2191626" cy="235962"/>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사이드 푸셔 압력 및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Tape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진공압 변경 검증</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sp>
        <p:nvSpPr>
          <p:cNvPr id="107" name="Rectangle 121">
            <a:extLst>
              <a:ext uri="{FF2B5EF4-FFF2-40B4-BE49-F238E27FC236}">
                <a16:creationId xmlns:a16="http://schemas.microsoft.com/office/drawing/2014/main" id="{84B766D9-45FE-6E7B-A06D-535854FA2046}"/>
              </a:ext>
            </a:extLst>
          </p:cNvPr>
          <p:cNvSpPr/>
          <p:nvPr/>
        </p:nvSpPr>
        <p:spPr>
          <a:xfrm>
            <a:off x="7244601" y="5495547"/>
            <a:ext cx="2345514" cy="235193"/>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스택 쇼트 프레스 압력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(150</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 180kgf / </a:t>
            </a: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설비 </a:t>
            </a:r>
            <a:r>
              <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max)</a:t>
            </a:r>
          </a:p>
        </p:txBody>
      </p:sp>
      <p:sp>
        <p:nvSpPr>
          <p:cNvPr id="108" name="Rectangle 122">
            <a:extLst>
              <a:ext uri="{FF2B5EF4-FFF2-40B4-BE49-F238E27FC236}">
                <a16:creationId xmlns:a16="http://schemas.microsoft.com/office/drawing/2014/main" id="{F6ADE0A7-689D-1F8C-E299-922EDC72AD6F}"/>
              </a:ext>
            </a:extLst>
          </p:cNvPr>
          <p:cNvSpPr/>
          <p:nvPr/>
        </p:nvSpPr>
        <p:spPr>
          <a:xfrm>
            <a:off x="7974766" y="6002323"/>
            <a:ext cx="1710725" cy="235962"/>
          </a:xfrm>
          <a:prstGeom prst="rect">
            <a:avLst/>
          </a:prstGeom>
        </p:spPr>
        <p:txBody>
          <a:bodyPr wrap="none">
            <a:spAutoFit/>
          </a:bodyPr>
          <a:lstStyle/>
          <a:p>
            <a:pPr marL="0" marR="0" lvl="0" indent="0" algn="l" defTabSz="914389" rtl="0" eaLnBrk="1" fontAlgn="auto" latinLnBrk="0" hangingPunct="1">
              <a:lnSpc>
                <a:spcPct val="11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rPr>
              <a:t>투입 전극 벤딩 수준 별 검증 예정</a:t>
            </a:r>
            <a:endParaRPr kumimoji="0" lang="en-US" altLang="ko-KR" sz="900" b="0" i="0" u="none" strike="noStrike" kern="1200" cap="none" spc="0" normalizeH="0" baseline="0" noProof="0" dirty="0">
              <a:ln>
                <a:noFill/>
              </a:ln>
              <a:solidFill>
                <a:srgbClr val="008000"/>
              </a:solidFill>
              <a:effectLst/>
              <a:uLnTx/>
              <a:uFillTx/>
              <a:latin typeface="Arial Narrow" panose="020B0606020202030204" pitchFamily="34" charset="0"/>
              <a:ea typeface="LG스마트체 Regular" panose="020B0600000101010101" pitchFamily="50" charset="-127"/>
              <a:cs typeface="+mn-cs"/>
            </a:endParaRPr>
          </a:p>
        </p:txBody>
      </p:sp>
      <p:cxnSp>
        <p:nvCxnSpPr>
          <p:cNvPr id="109" name="꺾인 연결선 70">
            <a:extLst>
              <a:ext uri="{FF2B5EF4-FFF2-40B4-BE49-F238E27FC236}">
                <a16:creationId xmlns:a16="http://schemas.microsoft.com/office/drawing/2014/main" id="{4E23262A-F95D-A154-F329-E1ADFAF2EEDE}"/>
              </a:ext>
            </a:extLst>
          </p:cNvPr>
          <p:cNvCxnSpPr>
            <a:cxnSpLocks/>
            <a:stCxn id="9" idx="3"/>
            <a:endCxn id="90" idx="1"/>
          </p:cNvCxnSpPr>
          <p:nvPr/>
        </p:nvCxnSpPr>
        <p:spPr>
          <a:xfrm>
            <a:off x="1232714" y="1196950"/>
            <a:ext cx="296261" cy="5207664"/>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꺾인 연결선 70">
            <a:extLst>
              <a:ext uri="{FF2B5EF4-FFF2-40B4-BE49-F238E27FC236}">
                <a16:creationId xmlns:a16="http://schemas.microsoft.com/office/drawing/2014/main" id="{F45AA016-A432-791E-2BAC-E9D8C09A9604}"/>
              </a:ext>
            </a:extLst>
          </p:cNvPr>
          <p:cNvCxnSpPr>
            <a:cxnSpLocks/>
            <a:stCxn id="9" idx="3"/>
            <a:endCxn id="94" idx="1"/>
          </p:cNvCxnSpPr>
          <p:nvPr/>
        </p:nvCxnSpPr>
        <p:spPr>
          <a:xfrm>
            <a:off x="1232714" y="1196950"/>
            <a:ext cx="296261" cy="5454944"/>
          </a:xfrm>
          <a:prstGeom prst="bentConnector3">
            <a:avLst>
              <a:gd name="adj1" fmla="val 50000"/>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직선 연결선 39">
            <a:extLst>
              <a:ext uri="{FF2B5EF4-FFF2-40B4-BE49-F238E27FC236}">
                <a16:creationId xmlns:a16="http://schemas.microsoft.com/office/drawing/2014/main" id="{F3ACBCF7-CF31-BE7F-EE71-09BC23A35BCB}"/>
              </a:ext>
            </a:extLst>
          </p:cNvPr>
          <p:cNvCxnSpPr>
            <a:cxnSpLocks/>
            <a:stCxn id="47" idx="3"/>
            <a:endCxn id="48" idx="1"/>
          </p:cNvCxnSpPr>
          <p:nvPr/>
        </p:nvCxnSpPr>
        <p:spPr>
          <a:xfrm>
            <a:off x="2499539" y="5942961"/>
            <a:ext cx="25588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직선 연결선 39">
            <a:extLst>
              <a:ext uri="{FF2B5EF4-FFF2-40B4-BE49-F238E27FC236}">
                <a16:creationId xmlns:a16="http://schemas.microsoft.com/office/drawing/2014/main" id="{96DAEAE5-6E96-BBCC-EB6F-86B1355A6EF8}"/>
              </a:ext>
            </a:extLst>
          </p:cNvPr>
          <p:cNvCxnSpPr>
            <a:cxnSpLocks/>
            <a:stCxn id="49" idx="1"/>
            <a:endCxn id="48" idx="3"/>
          </p:cNvCxnSpPr>
          <p:nvPr/>
        </p:nvCxnSpPr>
        <p:spPr>
          <a:xfrm flipH="1">
            <a:off x="4051427" y="5942961"/>
            <a:ext cx="25357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39">
            <a:extLst>
              <a:ext uri="{FF2B5EF4-FFF2-40B4-BE49-F238E27FC236}">
                <a16:creationId xmlns:a16="http://schemas.microsoft.com/office/drawing/2014/main" id="{5C6501F0-FC86-C576-F46F-A293010E39C5}"/>
              </a:ext>
            </a:extLst>
          </p:cNvPr>
          <p:cNvCxnSpPr>
            <a:cxnSpLocks/>
            <a:stCxn id="90" idx="3"/>
            <a:endCxn id="92" idx="1"/>
          </p:cNvCxnSpPr>
          <p:nvPr/>
        </p:nvCxnSpPr>
        <p:spPr>
          <a:xfrm>
            <a:off x="2499539" y="6404614"/>
            <a:ext cx="25588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직선 연결선 39">
            <a:extLst>
              <a:ext uri="{FF2B5EF4-FFF2-40B4-BE49-F238E27FC236}">
                <a16:creationId xmlns:a16="http://schemas.microsoft.com/office/drawing/2014/main" id="{CF90EED7-EB4D-5300-8CA7-6C6BF5278533}"/>
              </a:ext>
            </a:extLst>
          </p:cNvPr>
          <p:cNvCxnSpPr>
            <a:cxnSpLocks/>
            <a:stCxn id="93" idx="1"/>
            <a:endCxn id="92" idx="3"/>
          </p:cNvCxnSpPr>
          <p:nvPr/>
        </p:nvCxnSpPr>
        <p:spPr>
          <a:xfrm flipH="1">
            <a:off x="4051427" y="6404614"/>
            <a:ext cx="25357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직선 연결선 39">
            <a:extLst>
              <a:ext uri="{FF2B5EF4-FFF2-40B4-BE49-F238E27FC236}">
                <a16:creationId xmlns:a16="http://schemas.microsoft.com/office/drawing/2014/main" id="{74B08068-940D-D297-3C21-4A5F429800BA}"/>
              </a:ext>
            </a:extLst>
          </p:cNvPr>
          <p:cNvCxnSpPr>
            <a:cxnSpLocks/>
            <a:stCxn id="96" idx="1"/>
            <a:endCxn id="95" idx="3"/>
          </p:cNvCxnSpPr>
          <p:nvPr/>
        </p:nvCxnSpPr>
        <p:spPr>
          <a:xfrm flipH="1">
            <a:off x="4051427" y="6651894"/>
            <a:ext cx="253573"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직선 연결선 39">
            <a:extLst>
              <a:ext uri="{FF2B5EF4-FFF2-40B4-BE49-F238E27FC236}">
                <a16:creationId xmlns:a16="http://schemas.microsoft.com/office/drawing/2014/main" id="{A3434A99-6C84-DE8C-12BB-8FF8ABFED4D1}"/>
              </a:ext>
            </a:extLst>
          </p:cNvPr>
          <p:cNvCxnSpPr>
            <a:cxnSpLocks/>
            <a:stCxn id="94" idx="3"/>
            <a:endCxn id="95" idx="1"/>
          </p:cNvCxnSpPr>
          <p:nvPr/>
        </p:nvCxnSpPr>
        <p:spPr>
          <a:xfrm>
            <a:off x="2499539" y="6651894"/>
            <a:ext cx="255889"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Rectangle 439">
            <a:extLst>
              <a:ext uri="{FF2B5EF4-FFF2-40B4-BE49-F238E27FC236}">
                <a16:creationId xmlns:a16="http://schemas.microsoft.com/office/drawing/2014/main" id="{FE1565D0-932D-AA94-344D-666D10ED5A5A}"/>
              </a:ext>
            </a:extLst>
          </p:cNvPr>
          <p:cNvSpPr>
            <a:spLocks noChangeArrowheads="1"/>
          </p:cNvSpPr>
          <p:nvPr/>
        </p:nvSpPr>
        <p:spPr bwMode="auto">
          <a:xfrm>
            <a:off x="5814774" y="6296425"/>
            <a:ext cx="3837226"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설비 한계검증 검토 중</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118" name="Rectangle 439">
            <a:extLst>
              <a:ext uri="{FF2B5EF4-FFF2-40B4-BE49-F238E27FC236}">
                <a16:creationId xmlns:a16="http://schemas.microsoft.com/office/drawing/2014/main" id="{A519DCF9-9F5E-E719-E33A-8412ECFAC40A}"/>
              </a:ext>
            </a:extLst>
          </p:cNvPr>
          <p:cNvSpPr>
            <a:spLocks noChangeArrowheads="1"/>
          </p:cNvSpPr>
          <p:nvPr/>
        </p:nvSpPr>
        <p:spPr bwMode="auto">
          <a:xfrm>
            <a:off x="5814774" y="6541907"/>
            <a:ext cx="3837226" cy="216378"/>
          </a:xfrm>
          <a:prstGeom prst="rect">
            <a:avLst/>
          </a:prstGeom>
          <a:noFill/>
          <a:ln w="6350" algn="ctr">
            <a:noFill/>
            <a:miter lim="800000"/>
            <a:headEnd/>
            <a:tailEnd/>
          </a:ln>
          <a:effectLst/>
        </p:spPr>
        <p:txBody>
          <a:bodyPr wrap="none" lIns="0" tIns="46799" rIns="0" bIns="46799" anchor="ctr"/>
          <a:lstStyle/>
          <a:p>
            <a:pPr marL="171450" marR="0" lvl="0" indent="-171450" algn="l" defTabSz="914389"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EOL </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셀 </a:t>
            </a:r>
            <a:r>
              <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Press</a:t>
            </a:r>
            <a:r>
              <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rPr>
              <a:t>를 통한 벤딩 완화 검토 중</a:t>
            </a:r>
            <a:endParaRPr kumimoji="0" lang="en-US" altLang="ko-KR" sz="1000" b="0"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pitchFamily="34" charset="0"/>
            </a:endParaRPr>
          </a:p>
        </p:txBody>
      </p:sp>
      <p:sp>
        <p:nvSpPr>
          <p:cNvPr id="8" name="제목 4">
            <a:extLst>
              <a:ext uri="{FF2B5EF4-FFF2-40B4-BE49-F238E27FC236}">
                <a16:creationId xmlns:a16="http://schemas.microsoft.com/office/drawing/2014/main" id="{E3AD9B6C-3AB5-2B84-83D7-DE07DB052166}"/>
              </a:ext>
            </a:extLst>
          </p:cNvPr>
          <p:cNvSpPr txBox="1">
            <a:spLocks/>
          </p:cNvSpPr>
          <p:nvPr/>
        </p:nvSpPr>
        <p:spPr>
          <a:xfrm>
            <a:off x="126265" y="170929"/>
            <a:ext cx="4970751" cy="369332"/>
          </a:xfrm>
          <a:prstGeom prst="rect">
            <a:avLst/>
          </a:prstGeom>
        </p:spPr>
        <p:txBody>
          <a:bodyPr vert="horz" wrap="square" lIns="91440" tIns="45720" rIns="91440" bIns="45720" rtlCol="0" anchor="t">
            <a:spAutoFit/>
          </a:bodyPr>
          <a:lstStyle>
            <a:lvl1pPr algn="l" defTabSz="914400" rtl="0" eaLnBrk="1" latinLnBrk="1" hangingPunct="1">
              <a:spcBef>
                <a:spcPct val="0"/>
              </a:spcBef>
              <a:buNone/>
              <a:defRPr lang="ko-KR" altLang="en-US" sz="1800" b="1" kern="1200">
                <a:solidFill>
                  <a:schemeClr val="tx1"/>
                </a:solidFill>
                <a:latin typeface="LG스마트체2.0 Regular" panose="020B0600000101010101" pitchFamily="50" charset="-127"/>
                <a:ea typeface="LG스마트체2.0 Regular" panose="020B0600000101010101" pitchFamily="50" charset="-127"/>
                <a:cs typeface="+mj-cs"/>
              </a:defRPr>
            </a:lvl1pPr>
          </a:lstStyle>
          <a:p>
            <a:pPr marL="0" marR="0" lvl="0" indent="0" algn="l" defTabSz="914400" rtl="0" eaLnBrk="1" fontAlgn="auto" latinLnBrk="1" hangingPunct="1">
              <a:lnSpc>
                <a:spcPct val="100000"/>
              </a:lnSpc>
              <a:spcBef>
                <a:spcPct val="0"/>
              </a:spcBef>
              <a:spcAft>
                <a:spcPts val="0"/>
              </a:spcAft>
              <a:buClrTx/>
              <a:buSzTx/>
              <a:buFontTx/>
              <a:buNone/>
              <a:tabLst/>
              <a:defRPr/>
            </a:pP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유첨</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셀 </a:t>
            </a:r>
            <a:r>
              <a:rPr kumimoji="1" lang="ko-KR" altLang="en-US" sz="1800" b="1" i="0" u="none" strike="noStrike" kern="0" cap="none" spc="0" normalizeH="0" baseline="0" noProof="0" dirty="0" err="1">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벤딩</a:t>
            </a:r>
            <a:r>
              <a:rPr kumimoji="1" lang="ko-KR" altLang="en-US"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 </a:t>
            </a:r>
            <a:r>
              <a:rPr kumimoji="1" lang="en-US" altLang="ko-KR" sz="1800" b="1" i="0" u="none" strike="noStrike" kern="0" cap="none" spc="0" normalizeH="0" baseline="0" noProof="0" dirty="0">
                <a:ln>
                  <a:noFill/>
                </a:ln>
                <a:solidFill>
                  <a:srgbClr val="000000"/>
                </a:solidFill>
                <a:effectLst/>
                <a:uLnTx/>
                <a:uFillTx/>
                <a:latin typeface="LG스마트체 Regular" panose="020B0600000101010101" pitchFamily="50" charset="-127"/>
                <a:ea typeface="LG스마트체 Regular" panose="020B0600000101010101" pitchFamily="50" charset="-127"/>
                <a:cs typeface="Arial" pitchFamily="34" charset="0"/>
              </a:rPr>
              <a:t>FTA</a:t>
            </a:r>
            <a:endParaRPr kumimoji="0" lang="ko-KR" altLang="en-US" sz="14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endParaRPr>
          </a:p>
        </p:txBody>
      </p:sp>
      <p:cxnSp>
        <p:nvCxnSpPr>
          <p:cNvPr id="35" name="직선 연결선 34">
            <a:extLst>
              <a:ext uri="{FF2B5EF4-FFF2-40B4-BE49-F238E27FC236}">
                <a16:creationId xmlns:a16="http://schemas.microsoft.com/office/drawing/2014/main" id="{3D048137-8677-C476-677C-E570A3981E92}"/>
              </a:ext>
            </a:extLst>
          </p:cNvPr>
          <p:cNvCxnSpPr>
            <a:cxnSpLocks/>
          </p:cNvCxnSpPr>
          <p:nvPr/>
        </p:nvCxnSpPr>
        <p:spPr>
          <a:xfrm flipH="1">
            <a:off x="255292" y="528508"/>
            <a:ext cx="448168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99369C2-881A-5FB5-D2AA-B485C440BA94}"/>
              </a:ext>
            </a:extLst>
          </p:cNvPr>
          <p:cNvSpPr txBox="1"/>
          <p:nvPr/>
        </p:nvSpPr>
        <p:spPr>
          <a:xfrm>
            <a:off x="7977336" y="126275"/>
            <a:ext cx="1503018" cy="269304"/>
          </a:xfrm>
          <a:prstGeom prst="rect">
            <a:avLst/>
          </a:prstGeom>
          <a:noFill/>
        </p:spPr>
        <p:txBody>
          <a:bodyPr wrap="square" lIns="32888" rIns="32888" rtlCol="0">
            <a:spAutoFit/>
          </a:bodyPr>
          <a:lstStyle/>
          <a:p>
            <a:pPr marL="0" marR="0" lvl="0" indent="0" algn="l" defTabSz="835389" rtl="0" eaLnBrk="1" fontAlgn="base" latinLnBrk="1" hangingPunct="1">
              <a:lnSpc>
                <a:spcPct val="120000"/>
              </a:lnSpc>
              <a:spcBef>
                <a:spcPts val="0"/>
              </a:spcBef>
              <a:spcAft>
                <a:spcPts val="594"/>
              </a:spcAft>
              <a:buClrTx/>
              <a:buSzPct val="85000"/>
              <a:buFontTx/>
              <a:buNone/>
              <a:tabLst/>
              <a:defRPr/>
            </a:pP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출처 </a:t>
            </a:r>
            <a:r>
              <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ESOT CPO </a:t>
            </a:r>
            <a:r>
              <a:rPr kumimoji="1" lang="ko-KR" altLang="en-US"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보고자료</a:t>
            </a:r>
            <a:endParaRPr kumimoji="1" lang="en-US" altLang="ko-KR" sz="1039"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endParaRPr>
          </a:p>
        </p:txBody>
      </p:sp>
      <p:sp>
        <p:nvSpPr>
          <p:cNvPr id="36" name="TextBox 35">
            <a:extLst>
              <a:ext uri="{FF2B5EF4-FFF2-40B4-BE49-F238E27FC236}">
                <a16:creationId xmlns:a16="http://schemas.microsoft.com/office/drawing/2014/main" id="{EB419FAA-A728-045D-D323-ABE030A53B04}"/>
              </a:ext>
            </a:extLst>
          </p:cNvPr>
          <p:cNvSpPr txBox="1"/>
          <p:nvPr/>
        </p:nvSpPr>
        <p:spPr>
          <a:xfrm>
            <a:off x="4900958" y="6735210"/>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2</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- 4 / 4 -</a:t>
            </a:r>
          </a:p>
        </p:txBody>
      </p:sp>
    </p:spTree>
    <p:extLst>
      <p:ext uri="{BB962C8B-B14F-4D97-AF65-F5344CB8AC3E}">
        <p14:creationId xmlns:p14="http://schemas.microsoft.com/office/powerpoint/2010/main" val="3246817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8">
            <a:extLst>
              <a:ext uri="{FF2B5EF4-FFF2-40B4-BE49-F238E27FC236}">
                <a16:creationId xmlns:a16="http://schemas.microsoft.com/office/drawing/2014/main" id="{CAAC1971-130D-CBFA-E23E-28C547FA6040}"/>
              </a:ext>
            </a:extLst>
          </p:cNvPr>
          <p:cNvSpPr txBox="1">
            <a:spLocks noChangeArrowheads="1"/>
          </p:cNvSpPr>
          <p:nvPr/>
        </p:nvSpPr>
        <p:spPr bwMode="auto">
          <a:xfrm>
            <a:off x="120997" y="1152378"/>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kumimoji="0"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현상</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6" name="Text Box 38">
            <a:extLst>
              <a:ext uri="{FF2B5EF4-FFF2-40B4-BE49-F238E27FC236}">
                <a16:creationId xmlns:a16="http://schemas.microsoft.com/office/drawing/2014/main" id="{759CEDCC-E66F-3166-7502-6F55FA46DF23}"/>
              </a:ext>
            </a:extLst>
          </p:cNvPr>
          <p:cNvSpPr txBox="1">
            <a:spLocks noChangeArrowheads="1"/>
          </p:cNvSpPr>
          <p:nvPr/>
        </p:nvSpPr>
        <p:spPr bwMode="auto">
          <a:xfrm>
            <a:off x="209306" y="1431600"/>
            <a:ext cx="4355429" cy="276999"/>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치수 비전위치에서 불량 지속 발생</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정지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1</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회당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60~90%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확률로 발생</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pic>
        <p:nvPicPr>
          <p:cNvPr id="10" name="그림 9">
            <a:extLst>
              <a:ext uri="{FF2B5EF4-FFF2-40B4-BE49-F238E27FC236}">
                <a16:creationId xmlns:a16="http://schemas.microsoft.com/office/drawing/2014/main" id="{44179908-94DB-6A9C-641D-75933E1752C3}"/>
              </a:ext>
            </a:extLst>
          </p:cNvPr>
          <p:cNvPicPr>
            <a:picLocks noChangeAspect="1"/>
          </p:cNvPicPr>
          <p:nvPr/>
        </p:nvPicPr>
        <p:blipFill>
          <a:blip r:embed="rId2"/>
          <a:stretch>
            <a:fillRect/>
          </a:stretch>
        </p:blipFill>
        <p:spPr>
          <a:xfrm>
            <a:off x="599786" y="2182192"/>
            <a:ext cx="3704408" cy="1813483"/>
          </a:xfrm>
          <a:prstGeom prst="rect">
            <a:avLst/>
          </a:prstGeom>
        </p:spPr>
      </p:pic>
      <p:sp>
        <p:nvSpPr>
          <p:cNvPr id="11" name="직사각형 10">
            <a:extLst>
              <a:ext uri="{FF2B5EF4-FFF2-40B4-BE49-F238E27FC236}">
                <a16:creationId xmlns:a16="http://schemas.microsoft.com/office/drawing/2014/main" id="{D7F168E9-1320-1B92-48DD-0399AE5E90C2}"/>
              </a:ext>
            </a:extLst>
          </p:cNvPr>
          <p:cNvSpPr/>
          <p:nvPr/>
        </p:nvSpPr>
        <p:spPr>
          <a:xfrm>
            <a:off x="1558907" y="1987537"/>
            <a:ext cx="1893816" cy="246221"/>
          </a:xfrm>
          <a:prstGeom prst="rect">
            <a:avLst/>
          </a:prstGeom>
        </p:spPr>
        <p:txBody>
          <a:bodyPr wrap="square">
            <a:spAutoFit/>
          </a:bodyPr>
          <a:lstStyle/>
          <a:p>
            <a:pPr algn="ctr">
              <a:defRPr/>
            </a:pPr>
            <a:r>
              <a:rPr lang="en-US" altLang="ko-KR" sz="1000" dirty="0">
                <a:latin typeface="Arial Narrow" panose="020B0606020202030204" pitchFamily="34" charset="0"/>
                <a:ea typeface="LG스마트체 Regular" panose="020B0600000101010101" pitchFamily="50" charset="-127"/>
                <a:cs typeface="Arial" pitchFamily="34" charset="0"/>
              </a:rPr>
              <a:t>&lt;</a:t>
            </a:r>
            <a:r>
              <a:rPr lang="ko-KR" altLang="en-US" sz="1000" dirty="0" err="1">
                <a:latin typeface="Arial Narrow" panose="020B0606020202030204" pitchFamily="34" charset="0"/>
                <a:ea typeface="LG스마트체 Regular" panose="020B0600000101010101" pitchFamily="50" charset="-127"/>
                <a:cs typeface="Arial" pitchFamily="34" charset="0"/>
              </a:rPr>
              <a:t>라미</a:t>
            </a:r>
            <a:r>
              <a:rPr lang="ko-KR" altLang="en-US" sz="1000" dirty="0">
                <a:latin typeface="Arial Narrow" panose="020B0606020202030204" pitchFamily="34" charset="0"/>
                <a:ea typeface="LG스마트체 Regular" panose="020B0600000101010101" pitchFamily="50" charset="-127"/>
                <a:cs typeface="Arial" pitchFamily="34" charset="0"/>
              </a:rPr>
              <a:t> 중첩 통계 분석 </a:t>
            </a:r>
            <a:r>
              <a:rPr lang="en-US" altLang="ko-KR" sz="1000" dirty="0">
                <a:latin typeface="Arial Narrow" panose="020B0606020202030204" pitchFamily="34" charset="0"/>
                <a:ea typeface="LG스마트체 Regular" panose="020B0600000101010101" pitchFamily="50" charset="-127"/>
                <a:cs typeface="Arial" pitchFamily="34" charset="0"/>
              </a:rPr>
              <a:t>Report </a:t>
            </a:r>
            <a:r>
              <a:rPr lang="ko-KR" altLang="en-US" sz="1000" dirty="0">
                <a:latin typeface="Arial Narrow" panose="020B0606020202030204" pitchFamily="34" charset="0"/>
                <a:ea typeface="LG스마트체 Regular" panose="020B0600000101010101" pitchFamily="50" charset="-127"/>
                <a:cs typeface="Arial" pitchFamily="34" charset="0"/>
              </a:rPr>
              <a:t>화면</a:t>
            </a:r>
            <a:r>
              <a:rPr lang="en-US" altLang="ko-KR" sz="1000" dirty="0">
                <a:latin typeface="Arial Narrow" panose="020B0606020202030204" pitchFamily="34" charset="0"/>
                <a:ea typeface="LG스마트체 Regular" panose="020B0600000101010101" pitchFamily="50" charset="-127"/>
                <a:cs typeface="Arial" pitchFamily="34" charset="0"/>
              </a:rPr>
              <a:t>&gt;</a:t>
            </a:r>
          </a:p>
        </p:txBody>
      </p:sp>
      <p:sp>
        <p:nvSpPr>
          <p:cNvPr id="12" name="Text Box 118">
            <a:extLst>
              <a:ext uri="{FF2B5EF4-FFF2-40B4-BE49-F238E27FC236}">
                <a16:creationId xmlns:a16="http://schemas.microsoft.com/office/drawing/2014/main" id="{F8002A62-D5CF-A71B-4838-C4E82D1A52ED}"/>
              </a:ext>
            </a:extLst>
          </p:cNvPr>
          <p:cNvSpPr txBox="1">
            <a:spLocks noChangeArrowheads="1"/>
          </p:cNvSpPr>
          <p:nvPr/>
        </p:nvSpPr>
        <p:spPr bwMode="auto">
          <a:xfrm>
            <a:off x="1409383" y="3958616"/>
            <a:ext cx="1847414" cy="329184"/>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900" b="0" dirty="0">
                <a:cs typeface="Calibri" panose="020F0502020204030204" pitchFamily="34" charset="0"/>
              </a:rPr>
              <a:t>1. </a:t>
            </a:r>
            <a:r>
              <a:rPr lang="ko-KR" altLang="en-US" sz="900" b="0" dirty="0">
                <a:cs typeface="Calibri" panose="020F0502020204030204" pitchFamily="34" charset="0"/>
              </a:rPr>
              <a:t>최종 피딩 롤러 기준 </a:t>
            </a:r>
            <a:endParaRPr lang="en-US" altLang="ko-KR" sz="900" b="0" dirty="0">
              <a:cs typeface="Calibri" panose="020F0502020204030204" pitchFamily="34" charset="0"/>
            </a:endParaRPr>
          </a:p>
          <a:p>
            <a:pPr lvl="0">
              <a:lnSpc>
                <a:spcPts val="1000"/>
              </a:lnSpc>
              <a:buNone/>
              <a:tabLst>
                <a:tab pos="3051175" algn="l"/>
              </a:tabLst>
              <a:defRPr/>
            </a:pPr>
            <a:r>
              <a:rPr lang="en-US" altLang="ko-KR" sz="900" b="0" dirty="0">
                <a:cs typeface="Calibri" panose="020F0502020204030204" pitchFamily="34" charset="0"/>
              </a:rPr>
              <a:t>    22</a:t>
            </a:r>
            <a:r>
              <a:rPr lang="ko-KR" altLang="en-US" sz="900" b="0" dirty="0">
                <a:cs typeface="Calibri" panose="020F0502020204030204" pitchFamily="34" charset="0"/>
              </a:rPr>
              <a:t>셀 앞에서 </a:t>
            </a:r>
            <a:r>
              <a:rPr lang="en-US" altLang="ko-KR" sz="900" b="0" dirty="0">
                <a:cs typeface="Calibri" panose="020F0502020204030204" pitchFamily="34" charset="0"/>
              </a:rPr>
              <a:t>90% </a:t>
            </a:r>
            <a:r>
              <a:rPr lang="ko-KR" altLang="en-US" sz="900" b="0" dirty="0">
                <a:cs typeface="Calibri" panose="020F0502020204030204" pitchFamily="34" charset="0"/>
              </a:rPr>
              <a:t>확률로 </a:t>
            </a:r>
            <a:r>
              <a:rPr lang="en-US" altLang="ko-KR" sz="900" b="0" dirty="0">
                <a:cs typeface="Calibri" panose="020F0502020204030204" pitchFamily="34" charset="0"/>
              </a:rPr>
              <a:t>NG </a:t>
            </a:r>
            <a:r>
              <a:rPr lang="ko-KR" altLang="en-US" sz="900" b="0" dirty="0">
                <a:cs typeface="Calibri" panose="020F0502020204030204" pitchFamily="34" charset="0"/>
              </a:rPr>
              <a:t>발생</a:t>
            </a:r>
          </a:p>
        </p:txBody>
      </p:sp>
      <p:sp>
        <p:nvSpPr>
          <p:cNvPr id="13" name="Text Box 118">
            <a:extLst>
              <a:ext uri="{FF2B5EF4-FFF2-40B4-BE49-F238E27FC236}">
                <a16:creationId xmlns:a16="http://schemas.microsoft.com/office/drawing/2014/main" id="{966A0B65-CEA5-8CF6-3E5C-10670BFCD550}"/>
              </a:ext>
            </a:extLst>
          </p:cNvPr>
          <p:cNvSpPr txBox="1">
            <a:spLocks noChangeArrowheads="1"/>
          </p:cNvSpPr>
          <p:nvPr/>
        </p:nvSpPr>
        <p:spPr bwMode="auto">
          <a:xfrm>
            <a:off x="3452723" y="2996348"/>
            <a:ext cx="1112012" cy="329184"/>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900" b="0" dirty="0">
                <a:cs typeface="Calibri" panose="020F0502020204030204" pitchFamily="34" charset="0"/>
              </a:rPr>
              <a:t>2. </a:t>
            </a:r>
            <a:r>
              <a:rPr lang="ko-KR" altLang="en-US" sz="900" b="0" dirty="0">
                <a:cs typeface="Calibri" panose="020F0502020204030204" pitchFamily="34" charset="0"/>
              </a:rPr>
              <a:t>해당 위치는 </a:t>
            </a:r>
            <a:endParaRPr lang="en-US" altLang="ko-KR" sz="900" b="0" dirty="0">
              <a:cs typeface="Calibri" panose="020F0502020204030204" pitchFamily="34" charset="0"/>
            </a:endParaRPr>
          </a:p>
          <a:p>
            <a:pPr lvl="0">
              <a:lnSpc>
                <a:spcPts val="1000"/>
              </a:lnSpc>
              <a:buNone/>
              <a:tabLst>
                <a:tab pos="3051175" algn="l"/>
              </a:tabLst>
              <a:defRPr/>
            </a:pPr>
            <a:r>
              <a:rPr lang="en-US" altLang="ko-KR" sz="900" b="0" dirty="0">
                <a:cs typeface="Calibri" panose="020F0502020204030204" pitchFamily="34" charset="0"/>
              </a:rPr>
              <a:t>    </a:t>
            </a:r>
            <a:r>
              <a:rPr lang="ko-KR" altLang="en-US" sz="900" b="0" dirty="0">
                <a:cs typeface="Calibri" panose="020F0502020204030204" pitchFamily="34" charset="0"/>
              </a:rPr>
              <a:t>치수비전으로 확인</a:t>
            </a:r>
          </a:p>
        </p:txBody>
      </p:sp>
      <p:sp>
        <p:nvSpPr>
          <p:cNvPr id="20" name="Text Box 118">
            <a:extLst>
              <a:ext uri="{FF2B5EF4-FFF2-40B4-BE49-F238E27FC236}">
                <a16:creationId xmlns:a16="http://schemas.microsoft.com/office/drawing/2014/main" id="{364C3140-E9BF-5E2E-ED9D-072651BFDE9D}"/>
              </a:ext>
            </a:extLst>
          </p:cNvPr>
          <p:cNvSpPr txBox="1">
            <a:spLocks noChangeArrowheads="1"/>
          </p:cNvSpPr>
          <p:nvPr/>
        </p:nvSpPr>
        <p:spPr bwMode="auto">
          <a:xfrm>
            <a:off x="394891" y="1720597"/>
            <a:ext cx="4621970" cy="329184"/>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ko-KR" altLang="en-US" sz="900" b="0" dirty="0">
                <a:solidFill>
                  <a:srgbClr val="006600"/>
                </a:solidFill>
                <a:cs typeface="Calibri" panose="020F0502020204030204" pitchFamily="34" charset="0"/>
              </a:rPr>
              <a:t>발생 호기 </a:t>
            </a:r>
            <a:r>
              <a:rPr lang="en-US" altLang="ko-KR" sz="900" b="0" dirty="0">
                <a:solidFill>
                  <a:srgbClr val="006600"/>
                </a:solidFill>
                <a:cs typeface="Calibri" panose="020F0502020204030204" pitchFamily="34" charset="0"/>
              </a:rPr>
              <a:t>: ESWA LAM 10-3, 13-1, 14-1, 14-2, 21-2 (0.02% </a:t>
            </a:r>
            <a:r>
              <a:rPr lang="ko-KR" altLang="en-US" sz="900" b="0" dirty="0">
                <a:solidFill>
                  <a:srgbClr val="006600"/>
                </a:solidFill>
                <a:cs typeface="Calibri" panose="020F0502020204030204" pitchFamily="34" charset="0"/>
              </a:rPr>
              <a:t>수준</a:t>
            </a:r>
            <a:r>
              <a:rPr lang="en-US" altLang="ko-KR" sz="900" b="0" dirty="0">
                <a:solidFill>
                  <a:srgbClr val="006600"/>
                </a:solidFill>
                <a:cs typeface="Calibri" panose="020F0502020204030204" pitchFamily="34" charset="0"/>
              </a:rPr>
              <a:t>)</a:t>
            </a:r>
          </a:p>
          <a:p>
            <a:pPr lvl="0">
              <a:lnSpc>
                <a:spcPts val="1000"/>
              </a:lnSpc>
              <a:buNone/>
              <a:tabLst>
                <a:tab pos="3051175" algn="l"/>
              </a:tabLst>
              <a:defRPr/>
            </a:pPr>
            <a:r>
              <a:rPr lang="en-US" altLang="ko-KR" sz="900" b="0" dirty="0">
                <a:solidFill>
                  <a:srgbClr val="006600"/>
                </a:solidFill>
                <a:cs typeface="Calibri" panose="020F0502020204030204" pitchFamily="34" charset="0"/>
              </a:rPr>
              <a:t>                    ESMI LAM 4-3</a:t>
            </a:r>
          </a:p>
        </p:txBody>
      </p:sp>
      <p:cxnSp>
        <p:nvCxnSpPr>
          <p:cNvPr id="22" name="직선 연결선 21">
            <a:extLst>
              <a:ext uri="{FF2B5EF4-FFF2-40B4-BE49-F238E27FC236}">
                <a16:creationId xmlns:a16="http://schemas.microsoft.com/office/drawing/2014/main" id="{73959A40-3F4D-D572-CA99-4EE0D4FDCA1D}"/>
              </a:ext>
            </a:extLst>
          </p:cNvPr>
          <p:cNvCxnSpPr/>
          <p:nvPr/>
        </p:nvCxnSpPr>
        <p:spPr>
          <a:xfrm>
            <a:off x="4953978" y="1290877"/>
            <a:ext cx="0" cy="5101045"/>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23" name="그림 22">
            <a:extLst>
              <a:ext uri="{FF2B5EF4-FFF2-40B4-BE49-F238E27FC236}">
                <a16:creationId xmlns:a16="http://schemas.microsoft.com/office/drawing/2014/main" id="{76EBF1C9-B5CA-433F-D24E-F8CAD55280FC}"/>
              </a:ext>
            </a:extLst>
          </p:cNvPr>
          <p:cNvPicPr>
            <a:picLocks noChangeAspect="1"/>
          </p:cNvPicPr>
          <p:nvPr/>
        </p:nvPicPr>
        <p:blipFill>
          <a:blip r:embed="rId3"/>
          <a:stretch>
            <a:fillRect/>
          </a:stretch>
        </p:blipFill>
        <p:spPr>
          <a:xfrm>
            <a:off x="577766" y="4721573"/>
            <a:ext cx="2261788" cy="1833833"/>
          </a:xfrm>
          <a:prstGeom prst="rect">
            <a:avLst/>
          </a:prstGeom>
        </p:spPr>
      </p:pic>
      <p:sp>
        <p:nvSpPr>
          <p:cNvPr id="24" name="Text Box 118">
            <a:extLst>
              <a:ext uri="{FF2B5EF4-FFF2-40B4-BE49-F238E27FC236}">
                <a16:creationId xmlns:a16="http://schemas.microsoft.com/office/drawing/2014/main" id="{9FE3DB40-3A39-F4E6-EAF8-49875B447BCB}"/>
              </a:ext>
            </a:extLst>
          </p:cNvPr>
          <p:cNvSpPr txBox="1">
            <a:spLocks noChangeArrowheads="1"/>
          </p:cNvSpPr>
          <p:nvPr/>
        </p:nvSpPr>
        <p:spPr bwMode="auto">
          <a:xfrm>
            <a:off x="2902948" y="5328536"/>
            <a:ext cx="1988148" cy="329184"/>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ko-KR" altLang="en-US" sz="900" b="0" dirty="0">
                <a:solidFill>
                  <a:srgbClr val="006600"/>
                </a:solidFill>
                <a:cs typeface="Calibri" panose="020F0502020204030204" pitchFamily="34" charset="0"/>
              </a:rPr>
              <a:t>불량 시점은 설비 가속 후 </a:t>
            </a:r>
            <a:r>
              <a:rPr lang="en-US" altLang="ko-KR" sz="900" b="0" dirty="0">
                <a:solidFill>
                  <a:srgbClr val="006600"/>
                </a:solidFill>
                <a:cs typeface="Calibri" panose="020F0502020204030204" pitchFamily="34" charset="0"/>
              </a:rPr>
              <a:t>1st Cell </a:t>
            </a:r>
            <a:r>
              <a:rPr lang="ko-KR" altLang="en-US" sz="900" b="0" dirty="0">
                <a:solidFill>
                  <a:srgbClr val="006600"/>
                </a:solidFill>
                <a:cs typeface="Calibri" panose="020F0502020204030204" pitchFamily="34" charset="0"/>
              </a:rPr>
              <a:t>이며 </a:t>
            </a:r>
            <a:endParaRPr lang="en-US" altLang="ko-KR" sz="900" b="0" dirty="0">
              <a:solidFill>
                <a:srgbClr val="006600"/>
              </a:solidFill>
              <a:cs typeface="Calibri" panose="020F0502020204030204" pitchFamily="34" charset="0"/>
            </a:endParaRPr>
          </a:p>
          <a:p>
            <a:pPr lvl="0">
              <a:lnSpc>
                <a:spcPts val="1000"/>
              </a:lnSpc>
              <a:buNone/>
              <a:tabLst>
                <a:tab pos="3051175" algn="l"/>
              </a:tabLst>
              <a:defRPr/>
            </a:pPr>
            <a:r>
              <a:rPr lang="ko-KR" altLang="en-US" sz="900" b="0" dirty="0">
                <a:solidFill>
                  <a:srgbClr val="006600"/>
                </a:solidFill>
                <a:cs typeface="Calibri" panose="020F0502020204030204" pitchFamily="34" charset="0"/>
              </a:rPr>
              <a:t>정상 대비 </a:t>
            </a:r>
            <a:r>
              <a:rPr lang="en-US" altLang="ko-KR" sz="900" b="0" dirty="0">
                <a:solidFill>
                  <a:srgbClr val="006600"/>
                </a:solidFill>
                <a:cs typeface="Calibri" panose="020F0502020204030204" pitchFamily="34" charset="0"/>
              </a:rPr>
              <a:t>5~6mm</a:t>
            </a:r>
            <a:r>
              <a:rPr lang="ko-KR" altLang="en-US" sz="900" b="0" dirty="0">
                <a:solidFill>
                  <a:srgbClr val="006600"/>
                </a:solidFill>
                <a:cs typeface="Calibri" panose="020F0502020204030204" pitchFamily="34" charset="0"/>
              </a:rPr>
              <a:t> 일찍 검사 됨 </a:t>
            </a:r>
          </a:p>
        </p:txBody>
      </p:sp>
      <p:sp>
        <p:nvSpPr>
          <p:cNvPr id="26" name="Text Box 38">
            <a:extLst>
              <a:ext uri="{FF2B5EF4-FFF2-40B4-BE49-F238E27FC236}">
                <a16:creationId xmlns:a16="http://schemas.microsoft.com/office/drawing/2014/main" id="{6EEB5589-6D2D-0788-6B60-9B9F2A2987E6}"/>
              </a:ext>
            </a:extLst>
          </p:cNvPr>
          <p:cNvSpPr txBox="1">
            <a:spLocks noChangeArrowheads="1"/>
          </p:cNvSpPr>
          <p:nvPr/>
        </p:nvSpPr>
        <p:spPr bwMode="auto">
          <a:xfrm>
            <a:off x="209306" y="4363414"/>
            <a:ext cx="4355429" cy="276999"/>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kumimoji="0" lang="ko-KR" altLang="en-US" sz="120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itchFamily="34" charset="0"/>
              </a:rPr>
              <a:t>재가동 첫 번째 셀이 치수비전 </a:t>
            </a:r>
            <a:r>
              <a:rPr kumimoji="0" lang="en-US" altLang="ko-KR" sz="120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itchFamily="34" charset="0"/>
              </a:rPr>
              <a:t>ROI </a:t>
            </a:r>
            <a:r>
              <a:rPr kumimoji="0" lang="ko-KR" altLang="en-US" sz="120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itchFamily="34" charset="0"/>
              </a:rPr>
              <a:t>도달하기 전 촬영되며 불량 발생</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27" name="Text Box 118">
            <a:extLst>
              <a:ext uri="{FF2B5EF4-FFF2-40B4-BE49-F238E27FC236}">
                <a16:creationId xmlns:a16="http://schemas.microsoft.com/office/drawing/2014/main" id="{79C3767D-6574-F1EC-91CF-AE8FBF5494AC}"/>
              </a:ext>
            </a:extLst>
          </p:cNvPr>
          <p:cNvSpPr txBox="1">
            <a:spLocks noChangeArrowheads="1"/>
          </p:cNvSpPr>
          <p:nvPr/>
        </p:nvSpPr>
        <p:spPr bwMode="auto">
          <a:xfrm>
            <a:off x="615114" y="5872417"/>
            <a:ext cx="919214"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900" b="0" dirty="0">
                <a:cs typeface="Calibri" panose="020F0502020204030204" pitchFamily="34" charset="0"/>
              </a:rPr>
              <a:t>정상 시점</a:t>
            </a:r>
          </a:p>
        </p:txBody>
      </p:sp>
      <p:sp>
        <p:nvSpPr>
          <p:cNvPr id="28" name="Text Box 118">
            <a:extLst>
              <a:ext uri="{FF2B5EF4-FFF2-40B4-BE49-F238E27FC236}">
                <a16:creationId xmlns:a16="http://schemas.microsoft.com/office/drawing/2014/main" id="{9BBD003E-11F5-70B7-6E18-8F737EB71AE0}"/>
              </a:ext>
            </a:extLst>
          </p:cNvPr>
          <p:cNvSpPr txBox="1">
            <a:spLocks noChangeArrowheads="1"/>
          </p:cNvSpPr>
          <p:nvPr/>
        </p:nvSpPr>
        <p:spPr bwMode="auto">
          <a:xfrm>
            <a:off x="615114" y="4945576"/>
            <a:ext cx="919214"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900" b="0" dirty="0">
                <a:cs typeface="Calibri" panose="020F0502020204030204" pitchFamily="34" charset="0"/>
              </a:rPr>
              <a:t>불량 시점</a:t>
            </a:r>
          </a:p>
        </p:txBody>
      </p:sp>
      <p:sp>
        <p:nvSpPr>
          <p:cNvPr id="29" name="Text Box 38">
            <a:extLst>
              <a:ext uri="{FF2B5EF4-FFF2-40B4-BE49-F238E27FC236}">
                <a16:creationId xmlns:a16="http://schemas.microsoft.com/office/drawing/2014/main" id="{BE969BBC-317D-6B74-486C-87E5D43BD1C2}"/>
              </a:ext>
            </a:extLst>
          </p:cNvPr>
          <p:cNvSpPr txBox="1">
            <a:spLocks noChangeArrowheads="1"/>
          </p:cNvSpPr>
          <p:nvPr/>
        </p:nvSpPr>
        <p:spPr bwMode="auto">
          <a:xfrm>
            <a:off x="5060123" y="1152378"/>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원인</a:t>
            </a:r>
            <a:r>
              <a:rPr lang="en-US" altLang="ko-KR" sz="1200" b="1" dirty="0">
                <a:solidFill>
                  <a:prstClr val="black"/>
                </a:solidFill>
                <a:latin typeface="Arial Narrow" panose="020B0606020202030204" pitchFamily="34" charset="0"/>
                <a:ea typeface="LG스마트체 Regular" panose="020B0600000101010101" pitchFamily="50" charset="-127"/>
                <a:cs typeface="Arial" charset="0"/>
              </a:rPr>
              <a:t>, </a:t>
            </a: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조치</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37" name="Text Box 38">
            <a:extLst>
              <a:ext uri="{FF2B5EF4-FFF2-40B4-BE49-F238E27FC236}">
                <a16:creationId xmlns:a16="http://schemas.microsoft.com/office/drawing/2014/main" id="{9498B9F0-41ED-7497-0C6F-DE77699CC800}"/>
              </a:ext>
            </a:extLst>
          </p:cNvPr>
          <p:cNvSpPr txBox="1">
            <a:spLocks noChangeArrowheads="1"/>
          </p:cNvSpPr>
          <p:nvPr/>
        </p:nvSpPr>
        <p:spPr bwMode="auto">
          <a:xfrm>
            <a:off x="5215764" y="1431600"/>
            <a:ext cx="4355429" cy="671979"/>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원인은 검사 지연 시간 입니다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en-US" altLang="ko-KR" sz="105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050" dirty="0">
                <a:solidFill>
                  <a:srgbClr val="000000"/>
                </a:solidFill>
                <a:latin typeface="Arial Narrow" panose="020B0606020202030204" pitchFamily="34" charset="0"/>
                <a:ea typeface="LG스마트체 Regular" panose="020B0600000101010101" pitchFamily="50" charset="-127"/>
                <a:cs typeface="Arial" pitchFamily="34" charset="0"/>
              </a:rPr>
              <a:t>설정 값 아님</a:t>
            </a:r>
            <a:r>
              <a:rPr lang="en-US" altLang="ko-KR" sz="105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050" dirty="0">
                <a:solidFill>
                  <a:srgbClr val="000000"/>
                </a:solidFill>
                <a:latin typeface="Arial Narrow" panose="020B0606020202030204" pitchFamily="34" charset="0"/>
                <a:ea typeface="LG스마트체 Regular" panose="020B0600000101010101" pitchFamily="50" charset="-127"/>
                <a:cs typeface="Arial" pitchFamily="34" charset="0"/>
              </a:rPr>
              <a:t>평균적인 지연 시간</a:t>
            </a:r>
            <a:r>
              <a:rPr lang="en-US" altLang="ko-KR" sz="1050" dirty="0">
                <a:solidFill>
                  <a:srgbClr val="000000"/>
                </a:solidFill>
                <a:latin typeface="Arial Narrow" panose="020B0606020202030204" pitchFamily="34" charset="0"/>
                <a:ea typeface="LG스마트체 Regular" panose="020B0600000101010101" pitchFamily="50" charset="-127"/>
                <a:cs typeface="Arial" pitchFamily="34" charset="0"/>
              </a:rPr>
              <a:t>)</a:t>
            </a:r>
            <a:endPar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endParaRPr>
          </a:p>
          <a:p>
            <a:pPr marR="0" lvl="0" algn="l" defTabSz="914400" rtl="0" eaLnBrk="1" fontAlgn="auto" latinLnBrk="0" hangingPunct="1">
              <a:lnSpc>
                <a:spcPct val="100000"/>
              </a:lnSpc>
              <a:spcBef>
                <a:spcPts val="200"/>
              </a:spcBef>
              <a:spcAft>
                <a:spcPts val="0"/>
              </a:spcAft>
              <a:buClrTx/>
              <a:buSzPct val="85000"/>
              <a:tabLst/>
              <a:defRPr/>
            </a:pP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검사 지연 시간이란</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검사기가 제어기로 부터 검사 촬영신호를 수신    </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받고 실제 촬영을 하는데 까지 지연되는 시간입니다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약</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20ms)</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38" name="Text Box 38">
            <a:extLst>
              <a:ext uri="{FF2B5EF4-FFF2-40B4-BE49-F238E27FC236}">
                <a16:creationId xmlns:a16="http://schemas.microsoft.com/office/drawing/2014/main" id="{6E3C67C0-3FE6-C058-CC23-98CC04E98C01}"/>
              </a:ext>
            </a:extLst>
          </p:cNvPr>
          <p:cNvSpPr txBox="1">
            <a:spLocks noChangeArrowheads="1"/>
          </p:cNvSpPr>
          <p:nvPr/>
        </p:nvSpPr>
        <p:spPr bwMode="auto">
          <a:xfrm>
            <a:off x="5215764" y="5815162"/>
            <a:ext cx="4355429" cy="461665"/>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현상 내용에 대해 법인에 전달하였고</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법인에서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ROI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수정 조치를 진행하였습니다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26" name="직사각형 125">
            <a:extLst>
              <a:ext uri="{FF2B5EF4-FFF2-40B4-BE49-F238E27FC236}">
                <a16:creationId xmlns:a16="http://schemas.microsoft.com/office/drawing/2014/main" id="{899F90E5-E5D8-F765-5718-989F2E4E6C0F}"/>
              </a:ext>
            </a:extLst>
          </p:cNvPr>
          <p:cNvSpPr/>
          <p:nvPr/>
        </p:nvSpPr>
        <p:spPr>
          <a:xfrm>
            <a:off x="5603763" y="4353611"/>
            <a:ext cx="809201" cy="958513"/>
          </a:xfrm>
          <a:prstGeom prst="rect">
            <a:avLst/>
          </a:prstGeom>
          <a:pattFill prst="ltUpDiag">
            <a:fgClr>
              <a:schemeClr val="accent5">
                <a:lumMod val="60000"/>
                <a:lumOff val="4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직사각형 126">
            <a:extLst>
              <a:ext uri="{FF2B5EF4-FFF2-40B4-BE49-F238E27FC236}">
                <a16:creationId xmlns:a16="http://schemas.microsoft.com/office/drawing/2014/main" id="{A5255042-CFDB-0E8B-4D87-E45429FE7F80}"/>
              </a:ext>
            </a:extLst>
          </p:cNvPr>
          <p:cNvSpPr/>
          <p:nvPr/>
        </p:nvSpPr>
        <p:spPr>
          <a:xfrm>
            <a:off x="5365749" y="2434422"/>
            <a:ext cx="4147317" cy="11362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8" name="직사각형 127">
            <a:extLst>
              <a:ext uri="{FF2B5EF4-FFF2-40B4-BE49-F238E27FC236}">
                <a16:creationId xmlns:a16="http://schemas.microsoft.com/office/drawing/2014/main" id="{18BC555A-3C3A-5A45-05C8-7D36DA2928D1}"/>
              </a:ext>
            </a:extLst>
          </p:cNvPr>
          <p:cNvSpPr/>
          <p:nvPr/>
        </p:nvSpPr>
        <p:spPr>
          <a:xfrm>
            <a:off x="5365750" y="4192275"/>
            <a:ext cx="4147316" cy="11362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9" name="Text Box 38">
            <a:extLst>
              <a:ext uri="{FF2B5EF4-FFF2-40B4-BE49-F238E27FC236}">
                <a16:creationId xmlns:a16="http://schemas.microsoft.com/office/drawing/2014/main" id="{F5940FBA-B883-E31F-FA78-7A55A5D469C8}"/>
              </a:ext>
            </a:extLst>
          </p:cNvPr>
          <p:cNvSpPr txBox="1">
            <a:spLocks noChangeArrowheads="1"/>
          </p:cNvSpPr>
          <p:nvPr/>
        </p:nvSpPr>
        <p:spPr bwMode="auto">
          <a:xfrm>
            <a:off x="9155976" y="3537125"/>
            <a:ext cx="460926" cy="27699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r>
              <a:rPr kumimoji="0" lang="ko-KR" altLang="en-US"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시간</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30" name="Text Box 38">
            <a:extLst>
              <a:ext uri="{FF2B5EF4-FFF2-40B4-BE49-F238E27FC236}">
                <a16:creationId xmlns:a16="http://schemas.microsoft.com/office/drawing/2014/main" id="{AD53904E-368D-1712-0512-B83CE3400368}"/>
              </a:ext>
            </a:extLst>
          </p:cNvPr>
          <p:cNvSpPr txBox="1">
            <a:spLocks noChangeArrowheads="1"/>
          </p:cNvSpPr>
          <p:nvPr/>
        </p:nvSpPr>
        <p:spPr bwMode="auto">
          <a:xfrm>
            <a:off x="4952023" y="2393708"/>
            <a:ext cx="460926" cy="27699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r>
              <a:rPr kumimoji="0" lang="ko-KR" altLang="en-US"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속도</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31" name="Text Box 38">
            <a:extLst>
              <a:ext uri="{FF2B5EF4-FFF2-40B4-BE49-F238E27FC236}">
                <a16:creationId xmlns:a16="http://schemas.microsoft.com/office/drawing/2014/main" id="{300DBF69-B880-66B8-3874-7AB31A76D207}"/>
              </a:ext>
            </a:extLst>
          </p:cNvPr>
          <p:cNvSpPr txBox="1">
            <a:spLocks noChangeArrowheads="1"/>
          </p:cNvSpPr>
          <p:nvPr/>
        </p:nvSpPr>
        <p:spPr bwMode="auto">
          <a:xfrm>
            <a:off x="9200017" y="5293989"/>
            <a:ext cx="460926" cy="27699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r>
              <a:rPr kumimoji="0" lang="ko-KR" altLang="en-US"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시간</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32" name="Text Box 38">
            <a:extLst>
              <a:ext uri="{FF2B5EF4-FFF2-40B4-BE49-F238E27FC236}">
                <a16:creationId xmlns:a16="http://schemas.microsoft.com/office/drawing/2014/main" id="{8076C791-B4B0-B294-A225-8ACD76B5C0FE}"/>
              </a:ext>
            </a:extLst>
          </p:cNvPr>
          <p:cNvSpPr txBox="1">
            <a:spLocks noChangeArrowheads="1"/>
          </p:cNvSpPr>
          <p:nvPr/>
        </p:nvSpPr>
        <p:spPr bwMode="auto">
          <a:xfrm>
            <a:off x="4952023" y="4165616"/>
            <a:ext cx="460926" cy="27699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r>
              <a:rPr kumimoji="0" lang="ko-KR" altLang="en-US"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속도</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cxnSp>
        <p:nvCxnSpPr>
          <p:cNvPr id="133" name="직선 연결선 132">
            <a:extLst>
              <a:ext uri="{FF2B5EF4-FFF2-40B4-BE49-F238E27FC236}">
                <a16:creationId xmlns:a16="http://schemas.microsoft.com/office/drawing/2014/main" id="{C5A1D506-411D-511C-1458-0AB3C06E63DB}"/>
              </a:ext>
            </a:extLst>
          </p:cNvPr>
          <p:cNvCxnSpPr>
            <a:cxnSpLocks/>
          </p:cNvCxnSpPr>
          <p:nvPr/>
        </p:nvCxnSpPr>
        <p:spPr>
          <a:xfrm flipV="1">
            <a:off x="5365749" y="2574720"/>
            <a:ext cx="1103631" cy="995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직선 연결선 133">
            <a:extLst>
              <a:ext uri="{FF2B5EF4-FFF2-40B4-BE49-F238E27FC236}">
                <a16:creationId xmlns:a16="http://schemas.microsoft.com/office/drawing/2014/main" id="{1B2FFB4B-AFE4-4F69-C165-772635D138D9}"/>
              </a:ext>
            </a:extLst>
          </p:cNvPr>
          <p:cNvCxnSpPr>
            <a:cxnSpLocks/>
          </p:cNvCxnSpPr>
          <p:nvPr/>
        </p:nvCxnSpPr>
        <p:spPr>
          <a:xfrm>
            <a:off x="6469380" y="2573766"/>
            <a:ext cx="2044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직선 연결선 134">
            <a:extLst>
              <a:ext uri="{FF2B5EF4-FFF2-40B4-BE49-F238E27FC236}">
                <a16:creationId xmlns:a16="http://schemas.microsoft.com/office/drawing/2014/main" id="{DFE7BDC4-4EA2-2AA2-5201-3AE455026369}"/>
              </a:ext>
            </a:extLst>
          </p:cNvPr>
          <p:cNvCxnSpPr>
            <a:cxnSpLocks/>
          </p:cNvCxnSpPr>
          <p:nvPr/>
        </p:nvCxnSpPr>
        <p:spPr>
          <a:xfrm>
            <a:off x="8514218" y="2574720"/>
            <a:ext cx="990363" cy="995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직선 연결선 135">
            <a:extLst>
              <a:ext uri="{FF2B5EF4-FFF2-40B4-BE49-F238E27FC236}">
                <a16:creationId xmlns:a16="http://schemas.microsoft.com/office/drawing/2014/main" id="{95035898-ADCA-E75D-9F63-DBA296DF2611}"/>
              </a:ext>
            </a:extLst>
          </p:cNvPr>
          <p:cNvCxnSpPr>
            <a:cxnSpLocks/>
          </p:cNvCxnSpPr>
          <p:nvPr/>
        </p:nvCxnSpPr>
        <p:spPr>
          <a:xfrm>
            <a:off x="6737148" y="2573766"/>
            <a:ext cx="0" cy="96335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520AA950-B374-22D6-8B81-EEAABB26015B}"/>
              </a:ext>
            </a:extLst>
          </p:cNvPr>
          <p:cNvCxnSpPr>
            <a:cxnSpLocks/>
          </p:cNvCxnSpPr>
          <p:nvPr/>
        </p:nvCxnSpPr>
        <p:spPr>
          <a:xfrm>
            <a:off x="6469380" y="4325835"/>
            <a:ext cx="2044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a:extLst>
              <a:ext uri="{FF2B5EF4-FFF2-40B4-BE49-F238E27FC236}">
                <a16:creationId xmlns:a16="http://schemas.microsoft.com/office/drawing/2014/main" id="{28D374AD-26F2-B62C-77FB-D0B843E2CB60}"/>
              </a:ext>
            </a:extLst>
          </p:cNvPr>
          <p:cNvCxnSpPr>
            <a:cxnSpLocks/>
          </p:cNvCxnSpPr>
          <p:nvPr/>
        </p:nvCxnSpPr>
        <p:spPr>
          <a:xfrm>
            <a:off x="8514218" y="4326789"/>
            <a:ext cx="990363" cy="995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a:extLst>
              <a:ext uri="{FF2B5EF4-FFF2-40B4-BE49-F238E27FC236}">
                <a16:creationId xmlns:a16="http://schemas.microsoft.com/office/drawing/2014/main" id="{0F4871BD-4656-8872-262F-1820F42056D9}"/>
              </a:ext>
            </a:extLst>
          </p:cNvPr>
          <p:cNvCxnSpPr>
            <a:cxnSpLocks/>
          </p:cNvCxnSpPr>
          <p:nvPr/>
        </p:nvCxnSpPr>
        <p:spPr>
          <a:xfrm>
            <a:off x="7572958" y="2573766"/>
            <a:ext cx="0" cy="96335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40" name="왼쪽 중괄호 139">
            <a:extLst>
              <a:ext uri="{FF2B5EF4-FFF2-40B4-BE49-F238E27FC236}">
                <a16:creationId xmlns:a16="http://schemas.microsoft.com/office/drawing/2014/main" id="{7DA3FAE6-FA29-D7D0-085A-90CAA18E61A4}"/>
              </a:ext>
            </a:extLst>
          </p:cNvPr>
          <p:cNvSpPr/>
          <p:nvPr/>
        </p:nvSpPr>
        <p:spPr>
          <a:xfrm rot="16200000">
            <a:off x="7096145" y="3227432"/>
            <a:ext cx="122827" cy="83079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41" name="Text Box 118">
            <a:extLst>
              <a:ext uri="{FF2B5EF4-FFF2-40B4-BE49-F238E27FC236}">
                <a16:creationId xmlns:a16="http://schemas.microsoft.com/office/drawing/2014/main" id="{E9DBE684-F966-50C8-EDA5-9E3947801BB2}"/>
              </a:ext>
            </a:extLst>
          </p:cNvPr>
          <p:cNvSpPr txBox="1">
            <a:spLocks noChangeArrowheads="1"/>
          </p:cNvSpPr>
          <p:nvPr/>
        </p:nvSpPr>
        <p:spPr bwMode="auto">
          <a:xfrm>
            <a:off x="6762812" y="3675599"/>
            <a:ext cx="773156" cy="19113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solidFill>
                  <a:srgbClr val="FF0000"/>
                </a:solidFill>
                <a:cs typeface="Calibri" panose="020F0502020204030204" pitchFamily="34" charset="0"/>
              </a:rPr>
              <a:t>검사 지연 시간</a:t>
            </a:r>
            <a:endParaRPr lang="en-US" altLang="ko-KR" sz="700" b="0" dirty="0">
              <a:solidFill>
                <a:srgbClr val="FF0000"/>
              </a:solidFill>
              <a:cs typeface="Calibri" panose="020F0502020204030204" pitchFamily="34" charset="0"/>
            </a:endParaRPr>
          </a:p>
        </p:txBody>
      </p:sp>
      <p:sp>
        <p:nvSpPr>
          <p:cNvPr id="142" name="직사각형 141">
            <a:extLst>
              <a:ext uri="{FF2B5EF4-FFF2-40B4-BE49-F238E27FC236}">
                <a16:creationId xmlns:a16="http://schemas.microsoft.com/office/drawing/2014/main" id="{AC01E08E-2428-CC7D-5211-DA7B37CBDEE5}"/>
              </a:ext>
            </a:extLst>
          </p:cNvPr>
          <p:cNvSpPr/>
          <p:nvPr/>
        </p:nvSpPr>
        <p:spPr>
          <a:xfrm>
            <a:off x="6755272" y="2614481"/>
            <a:ext cx="809201" cy="922644"/>
          </a:xfrm>
          <a:prstGeom prst="rect">
            <a:avLst/>
          </a:prstGeom>
          <a:pattFill prst="ltUpDiag">
            <a:fgClr>
              <a:schemeClr val="accent5">
                <a:lumMod val="60000"/>
                <a:lumOff val="4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3" name="Text Box 118">
            <a:extLst>
              <a:ext uri="{FF2B5EF4-FFF2-40B4-BE49-F238E27FC236}">
                <a16:creationId xmlns:a16="http://schemas.microsoft.com/office/drawing/2014/main" id="{860E7B72-7F0C-1216-D272-47191D77BA54}"/>
              </a:ext>
            </a:extLst>
          </p:cNvPr>
          <p:cNvSpPr txBox="1">
            <a:spLocks noChangeArrowheads="1"/>
          </p:cNvSpPr>
          <p:nvPr/>
        </p:nvSpPr>
        <p:spPr bwMode="auto">
          <a:xfrm>
            <a:off x="6004795" y="2931698"/>
            <a:ext cx="773156" cy="447614"/>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cs typeface="Calibri" panose="020F0502020204030204" pitchFamily="34" charset="0"/>
              </a:rPr>
              <a:t>비전 셀 거리 도착</a:t>
            </a:r>
            <a:endParaRPr lang="en-US" altLang="ko-KR" sz="700" b="0" dirty="0">
              <a:cs typeface="Calibri" panose="020F0502020204030204" pitchFamily="34" charset="0"/>
            </a:endParaRPr>
          </a:p>
          <a:p>
            <a:pPr lvl="0" algn="ctr">
              <a:lnSpc>
                <a:spcPts val="1000"/>
              </a:lnSpc>
              <a:buNone/>
              <a:tabLst>
                <a:tab pos="3051175" algn="l"/>
              </a:tabLst>
              <a:defRPr/>
            </a:pPr>
            <a:r>
              <a:rPr lang="en-US" altLang="ko-KR" sz="700" b="0" dirty="0">
                <a:cs typeface="Calibri" panose="020F0502020204030204" pitchFamily="34" charset="0"/>
              </a:rPr>
              <a:t>&amp; PMAC</a:t>
            </a:r>
            <a:r>
              <a:rPr lang="ko-KR" altLang="en-US" sz="700" b="0" dirty="0">
                <a:cs typeface="Calibri" panose="020F0502020204030204" pitchFamily="34" charset="0"/>
              </a:rPr>
              <a:t>→검사기 촬영 </a:t>
            </a:r>
            <a:r>
              <a:rPr lang="en-US" altLang="ko-KR" sz="700" b="0" dirty="0">
                <a:cs typeface="Calibri" panose="020F0502020204030204" pitchFamily="34" charset="0"/>
              </a:rPr>
              <a:t>Trigger On</a:t>
            </a:r>
          </a:p>
        </p:txBody>
      </p:sp>
      <p:sp>
        <p:nvSpPr>
          <p:cNvPr id="144" name="Text Box 118">
            <a:extLst>
              <a:ext uri="{FF2B5EF4-FFF2-40B4-BE49-F238E27FC236}">
                <a16:creationId xmlns:a16="http://schemas.microsoft.com/office/drawing/2014/main" id="{12668908-BDEF-4988-6645-B90DE77719A2}"/>
              </a:ext>
            </a:extLst>
          </p:cNvPr>
          <p:cNvSpPr txBox="1">
            <a:spLocks noChangeArrowheads="1"/>
          </p:cNvSpPr>
          <p:nvPr/>
        </p:nvSpPr>
        <p:spPr bwMode="auto">
          <a:xfrm>
            <a:off x="7527294" y="2572659"/>
            <a:ext cx="519186" cy="19113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cs typeface="Calibri" panose="020F0502020204030204" pitchFamily="34" charset="0"/>
              </a:rPr>
              <a:t>비전촬영</a:t>
            </a:r>
            <a:endParaRPr lang="en-US" altLang="ko-KR" sz="700" b="0" dirty="0">
              <a:cs typeface="Calibri" panose="020F0502020204030204" pitchFamily="34" charset="0"/>
            </a:endParaRPr>
          </a:p>
        </p:txBody>
      </p:sp>
      <p:cxnSp>
        <p:nvCxnSpPr>
          <p:cNvPr id="145" name="직선 화살표 연결선 144">
            <a:extLst>
              <a:ext uri="{FF2B5EF4-FFF2-40B4-BE49-F238E27FC236}">
                <a16:creationId xmlns:a16="http://schemas.microsoft.com/office/drawing/2014/main" id="{9B0A6C73-BE59-75A2-A3ED-A2816337A5F0}"/>
              </a:ext>
            </a:extLst>
          </p:cNvPr>
          <p:cNvCxnSpPr>
            <a:cxnSpLocks/>
          </p:cNvCxnSpPr>
          <p:nvPr/>
        </p:nvCxnSpPr>
        <p:spPr>
          <a:xfrm>
            <a:off x="7200900" y="3077575"/>
            <a:ext cx="7394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6" name="Text Box 118">
            <a:extLst>
              <a:ext uri="{FF2B5EF4-FFF2-40B4-BE49-F238E27FC236}">
                <a16:creationId xmlns:a16="http://schemas.microsoft.com/office/drawing/2014/main" id="{36B21A7B-5D13-24EE-C764-4F431402761A}"/>
              </a:ext>
            </a:extLst>
          </p:cNvPr>
          <p:cNvSpPr txBox="1">
            <a:spLocks noChangeArrowheads="1"/>
          </p:cNvSpPr>
          <p:nvPr/>
        </p:nvSpPr>
        <p:spPr bwMode="auto">
          <a:xfrm>
            <a:off x="8012609" y="2910496"/>
            <a:ext cx="767207" cy="319374"/>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cs typeface="Calibri" panose="020F0502020204030204" pitchFamily="34" charset="0"/>
              </a:rPr>
              <a:t>검사지연 시간 동안 제품 이동 거리</a:t>
            </a:r>
            <a:endParaRPr lang="en-US" altLang="ko-KR" sz="700" b="0" dirty="0">
              <a:cs typeface="Calibri" panose="020F0502020204030204" pitchFamily="34" charset="0"/>
            </a:endParaRPr>
          </a:p>
        </p:txBody>
      </p:sp>
      <p:sp>
        <p:nvSpPr>
          <p:cNvPr id="147" name="Text Box 38">
            <a:extLst>
              <a:ext uri="{FF2B5EF4-FFF2-40B4-BE49-F238E27FC236}">
                <a16:creationId xmlns:a16="http://schemas.microsoft.com/office/drawing/2014/main" id="{9A0AD601-D339-1768-E70C-04C1A3B1D736}"/>
              </a:ext>
            </a:extLst>
          </p:cNvPr>
          <p:cNvSpPr txBox="1">
            <a:spLocks noChangeArrowheads="1"/>
          </p:cNvSpPr>
          <p:nvPr/>
        </p:nvSpPr>
        <p:spPr bwMode="auto">
          <a:xfrm>
            <a:off x="6809642" y="2172072"/>
            <a:ext cx="1306731" cy="27699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&lt;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등속 구간 촬영</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&gt;</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48" name="Text Box 38">
            <a:extLst>
              <a:ext uri="{FF2B5EF4-FFF2-40B4-BE49-F238E27FC236}">
                <a16:creationId xmlns:a16="http://schemas.microsoft.com/office/drawing/2014/main" id="{BCD1BA2C-26DE-4151-DDA1-99A81DFEF208}"/>
              </a:ext>
            </a:extLst>
          </p:cNvPr>
          <p:cNvSpPr txBox="1">
            <a:spLocks noChangeArrowheads="1"/>
          </p:cNvSpPr>
          <p:nvPr/>
        </p:nvSpPr>
        <p:spPr bwMode="auto">
          <a:xfrm>
            <a:off x="6789661" y="3932323"/>
            <a:ext cx="1306731" cy="27699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&lt;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가속 구간 촬영</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&gt;</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cxnSp>
        <p:nvCxnSpPr>
          <p:cNvPr id="149" name="직선 연결선 148">
            <a:extLst>
              <a:ext uri="{FF2B5EF4-FFF2-40B4-BE49-F238E27FC236}">
                <a16:creationId xmlns:a16="http://schemas.microsoft.com/office/drawing/2014/main" id="{411BD721-4F30-9E29-17AF-D4247015EB12}"/>
              </a:ext>
            </a:extLst>
          </p:cNvPr>
          <p:cNvCxnSpPr>
            <a:cxnSpLocks/>
          </p:cNvCxnSpPr>
          <p:nvPr/>
        </p:nvCxnSpPr>
        <p:spPr>
          <a:xfrm>
            <a:off x="5589913" y="5139974"/>
            <a:ext cx="0" cy="18277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BF887F51-8176-8737-BD02-15829FEEA421}"/>
              </a:ext>
            </a:extLst>
          </p:cNvPr>
          <p:cNvCxnSpPr>
            <a:cxnSpLocks/>
          </p:cNvCxnSpPr>
          <p:nvPr/>
        </p:nvCxnSpPr>
        <p:spPr>
          <a:xfrm>
            <a:off x="6412964" y="4359394"/>
            <a:ext cx="0" cy="963359"/>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51" name="왼쪽 중괄호 150">
            <a:extLst>
              <a:ext uri="{FF2B5EF4-FFF2-40B4-BE49-F238E27FC236}">
                <a16:creationId xmlns:a16="http://schemas.microsoft.com/office/drawing/2014/main" id="{882B8D6D-5984-877C-2DBC-D6FFC7BE1705}"/>
              </a:ext>
            </a:extLst>
          </p:cNvPr>
          <p:cNvSpPr/>
          <p:nvPr/>
        </p:nvSpPr>
        <p:spPr>
          <a:xfrm rot="16200000">
            <a:off x="5944431" y="4992580"/>
            <a:ext cx="122827" cy="83079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52" name="Text Box 118">
            <a:extLst>
              <a:ext uri="{FF2B5EF4-FFF2-40B4-BE49-F238E27FC236}">
                <a16:creationId xmlns:a16="http://schemas.microsoft.com/office/drawing/2014/main" id="{DE19FA42-17E0-1C64-791F-7749795D5D48}"/>
              </a:ext>
            </a:extLst>
          </p:cNvPr>
          <p:cNvSpPr txBox="1">
            <a:spLocks noChangeArrowheads="1"/>
          </p:cNvSpPr>
          <p:nvPr/>
        </p:nvSpPr>
        <p:spPr bwMode="auto">
          <a:xfrm>
            <a:off x="5611098" y="5440747"/>
            <a:ext cx="773156" cy="19113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solidFill>
                  <a:srgbClr val="FF0000"/>
                </a:solidFill>
                <a:cs typeface="Calibri" panose="020F0502020204030204" pitchFamily="34" charset="0"/>
              </a:rPr>
              <a:t>검사 지연 시간</a:t>
            </a:r>
            <a:endParaRPr lang="en-US" altLang="ko-KR" sz="700" b="0" dirty="0">
              <a:solidFill>
                <a:srgbClr val="FF0000"/>
              </a:solidFill>
              <a:cs typeface="Calibri" panose="020F0502020204030204" pitchFamily="34" charset="0"/>
            </a:endParaRPr>
          </a:p>
        </p:txBody>
      </p:sp>
      <p:cxnSp>
        <p:nvCxnSpPr>
          <p:cNvPr id="153" name="직선 연결선 152">
            <a:extLst>
              <a:ext uri="{FF2B5EF4-FFF2-40B4-BE49-F238E27FC236}">
                <a16:creationId xmlns:a16="http://schemas.microsoft.com/office/drawing/2014/main" id="{9F00A419-3EDF-DC72-05F9-5E4517FED5B5}"/>
              </a:ext>
            </a:extLst>
          </p:cNvPr>
          <p:cNvCxnSpPr>
            <a:cxnSpLocks/>
          </p:cNvCxnSpPr>
          <p:nvPr/>
        </p:nvCxnSpPr>
        <p:spPr>
          <a:xfrm flipV="1">
            <a:off x="5365749" y="4326789"/>
            <a:ext cx="1103631" cy="9959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직각 삼각형 153">
            <a:extLst>
              <a:ext uri="{FF2B5EF4-FFF2-40B4-BE49-F238E27FC236}">
                <a16:creationId xmlns:a16="http://schemas.microsoft.com/office/drawing/2014/main" id="{A5E3DD84-1FAD-C674-87F3-082ADA61A6F2}"/>
              </a:ext>
            </a:extLst>
          </p:cNvPr>
          <p:cNvSpPr/>
          <p:nvPr/>
        </p:nvSpPr>
        <p:spPr>
          <a:xfrm rot="10800000" flipH="1">
            <a:off x="5447101" y="4260244"/>
            <a:ext cx="1103629" cy="963359"/>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5" name="직선 화살표 연결선 154">
            <a:extLst>
              <a:ext uri="{FF2B5EF4-FFF2-40B4-BE49-F238E27FC236}">
                <a16:creationId xmlns:a16="http://schemas.microsoft.com/office/drawing/2014/main" id="{CB79AD44-E82A-EDD2-80F8-C2BBD394B8B9}"/>
              </a:ext>
            </a:extLst>
          </p:cNvPr>
          <p:cNvCxnSpPr>
            <a:cxnSpLocks/>
          </p:cNvCxnSpPr>
          <p:nvPr/>
        </p:nvCxnSpPr>
        <p:spPr>
          <a:xfrm>
            <a:off x="6164618" y="4920337"/>
            <a:ext cx="7394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6" name="Text Box 118">
            <a:extLst>
              <a:ext uri="{FF2B5EF4-FFF2-40B4-BE49-F238E27FC236}">
                <a16:creationId xmlns:a16="http://schemas.microsoft.com/office/drawing/2014/main" id="{C4EC2AF7-610D-E98F-A2A4-06680AEB3017}"/>
              </a:ext>
            </a:extLst>
          </p:cNvPr>
          <p:cNvSpPr txBox="1">
            <a:spLocks noChangeArrowheads="1"/>
          </p:cNvSpPr>
          <p:nvPr/>
        </p:nvSpPr>
        <p:spPr bwMode="auto">
          <a:xfrm>
            <a:off x="6920443" y="4757109"/>
            <a:ext cx="1986409" cy="319374"/>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solidFill>
                  <a:srgbClr val="FF0000"/>
                </a:solidFill>
                <a:cs typeface="Calibri" panose="020F0502020204030204" pitchFamily="34" charset="0"/>
              </a:rPr>
              <a:t>검사지연 시간은 동일 하나</a:t>
            </a:r>
            <a:r>
              <a:rPr lang="en-US" altLang="ko-KR" sz="700" b="0" dirty="0">
                <a:solidFill>
                  <a:srgbClr val="FF0000"/>
                </a:solidFill>
                <a:cs typeface="Calibri" panose="020F0502020204030204" pitchFamily="34" charset="0"/>
              </a:rPr>
              <a:t>, </a:t>
            </a:r>
            <a:r>
              <a:rPr lang="ko-KR" altLang="en-US" sz="700" b="0" dirty="0">
                <a:solidFill>
                  <a:srgbClr val="FF0000"/>
                </a:solidFill>
                <a:cs typeface="Calibri" panose="020F0502020204030204" pitchFamily="34" charset="0"/>
              </a:rPr>
              <a:t>이동 거리가 작음</a:t>
            </a:r>
            <a:endParaRPr lang="en-US" altLang="ko-KR" sz="700" b="0" dirty="0">
              <a:solidFill>
                <a:srgbClr val="FF0000"/>
              </a:solidFill>
              <a:cs typeface="Calibri" panose="020F0502020204030204" pitchFamily="34" charset="0"/>
            </a:endParaRPr>
          </a:p>
          <a:p>
            <a:pPr lvl="0" algn="ctr">
              <a:lnSpc>
                <a:spcPts val="1000"/>
              </a:lnSpc>
              <a:buNone/>
              <a:tabLst>
                <a:tab pos="3051175" algn="l"/>
              </a:tabLst>
              <a:defRPr/>
            </a:pPr>
            <a:r>
              <a:rPr lang="en-US" altLang="ko-KR" sz="700" b="0" dirty="0">
                <a:solidFill>
                  <a:srgbClr val="FF0000"/>
                </a:solidFill>
                <a:cs typeface="Calibri" panose="020F0502020204030204" pitchFamily="34" charset="0"/>
              </a:rPr>
              <a:t>  </a:t>
            </a:r>
            <a:r>
              <a:rPr lang="ko-KR" altLang="en-US" sz="700" b="0" dirty="0">
                <a:solidFill>
                  <a:srgbClr val="FF0000"/>
                </a:solidFill>
                <a:cs typeface="Calibri" panose="020F0502020204030204" pitchFamily="34" charset="0"/>
              </a:rPr>
              <a:t>→ 제품이 검사 </a:t>
            </a:r>
            <a:r>
              <a:rPr lang="en-US" altLang="ko-KR" sz="700" b="0" dirty="0">
                <a:solidFill>
                  <a:srgbClr val="FF0000"/>
                </a:solidFill>
                <a:cs typeface="Calibri" panose="020F0502020204030204" pitchFamily="34" charset="0"/>
              </a:rPr>
              <a:t>ROI </a:t>
            </a:r>
            <a:r>
              <a:rPr lang="ko-KR" altLang="en-US" sz="700" b="0" dirty="0">
                <a:solidFill>
                  <a:srgbClr val="FF0000"/>
                </a:solidFill>
                <a:cs typeface="Calibri" panose="020F0502020204030204" pitchFamily="34" charset="0"/>
              </a:rPr>
              <a:t>도달 전 촬영되어 불량 발생</a:t>
            </a:r>
            <a:endParaRPr lang="en-US" altLang="ko-KR" sz="700" b="0" dirty="0">
              <a:solidFill>
                <a:srgbClr val="FF0000"/>
              </a:solidFill>
              <a:cs typeface="Calibri" panose="020F0502020204030204" pitchFamily="34" charset="0"/>
            </a:endParaRPr>
          </a:p>
        </p:txBody>
      </p:sp>
      <p:sp>
        <p:nvSpPr>
          <p:cNvPr id="157" name="Text Box 118">
            <a:extLst>
              <a:ext uri="{FF2B5EF4-FFF2-40B4-BE49-F238E27FC236}">
                <a16:creationId xmlns:a16="http://schemas.microsoft.com/office/drawing/2014/main" id="{FF47EFB6-B1FA-CA7B-89C6-199C80435625}"/>
              </a:ext>
            </a:extLst>
          </p:cNvPr>
          <p:cNvSpPr txBox="1">
            <a:spLocks noChangeArrowheads="1"/>
          </p:cNvSpPr>
          <p:nvPr/>
        </p:nvSpPr>
        <p:spPr bwMode="auto">
          <a:xfrm>
            <a:off x="6992798" y="2996348"/>
            <a:ext cx="312241" cy="191133"/>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cs typeface="Calibri" panose="020F0502020204030204" pitchFamily="34" charset="0"/>
              </a:rPr>
              <a:t>면적</a:t>
            </a:r>
            <a:endParaRPr lang="en-US" altLang="ko-KR" sz="700" b="0" dirty="0">
              <a:cs typeface="Calibri" panose="020F0502020204030204" pitchFamily="34" charset="0"/>
            </a:endParaRPr>
          </a:p>
        </p:txBody>
      </p:sp>
      <p:sp>
        <p:nvSpPr>
          <p:cNvPr id="158" name="Text Box 118">
            <a:extLst>
              <a:ext uri="{FF2B5EF4-FFF2-40B4-BE49-F238E27FC236}">
                <a16:creationId xmlns:a16="http://schemas.microsoft.com/office/drawing/2014/main" id="{BC1AC1F5-71E6-536E-5A9F-30F42EC89FA4}"/>
              </a:ext>
            </a:extLst>
          </p:cNvPr>
          <p:cNvSpPr txBox="1">
            <a:spLocks noChangeArrowheads="1"/>
          </p:cNvSpPr>
          <p:nvPr/>
        </p:nvSpPr>
        <p:spPr bwMode="auto">
          <a:xfrm>
            <a:off x="5979114" y="4824771"/>
            <a:ext cx="312241" cy="191133"/>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cs typeface="Calibri" panose="020F0502020204030204" pitchFamily="34" charset="0"/>
              </a:rPr>
              <a:t>면적</a:t>
            </a:r>
            <a:endParaRPr lang="en-US" altLang="ko-KR" sz="700" b="0" dirty="0">
              <a:cs typeface="Calibri" panose="020F0502020204030204" pitchFamily="34" charset="0"/>
            </a:endParaRPr>
          </a:p>
        </p:txBody>
      </p:sp>
      <p:cxnSp>
        <p:nvCxnSpPr>
          <p:cNvPr id="5" name="직선 화살표 연결선 4">
            <a:extLst>
              <a:ext uri="{FF2B5EF4-FFF2-40B4-BE49-F238E27FC236}">
                <a16:creationId xmlns:a16="http://schemas.microsoft.com/office/drawing/2014/main" id="{672F7801-A614-CB36-D3B2-E58581A097EF}"/>
              </a:ext>
            </a:extLst>
          </p:cNvPr>
          <p:cNvCxnSpPr>
            <a:cxnSpLocks/>
          </p:cNvCxnSpPr>
          <p:nvPr/>
        </p:nvCxnSpPr>
        <p:spPr>
          <a:xfrm>
            <a:off x="2451990" y="4920337"/>
            <a:ext cx="397133"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6" name="Text Box 118">
            <a:extLst>
              <a:ext uri="{FF2B5EF4-FFF2-40B4-BE49-F238E27FC236}">
                <a16:creationId xmlns:a16="http://schemas.microsoft.com/office/drawing/2014/main" id="{939634A1-1513-2AD9-BF79-A72B64EA703C}"/>
              </a:ext>
            </a:extLst>
          </p:cNvPr>
          <p:cNvSpPr txBox="1">
            <a:spLocks noChangeArrowheads="1"/>
          </p:cNvSpPr>
          <p:nvPr/>
        </p:nvSpPr>
        <p:spPr bwMode="auto">
          <a:xfrm>
            <a:off x="2347851" y="4716027"/>
            <a:ext cx="522032" cy="19113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700" b="0" dirty="0">
                <a:solidFill>
                  <a:schemeClr val="bg1"/>
                </a:solidFill>
                <a:cs typeface="Calibri" panose="020F0502020204030204" pitchFamily="34" charset="0"/>
              </a:rPr>
              <a:t>진행 방향</a:t>
            </a:r>
            <a:endParaRPr lang="en-US" altLang="ko-KR" sz="700" b="0" dirty="0">
              <a:solidFill>
                <a:schemeClr val="bg1"/>
              </a:solidFill>
              <a:cs typeface="Calibri" panose="020F0502020204030204" pitchFamily="34" charset="0"/>
            </a:endParaRPr>
          </a:p>
        </p:txBody>
      </p:sp>
      <p:sp>
        <p:nvSpPr>
          <p:cNvPr id="2" name="TextBox 1">
            <a:extLst>
              <a:ext uri="{FF2B5EF4-FFF2-40B4-BE49-F238E27FC236}">
                <a16:creationId xmlns:a16="http://schemas.microsoft.com/office/drawing/2014/main" id="{D5F988B9-C3AA-8ACA-0A9C-E0BA9311991B}"/>
              </a:ext>
            </a:extLst>
          </p:cNvPr>
          <p:cNvSpPr txBox="1"/>
          <p:nvPr/>
        </p:nvSpPr>
        <p:spPr>
          <a:xfrm>
            <a:off x="6938386" y="180184"/>
            <a:ext cx="2479727" cy="262572"/>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CDO.</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솔루션</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추적솔루션개발팀</a:t>
            </a:r>
          </a:p>
        </p:txBody>
      </p:sp>
      <p:sp>
        <p:nvSpPr>
          <p:cNvPr id="8" name="실행 단추: 홈으로 이동 7">
            <a:hlinkClick r:id="rId4" action="ppaction://hlinksldjump" highlightClick="1"/>
            <a:extLst>
              <a:ext uri="{FF2B5EF4-FFF2-40B4-BE49-F238E27FC236}">
                <a16:creationId xmlns:a16="http://schemas.microsoft.com/office/drawing/2014/main" id="{CDDFC58B-7B76-0E4F-23FA-1517C6996AE8}"/>
              </a:ext>
            </a:extLst>
          </p:cNvPr>
          <p:cNvSpPr/>
          <p:nvPr/>
        </p:nvSpPr>
        <p:spPr>
          <a:xfrm>
            <a:off x="9369067" y="166057"/>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panose="020B0606020202030204" pitchFamily="34" charset="0"/>
              <a:ea typeface="LG스마트체 Regular" panose="020B0600000101010101" pitchFamily="50" charset="-127"/>
              <a:cs typeface="+mn-cs"/>
            </a:endParaRPr>
          </a:p>
        </p:txBody>
      </p:sp>
      <p:sp>
        <p:nvSpPr>
          <p:cNvPr id="9" name="TextBox 8">
            <a:extLst>
              <a:ext uri="{FF2B5EF4-FFF2-40B4-BE49-F238E27FC236}">
                <a16:creationId xmlns:a16="http://schemas.microsoft.com/office/drawing/2014/main" id="{C919BC93-50BC-D8C3-C4AE-20D0DB744EDA}"/>
              </a:ext>
            </a:extLst>
          </p:cNvPr>
          <p:cNvSpPr txBox="1"/>
          <p:nvPr/>
        </p:nvSpPr>
        <p:spPr>
          <a:xfrm>
            <a:off x="179432" y="649640"/>
            <a:ext cx="9663067" cy="305596"/>
          </a:xfrm>
          <a:prstGeom prst="rect">
            <a:avLst/>
          </a:prstGeom>
          <a:noFill/>
        </p:spPr>
        <p:txBody>
          <a:bodyPr wrap="square" rtlCol="0">
            <a:spAutoFit/>
          </a:bodyPr>
          <a:lstStyle/>
          <a:p>
            <a:pPr marL="0" marR="0" lvl="0" indent="0" algn="l" defTabSz="447830" rtl="0" eaLnBrk="0" fontAlgn="base" latinLnBrk="0" hangingPunct="0">
              <a:lnSpc>
                <a:spcPct val="100000"/>
              </a:lnSpc>
              <a:spcBef>
                <a:spcPct val="0"/>
              </a:spcBef>
              <a:spcAft>
                <a:spcPct val="0"/>
              </a:spcAft>
              <a:buClrTx/>
              <a:buSzTx/>
              <a:buFontTx/>
              <a:buNone/>
              <a:tabLst/>
              <a:defRPr/>
            </a:pP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라미 가속 시 치수 비전에서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Mono Cell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검사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ROI</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가 벗어나 오측 발생 하였고</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ROI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수정 조치로 불량률 개선</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(0.02%p→0%p)</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하였습니다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p>
        </p:txBody>
      </p:sp>
      <p:sp>
        <p:nvSpPr>
          <p:cNvPr id="15" name="제목 1">
            <a:extLst>
              <a:ext uri="{FF2B5EF4-FFF2-40B4-BE49-F238E27FC236}">
                <a16:creationId xmlns:a16="http://schemas.microsoft.com/office/drawing/2014/main" id="{EBB34880-8E90-3A7C-5B03-46488351288C}"/>
              </a:ext>
            </a:extLst>
          </p:cNvPr>
          <p:cNvSpPr txBox="1">
            <a:spLocks/>
          </p:cNvSpPr>
          <p:nvPr/>
        </p:nvSpPr>
        <p:spPr>
          <a:xfrm>
            <a:off x="123673" y="164582"/>
            <a:ext cx="4659949" cy="36838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치수비전 </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ROI </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설정 오류로 인한 오측</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NG </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개선</a:t>
            </a:r>
            <a:endPar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endParaRPr>
          </a:p>
        </p:txBody>
      </p:sp>
      <p:sp>
        <p:nvSpPr>
          <p:cNvPr id="18" name="TextBox 17">
            <a:extLst>
              <a:ext uri="{FF2B5EF4-FFF2-40B4-BE49-F238E27FC236}">
                <a16:creationId xmlns:a16="http://schemas.microsoft.com/office/drawing/2014/main" id="{D561A449-45DE-8402-4534-60B52D825F98}"/>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1 / 7</a:t>
            </a:r>
          </a:p>
        </p:txBody>
      </p:sp>
    </p:spTree>
    <p:extLst>
      <p:ext uri="{BB962C8B-B14F-4D97-AF65-F5344CB8AC3E}">
        <p14:creationId xmlns:p14="http://schemas.microsoft.com/office/powerpoint/2010/main" val="3152608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그림 17">
            <a:extLst>
              <a:ext uri="{FF2B5EF4-FFF2-40B4-BE49-F238E27FC236}">
                <a16:creationId xmlns:a16="http://schemas.microsoft.com/office/drawing/2014/main" id="{1CE42F40-A7B5-D136-55B9-D397DA03FC7B}"/>
              </a:ext>
            </a:extLst>
          </p:cNvPr>
          <p:cNvPicPr>
            <a:picLocks noChangeAspect="1"/>
          </p:cNvPicPr>
          <p:nvPr/>
        </p:nvPicPr>
        <p:blipFill>
          <a:blip r:embed="rId2"/>
          <a:stretch>
            <a:fillRect/>
          </a:stretch>
        </p:blipFill>
        <p:spPr>
          <a:xfrm>
            <a:off x="3133724" y="2104907"/>
            <a:ext cx="6244791" cy="1532006"/>
          </a:xfrm>
          <a:prstGeom prst="rect">
            <a:avLst/>
          </a:prstGeom>
        </p:spPr>
      </p:pic>
      <p:pic>
        <p:nvPicPr>
          <p:cNvPr id="21" name="그림 20">
            <a:extLst>
              <a:ext uri="{FF2B5EF4-FFF2-40B4-BE49-F238E27FC236}">
                <a16:creationId xmlns:a16="http://schemas.microsoft.com/office/drawing/2014/main" id="{89DC8A70-DD88-3912-944A-6A53031D99A1}"/>
              </a:ext>
            </a:extLst>
          </p:cNvPr>
          <p:cNvPicPr>
            <a:picLocks noChangeAspect="1"/>
          </p:cNvPicPr>
          <p:nvPr/>
        </p:nvPicPr>
        <p:blipFill>
          <a:blip r:embed="rId3"/>
          <a:stretch>
            <a:fillRect/>
          </a:stretch>
        </p:blipFill>
        <p:spPr>
          <a:xfrm>
            <a:off x="673675" y="2350305"/>
            <a:ext cx="2437739" cy="1034349"/>
          </a:xfrm>
          <a:prstGeom prst="rect">
            <a:avLst/>
          </a:prstGeom>
        </p:spPr>
      </p:pic>
      <p:sp>
        <p:nvSpPr>
          <p:cNvPr id="3" name="TextBox 2">
            <a:extLst>
              <a:ext uri="{FF2B5EF4-FFF2-40B4-BE49-F238E27FC236}">
                <a16:creationId xmlns:a16="http://schemas.microsoft.com/office/drawing/2014/main" id="{7C249992-2F95-461C-807F-0455C9BB3989}"/>
              </a:ext>
            </a:extLst>
          </p:cNvPr>
          <p:cNvSpPr txBox="1"/>
          <p:nvPr/>
        </p:nvSpPr>
        <p:spPr>
          <a:xfrm>
            <a:off x="6938386" y="180184"/>
            <a:ext cx="2479727" cy="262572"/>
          </a:xfrm>
          <a:prstGeom prst="rect">
            <a:avLst/>
          </a:prstGeom>
          <a:noFill/>
        </p:spPr>
        <p:txBody>
          <a:bodyPr wrap="square" rtlCol="0" anchor="ctr">
            <a:spAutoFit/>
          </a:bodyPr>
          <a:lstStyle/>
          <a:p>
            <a:pPr algn="r" defTabSz="914400" fontAlgn="base" latinLnBrk="1">
              <a:lnSpc>
                <a:spcPct val="120000"/>
              </a:lnSpc>
              <a:spcBef>
                <a:spcPct val="0"/>
              </a:spcBef>
              <a:spcAft>
                <a:spcPct val="0"/>
              </a:spcAft>
              <a:defRPr/>
            </a:pPr>
            <a:r>
              <a:rPr kumimoji="1" lang="en-US" altLang="ko-KR" sz="1000" b="1" dirty="0">
                <a:solidFill>
                  <a:prstClr val="black"/>
                </a:solidFill>
                <a:latin typeface="Arial Narrow" panose="020B0606020202030204" pitchFamily="34" charset="0"/>
                <a:ea typeface="LG스마트체 Regular" panose="020B0600000101010101" pitchFamily="50" charset="-127"/>
              </a:rPr>
              <a:t>CDO.</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솔루션</a:t>
            </a:r>
            <a:r>
              <a:rPr kumimoji="1" lang="en-US" altLang="ko-KR" sz="1000" b="1" dirty="0">
                <a:solidFill>
                  <a:prstClr val="black"/>
                </a:solidFill>
                <a:latin typeface="Arial Narrow" panose="020B0606020202030204" pitchFamily="34" charset="0"/>
                <a:ea typeface="LG스마트체 Regular" panose="020B0600000101010101" pitchFamily="50" charset="-127"/>
              </a:rPr>
              <a:t>.</a:t>
            </a:r>
            <a:r>
              <a:rPr kumimoji="1" lang="ko-KR" altLang="en-US" sz="1000" b="1" dirty="0">
                <a:solidFill>
                  <a:prstClr val="black"/>
                </a:solidFill>
                <a:latin typeface="Arial Narrow" panose="020B0606020202030204" pitchFamily="34" charset="0"/>
                <a:ea typeface="LG스마트체 Regular" panose="020B0600000101010101" pitchFamily="50" charset="-127"/>
              </a:rPr>
              <a:t>추적솔루션개발팀</a:t>
            </a:r>
          </a:p>
        </p:txBody>
      </p:sp>
      <p:sp>
        <p:nvSpPr>
          <p:cNvPr id="14" name="Text Box 38">
            <a:extLst>
              <a:ext uri="{FF2B5EF4-FFF2-40B4-BE49-F238E27FC236}">
                <a16:creationId xmlns:a16="http://schemas.microsoft.com/office/drawing/2014/main" id="{CAAC1971-130D-CBFA-E23E-28C547FA6040}"/>
              </a:ext>
            </a:extLst>
          </p:cNvPr>
          <p:cNvSpPr txBox="1">
            <a:spLocks noChangeArrowheads="1"/>
          </p:cNvSpPr>
          <p:nvPr/>
        </p:nvSpPr>
        <p:spPr bwMode="auto">
          <a:xfrm>
            <a:off x="120997" y="1399022"/>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kumimoji="0"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현상</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6" name="Text Box 38">
            <a:extLst>
              <a:ext uri="{FF2B5EF4-FFF2-40B4-BE49-F238E27FC236}">
                <a16:creationId xmlns:a16="http://schemas.microsoft.com/office/drawing/2014/main" id="{759CEDCC-E66F-3166-7502-6F55FA46DF23}"/>
              </a:ext>
            </a:extLst>
          </p:cNvPr>
          <p:cNvSpPr txBox="1">
            <a:spLocks noChangeArrowheads="1"/>
          </p:cNvSpPr>
          <p:nvPr/>
        </p:nvSpPr>
        <p:spPr bwMode="auto">
          <a:xfrm>
            <a:off x="209306" y="1621094"/>
            <a:ext cx="4807555" cy="276999"/>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음극 커터 배출부 위치에서 지속적인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X</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축 위치 불량 발생</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양극 전</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후진 합치</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1" name="직사각형 10">
            <a:extLst>
              <a:ext uri="{FF2B5EF4-FFF2-40B4-BE49-F238E27FC236}">
                <a16:creationId xmlns:a16="http://schemas.microsoft.com/office/drawing/2014/main" id="{D7F168E9-1320-1B92-48DD-0399AE5E90C2}"/>
              </a:ext>
            </a:extLst>
          </p:cNvPr>
          <p:cNvSpPr/>
          <p:nvPr/>
        </p:nvSpPr>
        <p:spPr>
          <a:xfrm>
            <a:off x="5241032" y="1858686"/>
            <a:ext cx="1893816" cy="246221"/>
          </a:xfrm>
          <a:prstGeom prst="rect">
            <a:avLst/>
          </a:prstGeom>
        </p:spPr>
        <p:txBody>
          <a:bodyPr wrap="square">
            <a:spAutoFit/>
          </a:bodyPr>
          <a:lstStyle/>
          <a:p>
            <a:pPr algn="ctr">
              <a:defRPr/>
            </a:pPr>
            <a:r>
              <a:rPr lang="en-US" altLang="ko-KR" sz="1000" dirty="0">
                <a:latin typeface="Arial Narrow" panose="020B0606020202030204" pitchFamily="34" charset="0"/>
                <a:ea typeface="LG스마트체 Regular" panose="020B0600000101010101" pitchFamily="50" charset="-127"/>
                <a:cs typeface="Arial" pitchFamily="34" charset="0"/>
              </a:rPr>
              <a:t>&lt;</a:t>
            </a:r>
            <a:r>
              <a:rPr lang="ko-KR" altLang="en-US" sz="1000" dirty="0" err="1">
                <a:latin typeface="Arial Narrow" panose="020B0606020202030204" pitchFamily="34" charset="0"/>
                <a:ea typeface="LG스마트체 Regular" panose="020B0600000101010101" pitchFamily="50" charset="-127"/>
                <a:cs typeface="Arial" pitchFamily="34" charset="0"/>
              </a:rPr>
              <a:t>라미</a:t>
            </a:r>
            <a:r>
              <a:rPr lang="ko-KR" altLang="en-US" sz="1000" dirty="0">
                <a:latin typeface="Arial Narrow" panose="020B0606020202030204" pitchFamily="34" charset="0"/>
                <a:ea typeface="LG스마트체 Regular" panose="020B0600000101010101" pitchFamily="50" charset="-127"/>
                <a:cs typeface="Arial" pitchFamily="34" charset="0"/>
              </a:rPr>
              <a:t> 중첩 통계 분석 </a:t>
            </a:r>
            <a:r>
              <a:rPr lang="en-US" altLang="ko-KR" sz="1000" dirty="0">
                <a:latin typeface="Arial Narrow" panose="020B0606020202030204" pitchFamily="34" charset="0"/>
                <a:ea typeface="LG스마트체 Regular" panose="020B0600000101010101" pitchFamily="50" charset="-127"/>
                <a:cs typeface="Arial" pitchFamily="34" charset="0"/>
              </a:rPr>
              <a:t>Report </a:t>
            </a:r>
            <a:r>
              <a:rPr lang="ko-KR" altLang="en-US" sz="1000" dirty="0">
                <a:latin typeface="Arial Narrow" panose="020B0606020202030204" pitchFamily="34" charset="0"/>
                <a:ea typeface="LG스마트체 Regular" panose="020B0600000101010101" pitchFamily="50" charset="-127"/>
                <a:cs typeface="Arial" pitchFamily="34" charset="0"/>
              </a:rPr>
              <a:t>화면</a:t>
            </a:r>
            <a:r>
              <a:rPr lang="en-US" altLang="ko-KR" sz="1000" dirty="0">
                <a:latin typeface="Arial Narrow" panose="020B0606020202030204" pitchFamily="34" charset="0"/>
                <a:ea typeface="LG스마트체 Regular" panose="020B0600000101010101" pitchFamily="50" charset="-127"/>
                <a:cs typeface="Arial" pitchFamily="34" charset="0"/>
              </a:rPr>
              <a:t>&gt;</a:t>
            </a:r>
          </a:p>
        </p:txBody>
      </p:sp>
      <p:sp>
        <p:nvSpPr>
          <p:cNvPr id="12" name="Text Box 118">
            <a:extLst>
              <a:ext uri="{FF2B5EF4-FFF2-40B4-BE49-F238E27FC236}">
                <a16:creationId xmlns:a16="http://schemas.microsoft.com/office/drawing/2014/main" id="{F8002A62-D5CF-A71B-4838-C4E82D1A52ED}"/>
              </a:ext>
            </a:extLst>
          </p:cNvPr>
          <p:cNvSpPr txBox="1">
            <a:spLocks noChangeArrowheads="1"/>
          </p:cNvSpPr>
          <p:nvPr/>
        </p:nvSpPr>
        <p:spPr bwMode="auto">
          <a:xfrm>
            <a:off x="5090972" y="2901148"/>
            <a:ext cx="1847414" cy="329184"/>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ko-KR" altLang="en-US" sz="900" b="0" dirty="0">
                <a:cs typeface="Calibri" panose="020F0502020204030204" pitchFamily="34" charset="0"/>
              </a:rPr>
              <a:t>음극 커터 배출부 에서 정지 </a:t>
            </a:r>
            <a:r>
              <a:rPr lang="en-US" altLang="ko-KR" sz="900" b="0" dirty="0">
                <a:cs typeface="Calibri" panose="020F0502020204030204" pitchFamily="34" charset="0"/>
              </a:rPr>
              <a:t>1</a:t>
            </a:r>
            <a:r>
              <a:rPr lang="ko-KR" altLang="en-US" sz="900" b="0" dirty="0">
                <a:cs typeface="Calibri" panose="020F0502020204030204" pitchFamily="34" charset="0"/>
              </a:rPr>
              <a:t>회당 </a:t>
            </a:r>
            <a:br>
              <a:rPr lang="en-US" altLang="ko-KR" sz="900" b="0" dirty="0">
                <a:cs typeface="Calibri" panose="020F0502020204030204" pitchFamily="34" charset="0"/>
              </a:rPr>
            </a:br>
            <a:r>
              <a:rPr lang="en-US" altLang="ko-KR" sz="900" b="0" dirty="0">
                <a:cs typeface="Calibri" panose="020F0502020204030204" pitchFamily="34" charset="0"/>
              </a:rPr>
              <a:t>    65.7% </a:t>
            </a:r>
            <a:r>
              <a:rPr lang="ko-KR" altLang="en-US" sz="900" b="0" dirty="0">
                <a:cs typeface="Calibri" panose="020F0502020204030204" pitchFamily="34" charset="0"/>
              </a:rPr>
              <a:t>확률로 합치 불량 발생</a:t>
            </a:r>
          </a:p>
        </p:txBody>
      </p:sp>
      <p:sp>
        <p:nvSpPr>
          <p:cNvPr id="29" name="Text Box 38">
            <a:extLst>
              <a:ext uri="{FF2B5EF4-FFF2-40B4-BE49-F238E27FC236}">
                <a16:creationId xmlns:a16="http://schemas.microsoft.com/office/drawing/2014/main" id="{BE969BBC-317D-6B74-486C-87E5D43BD1C2}"/>
              </a:ext>
            </a:extLst>
          </p:cNvPr>
          <p:cNvSpPr txBox="1">
            <a:spLocks noChangeArrowheads="1"/>
          </p:cNvSpPr>
          <p:nvPr/>
        </p:nvSpPr>
        <p:spPr bwMode="auto">
          <a:xfrm>
            <a:off x="209306" y="3536959"/>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원인</a:t>
            </a:r>
            <a:r>
              <a:rPr lang="en-US" altLang="ko-KR" sz="1200" b="1" dirty="0">
                <a:solidFill>
                  <a:prstClr val="black"/>
                </a:solidFill>
                <a:latin typeface="Arial Narrow" panose="020B0606020202030204" pitchFamily="34" charset="0"/>
                <a:ea typeface="LG스마트체 Regular" panose="020B0600000101010101" pitchFamily="50" charset="-127"/>
                <a:cs typeface="Arial" charset="0"/>
              </a:rPr>
              <a:t>, </a:t>
            </a: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조치</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37" name="Text Box 38">
            <a:extLst>
              <a:ext uri="{FF2B5EF4-FFF2-40B4-BE49-F238E27FC236}">
                <a16:creationId xmlns:a16="http://schemas.microsoft.com/office/drawing/2014/main" id="{9498B9F0-41ED-7497-0C6F-DE77699CC800}"/>
              </a:ext>
            </a:extLst>
          </p:cNvPr>
          <p:cNvSpPr txBox="1">
            <a:spLocks noChangeArrowheads="1"/>
          </p:cNvSpPr>
          <p:nvPr/>
        </p:nvSpPr>
        <p:spPr bwMode="auto">
          <a:xfrm>
            <a:off x="217815" y="3797353"/>
            <a:ext cx="9464278" cy="630942"/>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가</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감속 시 음극 커터 그리퍼 위치에서의 음극</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합치</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탭 피치 변동이 클 때</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양극 피딩 롤러의 속도 보상이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1~2Tab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뒤에 적용되어</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합치 위치를 제대로 제어하지 </a:t>
            </a:r>
            <a:r>
              <a:rPr lang="ko-KR" altLang="en-US" sz="1200" dirty="0">
                <a:latin typeface="Arial Narrow" panose="020B0606020202030204" pitchFamily="34" charset="0"/>
                <a:ea typeface="LG스마트체 Regular" panose="020B0600000101010101" pitchFamily="50" charset="-127"/>
                <a:cs typeface="Arial" pitchFamily="34" charset="0"/>
              </a:rPr>
              <a:t>못 하였고</a:t>
            </a:r>
            <a:r>
              <a:rPr lang="en-US" altLang="ko-KR" sz="1200" dirty="0">
                <a:latin typeface="Arial Narrow" panose="020B0606020202030204" pitchFamily="34" charset="0"/>
                <a:ea typeface="LG스마트체 Regular" panose="020B0600000101010101" pitchFamily="50" charset="-127"/>
                <a:cs typeface="Arial" pitchFamily="34" charset="0"/>
              </a:rPr>
              <a:t>, </a:t>
            </a:r>
            <a:r>
              <a:rPr lang="ko-KR" altLang="en-US" sz="1200" dirty="0">
                <a:latin typeface="Arial Narrow" panose="020B0606020202030204" pitchFamily="34" charset="0"/>
                <a:ea typeface="LG스마트체 Regular" panose="020B0600000101010101" pitchFamily="50" charset="-127"/>
                <a:cs typeface="Arial" pitchFamily="34" charset="0"/>
              </a:rPr>
              <a:t>셀 거리 재 측정 및 </a:t>
            </a:r>
            <a:r>
              <a:rPr lang="en-US" altLang="ko-KR" sz="1200" dirty="0">
                <a:latin typeface="Arial Narrow" panose="020B0606020202030204" pitchFamily="34" charset="0"/>
                <a:ea typeface="LG스마트체 Regular" panose="020B0600000101010101" pitchFamily="50" charset="-127"/>
                <a:cs typeface="Arial" pitchFamily="34" charset="0"/>
              </a:rPr>
              <a:t>S/W </a:t>
            </a:r>
            <a:r>
              <a:rPr lang="ko-KR" altLang="en-US" sz="1200" dirty="0">
                <a:latin typeface="Arial Narrow" panose="020B0606020202030204" pitchFamily="34" charset="0"/>
                <a:ea typeface="LG스마트체 Regular" panose="020B0600000101010101" pitchFamily="50" charset="-127"/>
                <a:cs typeface="Arial" pitchFamily="34" charset="0"/>
              </a:rPr>
              <a:t>업데이트 후 위치 불량 개선 되었습니다</a:t>
            </a:r>
            <a:r>
              <a:rPr lang="en-US" altLang="ko-KR" sz="1100" dirty="0">
                <a:latin typeface="Arial Narrow" panose="020B0606020202030204" pitchFamily="34" charset="0"/>
                <a:ea typeface="LG스마트체 Regular" panose="020B0600000101010101" pitchFamily="50" charset="-127"/>
                <a:cs typeface="Arial" pitchFamily="34" charset="0"/>
              </a:rPr>
              <a:t>.</a:t>
            </a:r>
            <a:br>
              <a:rPr lang="en-US" altLang="ko-KR" sz="1100" dirty="0">
                <a:latin typeface="Arial Narrow" panose="020B0606020202030204" pitchFamily="34" charset="0"/>
                <a:ea typeface="LG스마트체 Regular" panose="020B0600000101010101" pitchFamily="50" charset="-127"/>
                <a:cs typeface="Arial" pitchFamily="34" charset="0"/>
              </a:rPr>
            </a:br>
            <a:r>
              <a:rPr lang="en-US" altLang="ko-KR" sz="1100" dirty="0">
                <a:latin typeface="Arial Narrow" panose="020B0606020202030204" pitchFamily="34" charset="0"/>
                <a:ea typeface="LG스마트체 Regular" panose="020B0600000101010101" pitchFamily="50" charset="-127"/>
                <a:cs typeface="Arial" pitchFamily="34" charset="0"/>
              </a:rPr>
              <a:t> (</a:t>
            </a:r>
            <a:r>
              <a:rPr lang="ko-KR" altLang="en-US" sz="1100" dirty="0">
                <a:latin typeface="Arial Narrow" panose="020B0606020202030204" pitchFamily="34" charset="0"/>
                <a:ea typeface="LG스마트체 Regular" panose="020B0600000101010101" pitchFamily="50" charset="-127"/>
                <a:cs typeface="Arial" pitchFamily="34" charset="0"/>
              </a:rPr>
              <a:t>조치 전</a:t>
            </a:r>
            <a:r>
              <a:rPr lang="en-US" altLang="ko-KR" sz="1100" dirty="0">
                <a:latin typeface="Arial Narrow" panose="020B0606020202030204" pitchFamily="34" charset="0"/>
                <a:ea typeface="LG스마트체 Regular" panose="020B0600000101010101" pitchFamily="50" charset="-127"/>
                <a:cs typeface="Arial" pitchFamily="34" charset="0"/>
              </a:rPr>
              <a:t>(8/25) : 0.72% </a:t>
            </a:r>
            <a:r>
              <a:rPr lang="ko-KR" altLang="en-US" sz="1100" dirty="0">
                <a:latin typeface="Arial Narrow" panose="020B0606020202030204" pitchFamily="34" charset="0"/>
                <a:ea typeface="LG스마트체 Regular" panose="020B0600000101010101" pitchFamily="50" charset="-127"/>
                <a:cs typeface="Arial" pitchFamily="34" charset="0"/>
              </a:rPr>
              <a:t>→ 조치 후</a:t>
            </a:r>
            <a:r>
              <a:rPr lang="en-US" altLang="ko-KR" sz="1100" dirty="0">
                <a:latin typeface="Arial Narrow" panose="020B0606020202030204" pitchFamily="34" charset="0"/>
                <a:ea typeface="LG스마트체 Regular" panose="020B0600000101010101" pitchFamily="50" charset="-127"/>
                <a:cs typeface="Arial" pitchFamily="34" charset="0"/>
              </a:rPr>
              <a:t>(8/27) 0.41%, </a:t>
            </a:r>
            <a:r>
              <a:rPr lang="ko-KR" altLang="en-US" sz="1100" dirty="0">
                <a:latin typeface="Arial Narrow" panose="020B0606020202030204" pitchFamily="34" charset="0"/>
                <a:ea typeface="LG스마트체 Regular" panose="020B0600000101010101" pitchFamily="50" charset="-127"/>
                <a:cs typeface="Arial" pitchFamily="34" charset="0"/>
              </a:rPr>
              <a:t>라미 </a:t>
            </a:r>
            <a:r>
              <a:rPr lang="en-US" altLang="ko-KR" sz="1100" dirty="0">
                <a:latin typeface="Arial Narrow" panose="020B0606020202030204" pitchFamily="34" charset="0"/>
                <a:ea typeface="LG스마트체 Regular" panose="020B0600000101010101" pitchFamily="50" charset="-127"/>
                <a:cs typeface="Arial" pitchFamily="34" charset="0"/>
              </a:rPr>
              <a:t>8-4</a:t>
            </a:r>
            <a:r>
              <a:rPr lang="ko-KR" altLang="en-US" sz="1100" dirty="0">
                <a:latin typeface="Arial Narrow" panose="020B0606020202030204" pitchFamily="34" charset="0"/>
                <a:ea typeface="LG스마트체 Regular" panose="020B0600000101010101" pitchFamily="50" charset="-127"/>
                <a:cs typeface="Arial" pitchFamily="34" charset="0"/>
              </a:rPr>
              <a:t>호</a:t>
            </a:r>
            <a:r>
              <a:rPr lang="en-US" altLang="ko-KR" sz="1100" dirty="0">
                <a:latin typeface="Arial Narrow" panose="020B0606020202030204" pitchFamily="34" charset="0"/>
                <a:ea typeface="LG스마트체 Regular" panose="020B0600000101010101" pitchFamily="50" charset="-127"/>
                <a:cs typeface="Arial" pitchFamily="34" charset="0"/>
              </a:rPr>
              <a:t> </a:t>
            </a:r>
            <a:r>
              <a:rPr lang="ko-KR" altLang="en-US" sz="1100" dirty="0">
                <a:latin typeface="Arial Narrow" panose="020B0606020202030204" pitchFamily="34" charset="0"/>
                <a:ea typeface="LG스마트체 Regular" panose="020B0600000101010101" pitchFamily="50" charset="-127"/>
                <a:cs typeface="Arial" pitchFamily="34" charset="0"/>
              </a:rPr>
              <a:t>위치 불량률 </a:t>
            </a:r>
            <a:r>
              <a:rPr lang="en-US" altLang="ko-KR" sz="1100" dirty="0">
                <a:latin typeface="Arial Narrow" panose="020B0606020202030204" pitchFamily="34" charset="0"/>
                <a:ea typeface="LG스마트체 Regular" panose="020B0600000101010101" pitchFamily="50" charset="-127"/>
                <a:cs typeface="Arial" pitchFamily="34" charset="0"/>
              </a:rPr>
              <a:t>0.31%p </a:t>
            </a:r>
            <a:r>
              <a:rPr lang="ko-KR" altLang="en-US" sz="1100" dirty="0">
                <a:latin typeface="Arial Narrow" panose="020B0606020202030204" pitchFamily="34" charset="0"/>
                <a:ea typeface="LG스마트체 Regular" panose="020B0600000101010101" pitchFamily="50" charset="-127"/>
                <a:cs typeface="Arial" pitchFamily="34" charset="0"/>
              </a:rPr>
              <a:t>감소</a:t>
            </a:r>
            <a:r>
              <a:rPr lang="en-US" altLang="ko-KR" sz="1100" dirty="0">
                <a:latin typeface="Arial Narrow" panose="020B0606020202030204" pitchFamily="34" charset="0"/>
                <a:ea typeface="LG스마트체 Regular" panose="020B0600000101010101" pitchFamily="50" charset="-127"/>
                <a:cs typeface="Arial" pitchFamily="34" charset="0"/>
              </a:rPr>
              <a:t>)</a:t>
            </a:r>
            <a:endParaRPr kumimoji="0" lang="en-US" altLang="ko-KR" sz="120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cs typeface="Arial" charset="0"/>
            </a:endParaRPr>
          </a:p>
        </p:txBody>
      </p:sp>
      <p:sp>
        <p:nvSpPr>
          <p:cNvPr id="7" name="Text Box 118">
            <a:extLst>
              <a:ext uri="{FF2B5EF4-FFF2-40B4-BE49-F238E27FC236}">
                <a16:creationId xmlns:a16="http://schemas.microsoft.com/office/drawing/2014/main" id="{5B0DAA8D-872E-AAE4-66BD-52E13F67369A}"/>
              </a:ext>
            </a:extLst>
          </p:cNvPr>
          <p:cNvSpPr txBox="1">
            <a:spLocks noChangeArrowheads="1"/>
          </p:cNvSpPr>
          <p:nvPr/>
        </p:nvSpPr>
        <p:spPr bwMode="auto">
          <a:xfrm>
            <a:off x="5673080" y="1102753"/>
            <a:ext cx="4166245" cy="329184"/>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900" b="0" dirty="0">
                <a:solidFill>
                  <a:srgbClr val="006600"/>
                </a:solidFill>
                <a:cs typeface="Calibri" panose="020F0502020204030204" pitchFamily="34" charset="0"/>
              </a:rPr>
              <a:t>7/20</a:t>
            </a:r>
            <a:r>
              <a:rPr lang="ko-KR" altLang="en-US" sz="900" b="0" dirty="0">
                <a:solidFill>
                  <a:srgbClr val="006600"/>
                </a:solidFill>
                <a:cs typeface="Calibri" panose="020F0502020204030204" pitchFamily="34" charset="0"/>
              </a:rPr>
              <a:t> 그룹장님 대면 보고 당시 중첩 통계 분석 </a:t>
            </a:r>
            <a:r>
              <a:rPr lang="en-US" altLang="ko-KR" sz="900" b="0" dirty="0">
                <a:solidFill>
                  <a:srgbClr val="006600"/>
                </a:solidFill>
                <a:cs typeface="Calibri" panose="020F0502020204030204" pitchFamily="34" charset="0"/>
              </a:rPr>
              <a:t>Report </a:t>
            </a:r>
            <a:r>
              <a:rPr lang="ko-KR" altLang="en-US" sz="900" b="0" dirty="0">
                <a:solidFill>
                  <a:srgbClr val="006600"/>
                </a:solidFill>
                <a:cs typeface="Calibri" panose="020F0502020204030204" pitchFamily="34" charset="0"/>
              </a:rPr>
              <a:t>활용 예시로 말씀 드렸던 내용으로</a:t>
            </a:r>
            <a:br>
              <a:rPr lang="en-US" altLang="ko-KR" sz="900" b="0" dirty="0">
                <a:solidFill>
                  <a:srgbClr val="006600"/>
                </a:solidFill>
                <a:cs typeface="Calibri" panose="020F0502020204030204" pitchFamily="34" charset="0"/>
              </a:rPr>
            </a:br>
            <a:r>
              <a:rPr lang="en-US" altLang="ko-KR" sz="900" b="0" dirty="0">
                <a:solidFill>
                  <a:srgbClr val="006600"/>
                </a:solidFill>
                <a:cs typeface="Calibri" panose="020F0502020204030204" pitchFamily="34" charset="0"/>
              </a:rPr>
              <a:t>MEB </a:t>
            </a:r>
            <a:r>
              <a:rPr lang="ko-KR" altLang="en-US" sz="900" b="0" dirty="0">
                <a:solidFill>
                  <a:srgbClr val="006600"/>
                </a:solidFill>
                <a:cs typeface="Calibri" panose="020F0502020204030204" pitchFamily="34" charset="0"/>
              </a:rPr>
              <a:t>라미에서 </a:t>
            </a:r>
            <a:r>
              <a:rPr lang="en-US" altLang="ko-KR" sz="900" b="0" dirty="0">
                <a:solidFill>
                  <a:srgbClr val="006600"/>
                </a:solidFill>
                <a:cs typeface="Calibri" panose="020F0502020204030204" pitchFamily="34" charset="0"/>
              </a:rPr>
              <a:t>7/14</a:t>
            </a:r>
            <a:r>
              <a:rPr lang="ko-KR" altLang="en-US" sz="900" b="0" dirty="0">
                <a:solidFill>
                  <a:srgbClr val="006600"/>
                </a:solidFill>
                <a:cs typeface="Calibri" panose="020F0502020204030204" pitchFamily="34" charset="0"/>
              </a:rPr>
              <a:t> 최초 분석되었고</a:t>
            </a:r>
            <a:r>
              <a:rPr lang="en-US" altLang="ko-KR" sz="900" b="0" dirty="0">
                <a:solidFill>
                  <a:srgbClr val="006600"/>
                </a:solidFill>
                <a:cs typeface="Calibri" panose="020F0502020204030204" pitchFamily="34" charset="0"/>
              </a:rPr>
              <a:t>, Normal </a:t>
            </a:r>
            <a:r>
              <a:rPr lang="ko-KR" altLang="en-US" sz="900" b="0" dirty="0">
                <a:solidFill>
                  <a:srgbClr val="006600"/>
                </a:solidFill>
                <a:cs typeface="Calibri" panose="020F0502020204030204" pitchFamily="34" charset="0"/>
              </a:rPr>
              <a:t>라미에서도 발생하여 개선 중인 내용입니다</a:t>
            </a:r>
            <a:r>
              <a:rPr lang="en-US" altLang="ko-KR" sz="900" b="0" dirty="0">
                <a:solidFill>
                  <a:srgbClr val="006600"/>
                </a:solidFill>
                <a:cs typeface="Calibri" panose="020F0502020204030204" pitchFamily="34" charset="0"/>
              </a:rPr>
              <a:t>.</a:t>
            </a:r>
          </a:p>
        </p:txBody>
      </p:sp>
      <p:pic>
        <p:nvPicPr>
          <p:cNvPr id="30" name="그림 29">
            <a:extLst>
              <a:ext uri="{FF2B5EF4-FFF2-40B4-BE49-F238E27FC236}">
                <a16:creationId xmlns:a16="http://schemas.microsoft.com/office/drawing/2014/main" id="{C1B6F85C-9D26-1CE0-44C1-A7345F24BFAC}"/>
              </a:ext>
            </a:extLst>
          </p:cNvPr>
          <p:cNvPicPr>
            <a:picLocks noChangeAspect="1"/>
          </p:cNvPicPr>
          <p:nvPr/>
        </p:nvPicPr>
        <p:blipFill>
          <a:blip r:embed="rId4"/>
          <a:stretch>
            <a:fillRect/>
          </a:stretch>
        </p:blipFill>
        <p:spPr>
          <a:xfrm>
            <a:off x="540014" y="4517007"/>
            <a:ext cx="4330428" cy="2132550"/>
          </a:xfrm>
          <a:prstGeom prst="rect">
            <a:avLst/>
          </a:prstGeom>
        </p:spPr>
      </p:pic>
      <p:pic>
        <p:nvPicPr>
          <p:cNvPr id="32" name="그림 31">
            <a:extLst>
              <a:ext uri="{FF2B5EF4-FFF2-40B4-BE49-F238E27FC236}">
                <a16:creationId xmlns:a16="http://schemas.microsoft.com/office/drawing/2014/main" id="{53184965-7F6D-D67A-C585-962222A64CFE}"/>
              </a:ext>
            </a:extLst>
          </p:cNvPr>
          <p:cNvPicPr>
            <a:picLocks noChangeAspect="1"/>
          </p:cNvPicPr>
          <p:nvPr/>
        </p:nvPicPr>
        <p:blipFill>
          <a:blip r:embed="rId5"/>
          <a:stretch>
            <a:fillRect/>
          </a:stretch>
        </p:blipFill>
        <p:spPr>
          <a:xfrm>
            <a:off x="5370985" y="4517005"/>
            <a:ext cx="3953177" cy="2132551"/>
          </a:xfrm>
          <a:prstGeom prst="rect">
            <a:avLst/>
          </a:prstGeom>
        </p:spPr>
      </p:pic>
      <p:sp>
        <p:nvSpPr>
          <p:cNvPr id="13" name="실행 단추: 홈으로 이동 12">
            <a:hlinkClick r:id="rId6" action="ppaction://hlinksldjump" highlightClick="1"/>
            <a:extLst>
              <a:ext uri="{FF2B5EF4-FFF2-40B4-BE49-F238E27FC236}">
                <a16:creationId xmlns:a16="http://schemas.microsoft.com/office/drawing/2014/main" id="{F036A305-CF9E-AAC6-150C-F01A0C31E07D}"/>
              </a:ext>
            </a:extLst>
          </p:cNvPr>
          <p:cNvSpPr/>
          <p:nvPr/>
        </p:nvSpPr>
        <p:spPr>
          <a:xfrm>
            <a:off x="9369067" y="166057"/>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ptos" panose="0211000402020202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C502D6A1-8633-F34A-76AE-343D02CDBC50}"/>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 / 7</a:t>
            </a:r>
          </a:p>
        </p:txBody>
      </p:sp>
      <p:sp>
        <p:nvSpPr>
          <p:cNvPr id="4" name="TextBox 3">
            <a:extLst>
              <a:ext uri="{FF2B5EF4-FFF2-40B4-BE49-F238E27FC236}">
                <a16:creationId xmlns:a16="http://schemas.microsoft.com/office/drawing/2014/main" id="{A8A21209-F082-F57A-6DBE-F5417DDCD3F4}"/>
              </a:ext>
            </a:extLst>
          </p:cNvPr>
          <p:cNvSpPr txBox="1"/>
          <p:nvPr/>
        </p:nvSpPr>
        <p:spPr>
          <a:xfrm>
            <a:off x="179432" y="649640"/>
            <a:ext cx="9663067" cy="732123"/>
          </a:xfrm>
          <a:prstGeom prst="rect">
            <a:avLst/>
          </a:prstGeom>
          <a:noFill/>
        </p:spPr>
        <p:txBody>
          <a:bodyPr wrap="square" rtlCol="0">
            <a:spAutoFit/>
          </a:bodyPr>
          <a:lstStyle/>
          <a:p>
            <a:pPr marL="0" marR="0" lvl="0" indent="0" algn="l" defTabSz="447830" rtl="0" eaLnBrk="0" fontAlgn="base" latinLnBrk="0" hangingPunct="0">
              <a:lnSpc>
                <a:spcPct val="100000"/>
              </a:lnSpc>
              <a:spcBef>
                <a:spcPct val="0"/>
              </a:spcBef>
              <a:spcAft>
                <a:spcPct val="0"/>
              </a:spcAft>
              <a:buClrTx/>
              <a:buSzTx/>
              <a:buFontTx/>
              <a:buNone/>
              <a:tabLst/>
              <a:defRPr/>
            </a:pP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WA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라미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8-4</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호</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합치 위치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셀거리</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설정값</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오류로 인해</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합치를 결정하는 양극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피딩롤러</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속도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보정량</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반영 타이밍이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1Tab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밀려 적용되고</a:t>
            </a:r>
            <a:br>
              <a:rPr kumimoji="1" lang="en-US" altLang="ko-KR" sz="1400" b="1" dirty="0">
                <a:solidFill>
                  <a:prstClr val="black"/>
                </a:solidFill>
                <a:latin typeface="LG스마트체 Regular" panose="020B0600000101010101" pitchFamily="50" charset="-127"/>
                <a:ea typeface="LG스마트체 Regular" panose="020B0600000101010101" pitchFamily="50" charset="-127"/>
              </a:rPr>
            </a:b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있었고 법인 제어팀의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S/W</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수정</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(8/26)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후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가감속</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합치 불량이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0.10% → 0.05%</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로 개선 되었습니다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br>
              <a:rPr kumimoji="1" lang="en-US" altLang="ko-KR" sz="1400" b="1" dirty="0">
                <a:solidFill>
                  <a:prstClr val="black"/>
                </a:solidFill>
                <a:latin typeface="LG스마트체 Regular" panose="020B0600000101010101" pitchFamily="50" charset="-127"/>
                <a:ea typeface="LG스마트체 Regular" panose="020B0600000101010101" pitchFamily="50" charset="-127"/>
              </a:rPr>
            </a:b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17-4</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호 동일 현상</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(2Tab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밀림</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개선 중 입니다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p>
        </p:txBody>
      </p:sp>
      <p:sp>
        <p:nvSpPr>
          <p:cNvPr id="9" name="제목 1">
            <a:extLst>
              <a:ext uri="{FF2B5EF4-FFF2-40B4-BE49-F238E27FC236}">
                <a16:creationId xmlns:a16="http://schemas.microsoft.com/office/drawing/2014/main" id="{68E04DA4-0D9F-DFEB-4647-D142EA29013E}"/>
              </a:ext>
            </a:extLst>
          </p:cNvPr>
          <p:cNvSpPr txBox="1">
            <a:spLocks/>
          </p:cNvSpPr>
          <p:nvPr/>
        </p:nvSpPr>
        <p:spPr>
          <a:xfrm>
            <a:off x="123673" y="164582"/>
            <a:ext cx="4833074" cy="36838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라미 양극 </a:t>
            </a:r>
            <a:r>
              <a:rPr kumimoji="0" lang="ko-KR" altLang="en-US" sz="18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j-cs"/>
              </a:rPr>
              <a:t>피딩롤러</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제어 </a:t>
            </a:r>
            <a:r>
              <a:rPr kumimoji="0" lang="ko-KR" altLang="en-US" sz="18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j-cs"/>
              </a:rPr>
              <a:t>보상량</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밀림 현상</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(1/2)</a:t>
            </a:r>
          </a:p>
        </p:txBody>
      </p:sp>
    </p:spTree>
    <p:extLst>
      <p:ext uri="{BB962C8B-B14F-4D97-AF65-F5344CB8AC3E}">
        <p14:creationId xmlns:p14="http://schemas.microsoft.com/office/powerpoint/2010/main" val="3315186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xtBox 186">
            <a:extLst>
              <a:ext uri="{FF2B5EF4-FFF2-40B4-BE49-F238E27FC236}">
                <a16:creationId xmlns:a16="http://schemas.microsoft.com/office/drawing/2014/main" id="{F4041D8D-68BD-86F4-F1FB-6DD8ED88FCC6}"/>
              </a:ext>
            </a:extLst>
          </p:cNvPr>
          <p:cNvSpPr txBox="1"/>
          <p:nvPr/>
        </p:nvSpPr>
        <p:spPr>
          <a:xfrm>
            <a:off x="6938386" y="180184"/>
            <a:ext cx="2479727" cy="262572"/>
          </a:xfrm>
          <a:prstGeom prst="rect">
            <a:avLst/>
          </a:prstGeom>
          <a:noFill/>
        </p:spPr>
        <p:txBody>
          <a:bodyPr wrap="square" rtlCol="0" anchor="ctr">
            <a:spAutoFit/>
          </a:bodyPr>
          <a:lstStyle/>
          <a:p>
            <a:pPr algn="r" defTabSz="914400" fontAlgn="base" latinLnBrk="1">
              <a:lnSpc>
                <a:spcPct val="120000"/>
              </a:lnSpc>
              <a:spcBef>
                <a:spcPct val="0"/>
              </a:spcBef>
              <a:spcAft>
                <a:spcPct val="0"/>
              </a:spcAft>
              <a:defRPr/>
            </a:pPr>
            <a:r>
              <a:rPr kumimoji="1" lang="en-US" altLang="ko-KR" sz="1000" b="1" dirty="0">
                <a:solidFill>
                  <a:prstClr val="black"/>
                </a:solidFill>
                <a:latin typeface="Arial Narrow" panose="020B0606020202030204" pitchFamily="34" charset="0"/>
                <a:ea typeface="LG스마트체 Regular" panose="020B0600000101010101" pitchFamily="50" charset="-127"/>
              </a:rPr>
              <a:t>CDO.</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솔루션</a:t>
            </a:r>
            <a:r>
              <a:rPr kumimoji="1" lang="en-US" altLang="ko-KR" sz="1000" b="1" dirty="0">
                <a:solidFill>
                  <a:prstClr val="black"/>
                </a:solidFill>
                <a:latin typeface="Arial Narrow" panose="020B0606020202030204" pitchFamily="34" charset="0"/>
                <a:ea typeface="LG스마트체 Regular" panose="020B0600000101010101" pitchFamily="50" charset="-127"/>
              </a:rPr>
              <a:t>.</a:t>
            </a:r>
            <a:r>
              <a:rPr kumimoji="1" lang="ko-KR" altLang="en-US" sz="1000" b="1" dirty="0">
                <a:solidFill>
                  <a:prstClr val="black"/>
                </a:solidFill>
                <a:latin typeface="Arial Narrow" panose="020B0606020202030204" pitchFamily="34" charset="0"/>
                <a:ea typeface="LG스마트체 Regular" panose="020B0600000101010101" pitchFamily="50" charset="-127"/>
              </a:rPr>
              <a:t>추적솔루션개발팀</a:t>
            </a:r>
          </a:p>
        </p:txBody>
      </p:sp>
      <p:sp>
        <p:nvSpPr>
          <p:cNvPr id="28" name="실행 단추: 홈으로 이동 27">
            <a:hlinkClick r:id="rId2" action="ppaction://hlinksldjump" highlightClick="1"/>
            <a:extLst>
              <a:ext uri="{FF2B5EF4-FFF2-40B4-BE49-F238E27FC236}">
                <a16:creationId xmlns:a16="http://schemas.microsoft.com/office/drawing/2014/main" id="{6CD33F7A-3C8B-D6EA-2341-DE0C1550AFE0}"/>
              </a:ext>
            </a:extLst>
          </p:cNvPr>
          <p:cNvSpPr/>
          <p:nvPr/>
        </p:nvSpPr>
        <p:spPr>
          <a:xfrm>
            <a:off x="9369067" y="166057"/>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ptos" panose="02110004020202020204"/>
              <a:ea typeface="맑은 고딕" panose="020B0503020000020004" pitchFamily="50" charset="-127"/>
              <a:cs typeface="+mn-cs"/>
            </a:endParaRPr>
          </a:p>
        </p:txBody>
      </p:sp>
      <p:pic>
        <p:nvPicPr>
          <p:cNvPr id="17" name="그림 16">
            <a:extLst>
              <a:ext uri="{FF2B5EF4-FFF2-40B4-BE49-F238E27FC236}">
                <a16:creationId xmlns:a16="http://schemas.microsoft.com/office/drawing/2014/main" id="{7A26A2C6-3A20-8E87-03BE-6B599BE79342}"/>
              </a:ext>
            </a:extLst>
          </p:cNvPr>
          <p:cNvPicPr>
            <a:picLocks noChangeAspect="1"/>
          </p:cNvPicPr>
          <p:nvPr/>
        </p:nvPicPr>
        <p:blipFill>
          <a:blip r:embed="rId3"/>
          <a:stretch>
            <a:fillRect/>
          </a:stretch>
        </p:blipFill>
        <p:spPr>
          <a:xfrm>
            <a:off x="51788" y="1497457"/>
            <a:ext cx="5000889" cy="4241131"/>
          </a:xfrm>
          <a:prstGeom prst="rect">
            <a:avLst/>
          </a:prstGeom>
        </p:spPr>
      </p:pic>
      <p:pic>
        <p:nvPicPr>
          <p:cNvPr id="25" name="그림 24">
            <a:extLst>
              <a:ext uri="{FF2B5EF4-FFF2-40B4-BE49-F238E27FC236}">
                <a16:creationId xmlns:a16="http://schemas.microsoft.com/office/drawing/2014/main" id="{E01D8AF9-E7CC-393B-F5E5-F9939EA2561A}"/>
              </a:ext>
            </a:extLst>
          </p:cNvPr>
          <p:cNvPicPr>
            <a:picLocks noChangeAspect="1"/>
          </p:cNvPicPr>
          <p:nvPr/>
        </p:nvPicPr>
        <p:blipFill>
          <a:blip r:embed="rId4"/>
          <a:stretch>
            <a:fillRect/>
          </a:stretch>
        </p:blipFill>
        <p:spPr>
          <a:xfrm>
            <a:off x="5010798" y="1497457"/>
            <a:ext cx="4843414" cy="4307807"/>
          </a:xfrm>
          <a:prstGeom prst="rect">
            <a:avLst/>
          </a:prstGeom>
        </p:spPr>
      </p:pic>
      <p:sp>
        <p:nvSpPr>
          <p:cNvPr id="33" name="타원 32">
            <a:extLst>
              <a:ext uri="{FF2B5EF4-FFF2-40B4-BE49-F238E27FC236}">
                <a16:creationId xmlns:a16="http://schemas.microsoft.com/office/drawing/2014/main" id="{54F8B561-FB66-412B-D832-963624FDA2DC}"/>
              </a:ext>
            </a:extLst>
          </p:cNvPr>
          <p:cNvSpPr/>
          <p:nvPr/>
        </p:nvSpPr>
        <p:spPr>
          <a:xfrm>
            <a:off x="1924626" y="4043138"/>
            <a:ext cx="494724" cy="485775"/>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Text Box 118">
            <a:extLst>
              <a:ext uri="{FF2B5EF4-FFF2-40B4-BE49-F238E27FC236}">
                <a16:creationId xmlns:a16="http://schemas.microsoft.com/office/drawing/2014/main" id="{9B642DB2-0C3D-B579-1F6C-3D93A2BEE431}"/>
              </a:ext>
            </a:extLst>
          </p:cNvPr>
          <p:cNvSpPr txBox="1">
            <a:spLocks noChangeArrowheads="1"/>
          </p:cNvSpPr>
          <p:nvPr/>
        </p:nvSpPr>
        <p:spPr bwMode="auto">
          <a:xfrm>
            <a:off x="2473780" y="3999078"/>
            <a:ext cx="1847414" cy="786607"/>
          </a:xfrm>
          <a:prstGeom prst="rect">
            <a:avLst/>
          </a:prstGeom>
          <a:solidFill>
            <a:schemeClr val="accent4">
              <a:lumMod val="20000"/>
              <a:lumOff val="80000"/>
            </a:schemeClr>
          </a:solidFill>
        </p:spPr>
        <p:txBody>
          <a:bodyPr wrap="square" lIns="36000" tIns="72000" rIns="36000" bIns="72000" anchor="ctr"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1600" dirty="0">
                <a:cs typeface="Calibri" panose="020F0502020204030204" pitchFamily="34" charset="0"/>
              </a:rPr>
              <a:t>1</a:t>
            </a:r>
            <a:br>
              <a:rPr lang="en-US" altLang="ko-KR" sz="900" b="0" dirty="0">
                <a:cs typeface="Calibri" panose="020F0502020204030204" pitchFamily="34" charset="0"/>
              </a:rPr>
            </a:br>
            <a:br>
              <a:rPr lang="en-US" altLang="ko-KR" sz="900" b="0" dirty="0">
                <a:cs typeface="Calibri" panose="020F0502020204030204" pitchFamily="34" charset="0"/>
              </a:rPr>
            </a:br>
            <a:r>
              <a:rPr lang="ko-KR" altLang="en-US" sz="900" b="0" dirty="0">
                <a:cs typeface="Calibri" panose="020F0502020204030204" pitchFamily="34" charset="0"/>
              </a:rPr>
              <a:t>합치 탭 피치는</a:t>
            </a:r>
            <a:br>
              <a:rPr lang="en-US" altLang="ko-KR" sz="900" b="0" dirty="0">
                <a:cs typeface="Calibri" panose="020F0502020204030204" pitchFamily="34" charset="0"/>
              </a:rPr>
            </a:br>
            <a:r>
              <a:rPr lang="ko-KR" altLang="en-US" sz="900" b="0" dirty="0">
                <a:cs typeface="Calibri" panose="020F0502020204030204" pitchFamily="34" charset="0"/>
              </a:rPr>
              <a:t>정상 그룹 평균 </a:t>
            </a:r>
            <a:r>
              <a:rPr lang="en-US" altLang="ko-KR" sz="900" b="0" dirty="0">
                <a:cs typeface="Calibri" panose="020F0502020204030204" pitchFamily="34" charset="0"/>
              </a:rPr>
              <a:t>101.88mm </a:t>
            </a:r>
            <a:r>
              <a:rPr lang="ko-KR" altLang="en-US" sz="900" b="0" dirty="0">
                <a:cs typeface="Calibri" panose="020F0502020204030204" pitchFamily="34" charset="0"/>
              </a:rPr>
              <a:t>대비</a:t>
            </a:r>
            <a:br>
              <a:rPr lang="en-US" altLang="ko-KR" sz="900" b="0" dirty="0">
                <a:cs typeface="Calibri" panose="020F0502020204030204" pitchFamily="34" charset="0"/>
              </a:rPr>
            </a:br>
            <a:r>
              <a:rPr lang="ko-KR" altLang="en-US" sz="900" b="0" dirty="0">
                <a:cs typeface="Calibri" panose="020F0502020204030204" pitchFamily="34" charset="0"/>
              </a:rPr>
              <a:t>불량 그룹 평균 </a:t>
            </a:r>
            <a:r>
              <a:rPr lang="en-US" altLang="ko-KR" sz="900" b="0" dirty="0">
                <a:cs typeface="Calibri" panose="020F0502020204030204" pitchFamily="34" charset="0"/>
              </a:rPr>
              <a:t>102mm</a:t>
            </a:r>
            <a:r>
              <a:rPr lang="ko-KR" altLang="en-US" sz="900" b="0" dirty="0">
                <a:cs typeface="Calibri" panose="020F0502020204030204" pitchFamily="34" charset="0"/>
              </a:rPr>
              <a:t>로</a:t>
            </a:r>
            <a:r>
              <a:rPr lang="en-US" altLang="ko-KR" sz="900" b="0" dirty="0">
                <a:cs typeface="Calibri" panose="020F0502020204030204" pitchFamily="34" charset="0"/>
              </a:rPr>
              <a:t>,</a:t>
            </a:r>
            <a:r>
              <a:rPr lang="ko-KR" altLang="en-US" sz="900" b="0" dirty="0">
                <a:cs typeface="Calibri" panose="020F0502020204030204" pitchFamily="34" charset="0"/>
              </a:rPr>
              <a:t> </a:t>
            </a:r>
            <a:r>
              <a:rPr lang="en-US" altLang="ko-KR" sz="900" b="0" dirty="0">
                <a:cs typeface="Calibri" panose="020F0502020204030204" pitchFamily="34" charset="0"/>
              </a:rPr>
              <a:t>0.12mm </a:t>
            </a:r>
            <a:r>
              <a:rPr lang="ko-KR" altLang="en-US" sz="900" b="0" dirty="0">
                <a:cs typeface="Calibri" panose="020F0502020204030204" pitchFamily="34" charset="0"/>
              </a:rPr>
              <a:t>더 큼</a:t>
            </a:r>
            <a:endParaRPr lang="en-US" altLang="ko-KR" sz="900" b="0" dirty="0">
              <a:cs typeface="Calibri" panose="020F0502020204030204" pitchFamily="34" charset="0"/>
            </a:endParaRPr>
          </a:p>
        </p:txBody>
      </p:sp>
      <p:sp>
        <p:nvSpPr>
          <p:cNvPr id="38" name="타원 37">
            <a:extLst>
              <a:ext uri="{FF2B5EF4-FFF2-40B4-BE49-F238E27FC236}">
                <a16:creationId xmlns:a16="http://schemas.microsoft.com/office/drawing/2014/main" id="{C413FE8A-9E16-7A68-1CA3-FEEEF4197B01}"/>
              </a:ext>
            </a:extLst>
          </p:cNvPr>
          <p:cNvSpPr/>
          <p:nvPr/>
        </p:nvSpPr>
        <p:spPr>
          <a:xfrm>
            <a:off x="2124651" y="2796220"/>
            <a:ext cx="494724" cy="485775"/>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0" name="타원 39">
            <a:extLst>
              <a:ext uri="{FF2B5EF4-FFF2-40B4-BE49-F238E27FC236}">
                <a16:creationId xmlns:a16="http://schemas.microsoft.com/office/drawing/2014/main" id="{61FB0A16-8DC0-E45B-1C25-CF5BDC5C9792}"/>
              </a:ext>
            </a:extLst>
          </p:cNvPr>
          <p:cNvSpPr/>
          <p:nvPr/>
        </p:nvSpPr>
        <p:spPr>
          <a:xfrm>
            <a:off x="7781349" y="3184858"/>
            <a:ext cx="238701" cy="382031"/>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3" name="타원 42">
            <a:extLst>
              <a:ext uri="{FF2B5EF4-FFF2-40B4-BE49-F238E27FC236}">
                <a16:creationId xmlns:a16="http://schemas.microsoft.com/office/drawing/2014/main" id="{6BC8FBF7-B391-D863-3151-9385D9A3A5C7}"/>
              </a:ext>
            </a:extLst>
          </p:cNvPr>
          <p:cNvSpPr/>
          <p:nvPr/>
        </p:nvSpPr>
        <p:spPr>
          <a:xfrm>
            <a:off x="7781349" y="5423233"/>
            <a:ext cx="238701" cy="313724"/>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타원 47">
            <a:extLst>
              <a:ext uri="{FF2B5EF4-FFF2-40B4-BE49-F238E27FC236}">
                <a16:creationId xmlns:a16="http://schemas.microsoft.com/office/drawing/2014/main" id="{56B60C82-9A56-30B8-8037-A98F489D2754}"/>
              </a:ext>
            </a:extLst>
          </p:cNvPr>
          <p:cNvSpPr/>
          <p:nvPr/>
        </p:nvSpPr>
        <p:spPr>
          <a:xfrm>
            <a:off x="7781349" y="4527282"/>
            <a:ext cx="238701" cy="249282"/>
          </a:xfrm>
          <a:prstGeom prst="ellipse">
            <a:avLst/>
          </a:prstGeom>
          <a:noFill/>
          <a:ln w="28575">
            <a:solidFill>
              <a:srgbClr val="0000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3" name="타원 52">
            <a:extLst>
              <a:ext uri="{FF2B5EF4-FFF2-40B4-BE49-F238E27FC236}">
                <a16:creationId xmlns:a16="http://schemas.microsoft.com/office/drawing/2014/main" id="{9FDEE899-CA88-669D-C5CD-057B485C2BB7}"/>
              </a:ext>
            </a:extLst>
          </p:cNvPr>
          <p:cNvSpPr/>
          <p:nvPr/>
        </p:nvSpPr>
        <p:spPr>
          <a:xfrm>
            <a:off x="8120422" y="4651923"/>
            <a:ext cx="238701" cy="249282"/>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 name="TextBox 2">
            <a:extLst>
              <a:ext uri="{FF2B5EF4-FFF2-40B4-BE49-F238E27FC236}">
                <a16:creationId xmlns:a16="http://schemas.microsoft.com/office/drawing/2014/main" id="{2E9AD444-B044-5D7C-4CCE-C97F9C2E85F8}"/>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3 / 7</a:t>
            </a:r>
          </a:p>
        </p:txBody>
      </p:sp>
      <p:sp>
        <p:nvSpPr>
          <p:cNvPr id="4" name="제목 1">
            <a:extLst>
              <a:ext uri="{FF2B5EF4-FFF2-40B4-BE49-F238E27FC236}">
                <a16:creationId xmlns:a16="http://schemas.microsoft.com/office/drawing/2014/main" id="{8502C1A7-19F4-7707-FD0B-28F3DDAC52AE}"/>
              </a:ext>
            </a:extLst>
          </p:cNvPr>
          <p:cNvSpPr txBox="1">
            <a:spLocks/>
          </p:cNvSpPr>
          <p:nvPr/>
        </p:nvSpPr>
        <p:spPr>
          <a:xfrm>
            <a:off x="123673" y="164582"/>
            <a:ext cx="4833074" cy="36838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라미 양극 </a:t>
            </a:r>
            <a:r>
              <a:rPr kumimoji="0" lang="ko-KR" altLang="en-US" sz="18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j-cs"/>
              </a:rPr>
              <a:t>피딩롤러</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제어 </a:t>
            </a:r>
            <a:r>
              <a:rPr kumimoji="0" lang="ko-KR" altLang="en-US" sz="1800"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j-cs"/>
              </a:rPr>
              <a:t>보상량</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밀림 현상</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(2/2)</a:t>
            </a:r>
          </a:p>
        </p:txBody>
      </p:sp>
      <p:sp>
        <p:nvSpPr>
          <p:cNvPr id="5" name="TextBox 4">
            <a:extLst>
              <a:ext uri="{FF2B5EF4-FFF2-40B4-BE49-F238E27FC236}">
                <a16:creationId xmlns:a16="http://schemas.microsoft.com/office/drawing/2014/main" id="{D60EA50A-0A35-0CAC-C36C-94713D7F3A8A}"/>
              </a:ext>
            </a:extLst>
          </p:cNvPr>
          <p:cNvSpPr txBox="1"/>
          <p:nvPr/>
        </p:nvSpPr>
        <p:spPr>
          <a:xfrm>
            <a:off x="179432" y="649640"/>
            <a:ext cx="9663067" cy="732123"/>
          </a:xfrm>
          <a:prstGeom prst="rect">
            <a:avLst/>
          </a:prstGeom>
          <a:noFill/>
        </p:spPr>
        <p:txBody>
          <a:bodyPr wrap="square" rtlCol="0">
            <a:spAutoFit/>
          </a:bodyPr>
          <a:lstStyle/>
          <a:p>
            <a:pPr marL="0" marR="0" lvl="0" indent="0" algn="l" defTabSz="447830" rtl="0" eaLnBrk="0" fontAlgn="base" latinLnBrk="0" hangingPunct="0">
              <a:lnSpc>
                <a:spcPct val="100000"/>
              </a:lnSpc>
              <a:spcBef>
                <a:spcPct val="0"/>
              </a:spcBef>
              <a:spcAft>
                <a:spcPct val="0"/>
              </a:spcAft>
              <a:buClrTx/>
              <a:buSzTx/>
              <a:buFontTx/>
              <a:buNone/>
              <a:tabLst/>
              <a:defRPr/>
            </a:pP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WA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라미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17-4</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호 분석 내용으로</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합치 탭 피치가 음극 커터 그리퍼 위치에서 상한 피크 패턴을 보입니다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br>
              <a:rPr kumimoji="1" lang="en-US" altLang="ko-KR" sz="1400" b="1" dirty="0">
                <a:solidFill>
                  <a:prstClr val="black"/>
                </a:solidFill>
                <a:latin typeface="LG스마트체 Regular" panose="020B0600000101010101" pitchFamily="50" charset="-127"/>
                <a:ea typeface="LG스마트체 Regular" panose="020B0600000101010101" pitchFamily="50" charset="-127"/>
              </a:rPr>
            </a:b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이에 따라 제어기는 양극 피딩 롤러 속도를 줄이기 위해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보상량을</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정상 산출하였으나</a:t>
            </a:r>
            <a:br>
              <a:rPr kumimoji="1" lang="en-US" altLang="ko-KR" sz="1400" b="1" dirty="0">
                <a:solidFill>
                  <a:prstClr val="black"/>
                </a:solidFill>
                <a:latin typeface="LG스마트체 Regular" panose="020B0600000101010101" pitchFamily="50" charset="-127"/>
                <a:ea typeface="LG스마트체 Regular" panose="020B0600000101010101" pitchFamily="50" charset="-127"/>
              </a:rPr>
            </a:b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실제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보상량이</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반영된</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양극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피딩롤러</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속도는 </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2Tab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뒤에 밀려서 적용되고 있는 패턴을 보입니다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p>
        </p:txBody>
      </p:sp>
      <p:sp>
        <p:nvSpPr>
          <p:cNvPr id="6" name="Text Box 118">
            <a:extLst>
              <a:ext uri="{FF2B5EF4-FFF2-40B4-BE49-F238E27FC236}">
                <a16:creationId xmlns:a16="http://schemas.microsoft.com/office/drawing/2014/main" id="{9D9BA4D5-FC83-8B02-7C0C-8DCFDFE97960}"/>
              </a:ext>
            </a:extLst>
          </p:cNvPr>
          <p:cNvSpPr txBox="1">
            <a:spLocks noChangeArrowheads="1"/>
          </p:cNvSpPr>
          <p:nvPr/>
        </p:nvSpPr>
        <p:spPr bwMode="auto">
          <a:xfrm>
            <a:off x="2739501" y="2608272"/>
            <a:ext cx="2063528" cy="1043088"/>
          </a:xfrm>
          <a:prstGeom prst="rect">
            <a:avLst/>
          </a:prstGeom>
          <a:solidFill>
            <a:schemeClr val="accent4">
              <a:lumMod val="20000"/>
              <a:lumOff val="80000"/>
            </a:schemeClr>
          </a:solidFill>
        </p:spPr>
        <p:txBody>
          <a:bodyPr wrap="square" lIns="36000" tIns="72000" rIns="36000" bIns="72000" anchor="ctr"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1600" dirty="0">
                <a:cs typeface="Calibri" panose="020F0502020204030204" pitchFamily="34" charset="0"/>
              </a:rPr>
              <a:t>2</a:t>
            </a:r>
            <a:br>
              <a:rPr lang="en-US" altLang="ko-KR" sz="900" b="0" dirty="0">
                <a:cs typeface="Calibri" panose="020F0502020204030204" pitchFamily="34" charset="0"/>
              </a:rPr>
            </a:br>
            <a:br>
              <a:rPr lang="en-US" altLang="ko-KR" sz="900" b="0" dirty="0">
                <a:cs typeface="Calibri" panose="020F0502020204030204" pitchFamily="34" charset="0"/>
              </a:rPr>
            </a:br>
            <a:r>
              <a:rPr lang="ko-KR" altLang="en-US" sz="900" b="0" dirty="0">
                <a:cs typeface="Calibri" panose="020F0502020204030204" pitchFamily="34" charset="0"/>
              </a:rPr>
              <a:t>양극 피딩 </a:t>
            </a:r>
            <a:r>
              <a:rPr lang="ko-KR" altLang="en-US" sz="900" b="0" dirty="0" err="1">
                <a:cs typeface="Calibri" panose="020F0502020204030204" pitchFamily="34" charset="0"/>
              </a:rPr>
              <a:t>보상량은</a:t>
            </a:r>
            <a:br>
              <a:rPr lang="en-US" altLang="ko-KR" sz="900" b="0" dirty="0">
                <a:cs typeface="Calibri" panose="020F0502020204030204" pitchFamily="34" charset="0"/>
              </a:rPr>
            </a:br>
            <a:r>
              <a:rPr lang="ko-KR" altLang="en-US" sz="900" b="0" dirty="0">
                <a:cs typeface="Calibri" panose="020F0502020204030204" pitchFamily="34" charset="0"/>
              </a:rPr>
              <a:t>정상 그룹 평균 </a:t>
            </a:r>
            <a:r>
              <a:rPr lang="en-US" altLang="ko-KR" sz="900" b="0" dirty="0">
                <a:cs typeface="Calibri" panose="020F0502020204030204" pitchFamily="34" charset="0"/>
              </a:rPr>
              <a:t>-0.55mm </a:t>
            </a:r>
            <a:r>
              <a:rPr lang="ko-KR" altLang="en-US" sz="900" b="0" dirty="0">
                <a:cs typeface="Calibri" panose="020F0502020204030204" pitchFamily="34" charset="0"/>
              </a:rPr>
              <a:t>대비</a:t>
            </a:r>
            <a:br>
              <a:rPr lang="en-US" altLang="ko-KR" sz="900" b="0" dirty="0">
                <a:cs typeface="Calibri" panose="020F0502020204030204" pitchFamily="34" charset="0"/>
              </a:rPr>
            </a:br>
            <a:r>
              <a:rPr lang="ko-KR" altLang="en-US" sz="900" b="0" dirty="0">
                <a:cs typeface="Calibri" panose="020F0502020204030204" pitchFamily="34" charset="0"/>
              </a:rPr>
              <a:t>불량 그룹 평균 </a:t>
            </a:r>
            <a:r>
              <a:rPr lang="en-US" altLang="ko-KR" sz="900" b="0" dirty="0">
                <a:cs typeface="Calibri" panose="020F0502020204030204" pitchFamily="34" charset="0"/>
              </a:rPr>
              <a:t>-0.77mm</a:t>
            </a:r>
            <a:r>
              <a:rPr lang="ko-KR" altLang="en-US" sz="900" b="0" dirty="0">
                <a:cs typeface="Calibri" panose="020F0502020204030204" pitchFamily="34" charset="0"/>
              </a:rPr>
              <a:t>로</a:t>
            </a:r>
            <a:r>
              <a:rPr lang="en-US" altLang="ko-KR" sz="900" b="0" dirty="0">
                <a:cs typeface="Calibri" panose="020F0502020204030204" pitchFamily="34" charset="0"/>
              </a:rPr>
              <a:t>, 0.12mm </a:t>
            </a:r>
            <a:r>
              <a:rPr lang="ko-KR" altLang="en-US" sz="900" b="0" dirty="0">
                <a:cs typeface="Calibri" panose="020F0502020204030204" pitchFamily="34" charset="0"/>
              </a:rPr>
              <a:t>더 작음</a:t>
            </a:r>
            <a:br>
              <a:rPr lang="en-US" altLang="ko-KR" sz="900" b="0" dirty="0">
                <a:cs typeface="Calibri" panose="020F0502020204030204" pitchFamily="34" charset="0"/>
              </a:rPr>
            </a:br>
            <a:br>
              <a:rPr lang="en-US" altLang="ko-KR" sz="900" b="0" dirty="0">
                <a:cs typeface="Calibri" panose="020F0502020204030204" pitchFamily="34" charset="0"/>
              </a:rPr>
            </a:br>
            <a:r>
              <a:rPr lang="ko-KR" altLang="en-US" sz="900" b="0" dirty="0">
                <a:cs typeface="Calibri" panose="020F0502020204030204" pitchFamily="34" charset="0"/>
              </a:rPr>
              <a:t>▶ </a:t>
            </a:r>
            <a:r>
              <a:rPr lang="ko-KR" altLang="en-US" sz="900" b="0" dirty="0" err="1">
                <a:cs typeface="Calibri" panose="020F0502020204030204" pitchFamily="34" charset="0"/>
              </a:rPr>
              <a:t>보상량</a:t>
            </a:r>
            <a:r>
              <a:rPr lang="ko-KR" altLang="en-US" sz="900" b="0" dirty="0">
                <a:cs typeface="Calibri" panose="020F0502020204030204" pitchFamily="34" charset="0"/>
              </a:rPr>
              <a:t> 산출에는 문제가 없음</a:t>
            </a:r>
            <a:endParaRPr lang="en-US" altLang="ko-KR" sz="900" b="0" dirty="0">
              <a:cs typeface="Calibri" panose="020F0502020204030204" pitchFamily="34" charset="0"/>
            </a:endParaRPr>
          </a:p>
        </p:txBody>
      </p:sp>
      <p:sp>
        <p:nvSpPr>
          <p:cNvPr id="7" name="Text Box 118">
            <a:extLst>
              <a:ext uri="{FF2B5EF4-FFF2-40B4-BE49-F238E27FC236}">
                <a16:creationId xmlns:a16="http://schemas.microsoft.com/office/drawing/2014/main" id="{1A320BA8-98F9-AC6E-CF1B-0632AAD0878F}"/>
              </a:ext>
            </a:extLst>
          </p:cNvPr>
          <p:cNvSpPr txBox="1">
            <a:spLocks noChangeArrowheads="1"/>
          </p:cNvSpPr>
          <p:nvPr/>
        </p:nvSpPr>
        <p:spPr bwMode="auto">
          <a:xfrm>
            <a:off x="5617449" y="4130379"/>
            <a:ext cx="2063528" cy="1043088"/>
          </a:xfrm>
          <a:prstGeom prst="rect">
            <a:avLst/>
          </a:prstGeom>
          <a:solidFill>
            <a:schemeClr val="accent4">
              <a:lumMod val="20000"/>
              <a:lumOff val="80000"/>
            </a:schemeClr>
          </a:solidFill>
        </p:spPr>
        <p:txBody>
          <a:bodyPr wrap="square" lIns="36000" tIns="72000" rIns="36000" bIns="72000" anchor="ctr"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1600" dirty="0">
                <a:cs typeface="Calibri" panose="020F0502020204030204" pitchFamily="34" charset="0"/>
              </a:rPr>
              <a:t>3</a:t>
            </a:r>
            <a:br>
              <a:rPr lang="en-US" altLang="ko-KR" sz="900" b="0" dirty="0">
                <a:cs typeface="Calibri" panose="020F0502020204030204" pitchFamily="34" charset="0"/>
              </a:rPr>
            </a:br>
            <a:br>
              <a:rPr lang="en-US" altLang="ko-KR" sz="900" b="0" dirty="0">
                <a:cs typeface="Calibri" panose="020F0502020204030204" pitchFamily="34" charset="0"/>
              </a:rPr>
            </a:br>
            <a:r>
              <a:rPr lang="ko-KR" altLang="en-US" sz="900" b="0" dirty="0">
                <a:cs typeface="Calibri" panose="020F0502020204030204" pitchFamily="34" charset="0"/>
              </a:rPr>
              <a:t>양극 피딩 롤러 속도 감속이</a:t>
            </a:r>
            <a:br>
              <a:rPr lang="en-US" altLang="ko-KR" sz="900" b="0" dirty="0">
                <a:cs typeface="Calibri" panose="020F0502020204030204" pitchFamily="34" charset="0"/>
              </a:rPr>
            </a:br>
            <a:r>
              <a:rPr lang="en-US" altLang="ko-KR" sz="900" b="0" dirty="0">
                <a:cs typeface="Calibri" panose="020F0502020204030204" pitchFamily="34" charset="0"/>
              </a:rPr>
              <a:t>2Tab </a:t>
            </a:r>
            <a:r>
              <a:rPr lang="ko-KR" altLang="en-US" sz="900" b="0" dirty="0">
                <a:cs typeface="Calibri" panose="020F0502020204030204" pitchFamily="34" charset="0"/>
              </a:rPr>
              <a:t>뒤에 되는 패턴을 보임</a:t>
            </a:r>
            <a:endParaRPr lang="en-US" altLang="ko-KR" sz="900" b="0" dirty="0">
              <a:cs typeface="Calibri" panose="020F0502020204030204" pitchFamily="34" charset="0"/>
            </a:endParaRPr>
          </a:p>
          <a:p>
            <a:pPr lvl="0">
              <a:lnSpc>
                <a:spcPts val="1000"/>
              </a:lnSpc>
              <a:buNone/>
              <a:tabLst>
                <a:tab pos="3051175" algn="l"/>
              </a:tabLst>
              <a:defRPr/>
            </a:pPr>
            <a:endParaRPr lang="en-US" altLang="ko-KR" sz="900" b="0" dirty="0">
              <a:cs typeface="Calibri" panose="020F0502020204030204" pitchFamily="34" charset="0"/>
            </a:endParaRPr>
          </a:p>
          <a:p>
            <a:pPr lvl="0">
              <a:lnSpc>
                <a:spcPts val="1000"/>
              </a:lnSpc>
              <a:buNone/>
              <a:tabLst>
                <a:tab pos="3051175" algn="l"/>
              </a:tabLst>
              <a:defRPr/>
            </a:pPr>
            <a:r>
              <a:rPr lang="ko-KR" altLang="en-US" sz="900" b="0" dirty="0">
                <a:cs typeface="Calibri" panose="020F0502020204030204" pitchFamily="34" charset="0"/>
              </a:rPr>
              <a:t>▶ 양극 </a:t>
            </a:r>
            <a:r>
              <a:rPr lang="ko-KR" altLang="en-US" sz="900" b="0" dirty="0" err="1">
                <a:cs typeface="Calibri" panose="020F0502020204030204" pitchFamily="34" charset="0"/>
              </a:rPr>
              <a:t>피딩롤러</a:t>
            </a:r>
            <a:r>
              <a:rPr lang="ko-KR" altLang="en-US" sz="900" b="0" dirty="0">
                <a:cs typeface="Calibri" panose="020F0502020204030204" pitchFamily="34" charset="0"/>
              </a:rPr>
              <a:t> 속도 </a:t>
            </a:r>
            <a:r>
              <a:rPr lang="ko-KR" altLang="en-US" sz="900" b="0" dirty="0" err="1">
                <a:cs typeface="Calibri" panose="020F0502020204030204" pitchFamily="34" charset="0"/>
              </a:rPr>
              <a:t>보정량</a:t>
            </a:r>
            <a:r>
              <a:rPr lang="ko-KR" altLang="en-US" sz="900" b="0" dirty="0">
                <a:cs typeface="Calibri" panose="020F0502020204030204" pitchFamily="34" charset="0"/>
              </a:rPr>
              <a:t> 반영 타이밍이</a:t>
            </a:r>
            <a:br>
              <a:rPr lang="en-US" altLang="ko-KR" sz="900" b="0" dirty="0">
                <a:cs typeface="Calibri" panose="020F0502020204030204" pitchFamily="34" charset="0"/>
              </a:rPr>
            </a:br>
            <a:r>
              <a:rPr lang="en-US" altLang="ko-KR" sz="900" b="0" dirty="0">
                <a:cs typeface="Calibri" panose="020F0502020204030204" pitchFamily="34" charset="0"/>
              </a:rPr>
              <a:t>     </a:t>
            </a:r>
            <a:r>
              <a:rPr lang="ko-KR" altLang="en-US" sz="900" b="0" dirty="0">
                <a:cs typeface="Calibri" panose="020F0502020204030204" pitchFamily="34" charset="0"/>
              </a:rPr>
              <a:t> </a:t>
            </a:r>
            <a:r>
              <a:rPr lang="en-US" altLang="ko-KR" sz="900" b="0" dirty="0">
                <a:cs typeface="Calibri" panose="020F0502020204030204" pitchFamily="34" charset="0"/>
              </a:rPr>
              <a:t>2Tab </a:t>
            </a:r>
            <a:r>
              <a:rPr lang="ko-KR" altLang="en-US" sz="900" b="0" dirty="0">
                <a:cs typeface="Calibri" panose="020F0502020204030204" pitchFamily="34" charset="0"/>
              </a:rPr>
              <a:t>밀려 적용되고 있음</a:t>
            </a:r>
            <a:endParaRPr lang="en-US" altLang="ko-KR" sz="900" b="0" dirty="0">
              <a:cs typeface="Calibri" panose="020F0502020204030204" pitchFamily="34" charset="0"/>
            </a:endParaRPr>
          </a:p>
        </p:txBody>
      </p:sp>
    </p:spTree>
    <p:extLst>
      <p:ext uri="{BB962C8B-B14F-4D97-AF65-F5344CB8AC3E}">
        <p14:creationId xmlns:p14="http://schemas.microsoft.com/office/powerpoint/2010/main" val="151339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38">
            <a:extLst>
              <a:ext uri="{FF2B5EF4-FFF2-40B4-BE49-F238E27FC236}">
                <a16:creationId xmlns:a16="http://schemas.microsoft.com/office/drawing/2014/main" id="{9498B9F0-41ED-7497-0C6F-DE77699CC800}"/>
              </a:ext>
            </a:extLst>
          </p:cNvPr>
          <p:cNvSpPr txBox="1">
            <a:spLocks noChangeArrowheads="1"/>
          </p:cNvSpPr>
          <p:nvPr/>
        </p:nvSpPr>
        <p:spPr bwMode="auto">
          <a:xfrm>
            <a:off x="217815" y="4970338"/>
            <a:ext cx="9464278" cy="671979"/>
          </a:xfrm>
          <a:prstGeom prst="rect">
            <a:avLst/>
          </a:prstGeom>
          <a:noFill/>
          <a:ln w="9525" algn="ctr">
            <a:noFill/>
            <a:miter lim="800000"/>
            <a:headEnd/>
            <a:tailEnd/>
          </a:ln>
        </p:spPr>
        <p:txBody>
          <a:bodyPr wrap="square" anchor="t" anchorCtr="0">
            <a:spAutoFit/>
          </a:bodyPr>
          <a:lstStyle/>
          <a:p>
            <a:pPr marR="0" lvl="0" algn="l" defTabSz="914400" rtl="0" eaLnBrk="1" fontAlgn="auto" latinLnBrk="0" hangingPunct="1">
              <a:lnSpc>
                <a:spcPct val="100000"/>
              </a:lnSpc>
              <a:spcBef>
                <a:spcPts val="200"/>
              </a:spcBef>
              <a:spcAft>
                <a:spcPts val="0"/>
              </a:spcAft>
              <a:buClrTx/>
              <a:buSzPct val="85000"/>
              <a:tabLst/>
              <a:defRPr/>
            </a:pPr>
            <a:endParaRPr kumimoji="0" lang="en-US" altLang="ko-KR" sz="120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itchFamily="34" charset="0"/>
            </a:endParaRPr>
          </a:p>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prstClr val="black"/>
                </a:solidFill>
                <a:latin typeface="Arial Narrow" panose="020B0606020202030204" pitchFamily="34" charset="0"/>
                <a:ea typeface="LG스마트체 Regular" panose="020B0600000101010101" pitchFamily="50" charset="-127"/>
                <a:cs typeface="Arial" charset="0"/>
              </a:rPr>
              <a:t> 조립자동보정팀과 법인 제조역량강화팀과 협업하여 다양한 가능성을 원인으로 추정하여 분석하고 있으며</a:t>
            </a:r>
            <a:br>
              <a:rPr lang="en-US" altLang="ko-KR" sz="1200" dirty="0">
                <a:solidFill>
                  <a:prstClr val="black"/>
                </a:solidFill>
                <a:latin typeface="Arial Narrow" panose="020B0606020202030204" pitchFamily="34" charset="0"/>
                <a:ea typeface="LG스마트체 Regular" panose="020B0600000101010101" pitchFamily="50" charset="-127"/>
                <a:cs typeface="Arial" charset="0"/>
              </a:rPr>
            </a:br>
            <a:r>
              <a:rPr lang="en-US" altLang="ko-KR" sz="1200" dirty="0">
                <a:solidFill>
                  <a:prstClr val="black"/>
                </a:solidFill>
                <a:latin typeface="Arial Narrow" panose="020B0606020202030204" pitchFamily="34" charset="0"/>
                <a:ea typeface="LG스마트체 Regular" panose="020B0600000101010101" pitchFamily="50" charset="-127"/>
                <a:cs typeface="Arial" charset="0"/>
              </a:rPr>
              <a:t> </a:t>
            </a:r>
            <a:r>
              <a:rPr lang="ko-KR" altLang="en-US" sz="1200" dirty="0">
                <a:solidFill>
                  <a:prstClr val="black"/>
                </a:solidFill>
                <a:latin typeface="Arial Narrow" panose="020B0606020202030204" pitchFamily="34" charset="0"/>
                <a:ea typeface="LG스마트체 Regular" panose="020B0600000101010101" pitchFamily="50" charset="-127"/>
                <a:cs typeface="Arial" charset="0"/>
              </a:rPr>
              <a:t>계단식 발생 시점의 </a:t>
            </a:r>
            <a:r>
              <a:rPr lang="en-US" altLang="ko-KR" sz="1200" dirty="0">
                <a:solidFill>
                  <a:prstClr val="black"/>
                </a:solidFill>
                <a:latin typeface="Arial Narrow" panose="020B0606020202030204" pitchFamily="34" charset="0"/>
                <a:ea typeface="LG스마트체 Regular" panose="020B0600000101010101" pitchFamily="50" charset="-127"/>
                <a:cs typeface="Arial" charset="0"/>
              </a:rPr>
              <a:t>Cell ID </a:t>
            </a:r>
            <a:r>
              <a:rPr lang="ko-KR" altLang="en-US" sz="1200" dirty="0">
                <a:solidFill>
                  <a:prstClr val="black"/>
                </a:solidFill>
                <a:latin typeface="Arial Narrow" panose="020B0606020202030204" pitchFamily="34" charset="0"/>
                <a:ea typeface="LG스마트체 Regular" panose="020B0600000101010101" pitchFamily="50" charset="-127"/>
                <a:cs typeface="Arial" charset="0"/>
              </a:rPr>
              <a:t>매칭과</a:t>
            </a:r>
            <a:r>
              <a:rPr lang="en-US" altLang="ko-KR" sz="1200" dirty="0">
                <a:solidFill>
                  <a:prstClr val="black"/>
                </a:solidFill>
                <a:latin typeface="Arial Narrow" panose="020B0606020202030204" pitchFamily="34" charset="0"/>
                <a:ea typeface="LG스마트체 Regular" panose="020B0600000101010101" pitchFamily="50" charset="-127"/>
                <a:cs typeface="Arial" charset="0"/>
              </a:rPr>
              <a:t>, </a:t>
            </a:r>
            <a:r>
              <a:rPr lang="ko-KR" altLang="en-US" sz="1200" dirty="0">
                <a:solidFill>
                  <a:prstClr val="black"/>
                </a:solidFill>
                <a:latin typeface="Arial Narrow" panose="020B0606020202030204" pitchFamily="34" charset="0"/>
                <a:ea typeface="LG스마트체 Regular" panose="020B0600000101010101" pitchFamily="50" charset="-127"/>
                <a:cs typeface="Arial" charset="0"/>
              </a:rPr>
              <a:t>신규 데이터를 통한 </a:t>
            </a:r>
            <a:r>
              <a:rPr lang="en-US" altLang="ko-KR" sz="1200" dirty="0">
                <a:solidFill>
                  <a:prstClr val="black"/>
                </a:solidFill>
                <a:latin typeface="Arial Narrow" panose="020B0606020202030204" pitchFamily="34" charset="0"/>
                <a:ea typeface="LG스마트체 Regular" panose="020B0600000101010101" pitchFamily="50" charset="-127"/>
                <a:cs typeface="Arial" charset="0"/>
              </a:rPr>
              <a:t>UVW-Stage </a:t>
            </a:r>
            <a:r>
              <a:rPr lang="ko-KR" altLang="en-US" sz="1200" dirty="0">
                <a:solidFill>
                  <a:prstClr val="black"/>
                </a:solidFill>
                <a:latin typeface="Arial Narrow" panose="020B0606020202030204" pitchFamily="34" charset="0"/>
                <a:ea typeface="LG스마트체 Regular" panose="020B0600000101010101" pitchFamily="50" charset="-127"/>
                <a:cs typeface="Arial" charset="0"/>
              </a:rPr>
              <a:t>제어 관점에서의 분석을 진행하고 있습니다</a:t>
            </a:r>
            <a:r>
              <a:rPr lang="en-US" altLang="ko-KR" sz="1200" dirty="0">
                <a:solidFill>
                  <a:prstClr val="black"/>
                </a:solidFill>
                <a:latin typeface="Arial Narrow" panose="020B0606020202030204" pitchFamily="34" charset="0"/>
                <a:ea typeface="LG스마트체 Regular" panose="020B0600000101010101" pitchFamily="50" charset="-127"/>
                <a:cs typeface="Arial" charset="0"/>
              </a:rPr>
              <a:t>.</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3" name="TextBox 2">
            <a:extLst>
              <a:ext uri="{FF2B5EF4-FFF2-40B4-BE49-F238E27FC236}">
                <a16:creationId xmlns:a16="http://schemas.microsoft.com/office/drawing/2014/main" id="{7C249992-2F95-461C-807F-0455C9BB3989}"/>
              </a:ext>
            </a:extLst>
          </p:cNvPr>
          <p:cNvSpPr txBox="1"/>
          <p:nvPr/>
        </p:nvSpPr>
        <p:spPr>
          <a:xfrm>
            <a:off x="6938386" y="180184"/>
            <a:ext cx="2479727" cy="262572"/>
          </a:xfrm>
          <a:prstGeom prst="rect">
            <a:avLst/>
          </a:prstGeom>
          <a:noFill/>
        </p:spPr>
        <p:txBody>
          <a:bodyPr wrap="square" rtlCol="0" anchor="ctr">
            <a:spAutoFit/>
          </a:bodyPr>
          <a:lstStyle/>
          <a:p>
            <a:pPr algn="r" defTabSz="914400" fontAlgn="base" latinLnBrk="1">
              <a:lnSpc>
                <a:spcPct val="120000"/>
              </a:lnSpc>
              <a:spcBef>
                <a:spcPct val="0"/>
              </a:spcBef>
              <a:spcAft>
                <a:spcPct val="0"/>
              </a:spcAft>
              <a:defRPr/>
            </a:pPr>
            <a:r>
              <a:rPr kumimoji="1" lang="en-US" altLang="ko-KR" sz="1000" b="1" dirty="0">
                <a:solidFill>
                  <a:prstClr val="black"/>
                </a:solidFill>
                <a:latin typeface="Arial Narrow" panose="020B0606020202030204" pitchFamily="34" charset="0"/>
                <a:ea typeface="LG스마트체 Regular" panose="020B0600000101010101" pitchFamily="50" charset="-127"/>
              </a:rPr>
              <a:t>CDO.</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솔루션</a:t>
            </a:r>
            <a:r>
              <a:rPr kumimoji="1" lang="en-US" altLang="ko-KR" sz="1000" b="1" dirty="0">
                <a:solidFill>
                  <a:prstClr val="black"/>
                </a:solidFill>
                <a:latin typeface="Arial Narrow" panose="020B0606020202030204" pitchFamily="34" charset="0"/>
                <a:ea typeface="LG스마트체 Regular" panose="020B0600000101010101" pitchFamily="50" charset="-127"/>
              </a:rPr>
              <a:t>.</a:t>
            </a:r>
            <a:r>
              <a:rPr kumimoji="1" lang="ko-KR" altLang="en-US" sz="1000" b="1" dirty="0">
                <a:solidFill>
                  <a:prstClr val="black"/>
                </a:solidFill>
                <a:latin typeface="Arial Narrow" panose="020B0606020202030204" pitchFamily="34" charset="0"/>
                <a:ea typeface="LG스마트체 Regular" panose="020B0600000101010101" pitchFamily="50" charset="-127"/>
              </a:rPr>
              <a:t>추적솔루션개발팀</a:t>
            </a:r>
          </a:p>
        </p:txBody>
      </p:sp>
      <p:sp>
        <p:nvSpPr>
          <p:cNvPr id="14" name="Text Box 38">
            <a:extLst>
              <a:ext uri="{FF2B5EF4-FFF2-40B4-BE49-F238E27FC236}">
                <a16:creationId xmlns:a16="http://schemas.microsoft.com/office/drawing/2014/main" id="{CAAC1971-130D-CBFA-E23E-28C547FA6040}"/>
              </a:ext>
            </a:extLst>
          </p:cNvPr>
          <p:cNvSpPr txBox="1">
            <a:spLocks noChangeArrowheads="1"/>
          </p:cNvSpPr>
          <p:nvPr/>
        </p:nvSpPr>
        <p:spPr bwMode="auto">
          <a:xfrm>
            <a:off x="120997" y="1379972"/>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kumimoji="0"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현상</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6" name="Text Box 38">
            <a:extLst>
              <a:ext uri="{FF2B5EF4-FFF2-40B4-BE49-F238E27FC236}">
                <a16:creationId xmlns:a16="http://schemas.microsoft.com/office/drawing/2014/main" id="{759CEDCC-E66F-3166-7502-6F55FA46DF23}"/>
              </a:ext>
            </a:extLst>
          </p:cNvPr>
          <p:cNvSpPr txBox="1">
            <a:spLocks noChangeArrowheads="1"/>
          </p:cNvSpPr>
          <p:nvPr/>
        </p:nvSpPr>
        <p:spPr bwMode="auto">
          <a:xfrm>
            <a:off x="209306" y="1659194"/>
            <a:ext cx="9457208" cy="276999"/>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모노셀을</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UVW-Stage</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에 적재 한 뒤 검사하는 모노 스택 비전의 측정 값인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RY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값이 계단식으로 내려가다가</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다시 올라오는 현상으로 모노셀 적재 불량 발생  </a:t>
            </a:r>
            <a:endParaRPr kumimoji="0" lang="en-US" altLang="ko-KR" sz="120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11" name="직사각형 10">
            <a:extLst>
              <a:ext uri="{FF2B5EF4-FFF2-40B4-BE49-F238E27FC236}">
                <a16:creationId xmlns:a16="http://schemas.microsoft.com/office/drawing/2014/main" id="{D7F168E9-1320-1B92-48DD-0399AE5E90C2}"/>
              </a:ext>
            </a:extLst>
          </p:cNvPr>
          <p:cNvSpPr/>
          <p:nvPr/>
        </p:nvSpPr>
        <p:spPr>
          <a:xfrm>
            <a:off x="4045268" y="1933139"/>
            <a:ext cx="1893816" cy="246221"/>
          </a:xfrm>
          <a:prstGeom prst="rect">
            <a:avLst/>
          </a:prstGeom>
        </p:spPr>
        <p:txBody>
          <a:bodyPr wrap="square">
            <a:spAutoFit/>
          </a:bodyPr>
          <a:lstStyle/>
          <a:p>
            <a:pPr algn="ctr">
              <a:defRPr/>
            </a:pPr>
            <a:r>
              <a:rPr lang="en-US" altLang="ko-KR" sz="1000" dirty="0">
                <a:latin typeface="Arial Narrow" panose="020B0606020202030204" pitchFamily="34" charset="0"/>
                <a:ea typeface="LG스마트체 Regular" panose="020B0600000101010101" pitchFamily="50" charset="-127"/>
                <a:cs typeface="Arial" pitchFamily="34" charset="0"/>
              </a:rPr>
              <a:t>&lt;Spotfire</a:t>
            </a:r>
            <a:r>
              <a:rPr lang="ko-KR" altLang="en-US" sz="1000" dirty="0">
                <a:latin typeface="Arial Narrow" panose="020B0606020202030204" pitchFamily="34" charset="0"/>
                <a:ea typeface="LG스마트체 Regular" panose="020B0600000101010101" pitchFamily="50" charset="-127"/>
                <a:cs typeface="Arial" pitchFamily="34" charset="0"/>
              </a:rPr>
              <a:t> 신규데이터 </a:t>
            </a:r>
            <a:r>
              <a:rPr lang="en-US" altLang="ko-KR" sz="1000" dirty="0">
                <a:latin typeface="Arial Narrow" panose="020B0606020202030204" pitchFamily="34" charset="0"/>
                <a:ea typeface="LG스마트체 Regular" panose="020B0600000101010101" pitchFamily="50" charset="-127"/>
                <a:cs typeface="Arial" pitchFamily="34" charset="0"/>
              </a:rPr>
              <a:t>Trend </a:t>
            </a:r>
            <a:r>
              <a:rPr lang="ko-KR" altLang="en-US" sz="1000" dirty="0">
                <a:latin typeface="Arial Narrow" panose="020B0606020202030204" pitchFamily="34" charset="0"/>
                <a:ea typeface="LG스마트체 Regular" panose="020B0600000101010101" pitchFamily="50" charset="-127"/>
                <a:cs typeface="Arial" pitchFamily="34" charset="0"/>
              </a:rPr>
              <a:t>화면</a:t>
            </a:r>
            <a:r>
              <a:rPr lang="en-US" altLang="ko-KR" sz="1000" dirty="0">
                <a:latin typeface="Arial Narrow" panose="020B0606020202030204" pitchFamily="34" charset="0"/>
                <a:ea typeface="LG스마트체 Regular" panose="020B0600000101010101" pitchFamily="50" charset="-127"/>
                <a:cs typeface="Arial" pitchFamily="34" charset="0"/>
              </a:rPr>
              <a:t>&gt;</a:t>
            </a:r>
          </a:p>
        </p:txBody>
      </p:sp>
      <p:sp>
        <p:nvSpPr>
          <p:cNvPr id="29" name="Text Box 38">
            <a:extLst>
              <a:ext uri="{FF2B5EF4-FFF2-40B4-BE49-F238E27FC236}">
                <a16:creationId xmlns:a16="http://schemas.microsoft.com/office/drawing/2014/main" id="{BE969BBC-317D-6B74-486C-87E5D43BD1C2}"/>
              </a:ext>
            </a:extLst>
          </p:cNvPr>
          <p:cNvSpPr txBox="1">
            <a:spLocks noChangeArrowheads="1"/>
          </p:cNvSpPr>
          <p:nvPr/>
        </p:nvSpPr>
        <p:spPr bwMode="auto">
          <a:xfrm>
            <a:off x="209306" y="4956651"/>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원인 분석</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pic>
        <p:nvPicPr>
          <p:cNvPr id="6" name="그림 5">
            <a:extLst>
              <a:ext uri="{FF2B5EF4-FFF2-40B4-BE49-F238E27FC236}">
                <a16:creationId xmlns:a16="http://schemas.microsoft.com/office/drawing/2014/main" id="{7F86027C-D012-F34C-AE6D-455C3ABE0785}"/>
              </a:ext>
            </a:extLst>
          </p:cNvPr>
          <p:cNvPicPr>
            <a:picLocks noChangeAspect="1"/>
          </p:cNvPicPr>
          <p:nvPr/>
        </p:nvPicPr>
        <p:blipFill>
          <a:blip r:embed="rId2"/>
          <a:stretch>
            <a:fillRect/>
          </a:stretch>
        </p:blipFill>
        <p:spPr>
          <a:xfrm>
            <a:off x="971550" y="2136017"/>
            <a:ext cx="7705725" cy="2739813"/>
          </a:xfrm>
          <a:prstGeom prst="rect">
            <a:avLst/>
          </a:prstGeom>
        </p:spPr>
      </p:pic>
      <p:sp>
        <p:nvSpPr>
          <p:cNvPr id="12" name="Text Box 118">
            <a:extLst>
              <a:ext uri="{FF2B5EF4-FFF2-40B4-BE49-F238E27FC236}">
                <a16:creationId xmlns:a16="http://schemas.microsoft.com/office/drawing/2014/main" id="{F8002A62-D5CF-A71B-4838-C4E82D1A52ED}"/>
              </a:ext>
            </a:extLst>
          </p:cNvPr>
          <p:cNvSpPr txBox="1">
            <a:spLocks noChangeArrowheads="1"/>
          </p:cNvSpPr>
          <p:nvPr/>
        </p:nvSpPr>
        <p:spPr bwMode="auto">
          <a:xfrm>
            <a:off x="2010851" y="2921041"/>
            <a:ext cx="2126187"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900" b="0" dirty="0">
                <a:cs typeface="Calibri" panose="020F0502020204030204" pitchFamily="34" charset="0"/>
              </a:rPr>
              <a:t>1. RY </a:t>
            </a:r>
            <a:r>
              <a:rPr lang="ko-KR" altLang="en-US" sz="900" b="0" dirty="0">
                <a:cs typeface="Calibri" panose="020F0502020204030204" pitchFamily="34" charset="0"/>
              </a:rPr>
              <a:t>값이 계단식으로 내려오는 최초 시점</a:t>
            </a:r>
          </a:p>
        </p:txBody>
      </p:sp>
      <p:cxnSp>
        <p:nvCxnSpPr>
          <p:cNvPr id="10" name="직선 화살표 연결선 9">
            <a:extLst>
              <a:ext uri="{FF2B5EF4-FFF2-40B4-BE49-F238E27FC236}">
                <a16:creationId xmlns:a16="http://schemas.microsoft.com/office/drawing/2014/main" id="{341FD886-6AE4-7476-9131-D3CF98EFBD2C}"/>
              </a:ext>
            </a:extLst>
          </p:cNvPr>
          <p:cNvCxnSpPr>
            <a:cxnSpLocks/>
          </p:cNvCxnSpPr>
          <p:nvPr/>
        </p:nvCxnSpPr>
        <p:spPr>
          <a:xfrm>
            <a:off x="4224337" y="2983163"/>
            <a:ext cx="600075" cy="1991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직선 화살표 연결선 14">
            <a:extLst>
              <a:ext uri="{FF2B5EF4-FFF2-40B4-BE49-F238E27FC236}">
                <a16:creationId xmlns:a16="http://schemas.microsoft.com/office/drawing/2014/main" id="{66F941DB-29E7-5EF3-631D-20AF30585165}"/>
              </a:ext>
            </a:extLst>
          </p:cNvPr>
          <p:cNvCxnSpPr>
            <a:cxnSpLocks/>
          </p:cNvCxnSpPr>
          <p:nvPr/>
        </p:nvCxnSpPr>
        <p:spPr>
          <a:xfrm flipV="1">
            <a:off x="4824412" y="2921041"/>
            <a:ext cx="862012" cy="2505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 Box 118">
            <a:extLst>
              <a:ext uri="{FF2B5EF4-FFF2-40B4-BE49-F238E27FC236}">
                <a16:creationId xmlns:a16="http://schemas.microsoft.com/office/drawing/2014/main" id="{0675DC6C-F490-6B95-812C-26C6EAB42C04}"/>
              </a:ext>
            </a:extLst>
          </p:cNvPr>
          <p:cNvSpPr txBox="1">
            <a:spLocks noChangeArrowheads="1"/>
          </p:cNvSpPr>
          <p:nvPr/>
        </p:nvSpPr>
        <p:spPr bwMode="auto">
          <a:xfrm>
            <a:off x="7954451" y="4883287"/>
            <a:ext cx="865699" cy="208401"/>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900" b="0">
                <a:cs typeface="Calibri" panose="020F0502020204030204" pitchFamily="34" charset="0"/>
              </a:rPr>
              <a:t>Cell ID + </a:t>
            </a:r>
            <a:r>
              <a:rPr lang="ko-KR" altLang="en-US" sz="900" b="0" dirty="0">
                <a:cs typeface="Calibri" panose="020F0502020204030204" pitchFamily="34" charset="0"/>
              </a:rPr>
              <a:t>시간</a:t>
            </a:r>
          </a:p>
        </p:txBody>
      </p:sp>
      <p:sp>
        <p:nvSpPr>
          <p:cNvPr id="23" name="Text Box 118">
            <a:extLst>
              <a:ext uri="{FF2B5EF4-FFF2-40B4-BE49-F238E27FC236}">
                <a16:creationId xmlns:a16="http://schemas.microsoft.com/office/drawing/2014/main" id="{A0D5F001-21D3-5256-10B3-195C5B70CD00}"/>
              </a:ext>
            </a:extLst>
          </p:cNvPr>
          <p:cNvSpPr txBox="1">
            <a:spLocks noChangeArrowheads="1"/>
          </p:cNvSpPr>
          <p:nvPr/>
        </p:nvSpPr>
        <p:spPr bwMode="auto">
          <a:xfrm>
            <a:off x="120997" y="2179360"/>
            <a:ext cx="865699" cy="329184"/>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ko-KR" altLang="en-US" sz="900" b="0" dirty="0">
                <a:cs typeface="Calibri" panose="020F0502020204030204" pitchFamily="34" charset="0"/>
              </a:rPr>
              <a:t>신규데이터</a:t>
            </a:r>
            <a:endParaRPr lang="en-US" altLang="ko-KR" sz="900" b="0" dirty="0">
              <a:cs typeface="Calibri" panose="020F0502020204030204" pitchFamily="34" charset="0"/>
            </a:endParaRPr>
          </a:p>
          <a:p>
            <a:pPr lvl="0">
              <a:lnSpc>
                <a:spcPts val="1000"/>
              </a:lnSpc>
              <a:buNone/>
              <a:tabLst>
                <a:tab pos="3051175" algn="l"/>
              </a:tabLst>
              <a:defRPr/>
            </a:pPr>
            <a:r>
              <a:rPr lang="ko-KR" altLang="en-US" sz="900" b="0" dirty="0">
                <a:cs typeface="Calibri" panose="020F0502020204030204" pitchFamily="34" charset="0"/>
              </a:rPr>
              <a:t>항목 별 측정 값</a:t>
            </a:r>
            <a:endParaRPr lang="en-US" altLang="ko-KR" sz="900" b="0" dirty="0">
              <a:cs typeface="Calibri" panose="020F0502020204030204" pitchFamily="34" charset="0"/>
            </a:endParaRPr>
          </a:p>
        </p:txBody>
      </p:sp>
      <p:sp>
        <p:nvSpPr>
          <p:cNvPr id="25" name="Text Box 38">
            <a:extLst>
              <a:ext uri="{FF2B5EF4-FFF2-40B4-BE49-F238E27FC236}">
                <a16:creationId xmlns:a16="http://schemas.microsoft.com/office/drawing/2014/main" id="{92304EDA-C8BF-F169-B2C4-CC8FDF26B4FC}"/>
              </a:ext>
            </a:extLst>
          </p:cNvPr>
          <p:cNvSpPr txBox="1">
            <a:spLocks noChangeArrowheads="1"/>
          </p:cNvSpPr>
          <p:nvPr/>
        </p:nvSpPr>
        <p:spPr bwMode="auto">
          <a:xfrm>
            <a:off x="217815" y="5936617"/>
            <a:ext cx="9464278" cy="646331"/>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모노셀은</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모노셀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Align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비전 검사 → 모노셀 적재 → 모노셀 적재 비전 검사</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순서로 제어되며</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제어 입력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보정값은</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3</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가지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모노셀</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Align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비전 검사의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보정값</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자동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보정값</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제어기의 옵셋</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피치 옵셋이라고 칭함</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이고</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제어 출력 값은</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UVW-Stage</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의</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Actual Position X1, Y1, Y2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축 값 입니다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p>
        </p:txBody>
      </p:sp>
      <p:sp>
        <p:nvSpPr>
          <p:cNvPr id="26" name="Text Box 38">
            <a:extLst>
              <a:ext uri="{FF2B5EF4-FFF2-40B4-BE49-F238E27FC236}">
                <a16:creationId xmlns:a16="http://schemas.microsoft.com/office/drawing/2014/main" id="{91140240-1C4B-AF36-9F5E-D66B691ABAC2}"/>
              </a:ext>
            </a:extLst>
          </p:cNvPr>
          <p:cNvSpPr txBox="1">
            <a:spLocks noChangeArrowheads="1"/>
          </p:cNvSpPr>
          <p:nvPr/>
        </p:nvSpPr>
        <p:spPr bwMode="auto">
          <a:xfrm>
            <a:off x="209306" y="5699467"/>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kumimoji="0"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rPr>
              <a:t> </a:t>
            </a:r>
            <a:r>
              <a:rPr lang="en-US" altLang="ko-KR" sz="1200" b="1" dirty="0">
                <a:solidFill>
                  <a:prstClr val="black"/>
                </a:solidFill>
                <a:latin typeface="Arial Narrow" panose="020B0606020202030204" pitchFamily="34" charset="0"/>
                <a:ea typeface="LG스마트체 Regular" panose="020B0600000101010101" pitchFamily="50" charset="-127"/>
                <a:cs typeface="Arial" charset="0"/>
              </a:rPr>
              <a:t>D-STK </a:t>
            </a: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제어 시퀀스 요약</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sp>
        <p:nvSpPr>
          <p:cNvPr id="5" name="실행 단추: 홈으로 이동 4">
            <a:hlinkClick r:id="rId3" action="ppaction://hlinksldjump" highlightClick="1"/>
            <a:extLst>
              <a:ext uri="{FF2B5EF4-FFF2-40B4-BE49-F238E27FC236}">
                <a16:creationId xmlns:a16="http://schemas.microsoft.com/office/drawing/2014/main" id="{73D78368-B633-2A1B-43C5-2FF05FE03F09}"/>
              </a:ext>
            </a:extLst>
          </p:cNvPr>
          <p:cNvSpPr/>
          <p:nvPr/>
        </p:nvSpPr>
        <p:spPr>
          <a:xfrm>
            <a:off x="9369067" y="166057"/>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ptos" panose="0211000402020202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465C986E-422D-CDD7-A36E-1244F92B8CA9}"/>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4 / 7</a:t>
            </a:r>
          </a:p>
        </p:txBody>
      </p:sp>
      <p:sp>
        <p:nvSpPr>
          <p:cNvPr id="7" name="제목 1">
            <a:extLst>
              <a:ext uri="{FF2B5EF4-FFF2-40B4-BE49-F238E27FC236}">
                <a16:creationId xmlns:a16="http://schemas.microsoft.com/office/drawing/2014/main" id="{1DAEACBA-7CE0-6A9A-D2BE-F405090313DB}"/>
              </a:ext>
            </a:extLst>
          </p:cNvPr>
          <p:cNvSpPr txBox="1">
            <a:spLocks/>
          </p:cNvSpPr>
          <p:nvPr/>
        </p:nvSpPr>
        <p:spPr>
          <a:xfrm>
            <a:off x="123673" y="166057"/>
            <a:ext cx="3249307" cy="36543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D-STK </a:t>
            </a:r>
            <a:r>
              <a:rPr kumimoji="0" lang="ko-KR" altLang="en-US"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계단식 적재 현상</a:t>
            </a:r>
            <a:r>
              <a:rPr kumimoji="0" lang="en-US" altLang="ko-KR" sz="18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(1/2)</a:t>
            </a:r>
          </a:p>
        </p:txBody>
      </p:sp>
      <p:sp>
        <p:nvSpPr>
          <p:cNvPr id="8" name="TextBox 7">
            <a:extLst>
              <a:ext uri="{FF2B5EF4-FFF2-40B4-BE49-F238E27FC236}">
                <a16:creationId xmlns:a16="http://schemas.microsoft.com/office/drawing/2014/main" id="{766D37F7-B842-4C08-FC45-914469FAB355}"/>
              </a:ext>
            </a:extLst>
          </p:cNvPr>
          <p:cNvSpPr txBox="1"/>
          <p:nvPr/>
        </p:nvSpPr>
        <p:spPr>
          <a:xfrm>
            <a:off x="179432" y="649640"/>
            <a:ext cx="9663067" cy="518860"/>
          </a:xfrm>
          <a:prstGeom prst="rect">
            <a:avLst/>
          </a:prstGeom>
          <a:noFill/>
        </p:spPr>
        <p:txBody>
          <a:bodyPr wrap="square" rtlCol="0">
            <a:spAutoFit/>
          </a:bodyPr>
          <a:lstStyle/>
          <a:p>
            <a:pPr marL="0" marR="0" lvl="0" indent="0" algn="l" defTabSz="447830" rtl="0" eaLnBrk="0" fontAlgn="base" latinLnBrk="0" hangingPunct="0">
              <a:lnSpc>
                <a:spcPct val="100000"/>
              </a:lnSpc>
              <a:spcBef>
                <a:spcPct val="0"/>
              </a:spcBef>
              <a:spcAft>
                <a:spcPct val="0"/>
              </a:spcAft>
              <a:buClrTx/>
              <a:buSzTx/>
              <a:buFontTx/>
              <a:buNone/>
              <a:tabLst/>
              <a:defRPr/>
            </a:pP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MI</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랜싱</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에서 발생 중인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스태킹</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계단식 적재 현상에 대해 원인 파악 중 입니다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br>
              <a:rPr kumimoji="1" lang="en-US" altLang="ko-KR" sz="1400" b="1" dirty="0">
                <a:solidFill>
                  <a:prstClr val="black"/>
                </a:solidFill>
                <a:latin typeface="LG스마트체 Regular" panose="020B0600000101010101" pitchFamily="50" charset="-127"/>
                <a:ea typeface="LG스마트체 Regular" panose="020B0600000101010101" pitchFamily="50" charset="-127"/>
              </a:rPr>
            </a:b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모노 셀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벤딩에</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의한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얼라인</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비전 </a:t>
            </a:r>
            <a:r>
              <a:rPr kumimoji="1" lang="ko-KR" altLang="en-US" sz="1400" b="1" dirty="0" err="1">
                <a:solidFill>
                  <a:prstClr val="black"/>
                </a:solidFill>
                <a:latin typeface="LG스마트체 Regular" panose="020B0600000101010101" pitchFamily="50" charset="-127"/>
                <a:ea typeface="LG스마트체 Regular" panose="020B0600000101010101" pitchFamily="50" charset="-127"/>
              </a:rPr>
              <a:t>보정값</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 산출 오류로 추정하고 있으며</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400" b="1" dirty="0">
                <a:solidFill>
                  <a:prstClr val="black"/>
                </a:solidFill>
                <a:latin typeface="LG스마트체 Regular" panose="020B0600000101010101" pitchFamily="50" charset="-127"/>
                <a:ea typeface="LG스마트체 Regular" panose="020B0600000101010101" pitchFamily="50" charset="-127"/>
              </a:rPr>
              <a:t>정확한 원인 분석을 위해 지속 확인 중 입니다</a:t>
            </a:r>
            <a:r>
              <a:rPr kumimoji="1" lang="en-US" altLang="ko-KR" sz="1400" b="1" dirty="0">
                <a:solidFill>
                  <a:prstClr val="black"/>
                </a:solidFill>
                <a:latin typeface="LG스마트체 Regular" panose="020B0600000101010101" pitchFamily="50" charset="-127"/>
                <a:ea typeface="LG스마트체 Regular" panose="020B0600000101010101" pitchFamily="50" charset="-127"/>
              </a:rPr>
              <a:t>.</a:t>
            </a:r>
          </a:p>
        </p:txBody>
      </p:sp>
    </p:spTree>
    <p:extLst>
      <p:ext uri="{BB962C8B-B14F-4D97-AF65-F5344CB8AC3E}">
        <p14:creationId xmlns:p14="http://schemas.microsoft.com/office/powerpoint/2010/main" val="4043850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249992-2F95-461C-807F-0455C9BB3989}"/>
              </a:ext>
            </a:extLst>
          </p:cNvPr>
          <p:cNvSpPr txBox="1"/>
          <p:nvPr/>
        </p:nvSpPr>
        <p:spPr>
          <a:xfrm>
            <a:off x="6938386" y="180184"/>
            <a:ext cx="2479727" cy="262572"/>
          </a:xfrm>
          <a:prstGeom prst="rect">
            <a:avLst/>
          </a:prstGeom>
          <a:noFill/>
        </p:spPr>
        <p:txBody>
          <a:bodyPr wrap="square" rtlCol="0" anchor="ctr">
            <a:spAutoFit/>
          </a:bodyPr>
          <a:lstStyle/>
          <a:p>
            <a:pPr algn="r" defTabSz="914400" fontAlgn="base" latinLnBrk="1">
              <a:lnSpc>
                <a:spcPct val="120000"/>
              </a:lnSpc>
              <a:spcBef>
                <a:spcPct val="0"/>
              </a:spcBef>
              <a:spcAft>
                <a:spcPct val="0"/>
              </a:spcAft>
              <a:defRPr/>
            </a:pPr>
            <a:r>
              <a:rPr kumimoji="1" lang="en-US" altLang="ko-KR" sz="1000" b="1" dirty="0">
                <a:solidFill>
                  <a:prstClr val="black"/>
                </a:solidFill>
                <a:latin typeface="Arial Narrow" panose="020B0606020202030204" pitchFamily="34" charset="0"/>
                <a:ea typeface="LG스마트체 Regular" panose="020B0600000101010101" pitchFamily="50" charset="-127"/>
              </a:rPr>
              <a:t>CDO.</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제조</a:t>
            </a:r>
            <a:r>
              <a:rPr kumimoji="1" lang="en-US" altLang="ko-KR" sz="1000" b="1" dirty="0">
                <a:solidFill>
                  <a:prstClr val="black"/>
                </a:solidFill>
                <a:latin typeface="Arial Narrow" panose="020B0606020202030204" pitchFamily="34" charset="0"/>
                <a:ea typeface="LG스마트체 Regular" panose="020B0600000101010101" pitchFamily="50" charset="-127"/>
              </a:rPr>
              <a:t>DX</a:t>
            </a:r>
            <a:r>
              <a:rPr kumimoji="1" lang="ko-KR" altLang="en-US" sz="1000" b="1" dirty="0">
                <a:solidFill>
                  <a:prstClr val="black"/>
                </a:solidFill>
                <a:latin typeface="Arial Narrow" panose="020B0606020202030204" pitchFamily="34" charset="0"/>
                <a:ea typeface="LG스마트체 Regular" panose="020B0600000101010101" pitchFamily="50" charset="-127"/>
              </a:rPr>
              <a:t>솔루션</a:t>
            </a:r>
            <a:r>
              <a:rPr kumimoji="1" lang="en-US" altLang="ko-KR" sz="1000" b="1" dirty="0">
                <a:solidFill>
                  <a:prstClr val="black"/>
                </a:solidFill>
                <a:latin typeface="Arial Narrow" panose="020B0606020202030204" pitchFamily="34" charset="0"/>
                <a:ea typeface="LG스마트체 Regular" panose="020B0600000101010101" pitchFamily="50" charset="-127"/>
              </a:rPr>
              <a:t>.</a:t>
            </a:r>
            <a:r>
              <a:rPr kumimoji="1" lang="ko-KR" altLang="en-US" sz="1000" b="1" dirty="0">
                <a:solidFill>
                  <a:prstClr val="black"/>
                </a:solidFill>
                <a:latin typeface="Arial Narrow" panose="020B0606020202030204" pitchFamily="34" charset="0"/>
                <a:ea typeface="LG스마트체 Regular" panose="020B0600000101010101" pitchFamily="50" charset="-127"/>
              </a:rPr>
              <a:t>추적솔루션개발팀</a:t>
            </a:r>
          </a:p>
        </p:txBody>
      </p:sp>
      <p:sp>
        <p:nvSpPr>
          <p:cNvPr id="25" name="Text Box 38">
            <a:extLst>
              <a:ext uri="{FF2B5EF4-FFF2-40B4-BE49-F238E27FC236}">
                <a16:creationId xmlns:a16="http://schemas.microsoft.com/office/drawing/2014/main" id="{92304EDA-C8BF-F169-B2C4-CC8FDF26B4FC}"/>
              </a:ext>
            </a:extLst>
          </p:cNvPr>
          <p:cNvSpPr txBox="1">
            <a:spLocks noChangeArrowheads="1"/>
          </p:cNvSpPr>
          <p:nvPr/>
        </p:nvSpPr>
        <p:spPr bwMode="auto">
          <a:xfrm>
            <a:off x="151140" y="937741"/>
            <a:ext cx="9754860" cy="1482457"/>
          </a:xfrm>
          <a:prstGeom prst="rect">
            <a:avLst/>
          </a:prstGeom>
          <a:noFill/>
          <a:ln w="9525" algn="ctr">
            <a:noFill/>
            <a:miter lim="800000"/>
            <a:headEnd/>
            <a:tailEnd/>
          </a:ln>
        </p:spPr>
        <p:txBody>
          <a:bodyPr wrap="square" anchor="t" anchorCtr="0">
            <a:spAutoFit/>
          </a:bodyPr>
          <a:lstStyle/>
          <a:p>
            <a:pPr marL="85725" marR="0" lvl="0" indent="-85725" algn="l" defTabSz="914400" rtl="0" eaLnBrk="1" fontAlgn="auto" latinLnBrk="0" hangingPunct="1">
              <a:lnSpc>
                <a:spcPct val="100000"/>
              </a:lnSpc>
              <a:spcBef>
                <a:spcPts val="200"/>
              </a:spcBef>
              <a:spcAft>
                <a:spcPts val="0"/>
              </a:spcAft>
              <a:buClrTx/>
              <a:buSzPct val="85000"/>
              <a:buFont typeface="Wingdings" panose="05000000000000000000" pitchFamily="2" charset="2"/>
              <a:buChar char="§"/>
              <a:tabLst/>
              <a:defRPr/>
            </a:pP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제어 데이터 확인 결과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RY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값이 내려가는 이유는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UVW-Stage Y1,2</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축이 실제로 내려 갔기 때문이고 이는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Align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비전의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보정값</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기인 입니다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br>
              <a:rPr lang="en-US" altLang="ko-KR" sz="300" dirty="0">
                <a:solidFill>
                  <a:srgbClr val="000000"/>
                </a:solidFill>
                <a:latin typeface="Arial Narrow" panose="020B0606020202030204" pitchFamily="34" charset="0"/>
                <a:ea typeface="LG스마트체 Regular" panose="020B0600000101010101" pitchFamily="50" charset="-127"/>
                <a:cs typeface="Arial" pitchFamily="34" charset="0"/>
              </a:rPr>
            </a:br>
            <a:endParaRPr lang="en-US" altLang="ko-KR" sz="300" dirty="0">
              <a:solidFill>
                <a:srgbClr val="000000"/>
              </a:solidFill>
              <a:latin typeface="Arial Narrow" panose="020B0606020202030204" pitchFamily="34" charset="0"/>
              <a:ea typeface="LG스마트체 Regular" panose="020B0600000101010101" pitchFamily="50" charset="-127"/>
              <a:cs typeface="Arial" pitchFamily="34" charset="0"/>
            </a:endParaRPr>
          </a:p>
          <a:p>
            <a:pPr marR="0" lvl="0" algn="l" defTabSz="914400" rtl="0" eaLnBrk="1" fontAlgn="auto" latinLnBrk="0" hangingPunct="1">
              <a:lnSpc>
                <a:spcPct val="100000"/>
              </a:lnSpc>
              <a:spcBef>
                <a:spcPts val="200"/>
              </a:spcBef>
              <a:spcAft>
                <a:spcPts val="0"/>
              </a:spcAft>
              <a:buClrTx/>
              <a:buSzPct val="85000"/>
              <a:tabLst/>
              <a:defRPr/>
            </a:pP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Align</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비전이 보정 값을 점차 내린 이유를 파악하기 위해 비전 오측 여부를 검토하였으나 확인되지 않았으며</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연속된 이미지를 확인한 결과</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벤딩으로</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의심 되는 형상과</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이미지 상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Y</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축이 내려 갔습니다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p>
          <a:p>
            <a:pPr marR="0" lvl="0" algn="l" defTabSz="914400" rtl="0" eaLnBrk="1" fontAlgn="auto" latinLnBrk="0" hangingPunct="1">
              <a:lnSpc>
                <a:spcPct val="100000"/>
              </a:lnSpc>
              <a:spcBef>
                <a:spcPts val="200"/>
              </a:spcBef>
              <a:spcAft>
                <a:spcPts val="0"/>
              </a:spcAft>
              <a:buClrTx/>
              <a:buSzPct val="85000"/>
              <a:tabLst/>
              <a:defRPr/>
            </a:pP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스태킹</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진입 상부 컨베이어에서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진공흡착을</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모노셀의</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중앙 부분만 잡는 것으로 현장 확인 되었고</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이런 경우 음</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양극 탭 부가 기울어지는 것이 아닌지</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추정하고 있습니다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b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b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결론적으로</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모노셀이</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err="1">
                <a:solidFill>
                  <a:srgbClr val="000000"/>
                </a:solidFill>
                <a:latin typeface="Arial Narrow" panose="020B0606020202030204" pitchFamily="34" charset="0"/>
                <a:ea typeface="LG스마트체 Regular" panose="020B0600000101010101" pitchFamily="50" charset="-127"/>
                <a:cs typeface="Arial" pitchFamily="34" charset="0"/>
              </a:rPr>
              <a:t>벤딩된</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상태로 측정 되었으나</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 </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적재 후 완화되면서 </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UVW Stage</a:t>
            </a:r>
            <a:r>
              <a:rPr lang="ko-KR" altLang="en-US" sz="1200" dirty="0">
                <a:solidFill>
                  <a:srgbClr val="000000"/>
                </a:solidFill>
                <a:latin typeface="Arial Narrow" panose="020B0606020202030204" pitchFamily="34" charset="0"/>
                <a:ea typeface="LG스마트체 Regular" panose="020B0600000101010101" pitchFamily="50" charset="-127"/>
                <a:cs typeface="Arial" pitchFamily="34" charset="0"/>
              </a:rPr>
              <a:t> 보정 동작이 오히려 악영향을 미친 것으로 추정되며 추가 분석 중입니다</a:t>
            </a:r>
            <a:r>
              <a:rPr lang="en-US" altLang="ko-KR" sz="1200" dirty="0">
                <a:solidFill>
                  <a:srgbClr val="000000"/>
                </a:solidFill>
                <a:latin typeface="Arial Narrow" panose="020B0606020202030204" pitchFamily="34" charset="0"/>
                <a:ea typeface="LG스마트체 Regular" panose="020B0600000101010101" pitchFamily="50" charset="-127"/>
                <a:cs typeface="Arial" pitchFamily="34" charset="0"/>
              </a:rPr>
              <a:t>.</a:t>
            </a:r>
          </a:p>
        </p:txBody>
      </p:sp>
      <p:sp>
        <p:nvSpPr>
          <p:cNvPr id="26" name="Text Box 38">
            <a:extLst>
              <a:ext uri="{FF2B5EF4-FFF2-40B4-BE49-F238E27FC236}">
                <a16:creationId xmlns:a16="http://schemas.microsoft.com/office/drawing/2014/main" id="{91140240-1C4B-AF36-9F5E-D66B691ABAC2}"/>
              </a:ext>
            </a:extLst>
          </p:cNvPr>
          <p:cNvSpPr txBox="1">
            <a:spLocks noChangeArrowheads="1"/>
          </p:cNvSpPr>
          <p:nvPr/>
        </p:nvSpPr>
        <p:spPr bwMode="auto">
          <a:xfrm>
            <a:off x="209306" y="679792"/>
            <a:ext cx="2011733" cy="276999"/>
          </a:xfrm>
          <a:prstGeom prst="rect">
            <a:avLst/>
          </a:prstGeom>
          <a:noFill/>
          <a:ln w="9525" algn="ctr">
            <a:noFill/>
            <a:miter lim="800000"/>
            <a:headEnd/>
            <a:tailEnd/>
          </a:ln>
        </p:spPr>
        <p:txBody>
          <a:bodyPr wrap="square" anchor="t" anchorCtr="0">
            <a:spAutoFit/>
          </a:bodyPr>
          <a:lstStyle/>
          <a:p>
            <a:pPr marL="179388" marR="0" lvl="0" indent="-179388" algn="l" defTabSz="914400" rtl="0" eaLnBrk="1" fontAlgn="auto" latinLnBrk="0" hangingPunct="1">
              <a:lnSpc>
                <a:spcPct val="100000"/>
              </a:lnSpc>
              <a:spcBef>
                <a:spcPts val="200"/>
              </a:spcBef>
              <a:spcAft>
                <a:spcPts val="0"/>
              </a:spcAft>
              <a:buClrTx/>
              <a:buSzPct val="85000"/>
              <a:buFont typeface="Wingdings" pitchFamily="2" charset="2"/>
              <a:buChar char="q"/>
              <a:tabLst/>
              <a:defRPr/>
            </a:pP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추정 원인</a:t>
            </a:r>
            <a:r>
              <a:rPr lang="en-US" altLang="ko-KR" sz="1200" b="1" dirty="0">
                <a:solidFill>
                  <a:prstClr val="black"/>
                </a:solidFill>
                <a:latin typeface="Arial Narrow" panose="020B0606020202030204" pitchFamily="34" charset="0"/>
                <a:ea typeface="LG스마트체 Regular" panose="020B0600000101010101" pitchFamily="50" charset="-127"/>
                <a:cs typeface="Arial" charset="0"/>
              </a:rPr>
              <a:t>(</a:t>
            </a:r>
            <a:r>
              <a:rPr lang="ko-KR" altLang="en-US" sz="1200" b="1" dirty="0">
                <a:solidFill>
                  <a:prstClr val="black"/>
                </a:solidFill>
                <a:latin typeface="Arial Narrow" panose="020B0606020202030204" pitchFamily="34" charset="0"/>
                <a:ea typeface="LG스마트체 Regular" panose="020B0600000101010101" pitchFamily="50" charset="-127"/>
                <a:cs typeface="Arial" charset="0"/>
              </a:rPr>
              <a:t>지속 확인 중</a:t>
            </a:r>
            <a:r>
              <a:rPr lang="en-US" altLang="ko-KR" sz="1200" b="1" dirty="0">
                <a:solidFill>
                  <a:prstClr val="black"/>
                </a:solidFill>
                <a:latin typeface="Arial Narrow" panose="020B0606020202030204" pitchFamily="34" charset="0"/>
                <a:ea typeface="LG스마트체 Regular" panose="020B0600000101010101" pitchFamily="50" charset="-127"/>
                <a:cs typeface="Arial" charset="0"/>
              </a:rPr>
              <a:t>)</a:t>
            </a:r>
            <a:endParaRPr kumimoji="0" lang="en-US" altLang="ko-KR" sz="9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Arial" charset="0"/>
            </a:endParaRPr>
          </a:p>
        </p:txBody>
      </p:sp>
      <p:pic>
        <p:nvPicPr>
          <p:cNvPr id="7" name="그림 6">
            <a:extLst>
              <a:ext uri="{FF2B5EF4-FFF2-40B4-BE49-F238E27FC236}">
                <a16:creationId xmlns:a16="http://schemas.microsoft.com/office/drawing/2014/main" id="{B76A860C-DAEE-25E8-7017-D273F89F8159}"/>
              </a:ext>
            </a:extLst>
          </p:cNvPr>
          <p:cNvPicPr>
            <a:picLocks noChangeAspect="1"/>
          </p:cNvPicPr>
          <p:nvPr/>
        </p:nvPicPr>
        <p:blipFill>
          <a:blip r:embed="rId2"/>
          <a:stretch>
            <a:fillRect/>
          </a:stretch>
        </p:blipFill>
        <p:spPr>
          <a:xfrm>
            <a:off x="256931" y="2909297"/>
            <a:ext cx="4395787" cy="3315418"/>
          </a:xfrm>
          <a:prstGeom prst="rect">
            <a:avLst/>
          </a:prstGeom>
        </p:spPr>
      </p:pic>
      <p:sp>
        <p:nvSpPr>
          <p:cNvPr id="8" name="Text Box 118">
            <a:extLst>
              <a:ext uri="{FF2B5EF4-FFF2-40B4-BE49-F238E27FC236}">
                <a16:creationId xmlns:a16="http://schemas.microsoft.com/office/drawing/2014/main" id="{CA0A639F-78FD-EAF1-7280-35637F3B7FC1}"/>
              </a:ext>
            </a:extLst>
          </p:cNvPr>
          <p:cNvSpPr txBox="1">
            <a:spLocks noChangeArrowheads="1"/>
          </p:cNvSpPr>
          <p:nvPr/>
        </p:nvSpPr>
        <p:spPr bwMode="auto">
          <a:xfrm>
            <a:off x="75224" y="3202921"/>
            <a:ext cx="600075" cy="199163"/>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nSpc>
                <a:spcPts val="1000"/>
              </a:lnSpc>
              <a:buNone/>
              <a:tabLst>
                <a:tab pos="3051175" algn="l"/>
              </a:tabLst>
              <a:defRPr/>
            </a:pPr>
            <a:r>
              <a:rPr lang="en-US" altLang="ko-KR" sz="900" b="0" dirty="0">
                <a:cs typeface="Calibri" panose="020F0502020204030204" pitchFamily="34" charset="0"/>
              </a:rPr>
              <a:t>Stack No </a:t>
            </a:r>
            <a:endParaRPr lang="ko-KR" altLang="en-US" sz="900" b="0" dirty="0">
              <a:cs typeface="Calibri" panose="020F0502020204030204" pitchFamily="34" charset="0"/>
            </a:endParaRPr>
          </a:p>
        </p:txBody>
      </p:sp>
      <p:cxnSp>
        <p:nvCxnSpPr>
          <p:cNvPr id="9" name="직선 화살표 연결선 8">
            <a:extLst>
              <a:ext uri="{FF2B5EF4-FFF2-40B4-BE49-F238E27FC236}">
                <a16:creationId xmlns:a16="http://schemas.microsoft.com/office/drawing/2014/main" id="{99314DD0-5C75-F25D-60EC-B9BFAACD6E79}"/>
              </a:ext>
            </a:extLst>
          </p:cNvPr>
          <p:cNvCxnSpPr>
            <a:cxnSpLocks/>
          </p:cNvCxnSpPr>
          <p:nvPr/>
        </p:nvCxnSpPr>
        <p:spPr>
          <a:xfrm>
            <a:off x="1595409" y="3773936"/>
            <a:ext cx="704850" cy="3703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 Box 118">
            <a:extLst>
              <a:ext uri="{FF2B5EF4-FFF2-40B4-BE49-F238E27FC236}">
                <a16:creationId xmlns:a16="http://schemas.microsoft.com/office/drawing/2014/main" id="{018919BF-473C-767C-3AD7-6E38426FF77C}"/>
              </a:ext>
            </a:extLst>
          </p:cNvPr>
          <p:cNvSpPr txBox="1">
            <a:spLocks noChangeArrowheads="1"/>
          </p:cNvSpPr>
          <p:nvPr/>
        </p:nvSpPr>
        <p:spPr bwMode="auto">
          <a:xfrm>
            <a:off x="3880949" y="6224715"/>
            <a:ext cx="771769" cy="20094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a:cs typeface="Calibri" panose="020F0502020204030204" pitchFamily="34" charset="0"/>
              </a:rPr>
              <a:t>Cell ID+</a:t>
            </a:r>
            <a:r>
              <a:rPr lang="ko-KR" altLang="en-US" sz="900" b="0" dirty="0">
                <a:cs typeface="Calibri" panose="020F0502020204030204" pitchFamily="34" charset="0"/>
              </a:rPr>
              <a:t>시간</a:t>
            </a:r>
            <a:endParaRPr lang="en-US" altLang="ko-KR" sz="900" b="0" dirty="0">
              <a:cs typeface="Calibri" panose="020F0502020204030204" pitchFamily="34" charset="0"/>
            </a:endParaRPr>
          </a:p>
        </p:txBody>
      </p:sp>
      <p:sp>
        <p:nvSpPr>
          <p:cNvPr id="24" name="Text Box 118">
            <a:extLst>
              <a:ext uri="{FF2B5EF4-FFF2-40B4-BE49-F238E27FC236}">
                <a16:creationId xmlns:a16="http://schemas.microsoft.com/office/drawing/2014/main" id="{63E41672-6C1A-92AD-5147-705A11864F7D}"/>
              </a:ext>
            </a:extLst>
          </p:cNvPr>
          <p:cNvSpPr txBox="1">
            <a:spLocks noChangeArrowheads="1"/>
          </p:cNvSpPr>
          <p:nvPr/>
        </p:nvSpPr>
        <p:spPr bwMode="auto">
          <a:xfrm>
            <a:off x="2762281" y="3971925"/>
            <a:ext cx="1090612"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1. Align </a:t>
            </a:r>
            <a:r>
              <a:rPr lang="ko-KR" altLang="en-US" sz="900" b="0" dirty="0">
                <a:cs typeface="Calibri" panose="020F0502020204030204" pitchFamily="34" charset="0"/>
              </a:rPr>
              <a:t>보정 </a:t>
            </a:r>
            <a:r>
              <a:rPr lang="ko-KR" altLang="en-US" sz="900" b="0" dirty="0" err="1">
                <a:cs typeface="Calibri" panose="020F0502020204030204" pitchFamily="34" charset="0"/>
              </a:rPr>
              <a:t>내려감</a:t>
            </a:r>
            <a:endParaRPr lang="en-US" altLang="ko-KR" sz="900" b="0" dirty="0">
              <a:cs typeface="Calibri" panose="020F0502020204030204" pitchFamily="34" charset="0"/>
            </a:endParaRPr>
          </a:p>
        </p:txBody>
      </p:sp>
      <p:sp>
        <p:nvSpPr>
          <p:cNvPr id="27" name="Text Box 118">
            <a:extLst>
              <a:ext uri="{FF2B5EF4-FFF2-40B4-BE49-F238E27FC236}">
                <a16:creationId xmlns:a16="http://schemas.microsoft.com/office/drawing/2014/main" id="{BC591E57-ECFF-DB00-B6A6-685253494634}"/>
              </a:ext>
            </a:extLst>
          </p:cNvPr>
          <p:cNvSpPr txBox="1">
            <a:spLocks noChangeArrowheads="1"/>
          </p:cNvSpPr>
          <p:nvPr/>
        </p:nvSpPr>
        <p:spPr bwMode="auto">
          <a:xfrm>
            <a:off x="75224" y="4354117"/>
            <a:ext cx="695325" cy="329184"/>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UVW-Act. </a:t>
            </a:r>
          </a:p>
          <a:p>
            <a:pPr lvl="0" algn="ctr">
              <a:lnSpc>
                <a:spcPts val="1000"/>
              </a:lnSpc>
              <a:buNone/>
              <a:tabLst>
                <a:tab pos="3051175" algn="l"/>
              </a:tabLst>
              <a:defRPr/>
            </a:pPr>
            <a:r>
              <a:rPr lang="en-US" altLang="ko-KR" sz="900" b="0" dirty="0">
                <a:cs typeface="Calibri" panose="020F0502020204030204" pitchFamily="34" charset="0"/>
              </a:rPr>
              <a:t>Pos Y1(mm)</a:t>
            </a:r>
            <a:endParaRPr lang="ko-KR" altLang="en-US" sz="900" b="0" dirty="0">
              <a:cs typeface="Calibri" panose="020F0502020204030204" pitchFamily="34" charset="0"/>
            </a:endParaRPr>
          </a:p>
        </p:txBody>
      </p:sp>
      <p:sp>
        <p:nvSpPr>
          <p:cNvPr id="28" name="Text Box 118">
            <a:extLst>
              <a:ext uri="{FF2B5EF4-FFF2-40B4-BE49-F238E27FC236}">
                <a16:creationId xmlns:a16="http://schemas.microsoft.com/office/drawing/2014/main" id="{34D6FCCD-CDF7-9B10-984C-BFAA79C58D88}"/>
              </a:ext>
            </a:extLst>
          </p:cNvPr>
          <p:cNvSpPr txBox="1">
            <a:spLocks noChangeArrowheads="1"/>
          </p:cNvSpPr>
          <p:nvPr/>
        </p:nvSpPr>
        <p:spPr bwMode="auto">
          <a:xfrm>
            <a:off x="75224" y="5796434"/>
            <a:ext cx="695325" cy="457424"/>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Mono Stack</a:t>
            </a:r>
          </a:p>
          <a:p>
            <a:pPr lvl="0" algn="ctr">
              <a:lnSpc>
                <a:spcPts val="1000"/>
              </a:lnSpc>
              <a:buNone/>
              <a:tabLst>
                <a:tab pos="3051175" algn="l"/>
              </a:tabLst>
              <a:defRPr/>
            </a:pPr>
            <a:r>
              <a:rPr lang="en-US" altLang="ko-KR" sz="900" b="0" dirty="0">
                <a:cs typeface="Calibri" panose="020F0502020204030204" pitchFamily="34" charset="0"/>
              </a:rPr>
              <a:t>Vision RY(mm)</a:t>
            </a:r>
            <a:endParaRPr lang="ko-KR" altLang="en-US" sz="900" b="0" dirty="0">
              <a:cs typeface="Calibri" panose="020F0502020204030204" pitchFamily="34" charset="0"/>
            </a:endParaRPr>
          </a:p>
        </p:txBody>
      </p:sp>
      <p:sp>
        <p:nvSpPr>
          <p:cNvPr id="30" name="Text Box 118">
            <a:extLst>
              <a:ext uri="{FF2B5EF4-FFF2-40B4-BE49-F238E27FC236}">
                <a16:creationId xmlns:a16="http://schemas.microsoft.com/office/drawing/2014/main" id="{CCDF3D8F-B0FF-9D1F-6F7F-733CB4DC71AB}"/>
              </a:ext>
            </a:extLst>
          </p:cNvPr>
          <p:cNvSpPr txBox="1">
            <a:spLocks noChangeArrowheads="1"/>
          </p:cNvSpPr>
          <p:nvPr/>
        </p:nvSpPr>
        <p:spPr bwMode="auto">
          <a:xfrm>
            <a:off x="75224" y="5080339"/>
            <a:ext cx="695325" cy="329184"/>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UVW-Act. </a:t>
            </a:r>
          </a:p>
          <a:p>
            <a:pPr lvl="0" algn="ctr">
              <a:lnSpc>
                <a:spcPts val="1000"/>
              </a:lnSpc>
              <a:buNone/>
              <a:tabLst>
                <a:tab pos="3051175" algn="l"/>
              </a:tabLst>
              <a:defRPr/>
            </a:pPr>
            <a:r>
              <a:rPr lang="en-US" altLang="ko-KR" sz="900" b="0" dirty="0">
                <a:cs typeface="Calibri" panose="020F0502020204030204" pitchFamily="34" charset="0"/>
              </a:rPr>
              <a:t>Pos Y2(mm)</a:t>
            </a:r>
            <a:endParaRPr lang="ko-KR" altLang="en-US" sz="900" b="0" dirty="0">
              <a:cs typeface="Calibri" panose="020F0502020204030204" pitchFamily="34" charset="0"/>
            </a:endParaRPr>
          </a:p>
        </p:txBody>
      </p:sp>
      <p:sp>
        <p:nvSpPr>
          <p:cNvPr id="32" name="Text Box 118">
            <a:extLst>
              <a:ext uri="{FF2B5EF4-FFF2-40B4-BE49-F238E27FC236}">
                <a16:creationId xmlns:a16="http://schemas.microsoft.com/office/drawing/2014/main" id="{570C5767-50CE-19D8-7D4D-72A3A90B16E5}"/>
              </a:ext>
            </a:extLst>
          </p:cNvPr>
          <p:cNvSpPr txBox="1">
            <a:spLocks noChangeArrowheads="1"/>
          </p:cNvSpPr>
          <p:nvPr/>
        </p:nvSpPr>
        <p:spPr bwMode="auto">
          <a:xfrm>
            <a:off x="75224" y="3702079"/>
            <a:ext cx="695325" cy="457424"/>
          </a:xfrm>
          <a:prstGeom prst="rect">
            <a:avLst/>
          </a:prstGeom>
          <a:solidFill>
            <a:schemeClr val="bg1"/>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Mono Align </a:t>
            </a:r>
          </a:p>
          <a:p>
            <a:pPr lvl="0" algn="ctr">
              <a:lnSpc>
                <a:spcPts val="1000"/>
              </a:lnSpc>
              <a:buNone/>
              <a:tabLst>
                <a:tab pos="3051175" algn="l"/>
              </a:tabLst>
              <a:defRPr/>
            </a:pPr>
            <a:r>
              <a:rPr lang="en-US" altLang="ko-KR" sz="900" b="0" dirty="0">
                <a:cs typeface="Calibri" panose="020F0502020204030204" pitchFamily="34" charset="0"/>
              </a:rPr>
              <a:t>Vision Y Revision(mm)</a:t>
            </a:r>
            <a:endParaRPr lang="ko-KR" altLang="en-US" sz="900" b="0" dirty="0">
              <a:cs typeface="Calibri" panose="020F0502020204030204" pitchFamily="34" charset="0"/>
            </a:endParaRPr>
          </a:p>
        </p:txBody>
      </p:sp>
      <p:cxnSp>
        <p:nvCxnSpPr>
          <p:cNvPr id="35" name="직선 화살표 연결선 34">
            <a:extLst>
              <a:ext uri="{FF2B5EF4-FFF2-40B4-BE49-F238E27FC236}">
                <a16:creationId xmlns:a16="http://schemas.microsoft.com/office/drawing/2014/main" id="{071AB178-2B57-1AC6-8AF2-F2900F2FE0D6}"/>
              </a:ext>
            </a:extLst>
          </p:cNvPr>
          <p:cNvCxnSpPr>
            <a:cxnSpLocks/>
          </p:cNvCxnSpPr>
          <p:nvPr/>
        </p:nvCxnSpPr>
        <p:spPr>
          <a:xfrm>
            <a:off x="1595409" y="5883025"/>
            <a:ext cx="581574" cy="2802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직선 화살표 연결선 40">
            <a:extLst>
              <a:ext uri="{FF2B5EF4-FFF2-40B4-BE49-F238E27FC236}">
                <a16:creationId xmlns:a16="http://schemas.microsoft.com/office/drawing/2014/main" id="{D428757C-480C-7A4E-51F0-8CB7A90215E7}"/>
              </a:ext>
            </a:extLst>
          </p:cNvPr>
          <p:cNvCxnSpPr>
            <a:cxnSpLocks/>
          </p:cNvCxnSpPr>
          <p:nvPr/>
        </p:nvCxnSpPr>
        <p:spPr>
          <a:xfrm>
            <a:off x="1595409" y="4541773"/>
            <a:ext cx="704850" cy="3703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3EF51743-C9FB-50BA-230A-8FA14C438E06}"/>
              </a:ext>
            </a:extLst>
          </p:cNvPr>
          <p:cNvCxnSpPr>
            <a:cxnSpLocks/>
          </p:cNvCxnSpPr>
          <p:nvPr/>
        </p:nvCxnSpPr>
        <p:spPr>
          <a:xfrm>
            <a:off x="1595409" y="5212399"/>
            <a:ext cx="704850" cy="3703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9D1B6AFB-B4DC-5A0E-BE92-D6D1E7D8A79B}"/>
              </a:ext>
            </a:extLst>
          </p:cNvPr>
          <p:cNvCxnSpPr>
            <a:cxnSpLocks/>
          </p:cNvCxnSpPr>
          <p:nvPr/>
        </p:nvCxnSpPr>
        <p:spPr>
          <a:xfrm>
            <a:off x="1604934" y="2909297"/>
            <a:ext cx="0" cy="325396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100B230D-43D2-4276-0F2B-DC40F8473FB7}"/>
              </a:ext>
            </a:extLst>
          </p:cNvPr>
          <p:cNvCxnSpPr>
            <a:cxnSpLocks/>
          </p:cNvCxnSpPr>
          <p:nvPr/>
        </p:nvCxnSpPr>
        <p:spPr>
          <a:xfrm>
            <a:off x="2366934" y="2909297"/>
            <a:ext cx="0" cy="3253965"/>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0" name="왼쪽 중괄호 49">
            <a:extLst>
              <a:ext uri="{FF2B5EF4-FFF2-40B4-BE49-F238E27FC236}">
                <a16:creationId xmlns:a16="http://schemas.microsoft.com/office/drawing/2014/main" id="{788856F1-698E-F69F-0A83-E54817645EEE}"/>
              </a:ext>
            </a:extLst>
          </p:cNvPr>
          <p:cNvSpPr/>
          <p:nvPr/>
        </p:nvSpPr>
        <p:spPr>
          <a:xfrm rot="5400000">
            <a:off x="1913387" y="2403824"/>
            <a:ext cx="134172" cy="7729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53" name="Text Box 118">
            <a:extLst>
              <a:ext uri="{FF2B5EF4-FFF2-40B4-BE49-F238E27FC236}">
                <a16:creationId xmlns:a16="http://schemas.microsoft.com/office/drawing/2014/main" id="{D125D780-DD9E-A414-2F6E-B74AC6FC3C17}"/>
              </a:ext>
            </a:extLst>
          </p:cNvPr>
          <p:cNvSpPr txBox="1">
            <a:spLocks noChangeArrowheads="1"/>
          </p:cNvSpPr>
          <p:nvPr/>
        </p:nvSpPr>
        <p:spPr bwMode="auto">
          <a:xfrm>
            <a:off x="6938386" y="4834025"/>
            <a:ext cx="545307" cy="20094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1050" dirty="0">
                <a:cs typeface="Calibri" panose="020F0502020204030204" pitchFamily="34" charset="0"/>
              </a:rPr>
              <a:t>. . .</a:t>
            </a:r>
            <a:endParaRPr lang="en-US" altLang="ko-KR" sz="900" dirty="0">
              <a:cs typeface="Calibri" panose="020F0502020204030204" pitchFamily="34" charset="0"/>
            </a:endParaRPr>
          </a:p>
        </p:txBody>
      </p:sp>
      <p:cxnSp>
        <p:nvCxnSpPr>
          <p:cNvPr id="57" name="연결선: 꺾임 56">
            <a:extLst>
              <a:ext uri="{FF2B5EF4-FFF2-40B4-BE49-F238E27FC236}">
                <a16:creationId xmlns:a16="http://schemas.microsoft.com/office/drawing/2014/main" id="{E3E9BD5D-E468-E906-049F-1798EE275BDC}"/>
              </a:ext>
            </a:extLst>
          </p:cNvPr>
          <p:cNvCxnSpPr>
            <a:cxnSpLocks/>
            <a:stCxn id="50" idx="1"/>
          </p:cNvCxnSpPr>
          <p:nvPr/>
        </p:nvCxnSpPr>
        <p:spPr>
          <a:xfrm rot="16200000" flipH="1">
            <a:off x="4411938" y="291733"/>
            <a:ext cx="168996" cy="5031927"/>
          </a:xfrm>
          <a:prstGeom prst="bentConnector3">
            <a:avLst>
              <a:gd name="adj1" fmla="val -11571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 Box 118">
            <a:extLst>
              <a:ext uri="{FF2B5EF4-FFF2-40B4-BE49-F238E27FC236}">
                <a16:creationId xmlns:a16="http://schemas.microsoft.com/office/drawing/2014/main" id="{C833F7C5-EB7E-E13E-156D-E448BC88B898}"/>
              </a:ext>
            </a:extLst>
          </p:cNvPr>
          <p:cNvSpPr txBox="1">
            <a:spLocks noChangeArrowheads="1"/>
          </p:cNvSpPr>
          <p:nvPr/>
        </p:nvSpPr>
        <p:spPr bwMode="auto">
          <a:xfrm>
            <a:off x="4190756" y="2622651"/>
            <a:ext cx="1090612" cy="200943"/>
          </a:xfrm>
          <a:prstGeom prst="rect">
            <a:avLst/>
          </a:prstGeom>
          <a:no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ko-KR" altLang="en-US" sz="900" b="0" dirty="0">
                <a:cs typeface="Calibri" panose="020F0502020204030204" pitchFamily="34" charset="0"/>
              </a:rPr>
              <a:t>이미지 확인 구간</a:t>
            </a:r>
            <a:endParaRPr lang="en-US" altLang="ko-KR" sz="900" b="0" dirty="0">
              <a:cs typeface="Calibri" panose="020F0502020204030204" pitchFamily="34" charset="0"/>
            </a:endParaRPr>
          </a:p>
        </p:txBody>
      </p:sp>
      <p:sp>
        <p:nvSpPr>
          <p:cNvPr id="60" name="Text Box 118">
            <a:extLst>
              <a:ext uri="{FF2B5EF4-FFF2-40B4-BE49-F238E27FC236}">
                <a16:creationId xmlns:a16="http://schemas.microsoft.com/office/drawing/2014/main" id="{53480E75-054C-0667-52B1-603AAA926298}"/>
              </a:ext>
            </a:extLst>
          </p:cNvPr>
          <p:cNvSpPr txBox="1">
            <a:spLocks noChangeArrowheads="1"/>
          </p:cNvSpPr>
          <p:nvPr/>
        </p:nvSpPr>
        <p:spPr bwMode="auto">
          <a:xfrm>
            <a:off x="2762281" y="4733554"/>
            <a:ext cx="1090612"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2</a:t>
            </a:r>
            <a:r>
              <a:rPr lang="en-US" altLang="ko-KR" sz="900" b="0">
                <a:cs typeface="Calibri" panose="020F0502020204030204" pitchFamily="34" charset="0"/>
              </a:rPr>
              <a:t>. </a:t>
            </a:r>
            <a:r>
              <a:rPr lang="en-US" altLang="ko-KR" sz="900" b="0" dirty="0">
                <a:cs typeface="Calibri" panose="020F0502020204030204" pitchFamily="34" charset="0"/>
              </a:rPr>
              <a:t>Y1 </a:t>
            </a:r>
            <a:r>
              <a:rPr lang="ko-KR" altLang="en-US" sz="900" b="0" dirty="0" err="1">
                <a:cs typeface="Calibri" panose="020F0502020204030204" pitchFamily="34" charset="0"/>
              </a:rPr>
              <a:t>내려감</a:t>
            </a:r>
            <a:endParaRPr lang="en-US" altLang="ko-KR" sz="900" b="0" dirty="0">
              <a:cs typeface="Calibri" panose="020F0502020204030204" pitchFamily="34" charset="0"/>
            </a:endParaRPr>
          </a:p>
        </p:txBody>
      </p:sp>
      <p:sp>
        <p:nvSpPr>
          <p:cNvPr id="61" name="Text Box 118">
            <a:extLst>
              <a:ext uri="{FF2B5EF4-FFF2-40B4-BE49-F238E27FC236}">
                <a16:creationId xmlns:a16="http://schemas.microsoft.com/office/drawing/2014/main" id="{60CE915D-EB71-52A0-03B0-87BF0EFF80AA}"/>
              </a:ext>
            </a:extLst>
          </p:cNvPr>
          <p:cNvSpPr txBox="1">
            <a:spLocks noChangeArrowheads="1"/>
          </p:cNvSpPr>
          <p:nvPr/>
        </p:nvSpPr>
        <p:spPr bwMode="auto">
          <a:xfrm>
            <a:off x="2762281" y="5236043"/>
            <a:ext cx="1090612"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3. Y2 </a:t>
            </a:r>
            <a:r>
              <a:rPr lang="ko-KR" altLang="en-US" sz="900" b="0" dirty="0" err="1">
                <a:cs typeface="Calibri" panose="020F0502020204030204" pitchFamily="34" charset="0"/>
              </a:rPr>
              <a:t>내려감</a:t>
            </a:r>
            <a:endParaRPr lang="en-US" altLang="ko-KR" sz="900" b="0" dirty="0">
              <a:cs typeface="Calibri" panose="020F0502020204030204" pitchFamily="34" charset="0"/>
            </a:endParaRPr>
          </a:p>
        </p:txBody>
      </p:sp>
      <p:sp>
        <p:nvSpPr>
          <p:cNvPr id="62" name="Text Box 118">
            <a:extLst>
              <a:ext uri="{FF2B5EF4-FFF2-40B4-BE49-F238E27FC236}">
                <a16:creationId xmlns:a16="http://schemas.microsoft.com/office/drawing/2014/main" id="{8D6ACC2B-34C7-74AB-446C-CB7A64D3FC66}"/>
              </a:ext>
            </a:extLst>
          </p:cNvPr>
          <p:cNvSpPr txBox="1">
            <a:spLocks noChangeArrowheads="1"/>
          </p:cNvSpPr>
          <p:nvPr/>
        </p:nvSpPr>
        <p:spPr bwMode="auto">
          <a:xfrm>
            <a:off x="2762281" y="5887161"/>
            <a:ext cx="1090612"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4. RY </a:t>
            </a:r>
            <a:r>
              <a:rPr lang="ko-KR" altLang="en-US" sz="900" b="0" dirty="0" err="1">
                <a:cs typeface="Calibri" panose="020F0502020204030204" pitchFamily="34" charset="0"/>
              </a:rPr>
              <a:t>내려감</a:t>
            </a:r>
            <a:endParaRPr lang="en-US" altLang="ko-KR" sz="900" b="0" dirty="0">
              <a:cs typeface="Calibri" panose="020F0502020204030204" pitchFamily="34" charset="0"/>
            </a:endParaRPr>
          </a:p>
        </p:txBody>
      </p:sp>
      <p:pic>
        <p:nvPicPr>
          <p:cNvPr id="66" name="그림 65">
            <a:extLst>
              <a:ext uri="{FF2B5EF4-FFF2-40B4-BE49-F238E27FC236}">
                <a16:creationId xmlns:a16="http://schemas.microsoft.com/office/drawing/2014/main" id="{3D6317D5-7093-77FA-7CB8-C43BF1255864}"/>
              </a:ext>
            </a:extLst>
          </p:cNvPr>
          <p:cNvPicPr>
            <a:picLocks noChangeAspect="1"/>
          </p:cNvPicPr>
          <p:nvPr/>
        </p:nvPicPr>
        <p:blipFill>
          <a:blip r:embed="rId3"/>
          <a:stretch>
            <a:fillRect/>
          </a:stretch>
        </p:blipFill>
        <p:spPr>
          <a:xfrm>
            <a:off x="4824412" y="2909229"/>
            <a:ext cx="4842102" cy="649750"/>
          </a:xfrm>
          <a:prstGeom prst="rect">
            <a:avLst/>
          </a:prstGeom>
        </p:spPr>
      </p:pic>
      <p:pic>
        <p:nvPicPr>
          <p:cNvPr id="68" name="그림 67">
            <a:extLst>
              <a:ext uri="{FF2B5EF4-FFF2-40B4-BE49-F238E27FC236}">
                <a16:creationId xmlns:a16="http://schemas.microsoft.com/office/drawing/2014/main" id="{0A288C5B-713B-3144-1771-13FC2225731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a14:imgEffect>
                  </a14:imgLayer>
                </a14:imgProps>
              </a:ext>
            </a:extLst>
          </a:blip>
          <a:stretch>
            <a:fillRect/>
          </a:stretch>
        </p:blipFill>
        <p:spPr>
          <a:xfrm>
            <a:off x="4824412" y="3611585"/>
            <a:ext cx="2042867" cy="2814073"/>
          </a:xfrm>
          <a:prstGeom prst="rect">
            <a:avLst/>
          </a:prstGeom>
        </p:spPr>
      </p:pic>
      <p:pic>
        <p:nvPicPr>
          <p:cNvPr id="73" name="그림 72">
            <a:extLst>
              <a:ext uri="{FF2B5EF4-FFF2-40B4-BE49-F238E27FC236}">
                <a16:creationId xmlns:a16="http://schemas.microsoft.com/office/drawing/2014/main" id="{56AC7FB7-0555-A45B-D48B-ADB58C0039FF}"/>
              </a:ext>
            </a:extLst>
          </p:cNvPr>
          <p:cNvPicPr>
            <a:picLocks noChangeAspect="1"/>
          </p:cNvPicPr>
          <p:nvPr/>
        </p:nvPicPr>
        <p:blipFill>
          <a:blip r:embed="rId6"/>
          <a:srcRect t="850" b="7274"/>
          <a:stretch/>
        </p:blipFill>
        <p:spPr>
          <a:xfrm>
            <a:off x="7592036" y="3611584"/>
            <a:ext cx="2084473" cy="2814073"/>
          </a:xfrm>
          <a:prstGeom prst="rect">
            <a:avLst/>
          </a:prstGeom>
        </p:spPr>
      </p:pic>
      <p:sp>
        <p:nvSpPr>
          <p:cNvPr id="74" name="타원 73">
            <a:extLst>
              <a:ext uri="{FF2B5EF4-FFF2-40B4-BE49-F238E27FC236}">
                <a16:creationId xmlns:a16="http://schemas.microsoft.com/office/drawing/2014/main" id="{828D5EAD-B311-6A31-CED5-0571DE46B460}"/>
              </a:ext>
            </a:extLst>
          </p:cNvPr>
          <p:cNvSpPr/>
          <p:nvPr/>
        </p:nvSpPr>
        <p:spPr>
          <a:xfrm>
            <a:off x="8507995" y="6203572"/>
            <a:ext cx="252553" cy="265165"/>
          </a:xfrm>
          <a:prstGeom prst="ellipse">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타원 74">
            <a:extLst>
              <a:ext uri="{FF2B5EF4-FFF2-40B4-BE49-F238E27FC236}">
                <a16:creationId xmlns:a16="http://schemas.microsoft.com/office/drawing/2014/main" id="{78710A55-A332-79E6-95DF-E90475317835}"/>
              </a:ext>
            </a:extLst>
          </p:cNvPr>
          <p:cNvSpPr/>
          <p:nvPr/>
        </p:nvSpPr>
        <p:spPr>
          <a:xfrm>
            <a:off x="8507995" y="3706760"/>
            <a:ext cx="252553" cy="265165"/>
          </a:xfrm>
          <a:prstGeom prst="ellipse">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Text Box 118">
            <a:extLst>
              <a:ext uri="{FF2B5EF4-FFF2-40B4-BE49-F238E27FC236}">
                <a16:creationId xmlns:a16="http://schemas.microsoft.com/office/drawing/2014/main" id="{44EDC66F-25D6-AB49-0592-51C345D6C102}"/>
              </a:ext>
            </a:extLst>
          </p:cNvPr>
          <p:cNvSpPr txBox="1">
            <a:spLocks noChangeArrowheads="1"/>
          </p:cNvSpPr>
          <p:nvPr/>
        </p:nvSpPr>
        <p:spPr bwMode="auto">
          <a:xfrm>
            <a:off x="7445564" y="3611584"/>
            <a:ext cx="1090612"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Y</a:t>
            </a:r>
            <a:r>
              <a:rPr lang="ko-KR" altLang="en-US" sz="900" b="0" dirty="0">
                <a:cs typeface="Calibri" panose="020F0502020204030204" pitchFamily="34" charset="0"/>
              </a:rPr>
              <a:t>축으로 </a:t>
            </a:r>
            <a:r>
              <a:rPr lang="ko-KR" altLang="en-US" sz="900" b="0" dirty="0" err="1">
                <a:cs typeface="Calibri" panose="020F0502020204030204" pitchFamily="34" charset="0"/>
              </a:rPr>
              <a:t>내려감</a:t>
            </a:r>
            <a:endParaRPr lang="en-US" altLang="ko-KR" sz="900" b="0" dirty="0">
              <a:cs typeface="Calibri" panose="020F0502020204030204" pitchFamily="34" charset="0"/>
            </a:endParaRPr>
          </a:p>
        </p:txBody>
      </p:sp>
      <p:sp>
        <p:nvSpPr>
          <p:cNvPr id="77" name="Text Box 118">
            <a:extLst>
              <a:ext uri="{FF2B5EF4-FFF2-40B4-BE49-F238E27FC236}">
                <a16:creationId xmlns:a16="http://schemas.microsoft.com/office/drawing/2014/main" id="{5FE59002-0E1A-9DBD-6161-2F2303E35C23}"/>
              </a:ext>
            </a:extLst>
          </p:cNvPr>
          <p:cNvSpPr txBox="1">
            <a:spLocks noChangeArrowheads="1"/>
          </p:cNvSpPr>
          <p:nvPr/>
        </p:nvSpPr>
        <p:spPr bwMode="auto">
          <a:xfrm>
            <a:off x="7445564" y="6336154"/>
            <a:ext cx="1090612" cy="200943"/>
          </a:xfrm>
          <a:prstGeom prst="rect">
            <a:avLst/>
          </a:prstGeom>
          <a:solidFill>
            <a:schemeClr val="accent4">
              <a:lumMod val="20000"/>
              <a:lumOff val="80000"/>
            </a:schemeClr>
          </a:solidFill>
        </p:spPr>
        <p:txBody>
          <a:bodyPr wrap="square" lIns="72000" tIns="36000" rIns="72000" bIns="36000" anchor="t" anchorCtr="0">
            <a:spAutoFit/>
          </a:bodyPr>
          <a:lstStyle>
            <a:defPPr>
              <a:defRPr lang="en-US"/>
            </a:defPPr>
            <a:lvl1pPr marR="0" lvl="0" indent="0" defTabSz="914400" fontAlgn="base" latinLnBrk="1">
              <a:lnSpc>
                <a:spcPct val="100000"/>
              </a:lnSpc>
              <a:spcBef>
                <a:spcPts val="0"/>
              </a:spcBef>
              <a:spcAft>
                <a:spcPts val="0"/>
              </a:spcAft>
              <a:buClrTx/>
              <a:buSzTx/>
              <a:buFont typeface="Wingdings" pitchFamily="2" charset="2"/>
              <a:buChar char="q"/>
              <a:tabLst/>
              <a:defRPr kumimoji="0" sz="1200" b="1" i="0" u="none" strike="noStrike" cap="none" spc="0" normalizeH="0" baseline="0">
                <a:ln>
                  <a:noFill/>
                </a:ln>
                <a:effectLst/>
                <a:uLnTx/>
                <a:uFillTx/>
                <a:latin typeface="Arial Narrow" pitchFamily="34" charset="0"/>
                <a:ea typeface="LG스마트체 Regular" pitchFamily="50" charset="-127"/>
              </a:defRPr>
            </a:lvl1pPr>
          </a:lstStyle>
          <a:p>
            <a:pPr lvl="0" algn="ctr">
              <a:lnSpc>
                <a:spcPts val="1000"/>
              </a:lnSpc>
              <a:buNone/>
              <a:tabLst>
                <a:tab pos="3051175" algn="l"/>
              </a:tabLst>
              <a:defRPr/>
            </a:pPr>
            <a:r>
              <a:rPr lang="en-US" altLang="ko-KR" sz="900" b="0" dirty="0">
                <a:cs typeface="Calibri" panose="020F0502020204030204" pitchFamily="34" charset="0"/>
              </a:rPr>
              <a:t>Y</a:t>
            </a:r>
            <a:r>
              <a:rPr lang="ko-KR" altLang="en-US" sz="900" b="0" dirty="0">
                <a:cs typeface="Calibri" panose="020F0502020204030204" pitchFamily="34" charset="0"/>
              </a:rPr>
              <a:t>축으로 </a:t>
            </a:r>
            <a:r>
              <a:rPr lang="ko-KR" altLang="en-US" sz="900" b="0" dirty="0" err="1">
                <a:cs typeface="Calibri" panose="020F0502020204030204" pitchFamily="34" charset="0"/>
              </a:rPr>
              <a:t>내려감</a:t>
            </a:r>
            <a:endParaRPr lang="en-US" altLang="ko-KR" sz="900" b="0" dirty="0">
              <a:cs typeface="Calibri" panose="020F0502020204030204" pitchFamily="34" charset="0"/>
            </a:endParaRPr>
          </a:p>
        </p:txBody>
      </p:sp>
      <p:sp>
        <p:nvSpPr>
          <p:cNvPr id="5" name="실행 단추: 홈으로 이동 4">
            <a:hlinkClick r:id="rId7" action="ppaction://hlinksldjump" highlightClick="1"/>
            <a:extLst>
              <a:ext uri="{FF2B5EF4-FFF2-40B4-BE49-F238E27FC236}">
                <a16:creationId xmlns:a16="http://schemas.microsoft.com/office/drawing/2014/main" id="{3DB817FA-1A9D-4B99-7F3B-9565BC47B294}"/>
              </a:ext>
            </a:extLst>
          </p:cNvPr>
          <p:cNvSpPr/>
          <p:nvPr/>
        </p:nvSpPr>
        <p:spPr>
          <a:xfrm>
            <a:off x="9369067" y="166057"/>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ptos" panose="02110004020202020204"/>
              <a:ea typeface="맑은 고딕" panose="020B0503020000020004" pitchFamily="50" charset="-127"/>
              <a:cs typeface="+mn-cs"/>
            </a:endParaRPr>
          </a:p>
        </p:txBody>
      </p:sp>
      <p:sp>
        <p:nvSpPr>
          <p:cNvPr id="2" name="TextBox 1">
            <a:extLst>
              <a:ext uri="{FF2B5EF4-FFF2-40B4-BE49-F238E27FC236}">
                <a16:creationId xmlns:a16="http://schemas.microsoft.com/office/drawing/2014/main" id="{018886FD-DB04-8EA6-B2E8-710E25C0AA0A}"/>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5 / 7</a:t>
            </a:r>
          </a:p>
        </p:txBody>
      </p:sp>
      <p:sp>
        <p:nvSpPr>
          <p:cNvPr id="6" name="제목 1">
            <a:extLst>
              <a:ext uri="{FF2B5EF4-FFF2-40B4-BE49-F238E27FC236}">
                <a16:creationId xmlns:a16="http://schemas.microsoft.com/office/drawing/2014/main" id="{C462246D-9EB7-3464-7DF0-90F8CBC98B24}"/>
              </a:ext>
            </a:extLst>
          </p:cNvPr>
          <p:cNvSpPr txBox="1">
            <a:spLocks/>
          </p:cNvSpPr>
          <p:nvPr/>
        </p:nvSpPr>
        <p:spPr>
          <a:xfrm>
            <a:off x="123673" y="166057"/>
            <a:ext cx="3198011" cy="36543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D-STK </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계단식 적재 현상</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(2/2)</a:t>
            </a:r>
          </a:p>
        </p:txBody>
      </p:sp>
    </p:spTree>
    <p:extLst>
      <p:ext uri="{BB962C8B-B14F-4D97-AF65-F5344CB8AC3E}">
        <p14:creationId xmlns:p14="http://schemas.microsoft.com/office/powerpoint/2010/main" val="2011813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Box 108">
            <a:extLst>
              <a:ext uri="{FF2B5EF4-FFF2-40B4-BE49-F238E27FC236}">
                <a16:creationId xmlns:a16="http://schemas.microsoft.com/office/drawing/2014/main" id="{147D5371-724B-40D0-ACEA-EB32D022B230}"/>
              </a:ext>
            </a:extLst>
          </p:cNvPr>
          <p:cNvSpPr txBox="1"/>
          <p:nvPr/>
        </p:nvSpPr>
        <p:spPr>
          <a:xfrm>
            <a:off x="179433" y="649640"/>
            <a:ext cx="9536866" cy="518860"/>
          </a:xfrm>
          <a:prstGeom prst="rect">
            <a:avLst/>
          </a:prstGeom>
          <a:noFill/>
        </p:spPr>
        <p:txBody>
          <a:bodyPr wrap="square" rtlCol="0">
            <a:spAutoFit/>
          </a:bodyPr>
          <a:lstStyle/>
          <a:p>
            <a:pPr marL="0" marR="0" lvl="0" indent="0" algn="l" defTabSz="447830" rtl="0" eaLnBrk="0" fontAlgn="base" latinLnBrk="0" hangingPunct="0">
              <a:lnSpc>
                <a:spcPct val="100000"/>
              </a:lnSpc>
              <a:spcBef>
                <a:spcPct val="0"/>
              </a:spcBef>
              <a:spcAft>
                <a:spcPct val="0"/>
              </a:spcAft>
              <a:buClrTx/>
              <a:buSzTx/>
              <a:buFontTx/>
              <a:buNone/>
              <a:tabLst/>
              <a:defRPr/>
            </a:pP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선별 투입 기능 적용 이후</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노칭 재료교체 전</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후의 미스매치 편차가 줄어들었음을 확인하였으며</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미스매치 편차 감소에 비례하여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Cutting Height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불량률 감소</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단기 효과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0.046%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0.030%)</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효과 확인하였습니다</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a:t>
            </a:r>
            <a:endParaRPr kumimoji="1" lang="en-US" altLang="ko-KR" sz="1386" b="1"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endParaRPr>
          </a:p>
        </p:txBody>
      </p:sp>
      <p:sp>
        <p:nvSpPr>
          <p:cNvPr id="24" name="제목 1">
            <a:extLst>
              <a:ext uri="{FF2B5EF4-FFF2-40B4-BE49-F238E27FC236}">
                <a16:creationId xmlns:a16="http://schemas.microsoft.com/office/drawing/2014/main" id="{874ED0BD-CB93-A2E8-289F-A6BA02BC1EC4}"/>
              </a:ext>
            </a:extLst>
          </p:cNvPr>
          <p:cNvSpPr txBox="1">
            <a:spLocks/>
          </p:cNvSpPr>
          <p:nvPr/>
        </p:nvSpPr>
        <p:spPr>
          <a:xfrm>
            <a:off x="123673" y="166057"/>
            <a:ext cx="4594226" cy="36543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미스매치 유사 </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Lot </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노칭 선별 투입</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_</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개선 효과</a:t>
            </a:r>
            <a:endPar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endParaRPr>
          </a:p>
        </p:txBody>
      </p:sp>
      <p:cxnSp>
        <p:nvCxnSpPr>
          <p:cNvPr id="25" name="직선 연결선 24">
            <a:extLst>
              <a:ext uri="{FF2B5EF4-FFF2-40B4-BE49-F238E27FC236}">
                <a16:creationId xmlns:a16="http://schemas.microsoft.com/office/drawing/2014/main" id="{1F0C6748-49B1-2479-28AF-1A9895526B0E}"/>
              </a:ext>
            </a:extLst>
          </p:cNvPr>
          <p:cNvCxnSpPr>
            <a:cxnSpLocks/>
          </p:cNvCxnSpPr>
          <p:nvPr/>
        </p:nvCxnSpPr>
        <p:spPr>
          <a:xfrm>
            <a:off x="5004030" y="1777508"/>
            <a:ext cx="0" cy="4617091"/>
          </a:xfrm>
          <a:prstGeom prst="line">
            <a:avLst/>
          </a:prstGeom>
        </p:spPr>
        <p:style>
          <a:lnRef idx="1">
            <a:schemeClr val="dk1"/>
          </a:lnRef>
          <a:fillRef idx="0">
            <a:schemeClr val="dk1"/>
          </a:fillRef>
          <a:effectRef idx="0">
            <a:schemeClr val="dk1"/>
          </a:effectRef>
          <a:fontRef idx="minor">
            <a:schemeClr val="tx1"/>
          </a:fontRef>
        </p:style>
      </p:cxnSp>
      <p:cxnSp>
        <p:nvCxnSpPr>
          <p:cNvPr id="149" name="직선 연결선 148">
            <a:extLst>
              <a:ext uri="{FF2B5EF4-FFF2-40B4-BE49-F238E27FC236}">
                <a16:creationId xmlns:a16="http://schemas.microsoft.com/office/drawing/2014/main" id="{882B7C3F-335D-E7C6-5212-E43078EF0DE4}"/>
              </a:ext>
            </a:extLst>
          </p:cNvPr>
          <p:cNvCxnSpPr/>
          <p:nvPr/>
        </p:nvCxnSpPr>
        <p:spPr>
          <a:xfrm>
            <a:off x="5234644" y="1565914"/>
            <a:ext cx="4230638" cy="0"/>
          </a:xfrm>
          <a:prstGeom prst="line">
            <a:avLst/>
          </a:prstGeom>
        </p:spPr>
        <p:style>
          <a:lnRef idx="1">
            <a:schemeClr val="dk1"/>
          </a:lnRef>
          <a:fillRef idx="0">
            <a:schemeClr val="dk1"/>
          </a:fillRef>
          <a:effectRef idx="0">
            <a:schemeClr val="dk1"/>
          </a:effectRef>
          <a:fontRef idx="minor">
            <a:schemeClr val="tx1"/>
          </a:fontRef>
        </p:style>
      </p:cxnSp>
      <p:sp>
        <p:nvSpPr>
          <p:cNvPr id="150" name="TextBox 149">
            <a:extLst>
              <a:ext uri="{FF2B5EF4-FFF2-40B4-BE49-F238E27FC236}">
                <a16:creationId xmlns:a16="http://schemas.microsoft.com/office/drawing/2014/main" id="{1322A538-68F9-24DA-E014-A8032028D62B}"/>
              </a:ext>
            </a:extLst>
          </p:cNvPr>
          <p:cNvSpPr txBox="1"/>
          <p:nvPr/>
        </p:nvSpPr>
        <p:spPr>
          <a:xfrm>
            <a:off x="423614" y="1256436"/>
            <a:ext cx="4230637" cy="276999"/>
          </a:xfrm>
          <a:prstGeom prst="rect">
            <a:avLst/>
          </a:prstGeom>
          <a:noFill/>
        </p:spPr>
        <p:txBody>
          <a:bodyPr wrap="square" rtlCol="0">
            <a:spAutoFit/>
          </a:bodyPr>
          <a:lstStyle/>
          <a:p>
            <a:pPr marL="0" marR="0" lvl="0" indent="0" algn="ctr" defTabSz="447830" rtl="0" eaLnBrk="1" fontAlgn="auto" latinLnBrk="0" hangingPunct="1">
              <a:lnSpc>
                <a:spcPct val="100000"/>
              </a:lnSpc>
              <a:spcBef>
                <a:spcPts val="0"/>
              </a:spcBef>
              <a:spcAft>
                <a:spcPts val="0"/>
              </a:spcAft>
              <a:buClrTx/>
              <a:buSzTx/>
              <a:buFontTx/>
              <a:buNone/>
              <a:tabLst/>
              <a:defRPr/>
            </a:pPr>
            <a:r>
              <a:rPr lang="ko-KR" altLang="en-US" sz="1200" b="1" dirty="0">
                <a:solidFill>
                  <a:prstClr val="black"/>
                </a:solidFill>
                <a:latin typeface="Arial Narrow" panose="020B0606020202030204" pitchFamily="34" charset="0"/>
                <a:ea typeface="LG스마트체 Regular" panose="020B0600000101010101" pitchFamily="50" charset="-127"/>
              </a:rPr>
              <a:t>노칭 미스매치 데이터 검증</a:t>
            </a:r>
            <a:endParaRPr kumimoji="0"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cxnSp>
        <p:nvCxnSpPr>
          <p:cNvPr id="151" name="직선 연결선 150">
            <a:extLst>
              <a:ext uri="{FF2B5EF4-FFF2-40B4-BE49-F238E27FC236}">
                <a16:creationId xmlns:a16="http://schemas.microsoft.com/office/drawing/2014/main" id="{7C17CC5B-A5B4-C210-B97B-92B4573988F5}"/>
              </a:ext>
            </a:extLst>
          </p:cNvPr>
          <p:cNvCxnSpPr/>
          <p:nvPr/>
        </p:nvCxnSpPr>
        <p:spPr>
          <a:xfrm>
            <a:off x="5227000" y="1565914"/>
            <a:ext cx="4230638" cy="0"/>
          </a:xfrm>
          <a:prstGeom prst="line">
            <a:avLst/>
          </a:prstGeom>
        </p:spPr>
        <p:style>
          <a:lnRef idx="1">
            <a:schemeClr val="dk1"/>
          </a:lnRef>
          <a:fillRef idx="0">
            <a:schemeClr val="dk1"/>
          </a:fillRef>
          <a:effectRef idx="0">
            <a:schemeClr val="dk1"/>
          </a:effectRef>
          <a:fontRef idx="minor">
            <a:schemeClr val="tx1"/>
          </a:fontRef>
        </p:style>
      </p:cxnSp>
      <p:sp>
        <p:nvSpPr>
          <p:cNvPr id="152" name="TextBox 151">
            <a:extLst>
              <a:ext uri="{FF2B5EF4-FFF2-40B4-BE49-F238E27FC236}">
                <a16:creationId xmlns:a16="http://schemas.microsoft.com/office/drawing/2014/main" id="{E3F5CDEC-ECF9-6349-2165-5A6F9BB2768D}"/>
              </a:ext>
            </a:extLst>
          </p:cNvPr>
          <p:cNvSpPr txBox="1"/>
          <p:nvPr/>
        </p:nvSpPr>
        <p:spPr>
          <a:xfrm>
            <a:off x="5226999" y="1256436"/>
            <a:ext cx="4230637" cy="276999"/>
          </a:xfrm>
          <a:prstGeom prst="rect">
            <a:avLst/>
          </a:prstGeom>
          <a:noFill/>
        </p:spPr>
        <p:txBody>
          <a:bodyPr wrap="square" rtlCol="0">
            <a:spAutoFit/>
          </a:bodyPr>
          <a:lstStyle/>
          <a:p>
            <a:pPr marL="0" marR="0" lvl="0" indent="0" algn="ctr" defTabSz="44783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rPr>
              <a:t>개선 </a:t>
            </a:r>
            <a:r>
              <a:rPr lang="ko-KR" altLang="en-US" sz="1200" b="1" dirty="0">
                <a:solidFill>
                  <a:prstClr val="black"/>
                </a:solidFill>
                <a:latin typeface="Arial Narrow" panose="020B0606020202030204" pitchFamily="34" charset="0"/>
                <a:ea typeface="LG스마트체 Regular" panose="020B0600000101010101" pitchFamily="50" charset="-127"/>
              </a:rPr>
              <a:t>효과</a:t>
            </a:r>
            <a:endParaRPr kumimoji="0"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endParaRPr>
          </a:p>
        </p:txBody>
      </p:sp>
      <p:cxnSp>
        <p:nvCxnSpPr>
          <p:cNvPr id="77" name="직선 연결선 76">
            <a:extLst>
              <a:ext uri="{FF2B5EF4-FFF2-40B4-BE49-F238E27FC236}">
                <a16:creationId xmlns:a16="http://schemas.microsoft.com/office/drawing/2014/main" id="{4C323ADB-19CC-CCD1-8AC8-9332CF266D44}"/>
              </a:ext>
            </a:extLst>
          </p:cNvPr>
          <p:cNvCxnSpPr/>
          <p:nvPr/>
        </p:nvCxnSpPr>
        <p:spPr>
          <a:xfrm>
            <a:off x="423616" y="1565914"/>
            <a:ext cx="4230638"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EC97654F-C804-EE47-4AE9-C0F33A45F6FC}"/>
              </a:ext>
            </a:extLst>
          </p:cNvPr>
          <p:cNvSpPr txBox="1"/>
          <p:nvPr/>
        </p:nvSpPr>
        <p:spPr>
          <a:xfrm>
            <a:off x="179433" y="1624421"/>
            <a:ext cx="4785397" cy="639406"/>
          </a:xfrm>
          <a:prstGeom prst="rect">
            <a:avLst/>
          </a:prstGeom>
          <a:noFill/>
        </p:spPr>
        <p:txBody>
          <a:bodyPr wrap="square" rtlCol="0">
            <a:spAutoFit/>
          </a:bodyPr>
          <a:lstStyle/>
          <a:p>
            <a:pPr marL="87078" marR="0" lvl="0" indent="-87078" algn="l" defTabSz="447830" rtl="0" eaLnBrk="1" fontAlgn="auto" latinLnBrk="0" hangingPunct="1">
              <a:lnSpc>
                <a:spcPct val="110000"/>
              </a:lnSpc>
              <a:spcBef>
                <a:spcPts val="0"/>
              </a:spcBef>
              <a:spcAft>
                <a:spcPts val="0"/>
              </a:spcAft>
              <a:buClrTx/>
              <a:buSzTx/>
              <a:buFont typeface="Wingdings" panose="05000000000000000000" pitchFamily="2" charset="2"/>
              <a:buChar char="§"/>
              <a:tabLst/>
              <a:defRPr/>
            </a:pPr>
            <a:r>
              <a:rPr lang="ko-KR" altLang="en-US" sz="1100" dirty="0">
                <a:solidFill>
                  <a:prstClr val="black"/>
                </a:solidFill>
                <a:latin typeface="Arial Narrow" panose="020B0606020202030204" pitchFamily="34" charset="0"/>
                <a:ea typeface="LG스마트체 Regular" panose="020B0600000101010101" pitchFamily="50" charset="-127"/>
              </a:rPr>
              <a:t>노칭</a:t>
            </a:r>
            <a:r>
              <a:rPr lang="en-US" altLang="ko-KR" sz="1100" dirty="0">
                <a:solidFill>
                  <a:prstClr val="black"/>
                </a:solidFill>
                <a:latin typeface="Arial Narrow" panose="020B0606020202030204" pitchFamily="34" charset="0"/>
                <a:ea typeface="LG스마트체 Regular" panose="020B0600000101010101" pitchFamily="50" charset="-127"/>
              </a:rPr>
              <a:t>(</a:t>
            </a:r>
            <a:r>
              <a:rPr lang="ko-KR" altLang="en-US" sz="1100" dirty="0">
                <a:solidFill>
                  <a:prstClr val="black"/>
                </a:solidFill>
                <a:latin typeface="Arial Narrow" panose="020B0606020202030204" pitchFamily="34" charset="0"/>
                <a:ea typeface="LG스마트체 Regular" panose="020B0600000101010101" pitchFamily="50" charset="-127"/>
              </a:rPr>
              <a:t>양극</a:t>
            </a:r>
            <a:r>
              <a:rPr lang="en-US" altLang="ko-KR" sz="1100" dirty="0">
                <a:solidFill>
                  <a:prstClr val="black"/>
                </a:solidFill>
                <a:latin typeface="Arial Narrow" panose="020B0606020202030204" pitchFamily="34" charset="0"/>
                <a:ea typeface="LG스마트체 Regular" panose="020B0600000101010101" pitchFamily="50" charset="-127"/>
              </a:rPr>
              <a:t>)</a:t>
            </a:r>
            <a:r>
              <a:rPr lang="ko-KR" altLang="en-US" sz="1100" dirty="0">
                <a:solidFill>
                  <a:prstClr val="black"/>
                </a:solidFill>
                <a:latin typeface="Arial Narrow" panose="020B0606020202030204" pitchFamily="34" charset="0"/>
                <a:ea typeface="LG스마트체 Regular" panose="020B0600000101010101" pitchFamily="50" charset="-127"/>
              </a:rPr>
              <a:t> </a:t>
            </a:r>
            <a:r>
              <a:rPr lang="en-US" altLang="ko-KR" sz="1100" dirty="0">
                <a:solidFill>
                  <a:prstClr val="black"/>
                </a:solidFill>
                <a:latin typeface="Arial Narrow" panose="020B0606020202030204" pitchFamily="34" charset="0"/>
                <a:ea typeface="LG스마트체 Regular" panose="020B0600000101010101" pitchFamily="50" charset="-127"/>
              </a:rPr>
              <a:t>13, 14</a:t>
            </a:r>
            <a:r>
              <a:rPr lang="ko-KR" altLang="en-US" sz="1100" dirty="0">
                <a:solidFill>
                  <a:prstClr val="black"/>
                </a:solidFill>
                <a:latin typeface="Arial Narrow" panose="020B0606020202030204" pitchFamily="34" charset="0"/>
                <a:ea typeface="LG스마트체 Regular" panose="020B0600000101010101" pitchFamily="50" charset="-127"/>
              </a:rPr>
              <a:t>라인 재료교체 전</a:t>
            </a:r>
            <a:r>
              <a:rPr lang="en-US" altLang="ko-KR" sz="1100" dirty="0">
                <a:solidFill>
                  <a:prstClr val="black"/>
                </a:solidFill>
                <a:latin typeface="Arial Narrow" panose="020B0606020202030204" pitchFamily="34" charset="0"/>
                <a:ea typeface="LG스마트체 Regular" panose="020B0600000101010101" pitchFamily="50" charset="-127"/>
              </a:rPr>
              <a:t>/</a:t>
            </a:r>
            <a:r>
              <a:rPr lang="ko-KR" altLang="en-US" sz="1100" dirty="0">
                <a:solidFill>
                  <a:prstClr val="black"/>
                </a:solidFill>
                <a:latin typeface="Arial Narrow" panose="020B0606020202030204" pitchFamily="34" charset="0"/>
                <a:ea typeface="LG스마트체 Regular" panose="020B0600000101010101" pitchFamily="50" charset="-127"/>
              </a:rPr>
              <a:t>후 </a:t>
            </a:r>
            <a:r>
              <a:rPr lang="en-US" altLang="ko-KR" sz="1100" dirty="0">
                <a:solidFill>
                  <a:prstClr val="black"/>
                </a:solidFill>
                <a:latin typeface="Arial Narrow" panose="020B0606020202030204" pitchFamily="34" charset="0"/>
                <a:ea typeface="LG스마트체 Regular" panose="020B0600000101010101" pitchFamily="50" charset="-127"/>
              </a:rPr>
              <a:t>30tab </a:t>
            </a:r>
            <a:r>
              <a:rPr lang="ko-KR" altLang="en-US" sz="1100" dirty="0">
                <a:solidFill>
                  <a:prstClr val="black"/>
                </a:solidFill>
                <a:latin typeface="Arial Narrow" panose="020B0606020202030204" pitchFamily="34" charset="0"/>
                <a:ea typeface="LG스마트체 Regular" panose="020B0600000101010101" pitchFamily="50" charset="-127"/>
              </a:rPr>
              <a:t>구간의 미스매치 값 차이</a:t>
            </a:r>
            <a:r>
              <a:rPr lang="en-US" altLang="ko-KR" sz="1100" dirty="0">
                <a:solidFill>
                  <a:prstClr val="black"/>
                </a:solidFill>
                <a:latin typeface="Arial Narrow" panose="020B0606020202030204" pitchFamily="34" charset="0"/>
                <a:ea typeface="LG스마트체 Regular" panose="020B0600000101010101" pitchFamily="50" charset="-127"/>
              </a:rPr>
              <a:t> </a:t>
            </a:r>
            <a:r>
              <a:rPr lang="ko-KR" altLang="en-US" sz="1100" dirty="0">
                <a:solidFill>
                  <a:prstClr val="black"/>
                </a:solidFill>
                <a:latin typeface="Arial Narrow" panose="020B0606020202030204" pitchFamily="34" charset="0"/>
                <a:ea typeface="LG스마트체 Regular" panose="020B0600000101010101" pitchFamily="50" charset="-127"/>
              </a:rPr>
              <a:t>확인 결과</a:t>
            </a:r>
            <a:r>
              <a:rPr lang="en-US" altLang="ko-KR" sz="1100" dirty="0">
                <a:solidFill>
                  <a:prstClr val="black"/>
                </a:solidFill>
                <a:latin typeface="Arial Narrow" panose="020B0606020202030204" pitchFamily="34" charset="0"/>
                <a:ea typeface="LG스마트체 Regular" panose="020B0600000101010101" pitchFamily="50" charset="-127"/>
              </a:rPr>
              <a:t>,</a:t>
            </a:r>
            <a:br>
              <a:rPr lang="en-US" altLang="ko-KR" sz="1100" dirty="0">
                <a:solidFill>
                  <a:prstClr val="black"/>
                </a:solidFill>
                <a:latin typeface="Arial Narrow" panose="020B0606020202030204" pitchFamily="34" charset="0"/>
                <a:ea typeface="LG스마트체 Regular" panose="020B0600000101010101" pitchFamily="50" charset="-127"/>
              </a:rPr>
            </a:br>
            <a:r>
              <a:rPr lang="ko-KR" altLang="en-US" sz="1100" dirty="0">
                <a:solidFill>
                  <a:prstClr val="black"/>
                </a:solidFill>
                <a:latin typeface="Arial Narrow" panose="020B0606020202030204" pitchFamily="34" charset="0"/>
                <a:ea typeface="LG스마트체 Regular" panose="020B0600000101010101" pitchFamily="50" charset="-127"/>
              </a:rPr>
              <a:t>선별 투입 기능 적용</a:t>
            </a:r>
            <a:r>
              <a:rPr lang="en-US" altLang="ko-KR" sz="1100" dirty="0">
                <a:solidFill>
                  <a:prstClr val="black"/>
                </a:solidFill>
                <a:latin typeface="Arial Narrow" panose="020B0606020202030204" pitchFamily="34" charset="0"/>
                <a:ea typeface="LG스마트체 Regular" panose="020B0600000101010101" pitchFamily="50" charset="-127"/>
              </a:rPr>
              <a:t>(7/27~7/31, 8/9~8/13)</a:t>
            </a:r>
            <a:r>
              <a:rPr lang="ko-KR" altLang="en-US" sz="1100" dirty="0">
                <a:solidFill>
                  <a:prstClr val="black"/>
                </a:solidFill>
                <a:latin typeface="Arial Narrow" panose="020B0606020202030204" pitchFamily="34" charset="0"/>
                <a:ea typeface="LG스마트체 Regular" panose="020B0600000101010101" pitchFamily="50" charset="-127"/>
              </a:rPr>
              <a:t> 구간에 미스매치 편차가 상대적으로 낮게 집계됨을 확인하였음</a:t>
            </a:r>
            <a:r>
              <a:rPr lang="en-US" altLang="ko-KR" sz="1100" dirty="0">
                <a:solidFill>
                  <a:prstClr val="black"/>
                </a:solidFill>
                <a:latin typeface="Arial Narrow" panose="020B0606020202030204" pitchFamily="34" charset="0"/>
                <a:ea typeface="LG스마트체 Regular" panose="020B0600000101010101" pitchFamily="50" charset="-127"/>
              </a:rPr>
              <a:t>. </a:t>
            </a:r>
            <a:r>
              <a:rPr lang="en-US" altLang="ko-KR" sz="1050" dirty="0">
                <a:solidFill>
                  <a:srgbClr val="259656"/>
                </a:solidFill>
                <a:latin typeface="Arial Narrow" panose="020B0606020202030204" pitchFamily="34" charset="0"/>
                <a:ea typeface="LG스마트체 Regular" panose="020B0600000101010101" pitchFamily="50" charset="-127"/>
              </a:rPr>
              <a:t>* W32(</a:t>
            </a:r>
            <a:r>
              <a:rPr lang="ko-KR" altLang="en-US" sz="1050" dirty="0">
                <a:solidFill>
                  <a:srgbClr val="259656"/>
                </a:solidFill>
                <a:latin typeface="Arial Narrow" panose="020B0606020202030204" pitchFamily="34" charset="0"/>
                <a:ea typeface="LG스마트체 Regular" panose="020B0600000101010101" pitchFamily="50" charset="-127"/>
              </a:rPr>
              <a:t>적용 전</a:t>
            </a:r>
            <a:r>
              <a:rPr lang="en-US" altLang="ko-KR" sz="1050" dirty="0">
                <a:solidFill>
                  <a:srgbClr val="259656"/>
                </a:solidFill>
                <a:latin typeface="Arial Narrow" panose="020B0606020202030204" pitchFamily="34" charset="0"/>
                <a:ea typeface="LG스마트체 Regular" panose="020B0600000101010101" pitchFamily="50" charset="-127"/>
              </a:rPr>
              <a:t>) : 0.107 </a:t>
            </a:r>
            <a:r>
              <a:rPr lang="ko-KR" altLang="en-US" sz="1050" dirty="0">
                <a:solidFill>
                  <a:srgbClr val="259656"/>
                </a:solidFill>
                <a:latin typeface="Arial Narrow" panose="020B0606020202030204" pitchFamily="34" charset="0"/>
                <a:ea typeface="LG스마트체 Regular" panose="020B0600000101010101" pitchFamily="50" charset="-127"/>
              </a:rPr>
              <a:t>→ </a:t>
            </a:r>
            <a:r>
              <a:rPr lang="en-US" altLang="ko-KR" sz="1050" dirty="0">
                <a:solidFill>
                  <a:srgbClr val="259656"/>
                </a:solidFill>
                <a:latin typeface="Arial Narrow" panose="020B0606020202030204" pitchFamily="34" charset="0"/>
                <a:ea typeface="LG스마트체 Regular" panose="020B0600000101010101" pitchFamily="50" charset="-127"/>
              </a:rPr>
              <a:t>W33(</a:t>
            </a:r>
            <a:r>
              <a:rPr lang="ko-KR" altLang="en-US" sz="1050" dirty="0">
                <a:solidFill>
                  <a:srgbClr val="259656"/>
                </a:solidFill>
                <a:latin typeface="Arial Narrow" panose="020B0606020202030204" pitchFamily="34" charset="0"/>
                <a:ea typeface="LG스마트체 Regular" panose="020B0600000101010101" pitchFamily="50" charset="-127"/>
              </a:rPr>
              <a:t>적용 후</a:t>
            </a:r>
            <a:r>
              <a:rPr lang="en-US" altLang="ko-KR" sz="1050" dirty="0">
                <a:solidFill>
                  <a:srgbClr val="259656"/>
                </a:solidFill>
                <a:latin typeface="Arial Narrow" panose="020B0606020202030204" pitchFamily="34" charset="0"/>
                <a:ea typeface="LG스마트체 Regular" panose="020B0600000101010101" pitchFamily="50" charset="-127"/>
              </a:rPr>
              <a:t>) : 0.067  </a:t>
            </a:r>
            <a:r>
              <a:rPr lang="ko-KR" altLang="en-US" sz="1050" dirty="0">
                <a:solidFill>
                  <a:srgbClr val="259656"/>
                </a:solidFill>
                <a:latin typeface="Arial Narrow" panose="020B0606020202030204" pitchFamily="34" charset="0"/>
                <a:ea typeface="LG스마트체 Regular" panose="020B0600000101010101" pitchFamily="50" charset="-127"/>
              </a:rPr>
              <a:t>∇</a:t>
            </a:r>
            <a:r>
              <a:rPr lang="en-US" altLang="ko-KR" sz="1050" dirty="0">
                <a:solidFill>
                  <a:srgbClr val="259656"/>
                </a:solidFill>
                <a:latin typeface="Arial Narrow" panose="020B0606020202030204" pitchFamily="34" charset="0"/>
                <a:ea typeface="LG스마트체 Regular" panose="020B0600000101010101" pitchFamily="50" charset="-127"/>
              </a:rPr>
              <a:t>0.04(-37.3%)</a:t>
            </a:r>
            <a:endParaRPr kumimoji="0" lang="en-US" altLang="ko-KR" sz="1050" b="0" i="0" u="none" strike="noStrike" kern="1200" cap="none" spc="0" normalizeH="0" baseline="0" noProof="0" dirty="0">
              <a:ln>
                <a:noFill/>
              </a:ln>
              <a:solidFill>
                <a:srgbClr val="259656"/>
              </a:solidFill>
              <a:effectLst/>
              <a:uLnTx/>
              <a:uFillTx/>
              <a:latin typeface="Arial Narrow" panose="020B0606020202030204" pitchFamily="34" charset="0"/>
              <a:ea typeface="LG스마트체 Regular" panose="020B0600000101010101" pitchFamily="50" charset="-127"/>
            </a:endParaRPr>
          </a:p>
        </p:txBody>
      </p:sp>
      <p:sp>
        <p:nvSpPr>
          <p:cNvPr id="8" name="TextBox 7">
            <a:extLst>
              <a:ext uri="{FF2B5EF4-FFF2-40B4-BE49-F238E27FC236}">
                <a16:creationId xmlns:a16="http://schemas.microsoft.com/office/drawing/2014/main" id="{7D6C7271-BEDB-80A3-AB48-4476054CBB28}"/>
              </a:ext>
            </a:extLst>
          </p:cNvPr>
          <p:cNvSpPr txBox="1"/>
          <p:nvPr/>
        </p:nvSpPr>
        <p:spPr>
          <a:xfrm>
            <a:off x="5140193" y="1624421"/>
            <a:ext cx="4785397" cy="266996"/>
          </a:xfrm>
          <a:prstGeom prst="rect">
            <a:avLst/>
          </a:prstGeom>
          <a:noFill/>
        </p:spPr>
        <p:txBody>
          <a:bodyPr wrap="square" rtlCol="0">
            <a:spAutoFit/>
          </a:bodyPr>
          <a:lstStyle/>
          <a:p>
            <a:pPr marL="87078" marR="0" lvl="0" indent="-87078" algn="l" defTabSz="447830" rtl="0" eaLnBrk="1" fontAlgn="auto" latinLnBrk="0" hangingPunct="1">
              <a:lnSpc>
                <a:spcPct val="110000"/>
              </a:lnSpc>
              <a:spcBef>
                <a:spcPts val="0"/>
              </a:spcBef>
              <a:spcAft>
                <a:spcPts val="0"/>
              </a:spcAft>
              <a:buClrTx/>
              <a:buSzTx/>
              <a:buFont typeface="Wingdings" panose="05000000000000000000" pitchFamily="2" charset="2"/>
              <a:buChar char="§"/>
              <a:tabLst/>
              <a:defRPr/>
            </a:pPr>
            <a:r>
              <a:rPr lang="ko-KR" altLang="en-US" sz="1100" dirty="0">
                <a:solidFill>
                  <a:prstClr val="black"/>
                </a:solidFill>
                <a:latin typeface="Arial Narrow" panose="020B0606020202030204" pitchFamily="34" charset="0"/>
                <a:ea typeface="LG스마트체 Regular" panose="020B0600000101010101" pitchFamily="50" charset="-127"/>
              </a:rPr>
              <a:t>재료교체 전</a:t>
            </a:r>
            <a:r>
              <a:rPr lang="en-US" altLang="ko-KR" sz="1100" dirty="0">
                <a:solidFill>
                  <a:prstClr val="black"/>
                </a:solidFill>
                <a:latin typeface="Arial Narrow" panose="020B0606020202030204" pitchFamily="34" charset="0"/>
                <a:ea typeface="LG스마트체 Regular" panose="020B0600000101010101" pitchFamily="50" charset="-127"/>
              </a:rPr>
              <a:t>/</a:t>
            </a:r>
            <a:r>
              <a:rPr lang="ko-KR" altLang="en-US" sz="1100" dirty="0">
                <a:solidFill>
                  <a:prstClr val="black"/>
                </a:solidFill>
                <a:latin typeface="Arial Narrow" panose="020B0606020202030204" pitchFamily="34" charset="0"/>
                <a:ea typeface="LG스마트체 Regular" panose="020B0600000101010101" pitchFamily="50" charset="-127"/>
              </a:rPr>
              <a:t>후 미스매치 차이</a:t>
            </a:r>
            <a:r>
              <a:rPr lang="en-US" altLang="ko-KR" sz="1100" dirty="0">
                <a:solidFill>
                  <a:prstClr val="black"/>
                </a:solidFill>
                <a:latin typeface="Arial Narrow" panose="020B0606020202030204" pitchFamily="34" charset="0"/>
                <a:ea typeface="LG스마트체 Regular" panose="020B0600000101010101" pitchFamily="50" charset="-127"/>
              </a:rPr>
              <a:t> </a:t>
            </a:r>
            <a:r>
              <a:rPr lang="ko-KR" altLang="en-US" sz="1100" dirty="0">
                <a:solidFill>
                  <a:prstClr val="black"/>
                </a:solidFill>
                <a:latin typeface="Arial Narrow" panose="020B0606020202030204" pitchFamily="34" charset="0"/>
                <a:ea typeface="LG스마트체 Regular" panose="020B0600000101010101" pitchFamily="50" charset="-127"/>
              </a:rPr>
              <a:t>감소 시</a:t>
            </a:r>
            <a:r>
              <a:rPr lang="en-US" altLang="ko-KR" sz="1100" dirty="0">
                <a:solidFill>
                  <a:prstClr val="black"/>
                </a:solidFill>
                <a:latin typeface="Arial Narrow" panose="020B0606020202030204" pitchFamily="34" charset="0"/>
                <a:ea typeface="LG스마트체 Regular" panose="020B0600000101010101" pitchFamily="50" charset="-127"/>
              </a:rPr>
              <a:t>, Cutting Height</a:t>
            </a:r>
            <a:r>
              <a:rPr lang="ko-KR" altLang="en-US" sz="1100" dirty="0">
                <a:solidFill>
                  <a:prstClr val="black"/>
                </a:solidFill>
                <a:latin typeface="Arial Narrow" panose="020B0606020202030204" pitchFamily="34" charset="0"/>
                <a:ea typeface="LG스마트체 Regular" panose="020B0600000101010101" pitchFamily="50" charset="-127"/>
              </a:rPr>
              <a:t> 불량률 비례하여 감소 확인</a:t>
            </a:r>
            <a:endParaRPr lang="en-US" altLang="ko-KR" sz="1100" dirty="0">
              <a:solidFill>
                <a:prstClr val="black"/>
              </a:solidFill>
              <a:latin typeface="Arial Narrow" panose="020B0606020202030204" pitchFamily="34" charset="0"/>
              <a:ea typeface="LG스마트체 Regular" panose="020B0600000101010101" pitchFamily="50" charset="-127"/>
            </a:endParaRPr>
          </a:p>
        </p:txBody>
      </p:sp>
      <p:sp>
        <p:nvSpPr>
          <p:cNvPr id="11" name="TextBox 10">
            <a:extLst>
              <a:ext uri="{FF2B5EF4-FFF2-40B4-BE49-F238E27FC236}">
                <a16:creationId xmlns:a16="http://schemas.microsoft.com/office/drawing/2014/main" id="{D6343FF8-E9A4-C96E-D122-ADBE59AC16D5}"/>
              </a:ext>
            </a:extLst>
          </p:cNvPr>
          <p:cNvSpPr txBox="1"/>
          <p:nvPr/>
        </p:nvSpPr>
        <p:spPr>
          <a:xfrm>
            <a:off x="5140193" y="3925730"/>
            <a:ext cx="4785397" cy="454099"/>
          </a:xfrm>
          <a:prstGeom prst="rect">
            <a:avLst/>
          </a:prstGeom>
          <a:noFill/>
        </p:spPr>
        <p:txBody>
          <a:bodyPr wrap="square" rtlCol="0">
            <a:spAutoFit/>
          </a:bodyPr>
          <a:lstStyle/>
          <a:p>
            <a:pPr marL="87078" marR="0" lvl="0" indent="-87078" algn="l" defTabSz="447830" rtl="0" eaLnBrk="1" fontAlgn="auto" latinLnBrk="0" hangingPunct="1">
              <a:lnSpc>
                <a:spcPct val="110000"/>
              </a:lnSpc>
              <a:spcBef>
                <a:spcPts val="0"/>
              </a:spcBef>
              <a:spcAft>
                <a:spcPts val="0"/>
              </a:spcAft>
              <a:buClrTx/>
              <a:buSzTx/>
              <a:buFont typeface="Wingdings" panose="05000000000000000000" pitchFamily="2" charset="2"/>
              <a:buChar char="§"/>
              <a:tabLst/>
              <a:defRPr/>
            </a:pPr>
            <a:r>
              <a:rPr lang="en-US" altLang="ko-KR" sz="1100" dirty="0">
                <a:solidFill>
                  <a:prstClr val="black"/>
                </a:solidFill>
                <a:latin typeface="Arial Narrow" panose="020B0606020202030204" pitchFamily="34" charset="0"/>
                <a:ea typeface="LG스마트체 Regular" panose="020B0600000101010101" pitchFamily="50" charset="-127"/>
              </a:rPr>
              <a:t>E77A</a:t>
            </a:r>
            <a:r>
              <a:rPr lang="ko-KR" altLang="en-US" sz="1100" dirty="0">
                <a:solidFill>
                  <a:prstClr val="black"/>
                </a:solidFill>
                <a:latin typeface="Arial Narrow" panose="020B0606020202030204" pitchFamily="34" charset="0"/>
                <a:ea typeface="LG스마트체 Regular" panose="020B0600000101010101" pitchFamily="50" charset="-127"/>
              </a:rPr>
              <a:t> 양극</a:t>
            </a:r>
            <a:r>
              <a:rPr lang="en-US" altLang="ko-KR" sz="1100" dirty="0">
                <a:solidFill>
                  <a:prstClr val="black"/>
                </a:solidFill>
                <a:latin typeface="Arial Narrow" panose="020B0606020202030204" pitchFamily="34" charset="0"/>
                <a:ea typeface="LG스마트체 Regular" panose="020B0600000101010101" pitchFamily="50" charset="-127"/>
              </a:rPr>
              <a:t>(MEB) </a:t>
            </a:r>
            <a:r>
              <a:rPr lang="ko-KR" altLang="en-US" sz="1100" dirty="0">
                <a:solidFill>
                  <a:prstClr val="black"/>
                </a:solidFill>
                <a:latin typeface="Arial Narrow" panose="020B0606020202030204" pitchFamily="34" charset="0"/>
                <a:ea typeface="LG스마트체 Regular" panose="020B0600000101010101" pitchFamily="50" charset="-127"/>
              </a:rPr>
              <a:t>전 라인</a:t>
            </a:r>
            <a:r>
              <a:rPr lang="en-US" altLang="ko-KR" sz="1100" baseline="30000" dirty="0">
                <a:solidFill>
                  <a:prstClr val="black"/>
                </a:solidFill>
                <a:latin typeface="Arial Narrow" panose="020B0606020202030204" pitchFamily="34" charset="0"/>
                <a:ea typeface="LG스마트체 Regular" panose="020B0600000101010101" pitchFamily="50" charset="-127"/>
              </a:rPr>
              <a:t>1)</a:t>
            </a:r>
            <a:r>
              <a:rPr lang="ko-KR" altLang="en-US" sz="1100" dirty="0">
                <a:solidFill>
                  <a:prstClr val="black"/>
                </a:solidFill>
                <a:latin typeface="Arial Narrow" panose="020B0606020202030204" pitchFamily="34" charset="0"/>
                <a:ea typeface="LG스마트체 Regular" panose="020B0600000101010101" pitchFamily="50" charset="-127"/>
              </a:rPr>
              <a:t> 기준으로 단기 효과 </a:t>
            </a:r>
            <a:r>
              <a:rPr lang="en-US" altLang="ko-KR" sz="1100" dirty="0">
                <a:solidFill>
                  <a:prstClr val="black"/>
                </a:solidFill>
                <a:latin typeface="Arial Narrow" panose="020B0606020202030204" pitchFamily="34" charset="0"/>
                <a:ea typeface="LG스마트체 Regular" panose="020B0600000101010101" pitchFamily="50" charset="-127"/>
              </a:rPr>
              <a:t>0.016%(0.046 % </a:t>
            </a:r>
            <a:r>
              <a:rPr lang="ko-KR" altLang="en-US" sz="1100" dirty="0">
                <a:solidFill>
                  <a:prstClr val="black"/>
                </a:solidFill>
                <a:latin typeface="Arial Narrow" panose="020B0606020202030204" pitchFamily="34" charset="0"/>
                <a:ea typeface="LG스마트체 Regular" panose="020B0600000101010101" pitchFamily="50" charset="-127"/>
              </a:rPr>
              <a:t>→ </a:t>
            </a:r>
            <a:r>
              <a:rPr lang="en-US" altLang="ko-KR" sz="1100" dirty="0">
                <a:solidFill>
                  <a:prstClr val="black"/>
                </a:solidFill>
                <a:latin typeface="Arial Narrow" panose="020B0606020202030204" pitchFamily="34" charset="0"/>
                <a:ea typeface="LG스마트체 Regular" panose="020B0600000101010101" pitchFamily="50" charset="-127"/>
              </a:rPr>
              <a:t>0.030%) </a:t>
            </a:r>
            <a:r>
              <a:rPr lang="ko-KR" altLang="en-US" sz="1100" dirty="0">
                <a:solidFill>
                  <a:prstClr val="black"/>
                </a:solidFill>
                <a:latin typeface="Arial Narrow" panose="020B0606020202030204" pitchFamily="34" charset="0"/>
                <a:ea typeface="LG스마트체 Regular" panose="020B0600000101010101" pitchFamily="50" charset="-127"/>
              </a:rPr>
              <a:t>불량률 개선 확인 </a:t>
            </a:r>
            <a:r>
              <a:rPr lang="en-US" altLang="ko-KR" sz="1000" dirty="0">
                <a:solidFill>
                  <a:srgbClr val="259656"/>
                </a:solidFill>
                <a:latin typeface="Arial Narrow" panose="020B0606020202030204" pitchFamily="34" charset="0"/>
                <a:ea typeface="LG스마트체 Regular" panose="020B0600000101010101" pitchFamily="50" charset="-127"/>
              </a:rPr>
              <a:t>(</a:t>
            </a:r>
            <a:r>
              <a:rPr lang="ko-KR" altLang="en-US" sz="1000" dirty="0">
                <a:solidFill>
                  <a:srgbClr val="259656"/>
                </a:solidFill>
                <a:latin typeface="Arial Narrow" panose="020B0606020202030204" pitchFamily="34" charset="0"/>
                <a:ea typeface="LG스마트체 Regular" panose="020B0600000101010101" pitchFamily="50" charset="-127"/>
              </a:rPr>
              <a:t>제조빅데이터분석</a:t>
            </a:r>
            <a:r>
              <a:rPr lang="en-US" altLang="ko-KR" sz="1000" dirty="0">
                <a:solidFill>
                  <a:srgbClr val="259656"/>
                </a:solidFill>
                <a:latin typeface="Arial Narrow" panose="020B0606020202030204" pitchFamily="34" charset="0"/>
                <a:ea typeface="LG스마트체 Regular" panose="020B0600000101010101" pitchFamily="50" charset="-127"/>
              </a:rPr>
              <a:t>1</a:t>
            </a:r>
            <a:r>
              <a:rPr lang="ko-KR" altLang="en-US" sz="1000" dirty="0">
                <a:solidFill>
                  <a:srgbClr val="259656"/>
                </a:solidFill>
                <a:latin typeface="Arial Narrow" panose="020B0606020202030204" pitchFamily="34" charset="0"/>
                <a:ea typeface="LG스마트체 Regular" panose="020B0600000101010101" pitchFamily="50" charset="-127"/>
              </a:rPr>
              <a:t>팀 분석 결과</a:t>
            </a:r>
            <a:r>
              <a:rPr lang="en-US" altLang="ko-KR" sz="1000" dirty="0">
                <a:solidFill>
                  <a:srgbClr val="259656"/>
                </a:solidFill>
                <a:latin typeface="Arial Narrow" panose="020B0606020202030204" pitchFamily="34" charset="0"/>
                <a:ea typeface="LG스마트체 Regular" panose="020B0600000101010101" pitchFamily="50" charset="-127"/>
              </a:rPr>
              <a:t>)</a:t>
            </a:r>
            <a:endParaRPr kumimoji="0" lang="en-US" altLang="ko-KR" sz="1100" b="0" i="0" u="none" strike="noStrike" kern="1200" cap="none" spc="0" normalizeH="0" baseline="0" noProof="0" dirty="0">
              <a:ln>
                <a:noFill/>
              </a:ln>
              <a:solidFill>
                <a:srgbClr val="259656"/>
              </a:solidFill>
              <a:effectLst/>
              <a:uLnTx/>
              <a:uFillTx/>
              <a:latin typeface="Arial Narrow" panose="020B0606020202030204" pitchFamily="34" charset="0"/>
              <a:ea typeface="LG스마트체 Regular" panose="020B0600000101010101" pitchFamily="50" charset="-127"/>
            </a:endParaRPr>
          </a:p>
        </p:txBody>
      </p:sp>
      <p:grpSp>
        <p:nvGrpSpPr>
          <p:cNvPr id="57" name="그룹 56">
            <a:extLst>
              <a:ext uri="{FF2B5EF4-FFF2-40B4-BE49-F238E27FC236}">
                <a16:creationId xmlns:a16="http://schemas.microsoft.com/office/drawing/2014/main" id="{7E59B03F-9659-6670-09E0-C221803BCD23}"/>
              </a:ext>
            </a:extLst>
          </p:cNvPr>
          <p:cNvGrpSpPr/>
          <p:nvPr/>
        </p:nvGrpSpPr>
        <p:grpSpPr>
          <a:xfrm>
            <a:off x="5151763" y="1891417"/>
            <a:ext cx="4621223" cy="1754820"/>
            <a:chOff x="5151763" y="1997012"/>
            <a:chExt cx="4621223" cy="1754820"/>
          </a:xfrm>
        </p:grpSpPr>
        <p:grpSp>
          <p:nvGrpSpPr>
            <p:cNvPr id="49" name="그룹 48">
              <a:extLst>
                <a:ext uri="{FF2B5EF4-FFF2-40B4-BE49-F238E27FC236}">
                  <a16:creationId xmlns:a16="http://schemas.microsoft.com/office/drawing/2014/main" id="{3027B7E6-8543-1EEF-6AC3-15C43F1ED980}"/>
                </a:ext>
              </a:extLst>
            </p:cNvPr>
            <p:cNvGrpSpPr/>
            <p:nvPr/>
          </p:nvGrpSpPr>
          <p:grpSpPr>
            <a:xfrm>
              <a:off x="5151763" y="2020162"/>
              <a:ext cx="4621223" cy="1731670"/>
              <a:chOff x="5142520" y="2326418"/>
              <a:chExt cx="4621223" cy="1574245"/>
            </a:xfrm>
          </p:grpSpPr>
          <p:pic>
            <p:nvPicPr>
              <p:cNvPr id="43" name="그림 42">
                <a:extLst>
                  <a:ext uri="{FF2B5EF4-FFF2-40B4-BE49-F238E27FC236}">
                    <a16:creationId xmlns:a16="http://schemas.microsoft.com/office/drawing/2014/main" id="{44E6BC16-2173-5FEC-AE86-5DA43B5234F3}"/>
                  </a:ext>
                </a:extLst>
              </p:cNvPr>
              <p:cNvPicPr>
                <a:picLocks noChangeAspect="1"/>
              </p:cNvPicPr>
              <p:nvPr/>
            </p:nvPicPr>
            <p:blipFill>
              <a:blip r:embed="rId3"/>
              <a:stretch>
                <a:fillRect/>
              </a:stretch>
            </p:blipFill>
            <p:spPr>
              <a:xfrm>
                <a:off x="5142520" y="2326418"/>
                <a:ext cx="4621223" cy="1574245"/>
              </a:xfrm>
              <a:prstGeom prst="rect">
                <a:avLst/>
              </a:prstGeom>
              <a:ln>
                <a:solidFill>
                  <a:schemeClr val="tx1">
                    <a:lumMod val="50000"/>
                    <a:lumOff val="50000"/>
                  </a:schemeClr>
                </a:solidFill>
              </a:ln>
            </p:spPr>
          </p:pic>
          <p:cxnSp>
            <p:nvCxnSpPr>
              <p:cNvPr id="45" name="직선 화살표 연결선 44">
                <a:extLst>
                  <a:ext uri="{FF2B5EF4-FFF2-40B4-BE49-F238E27FC236}">
                    <a16:creationId xmlns:a16="http://schemas.microsoft.com/office/drawing/2014/main" id="{A493B58E-E0A5-6388-08F9-8D4AD12581FB}"/>
                  </a:ext>
                </a:extLst>
              </p:cNvPr>
              <p:cNvCxnSpPr/>
              <p:nvPr/>
            </p:nvCxnSpPr>
            <p:spPr>
              <a:xfrm>
                <a:off x="6707528" y="2961611"/>
                <a:ext cx="0" cy="363503"/>
              </a:xfrm>
              <a:prstGeom prst="straightConnector1">
                <a:avLst/>
              </a:prstGeom>
              <a:ln>
                <a:solidFill>
                  <a:srgbClr val="FF0000"/>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6" name="직선 화살표 연결선 45">
                <a:extLst>
                  <a:ext uri="{FF2B5EF4-FFF2-40B4-BE49-F238E27FC236}">
                    <a16:creationId xmlns:a16="http://schemas.microsoft.com/office/drawing/2014/main" id="{028F1C34-9834-4E32-008A-E4FD41ED7374}"/>
                  </a:ext>
                </a:extLst>
              </p:cNvPr>
              <p:cNvCxnSpPr/>
              <p:nvPr/>
            </p:nvCxnSpPr>
            <p:spPr>
              <a:xfrm>
                <a:off x="7164728" y="2961611"/>
                <a:ext cx="0" cy="363503"/>
              </a:xfrm>
              <a:prstGeom prst="straightConnector1">
                <a:avLst/>
              </a:prstGeom>
              <a:ln>
                <a:solidFill>
                  <a:srgbClr val="FF0000"/>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4306C348-DA5F-DDA3-5D78-BDC92EFD1771}"/>
                  </a:ext>
                </a:extLst>
              </p:cNvPr>
              <p:cNvCxnSpPr/>
              <p:nvPr/>
            </p:nvCxnSpPr>
            <p:spPr>
              <a:xfrm>
                <a:off x="8119639" y="2920971"/>
                <a:ext cx="0" cy="363503"/>
              </a:xfrm>
              <a:prstGeom prst="straightConnector1">
                <a:avLst/>
              </a:prstGeom>
              <a:ln>
                <a:solidFill>
                  <a:srgbClr val="FF0000"/>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48" name="직선 화살표 연결선 47">
                <a:extLst>
                  <a:ext uri="{FF2B5EF4-FFF2-40B4-BE49-F238E27FC236}">
                    <a16:creationId xmlns:a16="http://schemas.microsoft.com/office/drawing/2014/main" id="{2D74D4A8-6C39-52AC-37AC-AF7AAAA8E8C5}"/>
                  </a:ext>
                </a:extLst>
              </p:cNvPr>
              <p:cNvCxnSpPr/>
              <p:nvPr/>
            </p:nvCxnSpPr>
            <p:spPr>
              <a:xfrm>
                <a:off x="9542039" y="2875251"/>
                <a:ext cx="0" cy="363503"/>
              </a:xfrm>
              <a:prstGeom prst="straightConnector1">
                <a:avLst/>
              </a:prstGeom>
              <a:ln>
                <a:solidFill>
                  <a:srgbClr val="FF0000"/>
                </a:solidFill>
                <a:headEnd w="sm" len="med"/>
                <a:tailEnd type="triangle" w="sm" len="med"/>
              </a:ln>
            </p:spPr>
            <p:style>
              <a:lnRef idx="1">
                <a:schemeClr val="accent1"/>
              </a:lnRef>
              <a:fillRef idx="0">
                <a:schemeClr val="accent1"/>
              </a:fillRef>
              <a:effectRef idx="0">
                <a:schemeClr val="accent1"/>
              </a:effectRef>
              <a:fontRef idx="minor">
                <a:schemeClr val="tx1"/>
              </a:fontRef>
            </p:style>
          </p:cxnSp>
        </p:grpSp>
        <p:cxnSp>
          <p:nvCxnSpPr>
            <p:cNvPr id="52" name="직선 연결선 51">
              <a:extLst>
                <a:ext uri="{FF2B5EF4-FFF2-40B4-BE49-F238E27FC236}">
                  <a16:creationId xmlns:a16="http://schemas.microsoft.com/office/drawing/2014/main" id="{10D84E85-79F1-A12E-1465-E054D9B6B441}"/>
                </a:ext>
              </a:extLst>
            </p:cNvPr>
            <p:cNvCxnSpPr/>
            <p:nvPr/>
          </p:nvCxnSpPr>
          <p:spPr>
            <a:xfrm>
              <a:off x="5508829" y="2118167"/>
              <a:ext cx="221359" cy="0"/>
            </a:xfrm>
            <a:prstGeom prst="line">
              <a:avLst/>
            </a:prstGeom>
            <a:ln w="19050">
              <a:solidFill>
                <a:srgbClr val="6B8EFA"/>
              </a:solidFill>
            </a:ln>
          </p:spPr>
          <p:style>
            <a:lnRef idx="1">
              <a:schemeClr val="accent1"/>
            </a:lnRef>
            <a:fillRef idx="0">
              <a:schemeClr val="accent1"/>
            </a:fillRef>
            <a:effectRef idx="0">
              <a:schemeClr val="accent1"/>
            </a:effectRef>
            <a:fontRef idx="minor">
              <a:schemeClr val="tx1"/>
            </a:fontRef>
          </p:style>
        </p:cxnSp>
        <p:sp>
          <p:nvSpPr>
            <p:cNvPr id="54" name="직사각형 53">
              <a:extLst>
                <a:ext uri="{FF2B5EF4-FFF2-40B4-BE49-F238E27FC236}">
                  <a16:creationId xmlns:a16="http://schemas.microsoft.com/office/drawing/2014/main" id="{7D6A605A-0CAF-7516-C55D-9739A80DBE5E}"/>
                </a:ext>
              </a:extLst>
            </p:cNvPr>
            <p:cNvSpPr/>
            <p:nvPr/>
          </p:nvSpPr>
          <p:spPr>
            <a:xfrm>
              <a:off x="5530465" y="2228126"/>
              <a:ext cx="201235" cy="96630"/>
            </a:xfrm>
            <a:prstGeom prst="rect">
              <a:avLst/>
            </a:prstGeom>
            <a:solidFill>
              <a:srgbClr val="FA78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TextBox 54">
              <a:extLst>
                <a:ext uri="{FF2B5EF4-FFF2-40B4-BE49-F238E27FC236}">
                  <a16:creationId xmlns:a16="http://schemas.microsoft.com/office/drawing/2014/main" id="{AE886064-D83D-FDF8-3F96-DA774072696E}"/>
                </a:ext>
              </a:extLst>
            </p:cNvPr>
            <p:cNvSpPr txBox="1"/>
            <p:nvPr/>
          </p:nvSpPr>
          <p:spPr>
            <a:xfrm>
              <a:off x="5701252" y="1997012"/>
              <a:ext cx="1857737" cy="230832"/>
            </a:xfrm>
            <a:prstGeom prst="rect">
              <a:avLst/>
            </a:prstGeom>
            <a:noFill/>
          </p:spPr>
          <p:txBody>
            <a:bodyPr wrap="square" rtlCol="0">
              <a:spAutoFit/>
            </a:bodyPr>
            <a:lstStyle/>
            <a:p>
              <a:r>
                <a:rPr lang="en-US" altLang="ko-KR" sz="900" dirty="0">
                  <a:solidFill>
                    <a:srgbClr val="6B8EFA"/>
                  </a:solidFill>
                  <a:latin typeface="LG스마트체 Regular" panose="020B0600000101010101" pitchFamily="50" charset="-127"/>
                  <a:ea typeface="LG스마트체 Regular" panose="020B0600000101010101" pitchFamily="50" charset="-127"/>
                </a:rPr>
                <a:t>: </a:t>
              </a:r>
              <a:r>
                <a:rPr lang="ko-KR" altLang="en-US" sz="900" dirty="0">
                  <a:solidFill>
                    <a:srgbClr val="6B8EFA"/>
                  </a:solidFill>
                  <a:latin typeface="LG스마트체 Regular" panose="020B0600000101010101" pitchFamily="50" charset="-127"/>
                  <a:ea typeface="LG스마트체 Regular" panose="020B0600000101010101" pitchFamily="50" charset="-127"/>
                </a:rPr>
                <a:t>재료교체 전</a:t>
              </a:r>
              <a:r>
                <a:rPr lang="en-US" altLang="ko-KR" sz="900" dirty="0">
                  <a:solidFill>
                    <a:srgbClr val="6B8EFA"/>
                  </a:solidFill>
                  <a:latin typeface="LG스마트체 Regular" panose="020B0600000101010101" pitchFamily="50" charset="-127"/>
                  <a:ea typeface="LG스마트체 Regular" panose="020B0600000101010101" pitchFamily="50" charset="-127"/>
                </a:rPr>
                <a:t>/</a:t>
              </a:r>
              <a:r>
                <a:rPr lang="ko-KR" altLang="en-US" sz="900" dirty="0">
                  <a:solidFill>
                    <a:srgbClr val="6B8EFA"/>
                  </a:solidFill>
                  <a:latin typeface="LG스마트체 Regular" panose="020B0600000101010101" pitchFamily="50" charset="-127"/>
                  <a:ea typeface="LG스마트체 Regular" panose="020B0600000101010101" pitchFamily="50" charset="-127"/>
                </a:rPr>
                <a:t>후 미스매치 차이</a:t>
              </a:r>
            </a:p>
          </p:txBody>
        </p:sp>
        <p:sp>
          <p:nvSpPr>
            <p:cNvPr id="56" name="TextBox 55">
              <a:extLst>
                <a:ext uri="{FF2B5EF4-FFF2-40B4-BE49-F238E27FC236}">
                  <a16:creationId xmlns:a16="http://schemas.microsoft.com/office/drawing/2014/main" id="{76702D1C-8657-C362-9467-8397CECC09A6}"/>
                </a:ext>
              </a:extLst>
            </p:cNvPr>
            <p:cNvSpPr txBox="1"/>
            <p:nvPr/>
          </p:nvSpPr>
          <p:spPr>
            <a:xfrm>
              <a:off x="5701252" y="2161025"/>
              <a:ext cx="2746062" cy="353943"/>
            </a:xfrm>
            <a:prstGeom prst="rect">
              <a:avLst/>
            </a:prstGeom>
            <a:noFill/>
          </p:spPr>
          <p:txBody>
            <a:bodyPr wrap="square" rtlCol="0">
              <a:spAutoFit/>
            </a:bodyPr>
            <a:lstStyle/>
            <a:p>
              <a:r>
                <a:rPr lang="en-US" altLang="ko-KR" sz="900" dirty="0">
                  <a:solidFill>
                    <a:srgbClr val="FA7864"/>
                  </a:solidFill>
                  <a:latin typeface="LG스마트체 Regular" panose="020B0600000101010101" pitchFamily="50" charset="-127"/>
                  <a:ea typeface="LG스마트체 Regular" panose="020B0600000101010101" pitchFamily="50" charset="-127"/>
                </a:rPr>
                <a:t>: </a:t>
              </a:r>
              <a:r>
                <a:rPr lang="ko-KR" altLang="en-US" sz="900" dirty="0">
                  <a:solidFill>
                    <a:srgbClr val="FA7864"/>
                  </a:solidFill>
                  <a:latin typeface="LG스마트체 Regular" panose="020B0600000101010101" pitchFamily="50" charset="-127"/>
                  <a:ea typeface="LG스마트체 Regular" panose="020B0600000101010101" pitchFamily="50" charset="-127"/>
                </a:rPr>
                <a:t>재료교체 구간 </a:t>
              </a:r>
              <a:r>
                <a:rPr lang="en-US" altLang="ko-KR" sz="900" dirty="0">
                  <a:solidFill>
                    <a:srgbClr val="FA7864"/>
                  </a:solidFill>
                  <a:latin typeface="LG스마트체 Regular" panose="020B0600000101010101" pitchFamily="50" charset="-127"/>
                  <a:ea typeface="LG스마트체 Regular" panose="020B0600000101010101" pitchFamily="50" charset="-127"/>
                </a:rPr>
                <a:t>Cutting Height</a:t>
              </a:r>
              <a:r>
                <a:rPr lang="ko-KR" altLang="en-US" sz="900" dirty="0">
                  <a:solidFill>
                    <a:srgbClr val="FA7864"/>
                  </a:solidFill>
                  <a:latin typeface="LG스마트체 Regular" panose="020B0600000101010101" pitchFamily="50" charset="-127"/>
                  <a:ea typeface="LG스마트체 Regular" panose="020B0600000101010101" pitchFamily="50" charset="-127"/>
                </a:rPr>
                <a:t> 불량률</a:t>
              </a:r>
              <a:r>
                <a:rPr lang="en-US" altLang="ko-KR" sz="900" dirty="0">
                  <a:solidFill>
                    <a:srgbClr val="FA7864"/>
                  </a:solidFill>
                  <a:latin typeface="LG스마트체 Regular" panose="020B0600000101010101" pitchFamily="50" charset="-127"/>
                  <a:ea typeface="LG스마트체 Regular" panose="020B0600000101010101" pitchFamily="50" charset="-127"/>
                </a:rPr>
                <a:t>(0.01 = 1%)</a:t>
              </a:r>
              <a:br>
                <a:rPr lang="en-US" altLang="ko-KR" sz="900" dirty="0">
                  <a:solidFill>
                    <a:srgbClr val="FA7864"/>
                  </a:solidFill>
                  <a:latin typeface="LG스마트체 Regular" panose="020B0600000101010101" pitchFamily="50" charset="-127"/>
                  <a:ea typeface="LG스마트체 Regular" panose="020B0600000101010101" pitchFamily="50" charset="-127"/>
                </a:rPr>
              </a:br>
              <a:r>
                <a:rPr lang="en-US" altLang="ko-KR" sz="800" dirty="0">
                  <a:solidFill>
                    <a:srgbClr val="FA7864"/>
                  </a:solidFill>
                  <a:latin typeface="LG스마트체 Regular" panose="020B0600000101010101" pitchFamily="50" charset="-127"/>
                  <a:ea typeface="LG스마트체 Regular" panose="020B0600000101010101" pitchFamily="50" charset="-127"/>
                </a:rPr>
                <a:t>  (</a:t>
              </a:r>
              <a:r>
                <a:rPr lang="ko-KR" altLang="en-US" sz="800" dirty="0">
                  <a:solidFill>
                    <a:srgbClr val="FA7864"/>
                  </a:solidFill>
                  <a:latin typeface="LG스마트체 Regular" panose="020B0600000101010101" pitchFamily="50" charset="-127"/>
                  <a:ea typeface="LG스마트체 Regular" panose="020B0600000101010101" pitchFamily="50" charset="-127"/>
                </a:rPr>
                <a:t>재료 교체 이전 </a:t>
              </a:r>
              <a:r>
                <a:rPr lang="en-US" altLang="ko-KR" sz="800" dirty="0">
                  <a:solidFill>
                    <a:srgbClr val="FA7864"/>
                  </a:solidFill>
                  <a:latin typeface="LG스마트체 Regular" panose="020B0600000101010101" pitchFamily="50" charset="-127"/>
                  <a:ea typeface="LG스마트체 Regular" panose="020B0600000101010101" pitchFamily="50" charset="-127"/>
                </a:rPr>
                <a:t>50tab, </a:t>
              </a:r>
              <a:r>
                <a:rPr lang="ko-KR" altLang="en-US" sz="800" dirty="0">
                  <a:solidFill>
                    <a:srgbClr val="FA7864"/>
                  </a:solidFill>
                  <a:latin typeface="LG스마트체 Regular" panose="020B0600000101010101" pitchFamily="50" charset="-127"/>
                  <a:ea typeface="LG스마트체 Regular" panose="020B0600000101010101" pitchFamily="50" charset="-127"/>
                </a:rPr>
                <a:t>이후 </a:t>
              </a:r>
              <a:r>
                <a:rPr lang="en-US" altLang="ko-KR" sz="800" dirty="0">
                  <a:solidFill>
                    <a:srgbClr val="FA7864"/>
                  </a:solidFill>
                  <a:latin typeface="LG스마트체 Regular" panose="020B0600000101010101" pitchFamily="50" charset="-127"/>
                  <a:ea typeface="LG스마트체 Regular" panose="020B0600000101010101" pitchFamily="50" charset="-127"/>
                </a:rPr>
                <a:t>300tab)</a:t>
              </a:r>
              <a:endParaRPr lang="ko-KR" altLang="en-US" sz="900" dirty="0">
                <a:solidFill>
                  <a:srgbClr val="FA7864"/>
                </a:solidFill>
                <a:latin typeface="LG스마트체 Regular" panose="020B0600000101010101" pitchFamily="50" charset="-127"/>
                <a:ea typeface="LG스마트체 Regular" panose="020B0600000101010101" pitchFamily="50" charset="-127"/>
              </a:endParaRPr>
            </a:p>
          </p:txBody>
        </p:sp>
      </p:grpSp>
      <p:grpSp>
        <p:nvGrpSpPr>
          <p:cNvPr id="58" name="그룹 57">
            <a:extLst>
              <a:ext uri="{FF2B5EF4-FFF2-40B4-BE49-F238E27FC236}">
                <a16:creationId xmlns:a16="http://schemas.microsoft.com/office/drawing/2014/main" id="{2ADAE663-1070-73C8-0EA6-9998F6B0D880}"/>
              </a:ext>
            </a:extLst>
          </p:cNvPr>
          <p:cNvGrpSpPr/>
          <p:nvPr/>
        </p:nvGrpSpPr>
        <p:grpSpPr>
          <a:xfrm>
            <a:off x="5180702" y="4464657"/>
            <a:ext cx="4624921" cy="1654857"/>
            <a:chOff x="198753" y="907177"/>
            <a:chExt cx="9566560" cy="2202615"/>
          </a:xfrm>
        </p:grpSpPr>
        <p:sp>
          <p:nvSpPr>
            <p:cNvPr id="59" name="TextBox 58">
              <a:extLst>
                <a:ext uri="{FF2B5EF4-FFF2-40B4-BE49-F238E27FC236}">
                  <a16:creationId xmlns:a16="http://schemas.microsoft.com/office/drawing/2014/main" id="{A873649C-DD5C-7018-2589-49B35C86662A}"/>
                </a:ext>
              </a:extLst>
            </p:cNvPr>
            <p:cNvSpPr txBox="1"/>
            <p:nvPr/>
          </p:nvSpPr>
          <p:spPr>
            <a:xfrm>
              <a:off x="198753" y="918077"/>
              <a:ext cx="4149264" cy="279307"/>
            </a:xfrm>
            <a:prstGeom prst="rect">
              <a:avLst/>
            </a:prstGeom>
            <a:noFill/>
          </p:spPr>
          <p:txBody>
            <a:bodyPr wrap="none" rtlCol="0">
              <a:spAutoFit/>
            </a:bodyPr>
            <a:lstStyle/>
            <a:p>
              <a:r>
                <a:rPr lang="ko-KR" altLang="en-US" sz="900" b="1" dirty="0">
                  <a:latin typeface="LG스마트체 Regular" panose="020B0600000101010101" pitchFamily="50" charset="-127"/>
                  <a:ea typeface="LG스마트체 Regular" panose="020B0600000101010101" pitchFamily="50" charset="-127"/>
                </a:rPr>
                <a:t>▼ </a:t>
              </a:r>
              <a:r>
                <a:rPr lang="en-US" altLang="ko-KR" sz="900" b="1" dirty="0">
                  <a:latin typeface="LG스마트체 Regular" panose="020B0600000101010101" pitchFamily="50" charset="-127"/>
                  <a:ea typeface="LG스마트체 Regular" panose="020B0600000101010101" pitchFamily="50" charset="-127"/>
                </a:rPr>
                <a:t>8/1 – 8/11 </a:t>
              </a:r>
              <a:r>
                <a:rPr lang="ko-KR" altLang="en-US" sz="900" b="1" dirty="0">
                  <a:latin typeface="LG스마트체 Regular" panose="020B0600000101010101" pitchFamily="50" charset="-127"/>
                  <a:ea typeface="LG스마트체 Regular" panose="020B0600000101010101" pitchFamily="50" charset="-127"/>
                </a:rPr>
                <a:t>재료교체 영역 하부 </a:t>
              </a:r>
              <a:r>
                <a:rPr lang="en-US" altLang="ko-KR" sz="900" b="1" dirty="0">
                  <a:latin typeface="LG스마트체 Regular" panose="020B0600000101010101" pitchFamily="50" charset="-127"/>
                  <a:ea typeface="LG스마트체 Regular" panose="020B0600000101010101" pitchFamily="50" charset="-127"/>
                </a:rPr>
                <a:t>Cutting Height </a:t>
              </a:r>
              <a:r>
                <a:rPr lang="ko-KR" altLang="en-US" sz="900" b="1" dirty="0" err="1">
                  <a:latin typeface="LG스마트체 Regular" panose="020B0600000101010101" pitchFamily="50" charset="-127"/>
                  <a:ea typeface="LG스마트체 Regular" panose="020B0600000101010101" pitchFamily="50" charset="-127"/>
                </a:rPr>
                <a:t>단독불량률</a:t>
              </a:r>
              <a:r>
                <a:rPr lang="ko-KR" altLang="en-US" sz="900" b="1" dirty="0">
                  <a:latin typeface="LG스마트체 Regular" panose="020B0600000101010101" pitchFamily="50" charset="-127"/>
                  <a:ea typeface="LG스마트체 Regular" panose="020B0600000101010101" pitchFamily="50" charset="-127"/>
                </a:rPr>
                <a:t> </a:t>
              </a:r>
              <a:r>
                <a:rPr lang="en-US" altLang="ko-KR" sz="900" b="1" dirty="0">
                  <a:latin typeface="LG스마트체 Regular" panose="020B0600000101010101" pitchFamily="50" charset="-127"/>
                  <a:ea typeface="LG스마트체 Regular" panose="020B0600000101010101" pitchFamily="50" charset="-127"/>
                </a:rPr>
                <a:t>Trend</a:t>
              </a:r>
              <a:endParaRPr lang="ko-KR" altLang="en-US" sz="900" b="1" dirty="0">
                <a:latin typeface="LG스마트체 Regular" panose="020B0600000101010101" pitchFamily="50" charset="-127"/>
                <a:ea typeface="LG스마트체 Regular" panose="020B0600000101010101" pitchFamily="50" charset="-127"/>
              </a:endParaRPr>
            </a:p>
          </p:txBody>
        </p:sp>
        <p:grpSp>
          <p:nvGrpSpPr>
            <p:cNvPr id="60" name="그룹 59">
              <a:extLst>
                <a:ext uri="{FF2B5EF4-FFF2-40B4-BE49-F238E27FC236}">
                  <a16:creationId xmlns:a16="http://schemas.microsoft.com/office/drawing/2014/main" id="{343F039A-D7A9-D51D-7DF7-46365214D552}"/>
                </a:ext>
              </a:extLst>
            </p:cNvPr>
            <p:cNvGrpSpPr/>
            <p:nvPr/>
          </p:nvGrpSpPr>
          <p:grpSpPr>
            <a:xfrm>
              <a:off x="298044" y="907177"/>
              <a:ext cx="9467269" cy="2202615"/>
              <a:chOff x="228131" y="1685895"/>
              <a:chExt cx="10182640" cy="2202615"/>
            </a:xfrm>
          </p:grpSpPr>
          <p:pic>
            <p:nvPicPr>
              <p:cNvPr id="62" name="그림 61">
                <a:extLst>
                  <a:ext uri="{FF2B5EF4-FFF2-40B4-BE49-F238E27FC236}">
                    <a16:creationId xmlns:a16="http://schemas.microsoft.com/office/drawing/2014/main" id="{3A93D27E-CB21-3D40-1E06-D30178781CE6}"/>
                  </a:ext>
                </a:extLst>
              </p:cNvPr>
              <p:cNvPicPr>
                <a:picLocks noChangeAspect="1"/>
              </p:cNvPicPr>
              <p:nvPr/>
            </p:nvPicPr>
            <p:blipFill>
              <a:blip r:embed="rId4"/>
              <a:srcRect t="24030" r="2935" b="50981"/>
              <a:stretch/>
            </p:blipFill>
            <p:spPr>
              <a:xfrm>
                <a:off x="228131" y="1950711"/>
                <a:ext cx="9043338" cy="1706889"/>
              </a:xfrm>
              <a:prstGeom prst="rect">
                <a:avLst/>
              </a:prstGeom>
            </p:spPr>
          </p:pic>
          <p:pic>
            <p:nvPicPr>
              <p:cNvPr id="63" name="그림 62">
                <a:extLst>
                  <a:ext uri="{FF2B5EF4-FFF2-40B4-BE49-F238E27FC236}">
                    <a16:creationId xmlns:a16="http://schemas.microsoft.com/office/drawing/2014/main" id="{2BC01E6A-29C4-9A23-6638-B51080B3F210}"/>
                  </a:ext>
                </a:extLst>
              </p:cNvPr>
              <p:cNvPicPr>
                <a:picLocks noChangeAspect="1"/>
              </p:cNvPicPr>
              <p:nvPr/>
            </p:nvPicPr>
            <p:blipFill>
              <a:blip r:embed="rId4"/>
              <a:srcRect t="96554" r="2935" b="-69"/>
              <a:stretch/>
            </p:blipFill>
            <p:spPr>
              <a:xfrm>
                <a:off x="228131" y="3648430"/>
                <a:ext cx="9043338" cy="240080"/>
              </a:xfrm>
              <a:prstGeom prst="rect">
                <a:avLst/>
              </a:prstGeom>
            </p:spPr>
          </p:pic>
          <p:grpSp>
            <p:nvGrpSpPr>
              <p:cNvPr id="64" name="그룹 63">
                <a:extLst>
                  <a:ext uri="{FF2B5EF4-FFF2-40B4-BE49-F238E27FC236}">
                    <a16:creationId xmlns:a16="http://schemas.microsoft.com/office/drawing/2014/main" id="{B4708C8C-483D-0188-BA09-DEB4D717518D}"/>
                  </a:ext>
                </a:extLst>
              </p:cNvPr>
              <p:cNvGrpSpPr/>
              <p:nvPr/>
            </p:nvGrpSpPr>
            <p:grpSpPr>
              <a:xfrm>
                <a:off x="7636626" y="2105891"/>
                <a:ext cx="278928" cy="1542541"/>
                <a:chOff x="6188364" y="2156692"/>
                <a:chExt cx="306820" cy="817417"/>
              </a:xfrm>
            </p:grpSpPr>
            <p:cxnSp>
              <p:nvCxnSpPr>
                <p:cNvPr id="66" name="직선 연결선 65">
                  <a:extLst>
                    <a:ext uri="{FF2B5EF4-FFF2-40B4-BE49-F238E27FC236}">
                      <a16:creationId xmlns:a16="http://schemas.microsoft.com/office/drawing/2014/main" id="{6C03F24B-388E-E8F3-147F-689B50EE27AA}"/>
                    </a:ext>
                  </a:extLst>
                </p:cNvPr>
                <p:cNvCxnSpPr/>
                <p:nvPr/>
              </p:nvCxnSpPr>
              <p:spPr>
                <a:xfrm flipV="1">
                  <a:off x="6188364" y="2161309"/>
                  <a:ext cx="0" cy="812800"/>
                </a:xfrm>
                <a:prstGeom prst="line">
                  <a:avLst/>
                </a:prstGeom>
              </p:spPr>
              <p:style>
                <a:lnRef idx="2">
                  <a:schemeClr val="accent1"/>
                </a:lnRef>
                <a:fillRef idx="0">
                  <a:schemeClr val="accent1"/>
                </a:fillRef>
                <a:effectRef idx="1">
                  <a:schemeClr val="accent1"/>
                </a:effectRef>
                <a:fontRef idx="minor">
                  <a:schemeClr val="tx1"/>
                </a:fontRef>
              </p:style>
            </p:cxnSp>
            <p:sp>
              <p:nvSpPr>
                <p:cNvPr id="67" name="이등변 삼각형 66">
                  <a:extLst>
                    <a:ext uri="{FF2B5EF4-FFF2-40B4-BE49-F238E27FC236}">
                      <a16:creationId xmlns:a16="http://schemas.microsoft.com/office/drawing/2014/main" id="{FF5E4DFD-7EF2-1DE7-8EA5-9D3B3DD324AC}"/>
                    </a:ext>
                  </a:extLst>
                </p:cNvPr>
                <p:cNvSpPr/>
                <p:nvPr/>
              </p:nvSpPr>
              <p:spPr>
                <a:xfrm rot="5400000">
                  <a:off x="6303773" y="2043593"/>
                  <a:ext cx="78312" cy="304510"/>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sp>
            <p:nvSpPr>
              <p:cNvPr id="65" name="TextBox 64">
                <a:extLst>
                  <a:ext uri="{FF2B5EF4-FFF2-40B4-BE49-F238E27FC236}">
                    <a16:creationId xmlns:a16="http://schemas.microsoft.com/office/drawing/2014/main" id="{829BC8D4-B365-9BD5-B31B-465AE8A2E0B2}"/>
                  </a:ext>
                </a:extLst>
              </p:cNvPr>
              <p:cNvSpPr txBox="1"/>
              <p:nvPr/>
            </p:nvSpPr>
            <p:spPr>
              <a:xfrm>
                <a:off x="7915553" y="1685895"/>
                <a:ext cx="2495218" cy="696406"/>
              </a:xfrm>
              <a:prstGeom prst="rect">
                <a:avLst/>
              </a:prstGeom>
              <a:solidFill>
                <a:schemeClr val="bg1"/>
              </a:solidFill>
              <a:ln>
                <a:solidFill>
                  <a:schemeClr val="tx1"/>
                </a:solidFill>
              </a:ln>
            </p:spPr>
            <p:txBody>
              <a:bodyPr wrap="square" rtlCol="0">
                <a:spAutoFit/>
              </a:bodyPr>
              <a:lstStyle/>
              <a:p>
                <a:r>
                  <a:rPr lang="ko-KR" altLang="en-US" sz="700" b="1" dirty="0"/>
                  <a:t>양극 </a:t>
                </a:r>
                <a:r>
                  <a:rPr lang="en-US" altLang="ko-KR" sz="700" b="1" dirty="0"/>
                  <a:t>Mismatch </a:t>
                </a:r>
                <a:r>
                  <a:rPr lang="ko-KR" altLang="en-US" sz="700" b="1" dirty="0"/>
                  <a:t>선별투입 기능 </a:t>
                </a:r>
                <a:r>
                  <a:rPr lang="en-US" altLang="ko-KR" sz="700" b="1" dirty="0"/>
                  <a:t>ON</a:t>
                </a:r>
              </a:p>
              <a:p>
                <a:r>
                  <a:rPr lang="ko-KR" altLang="en-US" sz="700" b="1" dirty="0"/>
                  <a:t>전</a:t>
                </a:r>
                <a:r>
                  <a:rPr lang="en-US" altLang="ko-KR" sz="700" b="1" dirty="0"/>
                  <a:t>/</a:t>
                </a:r>
                <a:r>
                  <a:rPr lang="ko-KR" altLang="en-US" sz="700" b="1" dirty="0"/>
                  <a:t>후 불량률 </a:t>
                </a:r>
                <a:r>
                  <a:rPr lang="en-US" altLang="ko-KR" sz="700" b="1" dirty="0"/>
                  <a:t> 0.046%  </a:t>
                </a:r>
                <a:r>
                  <a:rPr lang="ko-KR" altLang="en-US" sz="700" b="1" dirty="0"/>
                  <a:t>→ </a:t>
                </a:r>
                <a:r>
                  <a:rPr lang="en-US" altLang="ko-KR" sz="700" b="1" dirty="0"/>
                  <a:t>0.030%(</a:t>
                </a:r>
                <a:r>
                  <a:rPr lang="ko-KR" altLang="en-US" sz="700" b="1" dirty="0"/>
                  <a:t>▼</a:t>
                </a:r>
                <a:r>
                  <a:rPr lang="en-US" altLang="ko-KR" sz="700" b="1" dirty="0"/>
                  <a:t>0.016%)</a:t>
                </a:r>
                <a:endParaRPr lang="ko-KR" altLang="en-US" sz="700" b="1" dirty="0"/>
              </a:p>
            </p:txBody>
          </p:sp>
        </p:grpSp>
      </p:grpSp>
      <p:sp>
        <p:nvSpPr>
          <p:cNvPr id="70" name="TextBox 69">
            <a:extLst>
              <a:ext uri="{FF2B5EF4-FFF2-40B4-BE49-F238E27FC236}">
                <a16:creationId xmlns:a16="http://schemas.microsoft.com/office/drawing/2014/main" id="{854FC5B0-A70F-5159-CAA6-D15D98D86AF7}"/>
              </a:ext>
            </a:extLst>
          </p:cNvPr>
          <p:cNvSpPr txBox="1"/>
          <p:nvPr/>
        </p:nvSpPr>
        <p:spPr>
          <a:xfrm>
            <a:off x="5043232" y="6304464"/>
            <a:ext cx="1490678" cy="219355"/>
          </a:xfrm>
          <a:prstGeom prst="rect">
            <a:avLst/>
          </a:prstGeom>
          <a:noFill/>
        </p:spPr>
        <p:txBody>
          <a:bodyPr wrap="square" rtlCol="0">
            <a:spAutoFit/>
          </a:bodyPr>
          <a:lstStyle/>
          <a:p>
            <a:pPr marR="0" lvl="0" algn="l" defTabSz="447830" rtl="0" eaLnBrk="1" fontAlgn="auto" latinLnBrk="0" hangingPunct="1">
              <a:lnSpc>
                <a:spcPct val="110000"/>
              </a:lnSpc>
              <a:spcBef>
                <a:spcPts val="0"/>
              </a:spcBef>
              <a:spcAft>
                <a:spcPts val="0"/>
              </a:spcAft>
              <a:buClrTx/>
              <a:buSzTx/>
              <a:tabLst/>
              <a:defRPr/>
            </a:pPr>
            <a:r>
              <a:rPr kumimoji="0"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rPr>
              <a:t>1) </a:t>
            </a:r>
            <a:r>
              <a:rPr lang="en-US" altLang="ko-KR" sz="800" dirty="0">
                <a:latin typeface="Arial Narrow" panose="020B0606020202030204" pitchFamily="34" charset="0"/>
                <a:ea typeface="LG스마트체 Regular" panose="020B0600000101010101" pitchFamily="50" charset="-127"/>
              </a:rPr>
              <a:t>10/20, 13/14, 21/22 </a:t>
            </a:r>
            <a:r>
              <a:rPr lang="ko-KR" altLang="en-US" sz="800" dirty="0">
                <a:latin typeface="Arial Narrow" panose="020B0606020202030204" pitchFamily="34" charset="0"/>
                <a:ea typeface="LG스마트체 Regular" panose="020B0600000101010101" pitchFamily="50" charset="-127"/>
              </a:rPr>
              <a:t>라인</a:t>
            </a:r>
            <a:endParaRPr kumimoji="0" lang="en-US" altLang="ko-KR" sz="8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endParaRPr>
          </a:p>
        </p:txBody>
      </p:sp>
      <p:pic>
        <p:nvPicPr>
          <p:cNvPr id="16" name="그림 15">
            <a:extLst>
              <a:ext uri="{FF2B5EF4-FFF2-40B4-BE49-F238E27FC236}">
                <a16:creationId xmlns:a16="http://schemas.microsoft.com/office/drawing/2014/main" id="{D2A3022C-C13D-D67A-27DC-CCB87C10B1B7}"/>
              </a:ext>
            </a:extLst>
          </p:cNvPr>
          <p:cNvPicPr>
            <a:picLocks noChangeAspect="1"/>
          </p:cNvPicPr>
          <p:nvPr/>
        </p:nvPicPr>
        <p:blipFill>
          <a:blip r:embed="rId5"/>
          <a:srcRect t="2277"/>
          <a:stretch/>
        </p:blipFill>
        <p:spPr>
          <a:xfrm>
            <a:off x="387677" y="2620945"/>
            <a:ext cx="3148922" cy="1862950"/>
          </a:xfrm>
          <a:prstGeom prst="rect">
            <a:avLst/>
          </a:prstGeom>
          <a:ln>
            <a:solidFill>
              <a:schemeClr val="tx1">
                <a:lumMod val="50000"/>
                <a:lumOff val="50000"/>
              </a:schemeClr>
            </a:solidFill>
          </a:ln>
        </p:spPr>
      </p:pic>
      <p:sp>
        <p:nvSpPr>
          <p:cNvPr id="17" name="직사각형 16">
            <a:extLst>
              <a:ext uri="{FF2B5EF4-FFF2-40B4-BE49-F238E27FC236}">
                <a16:creationId xmlns:a16="http://schemas.microsoft.com/office/drawing/2014/main" id="{25562394-EB4B-D441-A49A-B60B0DDA7874}"/>
              </a:ext>
            </a:extLst>
          </p:cNvPr>
          <p:cNvSpPr/>
          <p:nvPr/>
        </p:nvSpPr>
        <p:spPr>
          <a:xfrm>
            <a:off x="1723132" y="2649914"/>
            <a:ext cx="526122" cy="1656237"/>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8" name="직사각형 17">
            <a:extLst>
              <a:ext uri="{FF2B5EF4-FFF2-40B4-BE49-F238E27FC236}">
                <a16:creationId xmlns:a16="http://schemas.microsoft.com/office/drawing/2014/main" id="{A9BA449E-D8CA-6DD4-009E-3B46D4224B98}"/>
              </a:ext>
            </a:extLst>
          </p:cNvPr>
          <p:cNvSpPr/>
          <p:nvPr/>
        </p:nvSpPr>
        <p:spPr>
          <a:xfrm>
            <a:off x="2869811" y="2649914"/>
            <a:ext cx="526122" cy="1656237"/>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6" name="그림 25">
            <a:extLst>
              <a:ext uri="{FF2B5EF4-FFF2-40B4-BE49-F238E27FC236}">
                <a16:creationId xmlns:a16="http://schemas.microsoft.com/office/drawing/2014/main" id="{28165FD5-6777-E711-9DFD-7877507ACFDC}"/>
              </a:ext>
            </a:extLst>
          </p:cNvPr>
          <p:cNvPicPr>
            <a:picLocks noChangeAspect="1"/>
          </p:cNvPicPr>
          <p:nvPr/>
        </p:nvPicPr>
        <p:blipFill>
          <a:blip r:embed="rId6"/>
          <a:stretch>
            <a:fillRect/>
          </a:stretch>
        </p:blipFill>
        <p:spPr>
          <a:xfrm>
            <a:off x="353527" y="4764949"/>
            <a:ext cx="3165182" cy="1598577"/>
          </a:xfrm>
          <a:prstGeom prst="rect">
            <a:avLst/>
          </a:prstGeom>
          <a:ln>
            <a:solidFill>
              <a:schemeClr val="tx1">
                <a:lumMod val="50000"/>
                <a:lumOff val="50000"/>
              </a:schemeClr>
            </a:solidFill>
          </a:ln>
        </p:spPr>
      </p:pic>
      <p:sp>
        <p:nvSpPr>
          <p:cNvPr id="36" name="직사각형 35">
            <a:extLst>
              <a:ext uri="{FF2B5EF4-FFF2-40B4-BE49-F238E27FC236}">
                <a16:creationId xmlns:a16="http://schemas.microsoft.com/office/drawing/2014/main" id="{A048FA07-FD14-1EDF-65F6-C34F99F0EEC6}"/>
              </a:ext>
            </a:extLst>
          </p:cNvPr>
          <p:cNvSpPr/>
          <p:nvPr/>
        </p:nvSpPr>
        <p:spPr>
          <a:xfrm flipV="1">
            <a:off x="1675551" y="5494087"/>
            <a:ext cx="573174" cy="699324"/>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EBDDB8FA-6738-C395-0228-32A4F0EFD501}"/>
              </a:ext>
            </a:extLst>
          </p:cNvPr>
          <p:cNvSpPr/>
          <p:nvPr/>
        </p:nvSpPr>
        <p:spPr>
          <a:xfrm flipV="1">
            <a:off x="3031135" y="5207112"/>
            <a:ext cx="481705" cy="986299"/>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2" name="TextBox 71">
            <a:extLst>
              <a:ext uri="{FF2B5EF4-FFF2-40B4-BE49-F238E27FC236}">
                <a16:creationId xmlns:a16="http://schemas.microsoft.com/office/drawing/2014/main" id="{9CDAB7F0-9EC5-4957-6192-3B2FE935B9EA}"/>
              </a:ext>
            </a:extLst>
          </p:cNvPr>
          <p:cNvSpPr txBox="1"/>
          <p:nvPr/>
        </p:nvSpPr>
        <p:spPr>
          <a:xfrm>
            <a:off x="314532" y="4545361"/>
            <a:ext cx="3992275" cy="251094"/>
          </a:xfrm>
          <a:prstGeom prst="rect">
            <a:avLst/>
          </a:prstGeom>
          <a:noFill/>
        </p:spPr>
        <p:txBody>
          <a:bodyPr wrap="square" rtlCol="0">
            <a:spAutoFit/>
          </a:bodyPr>
          <a:lstStyle/>
          <a:p>
            <a:pPr marR="0" lvl="0" algn="l" defTabSz="447830" rtl="0" eaLnBrk="1" fontAlgn="auto" latinLnBrk="0" hangingPunct="1">
              <a:lnSpc>
                <a:spcPct val="110000"/>
              </a:lnSpc>
              <a:spcBef>
                <a:spcPts val="0"/>
              </a:spcBef>
              <a:spcAft>
                <a:spcPts val="0"/>
              </a:spcAft>
              <a:buClrTx/>
              <a:buSzTx/>
              <a:tabLst/>
              <a:defRPr/>
            </a:pP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차트 </a:t>
            </a:r>
            <a:r>
              <a:rPr lang="en-US" altLang="ko-KR" sz="1000" dirty="0">
                <a:latin typeface="Arial Narrow" panose="020B0606020202030204" pitchFamily="34" charset="0"/>
                <a:ea typeface="LG스마트체 Regular" panose="020B0600000101010101" pitchFamily="50" charset="-127"/>
              </a:rPr>
              <a:t>2) </a:t>
            </a:r>
            <a:r>
              <a:rPr lang="ko-KR" altLang="en-US" sz="1000" dirty="0">
                <a:latin typeface="Arial Narrow" panose="020B0606020202030204" pitchFamily="34" charset="0"/>
                <a:ea typeface="LG스마트체 Regular" panose="020B0600000101010101" pitchFamily="50" charset="-127"/>
              </a:rPr>
              <a:t>일자 별 노칭</a:t>
            </a: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양극</a:t>
            </a:r>
            <a:r>
              <a:rPr lang="en-US" altLang="ko-KR" sz="1000" dirty="0">
                <a:latin typeface="Arial Narrow" panose="020B0606020202030204" pitchFamily="34" charset="0"/>
                <a:ea typeface="LG스마트체 Regular" panose="020B0600000101010101" pitchFamily="50" charset="-127"/>
              </a:rPr>
              <a:t>) </a:t>
            </a:r>
            <a:r>
              <a:rPr lang="ko-KR" altLang="en-US" sz="1000" dirty="0">
                <a:latin typeface="Arial Narrow" panose="020B0606020202030204" pitchFamily="34" charset="0"/>
                <a:ea typeface="LG스마트체 Regular" panose="020B0600000101010101" pitchFamily="50" charset="-127"/>
              </a:rPr>
              <a:t>재료교체 전</a:t>
            </a: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후 미스매치 편차</a:t>
            </a: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평균</a:t>
            </a:r>
            <a:r>
              <a:rPr lang="en-US" altLang="ko-KR" sz="1000" dirty="0">
                <a:latin typeface="Arial Narrow" panose="020B0606020202030204" pitchFamily="34" charset="0"/>
                <a:ea typeface="LG스마트체 Regular" panose="020B0600000101010101" pitchFamily="50" charset="-127"/>
              </a:rPr>
              <a:t>)</a:t>
            </a:r>
            <a:endParaRPr kumimoji="0" lang="en-US" altLang="ko-KR"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endParaRPr>
          </a:p>
        </p:txBody>
      </p:sp>
      <p:sp>
        <p:nvSpPr>
          <p:cNvPr id="75" name="TextBox 74">
            <a:extLst>
              <a:ext uri="{FF2B5EF4-FFF2-40B4-BE49-F238E27FC236}">
                <a16:creationId xmlns:a16="http://schemas.microsoft.com/office/drawing/2014/main" id="{904A0C93-D1A3-84B5-1C8B-3070A0D630EC}"/>
              </a:ext>
            </a:extLst>
          </p:cNvPr>
          <p:cNvSpPr txBox="1"/>
          <p:nvPr/>
        </p:nvSpPr>
        <p:spPr>
          <a:xfrm>
            <a:off x="314533" y="2396132"/>
            <a:ext cx="3005132" cy="251094"/>
          </a:xfrm>
          <a:prstGeom prst="rect">
            <a:avLst/>
          </a:prstGeom>
          <a:noFill/>
        </p:spPr>
        <p:txBody>
          <a:bodyPr wrap="square" rtlCol="0">
            <a:spAutoFit/>
          </a:bodyPr>
          <a:lstStyle/>
          <a:p>
            <a:pPr marR="0" lvl="0" algn="l" defTabSz="447830" rtl="0" eaLnBrk="1" fontAlgn="auto" latinLnBrk="0" hangingPunct="1">
              <a:lnSpc>
                <a:spcPct val="110000"/>
              </a:lnSpc>
              <a:spcBef>
                <a:spcPts val="0"/>
              </a:spcBef>
              <a:spcAft>
                <a:spcPts val="0"/>
              </a:spcAft>
              <a:buClrTx/>
              <a:buSzTx/>
              <a:tabLst/>
              <a:defRPr/>
            </a:pP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차트 </a:t>
            </a:r>
            <a:r>
              <a:rPr lang="en-US" altLang="ko-KR" sz="1000" dirty="0">
                <a:latin typeface="Arial Narrow" panose="020B0606020202030204" pitchFamily="34" charset="0"/>
                <a:ea typeface="LG스마트체 Regular" panose="020B0600000101010101" pitchFamily="50" charset="-127"/>
              </a:rPr>
              <a:t>1) </a:t>
            </a:r>
            <a:r>
              <a:rPr lang="ko-KR" altLang="en-US" sz="1000" dirty="0">
                <a:latin typeface="Arial Narrow" panose="020B0606020202030204" pitchFamily="34" charset="0"/>
                <a:ea typeface="LG스마트체 Regular" panose="020B0600000101010101" pitchFamily="50" charset="-127"/>
              </a:rPr>
              <a:t>주차 별 노칭</a:t>
            </a: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양극</a:t>
            </a:r>
            <a:r>
              <a:rPr lang="en-US" altLang="ko-KR" sz="1000" dirty="0">
                <a:latin typeface="Arial Narrow" panose="020B0606020202030204" pitchFamily="34" charset="0"/>
                <a:ea typeface="LG스마트체 Regular" panose="020B0600000101010101" pitchFamily="50" charset="-127"/>
              </a:rPr>
              <a:t>) </a:t>
            </a:r>
            <a:r>
              <a:rPr lang="ko-KR" altLang="en-US" sz="1000" dirty="0">
                <a:latin typeface="Arial Narrow" panose="020B0606020202030204" pitchFamily="34" charset="0"/>
                <a:ea typeface="LG스마트체 Regular" panose="020B0600000101010101" pitchFamily="50" charset="-127"/>
              </a:rPr>
              <a:t>재료교체 전</a:t>
            </a:r>
            <a:r>
              <a:rPr lang="en-US" altLang="ko-KR" sz="1000" dirty="0">
                <a:latin typeface="Arial Narrow" panose="020B0606020202030204" pitchFamily="34" charset="0"/>
                <a:ea typeface="LG스마트체 Regular" panose="020B0600000101010101" pitchFamily="50" charset="-127"/>
              </a:rPr>
              <a:t>/</a:t>
            </a:r>
            <a:r>
              <a:rPr lang="ko-KR" altLang="en-US" sz="1000" dirty="0">
                <a:latin typeface="Arial Narrow" panose="020B0606020202030204" pitchFamily="34" charset="0"/>
                <a:ea typeface="LG스마트체 Regular" panose="020B0600000101010101" pitchFamily="50" charset="-127"/>
              </a:rPr>
              <a:t>후 미스매치 편차</a:t>
            </a:r>
            <a:endParaRPr kumimoji="0" lang="en-US" altLang="ko-KR" sz="1000" b="0" i="0" u="none" strike="noStrike" kern="1200" cap="none" spc="0" normalizeH="0" baseline="0" noProof="0" dirty="0">
              <a:ln>
                <a:noFill/>
              </a:ln>
              <a:effectLst/>
              <a:uLnTx/>
              <a:uFillTx/>
              <a:latin typeface="Arial Narrow" panose="020B0606020202030204" pitchFamily="34" charset="0"/>
              <a:ea typeface="LG스마트체 Regular" panose="020B0600000101010101" pitchFamily="50" charset="-127"/>
            </a:endParaRPr>
          </a:p>
        </p:txBody>
      </p:sp>
      <p:cxnSp>
        <p:nvCxnSpPr>
          <p:cNvPr id="79" name="직선 연결선 78">
            <a:extLst>
              <a:ext uri="{FF2B5EF4-FFF2-40B4-BE49-F238E27FC236}">
                <a16:creationId xmlns:a16="http://schemas.microsoft.com/office/drawing/2014/main" id="{2692E85D-B43C-747A-0F42-773A17D77586}"/>
              </a:ext>
            </a:extLst>
          </p:cNvPr>
          <p:cNvCxnSpPr/>
          <p:nvPr/>
        </p:nvCxnSpPr>
        <p:spPr>
          <a:xfrm flipH="1">
            <a:off x="1027197" y="3470268"/>
            <a:ext cx="2255939" cy="0"/>
          </a:xfrm>
          <a:prstGeom prst="line">
            <a:avLst/>
          </a:prstGeom>
          <a:ln>
            <a:solidFill>
              <a:srgbClr val="FF0000"/>
            </a:solidFill>
            <a:prstDash val="dashDot"/>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FCC4A286-0DE3-3D73-BC41-E0FEDB322F73}"/>
              </a:ext>
            </a:extLst>
          </p:cNvPr>
          <p:cNvCxnSpPr/>
          <p:nvPr/>
        </p:nvCxnSpPr>
        <p:spPr>
          <a:xfrm flipH="1">
            <a:off x="1027197" y="3661250"/>
            <a:ext cx="2255939" cy="0"/>
          </a:xfrm>
          <a:prstGeom prst="line">
            <a:avLst/>
          </a:prstGeom>
          <a:ln>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2392814-F915-8D9B-B141-DFE5591E938F}"/>
              </a:ext>
            </a:extLst>
          </p:cNvPr>
          <p:cNvSpPr txBox="1"/>
          <p:nvPr/>
        </p:nvSpPr>
        <p:spPr>
          <a:xfrm>
            <a:off x="2679612" y="1068375"/>
            <a:ext cx="3108959" cy="215444"/>
          </a:xfrm>
          <a:prstGeom prst="rect">
            <a:avLst/>
          </a:prstGeom>
          <a:noFill/>
        </p:spPr>
        <p:txBody>
          <a:bodyPr wrap="square" rtlCol="0">
            <a:spAutoFit/>
          </a:bodyPr>
          <a:lstStyle/>
          <a:p>
            <a:r>
              <a:rPr lang="en-US" altLang="ko-KR" sz="800" dirty="0">
                <a:solidFill>
                  <a:srgbClr val="00B050"/>
                </a:solidFill>
                <a:latin typeface="LG스마트체 Regular" panose="020B0600000101010101" pitchFamily="50" charset="-127"/>
                <a:ea typeface="LG스마트체 Regular" panose="020B0600000101010101" pitchFamily="50" charset="-127"/>
              </a:rPr>
              <a:t>* </a:t>
            </a:r>
            <a:r>
              <a:rPr lang="ko-KR" altLang="en-US" sz="800" dirty="0">
                <a:solidFill>
                  <a:srgbClr val="00B050"/>
                </a:solidFill>
                <a:latin typeface="LG스마트체 Regular" panose="020B0600000101010101" pitchFamily="50" charset="-127"/>
                <a:ea typeface="LG스마트체 Regular" panose="020B0600000101010101" pitchFamily="50" charset="-127"/>
              </a:rPr>
              <a:t>재료교체 구간 내 </a:t>
            </a:r>
            <a:r>
              <a:rPr lang="en-US" altLang="ko-KR" sz="800" dirty="0">
                <a:solidFill>
                  <a:srgbClr val="00B050"/>
                </a:solidFill>
                <a:latin typeface="LG스마트체 Regular" panose="020B0600000101010101" pitchFamily="50" charset="-127"/>
                <a:ea typeface="LG스마트체 Regular" panose="020B0600000101010101" pitchFamily="50" charset="-127"/>
              </a:rPr>
              <a:t>Cutting Height </a:t>
            </a:r>
            <a:r>
              <a:rPr lang="ko-KR" altLang="en-US" sz="800" dirty="0">
                <a:solidFill>
                  <a:srgbClr val="00B050"/>
                </a:solidFill>
                <a:latin typeface="LG스마트체 Regular" panose="020B0600000101010101" pitchFamily="50" charset="-127"/>
                <a:ea typeface="LG스마트체 Regular" panose="020B0600000101010101" pitchFamily="50" charset="-127"/>
              </a:rPr>
              <a:t>불량 </a:t>
            </a:r>
            <a:r>
              <a:rPr lang="en-US" altLang="ko-KR" sz="800" dirty="0">
                <a:solidFill>
                  <a:srgbClr val="00B050"/>
                </a:solidFill>
                <a:latin typeface="LG스마트체 Regular" panose="020B0600000101010101" pitchFamily="50" charset="-127"/>
                <a:ea typeface="LG스마트체 Regular" panose="020B0600000101010101" pitchFamily="50" charset="-127"/>
              </a:rPr>
              <a:t>/ </a:t>
            </a:r>
            <a:r>
              <a:rPr lang="ko-KR" altLang="en-US" sz="800" dirty="0">
                <a:solidFill>
                  <a:srgbClr val="00B050"/>
                </a:solidFill>
                <a:latin typeface="LG스마트체 Regular" panose="020B0600000101010101" pitchFamily="50" charset="-127"/>
                <a:ea typeface="LG스마트체 Regular" panose="020B0600000101010101" pitchFamily="50" charset="-127"/>
              </a:rPr>
              <a:t>전체 </a:t>
            </a:r>
            <a:r>
              <a:rPr lang="en-US" altLang="ko-KR" sz="800" dirty="0">
                <a:solidFill>
                  <a:srgbClr val="00B050"/>
                </a:solidFill>
                <a:latin typeface="LG스마트체 Regular" panose="020B0600000101010101" pitchFamily="50" charset="-127"/>
                <a:ea typeface="LG스마트체 Regular" panose="020B0600000101010101" pitchFamily="50" charset="-127"/>
              </a:rPr>
              <a:t>lot </a:t>
            </a:r>
            <a:r>
              <a:rPr lang="ko-KR" altLang="en-US" sz="800" dirty="0">
                <a:solidFill>
                  <a:srgbClr val="00B050"/>
                </a:solidFill>
                <a:latin typeface="LG스마트체 Regular" panose="020B0600000101010101" pitchFamily="50" charset="-127"/>
                <a:ea typeface="LG스마트체 Regular" panose="020B0600000101010101" pitchFamily="50" charset="-127"/>
              </a:rPr>
              <a:t>수량</a:t>
            </a:r>
          </a:p>
        </p:txBody>
      </p:sp>
      <p:sp>
        <p:nvSpPr>
          <p:cNvPr id="4" name="TextBox 3">
            <a:extLst>
              <a:ext uri="{FF2B5EF4-FFF2-40B4-BE49-F238E27FC236}">
                <a16:creationId xmlns:a16="http://schemas.microsoft.com/office/drawing/2014/main" id="{CE472AFA-429B-4398-D691-19532F78CE44}"/>
              </a:ext>
            </a:extLst>
          </p:cNvPr>
          <p:cNvSpPr txBox="1"/>
          <p:nvPr/>
        </p:nvSpPr>
        <p:spPr>
          <a:xfrm>
            <a:off x="6938386" y="180184"/>
            <a:ext cx="2479727" cy="262572"/>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CDO.</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솔루션</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추적솔루션개발팀</a:t>
            </a:r>
          </a:p>
        </p:txBody>
      </p:sp>
      <p:sp>
        <p:nvSpPr>
          <p:cNvPr id="5" name="실행 단추: 홈으로 이동 4">
            <a:hlinkClick r:id="rId7" action="ppaction://hlinksldjump" highlightClick="1"/>
            <a:extLst>
              <a:ext uri="{FF2B5EF4-FFF2-40B4-BE49-F238E27FC236}">
                <a16:creationId xmlns:a16="http://schemas.microsoft.com/office/drawing/2014/main" id="{EA82070E-C3D5-1900-2FE8-025962883ED6}"/>
              </a:ext>
            </a:extLst>
          </p:cNvPr>
          <p:cNvSpPr/>
          <p:nvPr/>
        </p:nvSpPr>
        <p:spPr>
          <a:xfrm>
            <a:off x="9369067" y="166057"/>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panose="020B0606020202030204" pitchFamily="34" charset="0"/>
              <a:ea typeface="LG스마트체 Regular" panose="020B0600000101010101" pitchFamily="50" charset="-127"/>
              <a:cs typeface="+mn-cs"/>
            </a:endParaRPr>
          </a:p>
        </p:txBody>
      </p:sp>
      <p:sp>
        <p:nvSpPr>
          <p:cNvPr id="7" name="TextBox 6">
            <a:extLst>
              <a:ext uri="{FF2B5EF4-FFF2-40B4-BE49-F238E27FC236}">
                <a16:creationId xmlns:a16="http://schemas.microsoft.com/office/drawing/2014/main" id="{465F47E6-B2A1-0877-C891-0FDF0E4EB309}"/>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6 / 7</a:t>
            </a:r>
          </a:p>
        </p:txBody>
      </p:sp>
    </p:spTree>
    <p:extLst>
      <p:ext uri="{BB962C8B-B14F-4D97-AF65-F5344CB8AC3E}">
        <p14:creationId xmlns:p14="http://schemas.microsoft.com/office/powerpoint/2010/main" val="4089518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 name="그림 115">
            <a:extLst>
              <a:ext uri="{FF2B5EF4-FFF2-40B4-BE49-F238E27FC236}">
                <a16:creationId xmlns:a16="http://schemas.microsoft.com/office/drawing/2014/main" id="{39DB2C85-419C-E341-95E9-7406BFBA4377}"/>
              </a:ext>
            </a:extLst>
          </p:cNvPr>
          <p:cNvPicPr>
            <a:picLocks noChangeAspect="1"/>
          </p:cNvPicPr>
          <p:nvPr/>
        </p:nvPicPr>
        <p:blipFill>
          <a:blip r:embed="rId3"/>
          <a:stretch>
            <a:fillRect/>
          </a:stretch>
        </p:blipFill>
        <p:spPr>
          <a:xfrm>
            <a:off x="5220845" y="5388213"/>
            <a:ext cx="3582215" cy="1354156"/>
          </a:xfrm>
          <a:prstGeom prst="rect">
            <a:avLst/>
          </a:prstGeom>
        </p:spPr>
      </p:pic>
      <p:pic>
        <p:nvPicPr>
          <p:cNvPr id="7" name="그림 6">
            <a:extLst>
              <a:ext uri="{FF2B5EF4-FFF2-40B4-BE49-F238E27FC236}">
                <a16:creationId xmlns:a16="http://schemas.microsoft.com/office/drawing/2014/main" id="{76B3418C-89CD-4037-7709-83B5E46759C2}"/>
              </a:ext>
            </a:extLst>
          </p:cNvPr>
          <p:cNvPicPr>
            <a:picLocks noChangeAspect="1"/>
          </p:cNvPicPr>
          <p:nvPr/>
        </p:nvPicPr>
        <p:blipFill>
          <a:blip r:embed="rId4"/>
          <a:stretch>
            <a:fillRect/>
          </a:stretch>
        </p:blipFill>
        <p:spPr>
          <a:xfrm>
            <a:off x="313403" y="2465881"/>
            <a:ext cx="2123554" cy="1806356"/>
          </a:xfrm>
          <a:prstGeom prst="rect">
            <a:avLst/>
          </a:prstGeom>
        </p:spPr>
      </p:pic>
      <p:pic>
        <p:nvPicPr>
          <p:cNvPr id="5" name="그림 4">
            <a:extLst>
              <a:ext uri="{FF2B5EF4-FFF2-40B4-BE49-F238E27FC236}">
                <a16:creationId xmlns:a16="http://schemas.microsoft.com/office/drawing/2014/main" id="{EBE9FC71-1ADB-2888-1BE0-1801A32AC5F1}"/>
              </a:ext>
            </a:extLst>
          </p:cNvPr>
          <p:cNvPicPr>
            <a:picLocks noChangeAspect="1"/>
          </p:cNvPicPr>
          <p:nvPr/>
        </p:nvPicPr>
        <p:blipFill>
          <a:blip r:embed="rId5"/>
          <a:stretch>
            <a:fillRect/>
          </a:stretch>
        </p:blipFill>
        <p:spPr>
          <a:xfrm>
            <a:off x="2610523" y="2426871"/>
            <a:ext cx="2263280" cy="1823050"/>
          </a:xfrm>
          <a:prstGeom prst="rect">
            <a:avLst/>
          </a:prstGeom>
        </p:spPr>
      </p:pic>
      <p:sp>
        <p:nvSpPr>
          <p:cNvPr id="30" name="TextBox 29">
            <a:extLst>
              <a:ext uri="{FF2B5EF4-FFF2-40B4-BE49-F238E27FC236}">
                <a16:creationId xmlns:a16="http://schemas.microsoft.com/office/drawing/2014/main" id="{19EB6905-DC83-233F-B641-E11093958575}"/>
              </a:ext>
            </a:extLst>
          </p:cNvPr>
          <p:cNvSpPr txBox="1"/>
          <p:nvPr/>
        </p:nvSpPr>
        <p:spPr>
          <a:xfrm>
            <a:off x="6938386" y="180184"/>
            <a:ext cx="2479727" cy="262572"/>
          </a:xfrm>
          <a:prstGeom prst="rect">
            <a:avLst/>
          </a:prstGeom>
          <a:noFill/>
        </p:spPr>
        <p:txBody>
          <a:bodyPr wrap="square" rtlCol="0" anchor="ctr">
            <a:spAutoFit/>
          </a:bodyPr>
          <a:lstStyle/>
          <a:p>
            <a:pPr marL="0" marR="0" lvl="0" indent="0" algn="r" defTabSz="914400" rtl="0" eaLnBrk="1" fontAlgn="base" latinLnBrk="1" hangingPunct="1">
              <a:lnSpc>
                <a:spcPct val="120000"/>
              </a:lnSpc>
              <a:spcBef>
                <a:spcPct val="0"/>
              </a:spcBef>
              <a:spcAft>
                <a:spcPct val="0"/>
              </a:spcAft>
              <a:buClrTx/>
              <a:buSzTx/>
              <a:buFontTx/>
              <a:buNone/>
              <a:tabLst/>
              <a:defRPr/>
            </a:pP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CDO.</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DX</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솔루션</a:t>
            </a:r>
            <a:r>
              <a:rPr kumimoji="1" lang="en-US" altLang="ko-KR"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1" lang="ko-KR" altLang="en-US" sz="10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추적솔루션개발팀</a:t>
            </a:r>
          </a:p>
        </p:txBody>
      </p:sp>
      <p:sp>
        <p:nvSpPr>
          <p:cNvPr id="9" name="타원 8">
            <a:extLst>
              <a:ext uri="{FF2B5EF4-FFF2-40B4-BE49-F238E27FC236}">
                <a16:creationId xmlns:a16="http://schemas.microsoft.com/office/drawing/2014/main" id="{359BD9BB-C098-377D-B093-BCBCA88272AD}"/>
              </a:ext>
            </a:extLst>
          </p:cNvPr>
          <p:cNvSpPr/>
          <p:nvPr/>
        </p:nvSpPr>
        <p:spPr>
          <a:xfrm rot="18602557">
            <a:off x="3451072" y="2166082"/>
            <a:ext cx="676148" cy="2590092"/>
          </a:xfrm>
          <a:prstGeom prst="ellipse">
            <a:avLst/>
          </a:prstGeom>
          <a:solidFill>
            <a:srgbClr val="008000">
              <a:alpha val="10000"/>
            </a:srgbClr>
          </a:solidFill>
          <a:ln w="63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5" name="TextBox 454">
            <a:extLst>
              <a:ext uri="{FF2B5EF4-FFF2-40B4-BE49-F238E27FC236}">
                <a16:creationId xmlns:a16="http://schemas.microsoft.com/office/drawing/2014/main" id="{A719E82C-E159-E0B2-4008-73BCE6384877}"/>
              </a:ext>
            </a:extLst>
          </p:cNvPr>
          <p:cNvSpPr txBox="1"/>
          <p:nvPr/>
        </p:nvSpPr>
        <p:spPr>
          <a:xfrm>
            <a:off x="892353" y="2333323"/>
            <a:ext cx="1099241"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수동 투입</a:t>
            </a:r>
            <a:endPar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(MANUAL)</a:t>
            </a:r>
          </a:p>
        </p:txBody>
      </p:sp>
      <p:sp>
        <p:nvSpPr>
          <p:cNvPr id="456" name="TextBox 455">
            <a:extLst>
              <a:ext uri="{FF2B5EF4-FFF2-40B4-BE49-F238E27FC236}">
                <a16:creationId xmlns:a16="http://schemas.microsoft.com/office/drawing/2014/main" id="{2544F524-8DE4-BC69-34CF-0EE318016AB0}"/>
              </a:ext>
            </a:extLst>
          </p:cNvPr>
          <p:cNvSpPr txBox="1"/>
          <p:nvPr/>
        </p:nvSpPr>
        <p:spPr>
          <a:xfrm>
            <a:off x="3285451" y="2313706"/>
            <a:ext cx="1099241"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선별 투입 적용</a:t>
            </a:r>
            <a:endPar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(AUTO)</a:t>
            </a:r>
            <a:endParaRPr kumimoji="0" lang="ko-KR" altLang="en-US"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endParaRPr>
          </a:p>
        </p:txBody>
      </p:sp>
      <p:sp>
        <p:nvSpPr>
          <p:cNvPr id="457" name="TextBox 456">
            <a:extLst>
              <a:ext uri="{FF2B5EF4-FFF2-40B4-BE49-F238E27FC236}">
                <a16:creationId xmlns:a16="http://schemas.microsoft.com/office/drawing/2014/main" id="{5735A927-98D6-7E8A-59A0-E00AC5EE6EAE}"/>
              </a:ext>
            </a:extLst>
          </p:cNvPr>
          <p:cNvSpPr txBox="1"/>
          <p:nvPr/>
        </p:nvSpPr>
        <p:spPr>
          <a:xfrm>
            <a:off x="-67289" y="3097517"/>
            <a:ext cx="512805"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신규</a:t>
            </a:r>
            <a:endParaRPr kumimoji="0" lang="en-US" altLang="ko-KR"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전극</a:t>
            </a:r>
            <a:endParaRPr kumimoji="0" lang="en-US" altLang="ko-KR"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로딩량</a:t>
            </a:r>
            <a:endParaRPr kumimoji="0" lang="en-US" altLang="ko-KR"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기울기</a:t>
            </a:r>
            <a:endParaRPr kumimoji="0" lang="en-US" altLang="ko-KR"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endParaRPr>
          </a:p>
        </p:txBody>
      </p:sp>
      <p:sp>
        <p:nvSpPr>
          <p:cNvPr id="458" name="TextBox 457">
            <a:extLst>
              <a:ext uri="{FF2B5EF4-FFF2-40B4-BE49-F238E27FC236}">
                <a16:creationId xmlns:a16="http://schemas.microsoft.com/office/drawing/2014/main" id="{89FD9AC2-56D7-8992-C596-55C122C06957}"/>
              </a:ext>
            </a:extLst>
          </p:cNvPr>
          <p:cNvSpPr txBox="1"/>
          <p:nvPr/>
        </p:nvSpPr>
        <p:spPr>
          <a:xfrm>
            <a:off x="387223" y="4259093"/>
            <a:ext cx="1844653" cy="20005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기존 전극 로딩량 기울기</a:t>
            </a:r>
          </a:p>
        </p:txBody>
      </p:sp>
      <p:sp>
        <p:nvSpPr>
          <p:cNvPr id="466" name="TextBox 465">
            <a:extLst>
              <a:ext uri="{FF2B5EF4-FFF2-40B4-BE49-F238E27FC236}">
                <a16:creationId xmlns:a16="http://schemas.microsoft.com/office/drawing/2014/main" id="{7D9EC405-D7A1-D5CD-158C-17FE88AB2A3A}"/>
              </a:ext>
            </a:extLst>
          </p:cNvPr>
          <p:cNvSpPr txBox="1"/>
          <p:nvPr/>
        </p:nvSpPr>
        <p:spPr>
          <a:xfrm>
            <a:off x="1195384" y="2635471"/>
            <a:ext cx="1592419" cy="20005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값</a:t>
            </a: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색분포</a:t>
            </a: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 LOT</a:t>
            </a: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수량</a:t>
            </a:r>
          </a:p>
        </p:txBody>
      </p:sp>
      <p:cxnSp>
        <p:nvCxnSpPr>
          <p:cNvPr id="63" name="직선 연결선 62">
            <a:extLst>
              <a:ext uri="{FF2B5EF4-FFF2-40B4-BE49-F238E27FC236}">
                <a16:creationId xmlns:a16="http://schemas.microsoft.com/office/drawing/2014/main" id="{8D46FFB9-C255-A160-777A-3FD6AF231EDC}"/>
              </a:ext>
            </a:extLst>
          </p:cNvPr>
          <p:cNvCxnSpPr/>
          <p:nvPr/>
        </p:nvCxnSpPr>
        <p:spPr>
          <a:xfrm>
            <a:off x="5234644" y="1565914"/>
            <a:ext cx="4230638" cy="0"/>
          </a:xfrm>
          <a:prstGeom prst="line">
            <a:avLst/>
          </a:prstGeom>
        </p:spPr>
        <p:style>
          <a:lnRef idx="1">
            <a:schemeClr val="dk1"/>
          </a:lnRef>
          <a:fillRef idx="0">
            <a:schemeClr val="dk1"/>
          </a:fillRef>
          <a:effectRef idx="0">
            <a:schemeClr val="dk1"/>
          </a:effectRef>
          <a:fontRef idx="minor">
            <a:schemeClr val="tx1"/>
          </a:fontRef>
        </p:style>
      </p:cxnSp>
      <p:sp>
        <p:nvSpPr>
          <p:cNvPr id="448" name="TextBox 447">
            <a:extLst>
              <a:ext uri="{FF2B5EF4-FFF2-40B4-BE49-F238E27FC236}">
                <a16:creationId xmlns:a16="http://schemas.microsoft.com/office/drawing/2014/main" id="{DA4B2379-DFB8-87F4-B4EA-7E3D8CE1E0C7}"/>
              </a:ext>
            </a:extLst>
          </p:cNvPr>
          <p:cNvSpPr txBox="1"/>
          <p:nvPr/>
        </p:nvSpPr>
        <p:spPr>
          <a:xfrm>
            <a:off x="423614" y="1256436"/>
            <a:ext cx="4230637" cy="276999"/>
          </a:xfrm>
          <a:prstGeom prst="rect">
            <a:avLst/>
          </a:prstGeom>
          <a:noFill/>
        </p:spPr>
        <p:txBody>
          <a:bodyPr wrap="square" rtlCol="0">
            <a:spAutoFit/>
          </a:bodyPr>
          <a:lstStyle/>
          <a:p>
            <a:pPr marL="0" marR="0" lvl="0" indent="0" algn="ctr" defTabSz="44783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기능 검증</a:t>
            </a:r>
            <a:endParaRPr kumimoji="0"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450" name="직선 연결선 449">
            <a:extLst>
              <a:ext uri="{FF2B5EF4-FFF2-40B4-BE49-F238E27FC236}">
                <a16:creationId xmlns:a16="http://schemas.microsoft.com/office/drawing/2014/main" id="{CCBCF16A-3222-D842-4005-F06C9A5E8E1C}"/>
              </a:ext>
            </a:extLst>
          </p:cNvPr>
          <p:cNvCxnSpPr/>
          <p:nvPr/>
        </p:nvCxnSpPr>
        <p:spPr>
          <a:xfrm>
            <a:off x="5227000" y="1565914"/>
            <a:ext cx="4230638" cy="0"/>
          </a:xfrm>
          <a:prstGeom prst="line">
            <a:avLst/>
          </a:prstGeom>
        </p:spPr>
        <p:style>
          <a:lnRef idx="1">
            <a:schemeClr val="dk1"/>
          </a:lnRef>
          <a:fillRef idx="0">
            <a:schemeClr val="dk1"/>
          </a:fillRef>
          <a:effectRef idx="0">
            <a:schemeClr val="dk1"/>
          </a:effectRef>
          <a:fontRef idx="minor">
            <a:schemeClr val="tx1"/>
          </a:fontRef>
        </p:style>
      </p:cxnSp>
      <p:sp>
        <p:nvSpPr>
          <p:cNvPr id="451" name="TextBox 450">
            <a:extLst>
              <a:ext uri="{FF2B5EF4-FFF2-40B4-BE49-F238E27FC236}">
                <a16:creationId xmlns:a16="http://schemas.microsoft.com/office/drawing/2014/main" id="{43CA4E68-F901-A7BB-12D4-628C98651FD4}"/>
              </a:ext>
            </a:extLst>
          </p:cNvPr>
          <p:cNvSpPr txBox="1"/>
          <p:nvPr/>
        </p:nvSpPr>
        <p:spPr>
          <a:xfrm>
            <a:off x="5226999" y="1256436"/>
            <a:ext cx="4230637" cy="276999"/>
          </a:xfrm>
          <a:prstGeom prst="rect">
            <a:avLst/>
          </a:prstGeom>
          <a:noFill/>
        </p:spPr>
        <p:txBody>
          <a:bodyPr wrap="square" rtlCol="0">
            <a:spAutoFit/>
          </a:bodyPr>
          <a:lstStyle/>
          <a:p>
            <a:pPr marL="0" marR="0" lvl="0" indent="0" algn="ctr" defTabSz="44783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효과 검증</a:t>
            </a:r>
            <a:endParaRPr kumimoji="0" lang="en-US" altLang="ko-KR" sz="1200"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452" name="직선 연결선 451">
            <a:extLst>
              <a:ext uri="{FF2B5EF4-FFF2-40B4-BE49-F238E27FC236}">
                <a16:creationId xmlns:a16="http://schemas.microsoft.com/office/drawing/2014/main" id="{BF096824-79E8-D9F8-063B-7D3E5840DC36}"/>
              </a:ext>
            </a:extLst>
          </p:cNvPr>
          <p:cNvCxnSpPr/>
          <p:nvPr/>
        </p:nvCxnSpPr>
        <p:spPr>
          <a:xfrm>
            <a:off x="423616" y="1565914"/>
            <a:ext cx="4230638" cy="0"/>
          </a:xfrm>
          <a:prstGeom prst="line">
            <a:avLst/>
          </a:prstGeom>
        </p:spPr>
        <p:style>
          <a:lnRef idx="1">
            <a:schemeClr val="dk1"/>
          </a:lnRef>
          <a:fillRef idx="0">
            <a:schemeClr val="dk1"/>
          </a:fillRef>
          <a:effectRef idx="0">
            <a:schemeClr val="dk1"/>
          </a:effectRef>
          <a:fontRef idx="minor">
            <a:schemeClr val="tx1"/>
          </a:fontRef>
        </p:style>
      </p:cxnSp>
      <p:cxnSp>
        <p:nvCxnSpPr>
          <p:cNvPr id="453" name="직선 연결선 452">
            <a:extLst>
              <a:ext uri="{FF2B5EF4-FFF2-40B4-BE49-F238E27FC236}">
                <a16:creationId xmlns:a16="http://schemas.microsoft.com/office/drawing/2014/main" id="{1C6FE2FF-B3C1-6C00-235A-B30F17254E58}"/>
              </a:ext>
            </a:extLst>
          </p:cNvPr>
          <p:cNvCxnSpPr>
            <a:cxnSpLocks/>
          </p:cNvCxnSpPr>
          <p:nvPr/>
        </p:nvCxnSpPr>
        <p:spPr>
          <a:xfrm>
            <a:off x="5004030" y="1777508"/>
            <a:ext cx="0" cy="4617091"/>
          </a:xfrm>
          <a:prstGeom prst="line">
            <a:avLst/>
          </a:prstGeom>
        </p:spPr>
        <p:style>
          <a:lnRef idx="1">
            <a:schemeClr val="dk1"/>
          </a:lnRef>
          <a:fillRef idx="0">
            <a:schemeClr val="dk1"/>
          </a:fillRef>
          <a:effectRef idx="0">
            <a:schemeClr val="dk1"/>
          </a:effectRef>
          <a:fontRef idx="minor">
            <a:schemeClr val="tx1"/>
          </a:fontRef>
        </p:style>
      </p:cxnSp>
      <p:sp>
        <p:nvSpPr>
          <p:cNvPr id="454" name="TextBox 453">
            <a:extLst>
              <a:ext uri="{FF2B5EF4-FFF2-40B4-BE49-F238E27FC236}">
                <a16:creationId xmlns:a16="http://schemas.microsoft.com/office/drawing/2014/main" id="{E7EC06EB-1073-5F8C-32AE-7725B15D0FBC}"/>
              </a:ext>
            </a:extLst>
          </p:cNvPr>
          <p:cNvSpPr txBox="1"/>
          <p:nvPr/>
        </p:nvSpPr>
        <p:spPr>
          <a:xfrm>
            <a:off x="179433" y="1624421"/>
            <a:ext cx="4785397" cy="453201"/>
          </a:xfrm>
          <a:prstGeom prst="rect">
            <a:avLst/>
          </a:prstGeom>
          <a:noFill/>
        </p:spPr>
        <p:txBody>
          <a:bodyPr wrap="square" rtlCol="0">
            <a:spAutoFit/>
          </a:bodyPr>
          <a:lstStyle/>
          <a:p>
            <a:pPr marL="87078" marR="0" lvl="0" indent="-87078" algn="l" defTabSz="447830"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선별 투입 적용 이후</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재료교체 전</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후 전극의 로딩량 평균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2.2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미만 및 기울기 차이가 최소가 되도록 정상 반송되었음을 확인하였음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p>
        </p:txBody>
      </p:sp>
      <p:cxnSp>
        <p:nvCxnSpPr>
          <p:cNvPr id="460" name="직선 연결선 459">
            <a:extLst>
              <a:ext uri="{FF2B5EF4-FFF2-40B4-BE49-F238E27FC236}">
                <a16:creationId xmlns:a16="http://schemas.microsoft.com/office/drawing/2014/main" id="{A743B6DE-ADA4-115D-D7B6-0BD2E6CBF85D}"/>
              </a:ext>
            </a:extLst>
          </p:cNvPr>
          <p:cNvCxnSpPr>
            <a:cxnSpLocks/>
          </p:cNvCxnSpPr>
          <p:nvPr/>
        </p:nvCxnSpPr>
        <p:spPr>
          <a:xfrm>
            <a:off x="2785281" y="2620041"/>
            <a:ext cx="2013855" cy="1671700"/>
          </a:xfrm>
          <a:prstGeom prst="line">
            <a:avLst/>
          </a:prstGeom>
          <a:ln>
            <a:solidFill>
              <a:srgbClr val="008000"/>
            </a:solidFill>
            <a:prstDash val="dash"/>
          </a:ln>
        </p:spPr>
        <p:style>
          <a:lnRef idx="1">
            <a:schemeClr val="accent1"/>
          </a:lnRef>
          <a:fillRef idx="0">
            <a:schemeClr val="accent1"/>
          </a:fillRef>
          <a:effectRef idx="0">
            <a:schemeClr val="accent1"/>
          </a:effectRef>
          <a:fontRef idx="minor">
            <a:schemeClr val="tx1"/>
          </a:fontRef>
        </p:style>
      </p:cxnSp>
      <p:sp>
        <p:nvSpPr>
          <p:cNvPr id="461" name="TextBox 460">
            <a:extLst>
              <a:ext uri="{FF2B5EF4-FFF2-40B4-BE49-F238E27FC236}">
                <a16:creationId xmlns:a16="http://schemas.microsoft.com/office/drawing/2014/main" id="{2B4A03E1-8099-C450-6D0A-CE86CD22A9DB}"/>
              </a:ext>
            </a:extLst>
          </p:cNvPr>
          <p:cNvSpPr txBox="1"/>
          <p:nvPr/>
        </p:nvSpPr>
        <p:spPr>
          <a:xfrm>
            <a:off x="179433" y="2123372"/>
            <a:ext cx="4785397" cy="235193"/>
          </a:xfrm>
          <a:prstGeom prst="rect">
            <a:avLst/>
          </a:prstGeom>
          <a:noFill/>
        </p:spPr>
        <p:txBody>
          <a:bodyPr wrap="square" rtlCol="0">
            <a:spAutoFit/>
          </a:bodyPr>
          <a:lstStyle/>
          <a:p>
            <a:pPr marL="0" marR="0" lvl="0" indent="0" algn="l" defTabSz="447830"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차트 </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 </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수동 투입과 선별 투입</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자동</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간 전</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후 전극의 로딩량 기울기 분포</a:t>
            </a:r>
            <a:endPar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sp>
        <p:nvSpPr>
          <p:cNvPr id="464" name="TextBox 463">
            <a:extLst>
              <a:ext uri="{FF2B5EF4-FFF2-40B4-BE49-F238E27FC236}">
                <a16:creationId xmlns:a16="http://schemas.microsoft.com/office/drawing/2014/main" id="{AB2C373B-86F3-9CEC-81C1-8C5F7F0776C6}"/>
              </a:ext>
            </a:extLst>
          </p:cNvPr>
          <p:cNvSpPr txBox="1"/>
          <p:nvPr/>
        </p:nvSpPr>
        <p:spPr>
          <a:xfrm>
            <a:off x="179433" y="4591557"/>
            <a:ext cx="4785397" cy="235193"/>
          </a:xfrm>
          <a:prstGeom prst="rect">
            <a:avLst/>
          </a:prstGeom>
          <a:noFill/>
        </p:spPr>
        <p:txBody>
          <a:bodyPr wrap="square" rtlCol="0">
            <a:spAutoFit/>
          </a:bodyPr>
          <a:lstStyle/>
          <a:p>
            <a:pPr marL="0" marR="0" lvl="0" indent="0" algn="l" defTabSz="447830"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차트 </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2) </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일자 별 재료교체 전</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후 로딩량 기울기 차이</a:t>
            </a:r>
            <a:endPar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cxnSp>
        <p:nvCxnSpPr>
          <p:cNvPr id="468" name="직선 연결선 467">
            <a:extLst>
              <a:ext uri="{FF2B5EF4-FFF2-40B4-BE49-F238E27FC236}">
                <a16:creationId xmlns:a16="http://schemas.microsoft.com/office/drawing/2014/main" id="{9F4DE828-BF4A-095D-FDF5-87B9769BF68D}"/>
              </a:ext>
            </a:extLst>
          </p:cNvPr>
          <p:cNvCxnSpPr>
            <a:cxnSpLocks/>
          </p:cNvCxnSpPr>
          <p:nvPr/>
        </p:nvCxnSpPr>
        <p:spPr>
          <a:xfrm>
            <a:off x="2785281" y="2443317"/>
            <a:ext cx="0" cy="187982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80" name="TextBox 479">
            <a:extLst>
              <a:ext uri="{FF2B5EF4-FFF2-40B4-BE49-F238E27FC236}">
                <a16:creationId xmlns:a16="http://schemas.microsoft.com/office/drawing/2014/main" id="{016E335C-CFA4-6670-D536-EDB43F14E7CB}"/>
              </a:ext>
            </a:extLst>
          </p:cNvPr>
          <p:cNvSpPr txBox="1"/>
          <p:nvPr/>
        </p:nvSpPr>
        <p:spPr>
          <a:xfrm>
            <a:off x="5078617" y="1624421"/>
            <a:ext cx="4785397" cy="1198020"/>
          </a:xfrm>
          <a:prstGeom prst="rect">
            <a:avLst/>
          </a:prstGeom>
          <a:noFill/>
        </p:spPr>
        <p:txBody>
          <a:bodyPr wrap="square" rtlCol="0">
            <a:spAutoFit/>
          </a:bodyPr>
          <a:lstStyle/>
          <a:p>
            <a:pPr marL="87078" marR="0" lvl="0" indent="-87078" algn="l" defTabSz="447830" rtl="0" eaLnBrk="1" fontAlgn="auto" latinLnBrk="0" hangingPunct="1">
              <a:lnSpc>
                <a:spcPct val="110000"/>
              </a:lnSpc>
              <a:spcBef>
                <a:spcPts val="0"/>
              </a:spcBef>
              <a:spcAft>
                <a:spcPts val="0"/>
              </a:spcAft>
              <a:buClrTx/>
              <a:buSzTx/>
              <a:buFont typeface="Wingdings" panose="05000000000000000000" pitchFamily="2" charset="2"/>
              <a:buChar char="§"/>
              <a:tabLst/>
              <a:defRPr/>
            </a:pP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W28~W33(7/11 ~ 8/15)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검증 기간 동안 재료교체 후 단선 발생 빈도 확인 결과</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①</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선별 투입 조건</a:t>
            </a:r>
            <a:r>
              <a:rPr kumimoji="0" lang="en-US" altLang="ko-KR" sz="1100" b="0" i="0" u="none" strike="noStrike" kern="1200" cap="none" spc="0" normalizeH="0" baseline="3000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만족하지 않는 경우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3.57%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단선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4</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전체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112</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② 선별 투입 조건 만족하는 경우</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 1.96%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단선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13</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전체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664</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으로 선별 투입 조건 만족하는 경우에서 단선 빈도가 낮은 것을 재확인하였음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b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추가로</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선별 투입 조건 만족하는 비율도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67.4%(2,3</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85.6%(7,8</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월</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로 개선 되었음을 확인하였음</a:t>
            </a:r>
            <a:r>
              <a:rPr kumimoji="0" lang="en-US" altLang="ko-KR" sz="11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cxnSp>
        <p:nvCxnSpPr>
          <p:cNvPr id="10" name="직선 연결선 9">
            <a:extLst>
              <a:ext uri="{FF2B5EF4-FFF2-40B4-BE49-F238E27FC236}">
                <a16:creationId xmlns:a16="http://schemas.microsoft.com/office/drawing/2014/main" id="{CDB6991B-1411-FDAA-2F78-DB14303FD47C}"/>
              </a:ext>
            </a:extLst>
          </p:cNvPr>
          <p:cNvCxnSpPr>
            <a:cxnSpLocks/>
          </p:cNvCxnSpPr>
          <p:nvPr/>
        </p:nvCxnSpPr>
        <p:spPr>
          <a:xfrm>
            <a:off x="509417" y="2651444"/>
            <a:ext cx="1900177" cy="1614925"/>
          </a:xfrm>
          <a:prstGeom prst="line">
            <a:avLst/>
          </a:prstGeom>
          <a:ln>
            <a:solidFill>
              <a:srgbClr val="008000"/>
            </a:solidFill>
            <a:prstDash val="dash"/>
          </a:ln>
        </p:spPr>
        <p:style>
          <a:lnRef idx="1">
            <a:schemeClr val="accent1"/>
          </a:lnRef>
          <a:fillRef idx="0">
            <a:schemeClr val="accent1"/>
          </a:fillRef>
          <a:effectRef idx="0">
            <a:schemeClr val="accent1"/>
          </a:effectRef>
          <a:fontRef idx="minor">
            <a:schemeClr val="tx1"/>
          </a:fontRef>
        </p:style>
      </p:cxnSp>
      <p:sp>
        <p:nvSpPr>
          <p:cNvPr id="13" name="타원 12">
            <a:extLst>
              <a:ext uri="{FF2B5EF4-FFF2-40B4-BE49-F238E27FC236}">
                <a16:creationId xmlns:a16="http://schemas.microsoft.com/office/drawing/2014/main" id="{B17E2C0E-223D-486A-A0C1-33B696382B46}"/>
              </a:ext>
            </a:extLst>
          </p:cNvPr>
          <p:cNvSpPr/>
          <p:nvPr/>
        </p:nvSpPr>
        <p:spPr>
          <a:xfrm rot="18602557">
            <a:off x="796388" y="2808834"/>
            <a:ext cx="865750" cy="1004565"/>
          </a:xfrm>
          <a:prstGeom prst="ellipse">
            <a:avLst/>
          </a:prstGeom>
          <a:solidFill>
            <a:srgbClr val="FF0000">
              <a:alpha val="10000"/>
            </a:srgbClr>
          </a:solidFill>
          <a:ln w="63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36" name="그룹 35">
            <a:extLst>
              <a:ext uri="{FF2B5EF4-FFF2-40B4-BE49-F238E27FC236}">
                <a16:creationId xmlns:a16="http://schemas.microsoft.com/office/drawing/2014/main" id="{386A96E7-33CD-06F4-1B38-D5BBC7CF13F8}"/>
              </a:ext>
            </a:extLst>
          </p:cNvPr>
          <p:cNvGrpSpPr/>
          <p:nvPr/>
        </p:nvGrpSpPr>
        <p:grpSpPr>
          <a:xfrm>
            <a:off x="251922" y="4789558"/>
            <a:ext cx="1776737" cy="307777"/>
            <a:chOff x="8203191" y="2755734"/>
            <a:chExt cx="1776737" cy="307777"/>
          </a:xfrm>
        </p:grpSpPr>
        <p:grpSp>
          <p:nvGrpSpPr>
            <p:cNvPr id="37" name="그룹 36">
              <a:extLst>
                <a:ext uri="{FF2B5EF4-FFF2-40B4-BE49-F238E27FC236}">
                  <a16:creationId xmlns:a16="http://schemas.microsoft.com/office/drawing/2014/main" id="{E129BDDB-7173-5656-BB76-E43D42F4C1DA}"/>
                </a:ext>
              </a:extLst>
            </p:cNvPr>
            <p:cNvGrpSpPr/>
            <p:nvPr/>
          </p:nvGrpSpPr>
          <p:grpSpPr>
            <a:xfrm>
              <a:off x="8217578" y="2755734"/>
              <a:ext cx="1762350" cy="307777"/>
              <a:chOff x="753730" y="1615473"/>
              <a:chExt cx="1762350" cy="450616"/>
            </a:xfrm>
          </p:grpSpPr>
          <p:sp>
            <p:nvSpPr>
              <p:cNvPr id="40" name="직사각형 39">
                <a:extLst>
                  <a:ext uri="{FF2B5EF4-FFF2-40B4-BE49-F238E27FC236}">
                    <a16:creationId xmlns:a16="http://schemas.microsoft.com/office/drawing/2014/main" id="{1FAE8F77-9370-4C41-C0AC-67ABF79A35F6}"/>
                  </a:ext>
                </a:extLst>
              </p:cNvPr>
              <p:cNvSpPr/>
              <p:nvPr/>
            </p:nvSpPr>
            <p:spPr>
              <a:xfrm>
                <a:off x="753730" y="1736215"/>
                <a:ext cx="108000" cy="108000"/>
              </a:xfrm>
              <a:prstGeom prst="rect">
                <a:avLst/>
              </a:prstGeom>
              <a:solidFill>
                <a:srgbClr val="BC72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9CC1A65-E746-CB9F-2E9F-3AC2D1DE411A}"/>
                  </a:ext>
                </a:extLst>
              </p:cNvPr>
              <p:cNvSpPr txBox="1"/>
              <p:nvPr/>
            </p:nvSpPr>
            <p:spPr>
              <a:xfrm>
                <a:off x="810088" y="1615473"/>
                <a:ext cx="1705992" cy="45061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재료교체 로딩량 기울기 차이</a:t>
                </a: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(Median)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자동 반송 비율</a:t>
                </a: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endParaRPr>
              </a:p>
            </p:txBody>
          </p:sp>
        </p:grpSp>
        <p:cxnSp>
          <p:nvCxnSpPr>
            <p:cNvPr id="38" name="직선 연결선 37">
              <a:extLst>
                <a:ext uri="{FF2B5EF4-FFF2-40B4-BE49-F238E27FC236}">
                  <a16:creationId xmlns:a16="http://schemas.microsoft.com/office/drawing/2014/main" id="{72A375B2-32D5-A2F4-4893-6932A2B4B6B7}"/>
                </a:ext>
              </a:extLst>
            </p:cNvPr>
            <p:cNvCxnSpPr/>
            <p:nvPr/>
          </p:nvCxnSpPr>
          <p:spPr>
            <a:xfrm>
              <a:off x="8203191" y="2968907"/>
              <a:ext cx="127518" cy="0"/>
            </a:xfrm>
            <a:prstGeom prst="line">
              <a:avLst/>
            </a:prstGeom>
            <a:ln w="12700">
              <a:solidFill>
                <a:srgbClr val="72ECA5"/>
              </a:solidFill>
            </a:ln>
          </p:spPr>
          <p:style>
            <a:lnRef idx="1">
              <a:schemeClr val="accent1"/>
            </a:lnRef>
            <a:fillRef idx="0">
              <a:schemeClr val="accent1"/>
            </a:fillRef>
            <a:effectRef idx="0">
              <a:schemeClr val="accent1"/>
            </a:effectRef>
            <a:fontRef idx="minor">
              <a:schemeClr val="tx1"/>
            </a:fontRef>
          </p:style>
        </p:cxnSp>
      </p:grpSp>
      <p:grpSp>
        <p:nvGrpSpPr>
          <p:cNvPr id="492" name="그룹 491">
            <a:extLst>
              <a:ext uri="{FF2B5EF4-FFF2-40B4-BE49-F238E27FC236}">
                <a16:creationId xmlns:a16="http://schemas.microsoft.com/office/drawing/2014/main" id="{3332C164-AFB6-B8D9-337C-6D7E8E1AFBA3}"/>
              </a:ext>
            </a:extLst>
          </p:cNvPr>
          <p:cNvGrpSpPr/>
          <p:nvPr/>
        </p:nvGrpSpPr>
        <p:grpSpPr>
          <a:xfrm>
            <a:off x="192755" y="4869351"/>
            <a:ext cx="4785396" cy="1852290"/>
            <a:chOff x="192755" y="4824414"/>
            <a:chExt cx="4785396" cy="1852290"/>
          </a:xfrm>
        </p:grpSpPr>
        <p:sp>
          <p:nvSpPr>
            <p:cNvPr id="483" name="TextBox 482">
              <a:extLst>
                <a:ext uri="{FF2B5EF4-FFF2-40B4-BE49-F238E27FC236}">
                  <a16:creationId xmlns:a16="http://schemas.microsoft.com/office/drawing/2014/main" id="{D88F67F5-1350-9F33-9352-DFAB3345BD75}"/>
                </a:ext>
              </a:extLst>
            </p:cNvPr>
            <p:cNvSpPr txBox="1"/>
            <p:nvPr/>
          </p:nvSpPr>
          <p:spPr>
            <a:xfrm>
              <a:off x="1028261" y="6461259"/>
              <a:ext cx="42380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W31</a:t>
              </a:r>
              <a:endParaRPr kumimoji="0" lang="ko-KR" altLang="en-US"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endParaRPr>
            </a:p>
          </p:txBody>
        </p:sp>
        <p:sp>
          <p:nvSpPr>
            <p:cNvPr id="485" name="TextBox 484">
              <a:extLst>
                <a:ext uri="{FF2B5EF4-FFF2-40B4-BE49-F238E27FC236}">
                  <a16:creationId xmlns:a16="http://schemas.microsoft.com/office/drawing/2014/main" id="{56945548-B77B-2377-0DE9-A1D61B665421}"/>
                </a:ext>
              </a:extLst>
            </p:cNvPr>
            <p:cNvSpPr txBox="1"/>
            <p:nvPr/>
          </p:nvSpPr>
          <p:spPr>
            <a:xfrm>
              <a:off x="2466036" y="6461259"/>
              <a:ext cx="42380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W32</a:t>
              </a:r>
              <a:endParaRPr kumimoji="0" lang="ko-KR" altLang="en-US"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endParaRPr>
            </a:p>
          </p:txBody>
        </p:sp>
        <p:grpSp>
          <p:nvGrpSpPr>
            <p:cNvPr id="491" name="그룹 490">
              <a:extLst>
                <a:ext uri="{FF2B5EF4-FFF2-40B4-BE49-F238E27FC236}">
                  <a16:creationId xmlns:a16="http://schemas.microsoft.com/office/drawing/2014/main" id="{C734A367-F864-2A74-AC6E-F1D559E56359}"/>
                </a:ext>
              </a:extLst>
            </p:cNvPr>
            <p:cNvGrpSpPr/>
            <p:nvPr/>
          </p:nvGrpSpPr>
          <p:grpSpPr>
            <a:xfrm>
              <a:off x="192755" y="4824414"/>
              <a:ext cx="4785396" cy="1655495"/>
              <a:chOff x="192755" y="4824414"/>
              <a:chExt cx="4785396" cy="1655495"/>
            </a:xfrm>
          </p:grpSpPr>
          <p:pic>
            <p:nvPicPr>
              <p:cNvPr id="15" name="그림 14">
                <a:extLst>
                  <a:ext uri="{FF2B5EF4-FFF2-40B4-BE49-F238E27FC236}">
                    <a16:creationId xmlns:a16="http://schemas.microsoft.com/office/drawing/2014/main" id="{AF7DD970-28A6-BEB9-8E29-76885B8B443F}"/>
                  </a:ext>
                </a:extLst>
              </p:cNvPr>
              <p:cNvPicPr>
                <a:picLocks noChangeAspect="1"/>
              </p:cNvPicPr>
              <p:nvPr/>
            </p:nvPicPr>
            <p:blipFill>
              <a:blip r:embed="rId6"/>
              <a:stretch>
                <a:fillRect/>
              </a:stretch>
            </p:blipFill>
            <p:spPr>
              <a:xfrm>
                <a:off x="192755" y="5038905"/>
                <a:ext cx="4785396" cy="1386107"/>
              </a:xfrm>
              <a:prstGeom prst="rect">
                <a:avLst/>
              </a:prstGeom>
            </p:spPr>
          </p:pic>
          <p:grpSp>
            <p:nvGrpSpPr>
              <p:cNvPr id="489" name="그룹 488">
                <a:extLst>
                  <a:ext uri="{FF2B5EF4-FFF2-40B4-BE49-F238E27FC236}">
                    <a16:creationId xmlns:a16="http://schemas.microsoft.com/office/drawing/2014/main" id="{F37F4E3D-03D8-8293-AF49-FBF6941A4C7F}"/>
                  </a:ext>
                </a:extLst>
              </p:cNvPr>
              <p:cNvGrpSpPr/>
              <p:nvPr/>
            </p:nvGrpSpPr>
            <p:grpSpPr>
              <a:xfrm>
                <a:off x="543378" y="4824414"/>
                <a:ext cx="4342992" cy="1655495"/>
                <a:chOff x="543378" y="4824414"/>
                <a:chExt cx="4342992" cy="1655495"/>
              </a:xfrm>
            </p:grpSpPr>
            <p:sp>
              <p:nvSpPr>
                <p:cNvPr id="43" name="직사각형 42">
                  <a:extLst>
                    <a:ext uri="{FF2B5EF4-FFF2-40B4-BE49-F238E27FC236}">
                      <a16:creationId xmlns:a16="http://schemas.microsoft.com/office/drawing/2014/main" id="{4A8F94F2-F461-E6A2-A609-E9F6E362B451}"/>
                    </a:ext>
                  </a:extLst>
                </p:cNvPr>
                <p:cNvSpPr/>
                <p:nvPr/>
              </p:nvSpPr>
              <p:spPr>
                <a:xfrm>
                  <a:off x="3362497" y="5107990"/>
                  <a:ext cx="1288726" cy="1043169"/>
                </a:xfrm>
                <a:prstGeom prst="rect">
                  <a:avLst/>
                </a:prstGeom>
                <a:solidFill>
                  <a:srgbClr val="00B050">
                    <a:alpha val="10000"/>
                  </a:srgbClr>
                </a:solidFill>
                <a:ln w="6350">
                  <a:solidFill>
                    <a:srgbClr val="00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454B21A7-3625-9BAC-1050-25211AFF5E99}"/>
                    </a:ext>
                  </a:extLst>
                </p:cNvPr>
                <p:cNvSpPr txBox="1"/>
                <p:nvPr/>
              </p:nvSpPr>
              <p:spPr>
                <a:xfrm>
                  <a:off x="3286664" y="4824414"/>
                  <a:ext cx="1599706"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자동 반송</a:t>
                  </a:r>
                  <a:r>
                    <a:rPr kumimoji="0" lang="en-US" altLang="ko-KR"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선별 투입</a:t>
                  </a:r>
                  <a:r>
                    <a:rPr kumimoji="0" lang="en-US" altLang="ko-KR"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비율 감소에 따른</a:t>
                  </a:r>
                  <a:r>
                    <a:rPr kumimoji="0" lang="en-US" altLang="ko-KR"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 </a:t>
                  </a:r>
                  <a:br>
                    <a:rPr kumimoji="0" lang="en-US" altLang="ko-KR"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br>
                  <a:r>
                    <a:rPr kumimoji="0" lang="ko-KR" altLang="en-US"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재료교체 로딩량 기울기 차이 증가 </a:t>
                  </a:r>
                </a:p>
              </p:txBody>
            </p:sp>
            <p:sp>
              <p:nvSpPr>
                <p:cNvPr id="484" name="왼쪽 중괄호 483">
                  <a:extLst>
                    <a:ext uri="{FF2B5EF4-FFF2-40B4-BE49-F238E27FC236}">
                      <a16:creationId xmlns:a16="http://schemas.microsoft.com/office/drawing/2014/main" id="{F1B0E51B-FF32-305C-32A1-668B90129A58}"/>
                    </a:ext>
                  </a:extLst>
                </p:cNvPr>
                <p:cNvSpPr/>
                <p:nvPr/>
              </p:nvSpPr>
              <p:spPr>
                <a:xfrm rot="16200000">
                  <a:off x="1195539" y="5695904"/>
                  <a:ext cx="121033" cy="1425355"/>
                </a:xfrm>
                <a:prstGeom prst="leftBrac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487" name="왼쪽 중괄호 486">
                  <a:extLst>
                    <a:ext uri="{FF2B5EF4-FFF2-40B4-BE49-F238E27FC236}">
                      <a16:creationId xmlns:a16="http://schemas.microsoft.com/office/drawing/2014/main" id="{94660AA5-53FC-DCB4-1838-8753E21BFD94}"/>
                    </a:ext>
                  </a:extLst>
                </p:cNvPr>
                <p:cNvSpPr/>
                <p:nvPr/>
              </p:nvSpPr>
              <p:spPr>
                <a:xfrm rot="16200000">
                  <a:off x="2588263" y="5740955"/>
                  <a:ext cx="131845" cy="1346064"/>
                </a:xfrm>
                <a:prstGeom prst="leftBrac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494" name="왼쪽 중괄호 493">
                  <a:extLst>
                    <a:ext uri="{FF2B5EF4-FFF2-40B4-BE49-F238E27FC236}">
                      <a16:creationId xmlns:a16="http://schemas.microsoft.com/office/drawing/2014/main" id="{AC218B31-934A-886F-BFB8-0AE3AECC320F}"/>
                    </a:ext>
                  </a:extLst>
                </p:cNvPr>
                <p:cNvSpPr/>
                <p:nvPr/>
              </p:nvSpPr>
              <p:spPr>
                <a:xfrm rot="16200000">
                  <a:off x="3956615" y="5759642"/>
                  <a:ext cx="113193" cy="1290039"/>
                </a:xfrm>
                <a:prstGeom prst="leftBrac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grpSp>
        </p:grpSp>
        <p:sp>
          <p:nvSpPr>
            <p:cNvPr id="493" name="TextBox 492">
              <a:extLst>
                <a:ext uri="{FF2B5EF4-FFF2-40B4-BE49-F238E27FC236}">
                  <a16:creationId xmlns:a16="http://schemas.microsoft.com/office/drawing/2014/main" id="{2FA4B611-C730-01E8-AD47-24D3ACF9C7C8}"/>
                </a:ext>
              </a:extLst>
            </p:cNvPr>
            <p:cNvSpPr txBox="1"/>
            <p:nvPr/>
          </p:nvSpPr>
          <p:spPr>
            <a:xfrm>
              <a:off x="3853074" y="6461260"/>
              <a:ext cx="423805"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rPr>
                <a:t>W33</a:t>
              </a:r>
              <a:endParaRPr kumimoji="0" lang="ko-KR" altLang="en-US" sz="800" b="1" i="0" u="none" strike="noStrike" kern="1200" cap="none" spc="0" normalizeH="0" baseline="0" noProof="0" dirty="0">
                <a:ln>
                  <a:noFill/>
                </a:ln>
                <a:solidFill>
                  <a:prstClr val="black"/>
                </a:solidFill>
                <a:effectLst/>
                <a:highlight>
                  <a:srgbClr val="FFFF00"/>
                </a:highlight>
                <a:uLnTx/>
                <a:uFillTx/>
                <a:latin typeface="LG스마트체 Regular" panose="020B0600000101010101" pitchFamily="50" charset="-127"/>
                <a:ea typeface="LG스마트체 Regular" panose="020B0600000101010101" pitchFamily="50" charset="-127"/>
                <a:cs typeface="+mn-cs"/>
              </a:endParaRPr>
            </a:p>
          </p:txBody>
        </p:sp>
      </p:grpSp>
      <p:grpSp>
        <p:nvGrpSpPr>
          <p:cNvPr id="108" name="그룹 107">
            <a:extLst>
              <a:ext uri="{FF2B5EF4-FFF2-40B4-BE49-F238E27FC236}">
                <a16:creationId xmlns:a16="http://schemas.microsoft.com/office/drawing/2014/main" id="{83C74FEB-7508-34A8-5F1E-05F6C67CE492}"/>
              </a:ext>
            </a:extLst>
          </p:cNvPr>
          <p:cNvGrpSpPr/>
          <p:nvPr/>
        </p:nvGrpSpPr>
        <p:grpSpPr>
          <a:xfrm>
            <a:off x="5079831" y="3051358"/>
            <a:ext cx="4101202" cy="2125509"/>
            <a:chOff x="4946314" y="2395164"/>
            <a:chExt cx="4511322" cy="2338060"/>
          </a:xfrm>
        </p:grpSpPr>
        <p:grpSp>
          <p:nvGrpSpPr>
            <p:cNvPr id="103" name="그룹 102">
              <a:extLst>
                <a:ext uri="{FF2B5EF4-FFF2-40B4-BE49-F238E27FC236}">
                  <a16:creationId xmlns:a16="http://schemas.microsoft.com/office/drawing/2014/main" id="{FA688F0C-C468-134C-FA35-B0A4B30FC584}"/>
                </a:ext>
              </a:extLst>
            </p:cNvPr>
            <p:cNvGrpSpPr/>
            <p:nvPr/>
          </p:nvGrpSpPr>
          <p:grpSpPr>
            <a:xfrm>
              <a:off x="4946314" y="2395164"/>
              <a:ext cx="4192781" cy="2338060"/>
              <a:chOff x="4946314" y="2327198"/>
              <a:chExt cx="4192781" cy="2338060"/>
            </a:xfrm>
          </p:grpSpPr>
          <p:grpSp>
            <p:nvGrpSpPr>
              <p:cNvPr id="96" name="그룹 95">
                <a:extLst>
                  <a:ext uri="{FF2B5EF4-FFF2-40B4-BE49-F238E27FC236}">
                    <a16:creationId xmlns:a16="http://schemas.microsoft.com/office/drawing/2014/main" id="{94B53F34-BA35-A00B-AF59-CAEA4F07F630}"/>
                  </a:ext>
                </a:extLst>
              </p:cNvPr>
              <p:cNvGrpSpPr/>
              <p:nvPr/>
            </p:nvGrpSpPr>
            <p:grpSpPr>
              <a:xfrm>
                <a:off x="4946314" y="2327198"/>
                <a:ext cx="4192781" cy="2338060"/>
                <a:chOff x="4843654" y="2081047"/>
                <a:chExt cx="4192781" cy="2338060"/>
              </a:xfrm>
            </p:grpSpPr>
            <p:sp>
              <p:nvSpPr>
                <p:cNvPr id="80" name="TextBox 79">
                  <a:extLst>
                    <a:ext uri="{FF2B5EF4-FFF2-40B4-BE49-F238E27FC236}">
                      <a16:creationId xmlns:a16="http://schemas.microsoft.com/office/drawing/2014/main" id="{223234AC-37FC-0D10-8B09-8430A3413096}"/>
                    </a:ext>
                  </a:extLst>
                </p:cNvPr>
                <p:cNvSpPr txBox="1"/>
                <p:nvPr/>
              </p:nvSpPr>
              <p:spPr>
                <a:xfrm>
                  <a:off x="4843654" y="2081047"/>
                  <a:ext cx="4192781" cy="258712"/>
                </a:xfrm>
                <a:prstGeom prst="rect">
                  <a:avLst/>
                </a:prstGeom>
                <a:noFill/>
              </p:spPr>
              <p:txBody>
                <a:bodyPr wrap="square" rtlCol="0">
                  <a:spAutoFit/>
                </a:bodyPr>
                <a:lstStyle/>
                <a:p>
                  <a:pPr marL="0" marR="0" lvl="0" indent="0" algn="l" defTabSz="447830"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차트 </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3) </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로딩량 평균</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기울기 차이 구간에 따른 재료교체 단선 발생 여부</a:t>
                  </a:r>
                  <a:endPar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p:txBody>
            </p:sp>
            <p:pic>
              <p:nvPicPr>
                <p:cNvPr id="497" name="그림 496">
                  <a:extLst>
                    <a:ext uri="{FF2B5EF4-FFF2-40B4-BE49-F238E27FC236}">
                      <a16:creationId xmlns:a16="http://schemas.microsoft.com/office/drawing/2014/main" id="{CB23C460-9C1D-EED6-A4E1-D351A6960720}"/>
                    </a:ext>
                  </a:extLst>
                </p:cNvPr>
                <p:cNvPicPr>
                  <a:picLocks noChangeAspect="1"/>
                </p:cNvPicPr>
                <p:nvPr/>
              </p:nvPicPr>
              <p:blipFill>
                <a:blip r:embed="rId7"/>
                <a:stretch>
                  <a:fillRect/>
                </a:stretch>
              </p:blipFill>
              <p:spPr>
                <a:xfrm>
                  <a:off x="5261385" y="2405039"/>
                  <a:ext cx="3123760" cy="2014068"/>
                </a:xfrm>
                <a:prstGeom prst="rect">
                  <a:avLst/>
                </a:prstGeom>
              </p:spPr>
            </p:pic>
            <p:sp>
              <p:nvSpPr>
                <p:cNvPr id="77" name="직사각형 76">
                  <a:extLst>
                    <a:ext uri="{FF2B5EF4-FFF2-40B4-BE49-F238E27FC236}">
                      <a16:creationId xmlns:a16="http://schemas.microsoft.com/office/drawing/2014/main" id="{018E0469-A8C9-AE66-7E09-F8652C772F4A}"/>
                    </a:ext>
                  </a:extLst>
                </p:cNvPr>
                <p:cNvSpPr/>
                <p:nvPr/>
              </p:nvSpPr>
              <p:spPr>
                <a:xfrm>
                  <a:off x="5493581" y="3300961"/>
                  <a:ext cx="2215498" cy="963656"/>
                </a:xfrm>
                <a:prstGeom prst="rect">
                  <a:avLst/>
                </a:prstGeom>
                <a:solidFill>
                  <a:srgbClr val="00B050">
                    <a:alpha val="10000"/>
                  </a:srgbClr>
                </a:solidFill>
                <a:ln>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79" name="직사각형 78">
                  <a:extLst>
                    <a:ext uri="{FF2B5EF4-FFF2-40B4-BE49-F238E27FC236}">
                      <a16:creationId xmlns:a16="http://schemas.microsoft.com/office/drawing/2014/main" id="{C6CB3B14-116F-51CA-3A90-37126D865F8D}"/>
                    </a:ext>
                  </a:extLst>
                </p:cNvPr>
                <p:cNvSpPr/>
                <p:nvPr/>
              </p:nvSpPr>
              <p:spPr>
                <a:xfrm>
                  <a:off x="5493581" y="2524692"/>
                  <a:ext cx="2891564" cy="775405"/>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3" name="직사각형 82">
                  <a:extLst>
                    <a:ext uri="{FF2B5EF4-FFF2-40B4-BE49-F238E27FC236}">
                      <a16:creationId xmlns:a16="http://schemas.microsoft.com/office/drawing/2014/main" id="{917A7977-02D1-657B-BE3B-638CEC464E46}"/>
                    </a:ext>
                  </a:extLst>
                </p:cNvPr>
                <p:cNvSpPr/>
                <p:nvPr/>
              </p:nvSpPr>
              <p:spPr>
                <a:xfrm>
                  <a:off x="7693839" y="3301506"/>
                  <a:ext cx="691306" cy="963656"/>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3" name="타원 92">
                  <a:extLst>
                    <a:ext uri="{FF2B5EF4-FFF2-40B4-BE49-F238E27FC236}">
                      <a16:creationId xmlns:a16="http://schemas.microsoft.com/office/drawing/2014/main" id="{C0FE9716-A5B1-A54B-8CB9-C11523BA7EAC}"/>
                    </a:ext>
                  </a:extLst>
                </p:cNvPr>
                <p:cNvSpPr/>
                <p:nvPr/>
              </p:nvSpPr>
              <p:spPr>
                <a:xfrm>
                  <a:off x="5528613" y="2544098"/>
                  <a:ext cx="158400" cy="158400"/>
                </a:xfrm>
                <a:prstGeom prst="ellipse">
                  <a:avLst/>
                </a:prstGeom>
                <a:solidFill>
                  <a:srgbClr val="FF000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rPr>
                    <a:t>1</a:t>
                  </a:r>
                  <a:endParaRPr kumimoji="0" lang="ko-KR" altLang="en-US" sz="900" b="0" i="0" u="none" strike="noStrike" kern="1200" cap="none" spc="0" normalizeH="0" baseline="0" noProof="0" dirty="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sp>
              <p:nvSpPr>
                <p:cNvPr id="94" name="타원 93">
                  <a:extLst>
                    <a:ext uri="{FF2B5EF4-FFF2-40B4-BE49-F238E27FC236}">
                      <a16:creationId xmlns:a16="http://schemas.microsoft.com/office/drawing/2014/main" id="{07D109C9-67CF-DF61-9D77-43124CDFC0EA}"/>
                    </a:ext>
                  </a:extLst>
                </p:cNvPr>
                <p:cNvSpPr/>
                <p:nvPr/>
              </p:nvSpPr>
              <p:spPr>
                <a:xfrm>
                  <a:off x="5544181" y="3313678"/>
                  <a:ext cx="158961" cy="158400"/>
                </a:xfrm>
                <a:prstGeom prst="ellipse">
                  <a:avLst/>
                </a:prstGeom>
                <a:solidFill>
                  <a:srgbClr val="00B05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rPr>
                    <a:t>2</a:t>
                  </a:r>
                  <a:endParaRPr kumimoji="0" lang="ko-KR" altLang="en-US" sz="900" b="0" i="0" u="none" strike="noStrike" kern="1200" cap="none" spc="0" normalizeH="0" baseline="0" noProof="0" dirty="0">
                    <a:ln>
                      <a:noFill/>
                    </a:ln>
                    <a:solidFill>
                      <a:prstClr val="white"/>
                    </a:solidFill>
                    <a:effectLst/>
                    <a:uLnTx/>
                    <a:uFillTx/>
                    <a:latin typeface="LG스마트체 Regular" panose="020B0600000101010101" pitchFamily="50" charset="-127"/>
                    <a:ea typeface="LG스마트체 Regular" panose="020B0600000101010101" pitchFamily="50" charset="-127"/>
                    <a:cs typeface="+mn-cs"/>
                  </a:endParaRPr>
                </a:p>
              </p:txBody>
            </p:sp>
          </p:grpSp>
          <p:sp>
            <p:nvSpPr>
              <p:cNvPr id="101" name="TextBox 100">
                <a:extLst>
                  <a:ext uri="{FF2B5EF4-FFF2-40B4-BE49-F238E27FC236}">
                    <a16:creationId xmlns:a16="http://schemas.microsoft.com/office/drawing/2014/main" id="{3FE4C4E1-B594-994C-7490-09BE597D8257}"/>
                  </a:ext>
                </a:extLst>
              </p:cNvPr>
              <p:cNvSpPr txBox="1"/>
              <p:nvPr/>
            </p:nvSpPr>
            <p:spPr>
              <a:xfrm>
                <a:off x="6594168" y="2489476"/>
                <a:ext cx="1154007" cy="22006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로딩량 기울기 차이</a:t>
                </a:r>
              </a:p>
            </p:txBody>
          </p:sp>
          <p:sp>
            <p:nvSpPr>
              <p:cNvPr id="102" name="TextBox 101">
                <a:extLst>
                  <a:ext uri="{FF2B5EF4-FFF2-40B4-BE49-F238E27FC236}">
                    <a16:creationId xmlns:a16="http://schemas.microsoft.com/office/drawing/2014/main" id="{D5D0EC5B-E64E-9D11-2130-8154E9800358}"/>
                  </a:ext>
                </a:extLst>
              </p:cNvPr>
              <p:cNvSpPr txBox="1"/>
              <p:nvPr/>
            </p:nvSpPr>
            <p:spPr>
              <a:xfrm>
                <a:off x="4993349" y="3406530"/>
                <a:ext cx="498028" cy="45704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로딩량</a:t>
                </a:r>
                <a:b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b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평균</a:t>
                </a:r>
                <a:b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b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차이</a:t>
                </a:r>
              </a:p>
            </p:txBody>
          </p:sp>
        </p:grpSp>
        <p:sp>
          <p:nvSpPr>
            <p:cNvPr id="104" name="직사각형 103">
              <a:extLst>
                <a:ext uri="{FF2B5EF4-FFF2-40B4-BE49-F238E27FC236}">
                  <a16:creationId xmlns:a16="http://schemas.microsoft.com/office/drawing/2014/main" id="{C6782456-6110-7985-2A19-8CB71AC561EF}"/>
                </a:ext>
              </a:extLst>
            </p:cNvPr>
            <p:cNvSpPr/>
            <p:nvPr/>
          </p:nvSpPr>
          <p:spPr>
            <a:xfrm>
              <a:off x="8561535" y="4265537"/>
              <a:ext cx="108000" cy="108000"/>
            </a:xfrm>
            <a:prstGeom prst="rect">
              <a:avLst/>
            </a:prstGeom>
            <a:solidFill>
              <a:srgbClr val="1D4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5" name="직사각형 104">
              <a:extLst>
                <a:ext uri="{FF2B5EF4-FFF2-40B4-BE49-F238E27FC236}">
                  <a16:creationId xmlns:a16="http://schemas.microsoft.com/office/drawing/2014/main" id="{5BB480C6-E38B-D63A-9C67-D073CAEC2824}"/>
                </a:ext>
              </a:extLst>
            </p:cNvPr>
            <p:cNvSpPr/>
            <p:nvPr/>
          </p:nvSpPr>
          <p:spPr>
            <a:xfrm>
              <a:off x="8561535" y="4459215"/>
              <a:ext cx="108000" cy="108000"/>
            </a:xfrm>
            <a:prstGeom prst="rect">
              <a:avLst/>
            </a:prstGeom>
            <a:solidFill>
              <a:srgbClr val="DD3E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06" name="TextBox 105">
              <a:extLst>
                <a:ext uri="{FF2B5EF4-FFF2-40B4-BE49-F238E27FC236}">
                  <a16:creationId xmlns:a16="http://schemas.microsoft.com/office/drawing/2014/main" id="{5E19B63E-A490-FE40-CFF3-1B3EFF8A1345}"/>
                </a:ext>
              </a:extLst>
            </p:cNvPr>
            <p:cNvSpPr txBox="1"/>
            <p:nvPr/>
          </p:nvSpPr>
          <p:spPr>
            <a:xfrm>
              <a:off x="8669535" y="4185544"/>
              <a:ext cx="788099" cy="2539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9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정상</a:t>
              </a:r>
            </a:p>
          </p:txBody>
        </p:sp>
        <p:sp>
          <p:nvSpPr>
            <p:cNvPr id="107" name="TextBox 106">
              <a:extLst>
                <a:ext uri="{FF2B5EF4-FFF2-40B4-BE49-F238E27FC236}">
                  <a16:creationId xmlns:a16="http://schemas.microsoft.com/office/drawing/2014/main" id="{DF99E781-2D3A-C6DA-6785-CC0099FF6A2C}"/>
                </a:ext>
              </a:extLst>
            </p:cNvPr>
            <p:cNvSpPr txBox="1"/>
            <p:nvPr/>
          </p:nvSpPr>
          <p:spPr>
            <a:xfrm>
              <a:off x="8669535" y="4388219"/>
              <a:ext cx="788101" cy="25391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9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단선 발생</a:t>
              </a:r>
            </a:p>
          </p:txBody>
        </p:sp>
      </p:grpSp>
      <p:sp>
        <p:nvSpPr>
          <p:cNvPr id="109" name="TextBox 108">
            <a:extLst>
              <a:ext uri="{FF2B5EF4-FFF2-40B4-BE49-F238E27FC236}">
                <a16:creationId xmlns:a16="http://schemas.microsoft.com/office/drawing/2014/main" id="{A195DD99-9C54-A338-45AB-7427F0F19BB3}"/>
              </a:ext>
            </a:extLst>
          </p:cNvPr>
          <p:cNvSpPr txBox="1"/>
          <p:nvPr/>
        </p:nvSpPr>
        <p:spPr>
          <a:xfrm>
            <a:off x="5141427" y="2758163"/>
            <a:ext cx="3504486"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1) </a:t>
            </a:r>
            <a:r>
              <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선별 투입 조건 </a:t>
            </a: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로딩량 기울기 차이 </a:t>
            </a: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2.2 </a:t>
            </a:r>
            <a:r>
              <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미만 및 로딩량 평균값 차이 </a:t>
            </a: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2.2 </a:t>
            </a:r>
            <a:r>
              <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미만</a:t>
            </a:r>
            <a:b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b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     (E77A </a:t>
            </a:r>
            <a:r>
              <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모델</a:t>
            </a: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 </a:t>
            </a:r>
            <a:r>
              <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제조빅데이터분석팀 분석 결과</a:t>
            </a:r>
            <a:r>
              <a:rPr kumimoji="0" lang="en-US" altLang="ko-KR"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a:t>
            </a:r>
            <a:endParaRPr kumimoji="0" lang="ko-KR" altLang="en-US" sz="8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endParaRPr>
          </a:p>
        </p:txBody>
      </p:sp>
      <p:sp>
        <p:nvSpPr>
          <p:cNvPr id="76" name="TextBox 75">
            <a:extLst>
              <a:ext uri="{FF2B5EF4-FFF2-40B4-BE49-F238E27FC236}">
                <a16:creationId xmlns:a16="http://schemas.microsoft.com/office/drawing/2014/main" id="{B2C8B2F5-0F9A-5A25-9F00-D4363DB72C05}"/>
              </a:ext>
            </a:extLst>
          </p:cNvPr>
          <p:cNvSpPr txBox="1"/>
          <p:nvPr/>
        </p:nvSpPr>
        <p:spPr>
          <a:xfrm>
            <a:off x="5139423" y="5152927"/>
            <a:ext cx="1872529" cy="230595"/>
          </a:xfrm>
          <a:prstGeom prst="rect">
            <a:avLst/>
          </a:prstGeom>
          <a:noFill/>
        </p:spPr>
        <p:txBody>
          <a:bodyPr wrap="square" rtlCol="0">
            <a:spAutoFit/>
          </a:bodyPr>
          <a:lstStyle/>
          <a:p>
            <a:pPr marL="0" marR="0" lvl="0" indent="0" algn="l" defTabSz="447830" rtl="0" eaLnBrk="1" fontAlgn="auto" latinLnBrk="0" hangingPunct="1">
              <a:lnSpc>
                <a:spcPct val="11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차트 </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4) </a:t>
            </a:r>
            <a:r>
              <a:rPr kumimoji="0"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주차 별 단선 발생 빈도</a:t>
            </a:r>
            <a:r>
              <a:rPr kumimoji="0"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cxnSp>
        <p:nvCxnSpPr>
          <p:cNvPr id="54" name="직선 연결선 53">
            <a:extLst>
              <a:ext uri="{FF2B5EF4-FFF2-40B4-BE49-F238E27FC236}">
                <a16:creationId xmlns:a16="http://schemas.microsoft.com/office/drawing/2014/main" id="{D3CFDAE9-C098-B7F2-DF2A-B8B3FE9CA14A}"/>
              </a:ext>
            </a:extLst>
          </p:cNvPr>
          <p:cNvCxnSpPr>
            <a:cxnSpLocks/>
          </p:cNvCxnSpPr>
          <p:nvPr/>
        </p:nvCxnSpPr>
        <p:spPr>
          <a:xfrm>
            <a:off x="6714565" y="5537496"/>
            <a:ext cx="0" cy="510683"/>
          </a:xfrm>
          <a:prstGeom prst="line">
            <a:avLst/>
          </a:prstGeom>
          <a:ln>
            <a:solidFill>
              <a:srgbClr val="008000"/>
            </a:solidFill>
            <a:prstDash val="dash"/>
          </a:ln>
        </p:spPr>
        <p:style>
          <a:lnRef idx="1">
            <a:schemeClr val="accent1"/>
          </a:lnRef>
          <a:fillRef idx="0">
            <a:schemeClr val="accent1"/>
          </a:fillRef>
          <a:effectRef idx="0">
            <a:schemeClr val="accent1"/>
          </a:effectRef>
          <a:fontRef idx="minor">
            <a:schemeClr val="tx1"/>
          </a:fontRef>
        </p:style>
      </p:cxnSp>
      <p:cxnSp>
        <p:nvCxnSpPr>
          <p:cNvPr id="462" name="직선 화살표 연결선 461">
            <a:extLst>
              <a:ext uri="{FF2B5EF4-FFF2-40B4-BE49-F238E27FC236}">
                <a16:creationId xmlns:a16="http://schemas.microsoft.com/office/drawing/2014/main" id="{1CDED9E1-975E-6C7C-3391-A6B747544535}"/>
              </a:ext>
            </a:extLst>
          </p:cNvPr>
          <p:cNvCxnSpPr>
            <a:cxnSpLocks/>
          </p:cNvCxnSpPr>
          <p:nvPr/>
        </p:nvCxnSpPr>
        <p:spPr>
          <a:xfrm>
            <a:off x="6768657" y="5756187"/>
            <a:ext cx="611758"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15195FE-E834-CBDB-A974-E072D7F77AD3}"/>
              </a:ext>
            </a:extLst>
          </p:cNvPr>
          <p:cNvSpPr txBox="1"/>
          <p:nvPr/>
        </p:nvSpPr>
        <p:spPr>
          <a:xfrm>
            <a:off x="6707638" y="5482743"/>
            <a:ext cx="1379338" cy="30777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선별 투입 기능</a:t>
            </a:r>
            <a:br>
              <a:rPr kumimoji="0" lang="en-US" altLang="ko-KR"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br>
            <a:r>
              <a:rPr kumimoji="0" lang="ko-KR" altLang="en-US" sz="700" b="0" i="0" u="none" strike="noStrike" kern="1200" cap="none" spc="0" normalizeH="0" baseline="0" noProof="0" dirty="0">
                <a:ln>
                  <a:noFill/>
                </a:ln>
                <a:solidFill>
                  <a:srgbClr val="0000FF"/>
                </a:solidFill>
                <a:effectLst/>
                <a:uLnTx/>
                <a:uFillTx/>
                <a:latin typeface="LG스마트체 Regular" panose="020B0600000101010101" pitchFamily="50" charset="-127"/>
                <a:ea typeface="LG스마트체 Regular" panose="020B0600000101010101" pitchFamily="50" charset="-127"/>
                <a:cs typeface="+mn-cs"/>
              </a:rPr>
              <a:t> 적용 후</a:t>
            </a:r>
          </a:p>
        </p:txBody>
      </p:sp>
      <p:cxnSp>
        <p:nvCxnSpPr>
          <p:cNvPr id="465" name="직선 화살표 연결선 464">
            <a:extLst>
              <a:ext uri="{FF2B5EF4-FFF2-40B4-BE49-F238E27FC236}">
                <a16:creationId xmlns:a16="http://schemas.microsoft.com/office/drawing/2014/main" id="{424E97D8-52D9-E86D-67D0-5F8ACC8C0688}"/>
              </a:ext>
            </a:extLst>
          </p:cNvPr>
          <p:cNvCxnSpPr/>
          <p:nvPr/>
        </p:nvCxnSpPr>
        <p:spPr>
          <a:xfrm flipH="1">
            <a:off x="6040240" y="5759163"/>
            <a:ext cx="61175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7" name="TextBox 466">
            <a:extLst>
              <a:ext uri="{FF2B5EF4-FFF2-40B4-BE49-F238E27FC236}">
                <a16:creationId xmlns:a16="http://schemas.microsoft.com/office/drawing/2014/main" id="{9CF94F34-3D30-F569-DC28-760A1E2CFF8C}"/>
              </a:ext>
            </a:extLst>
          </p:cNvPr>
          <p:cNvSpPr txBox="1"/>
          <p:nvPr/>
        </p:nvSpPr>
        <p:spPr>
          <a:xfrm>
            <a:off x="5340423" y="5482743"/>
            <a:ext cx="1379338" cy="3077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LG스마트체 Regular" panose="020B0600000101010101" pitchFamily="50" charset="-127"/>
                <a:ea typeface="LG스마트체 Regular" panose="020B0600000101010101" pitchFamily="50" charset="-127"/>
                <a:cs typeface="+mn-cs"/>
              </a:rPr>
              <a:t>선별 투입 기능</a:t>
            </a:r>
            <a:br>
              <a:rPr kumimoji="0" lang="en-US" altLang="ko-KR" sz="700" b="0" i="0" u="none" strike="noStrike" kern="1200" cap="none" spc="0" normalizeH="0" baseline="0" noProof="0" dirty="0">
                <a:ln>
                  <a:noFill/>
                </a:ln>
                <a:solidFill>
                  <a:srgbClr val="FF0000"/>
                </a:solidFill>
                <a:effectLst/>
                <a:uLnTx/>
                <a:uFillTx/>
                <a:latin typeface="LG스마트체 Regular" panose="020B0600000101010101" pitchFamily="50" charset="-127"/>
                <a:ea typeface="LG스마트체 Regular" panose="020B0600000101010101" pitchFamily="50" charset="-127"/>
                <a:cs typeface="+mn-cs"/>
              </a:rPr>
            </a:br>
            <a:r>
              <a:rPr kumimoji="0" lang="ko-KR" altLang="en-US" sz="700" b="0" i="0" u="none" strike="noStrike" kern="1200" cap="none" spc="0" normalizeH="0" baseline="0" noProof="0" dirty="0">
                <a:ln>
                  <a:noFill/>
                </a:ln>
                <a:solidFill>
                  <a:srgbClr val="FF0000"/>
                </a:solidFill>
                <a:effectLst/>
                <a:uLnTx/>
                <a:uFillTx/>
                <a:latin typeface="LG스마트체 Regular" panose="020B0600000101010101" pitchFamily="50" charset="-127"/>
                <a:ea typeface="LG스마트체 Regular" panose="020B0600000101010101" pitchFamily="50" charset="-127"/>
                <a:cs typeface="+mn-cs"/>
              </a:rPr>
              <a:t> 적용 전</a:t>
            </a:r>
          </a:p>
        </p:txBody>
      </p:sp>
      <p:cxnSp>
        <p:nvCxnSpPr>
          <p:cNvPr id="469" name="직선 화살표 연결선 468">
            <a:extLst>
              <a:ext uri="{FF2B5EF4-FFF2-40B4-BE49-F238E27FC236}">
                <a16:creationId xmlns:a16="http://schemas.microsoft.com/office/drawing/2014/main" id="{C6C5657D-8E96-3E76-8FF4-230CC3548A3C}"/>
              </a:ext>
            </a:extLst>
          </p:cNvPr>
          <p:cNvCxnSpPr>
            <a:cxnSpLocks/>
          </p:cNvCxnSpPr>
          <p:nvPr/>
        </p:nvCxnSpPr>
        <p:spPr>
          <a:xfrm>
            <a:off x="6843763" y="6048179"/>
            <a:ext cx="1571724" cy="121083"/>
          </a:xfrm>
          <a:prstGeom prst="straightConnector1">
            <a:avLst/>
          </a:prstGeom>
          <a:ln>
            <a:solidFill>
              <a:srgbClr val="008000"/>
            </a:solidFill>
            <a:tailEnd type="triangle"/>
          </a:ln>
        </p:spPr>
        <p:style>
          <a:lnRef idx="1">
            <a:schemeClr val="accent1"/>
          </a:lnRef>
          <a:fillRef idx="0">
            <a:schemeClr val="accent1"/>
          </a:fillRef>
          <a:effectRef idx="0">
            <a:schemeClr val="accent1"/>
          </a:effectRef>
          <a:fontRef idx="minor">
            <a:schemeClr val="tx1"/>
          </a:fontRef>
        </p:style>
      </p:cxnSp>
      <p:cxnSp>
        <p:nvCxnSpPr>
          <p:cNvPr id="481" name="직선 연결선 480">
            <a:extLst>
              <a:ext uri="{FF2B5EF4-FFF2-40B4-BE49-F238E27FC236}">
                <a16:creationId xmlns:a16="http://schemas.microsoft.com/office/drawing/2014/main" id="{293D8838-E77B-DCBE-93BC-8710DB908BCA}"/>
              </a:ext>
            </a:extLst>
          </p:cNvPr>
          <p:cNvCxnSpPr>
            <a:cxnSpLocks/>
          </p:cNvCxnSpPr>
          <p:nvPr/>
        </p:nvCxnSpPr>
        <p:spPr>
          <a:xfrm>
            <a:off x="6714565" y="6270849"/>
            <a:ext cx="0" cy="314160"/>
          </a:xfrm>
          <a:prstGeom prst="line">
            <a:avLst/>
          </a:prstGeom>
          <a:ln>
            <a:solidFill>
              <a:srgbClr val="008000"/>
            </a:solidFill>
            <a:prstDash val="dash"/>
          </a:ln>
        </p:spPr>
        <p:style>
          <a:lnRef idx="1">
            <a:schemeClr val="accent1"/>
          </a:lnRef>
          <a:fillRef idx="0">
            <a:schemeClr val="accent1"/>
          </a:fillRef>
          <a:effectRef idx="0">
            <a:schemeClr val="accent1"/>
          </a:effectRef>
          <a:fontRef idx="minor">
            <a:schemeClr val="tx1"/>
          </a:fontRef>
        </p:style>
      </p:cxnSp>
      <p:sp>
        <p:nvSpPr>
          <p:cNvPr id="110" name="타원 109">
            <a:extLst>
              <a:ext uri="{FF2B5EF4-FFF2-40B4-BE49-F238E27FC236}">
                <a16:creationId xmlns:a16="http://schemas.microsoft.com/office/drawing/2014/main" id="{DDE0A495-45B4-0328-F601-DC1DB011655E}"/>
              </a:ext>
            </a:extLst>
          </p:cNvPr>
          <p:cNvSpPr/>
          <p:nvPr/>
        </p:nvSpPr>
        <p:spPr>
          <a:xfrm>
            <a:off x="7778040" y="5575251"/>
            <a:ext cx="477628" cy="1167118"/>
          </a:xfrm>
          <a:prstGeom prst="ellipse">
            <a:avLst/>
          </a:prstGeom>
          <a:solidFill>
            <a:srgbClr val="FF0000">
              <a:alpha val="10000"/>
            </a:srgbClr>
          </a:solidFill>
          <a:ln w="63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9" name="TextBox 118">
            <a:extLst>
              <a:ext uri="{FF2B5EF4-FFF2-40B4-BE49-F238E27FC236}">
                <a16:creationId xmlns:a16="http://schemas.microsoft.com/office/drawing/2014/main" id="{7CEED39C-5E6A-F3C8-3AF0-5D4A0E3A3E2C}"/>
              </a:ext>
            </a:extLst>
          </p:cNvPr>
          <p:cNvSpPr txBox="1"/>
          <p:nvPr/>
        </p:nvSpPr>
        <p:spPr>
          <a:xfrm>
            <a:off x="8310655" y="5221308"/>
            <a:ext cx="1504517"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전체 단선 </a:t>
            </a:r>
            <a:r>
              <a:rPr kumimoji="0" lang="en-US" altLang="ko-KR"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17</a:t>
            </a:r>
            <a:r>
              <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회 중 </a:t>
            </a:r>
            <a:r>
              <a:rPr kumimoji="0" lang="en-US" altLang="ko-KR"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8</a:t>
            </a:r>
            <a:r>
              <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회</a:t>
            </a:r>
            <a:r>
              <a:rPr kumimoji="0" lang="en-US" altLang="ko-KR"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(47%)</a:t>
            </a:r>
            <a:r>
              <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가 해당 시점에 집중 발생하였으며</a:t>
            </a:r>
            <a:r>
              <a:rPr kumimoji="0" lang="en-US" altLang="ko-KR"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1</a:t>
            </a:r>
            <a:r>
              <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회를 제외한 나머지 </a:t>
            </a:r>
            <a:r>
              <a:rPr kumimoji="0" lang="en-US" altLang="ko-KR"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7</a:t>
            </a:r>
            <a:r>
              <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회 모두 선별 투입 조건을 만족하였음</a:t>
            </a:r>
            <a:r>
              <a:rPr kumimoji="0" lang="en-US" altLang="ko-KR"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a:t>
            </a:r>
            <a:endParaRPr kumimoji="0" lang="ko-KR" altLang="en-US" sz="8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endParaRPr>
          </a:p>
        </p:txBody>
      </p:sp>
      <p:cxnSp>
        <p:nvCxnSpPr>
          <p:cNvPr id="122" name="연결선: 꺾임 121">
            <a:extLst>
              <a:ext uri="{FF2B5EF4-FFF2-40B4-BE49-F238E27FC236}">
                <a16:creationId xmlns:a16="http://schemas.microsoft.com/office/drawing/2014/main" id="{F9079351-F641-179E-B44A-1E01E3CECF81}"/>
              </a:ext>
            </a:extLst>
          </p:cNvPr>
          <p:cNvCxnSpPr>
            <a:stCxn id="110" idx="0"/>
          </p:cNvCxnSpPr>
          <p:nvPr/>
        </p:nvCxnSpPr>
        <p:spPr>
          <a:xfrm rot="5400000" flipH="1" flipV="1">
            <a:off x="8098106" y="5306961"/>
            <a:ext cx="187038" cy="349542"/>
          </a:xfrm>
          <a:prstGeom prst="bentConnector2">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8882A66C-CCDA-9EB6-A6A8-413171D0E404}"/>
              </a:ext>
            </a:extLst>
          </p:cNvPr>
          <p:cNvSpPr txBox="1"/>
          <p:nvPr/>
        </p:nvSpPr>
        <p:spPr>
          <a:xfrm>
            <a:off x="2820482" y="4259093"/>
            <a:ext cx="1844653" cy="20005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lumMod val="65000"/>
                    <a:lumOff val="35000"/>
                  </a:prstClr>
                </a:solidFill>
                <a:effectLst/>
                <a:uLnTx/>
                <a:uFillTx/>
                <a:latin typeface="LG스마트체 Regular" panose="020B0600000101010101" pitchFamily="50" charset="-127"/>
                <a:ea typeface="LG스마트체 Regular" panose="020B0600000101010101" pitchFamily="50" charset="-127"/>
                <a:cs typeface="+mn-cs"/>
              </a:rPr>
              <a:t>기존 전극 로딩량 기울기</a:t>
            </a:r>
          </a:p>
        </p:txBody>
      </p:sp>
      <p:sp>
        <p:nvSpPr>
          <p:cNvPr id="2" name="TextBox 1">
            <a:extLst>
              <a:ext uri="{FF2B5EF4-FFF2-40B4-BE49-F238E27FC236}">
                <a16:creationId xmlns:a16="http://schemas.microsoft.com/office/drawing/2014/main" id="{BA5C8C4B-ACF0-3A54-67B3-22B7160237D4}"/>
              </a:ext>
            </a:extLst>
          </p:cNvPr>
          <p:cNvSpPr txBox="1"/>
          <p:nvPr/>
        </p:nvSpPr>
        <p:spPr>
          <a:xfrm>
            <a:off x="3588084" y="2635471"/>
            <a:ext cx="1592419" cy="20005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값</a:t>
            </a: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a:t>
            </a: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색분포</a:t>
            </a:r>
            <a:r>
              <a:rPr kumimoji="0" lang="en-US" altLang="ko-KR"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 LOT</a:t>
            </a:r>
            <a:r>
              <a:rPr kumimoji="0" lang="ko-KR" altLang="en-US" sz="700" b="0" i="0" u="none" strike="noStrike" kern="1200" cap="none" spc="0" normalizeH="0" baseline="0" noProof="0" dirty="0">
                <a:ln>
                  <a:noFill/>
                </a:ln>
                <a:solidFill>
                  <a:prstClr val="black"/>
                </a:solidFill>
                <a:effectLst/>
                <a:uLnTx/>
                <a:uFillTx/>
                <a:latin typeface="LG스마트체 Regular" panose="020B0600000101010101" pitchFamily="50" charset="-127"/>
                <a:ea typeface="LG스마트체 Regular" panose="020B0600000101010101" pitchFamily="50" charset="-127"/>
                <a:cs typeface="+mn-cs"/>
              </a:rPr>
              <a:t> 수량</a:t>
            </a:r>
          </a:p>
        </p:txBody>
      </p:sp>
      <p:sp>
        <p:nvSpPr>
          <p:cNvPr id="3" name="실행 단추: 홈으로 이동 2">
            <a:hlinkClick r:id="rId8" action="ppaction://hlinksldjump" highlightClick="1"/>
            <a:extLst>
              <a:ext uri="{FF2B5EF4-FFF2-40B4-BE49-F238E27FC236}">
                <a16:creationId xmlns:a16="http://schemas.microsoft.com/office/drawing/2014/main" id="{3ED0B639-55BC-FECE-E5DD-42A722D041CF}"/>
              </a:ext>
            </a:extLst>
          </p:cNvPr>
          <p:cNvSpPr/>
          <p:nvPr/>
        </p:nvSpPr>
        <p:spPr>
          <a:xfrm>
            <a:off x="9386485" y="192790"/>
            <a:ext cx="297447" cy="269372"/>
          </a:xfrm>
          <a:prstGeom prst="actionButtonHome">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 name="TextBox 3">
            <a:extLst>
              <a:ext uri="{FF2B5EF4-FFF2-40B4-BE49-F238E27FC236}">
                <a16:creationId xmlns:a16="http://schemas.microsoft.com/office/drawing/2014/main" id="{F73296C5-49B8-E98B-65D6-4AF5AE20DBEA}"/>
              </a:ext>
            </a:extLst>
          </p:cNvPr>
          <p:cNvSpPr txBox="1"/>
          <p:nvPr/>
        </p:nvSpPr>
        <p:spPr>
          <a:xfrm>
            <a:off x="4316088" y="6622748"/>
            <a:ext cx="1273826" cy="262636"/>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추적솔루션개발팀</a:t>
            </a:r>
            <a:r>
              <a:rPr kumimoji="1" lang="en-US" altLang="ko-KR" sz="10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7 / 7</a:t>
            </a:r>
          </a:p>
        </p:txBody>
      </p:sp>
      <p:sp>
        <p:nvSpPr>
          <p:cNvPr id="6" name="TextBox 5">
            <a:extLst>
              <a:ext uri="{FF2B5EF4-FFF2-40B4-BE49-F238E27FC236}">
                <a16:creationId xmlns:a16="http://schemas.microsoft.com/office/drawing/2014/main" id="{2510C4AA-93BF-2199-2A69-783394ADB7D8}"/>
              </a:ext>
            </a:extLst>
          </p:cNvPr>
          <p:cNvSpPr txBox="1"/>
          <p:nvPr/>
        </p:nvSpPr>
        <p:spPr>
          <a:xfrm>
            <a:off x="179433" y="649640"/>
            <a:ext cx="9536866" cy="518860"/>
          </a:xfrm>
          <a:prstGeom prst="rect">
            <a:avLst/>
          </a:prstGeom>
          <a:noFill/>
        </p:spPr>
        <p:txBody>
          <a:bodyPr wrap="square" rtlCol="0">
            <a:spAutoFit/>
          </a:bodyPr>
          <a:lstStyle/>
          <a:p>
            <a:pPr marL="0" marR="0" lvl="0" indent="0" algn="l" defTabSz="447830" rtl="0" eaLnBrk="0" fontAlgn="base" latinLnBrk="0" hangingPunct="0">
              <a:lnSpc>
                <a:spcPct val="100000"/>
              </a:lnSpc>
              <a:spcBef>
                <a:spcPct val="0"/>
              </a:spcBef>
              <a:spcAft>
                <a:spcPct val="0"/>
              </a:spcAft>
              <a:buClrTx/>
              <a:buSzTx/>
              <a:buFontTx/>
              <a:buNone/>
              <a:tabLst/>
              <a:defRPr/>
            </a:pP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롤프레스 양극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7-1</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호기 선별 투입 기능 적용</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(7/16, W29)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후</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재료교체 전</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후 </a:t>
            </a:r>
            <a:r>
              <a:rPr kumimoji="1" lang="ko-KR" altLang="en-US" sz="1386" b="1" dirty="0" err="1">
                <a:solidFill>
                  <a:prstClr val="black"/>
                </a:solidFill>
                <a:latin typeface="LG스마트체 Regular" panose="020B0600000101010101" pitchFamily="50" charset="-127"/>
                <a:ea typeface="LG스마트체 Regular" panose="020B0600000101010101" pitchFamily="50" charset="-127"/>
              </a:rPr>
              <a:t>로딩량</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 평균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2.2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이하 및 기울기 편차가 최소가 되도록 반송되고 있으며</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재료교체 후 단선 발생 빈도는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2.6%(W29, </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적용 시점</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에서 </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1.1%(W33)</a:t>
            </a:r>
            <a:r>
              <a:rPr kumimoji="1" lang="ko-KR" altLang="en-US" sz="1386" b="1" dirty="0">
                <a:solidFill>
                  <a:prstClr val="black"/>
                </a:solidFill>
                <a:latin typeface="LG스마트체 Regular" panose="020B0600000101010101" pitchFamily="50" charset="-127"/>
                <a:ea typeface="LG스마트체 Regular" panose="020B0600000101010101" pitchFamily="50" charset="-127"/>
              </a:rPr>
              <a:t>로 감소 추세임을 확인하였습니다</a:t>
            </a:r>
            <a:r>
              <a:rPr kumimoji="1" lang="en-US" altLang="ko-KR" sz="1386" b="1" dirty="0">
                <a:solidFill>
                  <a:prstClr val="black"/>
                </a:solidFill>
                <a:latin typeface="LG스마트체 Regular" panose="020B0600000101010101" pitchFamily="50" charset="-127"/>
                <a:ea typeface="LG스마트체 Regular" panose="020B0600000101010101" pitchFamily="50" charset="-127"/>
              </a:rPr>
              <a:t>.</a:t>
            </a:r>
          </a:p>
        </p:txBody>
      </p:sp>
      <p:sp>
        <p:nvSpPr>
          <p:cNvPr id="8" name="제목 1">
            <a:extLst>
              <a:ext uri="{FF2B5EF4-FFF2-40B4-BE49-F238E27FC236}">
                <a16:creationId xmlns:a16="http://schemas.microsoft.com/office/drawing/2014/main" id="{7C8164D5-B1A0-8983-4C67-69E6D13BA546}"/>
              </a:ext>
            </a:extLst>
          </p:cNvPr>
          <p:cNvSpPr txBox="1">
            <a:spLocks/>
          </p:cNvSpPr>
          <p:nvPr/>
        </p:nvSpPr>
        <p:spPr>
          <a:xfrm>
            <a:off x="123673" y="166057"/>
            <a:ext cx="5560837" cy="365431"/>
          </a:xfrm>
          <a:prstGeom prst="rect">
            <a:avLst/>
          </a:prstGeom>
          <a:noFill/>
          <a:ln w="12700">
            <a:no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marL="0" marR="0" lvl="0" indent="0" algn="l" defTabSz="452491" rtl="0" eaLnBrk="1" fontAlgn="auto" latinLnBrk="0" hangingPunct="1">
              <a:lnSpc>
                <a:spcPct val="100000"/>
              </a:lnSpc>
              <a:spcBef>
                <a:spcPct val="0"/>
              </a:spcBef>
              <a:spcAft>
                <a:spcPts val="0"/>
              </a:spcAft>
              <a:buClrTx/>
              <a:buSzTx/>
              <a:buFontTx/>
              <a:buNone/>
              <a:tabLst/>
              <a:defRPr/>
            </a:pP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유첨</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코터 </a:t>
            </a:r>
            <a:r>
              <a:rPr kumimoji="0" lang="ko-KR" altLang="en-US" sz="1781" b="1"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j-cs"/>
              </a:rPr>
              <a:t>로딩량</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(OS/DS </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편차</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 </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롤프레스 선별투입</a:t>
            </a:r>
            <a:r>
              <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_</a:t>
            </a:r>
            <a:r>
              <a:rPr kumimoji="0" lang="ko-KR" altLang="en-US"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rPr>
              <a:t>검증 결과</a:t>
            </a:r>
            <a:endParaRPr kumimoji="0" lang="en-US" altLang="ko-KR" sz="1781" b="1"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j-cs"/>
            </a:endParaRPr>
          </a:p>
        </p:txBody>
      </p:sp>
    </p:spTree>
    <p:extLst>
      <p:ext uri="{BB962C8B-B14F-4D97-AF65-F5344CB8AC3E}">
        <p14:creationId xmlns:p14="http://schemas.microsoft.com/office/powerpoint/2010/main" val="3591427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99DD0-77CB-39B9-639D-B39AA2C2570B}"/>
            </a:ext>
          </a:extLst>
        </p:cNvPr>
        <p:cNvGrpSpPr/>
        <p:nvPr/>
      </p:nvGrpSpPr>
      <p:grpSpPr>
        <a:xfrm>
          <a:off x="0" y="0"/>
          <a:ext cx="0" cy="0"/>
          <a:chOff x="0" y="0"/>
          <a:chExt cx="0" cy="0"/>
        </a:xfrm>
      </p:grpSpPr>
      <p:sp>
        <p:nvSpPr>
          <p:cNvPr id="120" name="제목 1">
            <a:extLst>
              <a:ext uri="{FF2B5EF4-FFF2-40B4-BE49-F238E27FC236}">
                <a16:creationId xmlns:a16="http://schemas.microsoft.com/office/drawing/2014/main" id="{E96A400B-227B-EF41-34E1-7626DAFA8433}"/>
              </a:ext>
            </a:extLst>
          </p:cNvPr>
          <p:cNvSpPr txBox="1">
            <a:spLocks/>
          </p:cNvSpPr>
          <p:nvPr/>
        </p:nvSpPr>
        <p:spPr>
          <a:xfrm>
            <a:off x="123673" y="166057"/>
            <a:ext cx="3257899" cy="365431"/>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52491" latinLnBrk="0">
              <a:defRPr/>
            </a:pPr>
            <a:r>
              <a:rPr lang="ko-KR" altLang="en-US" sz="1781" dirty="0">
                <a:solidFill>
                  <a:prstClr val="black"/>
                </a:solidFill>
                <a:latin typeface="Arial Narrow" panose="020B0606020202030204" pitchFamily="34" charset="0"/>
                <a:ea typeface="LG스마트체 Regular" panose="020B0600000101010101" pitchFamily="50" charset="-127"/>
              </a:rPr>
              <a:t>보조</a:t>
            </a:r>
            <a:r>
              <a:rPr lang="en-US" altLang="ko-KR" sz="1781" dirty="0">
                <a:solidFill>
                  <a:prstClr val="black"/>
                </a:solidFill>
                <a:latin typeface="Arial Narrow" panose="020B0606020202030204" pitchFamily="34" charset="0"/>
                <a:ea typeface="LG스마트체 Regular" panose="020B0600000101010101" pitchFamily="50" charset="-127"/>
              </a:rPr>
              <a:t>. ESWA 8</a:t>
            </a:r>
            <a:r>
              <a:rPr lang="ko-KR" altLang="en-US" sz="1781" dirty="0">
                <a:solidFill>
                  <a:prstClr val="black"/>
                </a:solidFill>
                <a:latin typeface="Arial Narrow" panose="020B0606020202030204" pitchFamily="34" charset="0"/>
                <a:ea typeface="LG스마트체 Regular" panose="020B0600000101010101" pitchFamily="50" charset="-127"/>
              </a:rPr>
              <a:t>월 </a:t>
            </a:r>
            <a:r>
              <a:rPr lang="ko-KR" altLang="en-US" sz="1781" dirty="0" err="1">
                <a:solidFill>
                  <a:prstClr val="black"/>
                </a:solidFill>
                <a:latin typeface="Arial Narrow" panose="020B0606020202030204" pitchFamily="34" charset="0"/>
                <a:ea typeface="LG스마트체 Regular" panose="020B0600000101010101" pitchFamily="50" charset="-127"/>
              </a:rPr>
              <a:t>수율</a:t>
            </a:r>
            <a:r>
              <a:rPr lang="ko-KR" altLang="en-US" sz="1781" dirty="0">
                <a:solidFill>
                  <a:prstClr val="black"/>
                </a:solidFill>
                <a:latin typeface="Arial Narrow" panose="020B0606020202030204" pitchFamily="34" charset="0"/>
                <a:ea typeface="LG스마트체 Regular" panose="020B0600000101010101" pitchFamily="50" charset="-127"/>
              </a:rPr>
              <a:t> 현황</a:t>
            </a:r>
            <a:r>
              <a:rPr lang="en-US" altLang="ko-KR" sz="1781" dirty="0">
                <a:solidFill>
                  <a:prstClr val="black"/>
                </a:solidFill>
                <a:latin typeface="Arial Narrow" panose="020B0606020202030204" pitchFamily="34" charset="0"/>
                <a:ea typeface="LG스마트체 Regular" panose="020B0600000101010101" pitchFamily="50" charset="-127"/>
              </a:rPr>
              <a:t>_</a:t>
            </a:r>
            <a:r>
              <a:rPr lang="ko-KR" altLang="en-US" sz="1781" dirty="0">
                <a:solidFill>
                  <a:prstClr val="black"/>
                </a:solidFill>
                <a:latin typeface="Arial Narrow" panose="020B0606020202030204" pitchFamily="34" charset="0"/>
                <a:ea typeface="LG스마트체 Regular" panose="020B0600000101010101" pitchFamily="50" charset="-127"/>
              </a:rPr>
              <a:t>자동차</a:t>
            </a:r>
            <a:endParaRPr lang="en-US" altLang="ko-KR" sz="1781" dirty="0">
              <a:solidFill>
                <a:prstClr val="black"/>
              </a:solidFill>
              <a:latin typeface="Arial Narrow" panose="020B0606020202030204" pitchFamily="34" charset="0"/>
              <a:ea typeface="LG스마트체 Regular" panose="020B0600000101010101" pitchFamily="50" charset="-127"/>
            </a:endParaRPr>
          </a:p>
        </p:txBody>
      </p:sp>
      <p:sp>
        <p:nvSpPr>
          <p:cNvPr id="247" name="TextBox 122">
            <a:extLst>
              <a:ext uri="{FF2B5EF4-FFF2-40B4-BE49-F238E27FC236}">
                <a16:creationId xmlns:a16="http://schemas.microsoft.com/office/drawing/2014/main" id="{046F5E1D-499C-6CE5-1269-77D1FEE6115A}"/>
              </a:ext>
            </a:extLst>
          </p:cNvPr>
          <p:cNvSpPr txBox="1"/>
          <p:nvPr/>
        </p:nvSpPr>
        <p:spPr>
          <a:xfrm>
            <a:off x="647003" y="6156497"/>
            <a:ext cx="4749016" cy="121842"/>
          </a:xfrm>
          <a:prstGeom prst="rect">
            <a:avLst/>
          </a:prstGeom>
          <a:no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ltLang="ko-KR" sz="792" dirty="0">
                <a:latin typeface="Arial Narrow" panose="020B0606020202030204" pitchFamily="34" charset="0"/>
                <a:ea typeface="LG스마트체 Regular" panose="020B0600000101010101" pitchFamily="50" charset="-127"/>
              </a:rPr>
              <a:t>* </a:t>
            </a:r>
            <a:r>
              <a:rPr lang="ko-KR" altLang="en-US" sz="792" dirty="0" err="1">
                <a:latin typeface="Arial Narrow" panose="020B0606020202030204" pitchFamily="34" charset="0"/>
                <a:ea typeface="LG스마트체 Regular" panose="020B0600000101010101" pitchFamily="50" charset="-127"/>
              </a:rPr>
              <a:t>라미</a:t>
            </a:r>
            <a:r>
              <a:rPr lang="ko-KR" altLang="en-US" sz="792" dirty="0">
                <a:latin typeface="Arial Narrow" panose="020B0606020202030204" pitchFamily="34" charset="0"/>
                <a:ea typeface="LG스마트체 Regular" panose="020B0600000101010101" pitchFamily="50" charset="-127"/>
              </a:rPr>
              <a:t> 위치 관련 </a:t>
            </a:r>
            <a:r>
              <a:rPr lang="en-US" altLang="ko-KR" sz="792" dirty="0">
                <a:latin typeface="Arial Narrow" panose="020B0606020202030204" pitchFamily="34" charset="0"/>
                <a:ea typeface="LG스마트체 Regular" panose="020B0600000101010101" pitchFamily="50" charset="-127"/>
              </a:rPr>
              <a:t>: Mismatch, Tab Dimension, SW Defect / * </a:t>
            </a:r>
            <a:r>
              <a:rPr lang="ko-KR" altLang="en-US" sz="792" dirty="0" err="1">
                <a:latin typeface="Arial Narrow" panose="020B0606020202030204" pitchFamily="34" charset="0"/>
                <a:ea typeface="LG스마트체 Regular" panose="020B0600000101010101" pitchFamily="50" charset="-127"/>
              </a:rPr>
              <a:t>스태킹</a:t>
            </a:r>
            <a:r>
              <a:rPr lang="ko-KR" altLang="en-US" sz="792" dirty="0">
                <a:latin typeface="Arial Narrow" panose="020B0606020202030204" pitchFamily="34" charset="0"/>
                <a:ea typeface="LG스마트체 Regular" panose="020B0600000101010101" pitchFamily="50" charset="-127"/>
              </a:rPr>
              <a:t> 치수</a:t>
            </a:r>
            <a:r>
              <a:rPr lang="en-US" altLang="ko-KR" sz="792" dirty="0">
                <a:latin typeface="Arial Narrow" panose="020B0606020202030204" pitchFamily="34" charset="0"/>
                <a:ea typeface="LG스마트체 Regular" panose="020B0600000101010101" pitchFamily="50" charset="-127"/>
              </a:rPr>
              <a:t>/</a:t>
            </a:r>
            <a:r>
              <a:rPr lang="ko-KR" altLang="en-US" sz="792" dirty="0">
                <a:latin typeface="Arial Narrow" panose="020B0606020202030204" pitchFamily="34" charset="0"/>
                <a:ea typeface="LG스마트체 Regular" panose="020B0600000101010101" pitchFamily="50" charset="-127"/>
              </a:rPr>
              <a:t>외관 </a:t>
            </a:r>
            <a:r>
              <a:rPr lang="en-US" altLang="ko-KR" sz="792" dirty="0">
                <a:latin typeface="Arial Narrow" panose="020B0606020202030204" pitchFamily="34" charset="0"/>
                <a:ea typeface="LG스마트체 Regular" panose="020B0600000101010101" pitchFamily="50" charset="-127"/>
              </a:rPr>
              <a:t>: Stack Appearance, Stack Dimension</a:t>
            </a:r>
          </a:p>
        </p:txBody>
      </p:sp>
      <p:sp>
        <p:nvSpPr>
          <p:cNvPr id="248" name="TextBox 122">
            <a:extLst>
              <a:ext uri="{FF2B5EF4-FFF2-40B4-BE49-F238E27FC236}">
                <a16:creationId xmlns:a16="http://schemas.microsoft.com/office/drawing/2014/main" id="{B2F022CD-7F6D-9F2A-C9D3-CB981D460C5B}"/>
              </a:ext>
            </a:extLst>
          </p:cNvPr>
          <p:cNvSpPr txBox="1"/>
          <p:nvPr/>
        </p:nvSpPr>
        <p:spPr>
          <a:xfrm>
            <a:off x="647003" y="6306837"/>
            <a:ext cx="4557280" cy="243683"/>
          </a:xfrm>
          <a:prstGeom prst="rect">
            <a:avLst/>
          </a:prstGeom>
          <a:no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ltLang="ko-KR" sz="792" dirty="0">
                <a:latin typeface="Arial Narrow" panose="020B0606020202030204" pitchFamily="34" charset="0"/>
                <a:ea typeface="LG스마트체 Regular" panose="020B0600000101010101" pitchFamily="50" charset="-127"/>
              </a:rPr>
              <a:t>* EOL </a:t>
            </a:r>
            <a:r>
              <a:rPr lang="ko-KR" altLang="en-US" sz="792" dirty="0">
                <a:latin typeface="Arial Narrow" panose="020B0606020202030204" pitchFamily="34" charset="0"/>
                <a:ea typeface="LG스마트체 Regular" panose="020B0600000101010101" pitchFamily="50" charset="-127"/>
              </a:rPr>
              <a:t>외관 </a:t>
            </a:r>
            <a:r>
              <a:rPr lang="en-US" altLang="ko-KR" sz="792" dirty="0">
                <a:latin typeface="Arial Narrow" panose="020B0606020202030204" pitchFamily="34" charset="0"/>
                <a:ea typeface="LG스마트체 Regular" panose="020B0600000101010101" pitchFamily="50" charset="-127"/>
              </a:rPr>
              <a:t>: Pouch Dent/Scratch, Appearance(Vision), Lead Appearance, Wrinkle, Protrusion, Wing Folding/DSF</a:t>
            </a:r>
            <a:br>
              <a:rPr lang="en-US" altLang="ko-KR" sz="792" dirty="0">
                <a:latin typeface="Arial Narrow" panose="020B0606020202030204" pitchFamily="34" charset="0"/>
                <a:ea typeface="LG스마트체 Regular" panose="020B0600000101010101" pitchFamily="50" charset="-127"/>
              </a:rPr>
            </a:br>
            <a:r>
              <a:rPr lang="en-US" altLang="ko-KR" sz="792" dirty="0">
                <a:latin typeface="Arial Narrow" panose="020B0606020202030204" pitchFamily="34" charset="0"/>
                <a:ea typeface="LG스마트체 Regular" panose="020B0600000101010101" pitchFamily="50" charset="-127"/>
              </a:rPr>
              <a:t>* </a:t>
            </a:r>
            <a:r>
              <a:rPr lang="ko-KR" altLang="en-US" sz="792" dirty="0" err="1">
                <a:latin typeface="Arial Narrow" panose="020B0606020202030204" pitchFamily="34" charset="0"/>
                <a:ea typeface="LG스마트체 Regular" panose="020B0600000101010101" pitchFamily="50" charset="-127"/>
              </a:rPr>
              <a:t>저전압</a:t>
            </a:r>
            <a:r>
              <a:rPr lang="ko-KR" altLang="en-US" sz="792" dirty="0">
                <a:latin typeface="Arial Narrow" panose="020B0606020202030204" pitchFamily="34" charset="0"/>
                <a:ea typeface="LG스마트체 Regular" panose="020B0600000101010101" pitchFamily="50" charset="-127"/>
              </a:rPr>
              <a:t> 관련 </a:t>
            </a:r>
            <a:r>
              <a:rPr lang="en-US" altLang="ko-KR" sz="792" dirty="0">
                <a:latin typeface="Arial Narrow" panose="020B0606020202030204" pitchFamily="34" charset="0"/>
                <a:ea typeface="LG스마트체 Regular" panose="020B0600000101010101" pitchFamily="50" charset="-127"/>
              </a:rPr>
              <a:t>: Grade L, E, W, D, T</a:t>
            </a:r>
          </a:p>
        </p:txBody>
      </p:sp>
      <p:sp>
        <p:nvSpPr>
          <p:cNvPr id="3" name="TextBox 1">
            <a:extLst>
              <a:ext uri="{FF2B5EF4-FFF2-40B4-BE49-F238E27FC236}">
                <a16:creationId xmlns:a16="http://schemas.microsoft.com/office/drawing/2014/main" id="{CA19ED01-7635-1F6A-C351-89CAC4C22288}"/>
              </a:ext>
            </a:extLst>
          </p:cNvPr>
          <p:cNvSpPr txBox="1"/>
          <p:nvPr/>
        </p:nvSpPr>
        <p:spPr>
          <a:xfrm>
            <a:off x="184567" y="592776"/>
            <a:ext cx="9656116" cy="259943"/>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defTabSz="886436">
              <a:defRPr/>
            </a:pPr>
            <a:r>
              <a:rPr lang="ko-KR" altLang="en-US" sz="1089" b="1" dirty="0">
                <a:solidFill>
                  <a:prstClr val="black"/>
                </a:solidFill>
                <a:latin typeface="Arial Narrow" panose="020B0606020202030204" pitchFamily="34" charset="0"/>
                <a:ea typeface="LG스마트체 Regular" panose="020B0600000101010101" pitchFamily="50" charset="-127"/>
              </a:rPr>
              <a:t>자동차 셀</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조립</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활성화</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err="1">
                <a:solidFill>
                  <a:prstClr val="black"/>
                </a:solidFill>
                <a:latin typeface="Arial Narrow" panose="020B0606020202030204" pitchFamily="34" charset="0"/>
                <a:ea typeface="LG스마트체 Regular" panose="020B0600000101010101" pitchFamily="50" charset="-127"/>
              </a:rPr>
              <a:t>수율은</a:t>
            </a:r>
            <a:r>
              <a:rPr lang="en-US" altLang="ko-KR" sz="1089" b="1" dirty="0">
                <a:solidFill>
                  <a:prstClr val="black"/>
                </a:solidFill>
                <a:latin typeface="Arial Narrow" panose="020B0606020202030204" pitchFamily="34" charset="0"/>
                <a:ea typeface="LG스마트체 Regular" panose="020B0600000101010101" pitchFamily="50" charset="-127"/>
              </a:rPr>
              <a:t> 7</a:t>
            </a:r>
            <a:r>
              <a:rPr lang="ko-KR" altLang="en-US" sz="1089" b="1" dirty="0">
                <a:solidFill>
                  <a:prstClr val="black"/>
                </a:solidFill>
                <a:latin typeface="Arial Narrow" panose="020B0606020202030204" pitchFamily="34" charset="0"/>
                <a:ea typeface="LG스마트체 Regular" panose="020B0600000101010101" pitchFamily="50" charset="-127"/>
              </a:rPr>
              <a:t>월 대비 </a:t>
            </a:r>
            <a:r>
              <a:rPr lang="en-US" altLang="ko-KR" sz="1089" b="1" dirty="0">
                <a:solidFill>
                  <a:prstClr val="black"/>
                </a:solidFill>
                <a:latin typeface="Arial Narrow" panose="020B0606020202030204" pitchFamily="34" charset="0"/>
                <a:ea typeface="LG스마트체 Regular" panose="020B0600000101010101" pitchFamily="50" charset="-127"/>
              </a:rPr>
              <a:t>8</a:t>
            </a:r>
            <a:r>
              <a:rPr lang="ko-KR" altLang="en-US" sz="1089" b="1" dirty="0">
                <a:solidFill>
                  <a:prstClr val="black"/>
                </a:solidFill>
                <a:latin typeface="Arial Narrow" panose="020B0606020202030204" pitchFamily="34" charset="0"/>
                <a:ea typeface="LG스마트체 Regular" panose="020B0600000101010101" pitchFamily="50" charset="-127"/>
              </a:rPr>
              <a:t>월 </a:t>
            </a:r>
            <a:r>
              <a:rPr lang="en-US" altLang="ko-KR" sz="1089" b="1" dirty="0">
                <a:solidFill>
                  <a:prstClr val="black"/>
                </a:solidFill>
                <a:latin typeface="Arial Narrow" panose="020B0606020202030204" pitchFamily="34" charset="0"/>
                <a:ea typeface="LG스마트체 Regular" panose="020B0600000101010101" pitchFamily="50" charset="-127"/>
              </a:rPr>
              <a:t>0.68% </a:t>
            </a:r>
            <a:r>
              <a:rPr lang="ko-KR" altLang="en-US" sz="1089" b="1" dirty="0">
                <a:solidFill>
                  <a:prstClr val="black"/>
                </a:solidFill>
                <a:latin typeface="Arial Narrow" panose="020B0606020202030204" pitchFamily="34" charset="0"/>
                <a:ea typeface="LG스마트체 Regular" panose="020B0600000101010101" pitchFamily="50" charset="-127"/>
              </a:rPr>
              <a:t>감소되었습니다</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a:solidFill>
                  <a:prstClr val="black"/>
                </a:solidFill>
                <a:latin typeface="Arial Narrow" panose="020B0606020202030204" pitchFamily="34" charset="0"/>
                <a:ea typeface="LG스마트체 Regular" panose="020B0600000101010101" pitchFamily="50" charset="-127"/>
              </a:rPr>
              <a:t>조립 </a:t>
            </a:r>
            <a:r>
              <a:rPr lang="en-US" altLang="ko-KR" sz="1089" b="1" dirty="0">
                <a:solidFill>
                  <a:prstClr val="black"/>
                </a:solidFill>
                <a:latin typeface="Arial Narrow" panose="020B0606020202030204" pitchFamily="34" charset="0"/>
                <a:ea typeface="LG스마트체 Regular" panose="020B0600000101010101" pitchFamily="50" charset="-127"/>
              </a:rPr>
              <a:t>0.33%p </a:t>
            </a:r>
            <a:r>
              <a:rPr lang="ko-KR" altLang="en-US" sz="1089" b="1" dirty="0">
                <a:solidFill>
                  <a:prstClr val="black"/>
                </a:solidFill>
                <a:latin typeface="Arial Narrow" panose="020B0606020202030204" pitchFamily="34" charset="0"/>
                <a:ea typeface="LG스마트체 Regular" panose="020B0600000101010101" pitchFamily="50" charset="-127"/>
              </a:rPr>
              <a:t>감소</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a:solidFill>
                  <a:prstClr val="black"/>
                </a:solidFill>
                <a:latin typeface="Arial Narrow" panose="020B0606020202030204" pitchFamily="34" charset="0"/>
                <a:ea typeface="LG스마트체 Regular" panose="020B0600000101010101" pitchFamily="50" charset="-127"/>
              </a:rPr>
              <a:t>활성화 </a:t>
            </a:r>
            <a:r>
              <a:rPr lang="en-US" altLang="ko-KR" sz="1089" b="1" dirty="0">
                <a:solidFill>
                  <a:prstClr val="black"/>
                </a:solidFill>
                <a:latin typeface="Arial Narrow" panose="020B0606020202030204" pitchFamily="34" charset="0"/>
                <a:ea typeface="LG스마트체 Regular" panose="020B0600000101010101" pitchFamily="50" charset="-127"/>
              </a:rPr>
              <a:t>0.37%p</a:t>
            </a:r>
            <a:r>
              <a:rPr lang="ko-KR" altLang="en-US" sz="1089" b="1" dirty="0">
                <a:solidFill>
                  <a:prstClr val="black"/>
                </a:solidFill>
                <a:latin typeface="Arial Narrow" panose="020B0606020202030204" pitchFamily="34" charset="0"/>
                <a:ea typeface="LG스마트체 Regular" panose="020B0600000101010101" pitchFamily="50" charset="-127"/>
              </a:rPr>
              <a:t> 감소 </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err="1">
                <a:solidFill>
                  <a:prstClr val="black"/>
                </a:solidFill>
                <a:latin typeface="Arial Narrow" panose="020B0606020202030204" pitchFamily="34" charset="0"/>
                <a:ea typeface="LG스마트체 Regular" panose="020B0600000101010101" pitchFamily="50" charset="-127"/>
              </a:rPr>
              <a:t>라미</a:t>
            </a:r>
            <a:r>
              <a:rPr lang="ko-KR" altLang="en-US" sz="1089" b="1" dirty="0">
                <a:solidFill>
                  <a:prstClr val="black"/>
                </a:solidFill>
                <a:latin typeface="Arial Narrow" panose="020B0606020202030204" pitchFamily="34" charset="0"/>
                <a:ea typeface="LG스마트체 Regular" panose="020B0600000101010101" pitchFamily="50" charset="-127"/>
              </a:rPr>
              <a:t> </a:t>
            </a:r>
            <a:r>
              <a:rPr lang="en-US" altLang="ko-KR" sz="1089" b="1" dirty="0">
                <a:solidFill>
                  <a:prstClr val="black"/>
                </a:solidFill>
                <a:latin typeface="Arial Narrow" panose="020B0606020202030204" pitchFamily="34" charset="0"/>
                <a:ea typeface="LG스마트체 Regular" panose="020B0600000101010101" pitchFamily="50" charset="-127"/>
              </a:rPr>
              <a:t>NG</a:t>
            </a:r>
            <a:r>
              <a:rPr lang="ko-KR" altLang="en-US" sz="1089" b="1" dirty="0">
                <a:solidFill>
                  <a:prstClr val="black"/>
                </a:solidFill>
                <a:latin typeface="Arial Narrow" panose="020B0606020202030204" pitchFamily="34" charset="0"/>
                <a:ea typeface="LG스마트체 Regular" panose="020B0600000101010101" pitchFamily="50" charset="-127"/>
              </a:rPr>
              <a:t>마킹</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err="1">
                <a:solidFill>
                  <a:prstClr val="black"/>
                </a:solidFill>
                <a:latin typeface="Arial Narrow" panose="020B0606020202030204" pitchFamily="34" charset="0"/>
                <a:ea typeface="LG스마트체 Regular" panose="020B0600000101010101" pitchFamily="50" charset="-127"/>
              </a:rPr>
              <a:t>스태킹</a:t>
            </a:r>
            <a:r>
              <a:rPr lang="ko-KR" altLang="en-US" sz="1089" b="1" dirty="0">
                <a:solidFill>
                  <a:prstClr val="black"/>
                </a:solidFill>
                <a:latin typeface="Arial Narrow" panose="020B0606020202030204" pitchFamily="34" charset="0"/>
                <a:ea typeface="LG스마트체 Regular" panose="020B0600000101010101" pitchFamily="50" charset="-127"/>
              </a:rPr>
              <a:t> 재작업</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a:solidFill>
                  <a:prstClr val="black"/>
                </a:solidFill>
                <a:latin typeface="Arial Narrow" panose="020B0606020202030204" pitchFamily="34" charset="0"/>
                <a:ea typeface="LG스마트체 Regular" panose="020B0600000101010101" pitchFamily="50" charset="-127"/>
              </a:rPr>
              <a:t>활성화 외관</a:t>
            </a:r>
            <a:r>
              <a:rPr lang="en-US" altLang="ko-KR" sz="1089" b="1" dirty="0">
                <a:solidFill>
                  <a:prstClr val="black"/>
                </a:solidFill>
                <a:latin typeface="Arial Narrow" panose="020B0606020202030204" pitchFamily="34" charset="0"/>
                <a:ea typeface="LG스마트체 Regular" panose="020B0600000101010101" pitchFamily="50" charset="-127"/>
              </a:rPr>
              <a:t>/IR</a:t>
            </a:r>
            <a:r>
              <a:rPr lang="ko-KR" altLang="en-US" sz="1089" b="1" dirty="0">
                <a:solidFill>
                  <a:prstClr val="black"/>
                </a:solidFill>
                <a:latin typeface="Arial Narrow" panose="020B0606020202030204" pitchFamily="34" charset="0"/>
                <a:ea typeface="LG스마트체 Regular" panose="020B0600000101010101" pitchFamily="50" charset="-127"/>
              </a:rPr>
              <a:t> 불량 </a:t>
            </a:r>
            <a:r>
              <a:rPr lang="en-US" altLang="ko-KR" sz="1089" b="1" dirty="0">
                <a:solidFill>
                  <a:prstClr val="black"/>
                </a:solidFill>
                <a:latin typeface="Arial Narrow" panose="020B0606020202030204" pitchFamily="34" charset="0"/>
                <a:ea typeface="LG스마트체 Regular" panose="020B0600000101010101" pitchFamily="50" charset="-127"/>
              </a:rPr>
              <a:t>7</a:t>
            </a:r>
            <a:r>
              <a:rPr lang="ko-KR" altLang="en-US" sz="1089" b="1" dirty="0">
                <a:solidFill>
                  <a:prstClr val="black"/>
                </a:solidFill>
                <a:latin typeface="Arial Narrow" panose="020B0606020202030204" pitchFamily="34" charset="0"/>
                <a:ea typeface="LG스마트체 Regular" panose="020B0600000101010101" pitchFamily="50" charset="-127"/>
              </a:rPr>
              <a:t>월 대비 </a:t>
            </a:r>
            <a:r>
              <a:rPr lang="en-US" altLang="ko-KR" sz="1089" b="1" dirty="0">
                <a:solidFill>
                  <a:prstClr val="black"/>
                </a:solidFill>
                <a:latin typeface="Arial Narrow" panose="020B0606020202030204" pitchFamily="34" charset="0"/>
                <a:ea typeface="LG스마트체 Regular" panose="020B0600000101010101" pitchFamily="50" charset="-127"/>
              </a:rPr>
              <a:t>8</a:t>
            </a:r>
            <a:r>
              <a:rPr lang="ko-KR" altLang="en-US" sz="1089" b="1" dirty="0">
                <a:solidFill>
                  <a:prstClr val="black"/>
                </a:solidFill>
                <a:latin typeface="Arial Narrow" panose="020B0606020202030204" pitchFamily="34" charset="0"/>
                <a:ea typeface="LG스마트체 Regular" panose="020B0600000101010101" pitchFamily="50" charset="-127"/>
              </a:rPr>
              <a:t>월 증가</a:t>
            </a:r>
            <a:r>
              <a:rPr lang="en-US" altLang="ko-KR" sz="1089" b="1" dirty="0">
                <a:solidFill>
                  <a:prstClr val="black"/>
                </a:solidFill>
                <a:latin typeface="Arial Narrow" panose="020B0606020202030204" pitchFamily="34" charset="0"/>
                <a:ea typeface="LG스마트체 Regular" panose="020B0600000101010101" pitchFamily="50" charset="-127"/>
              </a:rPr>
              <a:t>)</a:t>
            </a:r>
          </a:p>
        </p:txBody>
      </p:sp>
      <p:sp>
        <p:nvSpPr>
          <p:cNvPr id="4" name="직사각형 3">
            <a:extLst>
              <a:ext uri="{FF2B5EF4-FFF2-40B4-BE49-F238E27FC236}">
                <a16:creationId xmlns:a16="http://schemas.microsoft.com/office/drawing/2014/main" id="{BDBCA549-AF29-6446-E863-62939C0A5D9D}"/>
              </a:ext>
            </a:extLst>
          </p:cNvPr>
          <p:cNvSpPr/>
          <p:nvPr/>
        </p:nvSpPr>
        <p:spPr>
          <a:xfrm>
            <a:off x="632520" y="1402816"/>
            <a:ext cx="263135" cy="1574216"/>
          </a:xfrm>
          <a:prstGeom prst="rect">
            <a:avLst/>
          </a:prstGeom>
          <a:solidFill>
            <a:sysClr val="window" lastClr="FFFFFF">
              <a:lumMod val="95000"/>
            </a:sysClr>
          </a:solidFill>
          <a:ln w="6350" cap="flat" cmpd="sng" algn="ctr">
            <a:solidFill>
              <a:sysClr val="windowText" lastClr="000000"/>
            </a:solidFill>
            <a:prstDash val="solid"/>
            <a:miter lim="800000"/>
          </a:ln>
          <a:effectLst/>
        </p:spPr>
        <p:txBody>
          <a:bodyPr lIns="0" tIns="0" rIns="0" bIns="0" rtlCol="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904982">
              <a:defRPr/>
            </a:pPr>
            <a:r>
              <a:rPr lang="ko-KR" altLang="en-US" sz="990" b="1" kern="0" dirty="0">
                <a:solidFill>
                  <a:prstClr val="black"/>
                </a:solidFill>
                <a:latin typeface="Arial Narrow" panose="020B0606020202030204" pitchFamily="34" charset="0"/>
                <a:ea typeface="LG스마트체 Regular" panose="020B0600000101010101" pitchFamily="50" charset="-127"/>
              </a:rPr>
              <a:t>수율</a:t>
            </a:r>
          </a:p>
        </p:txBody>
      </p:sp>
      <p:sp>
        <p:nvSpPr>
          <p:cNvPr id="5" name="직사각형 4">
            <a:extLst>
              <a:ext uri="{FF2B5EF4-FFF2-40B4-BE49-F238E27FC236}">
                <a16:creationId xmlns:a16="http://schemas.microsoft.com/office/drawing/2014/main" id="{E2741EBA-D75C-3B20-18DB-3A2A42F3E7AC}"/>
              </a:ext>
            </a:extLst>
          </p:cNvPr>
          <p:cNvSpPr/>
          <p:nvPr/>
        </p:nvSpPr>
        <p:spPr>
          <a:xfrm>
            <a:off x="632520" y="3045150"/>
            <a:ext cx="263135" cy="3036053"/>
          </a:xfrm>
          <a:prstGeom prst="rect">
            <a:avLst/>
          </a:prstGeom>
          <a:solidFill>
            <a:sysClr val="window" lastClr="FFFFFF">
              <a:lumMod val="95000"/>
            </a:sysClr>
          </a:solidFill>
          <a:ln w="6350" cap="flat" cmpd="sng" algn="ctr">
            <a:solidFill>
              <a:sysClr val="windowText" lastClr="000000"/>
            </a:solidFill>
            <a:prstDash val="solid"/>
            <a:miter lim="800000"/>
          </a:ln>
          <a:effectLst/>
        </p:spPr>
        <p:txBody>
          <a:bodyPr lIns="0" tIns="0" rIns="0" bIns="0" rtlCol="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904982">
              <a:defRPr/>
            </a:pPr>
            <a:r>
              <a:rPr lang="ko-KR" altLang="en-US" sz="990" b="1" kern="0" dirty="0">
                <a:solidFill>
                  <a:prstClr val="black"/>
                </a:solidFill>
                <a:latin typeface="Arial Narrow" panose="020B0606020202030204" pitchFamily="34" charset="0"/>
                <a:ea typeface="LG스마트체 Regular" panose="020B0600000101010101" pitchFamily="50" charset="-127"/>
              </a:rPr>
              <a:t>불량</a:t>
            </a:r>
          </a:p>
        </p:txBody>
      </p:sp>
      <p:sp>
        <p:nvSpPr>
          <p:cNvPr id="10" name="TextBox 94">
            <a:extLst>
              <a:ext uri="{FF2B5EF4-FFF2-40B4-BE49-F238E27FC236}">
                <a16:creationId xmlns:a16="http://schemas.microsoft.com/office/drawing/2014/main" id="{E23DC3EB-79D3-AAA6-CF03-5AAD7B2B22FC}"/>
              </a:ext>
            </a:extLst>
          </p:cNvPr>
          <p:cNvSpPr txBox="1"/>
          <p:nvPr/>
        </p:nvSpPr>
        <p:spPr>
          <a:xfrm>
            <a:off x="1568624" y="1032321"/>
            <a:ext cx="2081321" cy="274143"/>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904982"/>
            <a:r>
              <a:rPr lang="ko-KR" altLang="en-US" sz="1188" b="1" dirty="0">
                <a:solidFill>
                  <a:prstClr val="black"/>
                </a:solidFill>
                <a:latin typeface="Arial Narrow" panose="020B0606020202030204" pitchFamily="34" charset="0"/>
                <a:ea typeface="LG스마트체 Regular" panose="020B0600000101010101" pitchFamily="50" charset="-127"/>
              </a:rPr>
              <a:t>자동차</a:t>
            </a:r>
          </a:p>
        </p:txBody>
      </p:sp>
      <p:cxnSp>
        <p:nvCxnSpPr>
          <p:cNvPr id="14" name="직선 연결선 13">
            <a:extLst>
              <a:ext uri="{FF2B5EF4-FFF2-40B4-BE49-F238E27FC236}">
                <a16:creationId xmlns:a16="http://schemas.microsoft.com/office/drawing/2014/main" id="{E7FFB6A3-4CF6-EB0C-EE4D-87215D37A995}"/>
              </a:ext>
            </a:extLst>
          </p:cNvPr>
          <p:cNvCxnSpPr>
            <a:cxnSpLocks/>
          </p:cNvCxnSpPr>
          <p:nvPr/>
        </p:nvCxnSpPr>
        <p:spPr>
          <a:xfrm>
            <a:off x="635692" y="1275317"/>
            <a:ext cx="4426629" cy="0"/>
          </a:xfrm>
          <a:prstGeom prst="line">
            <a:avLst/>
          </a:prstGeom>
          <a:noFill/>
          <a:ln w="6350" cap="flat" cmpd="sng" algn="ctr">
            <a:solidFill>
              <a:sysClr val="windowText" lastClr="000000"/>
            </a:solidFill>
            <a:prstDash val="solid"/>
            <a:miter lim="800000"/>
          </a:ln>
          <a:effectLst/>
        </p:spPr>
      </p:cxnSp>
      <p:sp>
        <p:nvSpPr>
          <p:cNvPr id="22" name="TextBox 124">
            <a:extLst>
              <a:ext uri="{FF2B5EF4-FFF2-40B4-BE49-F238E27FC236}">
                <a16:creationId xmlns:a16="http://schemas.microsoft.com/office/drawing/2014/main" id="{3B069DF6-C8A3-0F71-E50D-ED32F26F75C6}"/>
              </a:ext>
            </a:extLst>
          </p:cNvPr>
          <p:cNvSpPr txBox="1"/>
          <p:nvPr/>
        </p:nvSpPr>
        <p:spPr>
          <a:xfrm>
            <a:off x="4506419" y="1282740"/>
            <a:ext cx="394661" cy="137071"/>
          </a:xfrm>
          <a:prstGeom prst="rect">
            <a:avLst/>
          </a:prstGeom>
          <a:noFill/>
        </p:spPr>
        <p:txBody>
          <a:bodyPr wrap="square" lIns="0" tIns="0" rIns="0" bIns="0" rtlCol="0" anchor="ctr" anchorCtr="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defRPr/>
            </a:pPr>
            <a:r>
              <a:rPr lang="en-US" altLang="ko-KR" sz="891" dirty="0">
                <a:solidFill>
                  <a:srgbClr val="008000"/>
                </a:solidFill>
                <a:latin typeface="Arial Narrow" panose="020B0606020202030204" pitchFamily="34" charset="0"/>
                <a:ea typeface="LG스마트체 Regular" panose="020B0600000101010101" pitchFamily="50" charset="-127"/>
              </a:rPr>
              <a:t>~8/31</a:t>
            </a:r>
          </a:p>
        </p:txBody>
      </p:sp>
      <p:graphicFrame>
        <p:nvGraphicFramePr>
          <p:cNvPr id="13" name="표 12">
            <a:extLst>
              <a:ext uri="{FF2B5EF4-FFF2-40B4-BE49-F238E27FC236}">
                <a16:creationId xmlns:a16="http://schemas.microsoft.com/office/drawing/2014/main" id="{0A4672EE-A556-1462-EEAE-78DD476DA0F6}"/>
              </a:ext>
            </a:extLst>
          </p:cNvPr>
          <p:cNvGraphicFramePr>
            <a:graphicFrameLocks noGrp="1"/>
          </p:cNvGraphicFramePr>
          <p:nvPr>
            <p:extLst>
              <p:ext uri="{D42A27DB-BD31-4B8C-83A1-F6EECF244321}">
                <p14:modId xmlns:p14="http://schemas.microsoft.com/office/powerpoint/2010/main" val="2130319957"/>
              </p:ext>
            </p:extLst>
          </p:nvPr>
        </p:nvGraphicFramePr>
        <p:xfrm>
          <a:off x="982523" y="1410080"/>
          <a:ext cx="3924689" cy="4739640"/>
        </p:xfrm>
        <a:graphic>
          <a:graphicData uri="http://schemas.openxmlformats.org/drawingml/2006/table">
            <a:tbl>
              <a:tblPr/>
              <a:tblGrid>
                <a:gridCol w="328367">
                  <a:extLst>
                    <a:ext uri="{9D8B030D-6E8A-4147-A177-3AD203B41FA5}">
                      <a16:colId xmlns:a16="http://schemas.microsoft.com/office/drawing/2014/main" val="1079899504"/>
                    </a:ext>
                  </a:extLst>
                </a:gridCol>
                <a:gridCol w="292231">
                  <a:extLst>
                    <a:ext uri="{9D8B030D-6E8A-4147-A177-3AD203B41FA5}">
                      <a16:colId xmlns:a16="http://schemas.microsoft.com/office/drawing/2014/main" val="103773139"/>
                    </a:ext>
                  </a:extLst>
                </a:gridCol>
                <a:gridCol w="328368">
                  <a:extLst>
                    <a:ext uri="{9D8B030D-6E8A-4147-A177-3AD203B41FA5}">
                      <a16:colId xmlns:a16="http://schemas.microsoft.com/office/drawing/2014/main" val="2547105670"/>
                    </a:ext>
                  </a:extLst>
                </a:gridCol>
                <a:gridCol w="234098">
                  <a:extLst>
                    <a:ext uri="{9D8B030D-6E8A-4147-A177-3AD203B41FA5}">
                      <a16:colId xmlns:a16="http://schemas.microsoft.com/office/drawing/2014/main" val="1705875617"/>
                    </a:ext>
                  </a:extLst>
                </a:gridCol>
                <a:gridCol w="207390">
                  <a:extLst>
                    <a:ext uri="{9D8B030D-6E8A-4147-A177-3AD203B41FA5}">
                      <a16:colId xmlns:a16="http://schemas.microsoft.com/office/drawing/2014/main" val="3347707831"/>
                    </a:ext>
                  </a:extLst>
                </a:gridCol>
                <a:gridCol w="252952">
                  <a:extLst>
                    <a:ext uri="{9D8B030D-6E8A-4147-A177-3AD203B41FA5}">
                      <a16:colId xmlns:a16="http://schemas.microsoft.com/office/drawing/2014/main" val="1114819005"/>
                    </a:ext>
                  </a:extLst>
                </a:gridCol>
                <a:gridCol w="252952">
                  <a:extLst>
                    <a:ext uri="{9D8B030D-6E8A-4147-A177-3AD203B41FA5}">
                      <a16:colId xmlns:a16="http://schemas.microsoft.com/office/drawing/2014/main" val="1983088139"/>
                    </a:ext>
                  </a:extLst>
                </a:gridCol>
                <a:gridCol w="252952">
                  <a:extLst>
                    <a:ext uri="{9D8B030D-6E8A-4147-A177-3AD203B41FA5}">
                      <a16:colId xmlns:a16="http://schemas.microsoft.com/office/drawing/2014/main" val="1663529779"/>
                    </a:ext>
                  </a:extLst>
                </a:gridCol>
                <a:gridCol w="252952">
                  <a:extLst>
                    <a:ext uri="{9D8B030D-6E8A-4147-A177-3AD203B41FA5}">
                      <a16:colId xmlns:a16="http://schemas.microsoft.com/office/drawing/2014/main" val="2151561742"/>
                    </a:ext>
                  </a:extLst>
                </a:gridCol>
                <a:gridCol w="252952">
                  <a:extLst>
                    <a:ext uri="{9D8B030D-6E8A-4147-A177-3AD203B41FA5}">
                      <a16:colId xmlns:a16="http://schemas.microsoft.com/office/drawing/2014/main" val="3894427362"/>
                    </a:ext>
                  </a:extLst>
                </a:gridCol>
                <a:gridCol w="252952">
                  <a:extLst>
                    <a:ext uri="{9D8B030D-6E8A-4147-A177-3AD203B41FA5}">
                      <a16:colId xmlns:a16="http://schemas.microsoft.com/office/drawing/2014/main" val="2207368942"/>
                    </a:ext>
                  </a:extLst>
                </a:gridCol>
                <a:gridCol w="116264">
                  <a:extLst>
                    <a:ext uri="{9D8B030D-6E8A-4147-A177-3AD203B41FA5}">
                      <a16:colId xmlns:a16="http://schemas.microsoft.com/office/drawing/2014/main" val="3477381960"/>
                    </a:ext>
                  </a:extLst>
                </a:gridCol>
                <a:gridCol w="498049">
                  <a:extLst>
                    <a:ext uri="{9D8B030D-6E8A-4147-A177-3AD203B41FA5}">
                      <a16:colId xmlns:a16="http://schemas.microsoft.com/office/drawing/2014/main" val="2523756828"/>
                    </a:ext>
                  </a:extLst>
                </a:gridCol>
                <a:gridCol w="402210">
                  <a:extLst>
                    <a:ext uri="{9D8B030D-6E8A-4147-A177-3AD203B41FA5}">
                      <a16:colId xmlns:a16="http://schemas.microsoft.com/office/drawing/2014/main" val="1440666781"/>
                    </a:ext>
                  </a:extLst>
                </a:gridCol>
              </a:tblGrid>
              <a:tr h="120663">
                <a:tc gridSpan="3">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공정</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7월,8월 Gap</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26년 누적</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614116314"/>
                  </a:ext>
                </a:extLst>
              </a:tr>
              <a:tr h="120663">
                <a:tc gridSpan="3">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PKG 생산량</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7.5M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8.1M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11.1M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10.7M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11.1M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11.3M</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79.5M</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10212428"/>
                  </a:ext>
                </a:extLst>
              </a:tr>
              <a:tr h="120663">
                <a:tc rowSpan="11">
                  <a:txBody>
                    <a:bodyPr/>
                    <a:lstStyle/>
                    <a:p>
                      <a:pPr algn="l" rtl="0"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셀</a:t>
                      </a:r>
                    </a:p>
                  </a:txBody>
                  <a:tcPr marL="0" marR="0" marT="0" marB="0" anchor="ctr">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95.6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96.0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-0.68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47458419"/>
                  </a:ext>
                </a:extLst>
              </a:tr>
              <a:tr h="120663">
                <a:tc vMerge="1">
                  <a:txBody>
                    <a:bodyPr/>
                    <a:lstStyle/>
                    <a:p>
                      <a:pPr latinLnBrk="1"/>
                      <a:endParaRPr lang="ko-KR" altLang="en-US"/>
                    </a:p>
                  </a:txBody>
                  <a:tcPr/>
                </a:tc>
                <a:tc rowSpan="4">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조립</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97.6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95823574"/>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라미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615904184"/>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스태킹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009209289"/>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패키지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34815131"/>
                  </a:ext>
                </a:extLst>
              </a:tr>
              <a:tr h="120663">
                <a:tc vMerge="1">
                  <a:txBody>
                    <a:bodyPr/>
                    <a:lstStyle/>
                    <a:p>
                      <a:pPr latinLnBrk="1"/>
                      <a:endParaRPr lang="ko-KR" altLang="en-US"/>
                    </a:p>
                  </a:txBody>
                  <a:tcPr/>
                </a:tc>
                <a:tc rowSpan="6">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활성화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98.4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98.6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4080028"/>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1차 For.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448649231"/>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디가스</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266735274"/>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2차 For.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84458840"/>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456156853"/>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-0.62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36046852"/>
                  </a:ext>
                </a:extLst>
              </a:tr>
              <a:tr h="75414">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5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79497593"/>
                  </a:ext>
                </a:extLst>
              </a:tr>
              <a:tr h="120663">
                <a:tc rowSpan="6">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라미</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NG Mark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0.49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160794153"/>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위치</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070660588"/>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위치 관련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267922182"/>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연결Loss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092799542"/>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공정Loss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835814941"/>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쇼트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9825810"/>
                  </a:ext>
                </a:extLst>
              </a:tr>
              <a:tr h="120663">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409127469"/>
                  </a:ext>
                </a:extLst>
              </a:tr>
              <a:tr h="30166">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22149451"/>
                  </a:ext>
                </a:extLst>
              </a:tr>
              <a:tr h="120663">
                <a:tc rowSpan="6">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스태킹</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모노세파외관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0.39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971789300"/>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치수/외관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809401247"/>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쇼트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97470351"/>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Stack 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676230943"/>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폴딩 연결Loss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837599755"/>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HC overhang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22662979"/>
                  </a:ext>
                </a:extLst>
              </a:tr>
              <a:tr h="120663">
                <a:tc>
                  <a:txBody>
                    <a:bodyPr/>
                    <a:lstStyle/>
                    <a:p>
                      <a:pPr algn="l"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403025809"/>
                  </a:ext>
                </a:extLst>
              </a:tr>
              <a:tr h="30166">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27995314"/>
                  </a:ext>
                </a:extLst>
              </a:tr>
              <a:tr h="120663">
                <a:tc>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1차 For.</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Q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3050800"/>
                  </a:ext>
                </a:extLst>
              </a:tr>
              <a:tr h="120663">
                <a:tc>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562803652"/>
                  </a:ext>
                </a:extLst>
              </a:tr>
              <a:tr h="30166">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84986380"/>
                  </a:ext>
                </a:extLst>
              </a:tr>
              <a:tr h="120663">
                <a:tc>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2차 For.</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Q Grade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5409222"/>
                  </a:ext>
                </a:extLst>
              </a:tr>
              <a:tr h="120663">
                <a:tc>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269154742"/>
                  </a:ext>
                </a:extLst>
              </a:tr>
              <a:tr h="30166">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494357"/>
                  </a:ext>
                </a:extLst>
              </a:tr>
              <a:tr h="120663">
                <a:tc>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저전압 관련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28256031"/>
                  </a:ext>
                </a:extLst>
              </a:tr>
              <a:tr h="120663">
                <a:tc>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320627680"/>
                  </a:ext>
                </a:extLst>
              </a:tr>
              <a:tr h="30166">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4882998"/>
                  </a:ext>
                </a:extLst>
              </a:tr>
              <a:tr h="120663">
                <a:tc rowSpan="3">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외관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0.69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0.52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056129606"/>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치수</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8032580"/>
                  </a:ext>
                </a:extLst>
              </a:tr>
              <a:tr h="120663">
                <a:tc vMerge="1">
                  <a:txBody>
                    <a:bodyPr/>
                    <a:lstStyle/>
                    <a:p>
                      <a:pPr latinLnBrk="1"/>
                      <a:endParaRPr lang="ko-KR" altLang="en-US"/>
                    </a:p>
                  </a:txBody>
                  <a:tcPr/>
                </a:tc>
                <a:tc gridSpan="2">
                  <a:txBody>
                    <a:bodyPr/>
                    <a:lstStyle/>
                    <a:p>
                      <a:pPr algn="ctr" rtl="0"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IR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rtl="0"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15205460"/>
                  </a:ext>
                </a:extLst>
              </a:tr>
              <a:tr h="120663">
                <a:tc>
                  <a:txBody>
                    <a:bodyPr/>
                    <a:lstStyle/>
                    <a:p>
                      <a:pPr algn="l" rtl="0"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rtl="0"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0.11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702166428"/>
                  </a:ext>
                </a:extLst>
              </a:tr>
            </a:tbl>
          </a:graphicData>
        </a:graphic>
      </p:graphicFrame>
      <p:sp>
        <p:nvSpPr>
          <p:cNvPr id="15" name="TextBox 105">
            <a:extLst>
              <a:ext uri="{FF2B5EF4-FFF2-40B4-BE49-F238E27FC236}">
                <a16:creationId xmlns:a16="http://schemas.microsoft.com/office/drawing/2014/main" id="{C5E896DB-28DC-D81C-F9E8-F38B0B4AE9B8}"/>
              </a:ext>
            </a:extLst>
          </p:cNvPr>
          <p:cNvSpPr txBox="1"/>
          <p:nvPr/>
        </p:nvSpPr>
        <p:spPr>
          <a:xfrm>
            <a:off x="2648744" y="1087029"/>
            <a:ext cx="2721385" cy="135743"/>
          </a:xfrm>
          <a:prstGeom prst="rect">
            <a:avLst/>
          </a:prstGeom>
          <a:no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ko-KR" altLang="en-US" sz="882" dirty="0">
                <a:solidFill>
                  <a:srgbClr val="008000"/>
                </a:solidFill>
                <a:latin typeface="Arial Narrow" panose="020B0606020202030204" pitchFamily="34" charset="0"/>
                <a:ea typeface="LG스마트체 Regular" panose="020B0600000101010101" pitchFamily="50" charset="-127"/>
              </a:rPr>
              <a:t>변경 </a:t>
            </a:r>
            <a:r>
              <a:rPr lang="en-US" altLang="ko-KR" sz="882" dirty="0">
                <a:solidFill>
                  <a:srgbClr val="008000"/>
                </a:solidFill>
                <a:latin typeface="Arial Narrow" panose="020B0606020202030204" pitchFamily="34" charset="0"/>
                <a:ea typeface="LG스마트체 Regular" panose="020B0600000101010101" pitchFamily="50" charset="-127"/>
              </a:rPr>
              <a:t>KPI </a:t>
            </a:r>
            <a:r>
              <a:rPr lang="ko-KR" altLang="en-US" sz="882" dirty="0">
                <a:solidFill>
                  <a:srgbClr val="008000"/>
                </a:solidFill>
                <a:latin typeface="Arial Narrow" panose="020B0606020202030204" pitchFamily="34" charset="0"/>
                <a:ea typeface="LG스마트체 Regular" panose="020B0600000101010101" pitchFamily="50" charset="-127"/>
              </a:rPr>
              <a:t>기준</a:t>
            </a:r>
            <a:r>
              <a:rPr lang="en-US" altLang="ko-KR" sz="882" dirty="0">
                <a:solidFill>
                  <a:srgbClr val="008000"/>
                </a:solidFill>
                <a:latin typeface="Arial Narrow" panose="020B0606020202030204" pitchFamily="34" charset="0"/>
                <a:ea typeface="LG스마트체 Regular" panose="020B0600000101010101" pitchFamily="50" charset="-127"/>
              </a:rPr>
              <a:t> </a:t>
            </a:r>
            <a:r>
              <a:rPr lang="ko-KR" altLang="en-US" sz="882" dirty="0">
                <a:solidFill>
                  <a:srgbClr val="008000"/>
                </a:solidFill>
                <a:latin typeface="Arial Narrow" panose="020B0606020202030204" pitchFamily="34" charset="0"/>
                <a:ea typeface="LG스마트체 Regular" panose="020B0600000101010101" pitchFamily="50" charset="-127"/>
              </a:rPr>
              <a:t>목표 셀 수율</a:t>
            </a:r>
            <a:r>
              <a:rPr lang="en-US" altLang="ko-KR" sz="882" dirty="0">
                <a:solidFill>
                  <a:srgbClr val="008000"/>
                </a:solidFill>
                <a:latin typeface="Arial Narrow" panose="020B0606020202030204" pitchFamily="34" charset="0"/>
                <a:ea typeface="LG스마트체 Regular" panose="020B0600000101010101" pitchFamily="50" charset="-127"/>
              </a:rPr>
              <a:t> (WA,NA,NB,HM,MI,HG</a:t>
            </a:r>
            <a:r>
              <a:rPr lang="ko-KR" altLang="en-US" sz="882" dirty="0">
                <a:solidFill>
                  <a:srgbClr val="008000"/>
                </a:solidFill>
                <a:latin typeface="Arial Narrow" panose="020B0606020202030204" pitchFamily="34" charset="0"/>
                <a:ea typeface="LG스마트체 Regular" panose="020B0600000101010101" pitchFamily="50" charset="-127"/>
              </a:rPr>
              <a:t> </a:t>
            </a:r>
            <a:r>
              <a:rPr lang="en-US" altLang="ko-KR" sz="882" dirty="0">
                <a:solidFill>
                  <a:srgbClr val="008000"/>
                </a:solidFill>
                <a:latin typeface="Arial Narrow" panose="020B0606020202030204" pitchFamily="34" charset="0"/>
                <a:ea typeface="LG스마트체 Regular" panose="020B0600000101010101" pitchFamily="50" charset="-127"/>
              </a:rPr>
              <a:t>97.8%)</a:t>
            </a:r>
          </a:p>
        </p:txBody>
      </p:sp>
      <p:sp>
        <p:nvSpPr>
          <p:cNvPr id="26" name="TextBox 105">
            <a:extLst>
              <a:ext uri="{FF2B5EF4-FFF2-40B4-BE49-F238E27FC236}">
                <a16:creationId xmlns:a16="http://schemas.microsoft.com/office/drawing/2014/main" id="{41AA339E-27D2-8872-A453-C82D0733836D}"/>
              </a:ext>
            </a:extLst>
          </p:cNvPr>
          <p:cNvSpPr txBox="1"/>
          <p:nvPr/>
        </p:nvSpPr>
        <p:spPr>
          <a:xfrm>
            <a:off x="2808961" y="908720"/>
            <a:ext cx="2561168" cy="135658"/>
          </a:xfrm>
          <a:prstGeom prst="rect">
            <a:avLst/>
          </a:prstGeom>
          <a:no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US" altLang="ko-KR" sz="882" dirty="0">
                <a:solidFill>
                  <a:srgbClr val="008000"/>
                </a:solidFill>
                <a:latin typeface="Arial Narrow" panose="020B0606020202030204" pitchFamily="34" charset="0"/>
                <a:ea typeface="LG스마트체 Regular" panose="020B0600000101010101" pitchFamily="50" charset="-127"/>
              </a:rPr>
              <a:t>8</a:t>
            </a:r>
            <a:r>
              <a:rPr lang="ko-KR" altLang="en-US" sz="882" dirty="0">
                <a:solidFill>
                  <a:srgbClr val="008000"/>
                </a:solidFill>
                <a:latin typeface="Arial Narrow" panose="020B0606020202030204" pitchFamily="34" charset="0"/>
                <a:ea typeface="LG스마트체 Regular" panose="020B0600000101010101" pitchFamily="50" charset="-127"/>
              </a:rPr>
              <a:t>월 누적 기준 실적 </a:t>
            </a:r>
            <a:r>
              <a:rPr lang="en-US" altLang="ko-KR" sz="882" dirty="0">
                <a:solidFill>
                  <a:srgbClr val="008000"/>
                </a:solidFill>
                <a:latin typeface="Arial Narrow" panose="020B0606020202030204" pitchFamily="34" charset="0"/>
                <a:ea typeface="LG스마트체 Regular" panose="020B0600000101010101" pitchFamily="50" charset="-127"/>
              </a:rPr>
              <a:t>Global site </a:t>
            </a:r>
            <a:r>
              <a:rPr lang="ko-KR" altLang="en-US" sz="882" dirty="0" err="1">
                <a:solidFill>
                  <a:srgbClr val="008000"/>
                </a:solidFill>
                <a:latin typeface="Arial Narrow" panose="020B0606020202030204" pitchFamily="34" charset="0"/>
                <a:ea typeface="LG스마트체 Regular" panose="020B0600000101010101" pitchFamily="50" charset="-127"/>
              </a:rPr>
              <a:t>셀수율</a:t>
            </a:r>
            <a:r>
              <a:rPr lang="ko-KR" altLang="en-US" sz="882" dirty="0">
                <a:solidFill>
                  <a:srgbClr val="008000"/>
                </a:solidFill>
                <a:latin typeface="Arial Narrow" panose="020B0606020202030204" pitchFamily="34" charset="0"/>
                <a:ea typeface="LG스마트체 Regular" panose="020B0600000101010101" pitchFamily="50" charset="-127"/>
              </a:rPr>
              <a:t> </a:t>
            </a:r>
            <a:r>
              <a:rPr lang="en-US" altLang="ko-KR" sz="882" dirty="0">
                <a:solidFill>
                  <a:srgbClr val="008000"/>
                </a:solidFill>
                <a:latin typeface="Arial Narrow" panose="020B0606020202030204" pitchFamily="34" charset="0"/>
                <a:ea typeface="LG스마트체 Regular" panose="020B0600000101010101" pitchFamily="50" charset="-127"/>
              </a:rPr>
              <a:t>97.6%</a:t>
            </a:r>
          </a:p>
        </p:txBody>
      </p:sp>
      <p:sp>
        <p:nvSpPr>
          <p:cNvPr id="9" name="TextBox 8">
            <a:extLst>
              <a:ext uri="{FF2B5EF4-FFF2-40B4-BE49-F238E27FC236}">
                <a16:creationId xmlns:a16="http://schemas.microsoft.com/office/drawing/2014/main" id="{7F4FD625-A27C-C3DF-EAC0-412C2E0E6006}"/>
              </a:ext>
            </a:extLst>
          </p:cNvPr>
          <p:cNvSpPr txBox="1"/>
          <p:nvPr/>
        </p:nvSpPr>
        <p:spPr>
          <a:xfrm>
            <a:off x="8202737"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6" name="TextBox 5">
            <a:extLst>
              <a:ext uri="{FF2B5EF4-FFF2-40B4-BE49-F238E27FC236}">
                <a16:creationId xmlns:a16="http://schemas.microsoft.com/office/drawing/2014/main" id="{85FCB67A-8275-59AA-2B59-D972FBA7D7F5}"/>
              </a:ext>
            </a:extLst>
          </p:cNvPr>
          <p:cNvSpPr txBox="1"/>
          <p:nvPr/>
        </p:nvSpPr>
        <p:spPr>
          <a:xfrm>
            <a:off x="5533608" y="3209573"/>
            <a:ext cx="3595856" cy="3185487"/>
          </a:xfrm>
          <a:prstGeom prst="rect">
            <a:avLst/>
          </a:prstGeom>
          <a:noFill/>
        </p:spPr>
        <p:txBody>
          <a:bodyPr wrap="none" rtlCol="0">
            <a:spAutoFit/>
          </a:bodyPr>
          <a:lstStyle/>
          <a:p>
            <a:pPr>
              <a:buFont typeface="Wingdings" panose="05000000000000000000" pitchFamily="2" charset="2"/>
              <a:buChar char="§"/>
            </a:pPr>
            <a:r>
              <a:rPr kumimoji="1" lang="ko-KR" altLang="en-US" sz="1000" b="1" dirty="0">
                <a:latin typeface="Arial Narrow" panose="020B0606020202030204" pitchFamily="34" charset="0"/>
                <a:ea typeface="LG스마트체 Regular" panose="020B0600000101010101" pitchFamily="50" charset="-127"/>
              </a:rPr>
              <a:t> 법인 자체 개선 필요 사항</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E161 Crack issue </a:t>
            </a:r>
            <a:r>
              <a:rPr kumimoji="1" lang="ko-KR" altLang="en-US" sz="900" dirty="0">
                <a:latin typeface="Arial Narrow" panose="020B0606020202030204" pitchFamily="34" charset="0"/>
                <a:ea typeface="LG스마트체 Regular" panose="020B0600000101010101" pitchFamily="50" charset="-127"/>
              </a:rPr>
              <a:t>종료 </a:t>
            </a:r>
            <a:r>
              <a:rPr kumimoji="1" lang="en-US" altLang="ko-KR" sz="900" dirty="0">
                <a:latin typeface="Arial Narrow" panose="020B0606020202030204" pitchFamily="34" charset="0"/>
                <a:ea typeface="LG스마트체 Regular" panose="020B0600000101010101" pitchFamily="50" charset="-127"/>
              </a:rPr>
              <a:t>: 0.6%p</a:t>
            </a:r>
            <a:r>
              <a:rPr kumimoji="1" lang="ko-KR" altLang="en-US" sz="900" dirty="0">
                <a:latin typeface="Arial Narrow" panose="020B0606020202030204" pitchFamily="34" charset="0"/>
                <a:ea typeface="LG스마트체 Regular" panose="020B0600000101010101" pitchFamily="50" charset="-127"/>
              </a:rPr>
              <a:t>↑</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Stacking </a:t>
            </a:r>
            <a:r>
              <a:rPr kumimoji="1" lang="ko-KR" altLang="en-US" sz="900" dirty="0">
                <a:latin typeface="Arial Narrow" panose="020B0606020202030204" pitchFamily="34" charset="0"/>
                <a:ea typeface="LG스마트체 Regular" panose="020B0600000101010101" pitchFamily="50" charset="-127"/>
              </a:rPr>
              <a:t>재작업 </a:t>
            </a:r>
            <a:r>
              <a:rPr kumimoji="1" lang="en-US" altLang="ko-KR" sz="900" dirty="0">
                <a:latin typeface="Arial Narrow" panose="020B0606020202030204" pitchFamily="34" charset="0"/>
                <a:ea typeface="LG스마트체 Regular" panose="020B0600000101010101" pitchFamily="50" charset="-127"/>
              </a:rPr>
              <a:t>Cover : 0.1%p</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(7</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-0.33%, 8</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-0.25%)</a:t>
            </a:r>
          </a:p>
          <a:p>
            <a:pPr marL="171450" indent="-171450">
              <a:buFont typeface="Wingdings" panose="05000000000000000000" pitchFamily="2" charset="2"/>
              <a:buChar char="§"/>
            </a:pPr>
            <a:endParaRPr kumimoji="1" lang="en-US" altLang="ko-KR" sz="1000" dirty="0">
              <a:latin typeface="Arial Narrow" panose="020B0606020202030204" pitchFamily="34" charset="0"/>
              <a:ea typeface="LG스마트체 Regular" panose="020B0600000101010101" pitchFamily="50" charset="-127"/>
            </a:endParaRPr>
          </a:p>
          <a:p>
            <a:pPr>
              <a:buFont typeface="Wingdings" panose="05000000000000000000" pitchFamily="2" charset="2"/>
              <a:buChar char="§"/>
            </a:pPr>
            <a:r>
              <a:rPr kumimoji="1" lang="ko-KR" altLang="en-US" sz="1000" b="1" dirty="0">
                <a:latin typeface="Arial Narrow" panose="020B0606020202030204" pitchFamily="34" charset="0"/>
                <a:ea typeface="LG스마트체 Regular" panose="020B0600000101010101" pitchFamily="50" charset="-127"/>
              </a:rPr>
              <a:t> 집중 개선 영역 및 목표</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NG </a:t>
            </a:r>
            <a:r>
              <a:rPr kumimoji="1" lang="ko-KR" altLang="en-US" sz="900" dirty="0">
                <a:latin typeface="Arial Narrow" panose="020B0606020202030204" pitchFamily="34" charset="0"/>
                <a:ea typeface="LG스마트체 Regular" panose="020B0600000101010101" pitchFamily="50" charset="-127"/>
              </a:rPr>
              <a:t>마킹 개선 </a:t>
            </a:r>
            <a:r>
              <a:rPr kumimoji="1" lang="en-US" altLang="ko-KR" sz="900" dirty="0">
                <a:latin typeface="Arial Narrow" panose="020B0606020202030204" pitchFamily="34" charset="0"/>
                <a:ea typeface="LG스마트체 Regular" panose="020B0600000101010101" pitchFamily="50" charset="-127"/>
              </a:rPr>
              <a:t>: 0.30%p</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 (8</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0.49 </a:t>
            </a:r>
            <a:r>
              <a:rPr kumimoji="1" lang="ko-KR" altLang="en-US" sz="900" dirty="0">
                <a:latin typeface="Arial Narrow" panose="020B0606020202030204" pitchFamily="34" charset="0"/>
                <a:ea typeface="LG스마트체 Regular" panose="020B0600000101010101" pitchFamily="50" charset="-127"/>
              </a:rPr>
              <a:t>→</a:t>
            </a:r>
            <a:r>
              <a:rPr kumimoji="1" lang="en-US" altLang="ko-KR" sz="900" dirty="0">
                <a:latin typeface="Arial Narrow" panose="020B0606020202030204" pitchFamily="34" charset="0"/>
                <a:ea typeface="LG스마트체 Regular" panose="020B0600000101010101" pitchFamily="50" charset="-127"/>
              </a:rPr>
              <a:t> 9</a:t>
            </a:r>
            <a:r>
              <a:rPr kumimoji="1" lang="ko-KR" altLang="en-US" sz="900" dirty="0">
                <a:latin typeface="Arial Narrow" panose="020B0606020202030204" pitchFamily="34" charset="0"/>
                <a:ea typeface="LG스마트체 Regular" panose="020B0600000101010101" pitchFamily="50" charset="-127"/>
              </a:rPr>
              <a:t>월 목표 </a:t>
            </a:r>
            <a:r>
              <a:rPr kumimoji="1" lang="en-US" altLang="ko-KR" sz="900" dirty="0">
                <a:latin typeface="Arial Narrow" panose="020B0606020202030204" pitchFamily="34" charset="0"/>
                <a:ea typeface="LG스마트체 Regular" panose="020B0600000101010101" pitchFamily="50" charset="-127"/>
              </a:rPr>
              <a:t>0.19%)</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E77 </a:t>
            </a:r>
            <a:r>
              <a:rPr kumimoji="1" lang="ko-KR" altLang="en-US" sz="900" dirty="0">
                <a:latin typeface="Arial Narrow" panose="020B0606020202030204" pitchFamily="34" charset="0"/>
                <a:ea typeface="LG스마트체 Regular" panose="020B0600000101010101" pitchFamily="50" charset="-127"/>
              </a:rPr>
              <a:t>음극 분화구 개선</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제조 </a:t>
            </a:r>
            <a:r>
              <a:rPr kumimoji="1" lang="en-US" altLang="ko-KR" sz="900" dirty="0">
                <a:latin typeface="Arial Narrow" panose="020B0606020202030204" pitchFamily="34" charset="0"/>
                <a:ea typeface="LG스마트체 Regular" panose="020B0600000101010101" pitchFamily="50" charset="-127"/>
              </a:rPr>
              <a:t>DX </a:t>
            </a:r>
            <a:r>
              <a:rPr kumimoji="1" lang="ko-KR" altLang="en-US" sz="900" dirty="0">
                <a:latin typeface="Arial Narrow" panose="020B0606020202030204" pitchFamily="34" charset="0"/>
                <a:ea typeface="LG스마트체 Regular" panose="020B0600000101010101" pitchFamily="50" charset="-127"/>
              </a:rPr>
              <a:t>그룹 </a:t>
            </a:r>
            <a:r>
              <a:rPr kumimoji="1" lang="en-US" altLang="ko-KR" sz="900" dirty="0">
                <a:latin typeface="Arial Narrow" panose="020B0606020202030204" pitchFamily="34" charset="0"/>
                <a:ea typeface="LG스마트체 Regular" panose="020B0600000101010101" pitchFamily="50" charset="-127"/>
              </a:rPr>
              <a:t>NG </a:t>
            </a:r>
            <a:r>
              <a:rPr kumimoji="1" lang="ko-KR" altLang="en-US" sz="900" dirty="0">
                <a:latin typeface="Arial Narrow" panose="020B0606020202030204" pitchFamily="34" charset="0"/>
                <a:ea typeface="LG스마트체 Regular" panose="020B0600000101010101" pitchFamily="50" charset="-127"/>
              </a:rPr>
              <a:t>마킹 개선 활동 수평 전개</a:t>
            </a:r>
            <a:br>
              <a:rPr kumimoji="1" lang="en-US" altLang="ko-KR" sz="900" dirty="0">
                <a:latin typeface="Arial Narrow" panose="020B0606020202030204" pitchFamily="34" charset="0"/>
                <a:ea typeface="LG스마트체 Regular" panose="020B0600000101010101" pitchFamily="50" charset="-127"/>
              </a:rPr>
            </a:b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Q-grade </a:t>
            </a:r>
            <a:r>
              <a:rPr kumimoji="1" lang="ko-KR" altLang="en-US" sz="900" dirty="0">
                <a:latin typeface="Arial Narrow" panose="020B0606020202030204" pitchFamily="34" charset="0"/>
                <a:ea typeface="LG스마트체 Regular" panose="020B0600000101010101" pitchFamily="50" charset="-127"/>
              </a:rPr>
              <a:t>개선 </a:t>
            </a:r>
            <a:r>
              <a:rPr kumimoji="1" lang="en-US" altLang="ko-KR" sz="900" dirty="0">
                <a:latin typeface="Arial Narrow" panose="020B0606020202030204" pitchFamily="34" charset="0"/>
                <a:ea typeface="LG스마트체 Regular" panose="020B0600000101010101" pitchFamily="50" charset="-127"/>
              </a:rPr>
              <a:t>: 0.15%p</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(1</a:t>
            </a:r>
            <a:r>
              <a:rPr kumimoji="1" lang="ko-KR" altLang="en-US" sz="900" dirty="0">
                <a:latin typeface="Arial Narrow" panose="020B0606020202030204" pitchFamily="34" charset="0"/>
                <a:ea typeface="LG스마트체 Regular" panose="020B0600000101010101" pitchFamily="50" charset="-127"/>
              </a:rPr>
              <a:t>차 </a:t>
            </a:r>
            <a:r>
              <a:rPr kumimoji="1" lang="en-US" altLang="ko-KR" sz="900" dirty="0">
                <a:latin typeface="Arial Narrow" panose="020B0606020202030204" pitchFamily="34" charset="0"/>
                <a:ea typeface="LG스마트체 Regular" panose="020B0600000101010101" pitchFamily="50" charset="-127"/>
              </a:rPr>
              <a:t>0.22+2</a:t>
            </a:r>
            <a:r>
              <a:rPr kumimoji="1" lang="ko-KR" altLang="en-US" sz="900" dirty="0">
                <a:latin typeface="Arial Narrow" panose="020B0606020202030204" pitchFamily="34" charset="0"/>
                <a:ea typeface="LG스마트체 Regular" panose="020B0600000101010101" pitchFamily="50" charset="-127"/>
              </a:rPr>
              <a:t>차 </a:t>
            </a:r>
            <a:r>
              <a:rPr kumimoji="1" lang="en-US" altLang="ko-KR" sz="900" dirty="0">
                <a:latin typeface="Arial Narrow" panose="020B0606020202030204" pitchFamily="34" charset="0"/>
                <a:ea typeface="LG스마트체 Regular" panose="020B0600000101010101" pitchFamily="50" charset="-127"/>
              </a:rPr>
              <a:t>0.03 = 0.25%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0.10%)</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E77 </a:t>
            </a:r>
            <a:r>
              <a:rPr kumimoji="1" lang="ko-KR" altLang="en-US" sz="900" dirty="0">
                <a:latin typeface="Arial Narrow" panose="020B0606020202030204" pitchFamily="34" charset="0"/>
                <a:ea typeface="LG스마트체 Regular" panose="020B0600000101010101" pitchFamily="50" charset="-127"/>
              </a:rPr>
              <a:t>세파컷팅 </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단변분리막들뜸 개선</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1</a:t>
            </a:r>
            <a:r>
              <a:rPr kumimoji="1" lang="ko-KR" altLang="en-US" sz="900" dirty="0">
                <a:latin typeface="Arial Narrow" panose="020B0606020202030204" pitchFamily="34" charset="0"/>
                <a:ea typeface="LG스마트체 Regular" panose="020B0600000101010101" pitchFamily="50" charset="-127"/>
              </a:rPr>
              <a:t>차 판정 </a:t>
            </a:r>
            <a:r>
              <a:rPr kumimoji="1" lang="en-US" altLang="ko-KR" sz="900" dirty="0">
                <a:latin typeface="Arial Narrow" panose="020B0606020202030204" pitchFamily="34" charset="0"/>
                <a:ea typeface="LG스마트체 Regular" panose="020B0600000101010101" pitchFamily="50" charset="-127"/>
              </a:rPr>
              <a:t>NG </a:t>
            </a:r>
            <a:r>
              <a:rPr kumimoji="1" lang="ko-KR" altLang="en-US" sz="900" dirty="0">
                <a:latin typeface="Arial Narrow" panose="020B0606020202030204" pitchFamily="34" charset="0"/>
                <a:ea typeface="LG스마트체 Regular" panose="020B0600000101010101" pitchFamily="50" charset="-127"/>
              </a:rPr>
              <a:t>대상 전 모델 </a:t>
            </a:r>
            <a:r>
              <a:rPr kumimoji="1" lang="en-US" altLang="ko-KR" sz="900" dirty="0">
                <a:latin typeface="Arial Narrow" panose="020B0606020202030204" pitchFamily="34" charset="0"/>
                <a:ea typeface="LG스마트체 Regular" panose="020B0600000101010101" pitchFamily="50" charset="-127"/>
              </a:rPr>
              <a:t>Daily </a:t>
            </a:r>
            <a:r>
              <a:rPr kumimoji="1" lang="ko-KR" altLang="en-US" sz="900" dirty="0">
                <a:latin typeface="Arial Narrow" panose="020B0606020202030204" pitchFamily="34" charset="0"/>
                <a:ea typeface="LG스마트체 Regular" panose="020B0600000101010101" pitchFamily="50" charset="-127"/>
              </a:rPr>
              <a:t>불량 현황 조기 </a:t>
            </a:r>
            <a:r>
              <a:rPr kumimoji="1" lang="en-US" altLang="ko-KR" sz="900" dirty="0">
                <a:latin typeface="Arial Narrow" panose="020B0606020202030204" pitchFamily="34" charset="0"/>
                <a:ea typeface="LG스마트체 Regular" panose="020B0600000101010101" pitchFamily="50" charset="-127"/>
              </a:rPr>
              <a:t>Warning </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법인 </a:t>
            </a:r>
            <a:r>
              <a:rPr kumimoji="1" lang="en-US" altLang="ko-KR" sz="900" dirty="0">
                <a:latin typeface="Arial Narrow" panose="020B0606020202030204" pitchFamily="34" charset="0"/>
                <a:ea typeface="LG스마트체 Regular" panose="020B0600000101010101" pitchFamily="50" charset="-127"/>
              </a:rPr>
              <a:t>IRS </a:t>
            </a:r>
            <a:r>
              <a:rPr kumimoji="1" lang="ko-KR" altLang="en-US" sz="900" dirty="0">
                <a:latin typeface="Arial Narrow" panose="020B0606020202030204" pitchFamily="34" charset="0"/>
                <a:ea typeface="LG스마트체 Regular" panose="020B0600000101010101" pitchFamily="50" charset="-127"/>
              </a:rPr>
              <a:t>과검 대상 개선 활동</a:t>
            </a:r>
            <a:br>
              <a:rPr kumimoji="1" lang="en-US" altLang="ko-KR" sz="900" dirty="0">
                <a:latin typeface="Arial Narrow" panose="020B0606020202030204" pitchFamily="34" charset="0"/>
                <a:ea typeface="LG스마트체 Regular" panose="020B0600000101010101" pitchFamily="50" charset="-127"/>
              </a:rPr>
            </a:b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라미 위치</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스택 적재</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오버행</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외관 및 치수 개선 </a:t>
            </a:r>
            <a:r>
              <a:rPr kumimoji="1" lang="en-US" altLang="ko-KR" sz="900" dirty="0">
                <a:latin typeface="Arial Narrow" panose="020B0606020202030204" pitchFamily="34" charset="0"/>
                <a:ea typeface="LG스마트체 Regular" panose="020B0600000101010101" pitchFamily="50" charset="-127"/>
              </a:rPr>
              <a:t>: 0.15%p</a:t>
            </a:r>
            <a:r>
              <a:rPr kumimoji="1" lang="ko-KR" altLang="en-US" sz="900" dirty="0">
                <a:latin typeface="Arial Narrow" panose="020B0606020202030204" pitchFamily="34" charset="0"/>
                <a:ea typeface="LG스마트체 Regular" panose="020B0600000101010101" pitchFamily="50" charset="-127"/>
              </a:rPr>
              <a:t>↑</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err="1">
                <a:latin typeface="Arial Narrow" panose="020B0606020202030204" pitchFamily="34" charset="0"/>
                <a:ea typeface="LG스마트체 Regular" panose="020B0600000101010101" pitchFamily="50" charset="-127"/>
              </a:rPr>
              <a:t>라미</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위치 </a:t>
            </a:r>
            <a:r>
              <a:rPr kumimoji="1" lang="en-US" altLang="ko-KR" sz="900" dirty="0">
                <a:latin typeface="Arial Narrow" panose="020B0606020202030204" pitchFamily="34" charset="0"/>
                <a:ea typeface="LG스마트체 Regular" panose="020B0600000101010101" pitchFamily="50" charset="-127"/>
              </a:rPr>
              <a:t>0.23%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0.18%,</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err="1">
                <a:latin typeface="Arial Narrow" panose="020B0606020202030204" pitchFamily="34" charset="0"/>
                <a:ea typeface="LG스마트체 Regular" panose="020B0600000101010101" pitchFamily="50" charset="-127"/>
              </a:rPr>
              <a:t>스택킹</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적재 </a:t>
            </a:r>
            <a:r>
              <a:rPr kumimoji="1" lang="en-US" altLang="ko-KR" sz="900" dirty="0">
                <a:latin typeface="Arial Narrow" panose="020B0606020202030204" pitchFamily="34" charset="0"/>
                <a:ea typeface="LG스마트체 Regular" panose="020B0600000101010101" pitchFamily="50" charset="-127"/>
              </a:rPr>
              <a:t>0.08 + </a:t>
            </a:r>
            <a:r>
              <a:rPr kumimoji="1" lang="ko-KR" altLang="en-US" sz="900" dirty="0" err="1">
                <a:latin typeface="Arial Narrow" panose="020B0606020202030204" pitchFamily="34" charset="0"/>
                <a:ea typeface="LG스마트체 Regular" panose="020B0600000101010101" pitchFamily="50" charset="-127"/>
              </a:rPr>
              <a:t>오버행</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0.07 + </a:t>
            </a:r>
            <a:r>
              <a:rPr kumimoji="1" lang="ko-KR" altLang="en-US" sz="900" dirty="0">
                <a:latin typeface="Arial Narrow" panose="020B0606020202030204" pitchFamily="34" charset="0"/>
                <a:ea typeface="LG스마트체 Regular" panose="020B0600000101010101" pitchFamily="50" charset="-127"/>
              </a:rPr>
              <a:t>외관 </a:t>
            </a:r>
            <a:r>
              <a:rPr kumimoji="1" lang="en-US" altLang="ko-KR" sz="900" dirty="0">
                <a:latin typeface="Arial Narrow" panose="020B0606020202030204" pitchFamily="34" charset="0"/>
                <a:ea typeface="LG스마트체 Regular" panose="020B0600000101010101" pitchFamily="50" charset="-127"/>
              </a:rPr>
              <a:t>0.06 + </a:t>
            </a:r>
            <a:r>
              <a:rPr kumimoji="1" lang="ko-KR" altLang="en-US" sz="900" dirty="0">
                <a:latin typeface="Arial Narrow" panose="020B0606020202030204" pitchFamily="34" charset="0"/>
                <a:ea typeface="LG스마트체 Regular" panose="020B0600000101010101" pitchFamily="50" charset="-127"/>
              </a:rPr>
              <a:t>치수 </a:t>
            </a:r>
            <a:r>
              <a:rPr kumimoji="1" lang="en-US" altLang="ko-KR" sz="900" dirty="0">
                <a:latin typeface="Arial Narrow" panose="020B0606020202030204" pitchFamily="34" charset="0"/>
                <a:ea typeface="LG스마트체 Regular" panose="020B0600000101010101" pitchFamily="50" charset="-127"/>
              </a:rPr>
              <a:t>0.05) 0.26%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0.16%</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Table, Gripper, Pitch C/V </a:t>
            </a:r>
            <a:r>
              <a:rPr kumimoji="1" lang="ko-KR" altLang="en-US" sz="900" dirty="0">
                <a:latin typeface="Arial Narrow" panose="020B0606020202030204" pitchFamily="34" charset="0"/>
                <a:ea typeface="LG스마트체 Regular" panose="020B0600000101010101" pitchFamily="50" charset="-127"/>
              </a:rPr>
              <a:t>등 주요 </a:t>
            </a:r>
            <a:r>
              <a:rPr kumimoji="1" lang="en-US" altLang="ko-KR" sz="900" dirty="0">
                <a:latin typeface="Arial Narrow" panose="020B0606020202030204" pitchFamily="34" charset="0"/>
                <a:ea typeface="LG스마트체 Regular" panose="020B0600000101010101" pitchFamily="50" charset="-127"/>
              </a:rPr>
              <a:t>IP </a:t>
            </a:r>
            <a:r>
              <a:rPr kumimoji="1" lang="ko-KR" altLang="en-US" sz="900" dirty="0">
                <a:latin typeface="Arial Narrow" panose="020B0606020202030204" pitchFamily="34" charset="0"/>
                <a:ea typeface="LG스마트체 Regular" panose="020B0600000101010101" pitchFamily="50" charset="-127"/>
              </a:rPr>
              <a:t>경로 분석</a:t>
            </a:r>
            <a:br>
              <a:rPr kumimoji="1" lang="en-US" altLang="ko-KR" sz="900" dirty="0">
                <a:latin typeface="Arial Narrow" panose="020B0606020202030204" pitchFamily="34" charset="0"/>
                <a:ea typeface="LG스마트체 Regular" panose="020B0600000101010101" pitchFamily="50" charset="-127"/>
              </a:rPr>
            </a:b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모노세파외관 개선 </a:t>
            </a:r>
            <a:r>
              <a:rPr kumimoji="1" lang="en-US" altLang="ko-KR" sz="900" dirty="0">
                <a:latin typeface="Arial Narrow" panose="020B0606020202030204" pitchFamily="34" charset="0"/>
                <a:ea typeface="LG스마트체 Regular" panose="020B0600000101010101" pitchFamily="50" charset="-127"/>
              </a:rPr>
              <a:t>: 0.10%p</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(0.39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0.29%)</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주기성 불량 개선 활동 진행 예정</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법인 라미세파비전 설치 필요하나</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생산량 이슈로 설치 지연</a:t>
            </a:r>
          </a:p>
        </p:txBody>
      </p:sp>
      <p:sp>
        <p:nvSpPr>
          <p:cNvPr id="8" name="직사각형 7">
            <a:extLst>
              <a:ext uri="{FF2B5EF4-FFF2-40B4-BE49-F238E27FC236}">
                <a16:creationId xmlns:a16="http://schemas.microsoft.com/office/drawing/2014/main" id="{804BC7DD-99AF-3953-BAB8-16C34DAEA566}"/>
              </a:ext>
            </a:extLst>
          </p:cNvPr>
          <p:cNvSpPr/>
          <p:nvPr/>
        </p:nvSpPr>
        <p:spPr>
          <a:xfrm>
            <a:off x="5647976" y="2377755"/>
            <a:ext cx="516157" cy="499146"/>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ko-KR" altLang="en-US" sz="900" dirty="0">
                <a:solidFill>
                  <a:schemeClr val="tx1"/>
                </a:solidFill>
                <a:latin typeface="Arial Narrow" panose="020B0606020202030204" pitchFamily="34" charset="0"/>
                <a:ea typeface="LG스마트체 Regular" panose="020B0600000101010101" pitchFamily="50" charset="-127"/>
              </a:rPr>
              <a:t>셀</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ko-KR" altLang="en-US" sz="900" dirty="0">
                <a:solidFill>
                  <a:schemeClr val="tx1"/>
                </a:solidFill>
                <a:latin typeface="Arial Narrow" panose="020B0606020202030204" pitchFamily="34" charset="0"/>
                <a:ea typeface="LG스마트체 Regular" panose="020B0600000101010101" pitchFamily="50" charset="-127"/>
              </a:rPr>
              <a:t>수율</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en-US" altLang="ko-KR" sz="900" dirty="0">
                <a:solidFill>
                  <a:schemeClr val="tx1"/>
                </a:solidFill>
                <a:latin typeface="Arial Narrow" panose="020B0606020202030204" pitchFamily="34" charset="0"/>
                <a:ea typeface="LG스마트체 Regular" panose="020B0600000101010101" pitchFamily="50" charset="-127"/>
              </a:rPr>
              <a:t>96.0%</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11" name="직사각형 10">
            <a:extLst>
              <a:ext uri="{FF2B5EF4-FFF2-40B4-BE49-F238E27FC236}">
                <a16:creationId xmlns:a16="http://schemas.microsoft.com/office/drawing/2014/main" id="{F308ADEF-B634-AC35-9871-FA9E373A8B06}"/>
              </a:ext>
            </a:extLst>
          </p:cNvPr>
          <p:cNvSpPr/>
          <p:nvPr/>
        </p:nvSpPr>
        <p:spPr>
          <a:xfrm>
            <a:off x="8767420" y="1324146"/>
            <a:ext cx="516157" cy="1552756"/>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ko-KR" altLang="en-US" sz="900" dirty="0">
                <a:solidFill>
                  <a:schemeClr val="tx1"/>
                </a:solidFill>
                <a:latin typeface="Arial Narrow" panose="020B0606020202030204" pitchFamily="34" charset="0"/>
                <a:ea typeface="LG스마트체 Regular" panose="020B0600000101010101" pitchFamily="50" charset="-127"/>
              </a:rPr>
              <a:t>셀</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ko-KR" altLang="en-US" sz="900" dirty="0">
                <a:solidFill>
                  <a:schemeClr val="tx1"/>
                </a:solidFill>
                <a:latin typeface="Arial Narrow" panose="020B0606020202030204" pitchFamily="34" charset="0"/>
                <a:ea typeface="LG스마트체 Regular" panose="020B0600000101010101" pitchFamily="50" charset="-127"/>
              </a:rPr>
              <a:t>수율</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en-US" altLang="ko-KR" sz="900" dirty="0">
                <a:solidFill>
                  <a:schemeClr val="tx1"/>
                </a:solidFill>
                <a:latin typeface="Arial Narrow" panose="020B0606020202030204" pitchFamily="34" charset="0"/>
                <a:ea typeface="LG스마트체 Regular" panose="020B0600000101010101" pitchFamily="50" charset="-127"/>
              </a:rPr>
              <a:t>97.4%</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12" name="TextBox 11">
            <a:extLst>
              <a:ext uri="{FF2B5EF4-FFF2-40B4-BE49-F238E27FC236}">
                <a16:creationId xmlns:a16="http://schemas.microsoft.com/office/drawing/2014/main" id="{02631F0C-9A32-8779-EF6C-6EE2F51B5E12}"/>
              </a:ext>
            </a:extLst>
          </p:cNvPr>
          <p:cNvSpPr txBox="1"/>
          <p:nvPr/>
        </p:nvSpPr>
        <p:spPr>
          <a:xfrm>
            <a:off x="6781220" y="2480193"/>
            <a:ext cx="987771" cy="276999"/>
          </a:xfrm>
          <a:prstGeom prst="rect">
            <a:avLst/>
          </a:prstGeom>
          <a:noFill/>
        </p:spPr>
        <p:txBody>
          <a:bodyPr wrap="none" rtlCol="0">
            <a:spAutoFit/>
          </a:bodyPr>
          <a:lstStyle/>
          <a:p>
            <a:r>
              <a:rPr kumimoji="1" lang="ko-KR" altLang="en-US" sz="1200" b="1" dirty="0">
                <a:latin typeface="Arial Narrow" panose="020B0606020202030204" pitchFamily="34" charset="0"/>
                <a:ea typeface="LG스마트체 Regular" panose="020B0600000101010101" pitchFamily="50" charset="-127"/>
              </a:rPr>
              <a:t>총 합 </a:t>
            </a:r>
            <a:r>
              <a:rPr kumimoji="1" lang="en-US" altLang="ko-KR" sz="1200" b="1" dirty="0">
                <a:latin typeface="Arial Narrow" panose="020B0606020202030204" pitchFamily="34" charset="0"/>
                <a:ea typeface="LG스마트체 Regular" panose="020B0600000101010101" pitchFamily="50" charset="-127"/>
              </a:rPr>
              <a:t>1.4% </a:t>
            </a:r>
            <a:r>
              <a:rPr kumimoji="1" lang="ko-KR" altLang="en-US" sz="1200" b="1" dirty="0">
                <a:latin typeface="Arial Narrow" panose="020B0606020202030204" pitchFamily="34" charset="0"/>
                <a:ea typeface="LG스마트체 Regular" panose="020B0600000101010101" pitchFamily="50" charset="-127"/>
              </a:rPr>
              <a:t>▲</a:t>
            </a:r>
          </a:p>
        </p:txBody>
      </p:sp>
      <p:sp>
        <p:nvSpPr>
          <p:cNvPr id="18" name="TextBox 17">
            <a:extLst>
              <a:ext uri="{FF2B5EF4-FFF2-40B4-BE49-F238E27FC236}">
                <a16:creationId xmlns:a16="http://schemas.microsoft.com/office/drawing/2014/main" id="{0114F6F5-7D35-371E-171D-A51101BCF850}"/>
              </a:ext>
            </a:extLst>
          </p:cNvPr>
          <p:cNvSpPr txBox="1"/>
          <p:nvPr/>
        </p:nvSpPr>
        <p:spPr>
          <a:xfrm>
            <a:off x="5635105" y="2902788"/>
            <a:ext cx="570990" cy="200068"/>
          </a:xfrm>
          <a:prstGeom prst="rect">
            <a:avLst/>
          </a:prstGeom>
          <a:noFill/>
        </p:spPr>
        <p:txBody>
          <a:bodyPr wrap="none" rtlCol="0">
            <a:spAutoFit/>
          </a:bodyPr>
          <a:lstStyle/>
          <a:p>
            <a:pPr algn="ctr"/>
            <a:r>
              <a:rPr kumimoji="1" lang="en-US" altLang="ko-KR" sz="900" dirty="0">
                <a:latin typeface="Arial Narrow" panose="020B0606020202030204" pitchFamily="34" charset="0"/>
                <a:ea typeface="LG스마트체 Regular" panose="020B0600000101010101" pitchFamily="50" charset="-127"/>
              </a:rPr>
              <a:t>8</a:t>
            </a:r>
            <a:r>
              <a:rPr kumimoji="1" lang="ko-KR" altLang="en-US" sz="900" dirty="0">
                <a:latin typeface="Arial Narrow" panose="020B0606020202030204" pitchFamily="34" charset="0"/>
                <a:ea typeface="LG스마트체 Regular" panose="020B0600000101010101" pitchFamily="50" charset="-127"/>
              </a:rPr>
              <a:t>월 실적</a:t>
            </a:r>
          </a:p>
        </p:txBody>
      </p:sp>
      <p:sp>
        <p:nvSpPr>
          <p:cNvPr id="19" name="TextBox 18">
            <a:extLst>
              <a:ext uri="{FF2B5EF4-FFF2-40B4-BE49-F238E27FC236}">
                <a16:creationId xmlns:a16="http://schemas.microsoft.com/office/drawing/2014/main" id="{3D415A5F-F065-2E74-BCEF-5E4FC22169EF}"/>
              </a:ext>
            </a:extLst>
          </p:cNvPr>
          <p:cNvSpPr txBox="1"/>
          <p:nvPr/>
        </p:nvSpPr>
        <p:spPr>
          <a:xfrm>
            <a:off x="8740003" y="2902788"/>
            <a:ext cx="570990" cy="200068"/>
          </a:xfrm>
          <a:prstGeom prst="rect">
            <a:avLst/>
          </a:prstGeom>
          <a:noFill/>
        </p:spPr>
        <p:txBody>
          <a:bodyPr wrap="none" rtlCol="0">
            <a:spAutoFit/>
          </a:bodyPr>
          <a:lstStyle/>
          <a:p>
            <a:pPr algn="ctr"/>
            <a:r>
              <a:rPr kumimoji="1" lang="en-US" altLang="ko-KR" sz="900" dirty="0">
                <a:latin typeface="Arial Narrow" panose="020B0606020202030204" pitchFamily="34" charset="0"/>
                <a:ea typeface="LG스마트체 Regular" panose="020B0600000101010101" pitchFamily="50" charset="-127"/>
              </a:rPr>
              <a:t>9</a:t>
            </a:r>
            <a:r>
              <a:rPr kumimoji="1" lang="ko-KR" altLang="en-US" sz="900" dirty="0">
                <a:latin typeface="Arial Narrow" panose="020B0606020202030204" pitchFamily="34" charset="0"/>
                <a:ea typeface="LG스마트체 Regular" panose="020B0600000101010101" pitchFamily="50" charset="-127"/>
              </a:rPr>
              <a:t>월 목표</a:t>
            </a:r>
          </a:p>
        </p:txBody>
      </p:sp>
      <p:sp>
        <p:nvSpPr>
          <p:cNvPr id="20" name="직사각형 19">
            <a:extLst>
              <a:ext uri="{FF2B5EF4-FFF2-40B4-BE49-F238E27FC236}">
                <a16:creationId xmlns:a16="http://schemas.microsoft.com/office/drawing/2014/main" id="{97ACE6DE-E2D1-BDC6-5470-68E142BD3733}"/>
              </a:ext>
            </a:extLst>
          </p:cNvPr>
          <p:cNvSpPr/>
          <p:nvPr/>
        </p:nvSpPr>
        <p:spPr>
          <a:xfrm>
            <a:off x="6165035" y="1850085"/>
            <a:ext cx="516157" cy="52767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0.7%</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3" name="직사각형 22">
            <a:extLst>
              <a:ext uri="{FF2B5EF4-FFF2-40B4-BE49-F238E27FC236}">
                <a16:creationId xmlns:a16="http://schemas.microsoft.com/office/drawing/2014/main" id="{2BCEE2C5-2D68-3F8F-701E-856EB9CEF973}"/>
              </a:ext>
            </a:extLst>
          </p:cNvPr>
          <p:cNvSpPr/>
          <p:nvPr/>
        </p:nvSpPr>
        <p:spPr>
          <a:xfrm>
            <a:off x="6688755" y="1623940"/>
            <a:ext cx="516157" cy="226144"/>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0.3%</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4" name="직사각형 23">
            <a:extLst>
              <a:ext uri="{FF2B5EF4-FFF2-40B4-BE49-F238E27FC236}">
                <a16:creationId xmlns:a16="http://schemas.microsoft.com/office/drawing/2014/main" id="{A3A76B4C-4B50-28F3-A385-6468FF11A48D}"/>
              </a:ext>
            </a:extLst>
          </p:cNvPr>
          <p:cNvSpPr/>
          <p:nvPr/>
        </p:nvSpPr>
        <p:spPr>
          <a:xfrm>
            <a:off x="7213503" y="1510868"/>
            <a:ext cx="516157" cy="113073"/>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0.15%</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5" name="직사각형 24">
            <a:extLst>
              <a:ext uri="{FF2B5EF4-FFF2-40B4-BE49-F238E27FC236}">
                <a16:creationId xmlns:a16="http://schemas.microsoft.com/office/drawing/2014/main" id="{21FF0F12-8A81-E286-F18C-F9189A3A51BC}"/>
              </a:ext>
            </a:extLst>
          </p:cNvPr>
          <p:cNvSpPr/>
          <p:nvPr/>
        </p:nvSpPr>
        <p:spPr>
          <a:xfrm>
            <a:off x="8250083" y="1324146"/>
            <a:ext cx="516157" cy="7538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0.10%</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7" name="직사각형 26">
            <a:extLst>
              <a:ext uri="{FF2B5EF4-FFF2-40B4-BE49-F238E27FC236}">
                <a16:creationId xmlns:a16="http://schemas.microsoft.com/office/drawing/2014/main" id="{1AEF6622-065E-B4D9-9F7B-A2B71F519AD2}"/>
              </a:ext>
            </a:extLst>
          </p:cNvPr>
          <p:cNvSpPr/>
          <p:nvPr/>
        </p:nvSpPr>
        <p:spPr>
          <a:xfrm>
            <a:off x="7723725" y="1399329"/>
            <a:ext cx="516157" cy="113073"/>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0.15%</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9" name="TextBox 28">
            <a:extLst>
              <a:ext uri="{FF2B5EF4-FFF2-40B4-BE49-F238E27FC236}">
                <a16:creationId xmlns:a16="http://schemas.microsoft.com/office/drawing/2014/main" id="{634BBB09-0DBC-16A7-A217-B966FBB4CA13}"/>
              </a:ext>
            </a:extLst>
          </p:cNvPr>
          <p:cNvSpPr txBox="1"/>
          <p:nvPr/>
        </p:nvSpPr>
        <p:spPr>
          <a:xfrm>
            <a:off x="6231702" y="2379594"/>
            <a:ext cx="389850" cy="320111"/>
          </a:xfrm>
          <a:prstGeom prst="rect">
            <a:avLst/>
          </a:prstGeom>
          <a:noFill/>
        </p:spPr>
        <p:txBody>
          <a:bodyPr wrap="none" rtlCol="0" anchor="ctr">
            <a:spAutoFit/>
          </a:bodyPr>
          <a:lstStyle/>
          <a:p>
            <a:pPr algn="ctr"/>
            <a:r>
              <a:rPr kumimoji="1" lang="ko-KR" altLang="en-US" sz="900" dirty="0">
                <a:latin typeface="Arial Narrow" panose="020B0606020202030204" pitchFamily="34" charset="0"/>
                <a:ea typeface="LG스마트체 Regular" panose="020B0600000101010101" pitchFamily="50" charset="-127"/>
              </a:rPr>
              <a:t>법인</a:t>
            </a:r>
            <a:br>
              <a:rPr kumimoji="1" lang="en-US" altLang="ko-KR" sz="900" dirty="0">
                <a:latin typeface="Arial Narrow" panose="020B0606020202030204" pitchFamily="34" charset="0"/>
                <a:ea typeface="LG스마트체 Regular" panose="020B0600000101010101" pitchFamily="50" charset="-127"/>
              </a:rPr>
            </a:br>
            <a:r>
              <a:rPr kumimoji="1" lang="ko-KR" altLang="en-US" sz="900" dirty="0">
                <a:latin typeface="Arial Narrow" panose="020B0606020202030204" pitchFamily="34" charset="0"/>
                <a:ea typeface="LG스마트체 Regular" panose="020B0600000101010101" pitchFamily="50" charset="-127"/>
              </a:rPr>
              <a:t>개선</a:t>
            </a:r>
          </a:p>
        </p:txBody>
      </p:sp>
      <p:sp>
        <p:nvSpPr>
          <p:cNvPr id="31" name="TextBox 30">
            <a:extLst>
              <a:ext uri="{FF2B5EF4-FFF2-40B4-BE49-F238E27FC236}">
                <a16:creationId xmlns:a16="http://schemas.microsoft.com/office/drawing/2014/main" id="{AF3AE144-BBEF-0C3C-E91C-5D532D9EC6FA}"/>
              </a:ext>
            </a:extLst>
          </p:cNvPr>
          <p:cNvSpPr txBox="1"/>
          <p:nvPr/>
        </p:nvSpPr>
        <p:spPr>
          <a:xfrm>
            <a:off x="6745412" y="1844944"/>
            <a:ext cx="389850" cy="320111"/>
          </a:xfrm>
          <a:prstGeom prst="rect">
            <a:avLst/>
          </a:prstGeom>
          <a:noFill/>
        </p:spPr>
        <p:txBody>
          <a:bodyPr wrap="none" rtlCol="0" anchor="ctr">
            <a:spAutoFit/>
          </a:bodyPr>
          <a:lstStyle/>
          <a:p>
            <a:pPr algn="ctr"/>
            <a:r>
              <a:rPr kumimoji="1" lang="en-US" altLang="ko-KR" sz="900" dirty="0">
                <a:latin typeface="Arial Narrow" panose="020B0606020202030204" pitchFamily="34" charset="0"/>
                <a:ea typeface="LG스마트체 Regular" panose="020B0600000101010101" pitchFamily="50" charset="-127"/>
              </a:rPr>
              <a:t>NG</a:t>
            </a:r>
            <a:br>
              <a:rPr kumimoji="1" lang="en-US" altLang="ko-KR" sz="900" dirty="0">
                <a:latin typeface="Arial Narrow" panose="020B0606020202030204" pitchFamily="34" charset="0"/>
                <a:ea typeface="LG스마트체 Regular" panose="020B0600000101010101" pitchFamily="50" charset="-127"/>
              </a:rPr>
            </a:br>
            <a:r>
              <a:rPr kumimoji="1" lang="ko-KR" altLang="en-US" sz="900" dirty="0">
                <a:latin typeface="Arial Narrow" panose="020B0606020202030204" pitchFamily="34" charset="0"/>
                <a:ea typeface="LG스마트체 Regular" panose="020B0600000101010101" pitchFamily="50" charset="-127"/>
              </a:rPr>
              <a:t>마킹</a:t>
            </a:r>
          </a:p>
        </p:txBody>
      </p:sp>
      <p:sp>
        <p:nvSpPr>
          <p:cNvPr id="32" name="TextBox 31">
            <a:extLst>
              <a:ext uri="{FF2B5EF4-FFF2-40B4-BE49-F238E27FC236}">
                <a16:creationId xmlns:a16="http://schemas.microsoft.com/office/drawing/2014/main" id="{D5819F04-2DAD-9A27-778E-3137E01271A0}"/>
              </a:ext>
            </a:extLst>
          </p:cNvPr>
          <p:cNvSpPr txBox="1"/>
          <p:nvPr/>
        </p:nvSpPr>
        <p:spPr>
          <a:xfrm>
            <a:off x="7198544" y="1691279"/>
            <a:ext cx="534122" cy="200068"/>
          </a:xfrm>
          <a:prstGeom prst="rect">
            <a:avLst/>
          </a:prstGeom>
          <a:noFill/>
        </p:spPr>
        <p:txBody>
          <a:bodyPr wrap="none" rtlCol="0" anchor="ctr">
            <a:spAutoFit/>
          </a:bodyPr>
          <a:lstStyle/>
          <a:p>
            <a:pPr algn="ctr"/>
            <a:r>
              <a:rPr kumimoji="1" lang="en-US" altLang="ko-KR" sz="900" dirty="0">
                <a:latin typeface="Arial Narrow" panose="020B0606020202030204" pitchFamily="34" charset="0"/>
                <a:ea typeface="LG스마트체 Regular" panose="020B0600000101010101" pitchFamily="50" charset="-127"/>
              </a:rPr>
              <a:t>Q-grade</a:t>
            </a:r>
            <a:endParaRPr kumimoji="1" lang="ko-KR" altLang="en-US" sz="900" dirty="0">
              <a:latin typeface="Arial Narrow" panose="020B0606020202030204" pitchFamily="34" charset="0"/>
              <a:ea typeface="LG스마트체 Regular" panose="020B0600000101010101" pitchFamily="50" charset="-127"/>
            </a:endParaRPr>
          </a:p>
        </p:txBody>
      </p:sp>
      <p:sp>
        <p:nvSpPr>
          <p:cNvPr id="33" name="TextBox 32">
            <a:extLst>
              <a:ext uri="{FF2B5EF4-FFF2-40B4-BE49-F238E27FC236}">
                <a16:creationId xmlns:a16="http://schemas.microsoft.com/office/drawing/2014/main" id="{DE0FCEAB-B212-2E13-66C5-E042FA6EB96C}"/>
              </a:ext>
            </a:extLst>
          </p:cNvPr>
          <p:cNvSpPr txBox="1"/>
          <p:nvPr/>
        </p:nvSpPr>
        <p:spPr>
          <a:xfrm>
            <a:off x="7715616" y="1514363"/>
            <a:ext cx="518092" cy="200068"/>
          </a:xfrm>
          <a:prstGeom prst="rect">
            <a:avLst/>
          </a:prstGeom>
          <a:noFill/>
        </p:spPr>
        <p:txBody>
          <a:bodyPr wrap="none" rtlCol="0" anchor="ctr">
            <a:spAutoFit/>
          </a:bodyPr>
          <a:lstStyle/>
          <a:p>
            <a:pPr algn="ctr"/>
            <a:r>
              <a:rPr kumimoji="1" lang="ko-KR" altLang="en-US" sz="900" dirty="0">
                <a:latin typeface="Arial Narrow" panose="020B0606020202030204" pitchFamily="34" charset="0"/>
                <a:ea typeface="LG스마트체 Regular" panose="020B0600000101010101" pitchFamily="50" charset="-127"/>
              </a:rPr>
              <a:t>위치 등</a:t>
            </a:r>
          </a:p>
        </p:txBody>
      </p:sp>
      <p:sp>
        <p:nvSpPr>
          <p:cNvPr id="34" name="TextBox 33">
            <a:extLst>
              <a:ext uri="{FF2B5EF4-FFF2-40B4-BE49-F238E27FC236}">
                <a16:creationId xmlns:a16="http://schemas.microsoft.com/office/drawing/2014/main" id="{CAD9FEC3-3AC1-1E14-D1E7-0DB523976122}"/>
              </a:ext>
            </a:extLst>
          </p:cNvPr>
          <p:cNvSpPr txBox="1"/>
          <p:nvPr/>
        </p:nvSpPr>
        <p:spPr>
          <a:xfrm>
            <a:off x="8300867" y="1436004"/>
            <a:ext cx="389850" cy="440151"/>
          </a:xfrm>
          <a:prstGeom prst="rect">
            <a:avLst/>
          </a:prstGeom>
          <a:noFill/>
        </p:spPr>
        <p:txBody>
          <a:bodyPr wrap="none" rtlCol="0" anchor="ctr">
            <a:spAutoFit/>
          </a:bodyPr>
          <a:lstStyle/>
          <a:p>
            <a:pPr algn="ctr"/>
            <a:r>
              <a:rPr kumimoji="1" lang="ko-KR" altLang="en-US" sz="900" dirty="0">
                <a:latin typeface="Arial Narrow" panose="020B0606020202030204" pitchFamily="34" charset="0"/>
                <a:ea typeface="LG스마트체 Regular" panose="020B0600000101010101" pitchFamily="50" charset="-127"/>
              </a:rPr>
              <a:t>모노</a:t>
            </a:r>
            <a:br>
              <a:rPr kumimoji="1" lang="en-US" altLang="ko-KR" sz="900" dirty="0">
                <a:latin typeface="Arial Narrow" panose="020B0606020202030204" pitchFamily="34" charset="0"/>
                <a:ea typeface="LG스마트체 Regular" panose="020B0600000101010101" pitchFamily="50" charset="-127"/>
              </a:rPr>
            </a:br>
            <a:r>
              <a:rPr kumimoji="1" lang="ko-KR" altLang="en-US" sz="900" dirty="0">
                <a:latin typeface="Arial Narrow" panose="020B0606020202030204" pitchFamily="34" charset="0"/>
                <a:ea typeface="LG스마트체 Regular" panose="020B0600000101010101" pitchFamily="50" charset="-127"/>
              </a:rPr>
              <a:t>세파</a:t>
            </a:r>
            <a:br>
              <a:rPr kumimoji="1" lang="en-US" altLang="ko-KR" sz="900" dirty="0">
                <a:latin typeface="Arial Narrow" panose="020B0606020202030204" pitchFamily="34" charset="0"/>
                <a:ea typeface="LG스마트체 Regular" panose="020B0600000101010101" pitchFamily="50" charset="-127"/>
              </a:rPr>
            </a:br>
            <a:r>
              <a:rPr kumimoji="1" lang="ko-KR" altLang="en-US" sz="900" dirty="0">
                <a:latin typeface="Arial Narrow" panose="020B0606020202030204" pitchFamily="34" charset="0"/>
                <a:ea typeface="LG스마트체 Regular" panose="020B0600000101010101" pitchFamily="50" charset="-127"/>
              </a:rPr>
              <a:t>외관</a:t>
            </a:r>
          </a:p>
        </p:txBody>
      </p:sp>
      <p:cxnSp>
        <p:nvCxnSpPr>
          <p:cNvPr id="35" name="직선 연결선 34">
            <a:extLst>
              <a:ext uri="{FF2B5EF4-FFF2-40B4-BE49-F238E27FC236}">
                <a16:creationId xmlns:a16="http://schemas.microsoft.com/office/drawing/2014/main" id="{77C36E35-DE6F-51B4-9EDD-42F800A630FE}"/>
              </a:ext>
            </a:extLst>
          </p:cNvPr>
          <p:cNvCxnSpPr>
            <a:cxnSpLocks/>
          </p:cNvCxnSpPr>
          <p:nvPr/>
        </p:nvCxnSpPr>
        <p:spPr>
          <a:xfrm flipH="1">
            <a:off x="5503492" y="3154700"/>
            <a:ext cx="3876340"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7" name="실행 단추: 앞으로 또는 다음으로 이동 36">
            <a:hlinkClick r:id="rId3" action="ppaction://hlinksldjump" highlightClick="1"/>
            <a:extLst>
              <a:ext uri="{FF2B5EF4-FFF2-40B4-BE49-F238E27FC236}">
                <a16:creationId xmlns:a16="http://schemas.microsoft.com/office/drawing/2014/main" id="{0DDCA5B9-12F2-A958-A08C-6E72C2B17C7D}"/>
              </a:ext>
            </a:extLst>
          </p:cNvPr>
          <p:cNvSpPr/>
          <p:nvPr/>
        </p:nvSpPr>
        <p:spPr>
          <a:xfrm>
            <a:off x="6791020" y="4119972"/>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dirty="0">
              <a:latin typeface="Arial Narrow" panose="020B0606020202030204" pitchFamily="34" charset="0"/>
            </a:endParaRPr>
          </a:p>
        </p:txBody>
      </p:sp>
      <p:sp>
        <p:nvSpPr>
          <p:cNvPr id="38" name="실행 단추: 앞으로 또는 다음으로 이동 37">
            <a:hlinkClick r:id="rId4" action="ppaction://hlinksldjump" highlightClick="1"/>
            <a:extLst>
              <a:ext uri="{FF2B5EF4-FFF2-40B4-BE49-F238E27FC236}">
                <a16:creationId xmlns:a16="http://schemas.microsoft.com/office/drawing/2014/main" id="{7F938B49-4D5C-DD2E-CE4F-74B71B6A1D8C}"/>
              </a:ext>
            </a:extLst>
          </p:cNvPr>
          <p:cNvSpPr/>
          <p:nvPr/>
        </p:nvSpPr>
        <p:spPr>
          <a:xfrm>
            <a:off x="8231024" y="4813740"/>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dirty="0">
              <a:latin typeface="Arial Narrow" panose="020B0606020202030204" pitchFamily="34" charset="0"/>
            </a:endParaRPr>
          </a:p>
        </p:txBody>
      </p:sp>
      <p:sp>
        <p:nvSpPr>
          <p:cNvPr id="39" name="실행 단추: 앞으로 또는 다음으로 이동 38">
            <a:hlinkClick r:id="rId5" action="ppaction://hlinksldjump" highlightClick="1"/>
            <a:extLst>
              <a:ext uri="{FF2B5EF4-FFF2-40B4-BE49-F238E27FC236}">
                <a16:creationId xmlns:a16="http://schemas.microsoft.com/office/drawing/2014/main" id="{F4387419-7E76-0002-4269-7E288DCCA3E7}"/>
              </a:ext>
            </a:extLst>
          </p:cNvPr>
          <p:cNvSpPr/>
          <p:nvPr/>
        </p:nvSpPr>
        <p:spPr>
          <a:xfrm>
            <a:off x="7820123" y="5638096"/>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dirty="0">
              <a:latin typeface="Arial Narrow" panose="020B0606020202030204" pitchFamily="34" charset="0"/>
            </a:endParaRPr>
          </a:p>
        </p:txBody>
      </p:sp>
      <p:sp>
        <p:nvSpPr>
          <p:cNvPr id="40" name="TextBox 94">
            <a:extLst>
              <a:ext uri="{FF2B5EF4-FFF2-40B4-BE49-F238E27FC236}">
                <a16:creationId xmlns:a16="http://schemas.microsoft.com/office/drawing/2014/main" id="{BEBEF3DB-3542-9F36-B984-46E053AAB132}"/>
              </a:ext>
            </a:extLst>
          </p:cNvPr>
          <p:cNvSpPr txBox="1"/>
          <p:nvPr/>
        </p:nvSpPr>
        <p:spPr>
          <a:xfrm>
            <a:off x="6365328" y="1032321"/>
            <a:ext cx="2081321" cy="274143"/>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904982"/>
            <a:r>
              <a:rPr lang="en-US" altLang="ko-KR" sz="1188" b="1" dirty="0">
                <a:solidFill>
                  <a:prstClr val="black"/>
                </a:solidFill>
                <a:latin typeface="Arial Narrow" panose="020B0606020202030204" pitchFamily="34" charset="0"/>
                <a:ea typeface="LG스마트체 Regular" panose="020B0600000101010101" pitchFamily="50" charset="-127"/>
              </a:rPr>
              <a:t>Catch up </a:t>
            </a:r>
            <a:r>
              <a:rPr lang="ko-KR" altLang="en-US" sz="1188" b="1" dirty="0">
                <a:solidFill>
                  <a:prstClr val="black"/>
                </a:solidFill>
                <a:latin typeface="Arial Narrow" panose="020B0606020202030204" pitchFamily="34" charset="0"/>
                <a:ea typeface="LG스마트체 Regular" panose="020B0600000101010101" pitchFamily="50" charset="-127"/>
              </a:rPr>
              <a:t>방안</a:t>
            </a:r>
          </a:p>
        </p:txBody>
      </p:sp>
      <p:cxnSp>
        <p:nvCxnSpPr>
          <p:cNvPr id="41" name="직선 연결선 40">
            <a:extLst>
              <a:ext uri="{FF2B5EF4-FFF2-40B4-BE49-F238E27FC236}">
                <a16:creationId xmlns:a16="http://schemas.microsoft.com/office/drawing/2014/main" id="{E884C940-DC92-15C1-210B-D5A86A864AF5}"/>
              </a:ext>
            </a:extLst>
          </p:cNvPr>
          <p:cNvCxnSpPr>
            <a:cxnSpLocks/>
          </p:cNvCxnSpPr>
          <p:nvPr/>
        </p:nvCxnSpPr>
        <p:spPr>
          <a:xfrm>
            <a:off x="5495267" y="1275317"/>
            <a:ext cx="3884565" cy="0"/>
          </a:xfrm>
          <a:prstGeom prst="line">
            <a:avLst/>
          </a:prstGeom>
          <a:noFill/>
          <a:ln w="6350" cap="flat" cmpd="sng" algn="ctr">
            <a:solidFill>
              <a:sysClr val="windowText" lastClr="000000"/>
            </a:solidFill>
            <a:prstDash val="solid"/>
            <a:miter lim="800000"/>
          </a:ln>
          <a:effectLst/>
        </p:spPr>
      </p:cxnSp>
      <p:sp>
        <p:nvSpPr>
          <p:cNvPr id="46" name="직사각형 45">
            <a:extLst>
              <a:ext uri="{FF2B5EF4-FFF2-40B4-BE49-F238E27FC236}">
                <a16:creationId xmlns:a16="http://schemas.microsoft.com/office/drawing/2014/main" id="{4AF255CE-013C-73BC-9AF3-9DCD6CA63D51}"/>
              </a:ext>
            </a:extLst>
          </p:cNvPr>
          <p:cNvSpPr/>
          <p:nvPr/>
        </p:nvSpPr>
        <p:spPr>
          <a:xfrm>
            <a:off x="10134404" y="4068585"/>
            <a:ext cx="2342556" cy="365430"/>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rgbClr val="FFFF00"/>
                </a:solidFill>
              </a:rPr>
              <a:t>제조</a:t>
            </a:r>
            <a:r>
              <a:rPr lang="en-US" altLang="ko-KR" sz="1000" dirty="0">
                <a:solidFill>
                  <a:srgbClr val="FFFF00"/>
                </a:solidFill>
              </a:rPr>
              <a:t>DX</a:t>
            </a:r>
            <a:r>
              <a:rPr lang="ko-KR" altLang="en-US" sz="1000" dirty="0">
                <a:solidFill>
                  <a:srgbClr val="FFFF00"/>
                </a:solidFill>
              </a:rPr>
              <a:t>그룹 </a:t>
            </a:r>
            <a:r>
              <a:rPr lang="en-US" altLang="ko-KR" sz="1000" dirty="0">
                <a:solidFill>
                  <a:srgbClr val="FFFF00"/>
                </a:solidFill>
              </a:rPr>
              <a:t>NG</a:t>
            </a:r>
            <a:r>
              <a:rPr lang="ko-KR" altLang="en-US" sz="1000" dirty="0">
                <a:solidFill>
                  <a:srgbClr val="FFFF00"/>
                </a:solidFill>
              </a:rPr>
              <a:t>마킹 개선 과제 확인</a:t>
            </a:r>
          </a:p>
        </p:txBody>
      </p:sp>
      <p:sp>
        <p:nvSpPr>
          <p:cNvPr id="48" name="직사각형 47">
            <a:extLst>
              <a:ext uri="{FF2B5EF4-FFF2-40B4-BE49-F238E27FC236}">
                <a16:creationId xmlns:a16="http://schemas.microsoft.com/office/drawing/2014/main" id="{DA5C4D44-1063-087B-2E61-890F32AED406}"/>
              </a:ext>
            </a:extLst>
          </p:cNvPr>
          <p:cNvSpPr/>
          <p:nvPr/>
        </p:nvSpPr>
        <p:spPr>
          <a:xfrm>
            <a:off x="10135962" y="4885279"/>
            <a:ext cx="2342556" cy="365430"/>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rgbClr val="FFFF00"/>
                </a:solidFill>
              </a:rPr>
              <a:t>법인 </a:t>
            </a:r>
            <a:r>
              <a:rPr lang="en-US" altLang="ko-KR" sz="1000" dirty="0">
                <a:solidFill>
                  <a:srgbClr val="FFFF00"/>
                </a:solidFill>
              </a:rPr>
              <a:t>IRS </a:t>
            </a:r>
            <a:r>
              <a:rPr lang="ko-KR" altLang="en-US" sz="1000" dirty="0" err="1">
                <a:solidFill>
                  <a:srgbClr val="FFFF00"/>
                </a:solidFill>
              </a:rPr>
              <a:t>과검</a:t>
            </a:r>
            <a:r>
              <a:rPr lang="ko-KR" altLang="en-US" sz="1000" dirty="0">
                <a:solidFill>
                  <a:srgbClr val="FFFF00"/>
                </a:solidFill>
              </a:rPr>
              <a:t> 대상 개선 활동 예시 확인</a:t>
            </a:r>
          </a:p>
        </p:txBody>
      </p:sp>
      <p:sp>
        <p:nvSpPr>
          <p:cNvPr id="56" name="실행 단추: 앞으로 또는 다음으로 이동 55">
            <a:hlinkClick r:id="rId6" action="ppaction://hlinksldjump" highlightClick="1"/>
            <a:extLst>
              <a:ext uri="{FF2B5EF4-FFF2-40B4-BE49-F238E27FC236}">
                <a16:creationId xmlns:a16="http://schemas.microsoft.com/office/drawing/2014/main" id="{B9749833-DEA9-DAB4-EB51-1C4445C21724}"/>
              </a:ext>
            </a:extLst>
          </p:cNvPr>
          <p:cNvSpPr/>
          <p:nvPr/>
        </p:nvSpPr>
        <p:spPr>
          <a:xfrm>
            <a:off x="6009366" y="6575244"/>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a:latin typeface="Arial Narrow" panose="020B0606020202030204" pitchFamily="34" charset="0"/>
            </a:endParaRPr>
          </a:p>
        </p:txBody>
      </p:sp>
      <p:sp>
        <p:nvSpPr>
          <p:cNvPr id="58" name="직사각형 57">
            <a:extLst>
              <a:ext uri="{FF2B5EF4-FFF2-40B4-BE49-F238E27FC236}">
                <a16:creationId xmlns:a16="http://schemas.microsoft.com/office/drawing/2014/main" id="{09FCAA16-5FC8-CC19-E849-96E592303813}"/>
              </a:ext>
            </a:extLst>
          </p:cNvPr>
          <p:cNvSpPr/>
          <p:nvPr/>
        </p:nvSpPr>
        <p:spPr>
          <a:xfrm>
            <a:off x="5534578" y="6555202"/>
            <a:ext cx="518609"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ko-KR" altLang="en-US" sz="891" dirty="0" err="1">
                <a:solidFill>
                  <a:schemeClr val="tx1"/>
                </a:solidFill>
                <a:latin typeface="Arial Narrow" panose="020B0606020202030204" pitchFamily="34" charset="0"/>
                <a:ea typeface="LG스마트체 Regular" panose="020B0600000101010101" pitchFamily="50" charset="-127"/>
              </a:rPr>
              <a:t>라미</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60" name="실행 단추: 앞으로 또는 다음으로 이동 59">
            <a:hlinkClick r:id="rId7" action="ppaction://hlinksldjump" highlightClick="1"/>
            <a:extLst>
              <a:ext uri="{FF2B5EF4-FFF2-40B4-BE49-F238E27FC236}">
                <a16:creationId xmlns:a16="http://schemas.microsoft.com/office/drawing/2014/main" id="{260FE363-D75F-2F64-AD9D-D562A20896DF}"/>
              </a:ext>
            </a:extLst>
          </p:cNvPr>
          <p:cNvSpPr/>
          <p:nvPr/>
        </p:nvSpPr>
        <p:spPr>
          <a:xfrm>
            <a:off x="6771942" y="6575244"/>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a:latin typeface="Arial Narrow" panose="020B0606020202030204" pitchFamily="34" charset="0"/>
            </a:endParaRPr>
          </a:p>
        </p:txBody>
      </p:sp>
      <p:sp>
        <p:nvSpPr>
          <p:cNvPr id="62" name="직사각형 61">
            <a:extLst>
              <a:ext uri="{FF2B5EF4-FFF2-40B4-BE49-F238E27FC236}">
                <a16:creationId xmlns:a16="http://schemas.microsoft.com/office/drawing/2014/main" id="{21AE66D0-0DAC-DA2D-1F78-FC2B210ECF6D}"/>
              </a:ext>
            </a:extLst>
          </p:cNvPr>
          <p:cNvSpPr/>
          <p:nvPr/>
        </p:nvSpPr>
        <p:spPr>
          <a:xfrm>
            <a:off x="6297154" y="6555202"/>
            <a:ext cx="518609"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ko-KR" altLang="en-US" sz="891" dirty="0" err="1">
                <a:solidFill>
                  <a:schemeClr val="tx1"/>
                </a:solidFill>
                <a:latin typeface="Arial Narrow" panose="020B0606020202030204" pitchFamily="34" charset="0"/>
                <a:ea typeface="LG스마트체 Regular" panose="020B0600000101010101" pitchFamily="50" charset="-127"/>
              </a:rPr>
              <a:t>스태킹</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64" name="실행 단추: 앞으로 또는 다음으로 이동 63">
            <a:hlinkClick r:id="rId8" action="ppaction://hlinksldjump" highlightClick="1"/>
            <a:extLst>
              <a:ext uri="{FF2B5EF4-FFF2-40B4-BE49-F238E27FC236}">
                <a16:creationId xmlns:a16="http://schemas.microsoft.com/office/drawing/2014/main" id="{322BC97D-8B20-79F4-33F5-4483ED815D68}"/>
              </a:ext>
            </a:extLst>
          </p:cNvPr>
          <p:cNvSpPr/>
          <p:nvPr/>
        </p:nvSpPr>
        <p:spPr>
          <a:xfrm>
            <a:off x="7586547" y="6575244"/>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a:latin typeface="Arial Narrow" panose="020B0606020202030204" pitchFamily="34" charset="0"/>
            </a:endParaRPr>
          </a:p>
        </p:txBody>
      </p:sp>
      <p:sp>
        <p:nvSpPr>
          <p:cNvPr id="66" name="직사각형 65">
            <a:extLst>
              <a:ext uri="{FF2B5EF4-FFF2-40B4-BE49-F238E27FC236}">
                <a16:creationId xmlns:a16="http://schemas.microsoft.com/office/drawing/2014/main" id="{EB7FE174-76FB-0E66-96A1-3BC2626BAB7C}"/>
              </a:ext>
            </a:extLst>
          </p:cNvPr>
          <p:cNvSpPr/>
          <p:nvPr/>
        </p:nvSpPr>
        <p:spPr>
          <a:xfrm>
            <a:off x="7111759" y="6555202"/>
            <a:ext cx="518609"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ko-KR" altLang="en-US" sz="891" dirty="0">
                <a:solidFill>
                  <a:schemeClr val="tx1"/>
                </a:solidFill>
                <a:latin typeface="Arial Narrow" panose="020B0606020202030204" pitchFamily="34" charset="0"/>
                <a:ea typeface="LG스마트체 Regular" panose="020B0600000101010101" pitchFamily="50" charset="-127"/>
              </a:rPr>
              <a:t>활성화</a:t>
            </a:r>
          </a:p>
        </p:txBody>
      </p:sp>
      <p:sp>
        <p:nvSpPr>
          <p:cNvPr id="68" name="실행 단추: 홈으로 이동 67">
            <a:hlinkClick r:id="rId9" action="ppaction://hlinksldjump" highlightClick="1"/>
            <a:extLst>
              <a:ext uri="{FF2B5EF4-FFF2-40B4-BE49-F238E27FC236}">
                <a16:creationId xmlns:a16="http://schemas.microsoft.com/office/drawing/2014/main" id="{A77FABEE-11FD-CC30-7C08-A81A492BEAE1}"/>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7" name="TextBox 6">
            <a:extLst>
              <a:ext uri="{FF2B5EF4-FFF2-40B4-BE49-F238E27FC236}">
                <a16:creationId xmlns:a16="http://schemas.microsoft.com/office/drawing/2014/main" id="{58AA6B47-02C2-A735-FF6C-9B925513A69E}"/>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- 1 / 10 -</a:t>
            </a:r>
          </a:p>
        </p:txBody>
      </p:sp>
    </p:spTree>
    <p:extLst>
      <p:ext uri="{BB962C8B-B14F-4D97-AF65-F5344CB8AC3E}">
        <p14:creationId xmlns:p14="http://schemas.microsoft.com/office/powerpoint/2010/main" val="1943302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9FE7F-BD5B-46D0-66AC-A72DBBA34B29}"/>
            </a:ext>
          </a:extLst>
        </p:cNvPr>
        <p:cNvGrpSpPr/>
        <p:nvPr/>
      </p:nvGrpSpPr>
      <p:grpSpPr>
        <a:xfrm>
          <a:off x="0" y="0"/>
          <a:ext cx="0" cy="0"/>
          <a:chOff x="0" y="0"/>
          <a:chExt cx="0" cy="0"/>
        </a:xfrm>
      </p:grpSpPr>
      <p:sp>
        <p:nvSpPr>
          <p:cNvPr id="120" name="제목 1">
            <a:extLst>
              <a:ext uri="{FF2B5EF4-FFF2-40B4-BE49-F238E27FC236}">
                <a16:creationId xmlns:a16="http://schemas.microsoft.com/office/drawing/2014/main" id="{D2674F0C-08AA-D5D3-8AD1-89D7C012C1B1}"/>
              </a:ext>
            </a:extLst>
          </p:cNvPr>
          <p:cNvSpPr txBox="1">
            <a:spLocks/>
          </p:cNvSpPr>
          <p:nvPr/>
        </p:nvSpPr>
        <p:spPr>
          <a:xfrm>
            <a:off x="123673" y="166057"/>
            <a:ext cx="3031875" cy="365431"/>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90497" tIns="45249" rIns="90497" bIns="45249"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52491" latinLnBrk="0">
              <a:defRPr/>
            </a:pPr>
            <a:r>
              <a:rPr lang="ko-KR" altLang="en-US" sz="1781" dirty="0">
                <a:solidFill>
                  <a:prstClr val="black"/>
                </a:solidFill>
                <a:latin typeface="Arial Narrow" panose="020B0606020202030204" pitchFamily="34" charset="0"/>
                <a:ea typeface="LG스마트체 Regular" panose="020B0600000101010101" pitchFamily="50" charset="-127"/>
              </a:rPr>
              <a:t>보조</a:t>
            </a:r>
            <a:r>
              <a:rPr lang="en-US" altLang="ko-KR" sz="1781" dirty="0">
                <a:solidFill>
                  <a:prstClr val="black"/>
                </a:solidFill>
                <a:latin typeface="Arial Narrow" panose="020B0606020202030204" pitchFamily="34" charset="0"/>
                <a:ea typeface="LG스마트체 Regular" panose="020B0600000101010101" pitchFamily="50" charset="-127"/>
              </a:rPr>
              <a:t>. ESWA 8</a:t>
            </a:r>
            <a:r>
              <a:rPr lang="ko-KR" altLang="en-US" sz="1781" dirty="0">
                <a:solidFill>
                  <a:prstClr val="black"/>
                </a:solidFill>
                <a:latin typeface="Arial Narrow" panose="020B0606020202030204" pitchFamily="34" charset="0"/>
                <a:ea typeface="LG스마트체 Regular" panose="020B0600000101010101" pitchFamily="50" charset="-127"/>
              </a:rPr>
              <a:t>월 </a:t>
            </a:r>
            <a:r>
              <a:rPr lang="ko-KR" altLang="en-US" sz="1781" dirty="0" err="1">
                <a:solidFill>
                  <a:prstClr val="black"/>
                </a:solidFill>
                <a:latin typeface="Arial Narrow" panose="020B0606020202030204" pitchFamily="34" charset="0"/>
                <a:ea typeface="LG스마트체 Regular" panose="020B0600000101010101" pitchFamily="50" charset="-127"/>
              </a:rPr>
              <a:t>수율</a:t>
            </a:r>
            <a:r>
              <a:rPr lang="ko-KR" altLang="en-US" sz="1781" dirty="0">
                <a:solidFill>
                  <a:prstClr val="black"/>
                </a:solidFill>
                <a:latin typeface="Arial Narrow" panose="020B0606020202030204" pitchFamily="34" charset="0"/>
                <a:ea typeface="LG스마트체 Regular" panose="020B0600000101010101" pitchFamily="50" charset="-127"/>
              </a:rPr>
              <a:t> 현황</a:t>
            </a:r>
            <a:r>
              <a:rPr lang="en-US" altLang="ko-KR" sz="1781" dirty="0">
                <a:solidFill>
                  <a:prstClr val="black"/>
                </a:solidFill>
                <a:latin typeface="Arial Narrow" panose="020B0606020202030204" pitchFamily="34" charset="0"/>
                <a:ea typeface="LG스마트체 Regular" panose="020B0600000101010101" pitchFamily="50" charset="-127"/>
              </a:rPr>
              <a:t>_ESS</a:t>
            </a:r>
          </a:p>
        </p:txBody>
      </p:sp>
      <p:sp>
        <p:nvSpPr>
          <p:cNvPr id="3" name="TextBox 1">
            <a:extLst>
              <a:ext uri="{FF2B5EF4-FFF2-40B4-BE49-F238E27FC236}">
                <a16:creationId xmlns:a16="http://schemas.microsoft.com/office/drawing/2014/main" id="{5B446F59-9F0E-096E-91C5-94BC621A60A0}"/>
              </a:ext>
            </a:extLst>
          </p:cNvPr>
          <p:cNvSpPr txBox="1"/>
          <p:nvPr/>
        </p:nvSpPr>
        <p:spPr>
          <a:xfrm>
            <a:off x="184567" y="592776"/>
            <a:ext cx="9656116" cy="259943"/>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defTabSz="886436">
              <a:defRPr/>
            </a:pPr>
            <a:r>
              <a:rPr lang="en-US" altLang="ko-KR" sz="1089" b="1" dirty="0">
                <a:solidFill>
                  <a:prstClr val="black"/>
                </a:solidFill>
                <a:latin typeface="Arial Narrow" panose="020B0606020202030204" pitchFamily="34" charset="0"/>
                <a:ea typeface="LG스마트체 Regular" panose="020B0600000101010101" pitchFamily="50" charset="-127"/>
              </a:rPr>
              <a:t>ESS </a:t>
            </a:r>
            <a:r>
              <a:rPr lang="ko-KR" altLang="en-US" sz="1089" b="1" dirty="0">
                <a:solidFill>
                  <a:prstClr val="black"/>
                </a:solidFill>
                <a:latin typeface="Arial Narrow" panose="020B0606020202030204" pitchFamily="34" charset="0"/>
                <a:ea typeface="LG스마트체 Regular" panose="020B0600000101010101" pitchFamily="50" charset="-127"/>
              </a:rPr>
              <a:t>종합</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전극</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조립</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활성화</a:t>
            </a:r>
            <a:r>
              <a:rPr lang="en-US" altLang="ko-KR" sz="1089" b="1" dirty="0">
                <a:solidFill>
                  <a:prstClr val="black"/>
                </a:solidFill>
                <a:latin typeface="Arial Narrow" panose="020B0606020202030204" pitchFamily="34" charset="0"/>
                <a:ea typeface="LG스마트체 Regular" panose="020B0600000101010101" pitchFamily="50" charset="-127"/>
              </a:rPr>
              <a:t>)</a:t>
            </a:r>
            <a:r>
              <a:rPr lang="ko-KR" altLang="en-US"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err="1">
                <a:solidFill>
                  <a:prstClr val="black"/>
                </a:solidFill>
                <a:latin typeface="Arial Narrow" panose="020B0606020202030204" pitchFamily="34" charset="0"/>
                <a:ea typeface="LG스마트체 Regular" panose="020B0600000101010101" pitchFamily="50" charset="-127"/>
              </a:rPr>
              <a:t>수율은</a:t>
            </a:r>
            <a:r>
              <a:rPr lang="ko-KR" altLang="en-US" sz="1089" b="1" dirty="0">
                <a:solidFill>
                  <a:prstClr val="black"/>
                </a:solidFill>
                <a:latin typeface="Arial Narrow" panose="020B0606020202030204" pitchFamily="34" charset="0"/>
                <a:ea typeface="LG스마트체 Regular" panose="020B0600000101010101" pitchFamily="50" charset="-127"/>
              </a:rPr>
              <a:t> </a:t>
            </a:r>
            <a:r>
              <a:rPr lang="en-US" altLang="ko-KR" sz="1089" b="1" dirty="0">
                <a:solidFill>
                  <a:prstClr val="black"/>
                </a:solidFill>
                <a:latin typeface="Arial Narrow" panose="020B0606020202030204" pitchFamily="34" charset="0"/>
                <a:ea typeface="LG스마트체 Regular" panose="020B0600000101010101" pitchFamily="50" charset="-127"/>
              </a:rPr>
              <a:t>7</a:t>
            </a:r>
            <a:r>
              <a:rPr lang="ko-KR" altLang="en-US" sz="1089" b="1" dirty="0">
                <a:solidFill>
                  <a:prstClr val="black"/>
                </a:solidFill>
                <a:latin typeface="Arial Narrow" panose="020B0606020202030204" pitchFamily="34" charset="0"/>
                <a:ea typeface="LG스마트체 Regular" panose="020B0600000101010101" pitchFamily="50" charset="-127"/>
              </a:rPr>
              <a:t>월 대비 </a:t>
            </a:r>
            <a:r>
              <a:rPr lang="en-US" altLang="ko-KR" sz="1089" b="1" dirty="0">
                <a:solidFill>
                  <a:prstClr val="black"/>
                </a:solidFill>
                <a:latin typeface="Arial Narrow" panose="020B0606020202030204" pitchFamily="34" charset="0"/>
                <a:ea typeface="LG스마트체 Regular" panose="020B0600000101010101" pitchFamily="50" charset="-127"/>
              </a:rPr>
              <a:t>8</a:t>
            </a:r>
            <a:r>
              <a:rPr lang="ko-KR" altLang="en-US" sz="1089" b="1" dirty="0">
                <a:solidFill>
                  <a:prstClr val="black"/>
                </a:solidFill>
                <a:latin typeface="Arial Narrow" panose="020B0606020202030204" pitchFamily="34" charset="0"/>
                <a:ea typeface="LG스마트체 Regular" panose="020B0600000101010101" pitchFamily="50" charset="-127"/>
              </a:rPr>
              <a:t>월 </a:t>
            </a:r>
            <a:r>
              <a:rPr lang="en-US" altLang="ko-KR" sz="1089" b="1" dirty="0">
                <a:solidFill>
                  <a:prstClr val="black"/>
                </a:solidFill>
                <a:latin typeface="Arial Narrow" panose="020B0606020202030204" pitchFamily="34" charset="0"/>
                <a:ea typeface="LG스마트체 Regular" panose="020B0600000101010101" pitchFamily="50" charset="-127"/>
              </a:rPr>
              <a:t>0.20% </a:t>
            </a:r>
            <a:r>
              <a:rPr lang="ko-KR" altLang="en-US" sz="1089" b="1" dirty="0">
                <a:solidFill>
                  <a:prstClr val="black"/>
                </a:solidFill>
                <a:latin typeface="Arial Narrow" panose="020B0606020202030204" pitchFamily="34" charset="0"/>
                <a:ea typeface="LG스마트체 Regular" panose="020B0600000101010101" pitchFamily="50" charset="-127"/>
              </a:rPr>
              <a:t>증가되었습니다</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a:solidFill>
                  <a:prstClr val="black"/>
                </a:solidFill>
                <a:latin typeface="Arial Narrow" panose="020B0606020202030204" pitchFamily="34" charset="0"/>
                <a:ea typeface="LG스마트체 Regular" panose="020B0600000101010101" pitchFamily="50" charset="-127"/>
              </a:rPr>
              <a:t>전극 </a:t>
            </a:r>
            <a:r>
              <a:rPr lang="en-US" altLang="ko-KR" sz="1089" b="1" dirty="0">
                <a:solidFill>
                  <a:prstClr val="black"/>
                </a:solidFill>
                <a:latin typeface="Arial Narrow" panose="020B0606020202030204" pitchFamily="34" charset="0"/>
                <a:ea typeface="LG스마트체 Regular" panose="020B0600000101010101" pitchFamily="50" charset="-127"/>
              </a:rPr>
              <a:t>0.17%p </a:t>
            </a:r>
            <a:r>
              <a:rPr lang="ko-KR" altLang="en-US" sz="1089" b="1" dirty="0">
                <a:solidFill>
                  <a:prstClr val="black"/>
                </a:solidFill>
                <a:latin typeface="Arial Narrow" panose="020B0606020202030204" pitchFamily="34" charset="0"/>
                <a:ea typeface="LG스마트체 Regular" panose="020B0600000101010101" pitchFamily="50" charset="-127"/>
              </a:rPr>
              <a:t>증가</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a:solidFill>
                  <a:prstClr val="black"/>
                </a:solidFill>
                <a:latin typeface="Arial Narrow" panose="020B0606020202030204" pitchFamily="34" charset="0"/>
                <a:ea typeface="LG스마트체 Regular" panose="020B0600000101010101" pitchFamily="50" charset="-127"/>
              </a:rPr>
              <a:t>조립 </a:t>
            </a:r>
            <a:r>
              <a:rPr lang="en-US" altLang="ko-KR" sz="1089" b="1" dirty="0">
                <a:solidFill>
                  <a:prstClr val="black"/>
                </a:solidFill>
                <a:latin typeface="Arial Narrow" panose="020B0606020202030204" pitchFamily="34" charset="0"/>
                <a:ea typeface="LG스마트체 Regular" panose="020B0600000101010101" pitchFamily="50" charset="-127"/>
              </a:rPr>
              <a:t>0.23%p </a:t>
            </a:r>
            <a:r>
              <a:rPr lang="ko-KR" altLang="en-US" sz="1089" b="1" dirty="0">
                <a:solidFill>
                  <a:prstClr val="black"/>
                </a:solidFill>
                <a:latin typeface="Arial Narrow" panose="020B0606020202030204" pitchFamily="34" charset="0"/>
                <a:ea typeface="LG스마트체 Regular" panose="020B0600000101010101" pitchFamily="50" charset="-127"/>
              </a:rPr>
              <a:t>증가</a:t>
            </a:r>
            <a:r>
              <a:rPr lang="en-US" altLang="ko-KR" sz="1089" b="1" dirty="0">
                <a:solidFill>
                  <a:prstClr val="black"/>
                </a:solidFill>
                <a:latin typeface="Arial Narrow" panose="020B0606020202030204" pitchFamily="34" charset="0"/>
                <a:ea typeface="LG스마트체 Regular" panose="020B0600000101010101" pitchFamily="50" charset="-127"/>
              </a:rPr>
              <a:t>, </a:t>
            </a:r>
            <a:r>
              <a:rPr lang="ko-KR" altLang="en-US" sz="1089" b="1" dirty="0">
                <a:solidFill>
                  <a:prstClr val="black"/>
                </a:solidFill>
                <a:latin typeface="Arial Narrow" panose="020B0606020202030204" pitchFamily="34" charset="0"/>
                <a:ea typeface="LG스마트체 Regular" panose="020B0600000101010101" pitchFamily="50" charset="-127"/>
              </a:rPr>
              <a:t>활성화 </a:t>
            </a:r>
            <a:r>
              <a:rPr lang="en-US" altLang="ko-KR" sz="1089" b="1" dirty="0">
                <a:solidFill>
                  <a:prstClr val="black"/>
                </a:solidFill>
                <a:latin typeface="Arial Narrow" panose="020B0606020202030204" pitchFamily="34" charset="0"/>
                <a:ea typeface="LG스마트체 Regular" panose="020B0600000101010101" pitchFamily="50" charset="-127"/>
              </a:rPr>
              <a:t>0.03p </a:t>
            </a:r>
            <a:r>
              <a:rPr lang="ko-KR" altLang="en-US" sz="1089" b="1" dirty="0">
                <a:solidFill>
                  <a:prstClr val="black"/>
                </a:solidFill>
                <a:latin typeface="Arial Narrow" panose="020B0606020202030204" pitchFamily="34" charset="0"/>
                <a:ea typeface="LG스마트체 Regular" panose="020B0600000101010101" pitchFamily="50" charset="-127"/>
              </a:rPr>
              <a:t>증가</a:t>
            </a:r>
            <a:r>
              <a:rPr lang="en-US" altLang="ko-KR" sz="1089" b="1" dirty="0">
                <a:solidFill>
                  <a:prstClr val="black"/>
                </a:solidFill>
                <a:latin typeface="Arial Narrow" panose="020B0606020202030204" pitchFamily="34" charset="0"/>
                <a:ea typeface="LG스마트체 Regular" panose="020B0600000101010101" pitchFamily="50" charset="-127"/>
              </a:rPr>
              <a:t>)</a:t>
            </a:r>
          </a:p>
        </p:txBody>
      </p:sp>
      <p:sp>
        <p:nvSpPr>
          <p:cNvPr id="16" name="TextBox 119">
            <a:extLst>
              <a:ext uri="{FF2B5EF4-FFF2-40B4-BE49-F238E27FC236}">
                <a16:creationId xmlns:a16="http://schemas.microsoft.com/office/drawing/2014/main" id="{19C23F2F-2D2F-3AC1-D19B-419AD6778829}"/>
              </a:ext>
            </a:extLst>
          </p:cNvPr>
          <p:cNvSpPr txBox="1"/>
          <p:nvPr/>
        </p:nvSpPr>
        <p:spPr>
          <a:xfrm>
            <a:off x="1263530" y="1051298"/>
            <a:ext cx="2081321" cy="274143"/>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904982"/>
            <a:r>
              <a:rPr lang="en-US" altLang="ko-KR" sz="1188" b="1" dirty="0">
                <a:solidFill>
                  <a:prstClr val="black"/>
                </a:solidFill>
                <a:latin typeface="Arial Narrow" panose="020B0606020202030204" pitchFamily="34" charset="0"/>
                <a:ea typeface="LG스마트체 Regular" panose="020B0600000101010101" pitchFamily="50" charset="-127"/>
              </a:rPr>
              <a:t>ESS</a:t>
            </a:r>
            <a:endParaRPr lang="ko-KR" altLang="en-US" sz="1188" b="1" dirty="0">
              <a:solidFill>
                <a:prstClr val="black"/>
              </a:solidFill>
              <a:latin typeface="Arial Narrow" panose="020B0606020202030204" pitchFamily="34" charset="0"/>
              <a:ea typeface="LG스마트체 Regular" panose="020B0600000101010101" pitchFamily="50" charset="-127"/>
            </a:endParaRPr>
          </a:p>
        </p:txBody>
      </p:sp>
      <p:cxnSp>
        <p:nvCxnSpPr>
          <p:cNvPr id="17" name="직선 연결선 16">
            <a:extLst>
              <a:ext uri="{FF2B5EF4-FFF2-40B4-BE49-F238E27FC236}">
                <a16:creationId xmlns:a16="http://schemas.microsoft.com/office/drawing/2014/main" id="{A0DA7B2A-0C64-99EB-FAFD-968079C5C2EA}"/>
              </a:ext>
            </a:extLst>
          </p:cNvPr>
          <p:cNvCxnSpPr>
            <a:cxnSpLocks/>
          </p:cNvCxnSpPr>
          <p:nvPr/>
        </p:nvCxnSpPr>
        <p:spPr>
          <a:xfrm>
            <a:off x="488504" y="1285048"/>
            <a:ext cx="4305650" cy="0"/>
          </a:xfrm>
          <a:prstGeom prst="line">
            <a:avLst/>
          </a:prstGeom>
          <a:noFill/>
          <a:ln w="6350" cap="flat" cmpd="sng" algn="ctr">
            <a:solidFill>
              <a:sysClr val="windowText" lastClr="000000"/>
            </a:solidFill>
            <a:prstDash val="solid"/>
            <a:miter lim="800000"/>
          </a:ln>
          <a:effectLst/>
        </p:spPr>
      </p:cxnSp>
      <p:sp>
        <p:nvSpPr>
          <p:cNvPr id="21" name="TextBox 105">
            <a:extLst>
              <a:ext uri="{FF2B5EF4-FFF2-40B4-BE49-F238E27FC236}">
                <a16:creationId xmlns:a16="http://schemas.microsoft.com/office/drawing/2014/main" id="{979EBB4B-6D75-0250-D559-99CD513C0AE0}"/>
              </a:ext>
            </a:extLst>
          </p:cNvPr>
          <p:cNvSpPr txBox="1"/>
          <p:nvPr/>
        </p:nvSpPr>
        <p:spPr>
          <a:xfrm>
            <a:off x="3046415" y="1087071"/>
            <a:ext cx="1924243" cy="135658"/>
          </a:xfrm>
          <a:prstGeom prst="rect">
            <a:avLst/>
          </a:prstGeom>
          <a:no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ko-KR" altLang="en-US" sz="882" dirty="0">
                <a:solidFill>
                  <a:srgbClr val="008000"/>
                </a:solidFill>
                <a:latin typeface="Arial Narrow" panose="020B0606020202030204" pitchFamily="34" charset="0"/>
                <a:ea typeface="LG스마트체 Regular" panose="020B0600000101010101" pitchFamily="50" charset="-127"/>
              </a:rPr>
              <a:t>변경 </a:t>
            </a:r>
            <a:r>
              <a:rPr lang="en-US" altLang="ko-KR" sz="882" dirty="0">
                <a:solidFill>
                  <a:srgbClr val="008000"/>
                </a:solidFill>
                <a:latin typeface="Arial Narrow" panose="020B0606020202030204" pitchFamily="34" charset="0"/>
                <a:ea typeface="LG스마트체 Regular" panose="020B0600000101010101" pitchFamily="50" charset="-127"/>
              </a:rPr>
              <a:t>KPI </a:t>
            </a:r>
            <a:r>
              <a:rPr lang="ko-KR" altLang="en-US" sz="882" dirty="0">
                <a:solidFill>
                  <a:srgbClr val="008000"/>
                </a:solidFill>
                <a:latin typeface="Arial Narrow" panose="020B0606020202030204" pitchFamily="34" charset="0"/>
                <a:ea typeface="LG스마트체 Regular" panose="020B0600000101010101" pitchFamily="50" charset="-127"/>
              </a:rPr>
              <a:t>기준</a:t>
            </a:r>
            <a:r>
              <a:rPr lang="en-US" altLang="ko-KR" sz="882" dirty="0">
                <a:solidFill>
                  <a:srgbClr val="008000"/>
                </a:solidFill>
                <a:latin typeface="Arial Narrow" panose="020B0606020202030204" pitchFamily="34" charset="0"/>
                <a:ea typeface="LG스마트체 Regular" panose="020B0600000101010101" pitchFamily="50" charset="-127"/>
              </a:rPr>
              <a:t> </a:t>
            </a:r>
            <a:r>
              <a:rPr lang="ko-KR" altLang="en-US" sz="882" dirty="0">
                <a:solidFill>
                  <a:srgbClr val="008000"/>
                </a:solidFill>
                <a:latin typeface="Arial Narrow" panose="020B0606020202030204" pitchFamily="34" charset="0"/>
                <a:ea typeface="LG스마트체 Regular" panose="020B0600000101010101" pitchFamily="50" charset="-127"/>
              </a:rPr>
              <a:t>목표</a:t>
            </a:r>
            <a:r>
              <a:rPr lang="en-US" altLang="ko-KR" sz="882" dirty="0">
                <a:solidFill>
                  <a:srgbClr val="008000"/>
                </a:solidFill>
                <a:latin typeface="Arial Narrow" panose="020B0606020202030204" pitchFamily="34" charset="0"/>
                <a:ea typeface="LG스마트체 Regular" panose="020B0600000101010101" pitchFamily="50" charset="-127"/>
              </a:rPr>
              <a:t> </a:t>
            </a:r>
            <a:r>
              <a:rPr lang="ko-KR" altLang="en-US" sz="882" dirty="0">
                <a:solidFill>
                  <a:srgbClr val="008000"/>
                </a:solidFill>
                <a:latin typeface="Arial Narrow" panose="020B0606020202030204" pitchFamily="34" charset="0"/>
                <a:ea typeface="LG스마트체 Regular" panose="020B0600000101010101" pitchFamily="50" charset="-127"/>
              </a:rPr>
              <a:t>종합 수율 </a:t>
            </a:r>
            <a:r>
              <a:rPr lang="en-US" altLang="ko-KR" sz="882" dirty="0">
                <a:solidFill>
                  <a:srgbClr val="008000"/>
                </a:solidFill>
                <a:latin typeface="Arial Narrow" panose="020B0606020202030204" pitchFamily="34" charset="0"/>
                <a:ea typeface="LG스마트체 Regular" panose="020B0600000101010101" pitchFamily="50" charset="-127"/>
              </a:rPr>
              <a:t>94.5%</a:t>
            </a:r>
          </a:p>
        </p:txBody>
      </p:sp>
      <p:sp>
        <p:nvSpPr>
          <p:cNvPr id="28" name="TextBox 105">
            <a:extLst>
              <a:ext uri="{FF2B5EF4-FFF2-40B4-BE49-F238E27FC236}">
                <a16:creationId xmlns:a16="http://schemas.microsoft.com/office/drawing/2014/main" id="{585E936F-463F-D705-B9AE-D61BB4C7758E}"/>
              </a:ext>
            </a:extLst>
          </p:cNvPr>
          <p:cNvSpPr txBox="1"/>
          <p:nvPr/>
        </p:nvSpPr>
        <p:spPr>
          <a:xfrm>
            <a:off x="3046415" y="908720"/>
            <a:ext cx="1924243" cy="135658"/>
          </a:xfrm>
          <a:prstGeom prst="rect">
            <a:avLst/>
          </a:prstGeom>
          <a:no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ko-KR" sz="882" dirty="0">
                <a:solidFill>
                  <a:srgbClr val="008000"/>
                </a:solidFill>
                <a:latin typeface="Arial Narrow" panose="020B0606020202030204" pitchFamily="34" charset="0"/>
                <a:ea typeface="LG스마트체 Regular" panose="020B0600000101010101" pitchFamily="50" charset="-127"/>
              </a:rPr>
              <a:t>8</a:t>
            </a:r>
            <a:r>
              <a:rPr lang="ko-KR" altLang="en-US" sz="882" dirty="0">
                <a:solidFill>
                  <a:srgbClr val="008000"/>
                </a:solidFill>
                <a:latin typeface="Arial Narrow" panose="020B0606020202030204" pitchFamily="34" charset="0"/>
                <a:ea typeface="LG스마트체 Regular" panose="020B0600000101010101" pitchFamily="50" charset="-127"/>
              </a:rPr>
              <a:t>월 누적 기준 실적 종합 </a:t>
            </a:r>
            <a:r>
              <a:rPr lang="ko-KR" altLang="en-US" sz="882" dirty="0" err="1">
                <a:solidFill>
                  <a:srgbClr val="008000"/>
                </a:solidFill>
                <a:latin typeface="Arial Narrow" panose="020B0606020202030204" pitchFamily="34" charset="0"/>
                <a:ea typeface="LG스마트체 Regular" panose="020B0600000101010101" pitchFamily="50" charset="-127"/>
              </a:rPr>
              <a:t>수율</a:t>
            </a:r>
            <a:r>
              <a:rPr lang="ko-KR" altLang="en-US" sz="882" dirty="0">
                <a:solidFill>
                  <a:srgbClr val="008000"/>
                </a:solidFill>
                <a:latin typeface="Arial Narrow" panose="020B0606020202030204" pitchFamily="34" charset="0"/>
                <a:ea typeface="LG스마트체 Regular" panose="020B0600000101010101" pitchFamily="50" charset="-127"/>
              </a:rPr>
              <a:t> </a:t>
            </a:r>
            <a:r>
              <a:rPr lang="en-US" altLang="ko-KR" sz="882" dirty="0">
                <a:solidFill>
                  <a:srgbClr val="008000"/>
                </a:solidFill>
                <a:latin typeface="Arial Narrow" panose="020B0606020202030204" pitchFamily="34" charset="0"/>
                <a:ea typeface="LG스마트체 Regular" panose="020B0600000101010101" pitchFamily="50" charset="-127"/>
              </a:rPr>
              <a:t>92.5%</a:t>
            </a:r>
          </a:p>
        </p:txBody>
      </p:sp>
      <p:graphicFrame>
        <p:nvGraphicFramePr>
          <p:cNvPr id="30" name="표 29">
            <a:extLst>
              <a:ext uri="{FF2B5EF4-FFF2-40B4-BE49-F238E27FC236}">
                <a16:creationId xmlns:a16="http://schemas.microsoft.com/office/drawing/2014/main" id="{ED1A157F-9128-18D1-18CA-BFB7B989D890}"/>
              </a:ext>
            </a:extLst>
          </p:cNvPr>
          <p:cNvGraphicFramePr>
            <a:graphicFrameLocks noGrp="1"/>
          </p:cNvGraphicFramePr>
          <p:nvPr>
            <p:extLst>
              <p:ext uri="{D42A27DB-BD31-4B8C-83A1-F6EECF244321}">
                <p14:modId xmlns:p14="http://schemas.microsoft.com/office/powerpoint/2010/main" val="2639008426"/>
              </p:ext>
            </p:extLst>
          </p:nvPr>
        </p:nvGraphicFramePr>
        <p:xfrm>
          <a:off x="494213" y="1413982"/>
          <a:ext cx="4299944" cy="5189730"/>
        </p:xfrm>
        <a:graphic>
          <a:graphicData uri="http://schemas.openxmlformats.org/drawingml/2006/table">
            <a:tbl>
              <a:tblPr/>
              <a:tblGrid>
                <a:gridCol w="351934">
                  <a:extLst>
                    <a:ext uri="{9D8B030D-6E8A-4147-A177-3AD203B41FA5}">
                      <a16:colId xmlns:a16="http://schemas.microsoft.com/office/drawing/2014/main" val="1808721132"/>
                    </a:ext>
                  </a:extLst>
                </a:gridCol>
                <a:gridCol w="315221">
                  <a:extLst>
                    <a:ext uri="{9D8B030D-6E8A-4147-A177-3AD203B41FA5}">
                      <a16:colId xmlns:a16="http://schemas.microsoft.com/office/drawing/2014/main" val="1213099695"/>
                    </a:ext>
                  </a:extLst>
                </a:gridCol>
                <a:gridCol w="381786">
                  <a:extLst>
                    <a:ext uri="{9D8B030D-6E8A-4147-A177-3AD203B41FA5}">
                      <a16:colId xmlns:a16="http://schemas.microsoft.com/office/drawing/2014/main" val="4043781862"/>
                    </a:ext>
                  </a:extLst>
                </a:gridCol>
                <a:gridCol w="276520">
                  <a:extLst>
                    <a:ext uri="{9D8B030D-6E8A-4147-A177-3AD203B41FA5}">
                      <a16:colId xmlns:a16="http://schemas.microsoft.com/office/drawing/2014/main" val="2117934134"/>
                    </a:ext>
                  </a:extLst>
                </a:gridCol>
                <a:gridCol w="276520">
                  <a:extLst>
                    <a:ext uri="{9D8B030D-6E8A-4147-A177-3AD203B41FA5}">
                      <a16:colId xmlns:a16="http://schemas.microsoft.com/office/drawing/2014/main" val="3347917454"/>
                    </a:ext>
                  </a:extLst>
                </a:gridCol>
                <a:gridCol w="276520">
                  <a:extLst>
                    <a:ext uri="{9D8B030D-6E8A-4147-A177-3AD203B41FA5}">
                      <a16:colId xmlns:a16="http://schemas.microsoft.com/office/drawing/2014/main" val="3700475345"/>
                    </a:ext>
                  </a:extLst>
                </a:gridCol>
                <a:gridCol w="276520">
                  <a:extLst>
                    <a:ext uri="{9D8B030D-6E8A-4147-A177-3AD203B41FA5}">
                      <a16:colId xmlns:a16="http://schemas.microsoft.com/office/drawing/2014/main" val="3629259271"/>
                    </a:ext>
                  </a:extLst>
                </a:gridCol>
                <a:gridCol w="276520">
                  <a:extLst>
                    <a:ext uri="{9D8B030D-6E8A-4147-A177-3AD203B41FA5}">
                      <a16:colId xmlns:a16="http://schemas.microsoft.com/office/drawing/2014/main" val="1638027199"/>
                    </a:ext>
                  </a:extLst>
                </a:gridCol>
                <a:gridCol w="276520">
                  <a:extLst>
                    <a:ext uri="{9D8B030D-6E8A-4147-A177-3AD203B41FA5}">
                      <a16:colId xmlns:a16="http://schemas.microsoft.com/office/drawing/2014/main" val="2988632402"/>
                    </a:ext>
                  </a:extLst>
                </a:gridCol>
                <a:gridCol w="276520">
                  <a:extLst>
                    <a:ext uri="{9D8B030D-6E8A-4147-A177-3AD203B41FA5}">
                      <a16:colId xmlns:a16="http://schemas.microsoft.com/office/drawing/2014/main" val="128830928"/>
                    </a:ext>
                  </a:extLst>
                </a:gridCol>
                <a:gridCol w="276520">
                  <a:extLst>
                    <a:ext uri="{9D8B030D-6E8A-4147-A177-3AD203B41FA5}">
                      <a16:colId xmlns:a16="http://schemas.microsoft.com/office/drawing/2014/main" val="2065822056"/>
                    </a:ext>
                  </a:extLst>
                </a:gridCol>
                <a:gridCol w="138584">
                  <a:extLst>
                    <a:ext uri="{9D8B030D-6E8A-4147-A177-3AD203B41FA5}">
                      <a16:colId xmlns:a16="http://schemas.microsoft.com/office/drawing/2014/main" val="3749457765"/>
                    </a:ext>
                  </a:extLst>
                </a:gridCol>
                <a:gridCol w="498049">
                  <a:extLst>
                    <a:ext uri="{9D8B030D-6E8A-4147-A177-3AD203B41FA5}">
                      <a16:colId xmlns:a16="http://schemas.microsoft.com/office/drawing/2014/main" val="1205353105"/>
                    </a:ext>
                  </a:extLst>
                </a:gridCol>
                <a:gridCol w="402210">
                  <a:extLst>
                    <a:ext uri="{9D8B030D-6E8A-4147-A177-3AD203B41FA5}">
                      <a16:colId xmlns:a16="http://schemas.microsoft.com/office/drawing/2014/main" val="758762243"/>
                    </a:ext>
                  </a:extLst>
                </a:gridCol>
              </a:tblGrid>
              <a:tr h="120663">
                <a:tc gridSpan="3">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공정</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'26.8</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7월,8월 Gap</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26년 누적</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274155251"/>
                  </a:ext>
                </a:extLst>
              </a:tr>
              <a:tr h="120663">
                <a:tc gridSpan="3">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PKG 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0.31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0.67 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0.74 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0.89 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0.96 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 M</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0.49 M</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5.09 M</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74025878"/>
                  </a:ext>
                </a:extLst>
              </a:tr>
              <a:tr h="120663">
                <a:tc gridSpan="3">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종합수율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8</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8.8</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0.9</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93.</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3</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93.</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1</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92.</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7</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91.</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7</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4</a:t>
                      </a:r>
                      <a:r>
                        <a:rPr lang="ko-KR" sz="800" b="0" i="0" u="none" strike="noStrike" dirty="0">
                          <a:solidFill>
                            <a:srgbClr val="000000"/>
                          </a:solidFill>
                          <a:effectLst/>
                          <a:latin typeface="Arial Narrow" panose="020B0606020202030204" pitchFamily="34" charset="0"/>
                          <a:ea typeface="맑은 고딕" panose="020B0503020000020004" pitchFamily="50" charset="-127"/>
                        </a:rPr>
                        <a:t>.</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9</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95.</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1</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20</a:t>
                      </a:r>
                      <a:r>
                        <a:rPr lang="ko-KR" sz="8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92.</a:t>
                      </a:r>
                      <a:r>
                        <a:rPr lang="en-US" altLang="ko-KR" sz="800" b="0" i="0" u="none" strike="noStrike" dirty="0">
                          <a:solidFill>
                            <a:srgbClr val="000000"/>
                          </a:solidFill>
                          <a:effectLst/>
                          <a:latin typeface="Arial Narrow" panose="020B0606020202030204" pitchFamily="34" charset="0"/>
                          <a:ea typeface="맑은 고딕" panose="020B0503020000020004" pitchFamily="50" charset="-127"/>
                        </a:rPr>
                        <a:t>5</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74076701"/>
                  </a:ext>
                </a:extLst>
              </a:tr>
              <a:tr h="120663">
                <a:tc rowSpan="6"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전극</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6" h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0.17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98.4</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4579780"/>
                  </a:ext>
                </a:extLst>
              </a:tr>
              <a:tr h="120663">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믹서</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16626417"/>
                  </a:ext>
                </a:extLst>
              </a:tr>
              <a:tr h="120663">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코터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3429509"/>
                  </a:ext>
                </a:extLst>
              </a:tr>
              <a:tr h="120663">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롤프레스</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2617592"/>
                  </a:ext>
                </a:extLst>
              </a:tr>
              <a:tr h="120663">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슬리터</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15861918"/>
                  </a:ext>
                </a:extLst>
              </a:tr>
              <a:tr h="120663">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노칭</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76178651"/>
                  </a:ext>
                </a:extLst>
              </a:tr>
              <a:tr h="120663">
                <a:tc rowSpan="10">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셀</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4">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조립</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94.7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98.0</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96.6</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24771810"/>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라미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98.2</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73211881"/>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스태킹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98.7</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4894359"/>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패키징</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5115385"/>
                  </a:ext>
                </a:extLst>
              </a:tr>
              <a:tr h="120663">
                <a:tc vMerge="1">
                  <a:txBody>
                    <a:bodyPr/>
                    <a:lstStyle/>
                    <a:p>
                      <a:pPr latinLnBrk="1"/>
                      <a:endParaRPr lang="ko-KR" altLang="en-US"/>
                    </a:p>
                  </a:txBody>
                  <a:tcPr/>
                </a:tc>
                <a:tc rowSpan="6">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활성화</a:t>
                      </a:r>
                    </a:p>
                  </a:txBody>
                  <a:tcPr marL="0" marR="0" marT="0" marB="0" anchor="ctr">
                    <a:lnL w="6350" cap="flat" cmpd="sng" algn="ctr">
                      <a:solidFill>
                        <a:srgbClr val="000000"/>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96.9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95.6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98.7</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97.5</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23361991"/>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1차 For.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3494960"/>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디가스</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2272890"/>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2차 For.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06034272"/>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101.9</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1.99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99.7</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19367029"/>
                  </a:ext>
                </a:extLst>
              </a:tr>
              <a:tr h="120663">
                <a:tc vMerge="1">
                  <a:txBody>
                    <a:bodyPr/>
                    <a:lstStyle/>
                    <a:p>
                      <a:pPr latinLnBrk="1"/>
                      <a:endParaRPr lang="ko-KR" altLang="en-US"/>
                    </a:p>
                  </a:txBody>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99.6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97.6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-2.02 </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98.8</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35712143"/>
                  </a:ext>
                </a:extLst>
              </a:tr>
              <a:tr h="72475">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83260028"/>
                  </a:ext>
                </a:extLst>
              </a:tr>
              <a:tr h="120663">
                <a:tc rowSpan="6">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라미</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NG마킹</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0.39</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0.78</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14327668"/>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위치</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0.22</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25920101"/>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위치 관련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69323420"/>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연결Loss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72474343"/>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공정Loss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49616392"/>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쇼트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66915449"/>
                  </a:ext>
                </a:extLst>
              </a:tr>
              <a:tr h="120663">
                <a:tc>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197575812"/>
                  </a:ext>
                </a:extLst>
              </a:tr>
              <a:tr h="72475">
                <a:tc>
                  <a:txBody>
                    <a:bodyPr/>
                    <a:lstStyle/>
                    <a:p>
                      <a:pPr algn="ctr"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33718270"/>
                  </a:ext>
                </a:extLst>
              </a:tr>
              <a:tr h="120663">
                <a:tc rowSpan="5">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스태킹</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모노세파외관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33420881"/>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치수/외관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4985305"/>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쇼트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52826389"/>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Stack</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0.23</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94213088"/>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HC Hangover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5786203"/>
                  </a:ext>
                </a:extLst>
              </a:tr>
              <a:tr h="120663">
                <a:tc>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기타</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994009438"/>
                  </a:ext>
                </a:extLst>
              </a:tr>
              <a:tr h="72475">
                <a:tc>
                  <a:txBody>
                    <a:bodyPr/>
                    <a:lstStyle/>
                    <a:p>
                      <a:pPr algn="ctr"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1696296"/>
                  </a:ext>
                </a:extLst>
              </a:tr>
              <a:tr h="120663">
                <a:tc>
                  <a:txBody>
                    <a:bodyPr/>
                    <a:lstStyle/>
                    <a:p>
                      <a:pPr algn="ct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1차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For</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gridSpan="2">
                  <a:txBody>
                    <a:bodyPr/>
                    <a:lstStyle/>
                    <a:p>
                      <a:pPr algn="ctr"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Q</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Grade</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0.18</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633454"/>
                  </a:ext>
                </a:extLst>
              </a:tr>
              <a:tr h="72475">
                <a:tc>
                  <a:txBody>
                    <a:bodyPr/>
                    <a:lstStyle/>
                    <a:p>
                      <a:pPr algn="ctr"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82886556"/>
                  </a:ext>
                </a:extLst>
              </a:tr>
              <a:tr h="120663">
                <a:tc>
                  <a:txBody>
                    <a:bodyPr/>
                    <a:lstStyle/>
                    <a:p>
                      <a:pPr algn="ct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2차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For</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gridSpan="2">
                  <a:txBody>
                    <a:bodyPr/>
                    <a:lstStyle/>
                    <a:p>
                      <a:pPr algn="ctr"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Q</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Grade</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0.32</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12609202"/>
                  </a:ext>
                </a:extLst>
              </a:tr>
              <a:tr h="72475">
                <a:tc>
                  <a:txBody>
                    <a:bodyPr/>
                    <a:lstStyle/>
                    <a:p>
                      <a:pPr algn="ctr"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9543946"/>
                  </a:ext>
                </a:extLst>
              </a:tr>
              <a:tr h="120663">
                <a:tc>
                  <a:txBody>
                    <a:bodyPr/>
                    <a:lstStyle/>
                    <a:p>
                      <a:pPr algn="ctr"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Grading</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gridSpan="2">
                  <a:txBody>
                    <a:bodyPr/>
                    <a:lstStyle/>
                    <a:p>
                      <a:pPr algn="ctr"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저전압</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관련</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-1.83</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-1.89</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68201376"/>
                  </a:ext>
                </a:extLst>
              </a:tr>
              <a:tr h="72475">
                <a:tc>
                  <a:txBody>
                    <a:bodyPr/>
                    <a:lstStyle/>
                    <a:p>
                      <a:pPr algn="ctr" fontAlgn="ctr">
                        <a:buNone/>
                      </a:pPr>
                      <a:r>
                        <a:rPr lang="ko-KR" sz="2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2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03334259"/>
                  </a:ext>
                </a:extLst>
              </a:tr>
              <a:tr h="120663">
                <a:tc rowSpan="3">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외관</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0.88</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0.99</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0.63</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0.76</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03428333"/>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치수</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0.25</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73270646"/>
                  </a:ext>
                </a:extLst>
              </a:tr>
              <a:tr h="120663">
                <a:tc vMerge="1">
                  <a:txBody>
                    <a:bodyPr/>
                    <a:lstStyle/>
                    <a:p>
                      <a:pPr latinLnBrk="1"/>
                      <a:endParaRPr lang="ko-KR" altLang="en-US"/>
                    </a:p>
                  </a:txBody>
                  <a:tcPr/>
                </a:tc>
                <a:tc gridSpan="2">
                  <a:txBody>
                    <a:bodyPr/>
                    <a:lstStyle/>
                    <a:p>
                      <a:pPr algn="ct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IR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0" marR="0" marT="0" marB="0" anchor="ctr">
                    <a:lnL>
                      <a:noFill/>
                    </a:lnL>
                    <a:lnR w="6350" cap="flat" cmpd="sng" algn="ctr">
                      <a:solidFill>
                        <a:schemeClr val="tx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0" marR="0" marT="0" marB="0" anchor="ctr">
                    <a:lnL w="6350" cap="flat" cmpd="sng" algn="ctr">
                      <a:solidFill>
                        <a:schemeClr val="tx1"/>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38236088"/>
                  </a:ext>
                </a:extLst>
              </a:tr>
              <a:tr h="120663">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0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85587607"/>
                  </a:ext>
                </a:extLst>
              </a:tr>
            </a:tbl>
          </a:graphicData>
        </a:graphic>
      </p:graphicFrame>
      <p:sp>
        <p:nvSpPr>
          <p:cNvPr id="36" name="TextBox 124">
            <a:extLst>
              <a:ext uri="{FF2B5EF4-FFF2-40B4-BE49-F238E27FC236}">
                <a16:creationId xmlns:a16="http://schemas.microsoft.com/office/drawing/2014/main" id="{63907D1A-10B3-47B5-71D7-10BCABDFD046}"/>
              </a:ext>
            </a:extLst>
          </p:cNvPr>
          <p:cNvSpPr txBox="1"/>
          <p:nvPr/>
        </p:nvSpPr>
        <p:spPr>
          <a:xfrm>
            <a:off x="4396492" y="1288401"/>
            <a:ext cx="394661" cy="137071"/>
          </a:xfrm>
          <a:prstGeom prst="rect">
            <a:avLst/>
          </a:prstGeom>
          <a:noFill/>
        </p:spPr>
        <p:txBody>
          <a:bodyPr wrap="square" lIns="0" tIns="0" rIns="0" bIns="0" rtlCol="0" anchor="ctr" anchorCtr="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defRPr/>
            </a:pPr>
            <a:r>
              <a:rPr lang="en-US" altLang="ko-KR" sz="891" dirty="0">
                <a:solidFill>
                  <a:srgbClr val="008000"/>
                </a:solidFill>
                <a:latin typeface="Arial Narrow" panose="020B0606020202030204" pitchFamily="34" charset="0"/>
                <a:ea typeface="LG스마트체 Regular" panose="020B0600000101010101" pitchFamily="50" charset="-127"/>
              </a:rPr>
              <a:t>~8/31</a:t>
            </a:r>
          </a:p>
        </p:txBody>
      </p:sp>
      <p:sp>
        <p:nvSpPr>
          <p:cNvPr id="7" name="실행 단추: 홈으로 이동 6">
            <a:hlinkClick r:id="rId3" action="ppaction://hlinksldjump" highlightClick="1"/>
            <a:extLst>
              <a:ext uri="{FF2B5EF4-FFF2-40B4-BE49-F238E27FC236}">
                <a16:creationId xmlns:a16="http://schemas.microsoft.com/office/drawing/2014/main" id="{A5871E8D-0E7B-B80B-B18B-91FE8C061476}"/>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맑은 고딕"/>
              <a:ea typeface="맑은 고딕" panose="020B0503020000020004" pitchFamily="50" charset="-127"/>
              <a:cs typeface="+mn-cs"/>
            </a:endParaRPr>
          </a:p>
        </p:txBody>
      </p:sp>
      <p:sp>
        <p:nvSpPr>
          <p:cNvPr id="9" name="TextBox 8">
            <a:extLst>
              <a:ext uri="{FF2B5EF4-FFF2-40B4-BE49-F238E27FC236}">
                <a16:creationId xmlns:a16="http://schemas.microsoft.com/office/drawing/2014/main" id="{63EFB07F-A5CA-2AA1-C9B5-B983660232C6}"/>
              </a:ext>
            </a:extLst>
          </p:cNvPr>
          <p:cNvSpPr txBox="1"/>
          <p:nvPr/>
        </p:nvSpPr>
        <p:spPr>
          <a:xfrm>
            <a:off x="8202737"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6" name="직사각형 5">
            <a:extLst>
              <a:ext uri="{FF2B5EF4-FFF2-40B4-BE49-F238E27FC236}">
                <a16:creationId xmlns:a16="http://schemas.microsoft.com/office/drawing/2014/main" id="{DECE5116-BEB6-7458-A86C-B1A4B9967061}"/>
              </a:ext>
            </a:extLst>
          </p:cNvPr>
          <p:cNvSpPr/>
          <p:nvPr/>
        </p:nvSpPr>
        <p:spPr>
          <a:xfrm>
            <a:off x="5270364" y="1765232"/>
            <a:ext cx="387796" cy="1175620"/>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ko-KR" altLang="en-US" sz="900" dirty="0">
                <a:solidFill>
                  <a:schemeClr val="tx1"/>
                </a:solidFill>
                <a:latin typeface="Arial Narrow" panose="020B0606020202030204" pitchFamily="34" charset="0"/>
                <a:ea typeface="LG스마트체 Regular" panose="020B0600000101010101" pitchFamily="50" charset="-127"/>
              </a:rPr>
              <a:t>셀</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ko-KR" altLang="en-US" sz="900" dirty="0">
                <a:solidFill>
                  <a:schemeClr val="tx1"/>
                </a:solidFill>
                <a:latin typeface="Arial Narrow" panose="020B0606020202030204" pitchFamily="34" charset="0"/>
                <a:ea typeface="LG스마트체 Regular" panose="020B0600000101010101" pitchFamily="50" charset="-127"/>
              </a:rPr>
              <a:t>수율</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en-US" altLang="ko-KR" sz="900" dirty="0">
                <a:solidFill>
                  <a:schemeClr val="tx1"/>
                </a:solidFill>
                <a:latin typeface="Arial Narrow" panose="020B0606020202030204" pitchFamily="34" charset="0"/>
                <a:ea typeface="LG스마트체 Regular" panose="020B0600000101010101" pitchFamily="50" charset="-127"/>
              </a:rPr>
              <a:t>96.7%</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cxnSp>
        <p:nvCxnSpPr>
          <p:cNvPr id="8" name="직선 연결선 7">
            <a:extLst>
              <a:ext uri="{FF2B5EF4-FFF2-40B4-BE49-F238E27FC236}">
                <a16:creationId xmlns:a16="http://schemas.microsoft.com/office/drawing/2014/main" id="{0C10281C-B9CB-8F88-7951-6B8B45895DAB}"/>
              </a:ext>
            </a:extLst>
          </p:cNvPr>
          <p:cNvCxnSpPr>
            <a:cxnSpLocks/>
          </p:cNvCxnSpPr>
          <p:nvPr/>
        </p:nvCxnSpPr>
        <p:spPr>
          <a:xfrm flipH="1">
            <a:off x="5284934" y="3180911"/>
            <a:ext cx="4146365"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직사각형 10">
            <a:extLst>
              <a:ext uri="{FF2B5EF4-FFF2-40B4-BE49-F238E27FC236}">
                <a16:creationId xmlns:a16="http://schemas.microsoft.com/office/drawing/2014/main" id="{D706768E-4A92-8E61-31FA-CCFC1694F3F6}"/>
              </a:ext>
            </a:extLst>
          </p:cNvPr>
          <p:cNvSpPr/>
          <p:nvPr/>
        </p:nvSpPr>
        <p:spPr>
          <a:xfrm>
            <a:off x="9043503" y="1454569"/>
            <a:ext cx="387796" cy="1486281"/>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ko-KR" altLang="en-US" sz="900" dirty="0">
                <a:solidFill>
                  <a:schemeClr val="tx1"/>
                </a:solidFill>
                <a:latin typeface="Arial Narrow" panose="020B0606020202030204" pitchFamily="34" charset="0"/>
                <a:ea typeface="LG스마트체 Regular" panose="020B0600000101010101" pitchFamily="50" charset="-127"/>
              </a:rPr>
              <a:t>셀</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ko-KR" altLang="en-US" sz="900" dirty="0">
                <a:solidFill>
                  <a:schemeClr val="tx1"/>
                </a:solidFill>
                <a:latin typeface="Arial Narrow" panose="020B0606020202030204" pitchFamily="34" charset="0"/>
                <a:ea typeface="LG스마트체 Regular" panose="020B0600000101010101" pitchFamily="50" charset="-127"/>
              </a:rPr>
              <a:t>수율</a:t>
            </a:r>
            <a:br>
              <a:rPr kumimoji="1" lang="en-US" altLang="ko-KR" sz="900" dirty="0">
                <a:solidFill>
                  <a:schemeClr val="tx1"/>
                </a:solidFill>
                <a:latin typeface="Arial Narrow" panose="020B0606020202030204" pitchFamily="34" charset="0"/>
                <a:ea typeface="LG스마트체 Regular" panose="020B0600000101010101" pitchFamily="50" charset="-127"/>
              </a:rPr>
            </a:br>
            <a:r>
              <a:rPr kumimoji="1" lang="en-US" altLang="ko-KR" sz="900" dirty="0">
                <a:solidFill>
                  <a:schemeClr val="tx1"/>
                </a:solidFill>
                <a:latin typeface="Arial Narrow" panose="020B0606020202030204" pitchFamily="34" charset="0"/>
                <a:ea typeface="LG스마트체 Regular" panose="020B0600000101010101" pitchFamily="50" charset="-127"/>
              </a:rPr>
              <a:t>96.8%</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12" name="TextBox 11">
            <a:extLst>
              <a:ext uri="{FF2B5EF4-FFF2-40B4-BE49-F238E27FC236}">
                <a16:creationId xmlns:a16="http://schemas.microsoft.com/office/drawing/2014/main" id="{6F667C2F-17B0-1BCE-990D-5A7F2B58135B}"/>
              </a:ext>
            </a:extLst>
          </p:cNvPr>
          <p:cNvSpPr txBox="1"/>
          <p:nvPr/>
        </p:nvSpPr>
        <p:spPr>
          <a:xfrm>
            <a:off x="7096560" y="2535349"/>
            <a:ext cx="987771" cy="276999"/>
          </a:xfrm>
          <a:prstGeom prst="rect">
            <a:avLst/>
          </a:prstGeom>
          <a:noFill/>
        </p:spPr>
        <p:txBody>
          <a:bodyPr wrap="square" rtlCol="0">
            <a:spAutoFit/>
          </a:bodyPr>
          <a:lstStyle/>
          <a:p>
            <a:r>
              <a:rPr kumimoji="1" lang="ko-KR" altLang="en-US" sz="1200" b="1" dirty="0">
                <a:latin typeface="Arial Narrow" panose="020B0606020202030204" pitchFamily="34" charset="0"/>
                <a:ea typeface="LG스마트체 Regular" panose="020B0600000101010101" pitchFamily="50" charset="-127"/>
              </a:rPr>
              <a:t>총 합 </a:t>
            </a:r>
            <a:r>
              <a:rPr kumimoji="1" lang="en-US" altLang="ko-KR" sz="1200" b="1" dirty="0">
                <a:latin typeface="Arial Narrow" panose="020B0606020202030204" pitchFamily="34" charset="0"/>
                <a:ea typeface="LG스마트체 Regular" panose="020B0600000101010101" pitchFamily="50" charset="-127"/>
              </a:rPr>
              <a:t>0.1% </a:t>
            </a:r>
            <a:r>
              <a:rPr kumimoji="1" lang="ko-KR" altLang="en-US" sz="1200" b="1" dirty="0">
                <a:latin typeface="Arial Narrow" panose="020B0606020202030204" pitchFamily="34" charset="0"/>
                <a:ea typeface="LG스마트체 Regular" panose="020B0600000101010101" pitchFamily="50" charset="-127"/>
              </a:rPr>
              <a:t>▲</a:t>
            </a:r>
          </a:p>
        </p:txBody>
      </p:sp>
      <p:sp>
        <p:nvSpPr>
          <p:cNvPr id="18" name="TextBox 17">
            <a:extLst>
              <a:ext uri="{FF2B5EF4-FFF2-40B4-BE49-F238E27FC236}">
                <a16:creationId xmlns:a16="http://schemas.microsoft.com/office/drawing/2014/main" id="{D7675DB1-A63E-F068-6772-91A17543EAFC}"/>
              </a:ext>
            </a:extLst>
          </p:cNvPr>
          <p:cNvSpPr txBox="1"/>
          <p:nvPr/>
        </p:nvSpPr>
        <p:spPr>
          <a:xfrm>
            <a:off x="5241032" y="3246817"/>
            <a:ext cx="4459435" cy="3462486"/>
          </a:xfrm>
          <a:prstGeom prst="rect">
            <a:avLst/>
          </a:prstGeom>
          <a:noFill/>
        </p:spPr>
        <p:txBody>
          <a:bodyPr wrap="square" rtlCol="0">
            <a:spAutoFit/>
          </a:bodyPr>
          <a:lstStyle/>
          <a:p>
            <a:pPr>
              <a:buFont typeface="Wingdings" panose="05000000000000000000" pitchFamily="2" charset="2"/>
              <a:buChar char="§"/>
            </a:pPr>
            <a:r>
              <a:rPr kumimoji="1" lang="ko-KR" altLang="en-US" sz="1000" b="1" dirty="0">
                <a:latin typeface="Arial Narrow" panose="020B0606020202030204" pitchFamily="34" charset="0"/>
                <a:ea typeface="LG스마트체 Regular" panose="020B0600000101010101" pitchFamily="50" charset="-127"/>
              </a:rPr>
              <a:t> 법인 자체 개선 필요 사항</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EOL </a:t>
            </a:r>
            <a:r>
              <a:rPr kumimoji="1" lang="ko-KR" altLang="en-US" sz="900" dirty="0">
                <a:latin typeface="Arial Narrow" panose="020B0606020202030204" pitchFamily="34" charset="0"/>
                <a:ea typeface="LG스마트체 Regular" panose="020B0600000101010101" pitchFamily="50" charset="-127"/>
              </a:rPr>
              <a:t>외관 </a:t>
            </a:r>
            <a:r>
              <a:rPr kumimoji="1" lang="en-US" altLang="ko-KR" sz="900" dirty="0">
                <a:latin typeface="Arial Narrow" panose="020B0606020202030204" pitchFamily="34" charset="0"/>
                <a:ea typeface="LG스마트체 Regular" panose="020B0600000101010101" pitchFamily="50" charset="-127"/>
              </a:rPr>
              <a:t>/ Risk</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range</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 정보 이상 개선 </a:t>
            </a:r>
            <a:r>
              <a:rPr kumimoji="1" lang="en-US" altLang="ko-KR" sz="900" dirty="0">
                <a:latin typeface="Arial Narrow" panose="020B0606020202030204" pitchFamily="34" charset="0"/>
                <a:ea typeface="LG스마트체 Regular" panose="020B0600000101010101" pitchFamily="50" charset="-127"/>
              </a:rPr>
              <a:t>: 1.29%p </a:t>
            </a:r>
            <a:r>
              <a:rPr kumimoji="1" lang="ko-KR" altLang="en-US" sz="900" dirty="0">
                <a:latin typeface="Arial Narrow" panose="020B0606020202030204" pitchFamily="34" charset="0"/>
                <a:ea typeface="LG스마트체 Regular" panose="020B0600000101010101" pitchFamily="50" charset="-127"/>
              </a:rPr>
              <a:t>↑ </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외관</a:t>
            </a:r>
            <a:r>
              <a:rPr kumimoji="1" lang="en-US" altLang="ko-KR" sz="900" dirty="0">
                <a:latin typeface="Arial Narrow" panose="020B0606020202030204" pitchFamily="34" charset="0"/>
                <a:ea typeface="LG스마트체 Regular" panose="020B0600000101010101" pitchFamily="50" charset="-127"/>
              </a:rPr>
              <a:t>0.99%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0.3%, Risk range / </a:t>
            </a:r>
            <a:r>
              <a:rPr kumimoji="1" lang="ko-KR" altLang="en-US" sz="900" dirty="0">
                <a:latin typeface="Arial Narrow" panose="020B0606020202030204" pitchFamily="34" charset="0"/>
                <a:ea typeface="LG스마트체 Regular" panose="020B0600000101010101" pitchFamily="50" charset="-127"/>
              </a:rPr>
              <a:t>정보이상 </a:t>
            </a:r>
            <a:r>
              <a:rPr kumimoji="1" lang="en-US" altLang="ko-KR" sz="900" dirty="0">
                <a:latin typeface="Arial Narrow" panose="020B0606020202030204" pitchFamily="34" charset="0"/>
                <a:ea typeface="LG스마트체 Regular" panose="020B0600000101010101" pitchFamily="50" charset="-127"/>
              </a:rPr>
              <a:t>0.6%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Stacking </a:t>
            </a:r>
            <a:r>
              <a:rPr kumimoji="1" lang="ko-KR" altLang="en-US" sz="900" dirty="0">
                <a:latin typeface="Arial Narrow" panose="020B0606020202030204" pitchFamily="34" charset="0"/>
                <a:ea typeface="LG스마트체 Regular" panose="020B0600000101010101" pitchFamily="50" charset="-127"/>
              </a:rPr>
              <a:t>재작업 </a:t>
            </a:r>
            <a:r>
              <a:rPr kumimoji="1" lang="en-US" altLang="ko-KR" sz="900" dirty="0">
                <a:latin typeface="Arial Narrow" panose="020B0606020202030204" pitchFamily="34" charset="0"/>
                <a:ea typeface="LG스마트체 Regular" panose="020B0600000101010101" pitchFamily="50" charset="-127"/>
              </a:rPr>
              <a:t>Cover (7</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-0.37%, 8</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JF1 </a:t>
            </a:r>
            <a:r>
              <a:rPr kumimoji="1" lang="ko-KR" altLang="en-US" sz="900" dirty="0">
                <a:latin typeface="Arial Narrow" panose="020B0606020202030204" pitchFamily="34" charset="0"/>
                <a:ea typeface="LG스마트체 Regular" panose="020B0600000101010101" pitchFamily="50" charset="-127"/>
              </a:rPr>
              <a:t>스택킹</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수동</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추적성 미확보로 재작업 불가</a:t>
            </a:r>
            <a:r>
              <a:rPr kumimoji="1" lang="en-US" altLang="ko-KR" sz="900" dirty="0">
                <a:latin typeface="Arial Narrow" panose="020B0606020202030204" pitchFamily="34" charset="0"/>
                <a:ea typeface="LG스마트체 Regular" panose="020B0600000101010101" pitchFamily="50" charset="-127"/>
              </a:rPr>
              <a:t>(8</a:t>
            </a:r>
            <a:r>
              <a:rPr kumimoji="1" lang="ko-KR" altLang="en-US" sz="900" dirty="0">
                <a:latin typeface="Arial Narrow" panose="020B0606020202030204" pitchFamily="34" charset="0"/>
                <a:ea typeface="LG스마트체 Regular" panose="020B0600000101010101" pitchFamily="50" charset="-127"/>
              </a:rPr>
              <a:t>월</a:t>
            </a:r>
            <a:r>
              <a:rPr kumimoji="1" lang="en-US" altLang="ko-KR" sz="900" dirty="0">
                <a:latin typeface="Arial Narrow" panose="020B0606020202030204" pitchFamily="34" charset="0"/>
                <a:ea typeface="LG스마트체 Regular" panose="020B0600000101010101" pitchFamily="50" charset="-127"/>
              </a:rPr>
              <a:t>~)</a:t>
            </a:r>
          </a:p>
          <a:p>
            <a:pPr marL="171450" indent="-171450">
              <a:buFont typeface="Wingdings" panose="05000000000000000000" pitchFamily="2" charset="2"/>
              <a:buChar char="§"/>
            </a:pPr>
            <a:endParaRPr kumimoji="1" lang="en-US" altLang="ko-KR" sz="1000" dirty="0">
              <a:latin typeface="Arial Narrow" panose="020B0606020202030204" pitchFamily="34" charset="0"/>
              <a:ea typeface="LG스마트체 Regular" panose="020B0600000101010101" pitchFamily="50" charset="-127"/>
            </a:endParaRPr>
          </a:p>
          <a:p>
            <a:r>
              <a:rPr kumimoji="1" lang="ko-KR" altLang="en-US" sz="1000" b="1" dirty="0">
                <a:latin typeface="Arial Narrow" panose="020B0606020202030204" pitchFamily="34" charset="0"/>
                <a:ea typeface="LG스마트체 Regular" panose="020B0600000101010101" pitchFamily="50" charset="-127"/>
              </a:rPr>
              <a:t> 집중 개선 영역 및 목표</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JF2 9</a:t>
            </a:r>
            <a:r>
              <a:rPr kumimoji="1" lang="ko-KR" altLang="en-US" sz="900" dirty="0">
                <a:latin typeface="Arial Narrow" panose="020B0606020202030204" pitchFamily="34" charset="0"/>
                <a:ea typeface="LG스마트체 Regular" panose="020B0600000101010101" pitchFamily="50" charset="-127"/>
              </a:rPr>
              <a:t>월 재생산으로 수율 안정화</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집중 개선 필요</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NG</a:t>
            </a:r>
            <a:r>
              <a:rPr kumimoji="1" lang="ko-KR" altLang="en-US" sz="900" dirty="0">
                <a:latin typeface="Arial Narrow" panose="020B0606020202030204" pitchFamily="34" charset="0"/>
                <a:ea typeface="LG스마트체 Regular" panose="020B0600000101010101" pitchFamily="50" charset="-127"/>
              </a:rPr>
              <a:t>마킹</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위치</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err="1">
                <a:latin typeface="Arial Narrow" panose="020B0606020202030204" pitchFamily="34" charset="0"/>
                <a:ea typeface="LG스마트체 Regular" panose="020B0600000101010101" pitchFamily="50" charset="-127"/>
              </a:rPr>
              <a:t>모노세파</a:t>
            </a:r>
            <a:r>
              <a:rPr kumimoji="1" lang="ko-KR" altLang="en-US" sz="900" dirty="0">
                <a:latin typeface="Arial Narrow" panose="020B0606020202030204" pitchFamily="34" charset="0"/>
                <a:ea typeface="LG스마트체 Regular" panose="020B0600000101010101" pitchFamily="50" charset="-127"/>
              </a:rPr>
              <a:t> 등 기 구축 체계 기반 분석 강화</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(9/3 </a:t>
            </a:r>
            <a:r>
              <a:rPr kumimoji="1" lang="ko-KR" altLang="en-US" sz="900" dirty="0">
                <a:latin typeface="Arial Narrow" panose="020B0606020202030204" pitchFamily="34" charset="0"/>
                <a:ea typeface="LG스마트체 Regular" panose="020B0600000101010101" pitchFamily="50" charset="-127"/>
              </a:rPr>
              <a:t>기준</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라미 </a:t>
            </a:r>
            <a:r>
              <a:rPr kumimoji="1" lang="en-US" altLang="ko-KR" sz="900" dirty="0">
                <a:latin typeface="Arial Narrow" panose="020B0606020202030204" pitchFamily="34" charset="0"/>
                <a:ea typeface="LG스마트체 Regular" panose="020B0600000101010101" pitchFamily="50" charset="-127"/>
              </a:rPr>
              <a:t>NG</a:t>
            </a:r>
            <a:r>
              <a:rPr kumimoji="1" lang="ko-KR" altLang="en-US" sz="900" dirty="0">
                <a:latin typeface="Arial Narrow" panose="020B0606020202030204" pitchFamily="34" charset="0"/>
                <a:ea typeface="LG스마트체 Regular" panose="020B0600000101010101" pitchFamily="50" charset="-127"/>
              </a:rPr>
              <a:t>마킹 </a:t>
            </a:r>
            <a:r>
              <a:rPr kumimoji="1" lang="en-US" altLang="ko-KR" sz="900" dirty="0">
                <a:latin typeface="Arial Narrow" panose="020B0606020202030204" pitchFamily="34" charset="0"/>
                <a:ea typeface="LG스마트체 Regular" panose="020B0600000101010101" pitchFamily="50" charset="-127"/>
              </a:rPr>
              <a:t>0.69%, </a:t>
            </a:r>
            <a:r>
              <a:rPr kumimoji="1" lang="ko-KR" altLang="en-US" sz="900" dirty="0">
                <a:latin typeface="Arial Narrow" panose="020B0606020202030204" pitchFamily="34" charset="0"/>
                <a:ea typeface="LG스마트체 Regular" panose="020B0600000101010101" pitchFamily="50" charset="-127"/>
              </a:rPr>
              <a:t>위치 </a:t>
            </a:r>
            <a:r>
              <a:rPr kumimoji="1" lang="en-US" altLang="ko-KR" sz="900" dirty="0">
                <a:latin typeface="Arial Narrow" panose="020B0606020202030204" pitchFamily="34" charset="0"/>
                <a:ea typeface="LG스마트체 Regular" panose="020B0600000101010101" pitchFamily="50" charset="-127"/>
              </a:rPr>
              <a:t>0.3%, </a:t>
            </a:r>
            <a:r>
              <a:rPr kumimoji="1" lang="ko-KR" altLang="en-US" sz="900" dirty="0">
                <a:latin typeface="Arial Narrow" panose="020B0606020202030204" pitchFamily="34" charset="0"/>
                <a:ea typeface="LG스마트체 Regular" panose="020B0600000101010101" pitchFamily="50" charset="-127"/>
              </a:rPr>
              <a:t>미스매치 </a:t>
            </a:r>
            <a:r>
              <a:rPr kumimoji="1" lang="en-US" altLang="ko-KR" sz="900" dirty="0">
                <a:latin typeface="Arial Narrow" panose="020B0606020202030204" pitchFamily="34" charset="0"/>
                <a:ea typeface="LG스마트체 Regular" panose="020B0600000101010101" pitchFamily="50" charset="-127"/>
              </a:rPr>
              <a:t>0.31%, </a:t>
            </a:r>
            <a:r>
              <a:rPr kumimoji="1" lang="ko-KR" altLang="en-US" sz="900" dirty="0">
                <a:latin typeface="Arial Narrow" panose="020B0606020202030204" pitchFamily="34" charset="0"/>
                <a:ea typeface="LG스마트체 Regular" panose="020B0600000101010101" pitchFamily="50" charset="-127"/>
              </a:rPr>
              <a:t>스택킹 </a:t>
            </a:r>
            <a:r>
              <a:rPr kumimoji="1" lang="ko-KR" altLang="en-US" sz="900" dirty="0" err="1">
                <a:latin typeface="Arial Narrow" panose="020B0606020202030204" pitchFamily="34" charset="0"/>
                <a:ea typeface="LG스마트체 Regular" panose="020B0600000101010101" pitchFamily="50" charset="-127"/>
              </a:rPr>
              <a:t>모노세파</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0.62%)</a:t>
            </a:r>
          </a:p>
          <a:p>
            <a:r>
              <a:rPr kumimoji="1" lang="en-US" altLang="ko-KR" sz="900" dirty="0">
                <a:latin typeface="Arial Narrow" panose="020B0606020202030204" pitchFamily="34" charset="0"/>
                <a:ea typeface="LG스마트체 Regular" panose="020B0600000101010101" pitchFamily="50" charset="-127"/>
              </a:rPr>
              <a:t>  </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활성화 치수</a:t>
            </a:r>
            <a:r>
              <a:rPr kumimoji="1" lang="en-US" altLang="ko-KR" sz="900" dirty="0">
                <a:latin typeface="Arial Narrow" panose="020B0606020202030204" pitchFamily="34" charset="0"/>
                <a:ea typeface="LG스마트체 Regular" panose="020B0600000101010101" pitchFamily="50" charset="-127"/>
              </a:rPr>
              <a:t>/IR</a:t>
            </a:r>
            <a:r>
              <a:rPr kumimoji="1" lang="ko-KR" altLang="en-US" sz="900" dirty="0">
                <a:latin typeface="Arial Narrow" panose="020B0606020202030204" pitchFamily="34" charset="0"/>
                <a:ea typeface="LG스마트체 Regular" panose="020B0600000101010101" pitchFamily="50" charset="-127"/>
              </a:rPr>
              <a:t> 개선 </a:t>
            </a:r>
            <a:r>
              <a:rPr kumimoji="1" lang="en-US" altLang="ko-KR" sz="900" dirty="0">
                <a:latin typeface="Arial Narrow" panose="020B0606020202030204" pitchFamily="34" charset="0"/>
                <a:ea typeface="LG스마트체 Regular" panose="020B0600000101010101" pitchFamily="50" charset="-127"/>
              </a:rPr>
              <a:t>: 0.31%p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(8</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0.61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0.30%)</a:t>
            </a:r>
          </a:p>
          <a:p>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치수 </a:t>
            </a:r>
            <a:r>
              <a:rPr kumimoji="1" lang="en-US" altLang="ko-KR" sz="900" dirty="0">
                <a:latin typeface="Arial Narrow" panose="020B0606020202030204" pitchFamily="34" charset="0"/>
                <a:ea typeface="LG스마트체 Regular" panose="020B0600000101010101" pitchFamily="50" charset="-127"/>
              </a:rPr>
              <a:t>0.25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0.12%, IR 0.36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0.18%)</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PKG </a:t>
            </a:r>
            <a:r>
              <a:rPr kumimoji="1" lang="ko-KR" altLang="en-US" sz="900" dirty="0">
                <a:latin typeface="Arial Narrow" panose="020B0606020202030204" pitchFamily="34" charset="0"/>
                <a:ea typeface="LG스마트체 Regular" panose="020B0600000101010101" pitchFamily="50" charset="-127"/>
              </a:rPr>
              <a:t>치수 </a:t>
            </a:r>
            <a:r>
              <a:rPr kumimoji="1" lang="ko-KR" altLang="en-US" sz="900" dirty="0" err="1">
                <a:latin typeface="Arial Narrow" panose="020B0606020202030204" pitchFamily="34" charset="0"/>
                <a:ea typeface="LG스마트체 Regular" panose="020B0600000101010101" pitchFamily="50" charset="-127"/>
              </a:rPr>
              <a:t>중심치</a:t>
            </a:r>
            <a:r>
              <a:rPr kumimoji="1" lang="ko-KR" altLang="en-US" sz="900" dirty="0">
                <a:latin typeface="Arial Narrow" panose="020B0606020202030204" pitchFamily="34" charset="0"/>
                <a:ea typeface="LG스마트체 Regular" panose="020B0600000101010101" pitchFamily="50" charset="-127"/>
              </a:rPr>
              <a:t> 관리를 통한 </a:t>
            </a:r>
            <a:r>
              <a:rPr kumimoji="1" lang="en-US" altLang="ko-KR" sz="900" dirty="0">
                <a:latin typeface="Arial Narrow" panose="020B0606020202030204" pitchFamily="34" charset="0"/>
                <a:ea typeface="LG스마트체 Regular" panose="020B0600000101010101" pitchFamily="50" charset="-127"/>
              </a:rPr>
              <a:t>EOL </a:t>
            </a:r>
            <a:r>
              <a:rPr kumimoji="1" lang="ko-KR" altLang="en-US" sz="900" dirty="0">
                <a:latin typeface="Arial Narrow" panose="020B0606020202030204" pitchFamily="34" charset="0"/>
                <a:ea typeface="LG스마트체 Regular" panose="020B0600000101010101" pitchFamily="50" charset="-127"/>
              </a:rPr>
              <a:t>치수 및 </a:t>
            </a:r>
            <a:r>
              <a:rPr kumimoji="1" lang="en-US" altLang="ko-KR" sz="900" dirty="0">
                <a:latin typeface="Arial Narrow" panose="020B0606020202030204" pitchFamily="34" charset="0"/>
                <a:ea typeface="LG스마트체 Regular" panose="020B0600000101010101" pitchFamily="50" charset="-127"/>
              </a:rPr>
              <a:t>IR </a:t>
            </a:r>
            <a:r>
              <a:rPr kumimoji="1" lang="ko-KR" altLang="en-US" sz="900" dirty="0">
                <a:latin typeface="Arial Narrow" panose="020B0606020202030204" pitchFamily="34" charset="0"/>
                <a:ea typeface="LG스마트체 Regular" panose="020B0600000101010101" pitchFamily="50" charset="-127"/>
              </a:rPr>
              <a:t>개선 예정</a:t>
            </a:r>
            <a:endParaRPr kumimoji="1" lang="en-US" altLang="ko-KR" sz="900" dirty="0">
              <a:latin typeface="Arial Narrow" panose="020B0606020202030204" pitchFamily="34" charset="0"/>
              <a:ea typeface="LG스마트체 Regular" panose="020B0600000101010101" pitchFamily="50" charset="-127"/>
            </a:endParaRPr>
          </a:p>
          <a:p>
            <a:endParaRPr kumimoji="1" lang="en-US" altLang="ko-KR" sz="900" dirty="0">
              <a:latin typeface="Arial Narrow" panose="020B0606020202030204" pitchFamily="34" charset="0"/>
              <a:ea typeface="LG스마트체 Regular" panose="020B0600000101010101" pitchFamily="50" charset="-127"/>
            </a:endParaRPr>
          </a:p>
          <a:p>
            <a:r>
              <a:rPr kumimoji="1" lang="en-US" altLang="ko-KR" sz="900" dirty="0">
                <a:latin typeface="Arial Narrow" panose="020B0606020202030204" pitchFamily="34" charset="0"/>
                <a:ea typeface="LG스마트체 Regular" panose="020B0600000101010101" pitchFamily="50" charset="-127"/>
              </a:rPr>
              <a:t>  -. Q-grade </a:t>
            </a:r>
            <a:r>
              <a:rPr kumimoji="1" lang="ko-KR" altLang="en-US" sz="900" dirty="0">
                <a:latin typeface="Arial Narrow" panose="020B0606020202030204" pitchFamily="34" charset="0"/>
                <a:ea typeface="LG스마트체 Regular" panose="020B0600000101010101" pitchFamily="50" charset="-127"/>
              </a:rPr>
              <a:t>개선 </a:t>
            </a:r>
            <a:r>
              <a:rPr kumimoji="1" lang="en-US" altLang="ko-KR" sz="900" dirty="0">
                <a:latin typeface="Arial Narrow" panose="020B0606020202030204" pitchFamily="34" charset="0"/>
                <a:ea typeface="LG스마트체 Regular" panose="020B0600000101010101" pitchFamily="50" charset="-127"/>
              </a:rPr>
              <a:t>: 0.19%p</a:t>
            </a:r>
            <a:r>
              <a:rPr kumimoji="1" lang="ko-KR" altLang="en-US" sz="900" dirty="0">
                <a:latin typeface="Arial Narrow" panose="020B0606020202030204" pitchFamily="34" charset="0"/>
                <a:ea typeface="LG스마트체 Regular" panose="020B0600000101010101" pitchFamily="50" charset="-127"/>
              </a:rPr>
              <a:t> ↑ </a:t>
            </a:r>
            <a:r>
              <a:rPr kumimoji="1" lang="en-US" altLang="ko-KR" sz="900" dirty="0">
                <a:latin typeface="Arial Narrow" panose="020B0606020202030204" pitchFamily="34" charset="0"/>
                <a:ea typeface="LG스마트체 Regular" panose="020B0600000101010101" pitchFamily="50" charset="-127"/>
              </a:rPr>
              <a:t>(1</a:t>
            </a:r>
            <a:r>
              <a:rPr kumimoji="1" lang="ko-KR" altLang="en-US" sz="900" dirty="0">
                <a:latin typeface="Arial Narrow" panose="020B0606020202030204" pitchFamily="34" charset="0"/>
                <a:ea typeface="LG스마트체 Regular" panose="020B0600000101010101" pitchFamily="50" charset="-127"/>
              </a:rPr>
              <a:t>차 </a:t>
            </a:r>
            <a:r>
              <a:rPr kumimoji="1" lang="en-US" altLang="ko-KR" sz="900" dirty="0">
                <a:latin typeface="Arial Narrow" panose="020B0606020202030204" pitchFamily="34" charset="0"/>
                <a:ea typeface="LG스마트체 Regular" panose="020B0600000101010101" pitchFamily="50" charset="-127"/>
              </a:rPr>
              <a:t>0.18 + 2</a:t>
            </a:r>
            <a:r>
              <a:rPr kumimoji="1" lang="ko-KR" altLang="en-US" sz="900" dirty="0">
                <a:latin typeface="Arial Narrow" panose="020B0606020202030204" pitchFamily="34" charset="0"/>
                <a:ea typeface="LG스마트체 Regular" panose="020B0600000101010101" pitchFamily="50" charset="-127"/>
              </a:rPr>
              <a:t>차 </a:t>
            </a:r>
            <a:r>
              <a:rPr kumimoji="1" lang="en-US" altLang="ko-KR" sz="900" dirty="0">
                <a:latin typeface="Arial Narrow" panose="020B0606020202030204" pitchFamily="34" charset="0"/>
                <a:ea typeface="LG스마트체 Regular" panose="020B0600000101010101" pitchFamily="50" charset="-127"/>
              </a:rPr>
              <a:t>0.32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0.50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0.31%) </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1</a:t>
            </a:r>
            <a:r>
              <a:rPr kumimoji="1" lang="ko-KR" altLang="en-US" sz="900" dirty="0">
                <a:latin typeface="Arial Narrow" panose="020B0606020202030204" pitchFamily="34" charset="0"/>
                <a:ea typeface="LG스마트체 Regular" panose="020B0600000101010101" pitchFamily="50" charset="-127"/>
              </a:rPr>
              <a:t>차 판정 </a:t>
            </a:r>
            <a:r>
              <a:rPr kumimoji="1" lang="en-US" altLang="ko-KR" sz="900" dirty="0">
                <a:latin typeface="Arial Narrow" panose="020B0606020202030204" pitchFamily="34" charset="0"/>
                <a:ea typeface="LG스마트체 Regular" panose="020B0600000101010101" pitchFamily="50" charset="-127"/>
              </a:rPr>
              <a:t>NG </a:t>
            </a:r>
            <a:r>
              <a:rPr kumimoji="1" lang="ko-KR" altLang="en-US" sz="900" dirty="0">
                <a:latin typeface="Arial Narrow" panose="020B0606020202030204" pitchFamily="34" charset="0"/>
                <a:ea typeface="LG스마트체 Regular" panose="020B0600000101010101" pitchFamily="50" charset="-127"/>
              </a:rPr>
              <a:t>대상 전 모델 </a:t>
            </a:r>
            <a:r>
              <a:rPr kumimoji="1" lang="en-US" altLang="ko-KR" sz="900" dirty="0">
                <a:latin typeface="Arial Narrow" panose="020B0606020202030204" pitchFamily="34" charset="0"/>
                <a:ea typeface="LG스마트체 Regular" panose="020B0600000101010101" pitchFamily="50" charset="-127"/>
              </a:rPr>
              <a:t>Daily </a:t>
            </a:r>
            <a:r>
              <a:rPr kumimoji="1" lang="ko-KR" altLang="en-US" sz="900" dirty="0">
                <a:latin typeface="Arial Narrow" panose="020B0606020202030204" pitchFamily="34" charset="0"/>
                <a:ea typeface="LG스마트체 Regular" panose="020B0600000101010101" pitchFamily="50" charset="-127"/>
              </a:rPr>
              <a:t>불량 현황 조기 </a:t>
            </a:r>
            <a:r>
              <a:rPr kumimoji="1" lang="en-US" altLang="ko-KR" sz="900" dirty="0">
                <a:latin typeface="Arial Narrow" panose="020B0606020202030204" pitchFamily="34" charset="0"/>
                <a:ea typeface="LG스마트체 Regular" panose="020B0600000101010101" pitchFamily="50" charset="-127"/>
              </a:rPr>
              <a:t>Warning</a:t>
            </a:r>
          </a:p>
          <a:p>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NG </a:t>
            </a:r>
            <a:r>
              <a:rPr kumimoji="1" lang="ko-KR" altLang="en-US" sz="900" dirty="0">
                <a:latin typeface="Arial Narrow" panose="020B0606020202030204" pitchFamily="34" charset="0"/>
                <a:ea typeface="LG스마트체 Regular" panose="020B0600000101010101" pitchFamily="50" charset="-127"/>
              </a:rPr>
              <a:t>마킹</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개선 </a:t>
            </a:r>
            <a:r>
              <a:rPr kumimoji="1" lang="en-US" altLang="ko-KR" sz="900" dirty="0">
                <a:latin typeface="Arial Narrow" panose="020B0606020202030204" pitchFamily="34" charset="0"/>
                <a:ea typeface="LG스마트체 Regular" panose="020B0600000101010101" pitchFamily="50" charset="-127"/>
              </a:rPr>
              <a:t>: 0.09%p </a:t>
            </a:r>
            <a:r>
              <a:rPr kumimoji="1" lang="ko-KR" altLang="en-US" sz="900" dirty="0">
                <a:latin typeface="Arial Narrow" panose="020B0606020202030204" pitchFamily="34" charset="0"/>
                <a:ea typeface="LG스마트체 Regular" panose="020B0600000101010101" pitchFamily="50" charset="-127"/>
              </a:rPr>
              <a:t>↑</a:t>
            </a:r>
            <a:r>
              <a:rPr kumimoji="1" lang="en-US" altLang="ko-KR" sz="900" dirty="0">
                <a:latin typeface="Arial Narrow" panose="020B0606020202030204" pitchFamily="34" charset="0"/>
                <a:ea typeface="LG스마트체 Regular" panose="020B0600000101010101" pitchFamily="50" charset="-127"/>
              </a:rPr>
              <a:t> (8</a:t>
            </a:r>
            <a:r>
              <a:rPr kumimoji="1" lang="ko-KR" altLang="en-US" sz="900" dirty="0">
                <a:latin typeface="Arial Narrow" panose="020B0606020202030204" pitchFamily="34" charset="0"/>
                <a:ea typeface="LG스마트체 Regular" panose="020B0600000101010101" pitchFamily="50" charset="-127"/>
              </a:rPr>
              <a:t>월 </a:t>
            </a:r>
            <a:r>
              <a:rPr kumimoji="1" lang="en-US" altLang="ko-KR" sz="900" dirty="0">
                <a:latin typeface="Arial Narrow" panose="020B0606020202030204" pitchFamily="34" charset="0"/>
                <a:ea typeface="LG스마트체 Regular" panose="020B0600000101010101" pitchFamily="50" charset="-127"/>
              </a:rPr>
              <a:t>0.39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9</a:t>
            </a:r>
            <a:r>
              <a:rPr kumimoji="1" lang="ko-KR" altLang="en-US" sz="900" dirty="0">
                <a:latin typeface="Arial Narrow" panose="020B0606020202030204" pitchFamily="34" charset="0"/>
                <a:ea typeface="LG스마트체 Regular" panose="020B0600000101010101" pitchFamily="50" charset="-127"/>
              </a:rPr>
              <a:t>월 목표 </a:t>
            </a:r>
            <a:r>
              <a:rPr kumimoji="1" lang="en-US" altLang="ko-KR" sz="900" dirty="0">
                <a:latin typeface="Arial Narrow" panose="020B0606020202030204" pitchFamily="34" charset="0"/>
                <a:ea typeface="LG스마트체 Regular" panose="020B0600000101010101" pitchFamily="50" charset="-127"/>
              </a:rPr>
              <a:t>0.30%)</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전 공정 연계 분석 및 </a:t>
            </a:r>
            <a:r>
              <a:rPr kumimoji="1" lang="en-US" altLang="ko-KR" sz="900" dirty="0">
                <a:latin typeface="Arial Narrow" panose="020B0606020202030204" pitchFamily="34" charset="0"/>
                <a:ea typeface="LG스마트체 Regular" panose="020B0600000101010101" pitchFamily="50" charset="-127"/>
              </a:rPr>
              <a:t>NG</a:t>
            </a:r>
            <a:r>
              <a:rPr kumimoji="1" lang="ko-KR" altLang="en-US" sz="900" dirty="0">
                <a:latin typeface="Arial Narrow" panose="020B0606020202030204" pitchFamily="34" charset="0"/>
                <a:ea typeface="LG스마트체 Regular" panose="020B0600000101010101" pitchFamily="50" charset="-127"/>
              </a:rPr>
              <a:t>마킹 과검 점검을 통한 딥러닝 재학습</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개선  </a:t>
            </a:r>
            <a:r>
              <a:rPr kumimoji="1" lang="en-US" altLang="ko-KR" sz="900" dirty="0">
                <a:latin typeface="Arial Narrow" panose="020B0606020202030204" pitchFamily="34" charset="0"/>
                <a:ea typeface="LG스마트체 Regular" panose="020B0600000101010101" pitchFamily="50" charset="-127"/>
              </a:rPr>
              <a:t> </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a:t>
            </a:r>
          </a:p>
          <a:p>
            <a:r>
              <a:rPr kumimoji="1" lang="en-US" altLang="ko-KR" sz="900" dirty="0">
                <a:latin typeface="Arial Narrow" panose="020B0606020202030204" pitchFamily="34" charset="0"/>
                <a:ea typeface="LG스마트체 Regular" panose="020B0600000101010101" pitchFamily="50" charset="-127"/>
              </a:rPr>
              <a:t>  -. </a:t>
            </a:r>
            <a:r>
              <a:rPr kumimoji="1" lang="ko-KR" altLang="en-US" sz="900" dirty="0">
                <a:latin typeface="Arial Narrow" panose="020B0606020202030204" pitchFamily="34" charset="0"/>
                <a:ea typeface="LG스마트체 Regular" panose="020B0600000101010101" pitchFamily="50" charset="-127"/>
              </a:rPr>
              <a:t>라미 위치</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스택 적재 개선 </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0.05%p </a:t>
            </a:r>
            <a:r>
              <a:rPr kumimoji="1" lang="ko-KR" altLang="en-US" sz="900" dirty="0">
                <a:latin typeface="Arial Narrow" panose="020B0606020202030204" pitchFamily="34" charset="0"/>
                <a:ea typeface="LG스마트체 Regular" panose="020B0600000101010101" pitchFamily="50" charset="-127"/>
              </a:rPr>
              <a:t>↑ </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라미</a:t>
            </a:r>
            <a:r>
              <a:rPr kumimoji="1" lang="en-US" altLang="ko-KR" sz="900" dirty="0">
                <a:latin typeface="Arial Narrow" panose="020B0606020202030204" pitchFamily="34" charset="0"/>
                <a:ea typeface="LG스마트체 Regular" panose="020B0600000101010101" pitchFamily="50" charset="-127"/>
              </a:rPr>
              <a:t>: 0.22 </a:t>
            </a:r>
            <a:r>
              <a:rPr kumimoji="1" lang="ko-KR" altLang="en-US" sz="900" dirty="0">
                <a:latin typeface="Arial Narrow" panose="020B0606020202030204" pitchFamily="34" charset="0"/>
                <a:ea typeface="LG스마트체 Regular" panose="020B0600000101010101" pitchFamily="50" charset="-127"/>
              </a:rPr>
              <a:t>→</a:t>
            </a:r>
            <a:r>
              <a:rPr kumimoji="1" lang="en-US" altLang="ko-KR" sz="900" dirty="0">
                <a:latin typeface="Arial Narrow" panose="020B0606020202030204" pitchFamily="34" charset="0"/>
                <a:ea typeface="LG스마트체 Regular" panose="020B0600000101010101" pitchFamily="50" charset="-127"/>
              </a:rPr>
              <a:t>0.20%, </a:t>
            </a:r>
            <a:r>
              <a:rPr kumimoji="1" lang="ko-KR" altLang="en-US" sz="900" dirty="0">
                <a:latin typeface="Arial Narrow" panose="020B0606020202030204" pitchFamily="34" charset="0"/>
                <a:ea typeface="LG스마트체 Regular" panose="020B0600000101010101" pitchFamily="50" charset="-127"/>
              </a:rPr>
              <a:t>스택킹 </a:t>
            </a:r>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적재 </a:t>
            </a:r>
            <a:r>
              <a:rPr kumimoji="1" lang="en-US" altLang="ko-KR" sz="900" dirty="0">
                <a:latin typeface="Arial Narrow" panose="020B0606020202030204" pitchFamily="34" charset="0"/>
                <a:ea typeface="LG스마트체 Regular" panose="020B0600000101010101" pitchFamily="50" charset="-127"/>
              </a:rPr>
              <a:t>0.23 </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0.20%)</a:t>
            </a:r>
            <a:br>
              <a:rPr kumimoji="1" lang="en-US" altLang="ko-KR" sz="900" dirty="0">
                <a:latin typeface="Arial Narrow" panose="020B0606020202030204" pitchFamily="34" charset="0"/>
                <a:ea typeface="LG스마트체 Regular" panose="020B0600000101010101" pitchFamily="50" charset="-127"/>
              </a:rPr>
            </a:br>
            <a:r>
              <a:rPr kumimoji="1" lang="en-US" altLang="ko-KR" sz="900" dirty="0">
                <a:latin typeface="Arial Narrow" panose="020B0606020202030204" pitchFamily="34" charset="0"/>
                <a:ea typeface="LG스마트체 Regular" panose="020B0600000101010101" pitchFamily="50" charset="-127"/>
              </a:rPr>
              <a:t>    . Table, Gripper, Pitch C/V </a:t>
            </a:r>
            <a:r>
              <a:rPr kumimoji="1" lang="ko-KR" altLang="en-US" sz="900" dirty="0">
                <a:latin typeface="Arial Narrow" panose="020B0606020202030204" pitchFamily="34" charset="0"/>
                <a:ea typeface="LG스마트체 Regular" panose="020B0600000101010101" pitchFamily="50" charset="-127"/>
              </a:rPr>
              <a:t>등 주요 </a:t>
            </a:r>
            <a:r>
              <a:rPr kumimoji="1" lang="en-US" altLang="ko-KR" sz="900" dirty="0">
                <a:latin typeface="Arial Narrow" panose="020B0606020202030204" pitchFamily="34" charset="0"/>
                <a:ea typeface="LG스마트체 Regular" panose="020B0600000101010101" pitchFamily="50" charset="-127"/>
              </a:rPr>
              <a:t>IP </a:t>
            </a:r>
            <a:r>
              <a:rPr kumimoji="1" lang="ko-KR" altLang="en-US" sz="900" dirty="0">
                <a:latin typeface="Arial Narrow" panose="020B0606020202030204" pitchFamily="34" charset="0"/>
                <a:ea typeface="LG스마트체 Regular" panose="020B0600000101010101" pitchFamily="50" charset="-127"/>
              </a:rPr>
              <a:t>경로 분석</a:t>
            </a:r>
          </a:p>
        </p:txBody>
      </p:sp>
      <p:sp>
        <p:nvSpPr>
          <p:cNvPr id="19" name="직사각형 18">
            <a:extLst>
              <a:ext uri="{FF2B5EF4-FFF2-40B4-BE49-F238E27FC236}">
                <a16:creationId xmlns:a16="http://schemas.microsoft.com/office/drawing/2014/main" id="{B493A3A7-E4F6-4AE2-E9BA-83020C05A60A}"/>
              </a:ext>
            </a:extLst>
          </p:cNvPr>
          <p:cNvSpPr/>
          <p:nvPr/>
        </p:nvSpPr>
        <p:spPr>
          <a:xfrm>
            <a:off x="5983711" y="2073036"/>
            <a:ext cx="310980" cy="375049"/>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1.29%</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0" name="TextBox 19">
            <a:extLst>
              <a:ext uri="{FF2B5EF4-FFF2-40B4-BE49-F238E27FC236}">
                <a16:creationId xmlns:a16="http://schemas.microsoft.com/office/drawing/2014/main" id="{94A0E5EB-58EA-6520-A1F7-25398091AE57}"/>
              </a:ext>
            </a:extLst>
          </p:cNvPr>
          <p:cNvSpPr txBox="1"/>
          <p:nvPr/>
        </p:nvSpPr>
        <p:spPr>
          <a:xfrm>
            <a:off x="5950500" y="2441523"/>
            <a:ext cx="484154" cy="369332"/>
          </a:xfrm>
          <a:prstGeom prst="rect">
            <a:avLst/>
          </a:prstGeom>
          <a:noFill/>
        </p:spPr>
        <p:txBody>
          <a:bodyPr wrap="square" rtlCol="0" anchor="ctr">
            <a:spAutoFit/>
          </a:bodyPr>
          <a:lstStyle/>
          <a:p>
            <a:r>
              <a:rPr kumimoji="1" lang="ko-KR" altLang="en-US" sz="900" dirty="0">
                <a:latin typeface="Arial Narrow" panose="020B0606020202030204" pitchFamily="34" charset="0"/>
                <a:ea typeface="LG스마트체 Regular" panose="020B0600000101010101" pitchFamily="50" charset="-127"/>
              </a:rPr>
              <a:t>법인</a:t>
            </a:r>
            <a:br>
              <a:rPr kumimoji="1" lang="en-US" altLang="ko-KR" sz="900" dirty="0">
                <a:latin typeface="Arial Narrow" panose="020B0606020202030204" pitchFamily="34" charset="0"/>
                <a:ea typeface="LG스마트체 Regular" panose="020B0600000101010101" pitchFamily="50" charset="-127"/>
              </a:rPr>
            </a:br>
            <a:r>
              <a:rPr kumimoji="1" lang="ko-KR" altLang="en-US" sz="900" dirty="0">
                <a:latin typeface="Arial Narrow" panose="020B0606020202030204" pitchFamily="34" charset="0"/>
                <a:ea typeface="LG스마트체 Regular" panose="020B0600000101010101" pitchFamily="50" charset="-127"/>
              </a:rPr>
              <a:t>개선</a:t>
            </a:r>
            <a:endParaRPr kumimoji="1" lang="en-US" altLang="ko-KR" sz="900" dirty="0">
              <a:latin typeface="Arial Narrow" panose="020B0606020202030204" pitchFamily="34" charset="0"/>
              <a:ea typeface="LG스마트체 Regular" panose="020B0600000101010101" pitchFamily="50" charset="-127"/>
            </a:endParaRPr>
          </a:p>
        </p:txBody>
      </p:sp>
      <p:sp>
        <p:nvSpPr>
          <p:cNvPr id="23" name="직사각형 22">
            <a:extLst>
              <a:ext uri="{FF2B5EF4-FFF2-40B4-BE49-F238E27FC236}">
                <a16:creationId xmlns:a16="http://schemas.microsoft.com/office/drawing/2014/main" id="{FBF50297-5FC4-698F-5109-890F32823A2B}"/>
              </a:ext>
            </a:extLst>
          </p:cNvPr>
          <p:cNvSpPr/>
          <p:nvPr/>
        </p:nvSpPr>
        <p:spPr>
          <a:xfrm>
            <a:off x="6706331" y="1697157"/>
            <a:ext cx="380700" cy="143839"/>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0.19%</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4" name="TextBox 23">
            <a:extLst>
              <a:ext uri="{FF2B5EF4-FFF2-40B4-BE49-F238E27FC236}">
                <a16:creationId xmlns:a16="http://schemas.microsoft.com/office/drawing/2014/main" id="{BFB0B748-895B-FEB0-9CD7-6CBB73E5C8AA}"/>
              </a:ext>
            </a:extLst>
          </p:cNvPr>
          <p:cNvSpPr txBox="1"/>
          <p:nvPr/>
        </p:nvSpPr>
        <p:spPr>
          <a:xfrm>
            <a:off x="6660530" y="1831660"/>
            <a:ext cx="534121" cy="230832"/>
          </a:xfrm>
          <a:prstGeom prst="rect">
            <a:avLst/>
          </a:prstGeom>
          <a:noFill/>
        </p:spPr>
        <p:txBody>
          <a:bodyPr wrap="none" rtlCol="0" anchor="ctr">
            <a:spAutoFit/>
          </a:bodyPr>
          <a:lstStyle/>
          <a:p>
            <a:r>
              <a:rPr kumimoji="1" lang="en-US" altLang="ko-KR" sz="900" dirty="0">
                <a:latin typeface="Arial Narrow" panose="020B0606020202030204" pitchFamily="34" charset="0"/>
                <a:ea typeface="LG스마트체 Regular" panose="020B0600000101010101" pitchFamily="50" charset="-127"/>
              </a:rPr>
              <a:t>Q-grade</a:t>
            </a:r>
            <a:endParaRPr kumimoji="1" lang="ko-KR" altLang="en-US" sz="900" dirty="0">
              <a:latin typeface="Arial Narrow" panose="020B0606020202030204" pitchFamily="34" charset="0"/>
              <a:ea typeface="LG스마트체 Regular" panose="020B0600000101010101" pitchFamily="50" charset="-127"/>
            </a:endParaRPr>
          </a:p>
        </p:txBody>
      </p:sp>
      <p:sp>
        <p:nvSpPr>
          <p:cNvPr id="25" name="직사각형 24">
            <a:extLst>
              <a:ext uri="{FF2B5EF4-FFF2-40B4-BE49-F238E27FC236}">
                <a16:creationId xmlns:a16="http://schemas.microsoft.com/office/drawing/2014/main" id="{07128983-1DF5-7503-52EA-6D2B78498488}"/>
              </a:ext>
            </a:extLst>
          </p:cNvPr>
          <p:cNvSpPr/>
          <p:nvPr/>
        </p:nvSpPr>
        <p:spPr>
          <a:xfrm>
            <a:off x="7092988" y="1575053"/>
            <a:ext cx="464708" cy="10859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0.09%</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7" name="직사각형 26">
            <a:extLst>
              <a:ext uri="{FF2B5EF4-FFF2-40B4-BE49-F238E27FC236}">
                <a16:creationId xmlns:a16="http://schemas.microsoft.com/office/drawing/2014/main" id="{12DA406E-5633-A50D-2468-A3C459006806}"/>
              </a:ext>
            </a:extLst>
          </p:cNvPr>
          <p:cNvSpPr/>
          <p:nvPr/>
        </p:nvSpPr>
        <p:spPr>
          <a:xfrm>
            <a:off x="7564819" y="1452719"/>
            <a:ext cx="464708" cy="10859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0.05%</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29" name="TextBox 28">
            <a:extLst>
              <a:ext uri="{FF2B5EF4-FFF2-40B4-BE49-F238E27FC236}">
                <a16:creationId xmlns:a16="http://schemas.microsoft.com/office/drawing/2014/main" id="{938A6C8D-8527-5914-83A2-A6006BD73C15}"/>
              </a:ext>
            </a:extLst>
          </p:cNvPr>
          <p:cNvSpPr txBox="1"/>
          <p:nvPr/>
        </p:nvSpPr>
        <p:spPr>
          <a:xfrm>
            <a:off x="7557696" y="1545053"/>
            <a:ext cx="518091" cy="230832"/>
          </a:xfrm>
          <a:prstGeom prst="rect">
            <a:avLst/>
          </a:prstGeom>
          <a:noFill/>
        </p:spPr>
        <p:txBody>
          <a:bodyPr wrap="none" rtlCol="0" anchor="ctr">
            <a:spAutoFit/>
          </a:bodyPr>
          <a:lstStyle/>
          <a:p>
            <a:r>
              <a:rPr kumimoji="1" lang="ko-KR" altLang="en-US" sz="900" dirty="0">
                <a:latin typeface="Arial Narrow" panose="020B0606020202030204" pitchFamily="34" charset="0"/>
                <a:ea typeface="LG스마트체 Regular" panose="020B0600000101010101" pitchFamily="50" charset="-127"/>
              </a:rPr>
              <a:t>위치 등</a:t>
            </a:r>
          </a:p>
        </p:txBody>
      </p:sp>
      <p:sp>
        <p:nvSpPr>
          <p:cNvPr id="31" name="TextBox 30">
            <a:extLst>
              <a:ext uri="{FF2B5EF4-FFF2-40B4-BE49-F238E27FC236}">
                <a16:creationId xmlns:a16="http://schemas.microsoft.com/office/drawing/2014/main" id="{27D3CE84-3EBA-39AA-95CC-0FD43B04BDCB}"/>
              </a:ext>
            </a:extLst>
          </p:cNvPr>
          <p:cNvSpPr txBox="1"/>
          <p:nvPr/>
        </p:nvSpPr>
        <p:spPr>
          <a:xfrm>
            <a:off x="7054835" y="1663125"/>
            <a:ext cx="532518" cy="230832"/>
          </a:xfrm>
          <a:prstGeom prst="rect">
            <a:avLst/>
          </a:prstGeom>
          <a:noFill/>
        </p:spPr>
        <p:txBody>
          <a:bodyPr wrap="none" rtlCol="0" anchor="ctr">
            <a:spAutoFit/>
          </a:bodyPr>
          <a:lstStyle/>
          <a:p>
            <a:r>
              <a:rPr kumimoji="1" lang="en-US" altLang="ko-KR" sz="900" dirty="0">
                <a:latin typeface="Arial Narrow" panose="020B0606020202030204" pitchFamily="34" charset="0"/>
                <a:ea typeface="LG스마트체 Regular" panose="020B0600000101010101" pitchFamily="50" charset="-127"/>
              </a:rPr>
              <a:t>NG</a:t>
            </a:r>
            <a:r>
              <a:rPr kumimoji="1" lang="ko-KR" altLang="en-US" sz="900" dirty="0">
                <a:latin typeface="Arial Narrow" panose="020B0606020202030204" pitchFamily="34" charset="0"/>
                <a:ea typeface="LG스마트체 Regular" panose="020B0600000101010101" pitchFamily="50" charset="-127"/>
              </a:rPr>
              <a:t>마킹</a:t>
            </a:r>
          </a:p>
        </p:txBody>
      </p:sp>
      <p:sp>
        <p:nvSpPr>
          <p:cNvPr id="32" name="TextBox 31">
            <a:extLst>
              <a:ext uri="{FF2B5EF4-FFF2-40B4-BE49-F238E27FC236}">
                <a16:creationId xmlns:a16="http://schemas.microsoft.com/office/drawing/2014/main" id="{3BD15B9A-108A-2B6D-B5AF-F3E1174A5FAA}"/>
              </a:ext>
            </a:extLst>
          </p:cNvPr>
          <p:cNvSpPr txBox="1"/>
          <p:nvPr/>
        </p:nvSpPr>
        <p:spPr>
          <a:xfrm>
            <a:off x="8951906" y="2940700"/>
            <a:ext cx="570990" cy="200068"/>
          </a:xfrm>
          <a:prstGeom prst="rect">
            <a:avLst/>
          </a:prstGeom>
          <a:noFill/>
        </p:spPr>
        <p:txBody>
          <a:bodyPr wrap="none" rtlCol="0">
            <a:spAutoFit/>
          </a:bodyPr>
          <a:lstStyle/>
          <a:p>
            <a:pPr algn="ctr"/>
            <a:r>
              <a:rPr kumimoji="1" lang="en-US" altLang="ko-KR" sz="900" dirty="0">
                <a:latin typeface="Arial Narrow" panose="020B0606020202030204" pitchFamily="34" charset="0"/>
                <a:ea typeface="LG스마트체 Regular" panose="020B0600000101010101" pitchFamily="50" charset="-127"/>
              </a:rPr>
              <a:t>9</a:t>
            </a:r>
            <a:r>
              <a:rPr kumimoji="1" lang="ko-KR" altLang="en-US" sz="900" dirty="0">
                <a:latin typeface="Arial Narrow" panose="020B0606020202030204" pitchFamily="34" charset="0"/>
                <a:ea typeface="LG스마트체 Regular" panose="020B0600000101010101" pitchFamily="50" charset="-127"/>
              </a:rPr>
              <a:t>월 목표</a:t>
            </a:r>
          </a:p>
        </p:txBody>
      </p:sp>
      <p:sp>
        <p:nvSpPr>
          <p:cNvPr id="33" name="TextBox 32">
            <a:extLst>
              <a:ext uri="{FF2B5EF4-FFF2-40B4-BE49-F238E27FC236}">
                <a16:creationId xmlns:a16="http://schemas.microsoft.com/office/drawing/2014/main" id="{1B3B2E2C-F7AC-4F8A-A0A5-8FC77B2E0809}"/>
              </a:ext>
            </a:extLst>
          </p:cNvPr>
          <p:cNvSpPr txBox="1"/>
          <p:nvPr/>
        </p:nvSpPr>
        <p:spPr>
          <a:xfrm>
            <a:off x="5192889" y="2940700"/>
            <a:ext cx="570990" cy="200068"/>
          </a:xfrm>
          <a:prstGeom prst="rect">
            <a:avLst/>
          </a:prstGeom>
          <a:noFill/>
        </p:spPr>
        <p:txBody>
          <a:bodyPr wrap="none" rtlCol="0">
            <a:spAutoFit/>
          </a:bodyPr>
          <a:lstStyle/>
          <a:p>
            <a:pPr algn="ctr"/>
            <a:r>
              <a:rPr kumimoji="1" lang="en-US" altLang="ko-KR" sz="900" dirty="0">
                <a:latin typeface="Arial Narrow" panose="020B0606020202030204" pitchFamily="34" charset="0"/>
                <a:ea typeface="LG스마트체 Regular" panose="020B0600000101010101" pitchFamily="50" charset="-127"/>
              </a:rPr>
              <a:t>8</a:t>
            </a:r>
            <a:r>
              <a:rPr kumimoji="1" lang="ko-KR" altLang="en-US" sz="900" dirty="0">
                <a:latin typeface="Arial Narrow" panose="020B0606020202030204" pitchFamily="34" charset="0"/>
                <a:ea typeface="LG스마트체 Regular" panose="020B0600000101010101" pitchFamily="50" charset="-127"/>
              </a:rPr>
              <a:t>월 실적</a:t>
            </a:r>
          </a:p>
        </p:txBody>
      </p:sp>
      <p:sp>
        <p:nvSpPr>
          <p:cNvPr id="34" name="직사각형 33">
            <a:extLst>
              <a:ext uri="{FF2B5EF4-FFF2-40B4-BE49-F238E27FC236}">
                <a16:creationId xmlns:a16="http://schemas.microsoft.com/office/drawing/2014/main" id="{AFD0AC9A-DC82-5770-98C6-7FC54F8A0F09}"/>
              </a:ext>
            </a:extLst>
          </p:cNvPr>
          <p:cNvSpPr/>
          <p:nvPr/>
        </p:nvSpPr>
        <p:spPr>
          <a:xfrm>
            <a:off x="5653234" y="1765232"/>
            <a:ext cx="330477" cy="682852"/>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-1.83%</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35" name="TextBox 34">
            <a:extLst>
              <a:ext uri="{FF2B5EF4-FFF2-40B4-BE49-F238E27FC236}">
                <a16:creationId xmlns:a16="http://schemas.microsoft.com/office/drawing/2014/main" id="{48AB94DF-7126-D5BB-26FB-8734FEA6EF26}"/>
              </a:ext>
            </a:extLst>
          </p:cNvPr>
          <p:cNvSpPr txBox="1"/>
          <p:nvPr/>
        </p:nvSpPr>
        <p:spPr>
          <a:xfrm>
            <a:off x="5570948" y="2443016"/>
            <a:ext cx="536538" cy="369332"/>
          </a:xfrm>
          <a:prstGeom prst="rect">
            <a:avLst/>
          </a:prstGeom>
          <a:noFill/>
        </p:spPr>
        <p:txBody>
          <a:bodyPr wrap="square" rtlCol="0" anchor="ctr">
            <a:spAutoFit/>
          </a:bodyPr>
          <a:lstStyle/>
          <a:p>
            <a:r>
              <a:rPr kumimoji="1" lang="ko-KR" altLang="en-US" sz="900" dirty="0" err="1">
                <a:latin typeface="Arial Narrow" panose="020B0606020202030204" pitchFamily="34" charset="0"/>
                <a:ea typeface="LG스마트체 Regular" panose="020B0600000101010101" pitchFamily="50" charset="-127"/>
              </a:rPr>
              <a:t>저전압</a:t>
            </a:r>
            <a:endParaRPr kumimoji="1" lang="en-US" altLang="ko-KR" sz="900" dirty="0">
              <a:latin typeface="Arial Narrow" panose="020B0606020202030204" pitchFamily="34" charset="0"/>
              <a:ea typeface="LG스마트체 Regular" panose="020B0600000101010101" pitchFamily="50" charset="-127"/>
            </a:endParaRPr>
          </a:p>
          <a:p>
            <a:r>
              <a:rPr kumimoji="1" lang="ko-KR" altLang="en-US" sz="900" dirty="0">
                <a:latin typeface="Arial Narrow" panose="020B0606020202030204" pitchFamily="34" charset="0"/>
                <a:ea typeface="LG스마트체 Regular" panose="020B0600000101010101" pitchFamily="50" charset="-127"/>
              </a:rPr>
              <a:t>재작업</a:t>
            </a:r>
            <a:endParaRPr kumimoji="1" lang="en-US" altLang="ko-KR" sz="900" dirty="0">
              <a:latin typeface="Arial Narrow" panose="020B0606020202030204" pitchFamily="34" charset="0"/>
              <a:ea typeface="LG스마트체 Regular" panose="020B0600000101010101" pitchFamily="50" charset="-127"/>
            </a:endParaRPr>
          </a:p>
        </p:txBody>
      </p:sp>
      <p:sp>
        <p:nvSpPr>
          <p:cNvPr id="37" name="직사각형 36">
            <a:extLst>
              <a:ext uri="{FF2B5EF4-FFF2-40B4-BE49-F238E27FC236}">
                <a16:creationId xmlns:a16="http://schemas.microsoft.com/office/drawing/2014/main" id="{B394907D-3B90-ADEF-DA0B-040A163EE7F1}"/>
              </a:ext>
            </a:extLst>
          </p:cNvPr>
          <p:cNvSpPr/>
          <p:nvPr/>
        </p:nvSpPr>
        <p:spPr>
          <a:xfrm>
            <a:off x="6309358" y="1855264"/>
            <a:ext cx="387796" cy="198553"/>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ko-KR" sz="900" dirty="0">
                <a:solidFill>
                  <a:schemeClr val="tx1"/>
                </a:solidFill>
                <a:latin typeface="Arial Narrow" panose="020B0606020202030204" pitchFamily="34" charset="0"/>
                <a:ea typeface="LG스마트체 Regular" panose="020B0600000101010101" pitchFamily="50" charset="-127"/>
              </a:rPr>
              <a:t>0.31%</a:t>
            </a:r>
            <a:endParaRPr kumimoji="1" lang="ko-KR" altLang="en-US" sz="900" dirty="0">
              <a:solidFill>
                <a:schemeClr val="tx1"/>
              </a:solidFill>
              <a:latin typeface="Arial Narrow" panose="020B0606020202030204" pitchFamily="34" charset="0"/>
              <a:ea typeface="LG스마트체 Regular" panose="020B0600000101010101" pitchFamily="50" charset="-127"/>
            </a:endParaRPr>
          </a:p>
        </p:txBody>
      </p:sp>
      <p:sp>
        <p:nvSpPr>
          <p:cNvPr id="38" name="TextBox 37">
            <a:extLst>
              <a:ext uri="{FF2B5EF4-FFF2-40B4-BE49-F238E27FC236}">
                <a16:creationId xmlns:a16="http://schemas.microsoft.com/office/drawing/2014/main" id="{EAD92EE0-7E47-263D-2504-C62EC6EE51C0}"/>
              </a:ext>
            </a:extLst>
          </p:cNvPr>
          <p:cNvSpPr txBox="1"/>
          <p:nvPr/>
        </p:nvSpPr>
        <p:spPr>
          <a:xfrm>
            <a:off x="6309001" y="2042231"/>
            <a:ext cx="424915" cy="369332"/>
          </a:xfrm>
          <a:prstGeom prst="rect">
            <a:avLst/>
          </a:prstGeom>
          <a:noFill/>
        </p:spPr>
        <p:txBody>
          <a:bodyPr wrap="square" rtlCol="0" anchor="ctr">
            <a:spAutoFit/>
          </a:bodyPr>
          <a:lstStyle/>
          <a:p>
            <a:r>
              <a:rPr kumimoji="1" lang="ko-KR" altLang="en-US" sz="900" dirty="0">
                <a:latin typeface="Arial Narrow" panose="020B0606020202030204" pitchFamily="34" charset="0"/>
                <a:ea typeface="LG스마트체 Regular" panose="020B0600000101010101" pitchFamily="50" charset="-127"/>
              </a:rPr>
              <a:t>치수</a:t>
            </a:r>
            <a:r>
              <a:rPr kumimoji="1" lang="en-US" altLang="ko-KR" sz="900" dirty="0">
                <a:latin typeface="Arial Narrow" panose="020B0606020202030204" pitchFamily="34" charset="0"/>
                <a:ea typeface="LG스마트체 Regular" panose="020B0600000101010101" pitchFamily="50" charset="-127"/>
              </a:rPr>
              <a:t>/</a:t>
            </a:r>
          </a:p>
          <a:p>
            <a:r>
              <a:rPr kumimoji="1" lang="en-US" altLang="ko-KR" sz="900" dirty="0">
                <a:latin typeface="Arial Narrow" panose="020B0606020202030204" pitchFamily="34" charset="0"/>
                <a:ea typeface="LG스마트체 Regular" panose="020B0600000101010101" pitchFamily="50" charset="-127"/>
              </a:rPr>
              <a:t>IR</a:t>
            </a:r>
          </a:p>
        </p:txBody>
      </p:sp>
      <p:cxnSp>
        <p:nvCxnSpPr>
          <p:cNvPr id="39" name="직선 연결선 38">
            <a:extLst>
              <a:ext uri="{FF2B5EF4-FFF2-40B4-BE49-F238E27FC236}">
                <a16:creationId xmlns:a16="http://schemas.microsoft.com/office/drawing/2014/main" id="{326064D3-6F86-18F8-6950-A55A12E1AAC9}"/>
              </a:ext>
            </a:extLst>
          </p:cNvPr>
          <p:cNvCxnSpPr>
            <a:cxnSpLocks/>
          </p:cNvCxnSpPr>
          <p:nvPr/>
        </p:nvCxnSpPr>
        <p:spPr>
          <a:xfrm>
            <a:off x="8053031" y="1454569"/>
            <a:ext cx="939781"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257C282-042B-79F4-575B-4BF24A9C133D}"/>
              </a:ext>
            </a:extLst>
          </p:cNvPr>
          <p:cNvSpPr txBox="1"/>
          <p:nvPr/>
        </p:nvSpPr>
        <p:spPr>
          <a:xfrm>
            <a:off x="8307679" y="1452719"/>
            <a:ext cx="756937" cy="646331"/>
          </a:xfrm>
          <a:prstGeom prst="rect">
            <a:avLst/>
          </a:prstGeom>
          <a:noFill/>
        </p:spPr>
        <p:txBody>
          <a:bodyPr wrap="square" rtlCol="0" anchor="ctr">
            <a:spAutoFit/>
          </a:bodyPr>
          <a:lstStyle/>
          <a:p>
            <a:pPr algn="ctr"/>
            <a:r>
              <a:rPr kumimoji="1" lang="en-US" altLang="ko-KR" sz="900" dirty="0">
                <a:latin typeface="Arial Narrow" panose="020B0606020202030204" pitchFamily="34" charset="0"/>
                <a:ea typeface="LG스마트체 Regular" panose="020B0600000101010101" pitchFamily="50" charset="-127"/>
              </a:rPr>
              <a:t>JF2S</a:t>
            </a:r>
          </a:p>
          <a:p>
            <a:pPr algn="ctr"/>
            <a:r>
              <a:rPr kumimoji="1" lang="en-US" altLang="ko-KR" sz="900" dirty="0">
                <a:latin typeface="Arial Narrow" panose="020B0606020202030204" pitchFamily="34" charset="0"/>
                <a:ea typeface="LG스마트체 Regular" panose="020B0600000101010101" pitchFamily="50" charset="-127"/>
              </a:rPr>
              <a:t>9</a:t>
            </a:r>
            <a:r>
              <a:rPr kumimoji="1" lang="ko-KR" altLang="en-US" sz="900" dirty="0">
                <a:latin typeface="Arial Narrow" panose="020B0606020202030204" pitchFamily="34" charset="0"/>
                <a:ea typeface="LG스마트체 Regular" panose="020B0600000101010101" pitchFamily="50" charset="-127"/>
              </a:rPr>
              <a:t>월 재생산</a:t>
            </a:r>
            <a:endParaRPr kumimoji="1" lang="en-US" altLang="ko-KR" sz="900" dirty="0">
              <a:latin typeface="Arial Narrow" panose="020B0606020202030204" pitchFamily="34" charset="0"/>
              <a:ea typeface="LG스마트체 Regular" panose="020B0600000101010101" pitchFamily="50" charset="-127"/>
            </a:endParaRPr>
          </a:p>
          <a:p>
            <a:pPr algn="ctr"/>
            <a:r>
              <a:rPr kumimoji="1" lang="ko-KR" altLang="en-US" sz="900" dirty="0">
                <a:latin typeface="Arial Narrow" panose="020B0606020202030204" pitchFamily="34" charset="0"/>
                <a:ea typeface="LG스마트체 Regular" panose="020B0600000101010101" pitchFamily="50" charset="-127"/>
              </a:rPr>
              <a:t>수율 안정화</a:t>
            </a:r>
            <a:endParaRPr kumimoji="1" lang="en-US" altLang="ko-KR" sz="900" dirty="0">
              <a:latin typeface="Arial Narrow" panose="020B0606020202030204" pitchFamily="34" charset="0"/>
              <a:ea typeface="LG스마트체 Regular" panose="020B0600000101010101" pitchFamily="50" charset="-127"/>
            </a:endParaRPr>
          </a:p>
          <a:p>
            <a:pPr algn="ct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공통</a:t>
            </a:r>
            <a:r>
              <a:rPr kumimoji="1" lang="en-US" altLang="ko-KR" sz="900" dirty="0">
                <a:latin typeface="Arial Narrow" panose="020B0606020202030204" pitchFamily="34" charset="0"/>
                <a:ea typeface="LG스마트체 Regular" panose="020B0600000101010101" pitchFamily="50" charset="-127"/>
              </a:rPr>
              <a:t>)</a:t>
            </a:r>
          </a:p>
        </p:txBody>
      </p:sp>
      <p:sp>
        <p:nvSpPr>
          <p:cNvPr id="41" name="화살표: 아래쪽 40">
            <a:extLst>
              <a:ext uri="{FF2B5EF4-FFF2-40B4-BE49-F238E27FC236}">
                <a16:creationId xmlns:a16="http://schemas.microsoft.com/office/drawing/2014/main" id="{4BB987FE-BC08-955F-021B-4BA3DE3843EE}"/>
              </a:ext>
            </a:extLst>
          </p:cNvPr>
          <p:cNvSpPr/>
          <p:nvPr/>
        </p:nvSpPr>
        <p:spPr>
          <a:xfrm>
            <a:off x="8128459" y="1476250"/>
            <a:ext cx="238225" cy="461169"/>
          </a:xfrm>
          <a:prstGeom prst="downArrow">
            <a:avLst/>
          </a:prstGeom>
          <a:solidFill>
            <a:schemeClr val="bg1">
              <a:lumMod val="8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TextBox 41">
            <a:extLst>
              <a:ext uri="{FF2B5EF4-FFF2-40B4-BE49-F238E27FC236}">
                <a16:creationId xmlns:a16="http://schemas.microsoft.com/office/drawing/2014/main" id="{C0272769-5D12-DC59-7E24-480708BF8585}"/>
              </a:ext>
            </a:extLst>
          </p:cNvPr>
          <p:cNvSpPr txBox="1"/>
          <p:nvPr/>
        </p:nvSpPr>
        <p:spPr>
          <a:xfrm>
            <a:off x="8020587" y="1937419"/>
            <a:ext cx="453971" cy="230832"/>
          </a:xfrm>
          <a:prstGeom prst="rect">
            <a:avLst/>
          </a:prstGeom>
          <a:noFill/>
        </p:spPr>
        <p:txBody>
          <a:bodyPr wrap="none" rtlCol="0">
            <a:spAutoFit/>
          </a:bodyPr>
          <a:lstStyle/>
          <a:p>
            <a:pPr algn="ct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영향</a:t>
            </a:r>
            <a:r>
              <a:rPr kumimoji="1" lang="en-US" altLang="ko-KR" sz="900" dirty="0">
                <a:latin typeface="Arial Narrow" panose="020B0606020202030204" pitchFamily="34" charset="0"/>
                <a:ea typeface="LG스마트체 Regular" panose="020B0600000101010101" pitchFamily="50" charset="-127"/>
              </a:rPr>
              <a:t>)</a:t>
            </a:r>
            <a:endParaRPr kumimoji="1" lang="ko-KR" altLang="en-US" sz="900" dirty="0">
              <a:latin typeface="Arial Narrow" panose="020B0606020202030204" pitchFamily="34" charset="0"/>
              <a:ea typeface="LG스마트체 Regular" panose="020B0600000101010101" pitchFamily="50" charset="-127"/>
            </a:endParaRPr>
          </a:p>
        </p:txBody>
      </p:sp>
      <p:sp>
        <p:nvSpPr>
          <p:cNvPr id="43" name="TextBox 94">
            <a:extLst>
              <a:ext uri="{FF2B5EF4-FFF2-40B4-BE49-F238E27FC236}">
                <a16:creationId xmlns:a16="http://schemas.microsoft.com/office/drawing/2014/main" id="{C2CBF0D2-F277-4137-CF59-2AAE7C979560}"/>
              </a:ext>
            </a:extLst>
          </p:cNvPr>
          <p:cNvSpPr txBox="1"/>
          <p:nvPr/>
        </p:nvSpPr>
        <p:spPr>
          <a:xfrm>
            <a:off x="6221312" y="1042052"/>
            <a:ext cx="2081321" cy="274143"/>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904982"/>
            <a:r>
              <a:rPr lang="en-US" altLang="ko-KR" sz="1188" b="1" dirty="0">
                <a:solidFill>
                  <a:prstClr val="black"/>
                </a:solidFill>
                <a:latin typeface="Arial Narrow" panose="020B0606020202030204" pitchFamily="34" charset="0"/>
                <a:ea typeface="LG스마트체 Regular" panose="020B0600000101010101" pitchFamily="50" charset="-127"/>
              </a:rPr>
              <a:t>Catch up </a:t>
            </a:r>
            <a:r>
              <a:rPr lang="ko-KR" altLang="en-US" sz="1188" b="1" dirty="0">
                <a:solidFill>
                  <a:prstClr val="black"/>
                </a:solidFill>
                <a:latin typeface="Arial Narrow" panose="020B0606020202030204" pitchFamily="34" charset="0"/>
                <a:ea typeface="LG스마트체 Regular" panose="020B0600000101010101" pitchFamily="50" charset="-127"/>
              </a:rPr>
              <a:t>방안</a:t>
            </a:r>
          </a:p>
        </p:txBody>
      </p:sp>
      <p:cxnSp>
        <p:nvCxnSpPr>
          <p:cNvPr id="44" name="직선 연결선 43">
            <a:extLst>
              <a:ext uri="{FF2B5EF4-FFF2-40B4-BE49-F238E27FC236}">
                <a16:creationId xmlns:a16="http://schemas.microsoft.com/office/drawing/2014/main" id="{6351EF35-2CA6-9978-5F92-849A31508CA7}"/>
              </a:ext>
            </a:extLst>
          </p:cNvPr>
          <p:cNvCxnSpPr>
            <a:cxnSpLocks/>
          </p:cNvCxnSpPr>
          <p:nvPr/>
        </p:nvCxnSpPr>
        <p:spPr>
          <a:xfrm>
            <a:off x="5260532" y="1285048"/>
            <a:ext cx="4262364" cy="0"/>
          </a:xfrm>
          <a:prstGeom prst="line">
            <a:avLst/>
          </a:prstGeom>
          <a:noFill/>
          <a:ln w="6350" cap="flat" cmpd="sng" algn="ctr">
            <a:solidFill>
              <a:sysClr val="windowText" lastClr="000000"/>
            </a:solidFill>
            <a:prstDash val="solid"/>
            <a:miter lim="800000"/>
          </a:ln>
          <a:effectLst/>
        </p:spPr>
      </p:cxnSp>
      <p:sp>
        <p:nvSpPr>
          <p:cNvPr id="48" name="TextBox 47">
            <a:extLst>
              <a:ext uri="{FF2B5EF4-FFF2-40B4-BE49-F238E27FC236}">
                <a16:creationId xmlns:a16="http://schemas.microsoft.com/office/drawing/2014/main" id="{714B3501-0165-DD32-CC57-7D4589554569}"/>
              </a:ext>
            </a:extLst>
          </p:cNvPr>
          <p:cNvSpPr txBox="1"/>
          <p:nvPr/>
        </p:nvSpPr>
        <p:spPr>
          <a:xfrm>
            <a:off x="10070780" y="5017179"/>
            <a:ext cx="1718740" cy="784830"/>
          </a:xfrm>
          <a:prstGeom prst="rect">
            <a:avLst/>
          </a:prstGeom>
          <a:noFill/>
        </p:spPr>
        <p:txBody>
          <a:bodyPr wrap="none" rtlCol="0" anchor="ctr">
            <a:spAutoFit/>
          </a:bodyPr>
          <a:lstStyle/>
          <a:p>
            <a:r>
              <a:rPr kumimoji="1" lang="en-US" altLang="ko-KR" sz="900" dirty="0">
                <a:latin typeface="Arial Narrow" panose="020B0606020202030204" pitchFamily="34" charset="0"/>
                <a:ea typeface="LG스마트체 Regular" panose="020B0600000101010101" pitchFamily="50" charset="-127"/>
              </a:rPr>
              <a:t>Wrong</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information 0.02% → 0.44%</a:t>
            </a:r>
            <a:endParaRPr kumimoji="1" lang="ko-KR" altLang="en-US" sz="900" dirty="0">
              <a:latin typeface="Arial Narrow" panose="020B0606020202030204" pitchFamily="34" charset="0"/>
              <a:ea typeface="LG스마트체 Regular" panose="020B0600000101010101" pitchFamily="50" charset="-127"/>
            </a:endParaRPr>
          </a:p>
          <a:p>
            <a:r>
              <a:rPr kumimoji="1" lang="ko-KR" altLang="en-US" sz="900" dirty="0">
                <a:latin typeface="Arial Narrow" panose="020B0606020202030204" pitchFamily="34" charset="0"/>
                <a:ea typeface="LG스마트체 Regular" panose="020B0600000101010101" pitchFamily="50" charset="-127"/>
              </a:rPr>
              <a:t>외관</a:t>
            </a:r>
            <a:r>
              <a:rPr kumimoji="1" lang="en-US" altLang="ko-KR" sz="900" dirty="0">
                <a:latin typeface="Arial Narrow" panose="020B0606020202030204" pitchFamily="34" charset="0"/>
                <a:ea typeface="LG스마트체 Regular" panose="020B0600000101010101" pitchFamily="50" charset="-127"/>
              </a:rPr>
              <a:t> 0.36% → 0.99%</a:t>
            </a:r>
          </a:p>
          <a:p>
            <a:r>
              <a:rPr kumimoji="1" lang="en-US" altLang="ko-KR" sz="900" dirty="0">
                <a:latin typeface="Arial Narrow" panose="020B0606020202030204" pitchFamily="34" charset="0"/>
                <a:ea typeface="LG스마트체 Regular" panose="020B0600000101010101" pitchFamily="50" charset="-127"/>
              </a:rPr>
              <a:t>Risk</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Range</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a:t>
            </a:r>
            <a:r>
              <a:rPr kumimoji="1" lang="ko-KR" altLang="en-US" sz="900" dirty="0">
                <a:latin typeface="Arial Narrow" panose="020B0606020202030204" pitchFamily="34" charset="0"/>
                <a:ea typeface="LG스마트체 Regular" panose="020B0600000101010101" pitchFamily="50" charset="-127"/>
              </a:rPr>
              <a:t> </a:t>
            </a:r>
            <a:r>
              <a:rPr kumimoji="1" lang="en-US" altLang="ko-KR" sz="900" dirty="0">
                <a:latin typeface="Arial Narrow" panose="020B0606020202030204" pitchFamily="34" charset="0"/>
                <a:ea typeface="LG스마트체 Regular" panose="020B0600000101010101" pitchFamily="50" charset="-127"/>
              </a:rPr>
              <a:t>0.05%</a:t>
            </a:r>
            <a:r>
              <a:rPr kumimoji="1" lang="ko-KR" altLang="en-US" sz="900" dirty="0">
                <a:latin typeface="Arial Narrow" panose="020B0606020202030204" pitchFamily="34" charset="0"/>
                <a:ea typeface="LG스마트체 Regular" panose="020B0600000101010101" pitchFamily="50" charset="-127"/>
              </a:rPr>
              <a:t> → </a:t>
            </a:r>
            <a:r>
              <a:rPr kumimoji="1" lang="en-US" altLang="ko-KR" sz="900" dirty="0">
                <a:latin typeface="Arial Narrow" panose="020B0606020202030204" pitchFamily="34" charset="0"/>
                <a:ea typeface="LG스마트체 Regular" panose="020B0600000101010101" pitchFamily="50" charset="-127"/>
              </a:rPr>
              <a:t>0.20%</a:t>
            </a:r>
          </a:p>
          <a:p>
            <a:endParaRPr kumimoji="1" lang="en-US" altLang="ko-KR" sz="900" dirty="0">
              <a:latin typeface="Arial Narrow" panose="020B0606020202030204" pitchFamily="34" charset="0"/>
              <a:ea typeface="LG스마트체 Regular" panose="020B0600000101010101" pitchFamily="50" charset="-127"/>
            </a:endParaRPr>
          </a:p>
          <a:p>
            <a:r>
              <a:rPr kumimoji="1" lang="en-US" altLang="ko-KR" sz="900" dirty="0">
                <a:latin typeface="Arial Narrow" panose="020B0606020202030204" pitchFamily="34" charset="0"/>
                <a:ea typeface="LG스마트체 Regular" panose="020B0600000101010101" pitchFamily="50" charset="-127"/>
              </a:rPr>
              <a:t>Defect Registration 0.37% → 2.39%</a:t>
            </a:r>
          </a:p>
        </p:txBody>
      </p:sp>
      <p:sp>
        <p:nvSpPr>
          <p:cNvPr id="50" name="TextBox 49">
            <a:extLst>
              <a:ext uri="{FF2B5EF4-FFF2-40B4-BE49-F238E27FC236}">
                <a16:creationId xmlns:a16="http://schemas.microsoft.com/office/drawing/2014/main" id="{40F3071B-AEB9-E15B-627E-A4E75576AE2C}"/>
              </a:ext>
            </a:extLst>
          </p:cNvPr>
          <p:cNvSpPr txBox="1"/>
          <p:nvPr/>
        </p:nvSpPr>
        <p:spPr>
          <a:xfrm>
            <a:off x="10070780" y="5881772"/>
            <a:ext cx="1415772" cy="784830"/>
          </a:xfrm>
          <a:prstGeom prst="rect">
            <a:avLst/>
          </a:prstGeom>
          <a:noFill/>
        </p:spPr>
        <p:txBody>
          <a:bodyPr wrap="none" rtlCol="0" anchor="ctr">
            <a:spAutoFit/>
          </a:bodyPr>
          <a:lstStyle/>
          <a:p>
            <a:r>
              <a:rPr kumimoji="1" lang="en-US" altLang="ko-KR" sz="900" dirty="0">
                <a:latin typeface="Arial Narrow" panose="020B0606020202030204" pitchFamily="34" charset="0"/>
                <a:ea typeface="LG스마트체 Regular" panose="020B0600000101010101" pitchFamily="50" charset="-127"/>
              </a:rPr>
              <a:t>EOL</a:t>
            </a:r>
            <a:r>
              <a:rPr kumimoji="1" lang="ko-KR" altLang="en-US" sz="900" dirty="0">
                <a:latin typeface="Arial Narrow" panose="020B0606020202030204" pitchFamily="34" charset="0"/>
                <a:ea typeface="LG스마트체 Regular" panose="020B0600000101010101" pitchFamily="50" charset="-127"/>
              </a:rPr>
              <a:t> 외관 불량</a:t>
            </a:r>
            <a:endParaRPr kumimoji="1" lang="en-US" altLang="ko-KR" sz="900" dirty="0">
              <a:latin typeface="Arial Narrow" panose="020B0606020202030204" pitchFamily="34" charset="0"/>
              <a:ea typeface="LG스마트체 Regular" panose="020B0600000101010101" pitchFamily="50" charset="-127"/>
            </a:endParaRPr>
          </a:p>
          <a:p>
            <a:r>
              <a:rPr kumimoji="1" lang="en-US" altLang="ko-KR" sz="900" dirty="0">
                <a:latin typeface="Arial Narrow" panose="020B0606020202030204" pitchFamily="34" charset="0"/>
                <a:ea typeface="LG스마트체 Regular" panose="020B0600000101010101" pitchFamily="50" charset="-127"/>
              </a:rPr>
              <a:t>- Lead/Pouch Dent : 0.46%</a:t>
            </a:r>
          </a:p>
          <a:p>
            <a:r>
              <a:rPr kumimoji="1" lang="en-US" altLang="ko-KR" sz="900" dirty="0">
                <a:latin typeface="Arial Narrow" panose="020B0606020202030204" pitchFamily="34" charset="0"/>
                <a:ea typeface="LG스마트체 Regular" panose="020B0600000101010101" pitchFamily="50" charset="-127"/>
              </a:rPr>
              <a:t>- Lead /Pouch Scratch 0.25%</a:t>
            </a:r>
          </a:p>
          <a:p>
            <a:r>
              <a:rPr kumimoji="1" lang="en-US" altLang="ko-KR" sz="900" dirty="0">
                <a:latin typeface="Arial Narrow" panose="020B0606020202030204" pitchFamily="34" charset="0"/>
                <a:ea typeface="LG스마트체 Regular" panose="020B0600000101010101" pitchFamily="50" charset="-127"/>
              </a:rPr>
              <a:t>- DSF 0.16%</a:t>
            </a:r>
          </a:p>
          <a:p>
            <a:r>
              <a:rPr kumimoji="1" lang="en-US" altLang="ko-KR" sz="900" dirty="0">
                <a:latin typeface="Arial Narrow" panose="020B0606020202030204" pitchFamily="34" charset="0"/>
                <a:ea typeface="LG스마트체 Regular" panose="020B0600000101010101" pitchFamily="50" charset="-127"/>
              </a:rPr>
              <a:t>- </a:t>
            </a:r>
            <a:r>
              <a:rPr kumimoji="1" lang="ko-KR" altLang="en-US" sz="900" dirty="0">
                <a:latin typeface="Arial Narrow" panose="020B0606020202030204" pitchFamily="34" charset="0"/>
                <a:ea typeface="LG스마트체 Regular" panose="020B0600000101010101" pitchFamily="50" charset="-127"/>
              </a:rPr>
              <a:t>기타 </a:t>
            </a:r>
            <a:r>
              <a:rPr kumimoji="1" lang="en-US" altLang="ko-KR" sz="900" dirty="0">
                <a:latin typeface="Arial Narrow" panose="020B0606020202030204" pitchFamily="34" charset="0"/>
                <a:ea typeface="LG스마트체 Regular" panose="020B0600000101010101" pitchFamily="50" charset="-127"/>
              </a:rPr>
              <a:t>: 0.11%</a:t>
            </a:r>
          </a:p>
        </p:txBody>
      </p:sp>
      <p:sp>
        <p:nvSpPr>
          <p:cNvPr id="52" name="직사각형 51">
            <a:extLst>
              <a:ext uri="{FF2B5EF4-FFF2-40B4-BE49-F238E27FC236}">
                <a16:creationId xmlns:a16="http://schemas.microsoft.com/office/drawing/2014/main" id="{E5B550D0-75DB-86CF-538A-31B5AA42E762}"/>
              </a:ext>
            </a:extLst>
          </p:cNvPr>
          <p:cNvSpPr/>
          <p:nvPr/>
        </p:nvSpPr>
        <p:spPr>
          <a:xfrm>
            <a:off x="10070780" y="4560885"/>
            <a:ext cx="2875108" cy="365430"/>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solidFill>
                  <a:srgbClr val="FFFF00"/>
                </a:solidFill>
              </a:rPr>
              <a:t>EOL </a:t>
            </a:r>
            <a:r>
              <a:rPr lang="ko-KR" altLang="en-US" sz="1000" dirty="0">
                <a:solidFill>
                  <a:srgbClr val="FFFF00"/>
                </a:solidFill>
              </a:rPr>
              <a:t>외관 </a:t>
            </a:r>
            <a:r>
              <a:rPr lang="en-US" altLang="ko-KR" sz="1000" dirty="0">
                <a:solidFill>
                  <a:srgbClr val="FFFF00"/>
                </a:solidFill>
              </a:rPr>
              <a:t>/ Risk Range / </a:t>
            </a:r>
            <a:r>
              <a:rPr lang="ko-KR" altLang="en-US" sz="1000" dirty="0">
                <a:solidFill>
                  <a:srgbClr val="FFFF00"/>
                </a:solidFill>
              </a:rPr>
              <a:t>정보이상 관련 확인 필요</a:t>
            </a:r>
          </a:p>
        </p:txBody>
      </p:sp>
      <p:sp>
        <p:nvSpPr>
          <p:cNvPr id="4" name="TextBox 3">
            <a:extLst>
              <a:ext uri="{FF2B5EF4-FFF2-40B4-BE49-F238E27FC236}">
                <a16:creationId xmlns:a16="http://schemas.microsoft.com/office/drawing/2014/main" id="{2190FD0F-B8D7-31A6-C4E3-C3C084DB8649}"/>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- 2 / 10 -</a:t>
            </a:r>
          </a:p>
        </p:txBody>
      </p:sp>
    </p:spTree>
    <p:extLst>
      <p:ext uri="{BB962C8B-B14F-4D97-AF65-F5344CB8AC3E}">
        <p14:creationId xmlns:p14="http://schemas.microsoft.com/office/powerpoint/2010/main" val="1056729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6">
            <a:extLst>
              <a:ext uri="{FF2B5EF4-FFF2-40B4-BE49-F238E27FC236}">
                <a16:creationId xmlns:a16="http://schemas.microsoft.com/office/drawing/2014/main" id="{97C2A0AF-8EC2-5EF1-287A-FE2FD81273A4}"/>
              </a:ext>
            </a:extLst>
          </p:cNvPr>
          <p:cNvSpPr txBox="1"/>
          <p:nvPr/>
        </p:nvSpPr>
        <p:spPr>
          <a:xfrm>
            <a:off x="7394479" y="2802"/>
            <a:ext cx="2239041" cy="50853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04982" rtl="0" eaLnBrk="1" fontAlgn="auto" latinLnBrk="1" hangingPunct="1">
              <a:lnSpc>
                <a:spcPts val="1089"/>
              </a:lnSpc>
              <a:spcBef>
                <a:spcPts val="0"/>
              </a:spcBef>
              <a:spcAft>
                <a:spcPts val="0"/>
              </a:spcAft>
              <a:buClrTx/>
              <a:buSzTx/>
              <a:buFontTx/>
              <a:buNone/>
              <a:tabLst/>
              <a:defRPr/>
            </a:pP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작성자 </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제조빅데이터분석</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1</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팀 최재호</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한종원</a:t>
            </a:r>
            <a:b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b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Counterpart</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WA </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기술</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설비</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생산</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검사</a:t>
            </a:r>
            <a:endPar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904982" rtl="0" eaLnBrk="1" fontAlgn="auto" latinLnBrk="1" hangingPunct="1">
              <a:lnSpc>
                <a:spcPts val="1089"/>
              </a:lnSpc>
              <a:spcBef>
                <a:spcPts val="0"/>
              </a:spcBef>
              <a:spcAft>
                <a:spcPts val="0"/>
              </a:spcAft>
              <a:buClrTx/>
              <a:buSzTx/>
              <a:buFontTx/>
              <a:buNone/>
              <a:tabLst/>
              <a:defRPr/>
            </a:pP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작성 일자 </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en-US" altLang="ko-KR" sz="891"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’26/09/01</a:t>
            </a:r>
          </a:p>
        </p:txBody>
      </p:sp>
      <p:sp>
        <p:nvSpPr>
          <p:cNvPr id="5" name="직사각형 4">
            <a:extLst>
              <a:ext uri="{FF2B5EF4-FFF2-40B4-BE49-F238E27FC236}">
                <a16:creationId xmlns:a16="http://schemas.microsoft.com/office/drawing/2014/main" id="{0F37C8E7-213E-35A3-61A0-E883E7B83C45}"/>
              </a:ext>
            </a:extLst>
          </p:cNvPr>
          <p:cNvSpPr/>
          <p:nvPr/>
        </p:nvSpPr>
        <p:spPr>
          <a:xfrm>
            <a:off x="56964" y="33219"/>
            <a:ext cx="7040450" cy="365524"/>
          </a:xfrm>
          <a:prstGeom prst="rect">
            <a:avLst/>
          </a:prstGeom>
        </p:spPr>
        <p:txBody>
          <a:bodyPr wrap="square">
            <a:spAutoFit/>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ko-KR" altLang="en-US" sz="1781" b="1" i="0" u="sng"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보조</a:t>
            </a:r>
            <a:r>
              <a:rPr kumimoji="1" lang="en-US" altLang="ko-KR" sz="1781" b="1" i="0" u="sng"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ESWA E77A </a:t>
            </a:r>
            <a:r>
              <a:rPr kumimoji="1" lang="ko-KR" altLang="en-US" sz="1781" b="1" u="sng" kern="0" dirty="0">
                <a:solidFill>
                  <a:prstClr val="black"/>
                </a:solidFill>
                <a:latin typeface="Arial Narrow" panose="020B0606020202030204" pitchFamily="34" charset="0"/>
                <a:ea typeface="LG스마트체 Regular" panose="020B0600000101010101" pitchFamily="50" charset="-127"/>
              </a:rPr>
              <a:t>표면불량 기인 </a:t>
            </a:r>
            <a:r>
              <a:rPr kumimoji="1" lang="en-US" altLang="ko-KR" sz="1781" b="1" u="sng" kern="0" dirty="0">
                <a:solidFill>
                  <a:prstClr val="black"/>
                </a:solidFill>
                <a:latin typeface="Arial Narrow" panose="020B0606020202030204" pitchFamily="34" charset="0"/>
                <a:ea typeface="LG스마트체 Regular" panose="020B0600000101010101" pitchFamily="50" charset="-127"/>
              </a:rPr>
              <a:t>NG</a:t>
            </a:r>
            <a:r>
              <a:rPr kumimoji="1" lang="ko-KR" altLang="en-US" sz="1781" b="1" u="sng" kern="0" dirty="0">
                <a:solidFill>
                  <a:prstClr val="black"/>
                </a:solidFill>
                <a:latin typeface="Arial Narrow" panose="020B0606020202030204" pitchFamily="34" charset="0"/>
                <a:ea typeface="LG스마트체 Regular" panose="020B0600000101010101" pitchFamily="50" charset="-127"/>
              </a:rPr>
              <a:t>마킹 경향 분석</a:t>
            </a:r>
            <a:endParaRPr kumimoji="1" lang="en-US" altLang="ko-KR" sz="1781" b="1" i="0" u="sng" strike="noStrike" kern="0" cap="none" spc="0" normalizeH="0" baseline="0" noProof="0" dirty="0">
              <a:ln>
                <a:noFill/>
              </a:ln>
              <a:solidFill>
                <a:srgbClr val="FF0000"/>
              </a:solidFill>
              <a:effectLst/>
              <a:uLnTx/>
              <a:uFillTx/>
              <a:latin typeface="Arial Narrow" panose="020B0606020202030204" pitchFamily="34" charset="0"/>
              <a:ea typeface="LG스마트체 Regular" panose="020B0600000101010101" pitchFamily="50" charset="-127"/>
              <a:cs typeface="+mn-cs"/>
            </a:endParaRPr>
          </a:p>
        </p:txBody>
      </p:sp>
      <p:sp>
        <p:nvSpPr>
          <p:cNvPr id="10" name="TextBox 9">
            <a:extLst>
              <a:ext uri="{FF2B5EF4-FFF2-40B4-BE49-F238E27FC236}">
                <a16:creationId xmlns:a16="http://schemas.microsoft.com/office/drawing/2014/main" id="{8BBC5870-1C86-D30E-08C6-37722C90917C}"/>
              </a:ext>
            </a:extLst>
          </p:cNvPr>
          <p:cNvSpPr txBox="1"/>
          <p:nvPr/>
        </p:nvSpPr>
        <p:spPr>
          <a:xfrm>
            <a:off x="99431" y="463971"/>
            <a:ext cx="9734926"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코터 음극 </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7</a:t>
            </a: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호기에서 생산한 </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Lot </a:t>
            </a: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들에 대해</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① 표면 불량률이 높아지는 시점과 ②음극 바인더 </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Lot ID </a:t>
            </a: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교체시점을 비교했습니다</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 </a:t>
            </a: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코터 기준으로 음극 </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Binder Lot ID </a:t>
            </a: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가</a:t>
            </a:r>
            <a:endPar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연속적이지 않고 자주 변경되는 구간에서 표면불량률 높은 경향성이 관찰됩니다</a:t>
            </a:r>
            <a:r>
              <a:rPr kumimoji="0" lang="en-US" altLang="ko-KR" sz="1200" b="1" i="0" u="none" strike="noStrike" kern="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rPr>
              <a:t>.</a:t>
            </a:r>
          </a:p>
        </p:txBody>
      </p:sp>
      <p:sp>
        <p:nvSpPr>
          <p:cNvPr id="28" name="TextBox 27">
            <a:extLst>
              <a:ext uri="{FF2B5EF4-FFF2-40B4-BE49-F238E27FC236}">
                <a16:creationId xmlns:a16="http://schemas.microsoft.com/office/drawing/2014/main" id="{8959FAC4-6FA7-7124-9A22-C96436269F46}"/>
              </a:ext>
            </a:extLst>
          </p:cNvPr>
          <p:cNvSpPr txBox="1"/>
          <p:nvPr/>
        </p:nvSpPr>
        <p:spPr>
          <a:xfrm>
            <a:off x="99431" y="1018601"/>
            <a:ext cx="1619516"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Narrow"/>
                <a:ea typeface="LG스마트체 Regular"/>
                <a:cs typeface="+mn-cs"/>
              </a:rPr>
              <a:t>Data</a:t>
            </a:r>
            <a:r>
              <a:rPr kumimoji="0" lang="ko-KR" altLang="en-US" sz="900" b="0" i="0" u="none" strike="noStrike" kern="1200" cap="none" spc="0" normalizeH="0" baseline="0" noProof="0" dirty="0">
                <a:ln>
                  <a:noFill/>
                </a:ln>
                <a:solidFill>
                  <a:prstClr val="black"/>
                </a:solidFill>
                <a:effectLst/>
                <a:uLnTx/>
                <a:uFillTx/>
                <a:latin typeface="Arial Narrow"/>
                <a:ea typeface="LG스마트체 Regular"/>
                <a:cs typeface="+mn-cs"/>
              </a:rPr>
              <a:t> </a:t>
            </a:r>
            <a:r>
              <a:rPr kumimoji="0" lang="en-US" altLang="ko-KR" sz="900" b="0" i="0" u="none" strike="noStrike" kern="1200" cap="none" spc="0" normalizeH="0" baseline="0" noProof="0" dirty="0">
                <a:ln>
                  <a:noFill/>
                </a:ln>
                <a:solidFill>
                  <a:prstClr val="black"/>
                </a:solidFill>
                <a:effectLst/>
                <a:uLnTx/>
                <a:uFillTx/>
                <a:latin typeface="Arial Narrow"/>
                <a:ea typeface="LG스마트체 Regular"/>
                <a:cs typeface="+mn-cs"/>
              </a:rPr>
              <a:t>:</a:t>
            </a:r>
            <a:r>
              <a:rPr kumimoji="0" lang="ko-KR" altLang="en-US" sz="900" b="0" i="0" u="none" strike="noStrike" kern="1200" cap="none" spc="0" normalizeH="0" baseline="0" noProof="0" dirty="0">
                <a:ln>
                  <a:noFill/>
                </a:ln>
                <a:solidFill>
                  <a:prstClr val="black"/>
                </a:solidFill>
                <a:effectLst/>
                <a:uLnTx/>
                <a:uFillTx/>
                <a:latin typeface="Arial Narrow"/>
                <a:ea typeface="LG스마트체 Regular"/>
                <a:cs typeface="+mn-cs"/>
              </a:rPr>
              <a:t> </a:t>
            </a:r>
            <a:r>
              <a:rPr kumimoji="0" lang="en-US" altLang="ko-KR" sz="900" b="0" i="0" u="none" strike="noStrike" kern="1200" cap="none" spc="0" normalizeH="0" baseline="0" noProof="0" dirty="0">
                <a:ln>
                  <a:noFill/>
                </a:ln>
                <a:solidFill>
                  <a:prstClr val="black"/>
                </a:solidFill>
                <a:effectLst/>
                <a:uLnTx/>
                <a:uFillTx/>
                <a:latin typeface="Arial Narrow"/>
                <a:ea typeface="LG스마트체 Regular"/>
                <a:cs typeface="+mn-cs"/>
              </a:rPr>
              <a:t>COT(A)#07 7/14-8/26 </a:t>
            </a:r>
            <a:r>
              <a:rPr kumimoji="0" lang="ko-KR" altLang="en-US" sz="900" b="0" i="0" u="none" strike="noStrike" kern="1200" cap="none" spc="0" normalizeH="0" baseline="0" noProof="0" dirty="0">
                <a:ln>
                  <a:noFill/>
                </a:ln>
                <a:solidFill>
                  <a:prstClr val="black"/>
                </a:solidFill>
                <a:effectLst/>
                <a:uLnTx/>
                <a:uFillTx/>
                <a:latin typeface="Arial Narrow"/>
                <a:ea typeface="LG스마트체 Regular"/>
                <a:cs typeface="+mn-cs"/>
              </a:rPr>
              <a:t>생산분</a:t>
            </a:r>
          </a:p>
        </p:txBody>
      </p:sp>
      <p:sp>
        <p:nvSpPr>
          <p:cNvPr id="31" name="TextBox 30">
            <a:extLst>
              <a:ext uri="{FF2B5EF4-FFF2-40B4-BE49-F238E27FC236}">
                <a16:creationId xmlns:a16="http://schemas.microsoft.com/office/drawing/2014/main" id="{523EFDD8-4CE7-F4D5-2AFD-1B23EF11BA9E}"/>
              </a:ext>
            </a:extLst>
          </p:cNvPr>
          <p:cNvSpPr txBox="1"/>
          <p:nvPr/>
        </p:nvSpPr>
        <p:spPr>
          <a:xfrm>
            <a:off x="99431" y="1193344"/>
            <a:ext cx="1335622"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rgbClr val="0000FF"/>
                </a:solidFill>
                <a:effectLst/>
                <a:uLnTx/>
                <a:uFillTx/>
                <a:latin typeface="Arial Narrow"/>
                <a:ea typeface="LG스마트체 Regular"/>
                <a:cs typeface="+mn-cs"/>
              </a:rPr>
              <a:t>Color : </a:t>
            </a:r>
            <a:r>
              <a:rPr kumimoji="0" lang="ko-KR" altLang="en-US" sz="900" b="1" i="0" u="none" strike="noStrike" kern="1200" cap="none" spc="0" normalizeH="0" baseline="0" noProof="0" dirty="0">
                <a:ln>
                  <a:noFill/>
                </a:ln>
                <a:solidFill>
                  <a:srgbClr val="0000FF"/>
                </a:solidFill>
                <a:effectLst/>
                <a:uLnTx/>
                <a:uFillTx/>
                <a:latin typeface="Arial Narrow"/>
                <a:ea typeface="LG스마트체 Regular"/>
                <a:cs typeface="+mn-cs"/>
              </a:rPr>
              <a:t>음극 </a:t>
            </a:r>
            <a:r>
              <a:rPr kumimoji="0" lang="en-US" altLang="ko-KR" sz="900" b="1" i="0" u="none" strike="noStrike" kern="1200" cap="none" spc="0" normalizeH="0" baseline="0" noProof="0" dirty="0">
                <a:ln>
                  <a:noFill/>
                </a:ln>
                <a:solidFill>
                  <a:srgbClr val="0000FF"/>
                </a:solidFill>
                <a:effectLst/>
                <a:uLnTx/>
                <a:uFillTx/>
                <a:latin typeface="Arial Narrow"/>
                <a:ea typeface="LG스마트체 Regular"/>
                <a:cs typeface="+mn-cs"/>
              </a:rPr>
              <a:t>Binder Lot ID</a:t>
            </a:r>
            <a:endParaRPr kumimoji="0" lang="ko-KR" altLang="en-US" sz="900" b="1" i="0" u="none" strike="noStrike" kern="1200" cap="none" spc="0" normalizeH="0" baseline="0" noProof="0" dirty="0">
              <a:ln>
                <a:noFill/>
              </a:ln>
              <a:solidFill>
                <a:srgbClr val="0000FF"/>
              </a:solidFill>
              <a:effectLst/>
              <a:uLnTx/>
              <a:uFillTx/>
              <a:latin typeface="Arial Narrow"/>
              <a:ea typeface="LG스마트체 Regular"/>
              <a:cs typeface="+mn-cs"/>
            </a:endParaRPr>
          </a:p>
        </p:txBody>
      </p:sp>
      <p:sp>
        <p:nvSpPr>
          <p:cNvPr id="33" name="TextBox 32">
            <a:extLst>
              <a:ext uri="{FF2B5EF4-FFF2-40B4-BE49-F238E27FC236}">
                <a16:creationId xmlns:a16="http://schemas.microsoft.com/office/drawing/2014/main" id="{AF14A313-BF6F-A3FD-3E79-5DF03970A0A2}"/>
              </a:ext>
            </a:extLst>
          </p:cNvPr>
          <p:cNvSpPr txBox="1"/>
          <p:nvPr/>
        </p:nvSpPr>
        <p:spPr>
          <a:xfrm>
            <a:off x="1774918" y="1217962"/>
            <a:ext cx="5266185"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E77A </a:t>
            </a:r>
            <a:r>
              <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음극 </a:t>
            </a: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 Double Layer </a:t>
            </a:r>
            <a:r>
              <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모델이며</a:t>
            </a: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 Lower Layer </a:t>
            </a:r>
            <a:r>
              <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간 사용</a:t>
            </a: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Slurry</a:t>
            </a:r>
            <a:r>
              <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가 동일하며</a:t>
            </a: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 Upper Layer </a:t>
            </a:r>
            <a:r>
              <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간 사용 </a:t>
            </a: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Slurry </a:t>
            </a:r>
            <a:r>
              <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가 동일함</a:t>
            </a:r>
            <a:r>
              <a:rPr kumimoji="0" lang="en-US" altLang="ko-KR"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rPr>
              <a:t>.</a:t>
            </a:r>
            <a:endParaRPr kumimoji="0" lang="ko-KR" altLang="en-US" sz="900" b="1" i="0" u="none" strike="noStrike" kern="1200" cap="none" spc="0" normalizeH="0" baseline="0" noProof="0" dirty="0">
              <a:ln>
                <a:noFill/>
              </a:ln>
              <a:solidFill>
                <a:srgbClr val="4EA72E">
                  <a:lumMod val="75000"/>
                </a:srgbClr>
              </a:solidFill>
              <a:effectLst/>
              <a:uLnTx/>
              <a:uFillTx/>
              <a:latin typeface="Arial Narrow"/>
              <a:ea typeface="LG스마트체 Regular"/>
              <a:cs typeface="+mn-cs"/>
            </a:endParaRPr>
          </a:p>
        </p:txBody>
      </p:sp>
      <p:sp>
        <p:nvSpPr>
          <p:cNvPr id="37" name="직사각형 36">
            <a:extLst>
              <a:ext uri="{FF2B5EF4-FFF2-40B4-BE49-F238E27FC236}">
                <a16:creationId xmlns:a16="http://schemas.microsoft.com/office/drawing/2014/main" id="{BD190E14-4B2A-F9FB-4677-BC131B624C77}"/>
              </a:ext>
            </a:extLst>
          </p:cNvPr>
          <p:cNvSpPr/>
          <p:nvPr/>
        </p:nvSpPr>
        <p:spPr>
          <a:xfrm>
            <a:off x="155402" y="1026221"/>
            <a:ext cx="1619516" cy="360584"/>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a:ea typeface="LG스마트체 Regular"/>
              <a:cs typeface="+mn-cs"/>
            </a:endParaRPr>
          </a:p>
        </p:txBody>
      </p:sp>
      <p:pic>
        <p:nvPicPr>
          <p:cNvPr id="24" name="그림 23">
            <a:extLst>
              <a:ext uri="{FF2B5EF4-FFF2-40B4-BE49-F238E27FC236}">
                <a16:creationId xmlns:a16="http://schemas.microsoft.com/office/drawing/2014/main" id="{BE86BD13-E917-57F8-7C12-CB30F9E9B940}"/>
              </a:ext>
            </a:extLst>
          </p:cNvPr>
          <p:cNvPicPr>
            <a:picLocks noChangeAspect="1"/>
          </p:cNvPicPr>
          <p:nvPr/>
        </p:nvPicPr>
        <p:blipFill>
          <a:blip r:embed="rId3"/>
          <a:stretch>
            <a:fillRect/>
          </a:stretch>
        </p:blipFill>
        <p:spPr>
          <a:xfrm>
            <a:off x="0" y="1823140"/>
            <a:ext cx="9906000" cy="1748117"/>
          </a:xfrm>
          <a:prstGeom prst="rect">
            <a:avLst/>
          </a:prstGeom>
        </p:spPr>
      </p:pic>
      <p:pic>
        <p:nvPicPr>
          <p:cNvPr id="30" name="그림 29">
            <a:extLst>
              <a:ext uri="{FF2B5EF4-FFF2-40B4-BE49-F238E27FC236}">
                <a16:creationId xmlns:a16="http://schemas.microsoft.com/office/drawing/2014/main" id="{1ED99214-A04A-D1EF-4360-5FC06474D406}"/>
              </a:ext>
            </a:extLst>
          </p:cNvPr>
          <p:cNvPicPr>
            <a:picLocks noChangeAspect="1"/>
          </p:cNvPicPr>
          <p:nvPr/>
        </p:nvPicPr>
        <p:blipFill>
          <a:blip r:embed="rId4"/>
          <a:stretch>
            <a:fillRect/>
          </a:stretch>
        </p:blipFill>
        <p:spPr>
          <a:xfrm>
            <a:off x="0" y="4825296"/>
            <a:ext cx="9906000" cy="1688969"/>
          </a:xfrm>
          <a:prstGeom prst="rect">
            <a:avLst/>
          </a:prstGeom>
        </p:spPr>
      </p:pic>
      <p:sp>
        <p:nvSpPr>
          <p:cNvPr id="32" name="TextBox 31">
            <a:extLst>
              <a:ext uri="{FF2B5EF4-FFF2-40B4-BE49-F238E27FC236}">
                <a16:creationId xmlns:a16="http://schemas.microsoft.com/office/drawing/2014/main" id="{6DD67CCA-A9AF-75F1-9157-9CCF21F167D3}"/>
              </a:ext>
            </a:extLst>
          </p:cNvPr>
          <p:cNvSpPr txBox="1"/>
          <p:nvPr/>
        </p:nvSpPr>
        <p:spPr>
          <a:xfrm>
            <a:off x="-52702" y="1572044"/>
            <a:ext cx="18357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Arial Narrow"/>
                <a:ea typeface="LG스마트체 Regular"/>
                <a:cs typeface="+mn-cs"/>
              </a:rPr>
              <a:t>1) Color : Lower Layer Binder</a:t>
            </a:r>
            <a:endParaRPr kumimoji="0" lang="ko-KR" altLang="en-US" sz="1200" b="0" i="0" u="none" strike="noStrike" kern="1200" cap="none" spc="0" normalizeH="0" baseline="0" noProof="0" dirty="0">
              <a:ln>
                <a:noFill/>
              </a:ln>
              <a:solidFill>
                <a:prstClr val="black"/>
              </a:solidFill>
              <a:effectLst/>
              <a:uLnTx/>
              <a:uFillTx/>
              <a:latin typeface="Arial Narrow"/>
              <a:ea typeface="LG스마트체 Regular"/>
              <a:cs typeface="+mn-cs"/>
            </a:endParaRPr>
          </a:p>
        </p:txBody>
      </p:sp>
      <p:sp>
        <p:nvSpPr>
          <p:cNvPr id="26" name="TextBox 25">
            <a:extLst>
              <a:ext uri="{FF2B5EF4-FFF2-40B4-BE49-F238E27FC236}">
                <a16:creationId xmlns:a16="http://schemas.microsoft.com/office/drawing/2014/main" id="{22AFE9CC-0A73-D292-0B7B-3C67FD955E2A}"/>
              </a:ext>
            </a:extLst>
          </p:cNvPr>
          <p:cNvSpPr txBox="1"/>
          <p:nvPr/>
        </p:nvSpPr>
        <p:spPr>
          <a:xfrm>
            <a:off x="0" y="1819081"/>
            <a:ext cx="2727878"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Y</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축 </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 (</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노칭에서 판정한</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 </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전공정외관 </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NG</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마킹 불량률</a:t>
            </a:r>
          </a:p>
        </p:txBody>
      </p:sp>
      <p:sp>
        <p:nvSpPr>
          <p:cNvPr id="41" name="TextBox 40">
            <a:extLst>
              <a:ext uri="{FF2B5EF4-FFF2-40B4-BE49-F238E27FC236}">
                <a16:creationId xmlns:a16="http://schemas.microsoft.com/office/drawing/2014/main" id="{676A3661-B14F-8FF0-0A9E-175D6B633CCB}"/>
              </a:ext>
            </a:extLst>
          </p:cNvPr>
          <p:cNvSpPr txBox="1"/>
          <p:nvPr/>
        </p:nvSpPr>
        <p:spPr>
          <a:xfrm>
            <a:off x="-52702" y="4442448"/>
            <a:ext cx="1835759"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Arial Narrow"/>
                <a:ea typeface="LG스마트체 Regular"/>
                <a:cs typeface="+mn-cs"/>
              </a:rPr>
              <a:t>2) Color : Upper Layer Binder</a:t>
            </a:r>
            <a:endParaRPr kumimoji="0" lang="ko-KR" altLang="en-US" sz="1200" b="0" i="0" u="none" strike="noStrike" kern="1200" cap="none" spc="0" normalizeH="0" baseline="0" noProof="0" dirty="0">
              <a:ln>
                <a:noFill/>
              </a:ln>
              <a:solidFill>
                <a:prstClr val="black"/>
              </a:solidFill>
              <a:effectLst/>
              <a:uLnTx/>
              <a:uFillTx/>
              <a:latin typeface="Arial Narrow"/>
              <a:ea typeface="LG스마트체 Regular"/>
              <a:cs typeface="+mn-cs"/>
            </a:endParaRPr>
          </a:p>
        </p:txBody>
      </p:sp>
      <p:sp>
        <p:nvSpPr>
          <p:cNvPr id="49" name="직사각형 48">
            <a:extLst>
              <a:ext uri="{FF2B5EF4-FFF2-40B4-BE49-F238E27FC236}">
                <a16:creationId xmlns:a16="http://schemas.microsoft.com/office/drawing/2014/main" id="{75416D7A-BDAB-9441-5B9A-F29A68F7E71B}"/>
              </a:ext>
            </a:extLst>
          </p:cNvPr>
          <p:cNvSpPr/>
          <p:nvPr/>
        </p:nvSpPr>
        <p:spPr>
          <a:xfrm>
            <a:off x="2004059" y="2077056"/>
            <a:ext cx="411481" cy="14649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a:ea typeface="LG스마트체 Regular"/>
              <a:cs typeface="+mn-cs"/>
            </a:endParaRPr>
          </a:p>
        </p:txBody>
      </p:sp>
      <p:sp>
        <p:nvSpPr>
          <p:cNvPr id="51" name="직사각형 50">
            <a:extLst>
              <a:ext uri="{FF2B5EF4-FFF2-40B4-BE49-F238E27FC236}">
                <a16:creationId xmlns:a16="http://schemas.microsoft.com/office/drawing/2014/main" id="{2AAC0FFC-4455-24FA-0385-DCFA966BB647}"/>
              </a:ext>
            </a:extLst>
          </p:cNvPr>
          <p:cNvSpPr/>
          <p:nvPr/>
        </p:nvSpPr>
        <p:spPr>
          <a:xfrm>
            <a:off x="6664615" y="2077056"/>
            <a:ext cx="616767" cy="14649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a:ea typeface="LG스마트체 Regular"/>
              <a:cs typeface="+mn-cs"/>
            </a:endParaRPr>
          </a:p>
        </p:txBody>
      </p:sp>
      <p:sp>
        <p:nvSpPr>
          <p:cNvPr id="53" name="직사각형 52">
            <a:extLst>
              <a:ext uri="{FF2B5EF4-FFF2-40B4-BE49-F238E27FC236}">
                <a16:creationId xmlns:a16="http://schemas.microsoft.com/office/drawing/2014/main" id="{548BBFC8-CACD-9B5E-8754-C712AFFA2C32}"/>
              </a:ext>
            </a:extLst>
          </p:cNvPr>
          <p:cNvSpPr/>
          <p:nvPr/>
        </p:nvSpPr>
        <p:spPr>
          <a:xfrm>
            <a:off x="5925475" y="5048921"/>
            <a:ext cx="616767" cy="14649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a:ea typeface="LG스마트체 Regular"/>
              <a:cs typeface="+mn-cs"/>
            </a:endParaRPr>
          </a:p>
        </p:txBody>
      </p:sp>
      <p:sp>
        <p:nvSpPr>
          <p:cNvPr id="54" name="직사각형 53">
            <a:extLst>
              <a:ext uri="{FF2B5EF4-FFF2-40B4-BE49-F238E27FC236}">
                <a16:creationId xmlns:a16="http://schemas.microsoft.com/office/drawing/2014/main" id="{776FFB6D-0B84-E19F-F0AD-6C6E08B731EE}"/>
              </a:ext>
            </a:extLst>
          </p:cNvPr>
          <p:cNvSpPr/>
          <p:nvPr/>
        </p:nvSpPr>
        <p:spPr>
          <a:xfrm>
            <a:off x="4876800" y="5048921"/>
            <a:ext cx="309082" cy="14649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a:ea typeface="LG스마트체 Regular"/>
              <a:cs typeface="+mn-cs"/>
            </a:endParaRPr>
          </a:p>
        </p:txBody>
      </p:sp>
      <p:sp>
        <p:nvSpPr>
          <p:cNvPr id="55" name="직사각형 54">
            <a:extLst>
              <a:ext uri="{FF2B5EF4-FFF2-40B4-BE49-F238E27FC236}">
                <a16:creationId xmlns:a16="http://schemas.microsoft.com/office/drawing/2014/main" id="{F451611F-9ED1-097D-8266-F67CE1EFAB7B}"/>
              </a:ext>
            </a:extLst>
          </p:cNvPr>
          <p:cNvSpPr/>
          <p:nvPr/>
        </p:nvSpPr>
        <p:spPr>
          <a:xfrm>
            <a:off x="1229312" y="2077056"/>
            <a:ext cx="411481" cy="14649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Narrow"/>
              <a:ea typeface="LG스마트체 Regular"/>
              <a:cs typeface="+mn-cs"/>
            </a:endParaRPr>
          </a:p>
        </p:txBody>
      </p:sp>
      <p:pic>
        <p:nvPicPr>
          <p:cNvPr id="57" name="그림 56">
            <a:extLst>
              <a:ext uri="{FF2B5EF4-FFF2-40B4-BE49-F238E27FC236}">
                <a16:creationId xmlns:a16="http://schemas.microsoft.com/office/drawing/2014/main" id="{2EB62202-1616-DF70-6A99-B20F81804408}"/>
              </a:ext>
            </a:extLst>
          </p:cNvPr>
          <p:cNvPicPr>
            <a:picLocks noChangeAspect="1"/>
          </p:cNvPicPr>
          <p:nvPr/>
        </p:nvPicPr>
        <p:blipFill>
          <a:blip r:embed="rId5"/>
          <a:stretch>
            <a:fillRect/>
          </a:stretch>
        </p:blipFill>
        <p:spPr>
          <a:xfrm>
            <a:off x="155402" y="3600316"/>
            <a:ext cx="9654610" cy="291485"/>
          </a:xfrm>
          <a:prstGeom prst="rect">
            <a:avLst/>
          </a:prstGeom>
        </p:spPr>
      </p:pic>
      <p:sp>
        <p:nvSpPr>
          <p:cNvPr id="27" name="TextBox 26">
            <a:extLst>
              <a:ext uri="{FF2B5EF4-FFF2-40B4-BE49-F238E27FC236}">
                <a16:creationId xmlns:a16="http://schemas.microsoft.com/office/drawing/2014/main" id="{B000327B-83FF-92E0-5A84-E72BDF7FB2FF}"/>
              </a:ext>
            </a:extLst>
          </p:cNvPr>
          <p:cNvSpPr txBox="1"/>
          <p:nvPr/>
        </p:nvSpPr>
        <p:spPr>
          <a:xfrm>
            <a:off x="8134965" y="3673724"/>
            <a:ext cx="1606530"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X</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축 </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 </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코터 생산시간 </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 Lot ID</a:t>
            </a:r>
            <a:endPar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endParaRPr>
          </a:p>
        </p:txBody>
      </p:sp>
      <p:pic>
        <p:nvPicPr>
          <p:cNvPr id="58" name="그림 57">
            <a:extLst>
              <a:ext uri="{FF2B5EF4-FFF2-40B4-BE49-F238E27FC236}">
                <a16:creationId xmlns:a16="http://schemas.microsoft.com/office/drawing/2014/main" id="{6E74D778-D319-0AC0-8CD7-7167B531C236}"/>
              </a:ext>
            </a:extLst>
          </p:cNvPr>
          <p:cNvPicPr>
            <a:picLocks noChangeAspect="1"/>
          </p:cNvPicPr>
          <p:nvPr/>
        </p:nvPicPr>
        <p:blipFill>
          <a:blip r:embed="rId5"/>
          <a:stretch>
            <a:fillRect/>
          </a:stretch>
        </p:blipFill>
        <p:spPr>
          <a:xfrm>
            <a:off x="155402" y="6537456"/>
            <a:ext cx="9654610" cy="291485"/>
          </a:xfrm>
          <a:prstGeom prst="rect">
            <a:avLst/>
          </a:prstGeom>
        </p:spPr>
      </p:pic>
      <p:sp>
        <p:nvSpPr>
          <p:cNvPr id="59" name="TextBox 58">
            <a:extLst>
              <a:ext uri="{FF2B5EF4-FFF2-40B4-BE49-F238E27FC236}">
                <a16:creationId xmlns:a16="http://schemas.microsoft.com/office/drawing/2014/main" id="{9261A0B0-F503-7F3B-1700-58C96FBCE92F}"/>
              </a:ext>
            </a:extLst>
          </p:cNvPr>
          <p:cNvSpPr txBox="1"/>
          <p:nvPr/>
        </p:nvSpPr>
        <p:spPr>
          <a:xfrm>
            <a:off x="8134965" y="6604084"/>
            <a:ext cx="1606530"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X</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축 </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 </a:t>
            </a:r>
            <a:r>
              <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rPr>
              <a:t>코터 생산시간 </a:t>
            </a:r>
            <a:r>
              <a:rPr kumimoji="0" lang="en-US" altLang="ko-KR" sz="1050" b="0" i="0" u="none" strike="noStrike" kern="1200" cap="none" spc="0" normalizeH="0" baseline="0" noProof="0" dirty="0">
                <a:ln>
                  <a:noFill/>
                </a:ln>
                <a:solidFill>
                  <a:prstClr val="black"/>
                </a:solidFill>
                <a:effectLst/>
                <a:uLnTx/>
                <a:uFillTx/>
                <a:latin typeface="Arial Narrow"/>
                <a:ea typeface="LG스마트체 Regular"/>
                <a:cs typeface="+mn-cs"/>
              </a:rPr>
              <a:t>/ Lot ID</a:t>
            </a:r>
            <a:endParaRPr kumimoji="0" lang="ko-KR" altLang="en-US" sz="1050" b="0" i="0" u="none" strike="noStrike" kern="1200" cap="none" spc="0" normalizeH="0" baseline="0" noProof="0" dirty="0">
              <a:ln>
                <a:noFill/>
              </a:ln>
              <a:solidFill>
                <a:prstClr val="black"/>
              </a:solidFill>
              <a:effectLst/>
              <a:uLnTx/>
              <a:uFillTx/>
              <a:latin typeface="Arial Narrow"/>
              <a:ea typeface="LG스마트체 Regular"/>
              <a:cs typeface="+mn-cs"/>
            </a:endParaRPr>
          </a:p>
        </p:txBody>
      </p:sp>
      <p:cxnSp>
        <p:nvCxnSpPr>
          <p:cNvPr id="61" name="직선 화살표 연결선 60">
            <a:extLst>
              <a:ext uri="{FF2B5EF4-FFF2-40B4-BE49-F238E27FC236}">
                <a16:creationId xmlns:a16="http://schemas.microsoft.com/office/drawing/2014/main" id="{5D027234-98CE-C76F-7E55-BB5D57444B28}"/>
              </a:ext>
            </a:extLst>
          </p:cNvPr>
          <p:cNvCxnSpPr>
            <a:cxnSpLocks/>
            <a:stCxn id="65" idx="0"/>
            <a:endCxn id="55" idx="2"/>
          </p:cNvCxnSpPr>
          <p:nvPr/>
        </p:nvCxnSpPr>
        <p:spPr>
          <a:xfrm flipH="1" flipV="1">
            <a:off x="1435053" y="3541978"/>
            <a:ext cx="3862752" cy="573448"/>
          </a:xfrm>
          <a:prstGeom prst="straightConnector1">
            <a:avLst/>
          </a:prstGeom>
          <a:ln w="6350">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2" name="직선 화살표 연결선 61">
            <a:extLst>
              <a:ext uri="{FF2B5EF4-FFF2-40B4-BE49-F238E27FC236}">
                <a16:creationId xmlns:a16="http://schemas.microsoft.com/office/drawing/2014/main" id="{5D3B0E9F-48F9-4BF3-9B90-42893DAEE602}"/>
              </a:ext>
            </a:extLst>
          </p:cNvPr>
          <p:cNvCxnSpPr>
            <a:cxnSpLocks/>
            <a:stCxn id="65" idx="0"/>
            <a:endCxn id="49" idx="2"/>
          </p:cNvCxnSpPr>
          <p:nvPr/>
        </p:nvCxnSpPr>
        <p:spPr>
          <a:xfrm flipH="1" flipV="1">
            <a:off x="2209800" y="3541978"/>
            <a:ext cx="3088005" cy="573448"/>
          </a:xfrm>
          <a:prstGeom prst="straightConnector1">
            <a:avLst/>
          </a:prstGeom>
          <a:ln w="6350">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5" name="직사각형 64">
            <a:extLst>
              <a:ext uri="{FF2B5EF4-FFF2-40B4-BE49-F238E27FC236}">
                <a16:creationId xmlns:a16="http://schemas.microsoft.com/office/drawing/2014/main" id="{B3D141E5-D8C3-D2B6-D86A-03C9E152D8C1}"/>
              </a:ext>
            </a:extLst>
          </p:cNvPr>
          <p:cNvSpPr/>
          <p:nvPr/>
        </p:nvSpPr>
        <p:spPr>
          <a:xfrm>
            <a:off x="2004059" y="4115426"/>
            <a:ext cx="6587491" cy="253916"/>
          </a:xfrm>
          <a:prstGeom prst="rect">
            <a:avLst/>
          </a:prstGeom>
          <a:no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0" i="0" u="none" strike="noStrike" kern="1200" cap="none" spc="0" normalizeH="0" baseline="0" noProof="0" dirty="0">
                <a:ln>
                  <a:noFill/>
                </a:ln>
                <a:solidFill>
                  <a:prstClr val="black"/>
                </a:solidFill>
                <a:effectLst/>
                <a:uLnTx/>
                <a:uFillTx/>
                <a:latin typeface="Arial Narrow"/>
                <a:ea typeface="LG스마트체 Regular"/>
                <a:cs typeface="+mn-cs"/>
              </a:rPr>
              <a:t>코터 기준으로 </a:t>
            </a:r>
            <a:r>
              <a:rPr kumimoji="0" lang="en-US" altLang="ko-KR" sz="1100" b="0" i="0" u="none" strike="noStrike" kern="1200" cap="none" spc="0" normalizeH="0" baseline="0" noProof="0" dirty="0">
                <a:ln>
                  <a:noFill/>
                </a:ln>
                <a:solidFill>
                  <a:prstClr val="black"/>
                </a:solidFill>
                <a:effectLst/>
                <a:uLnTx/>
                <a:uFillTx/>
                <a:latin typeface="Arial Narrow"/>
                <a:ea typeface="LG스마트체 Regular"/>
                <a:cs typeface="+mn-cs"/>
              </a:rPr>
              <a:t>Binder Lot</a:t>
            </a:r>
            <a:r>
              <a:rPr kumimoji="0" lang="ko-KR" altLang="en-US" sz="1100" b="0" i="0" u="none" strike="noStrike" kern="1200" cap="none" spc="0" normalizeH="0" baseline="0" noProof="0" dirty="0">
                <a:ln>
                  <a:noFill/>
                </a:ln>
                <a:solidFill>
                  <a:prstClr val="black"/>
                </a:solidFill>
                <a:effectLst/>
                <a:uLnTx/>
                <a:uFillTx/>
                <a:latin typeface="Arial Narrow"/>
                <a:ea typeface="LG스마트체 Regular"/>
                <a:cs typeface="+mn-cs"/>
              </a:rPr>
              <a:t>이 연속적이지 않고</a:t>
            </a:r>
            <a:r>
              <a:rPr kumimoji="0" lang="en-US" altLang="ko-KR" sz="1100" b="0" i="0" u="none" strike="noStrike" kern="1200" cap="none" spc="0" normalizeH="0" baseline="0" noProof="0" dirty="0">
                <a:ln>
                  <a:noFill/>
                </a:ln>
                <a:solidFill>
                  <a:prstClr val="black"/>
                </a:solidFill>
                <a:effectLst/>
                <a:uLnTx/>
                <a:uFillTx/>
                <a:latin typeface="Arial Narrow"/>
                <a:ea typeface="LG스마트체 Regular"/>
                <a:cs typeface="+mn-cs"/>
              </a:rPr>
              <a:t>, Binder Lot</a:t>
            </a:r>
            <a:r>
              <a:rPr kumimoji="0" lang="ko-KR" altLang="en-US" sz="1100" b="0" i="0" u="none" strike="noStrike" kern="1200" cap="none" spc="0" normalizeH="0" baseline="0" noProof="0" dirty="0">
                <a:ln>
                  <a:noFill/>
                </a:ln>
                <a:solidFill>
                  <a:prstClr val="black"/>
                </a:solidFill>
                <a:effectLst/>
                <a:uLnTx/>
                <a:uFillTx/>
                <a:latin typeface="Arial Narrow"/>
                <a:ea typeface="LG스마트체 Regular"/>
                <a:cs typeface="+mn-cs"/>
              </a:rPr>
              <a:t>이  자주바뀌는 구간에서 표면불량률 높은 경향성 있음</a:t>
            </a:r>
            <a:r>
              <a:rPr kumimoji="0" lang="en-US" altLang="ko-KR" sz="1100" b="0" i="0" u="none" strike="noStrike" kern="1200" cap="none" spc="0" normalizeH="0" baseline="0" noProof="0" dirty="0">
                <a:ln>
                  <a:noFill/>
                </a:ln>
                <a:solidFill>
                  <a:prstClr val="black"/>
                </a:solidFill>
                <a:effectLst/>
                <a:uLnTx/>
                <a:uFillTx/>
                <a:latin typeface="Arial Narrow"/>
                <a:ea typeface="LG스마트체 Regular"/>
                <a:cs typeface="+mn-cs"/>
              </a:rPr>
              <a:t>. </a:t>
            </a:r>
            <a:endParaRPr kumimoji="0" lang="ko-KR" altLang="en-US" sz="1100" b="0" i="0" u="none" strike="noStrike" kern="1200" cap="none" spc="0" normalizeH="0" baseline="0" noProof="0" dirty="0">
              <a:ln>
                <a:noFill/>
              </a:ln>
              <a:solidFill>
                <a:prstClr val="black"/>
              </a:solidFill>
              <a:effectLst/>
              <a:uLnTx/>
              <a:uFillTx/>
              <a:latin typeface="Arial Narrow"/>
              <a:ea typeface="LG스마트체 Regular"/>
              <a:cs typeface="+mn-cs"/>
            </a:endParaRPr>
          </a:p>
        </p:txBody>
      </p:sp>
      <p:cxnSp>
        <p:nvCxnSpPr>
          <p:cNvPr id="69" name="직선 화살표 연결선 68">
            <a:extLst>
              <a:ext uri="{FF2B5EF4-FFF2-40B4-BE49-F238E27FC236}">
                <a16:creationId xmlns:a16="http://schemas.microsoft.com/office/drawing/2014/main" id="{690A426B-A734-EFC1-9BC3-5802D8B91801}"/>
              </a:ext>
            </a:extLst>
          </p:cNvPr>
          <p:cNvCxnSpPr>
            <a:cxnSpLocks/>
            <a:stCxn id="65" idx="2"/>
            <a:endCxn id="53" idx="0"/>
          </p:cNvCxnSpPr>
          <p:nvPr/>
        </p:nvCxnSpPr>
        <p:spPr>
          <a:xfrm>
            <a:off x="5297805" y="4369342"/>
            <a:ext cx="936054" cy="679579"/>
          </a:xfrm>
          <a:prstGeom prst="straightConnector1">
            <a:avLst/>
          </a:prstGeom>
          <a:ln w="6350">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1" name="직선 화살표 연결선 70">
            <a:extLst>
              <a:ext uri="{FF2B5EF4-FFF2-40B4-BE49-F238E27FC236}">
                <a16:creationId xmlns:a16="http://schemas.microsoft.com/office/drawing/2014/main" id="{E8971997-E27D-5403-6A94-9D2B54DA56D0}"/>
              </a:ext>
            </a:extLst>
          </p:cNvPr>
          <p:cNvCxnSpPr>
            <a:cxnSpLocks/>
            <a:stCxn id="65" idx="0"/>
            <a:endCxn id="51" idx="2"/>
          </p:cNvCxnSpPr>
          <p:nvPr/>
        </p:nvCxnSpPr>
        <p:spPr>
          <a:xfrm flipV="1">
            <a:off x="5297805" y="3541978"/>
            <a:ext cx="1675194" cy="573448"/>
          </a:xfrm>
          <a:prstGeom prst="straightConnector1">
            <a:avLst/>
          </a:prstGeom>
          <a:ln w="6350">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3" name="직선 화살표 연결선 72">
            <a:extLst>
              <a:ext uri="{FF2B5EF4-FFF2-40B4-BE49-F238E27FC236}">
                <a16:creationId xmlns:a16="http://schemas.microsoft.com/office/drawing/2014/main" id="{7E73F117-DB44-D17B-6FAE-B1BDB299CE86}"/>
              </a:ext>
            </a:extLst>
          </p:cNvPr>
          <p:cNvCxnSpPr>
            <a:cxnSpLocks/>
            <a:stCxn id="65" idx="2"/>
            <a:endCxn id="54" idx="0"/>
          </p:cNvCxnSpPr>
          <p:nvPr/>
        </p:nvCxnSpPr>
        <p:spPr>
          <a:xfrm flipH="1">
            <a:off x="5031341" y="4369342"/>
            <a:ext cx="266464" cy="679579"/>
          </a:xfrm>
          <a:prstGeom prst="straightConnector1">
            <a:avLst/>
          </a:prstGeom>
          <a:ln w="6350">
            <a:solidFill>
              <a:srgbClr val="FF000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7" name="실행 단추: 홈으로 이동 6">
            <a:hlinkClick r:id="rId6" action="ppaction://hlinksldjump" highlightClick="1"/>
            <a:extLst>
              <a:ext uri="{FF2B5EF4-FFF2-40B4-BE49-F238E27FC236}">
                <a16:creationId xmlns:a16="http://schemas.microsoft.com/office/drawing/2014/main" id="{F18DD738-498B-91F4-2EEB-887550EA78C6}"/>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2" name="TextBox 1">
            <a:extLst>
              <a:ext uri="{FF2B5EF4-FFF2-40B4-BE49-F238E27FC236}">
                <a16:creationId xmlns:a16="http://schemas.microsoft.com/office/drawing/2014/main" id="{00252A5D-155D-25BC-EBE1-A702617F78A7}"/>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- 3 / 10 -</a:t>
            </a:r>
          </a:p>
        </p:txBody>
      </p:sp>
    </p:spTree>
    <p:extLst>
      <p:ext uri="{BB962C8B-B14F-4D97-AF65-F5344CB8AC3E}">
        <p14:creationId xmlns:p14="http://schemas.microsoft.com/office/powerpoint/2010/main" val="3802698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2F6A6E-840C-66FB-6F68-EC1D9959908E}"/>
              </a:ext>
            </a:extLst>
          </p:cNvPr>
          <p:cNvSpPr>
            <a:spLocks noChangeArrowheads="1"/>
          </p:cNvSpPr>
          <p:nvPr/>
        </p:nvSpPr>
        <p:spPr bwMode="auto">
          <a:xfrm>
            <a:off x="131887" y="126589"/>
            <a:ext cx="7478588" cy="292926"/>
          </a:xfrm>
          <a:prstGeom prst="rect">
            <a:avLst/>
          </a:prstGeom>
          <a:noFill/>
          <a:ln w="12700" algn="ctr">
            <a:noFill/>
            <a:miter lim="800000"/>
            <a:headEnd/>
            <a:tailEnd/>
          </a:ln>
        </p:spPr>
        <p:txBody>
          <a:bodyPr wrap="square" lIns="3600" tIns="3600" rIns="3600" bIns="3600" anchor="b" anchorCtr="0">
            <a:spAutoFit/>
          </a:bodyPr>
          <a:lstStyle/>
          <a:p>
            <a:pPr defTabSz="0" eaLnBrk="0" latinLnBrk="0" hangingPunct="0">
              <a:lnSpc>
                <a:spcPct val="110000"/>
              </a:lnSpc>
              <a:buClr>
                <a:srgbClr val="CC0066"/>
              </a:buClr>
              <a:tabLst>
                <a:tab pos="0" algn="l"/>
                <a:tab pos="3855600" algn="l"/>
              </a:tabLst>
              <a:defRPr/>
            </a:pPr>
            <a:r>
              <a:rPr kumimoji="1" lang="ko-KR" altLang="en-US" b="1" u="sng" dirty="0">
                <a:solidFill>
                  <a:srgbClr val="000000"/>
                </a:solidFill>
                <a:latin typeface="Arial Narrow" panose="020B0606020202030204" pitchFamily="34" charset="0"/>
                <a:ea typeface="LG스마트체 Regular" panose="020B0600000101010101" pitchFamily="50" charset="-127"/>
                <a:cs typeface="Arial" pitchFamily="34" charset="0"/>
              </a:rPr>
              <a:t>보조</a:t>
            </a:r>
            <a:r>
              <a:rPr kumimoji="1" lang="en-US" altLang="ko-KR" b="1" u="sng" dirty="0">
                <a:solidFill>
                  <a:srgbClr val="000000"/>
                </a:solidFill>
                <a:latin typeface="Arial Narrow" panose="020B0606020202030204" pitchFamily="34" charset="0"/>
                <a:ea typeface="LG스마트체 Regular" panose="020B0600000101010101" pitchFamily="50" charset="-127"/>
                <a:cs typeface="Arial" pitchFamily="34" charset="0"/>
              </a:rPr>
              <a:t>. 1</a:t>
            </a:r>
            <a:r>
              <a:rPr kumimoji="1" lang="ko-KR" altLang="en-US" b="1" u="sng" dirty="0">
                <a:solidFill>
                  <a:srgbClr val="000000"/>
                </a:solidFill>
                <a:latin typeface="Arial Narrow" panose="020B0606020202030204" pitchFamily="34" charset="0"/>
                <a:ea typeface="LG스마트체 Regular" panose="020B0600000101010101" pitchFamily="50" charset="-127"/>
                <a:cs typeface="Arial" pitchFamily="34" charset="0"/>
              </a:rPr>
              <a:t>차 판정 날짜 기준 </a:t>
            </a:r>
            <a:r>
              <a:rPr kumimoji="1" lang="en-US" altLang="ko-KR" b="1" u="sng" dirty="0">
                <a:solidFill>
                  <a:srgbClr val="000000"/>
                </a:solidFill>
                <a:latin typeface="Arial Narrow" panose="020B0606020202030204" pitchFamily="34" charset="0"/>
                <a:ea typeface="LG스마트체 Regular" panose="020B0600000101010101" pitchFamily="50" charset="-127"/>
                <a:cs typeface="Arial" pitchFamily="34" charset="0"/>
              </a:rPr>
              <a:t>8/27~8/31 Q-grade </a:t>
            </a:r>
            <a:r>
              <a:rPr kumimoji="1" lang="ko-KR" altLang="en-US" b="1" u="sng" dirty="0">
                <a:solidFill>
                  <a:srgbClr val="000000"/>
                </a:solidFill>
                <a:latin typeface="Arial Narrow" panose="020B0606020202030204" pitchFamily="34" charset="0"/>
                <a:ea typeface="LG스마트체 Regular" panose="020B0600000101010101" pitchFamily="50" charset="-127"/>
                <a:cs typeface="Arial" pitchFamily="34" charset="0"/>
              </a:rPr>
              <a:t>불량 발생 현황</a:t>
            </a:r>
          </a:p>
        </p:txBody>
      </p:sp>
      <p:sp>
        <p:nvSpPr>
          <p:cNvPr id="5" name="TextBox 36">
            <a:extLst>
              <a:ext uri="{FF2B5EF4-FFF2-40B4-BE49-F238E27FC236}">
                <a16:creationId xmlns:a16="http://schemas.microsoft.com/office/drawing/2014/main" id="{AC06ECE9-7F14-6D6E-A278-8CB2928CA3CC}"/>
              </a:ext>
            </a:extLst>
          </p:cNvPr>
          <p:cNvSpPr txBox="1"/>
          <p:nvPr/>
        </p:nvSpPr>
        <p:spPr>
          <a:xfrm>
            <a:off x="7401272" y="108879"/>
            <a:ext cx="2193943" cy="36779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latinLnBrk="1">
              <a:lnSpc>
                <a:spcPts val="1100"/>
              </a:lnSpc>
              <a:defRPr/>
            </a:pPr>
            <a:r>
              <a:rPr lang="ko-KR" altLang="en-US" sz="900" dirty="0">
                <a:solidFill>
                  <a:prstClr val="black"/>
                </a:solidFill>
                <a:latin typeface="Arial Narrow" panose="020B0606020202030204" pitchFamily="34" charset="0"/>
                <a:ea typeface="LG스마트체 Regular" panose="020B0600000101010101" pitchFamily="50" charset="-127"/>
              </a:rPr>
              <a:t>작성자 </a:t>
            </a:r>
            <a:r>
              <a:rPr lang="en-US" altLang="ko-KR" sz="900" dirty="0">
                <a:solidFill>
                  <a:prstClr val="black"/>
                </a:solidFill>
                <a:latin typeface="Arial Narrow" panose="020B0606020202030204" pitchFamily="34" charset="0"/>
                <a:ea typeface="LG스마트체 Regular" panose="020B0600000101010101" pitchFamily="50" charset="-127"/>
              </a:rPr>
              <a:t>: </a:t>
            </a:r>
            <a:r>
              <a:rPr lang="ko-KR" altLang="en-US" sz="900" dirty="0">
                <a:solidFill>
                  <a:prstClr val="black"/>
                </a:solidFill>
                <a:latin typeface="Arial Narrow" panose="020B0606020202030204" pitchFamily="34" charset="0"/>
                <a:ea typeface="LG스마트체 Regular" panose="020B0600000101010101" pitchFamily="50" charset="-127"/>
              </a:rPr>
              <a:t>제조빅데이터분석</a:t>
            </a:r>
            <a:r>
              <a:rPr lang="en-US" altLang="ko-KR" sz="900" dirty="0">
                <a:solidFill>
                  <a:prstClr val="black"/>
                </a:solidFill>
                <a:latin typeface="Arial Narrow" panose="020B0606020202030204" pitchFamily="34" charset="0"/>
                <a:ea typeface="LG스마트체 Regular" panose="020B0600000101010101" pitchFamily="50" charset="-127"/>
              </a:rPr>
              <a:t>1</a:t>
            </a:r>
            <a:r>
              <a:rPr lang="ko-KR" altLang="en-US" sz="900" dirty="0">
                <a:solidFill>
                  <a:prstClr val="black"/>
                </a:solidFill>
                <a:latin typeface="Arial Narrow" panose="020B0606020202030204" pitchFamily="34" charset="0"/>
                <a:ea typeface="LG스마트체 Regular" panose="020B0600000101010101" pitchFamily="50" charset="-127"/>
              </a:rPr>
              <a:t>팀 조은지 선임</a:t>
            </a:r>
            <a:endParaRPr lang="en-US" altLang="ko-KR" sz="900" dirty="0">
              <a:solidFill>
                <a:prstClr val="black"/>
              </a:solidFill>
              <a:latin typeface="Arial Narrow" panose="020B0606020202030204" pitchFamily="34" charset="0"/>
              <a:ea typeface="LG스마트체 Regular" panose="020B0600000101010101" pitchFamily="50" charset="-127"/>
            </a:endParaRPr>
          </a:p>
          <a:p>
            <a:pPr defTabSz="914400" latinLnBrk="1">
              <a:lnSpc>
                <a:spcPts val="1100"/>
              </a:lnSpc>
              <a:defRPr/>
            </a:pPr>
            <a:r>
              <a:rPr lang="ko-KR" altLang="en-US" sz="900" dirty="0">
                <a:solidFill>
                  <a:prstClr val="black"/>
                </a:solidFill>
                <a:latin typeface="Arial Narrow" panose="020B0606020202030204" pitchFamily="34" charset="0"/>
                <a:ea typeface="LG스마트체 Regular" panose="020B0600000101010101" pitchFamily="50" charset="-127"/>
              </a:rPr>
              <a:t>작성일자 </a:t>
            </a:r>
            <a:r>
              <a:rPr lang="en-US" altLang="ko-KR" sz="900" dirty="0">
                <a:solidFill>
                  <a:prstClr val="black"/>
                </a:solidFill>
                <a:latin typeface="Arial Narrow" panose="020B0606020202030204" pitchFamily="34" charset="0"/>
                <a:ea typeface="LG스마트체 Regular" panose="020B0600000101010101" pitchFamily="50" charset="-127"/>
              </a:rPr>
              <a:t>: 26.09.01</a:t>
            </a:r>
          </a:p>
        </p:txBody>
      </p:sp>
      <p:graphicFrame>
        <p:nvGraphicFramePr>
          <p:cNvPr id="7" name="표 6">
            <a:extLst>
              <a:ext uri="{FF2B5EF4-FFF2-40B4-BE49-F238E27FC236}">
                <a16:creationId xmlns:a16="http://schemas.microsoft.com/office/drawing/2014/main" id="{63751CDC-14A1-9D88-8C14-226476438996}"/>
              </a:ext>
            </a:extLst>
          </p:cNvPr>
          <p:cNvGraphicFramePr>
            <a:graphicFrameLocks noGrp="1"/>
          </p:cNvGraphicFramePr>
          <p:nvPr>
            <p:extLst>
              <p:ext uri="{D42A27DB-BD31-4B8C-83A1-F6EECF244321}">
                <p14:modId xmlns:p14="http://schemas.microsoft.com/office/powerpoint/2010/main" val="161494004"/>
              </p:ext>
            </p:extLst>
          </p:nvPr>
        </p:nvGraphicFramePr>
        <p:xfrm>
          <a:off x="103532" y="1084247"/>
          <a:ext cx="9676962" cy="5193222"/>
        </p:xfrm>
        <a:graphic>
          <a:graphicData uri="http://schemas.openxmlformats.org/drawingml/2006/table">
            <a:tbl>
              <a:tblPr/>
              <a:tblGrid>
                <a:gridCol w="406804">
                  <a:extLst>
                    <a:ext uri="{9D8B030D-6E8A-4147-A177-3AD203B41FA5}">
                      <a16:colId xmlns:a16="http://schemas.microsoft.com/office/drawing/2014/main" val="3101748889"/>
                    </a:ext>
                  </a:extLst>
                </a:gridCol>
                <a:gridCol w="373595">
                  <a:extLst>
                    <a:ext uri="{9D8B030D-6E8A-4147-A177-3AD203B41FA5}">
                      <a16:colId xmlns:a16="http://schemas.microsoft.com/office/drawing/2014/main" val="774043827"/>
                    </a:ext>
                  </a:extLst>
                </a:gridCol>
                <a:gridCol w="516807">
                  <a:extLst>
                    <a:ext uri="{9D8B030D-6E8A-4147-A177-3AD203B41FA5}">
                      <a16:colId xmlns:a16="http://schemas.microsoft.com/office/drawing/2014/main" val="1458572499"/>
                    </a:ext>
                  </a:extLst>
                </a:gridCol>
                <a:gridCol w="880549">
                  <a:extLst>
                    <a:ext uri="{9D8B030D-6E8A-4147-A177-3AD203B41FA5}">
                      <a16:colId xmlns:a16="http://schemas.microsoft.com/office/drawing/2014/main" val="524273796"/>
                    </a:ext>
                  </a:extLst>
                </a:gridCol>
                <a:gridCol w="575035">
                  <a:extLst>
                    <a:ext uri="{9D8B030D-6E8A-4147-A177-3AD203B41FA5}">
                      <a16:colId xmlns:a16="http://schemas.microsoft.com/office/drawing/2014/main" val="1099654358"/>
                    </a:ext>
                  </a:extLst>
                </a:gridCol>
                <a:gridCol w="386499">
                  <a:extLst>
                    <a:ext uri="{9D8B030D-6E8A-4147-A177-3AD203B41FA5}">
                      <a16:colId xmlns:a16="http://schemas.microsoft.com/office/drawing/2014/main" val="3654822373"/>
                    </a:ext>
                  </a:extLst>
                </a:gridCol>
                <a:gridCol w="782332">
                  <a:extLst>
                    <a:ext uri="{9D8B030D-6E8A-4147-A177-3AD203B41FA5}">
                      <a16:colId xmlns:a16="http://schemas.microsoft.com/office/drawing/2014/main" val="3331281606"/>
                    </a:ext>
                  </a:extLst>
                </a:gridCol>
                <a:gridCol w="618565">
                  <a:extLst>
                    <a:ext uri="{9D8B030D-6E8A-4147-A177-3AD203B41FA5}">
                      <a16:colId xmlns:a16="http://schemas.microsoft.com/office/drawing/2014/main" val="2648150037"/>
                    </a:ext>
                  </a:extLst>
                </a:gridCol>
                <a:gridCol w="5136776">
                  <a:extLst>
                    <a:ext uri="{9D8B030D-6E8A-4147-A177-3AD203B41FA5}">
                      <a16:colId xmlns:a16="http://schemas.microsoft.com/office/drawing/2014/main" val="3498916083"/>
                    </a:ext>
                  </a:extLst>
                </a:gridCol>
              </a:tblGrid>
              <a:tr h="175855">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타입</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모델</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발생 공정</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유형</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원인 공정</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설비</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IRS 1</a:t>
                      </a:r>
                      <a:r>
                        <a:rPr lang="ko-KR" altLang="en-US" sz="1000" u="none" strike="noStrike" dirty="0">
                          <a:effectLst/>
                          <a:latin typeface="Arial Narrow" panose="020B0606020202030204" pitchFamily="34" charset="0"/>
                          <a:ea typeface="LG스마트체 Regular" panose="020B0600000101010101" pitchFamily="50" charset="-127"/>
                        </a:rPr>
                        <a:t>차</a:t>
                      </a:r>
                      <a:br>
                        <a:rPr lang="en-US" altLang="ko-KR" sz="1000" u="none" strike="noStrike" dirty="0">
                          <a:effectLst/>
                          <a:latin typeface="Arial Narrow" panose="020B0606020202030204" pitchFamily="34" charset="0"/>
                          <a:ea typeface="LG스마트체 Regular" panose="020B0600000101010101" pitchFamily="50" charset="-127"/>
                        </a:rPr>
                      </a:br>
                      <a:r>
                        <a:rPr lang="ko-KR" altLang="en-US" sz="1000" u="none" strike="noStrike" dirty="0">
                          <a:effectLst/>
                          <a:latin typeface="Arial Narrow" panose="020B0606020202030204" pitchFamily="34" charset="0"/>
                          <a:ea typeface="LG스마트체 Regular" panose="020B0600000101010101" pitchFamily="50" charset="-127"/>
                        </a:rPr>
                        <a:t>판정날짜</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발생 수량</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현상</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794019679"/>
                  </a:ext>
                </a:extLst>
              </a:tr>
              <a:tr h="175855">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ESS</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70AD47">
                        <a:lumMod val="40000"/>
                        <a:lumOff val="60000"/>
                      </a:srgb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JF2S</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Stacking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전극 데미지</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#4-2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64</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방향의 오른쪽 상단에서 전극 데미지 확인됨</a:t>
                      </a:r>
                      <a:r>
                        <a:rPr lang="en-US" altLang="ko-KR" sz="1000" u="none" strike="noStrike" dirty="0">
                          <a:effectLst/>
                          <a:latin typeface="Arial Narrow" panose="020B0606020202030204" pitchFamily="34" charset="0"/>
                          <a:ea typeface="LG스마트체 Regular" panose="020B0600000101010101" pitchFamily="50" charset="-127"/>
                        </a:rPr>
                        <a:t>. 08/30 09</a:t>
                      </a:r>
                      <a:r>
                        <a:rPr lang="ko-KR" altLang="en-US" sz="1000" u="none" strike="noStrike" dirty="0">
                          <a:effectLst/>
                          <a:latin typeface="Arial Narrow" panose="020B0606020202030204" pitchFamily="34" charset="0"/>
                          <a:ea typeface="LG스마트체 Regular" panose="020B0600000101010101" pitchFamily="50" charset="-127"/>
                        </a:rPr>
                        <a:t>시</a:t>
                      </a:r>
                      <a:r>
                        <a:rPr lang="en-US" altLang="ko-KR" sz="1000" u="none" strike="noStrike" dirty="0">
                          <a:effectLst/>
                          <a:latin typeface="Arial Narrow" panose="020B0606020202030204" pitchFamily="34" charset="0"/>
                          <a:ea typeface="LG스마트체 Regular" panose="020B0600000101010101" pitchFamily="50" charset="-127"/>
                        </a:rPr>
                        <a:t>-10</a:t>
                      </a:r>
                      <a:r>
                        <a:rPr lang="ko-KR" altLang="en-US" sz="1000" u="none" strike="noStrike" dirty="0">
                          <a:effectLst/>
                          <a:latin typeface="Arial Narrow" panose="020B0606020202030204" pitchFamily="34" charset="0"/>
                          <a:ea typeface="LG스마트체 Regular" panose="020B0600000101010101" pitchFamily="50" charset="-127"/>
                        </a:rPr>
                        <a:t>시 사이 집중 발생</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558575"/>
                  </a:ext>
                </a:extLst>
              </a:tr>
              <a:tr h="175855">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Folding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70AD47">
                        <a:lumMod val="40000"/>
                        <a:lumOff val="60000"/>
                      </a:srgb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P37B</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Packaging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양극 </a:t>
                      </a:r>
                      <a:r>
                        <a:rPr lang="en-US" sz="1000" b="1" u="none" strike="noStrike" dirty="0">
                          <a:solidFill>
                            <a:srgbClr val="0000FF"/>
                          </a:solidFill>
                          <a:effectLst/>
                          <a:latin typeface="Arial Narrow" panose="020B0606020202030204" pitchFamily="34" charset="0"/>
                          <a:ea typeface="LG스마트체 Regular" panose="020B0600000101010101" pitchFamily="50" charset="-127"/>
                        </a:rPr>
                        <a:t>Tab </a:t>
                      </a: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접힘</a:t>
                      </a:r>
                      <a:endParaRPr lang="ko-KR" altLang="en-US"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kern="1200" dirty="0">
                          <a:solidFill>
                            <a:srgbClr val="0000FF"/>
                          </a:solidFill>
                          <a:effectLst/>
                          <a:latin typeface="Arial Narrow" panose="020B0606020202030204" pitchFamily="34" charset="0"/>
                          <a:ea typeface="LG스마트체 Regular" panose="020B0600000101010101" pitchFamily="50" charset="-127"/>
                          <a:cs typeface="+mn-cs"/>
                        </a:rPr>
                        <a:t>Folding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#9-2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48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일부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접힘 형상 </a:t>
                      </a:r>
                      <a:r>
                        <a:rPr lang="en-US" altLang="ko-KR" sz="1000" u="none" strike="noStrike" dirty="0">
                          <a:effectLst/>
                          <a:latin typeface="Arial Narrow" panose="020B0606020202030204" pitchFamily="34" charset="0"/>
                          <a:ea typeface="LG스마트체 Regular" panose="020B0600000101010101" pitchFamily="50" charset="-127"/>
                        </a:rPr>
                        <a:t>Folding </a:t>
                      </a:r>
                      <a:r>
                        <a:rPr lang="ko-KR" altLang="en-US" sz="1000" u="none" strike="noStrike" dirty="0">
                          <a:effectLst/>
                          <a:latin typeface="Arial Narrow" panose="020B0606020202030204" pitchFamily="34" charset="0"/>
                          <a:ea typeface="LG스마트체 Regular" panose="020B0600000101010101" pitchFamily="50" charset="-127"/>
                        </a:rPr>
                        <a:t>비전에서도 동일하게 확인됨</a:t>
                      </a:r>
                      <a:r>
                        <a:rPr lang="en-US" altLang="ko-KR" sz="1000" u="none" strike="noStrike" dirty="0">
                          <a:effectLst/>
                          <a:latin typeface="Arial Narrow" panose="020B0606020202030204" pitchFamily="34" charset="0"/>
                          <a:ea typeface="LG스마트체 Regular" panose="020B0600000101010101" pitchFamily="50" charset="-127"/>
                        </a:rPr>
                        <a:t>. </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449928"/>
                  </a:ext>
                </a:extLst>
              </a:tr>
              <a:tr h="175855">
                <a:tc rowSpan="4">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Normal</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70AD47">
                        <a:lumMod val="40000"/>
                        <a:lumOff val="60000"/>
                      </a:srgb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E72B</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Packaging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양극 </a:t>
                      </a:r>
                      <a:r>
                        <a:rPr lang="en-US" sz="1000" b="1" u="none" strike="noStrike" dirty="0">
                          <a:solidFill>
                            <a:srgbClr val="0000FF"/>
                          </a:solidFill>
                          <a:effectLst/>
                          <a:latin typeface="Arial Narrow" panose="020B0606020202030204" pitchFamily="34" charset="0"/>
                          <a:ea typeface="LG스마트체 Regular" panose="020B0600000101010101" pitchFamily="50" charset="-127"/>
                        </a:rPr>
                        <a:t>Tab </a:t>
                      </a: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접힘</a:t>
                      </a:r>
                      <a:endParaRPr lang="ko-KR" altLang="en-US"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kern="1200" dirty="0">
                          <a:solidFill>
                            <a:srgbClr val="0000FF"/>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#17-2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40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양극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접힙 유형 </a:t>
                      </a:r>
                      <a:r>
                        <a:rPr lang="en-US" altLang="ko-KR" sz="1000" u="none" strike="noStrike" dirty="0">
                          <a:effectLst/>
                          <a:latin typeface="Arial Narrow" panose="020B0606020202030204" pitchFamily="34" charset="0"/>
                          <a:ea typeface="LG스마트체 Regular" panose="020B0600000101010101" pitchFamily="50" charset="-127"/>
                        </a:rPr>
                        <a:t>PKG </a:t>
                      </a:r>
                      <a:r>
                        <a:rPr lang="ko-KR" altLang="en-US" sz="1000" u="none" strike="noStrike" dirty="0">
                          <a:effectLst/>
                          <a:latin typeface="Arial Narrow" panose="020B0606020202030204" pitchFamily="34" charset="0"/>
                          <a:ea typeface="LG스마트체 Regular" panose="020B0600000101010101" pitchFamily="50" charset="-127"/>
                        </a:rPr>
                        <a:t>생산 시점 기준 </a:t>
                      </a:r>
                      <a:r>
                        <a:rPr lang="en-US" altLang="ko-KR" sz="1000" u="none" strike="noStrike" dirty="0">
                          <a:effectLst/>
                          <a:latin typeface="Arial Narrow" panose="020B0606020202030204" pitchFamily="34" charset="0"/>
                          <a:ea typeface="LG스마트체 Regular" panose="020B0600000101010101" pitchFamily="50" charset="-127"/>
                        </a:rPr>
                        <a:t>8/30 20</a:t>
                      </a:r>
                      <a:r>
                        <a:rPr lang="ko-KR" altLang="en-US" sz="1000" u="none" strike="noStrike" dirty="0">
                          <a:effectLst/>
                          <a:latin typeface="Arial Narrow" panose="020B0606020202030204" pitchFamily="34" charset="0"/>
                          <a:ea typeface="LG스마트체 Regular" panose="020B0600000101010101" pitchFamily="50" charset="-127"/>
                        </a:rPr>
                        <a:t>시 </a:t>
                      </a:r>
                      <a:r>
                        <a:rPr lang="en-US" altLang="ko-KR" sz="1000" u="none" strike="noStrike" dirty="0">
                          <a:effectLst/>
                          <a:latin typeface="Arial Narrow" panose="020B0606020202030204" pitchFamily="34" charset="0"/>
                          <a:ea typeface="LG스마트체 Regular" panose="020B0600000101010101" pitchFamily="50" charset="-127"/>
                        </a:rPr>
                        <a:t>~ 8/31 03 </a:t>
                      </a:r>
                      <a:r>
                        <a:rPr lang="ko-KR" altLang="en-US" sz="1000" u="none" strike="noStrike" dirty="0">
                          <a:effectLst/>
                          <a:latin typeface="Arial Narrow" panose="020B0606020202030204" pitchFamily="34" charset="0"/>
                          <a:ea typeface="LG스마트체 Regular" panose="020B0600000101010101" pitchFamily="50" charset="-127"/>
                        </a:rPr>
                        <a:t>사이에 집중 발생</a:t>
                      </a:r>
                      <a:r>
                        <a:rPr lang="en-US" altLang="ko-KR" sz="1000" u="none" strike="noStrike" dirty="0">
                          <a:effectLst/>
                          <a:latin typeface="Arial Narrow" panose="020B0606020202030204" pitchFamily="34" charset="0"/>
                          <a:ea typeface="LG스마트체 Regular" panose="020B0600000101010101" pitchFamily="50" charset="-127"/>
                        </a:rPr>
                        <a:t>. </a:t>
                      </a:r>
                    </a:p>
                    <a:p>
                      <a:pPr algn="l" fontAlgn="ct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접힘 개소 분석 필요</a:t>
                      </a:r>
                      <a:r>
                        <a:rPr lang="en-US" altLang="ko-KR" sz="1000" u="none" strike="noStrike" dirty="0">
                          <a:effectLst/>
                          <a:latin typeface="Arial Narrow" panose="020B0606020202030204" pitchFamily="34" charset="0"/>
                          <a:ea typeface="LG스마트체 Regular" panose="020B0600000101010101" pitchFamily="50" charset="-127"/>
                        </a:rPr>
                        <a:t>. </a:t>
                      </a: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 </a:t>
                      </a:r>
                      <a:r>
                        <a:rPr lang="ko-KR" altLang="en-US"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비전에서도 동일한 형태 확인</a:t>
                      </a: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494700"/>
                  </a:ext>
                </a:extLst>
              </a:tr>
              <a:tr h="175855">
                <a:tc vMerge="1">
                  <a:txBody>
                    <a:bodyPr/>
                    <a:lstStyle/>
                    <a:p>
                      <a:pPr latinLnBrk="1"/>
                      <a:endParaRPr lang="ko-KR" altLang="en-US"/>
                    </a:p>
                  </a:txBody>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E81B</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Packaging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양극 </a:t>
                      </a:r>
                      <a:r>
                        <a:rPr lang="en-US" sz="1000" b="1" u="none" strike="noStrike" dirty="0">
                          <a:solidFill>
                            <a:srgbClr val="0000FF"/>
                          </a:solidFill>
                          <a:effectLst/>
                          <a:latin typeface="Arial Narrow" panose="020B0606020202030204" pitchFamily="34" charset="0"/>
                          <a:ea typeface="LG스마트체 Regular" panose="020B0600000101010101" pitchFamily="50" charset="-127"/>
                        </a:rPr>
                        <a:t>Tab </a:t>
                      </a: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접힘</a:t>
                      </a:r>
                      <a:endParaRPr lang="ko-KR" altLang="en-US"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kern="1200" dirty="0">
                          <a:solidFill>
                            <a:srgbClr val="0000FF"/>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#18-1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en-US" altLang="ko-KR" sz="1000" u="none" strike="noStrike" dirty="0">
                          <a:effectLst/>
                          <a:latin typeface="Arial Narrow" panose="020B0606020202030204" pitchFamily="34" charset="0"/>
                          <a:ea typeface="LG스마트체 Regular" panose="020B0600000101010101" pitchFamily="50" charset="-127"/>
                        </a:rPr>
                        <a:t>8/30 X-Ray </a:t>
                      </a:r>
                      <a:r>
                        <a:rPr lang="ko-KR" altLang="en-US" sz="1000" u="none" strike="noStrike" dirty="0">
                          <a:effectLst/>
                          <a:latin typeface="Arial Narrow" panose="020B0606020202030204" pitchFamily="34" charset="0"/>
                          <a:ea typeface="LG스마트체 Regular" panose="020B0600000101010101" pitchFamily="50" charset="-127"/>
                        </a:rPr>
                        <a:t>검사기 쪽 컨베이어벨트 찢어짐으로 인한 탭손상에 의한 것으로 추정됨</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7314953"/>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146</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2855687825"/>
                  </a:ext>
                </a:extLst>
              </a:tr>
              <a:tr h="175855">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E85A</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Packaging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접힘</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Packaging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279</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접힘 형상 확인됨</a:t>
                      </a:r>
                      <a:r>
                        <a:rPr lang="en-US" altLang="ko-KR" sz="1000" u="none" strike="noStrike" dirty="0">
                          <a:effectLst/>
                          <a:latin typeface="Arial Narrow" panose="020B0606020202030204" pitchFamily="34" charset="0"/>
                          <a:ea typeface="LG스마트체 Regular" panose="020B0600000101010101" pitchFamily="50" charset="-127"/>
                        </a:rPr>
                        <a:t>. Tab </a:t>
                      </a:r>
                      <a:r>
                        <a:rPr lang="ko-KR" altLang="en-US" sz="1000" u="none" strike="noStrike" dirty="0">
                          <a:effectLst/>
                          <a:latin typeface="Arial Narrow" panose="020B0606020202030204" pitchFamily="34" charset="0"/>
                          <a:ea typeface="LG스마트체 Regular" panose="020B0600000101010101" pitchFamily="50" charset="-127"/>
                        </a:rPr>
                        <a:t>접힘 개소 추가 분석 필요</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9333958"/>
                  </a:ext>
                </a:extLst>
              </a:tr>
              <a:tr h="175855">
                <a:tc rowSpan="21">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Long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E128A</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Stacking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전극 데미지</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#26-4</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양극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 </a:t>
                      </a:r>
                      <a:r>
                        <a:rPr lang="en-US" altLang="ko-KR" sz="1000" u="none" strike="noStrike" dirty="0">
                          <a:effectLst/>
                          <a:latin typeface="Arial Narrow" panose="020B0606020202030204" pitchFamily="34" charset="0"/>
                          <a:ea typeface="LG스마트체 Regular" panose="020B0600000101010101" pitchFamily="50" charset="-127"/>
                        </a:rPr>
                        <a:t>/ </a:t>
                      </a: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 모두 진행 반대 방향 장변쪽에서 전극 데미지 확인됨</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4295541"/>
                  </a:ext>
                </a:extLst>
              </a:tr>
              <a:tr h="175855">
                <a:tc vMerge="1">
                  <a:txBody>
                    <a:bodyPr/>
                    <a:lstStyle/>
                    <a:p>
                      <a:pPr latinLnBrk="1"/>
                      <a:endParaRPr lang="ko-KR" altLang="en-US"/>
                    </a:p>
                  </a:txBody>
                  <a:tcPr/>
                </a:tc>
                <a:tc rowSpan="19">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E77A</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19">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Stacking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b="1" u="none" strike="noStrike" dirty="0">
                          <a:solidFill>
                            <a:srgbClr val="0000FF"/>
                          </a:solidFill>
                          <a:effectLst/>
                          <a:latin typeface="Arial Narrow" panose="020B0606020202030204" pitchFamily="34" charset="0"/>
                          <a:ea typeface="LG스마트체 Regular" panose="020B0600000101010101" pitchFamily="50" charset="-127"/>
                        </a:rPr>
                        <a:t>Dent</a:t>
                      </a:r>
                      <a:endParaRPr lang="en-US"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#13-3</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26</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 단변쪽에서 이물 확인됨</a:t>
                      </a:r>
                      <a:r>
                        <a:rPr lang="en-US" altLang="ko-KR" sz="1000" u="none" strike="noStrike" dirty="0">
                          <a:effectLst/>
                          <a:latin typeface="Arial Narrow" panose="020B0606020202030204" pitchFamily="34" charset="0"/>
                          <a:ea typeface="LG스마트체 Regular" panose="020B0600000101010101" pitchFamily="50" charset="-127"/>
                        </a:rPr>
                        <a:t>. </a:t>
                      </a:r>
                      <a:r>
                        <a:rPr lang="ko-KR" altLang="en-US" sz="1000" u="none" strike="noStrike" dirty="0">
                          <a:effectLst/>
                          <a:latin typeface="Arial Narrow" panose="020B0606020202030204" pitchFamily="34" charset="0"/>
                          <a:ea typeface="LG스마트체 Regular" panose="020B0600000101010101" pitchFamily="50" charset="-127"/>
                        </a:rPr>
                        <a:t>이물의  </a:t>
                      </a:r>
                      <a:r>
                        <a:rPr lang="en-US" altLang="ko-KR" sz="1000" u="none" strike="noStrike" dirty="0">
                          <a:effectLst/>
                          <a:latin typeface="Arial Narrow" panose="020B0606020202030204" pitchFamily="34" charset="0"/>
                          <a:ea typeface="LG스마트체 Regular" panose="020B0600000101010101" pitchFamily="50" charset="-127"/>
                        </a:rPr>
                        <a:t>Y</a:t>
                      </a:r>
                      <a:r>
                        <a:rPr lang="ko-KR" altLang="en-US" sz="1000" u="none" strike="noStrike" dirty="0">
                          <a:effectLst/>
                          <a:latin typeface="Arial Narrow" panose="020B0606020202030204" pitchFamily="34" charset="0"/>
                          <a:ea typeface="LG스마트체 Regular" panose="020B0600000101010101" pitchFamily="50" charset="-127"/>
                        </a:rPr>
                        <a:t>축 위치는 일정하며</a:t>
                      </a:r>
                      <a:r>
                        <a:rPr lang="en-US" altLang="ko-KR" sz="1000" u="none" strike="noStrike" dirty="0">
                          <a:effectLst/>
                          <a:latin typeface="Arial Narrow" panose="020B0606020202030204" pitchFamily="34" charset="0"/>
                          <a:ea typeface="LG스마트체 Regular" panose="020B0600000101010101" pitchFamily="50" charset="-127"/>
                        </a:rPr>
                        <a:t>, X</a:t>
                      </a:r>
                      <a:r>
                        <a:rPr lang="ko-KR" altLang="en-US" sz="1000" u="none" strike="noStrike" dirty="0">
                          <a:effectLst/>
                          <a:latin typeface="Arial Narrow" panose="020B0606020202030204" pitchFamily="34" charset="0"/>
                          <a:ea typeface="LG스마트체 Regular" panose="020B0600000101010101" pitchFamily="50" charset="-127"/>
                        </a:rPr>
                        <a:t>축 위치는 약 </a:t>
                      </a:r>
                      <a:r>
                        <a:rPr lang="en-US" altLang="ko-KR" sz="1000" u="none" strike="noStrike" dirty="0">
                          <a:effectLst/>
                          <a:latin typeface="Arial Narrow" panose="020B0606020202030204" pitchFamily="34" charset="0"/>
                          <a:ea typeface="LG스마트체 Regular" panose="020B0600000101010101" pitchFamily="50" charset="-127"/>
                        </a:rPr>
                        <a:t>3</a:t>
                      </a:r>
                      <a:r>
                        <a:rPr lang="ko-KR" altLang="en-US" sz="1000" u="none" strike="noStrike" dirty="0">
                          <a:effectLst/>
                          <a:latin typeface="Arial Narrow" panose="020B0606020202030204" pitchFamily="34" charset="0"/>
                          <a:ea typeface="LG스마트체 Regular" panose="020B0600000101010101" pitchFamily="50" charset="-127"/>
                        </a:rPr>
                        <a:t>주기 단위로 이동</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7116140"/>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3">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b="1" u="none" strike="noStrike" dirty="0">
                          <a:solidFill>
                            <a:srgbClr val="0000FF"/>
                          </a:solidFill>
                          <a:effectLst/>
                          <a:latin typeface="Arial Narrow" panose="020B0606020202030204" pitchFamily="34" charset="0"/>
                          <a:ea typeface="LG스마트체 Regular" panose="020B0600000101010101" pitchFamily="50" charset="-127"/>
                        </a:rPr>
                        <a:t>분리막 데미지</a:t>
                      </a:r>
                      <a:endParaRPr lang="ko-KR" altLang="en-US"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#13-3</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8/28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19</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방향의 단변쪽 분리막 뜯김 현상</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43120"/>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#20-1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48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방향의 단변쪽 분리막에서 뜯김 흔적 확인됨</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4909550"/>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#20-2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방향의 단변쪽 분리막에서 뜯김 흔적 확인됨</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1159339"/>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7">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분리막 들뜸</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#10-2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24</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 </a:t>
                      </a:r>
                      <a:r>
                        <a:rPr lang="en-US" altLang="ko-KR" sz="1000" u="none" strike="noStrike" dirty="0">
                          <a:effectLst/>
                          <a:latin typeface="Arial Narrow" panose="020B0606020202030204" pitchFamily="34" charset="0"/>
                          <a:ea typeface="LG스마트체 Regular" panose="020B0600000101010101" pitchFamily="50" charset="-127"/>
                        </a:rPr>
                        <a:t>/ </a:t>
                      </a:r>
                      <a:r>
                        <a:rPr lang="ko-KR" altLang="en-US" sz="1000" u="none" strike="noStrike" dirty="0">
                          <a:effectLst/>
                          <a:latin typeface="Arial Narrow" panose="020B0606020202030204" pitchFamily="34" charset="0"/>
                          <a:ea typeface="LG스마트체 Regular" panose="020B0600000101010101" pitchFamily="50" charset="-127"/>
                        </a:rPr>
                        <a:t>양극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 모두에서 단변 쪽 분리막 들뜸 현상</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6043017"/>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562811248"/>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#14-3</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23</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방향에서 단변 쪽 분리막 들뜸 현상</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098324"/>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4">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#21-3</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8/27</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105</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방향에서 단변 쪽 분리막 들뜸 현상</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755235"/>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8/28</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32</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1291668477"/>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8/30</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33</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338171743"/>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8/31</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27</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719870762"/>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분리막 커팅 이상</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#22-2</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39</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진행 방향 쪽 장변 분리막에서 커팅 이상 확인됨</a:t>
                      </a:r>
                      <a:r>
                        <a:rPr lang="en-US" altLang="ko-KR" sz="1000" u="none" strike="noStrike" dirty="0">
                          <a:effectLst/>
                          <a:latin typeface="Arial Narrow" panose="020B0606020202030204" pitchFamily="34" charset="0"/>
                          <a:ea typeface="LG스마트체 Regular" panose="020B0600000101010101" pitchFamily="50" charset="-127"/>
                        </a:rPr>
                        <a:t>. 8/31 07</a:t>
                      </a:r>
                      <a:r>
                        <a:rPr lang="ko-KR" altLang="en-US" sz="1000" u="none" strike="noStrike" dirty="0">
                          <a:effectLst/>
                          <a:latin typeface="Arial Narrow" panose="020B0606020202030204" pitchFamily="34" charset="0"/>
                          <a:ea typeface="LG스마트체 Regular" panose="020B0600000101010101" pitchFamily="50" charset="-127"/>
                        </a:rPr>
                        <a:t>시 집중 발생</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594150"/>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#22-3</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172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진행 방향 쪽 장변 분리막에서 커팅 이상 확인됨</a:t>
                      </a:r>
                      <a:r>
                        <a:rPr lang="en-US" altLang="ko-KR" sz="1000" u="none" strike="noStrike" dirty="0">
                          <a:effectLst/>
                          <a:latin typeface="Arial Narrow" panose="020B0606020202030204" pitchFamily="34" charset="0"/>
                          <a:ea typeface="LG스마트체 Regular" panose="020B0600000101010101" pitchFamily="50" charset="-127"/>
                        </a:rPr>
                        <a:t>. 8/30 07</a:t>
                      </a:r>
                      <a:r>
                        <a:rPr lang="ko-KR" altLang="en-US" sz="1000" u="none" strike="noStrike" dirty="0">
                          <a:effectLst/>
                          <a:latin typeface="Arial Narrow" panose="020B0606020202030204" pitchFamily="34" charset="0"/>
                          <a:ea typeface="LG스마트체 Regular" panose="020B0600000101010101" pitchFamily="50" charset="-127"/>
                        </a:rPr>
                        <a:t>시 집중 발생</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9405783"/>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5">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전극 데미지</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#13-2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8/27</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진행 방향 쪽 장변 분리막에서 분리막 말림 형상 확인됨</a:t>
                      </a:r>
                      <a:r>
                        <a:rPr lang="en-US" altLang="ko-KR" sz="1000" u="none" strike="noStrike" dirty="0">
                          <a:effectLst/>
                          <a:latin typeface="Arial Narrow" panose="020B0606020202030204" pitchFamily="34" charset="0"/>
                          <a:ea typeface="LG스마트체 Regular" panose="020B0600000101010101" pitchFamily="50" charset="-127"/>
                        </a:rPr>
                        <a:t>.</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284734"/>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#14-1</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8/27</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진행 방향 쪽 장변 분리막에서 분리막 말림 형상 확인됨</a:t>
                      </a:r>
                      <a:r>
                        <a:rPr lang="en-US" altLang="ko-KR" sz="1000" u="none" strike="noStrike" dirty="0">
                          <a:effectLst/>
                          <a:latin typeface="Arial Narrow" panose="020B0606020202030204" pitchFamily="34" charset="0"/>
                          <a:ea typeface="LG스마트체 Regular" panose="020B0600000101010101" pitchFamily="50" charset="-127"/>
                        </a:rPr>
                        <a:t>.</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8835874"/>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9</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양극 </a:t>
                      </a:r>
                      <a:r>
                        <a:rPr lang="en-US" altLang="ko-KR" sz="1000" u="none" strike="noStrike" dirty="0">
                          <a:effectLst/>
                          <a:latin typeface="Arial Narrow" panose="020B0606020202030204" pitchFamily="34" charset="0"/>
                          <a:ea typeface="LG스마트체 Regular" panose="020B0600000101010101" pitchFamily="50" charset="-127"/>
                        </a:rPr>
                        <a:t>Tab </a:t>
                      </a:r>
                      <a:r>
                        <a:rPr lang="ko-KR" altLang="en-US" sz="1000" u="none" strike="noStrike" dirty="0">
                          <a:effectLst/>
                          <a:latin typeface="Arial Narrow" panose="020B0606020202030204" pitchFamily="34" charset="0"/>
                          <a:ea typeface="LG스마트체 Regular" panose="020B0600000101010101" pitchFamily="50" charset="-127"/>
                        </a:rPr>
                        <a:t>방향의 진행방향 쪽 아래 모서리에서 전극 데미지 확인됨</a:t>
                      </a:r>
                      <a:r>
                        <a:rPr lang="en-US" altLang="ko-KR" sz="1000" u="none" strike="noStrike" dirty="0">
                          <a:effectLst/>
                          <a:latin typeface="Arial Narrow" panose="020B0606020202030204" pitchFamily="34" charset="0"/>
                          <a:ea typeface="LG스마트체 Regular" panose="020B0600000101010101" pitchFamily="50" charset="-127"/>
                        </a:rPr>
                        <a:t>. </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10523"/>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b="1" u="none" strike="noStrike" dirty="0">
                          <a:solidFill>
                            <a:srgbClr val="0000FF"/>
                          </a:solidFill>
                          <a:effectLst/>
                          <a:latin typeface="Arial Narrow" panose="020B0606020202030204" pitchFamily="34" charset="0"/>
                          <a:ea typeface="LG스마트체 Regular" panose="020B0600000101010101" pitchFamily="50" charset="-127"/>
                        </a:rPr>
                        <a:t>#22-3</a:t>
                      </a:r>
                      <a:endParaRPr lang="en-US" altLang="ko-KR" sz="1000" b="1" i="0" u="none" strike="noStrike" dirty="0">
                        <a:solidFill>
                          <a:srgbClr val="0000FF"/>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8/27</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127</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b="0" u="none" strike="noStrike" dirty="0">
                          <a:effectLst/>
                          <a:latin typeface="Arial Narrow" panose="020B0606020202030204" pitchFamily="34" charset="0"/>
                          <a:ea typeface="LG스마트체 Regular" panose="020B0600000101010101" pitchFamily="50" charset="-127"/>
                        </a:rPr>
                        <a:t>* 재작업 시점</a:t>
                      </a:r>
                      <a:r>
                        <a:rPr lang="en-US" altLang="ko-KR" sz="1000" b="0" u="none" strike="noStrike" dirty="0">
                          <a:effectLst/>
                          <a:latin typeface="Arial Narrow" panose="020B0606020202030204" pitchFamily="34" charset="0"/>
                          <a:ea typeface="LG스마트체 Regular" panose="020B0600000101010101" pitchFamily="50" charset="-127"/>
                        </a:rPr>
                        <a:t>, </a:t>
                      </a:r>
                      <a:r>
                        <a:rPr lang="ko-KR" altLang="en-US" sz="1000" b="0" u="none" strike="noStrike" dirty="0">
                          <a:effectLst/>
                          <a:latin typeface="Arial Narrow" panose="020B0606020202030204" pitchFamily="34" charset="0"/>
                          <a:ea typeface="LG스마트체 Regular" panose="020B0600000101010101" pitchFamily="50" charset="-127"/>
                        </a:rPr>
                        <a:t>진행 방향 및 진행 반대방향 장변 쪽 분리막 말림 현상</a:t>
                      </a:r>
                      <a:r>
                        <a:rPr lang="en-US" altLang="ko-KR" sz="1000" b="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6602287"/>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8/28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25</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tc>
                <a:extLst>
                  <a:ext uri="{0D108BD9-81ED-4DB2-BD59-A6C34878D82A}">
                    <a16:rowId xmlns:a16="http://schemas.microsoft.com/office/drawing/2014/main" val="3355387489"/>
                  </a:ext>
                </a:extLst>
              </a:tr>
              <a:tr h="175855">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탭 접힘</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Lamination</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#20-3</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8/28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음극 </a:t>
                      </a:r>
                      <a:r>
                        <a:rPr lang="en-US" altLang="ko-KR" sz="1000" u="none" strike="noStrike" dirty="0">
                          <a:effectLst/>
                          <a:latin typeface="Arial Narrow" panose="020B0606020202030204" pitchFamily="34" charset="0"/>
                          <a:ea typeface="LG스마트체 Regular" panose="020B0600000101010101" pitchFamily="50" charset="-127"/>
                        </a:rPr>
                        <a:t>Tab</a:t>
                      </a:r>
                      <a:r>
                        <a:rPr lang="ko-KR" altLang="en-US" sz="1000" u="none" strike="noStrike" dirty="0">
                          <a:effectLst/>
                          <a:latin typeface="Arial Narrow" panose="020B0606020202030204" pitchFamily="34" charset="0"/>
                          <a:ea typeface="LG스마트체 Regular" panose="020B0600000101010101" pitchFamily="50" charset="-127"/>
                        </a:rPr>
                        <a:t>의 접힘 유형</a:t>
                      </a:r>
                      <a:r>
                        <a:rPr lang="en-US" altLang="ko-KR" sz="1000" u="none" strike="noStrike" dirty="0">
                          <a:effectLst/>
                          <a:latin typeface="Arial Narrow" panose="020B0606020202030204" pitchFamily="34" charset="0"/>
                          <a:ea typeface="LG스마트체 Regular" panose="020B0600000101010101" pitchFamily="50" charset="-127"/>
                        </a:rPr>
                        <a:t>. </a:t>
                      </a:r>
                      <a:r>
                        <a:rPr lang="ko-KR" altLang="en-US" sz="1000" u="none" strike="noStrike" dirty="0">
                          <a:effectLst/>
                          <a:latin typeface="Arial Narrow" panose="020B0606020202030204" pitchFamily="34" charset="0"/>
                          <a:ea typeface="LG스마트체 Regular" panose="020B0600000101010101" pitchFamily="50" charset="-127"/>
                        </a:rPr>
                        <a:t>특정 시간대에서 집중 발생 </a:t>
                      </a:r>
                      <a:r>
                        <a:rPr lang="en-US" altLang="ko-KR" sz="1000" u="none" strike="noStrike" dirty="0">
                          <a:effectLst/>
                          <a:latin typeface="Arial Narrow" panose="020B0606020202030204" pitchFamily="34" charset="0"/>
                          <a:ea typeface="LG스마트체 Regular" panose="020B0600000101010101" pitchFamily="50" charset="-127"/>
                        </a:rPr>
                        <a:t>(8/28 11</a:t>
                      </a:r>
                      <a:r>
                        <a:rPr lang="ko-KR" altLang="en-US" sz="1000" u="none" strike="noStrike" dirty="0">
                          <a:effectLst/>
                          <a:latin typeface="Arial Narrow" panose="020B0606020202030204" pitchFamily="34" charset="0"/>
                          <a:ea typeface="LG스마트체 Regular" panose="020B0600000101010101" pitchFamily="50" charset="-127"/>
                        </a:rPr>
                        <a:t>시</a:t>
                      </a:r>
                      <a:r>
                        <a:rPr lang="en-US" altLang="ko-KR" sz="1000" u="none" strike="noStrike" dirty="0">
                          <a:effectLst/>
                          <a:latin typeface="Arial Narrow" panose="020B0606020202030204" pitchFamily="34" charset="0"/>
                          <a:ea typeface="LG스마트체 Regular" panose="020B0600000101010101" pitchFamily="50" charset="-127"/>
                        </a:rPr>
                        <a:t>)</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2096"/>
                  </a:ext>
                </a:extLst>
              </a:tr>
              <a:tr h="175855">
                <a:tc vMerge="1">
                  <a:txBody>
                    <a:bodyPr/>
                    <a:lstStyle/>
                    <a:p>
                      <a:pPr latinLnBrk="1"/>
                      <a:endParaRPr lang="ko-KR" altLang="en-US"/>
                    </a:p>
                  </a:txBody>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E90B</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sz="1000" u="none" strike="noStrike" dirty="0">
                          <a:effectLst/>
                          <a:latin typeface="Arial Narrow" panose="020B0606020202030204" pitchFamily="34" charset="0"/>
                          <a:ea typeface="LG스마트체 Regular" panose="020B0600000101010101" pitchFamily="50" charset="-127"/>
                        </a:rPr>
                        <a:t>Stacking</a:t>
                      </a:r>
                      <a:endParaRPr 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ko-KR" altLang="en-US" sz="1000" u="none" strike="noStrike" dirty="0">
                          <a:effectLst/>
                          <a:latin typeface="Arial Narrow" panose="020B0606020202030204" pitchFamily="34" charset="0"/>
                          <a:ea typeface="LG스마트체 Regular" panose="020B0600000101010101" pitchFamily="50" charset="-127"/>
                        </a:rPr>
                        <a:t>전극 데미지</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kern="1200" dirty="0">
                          <a:solidFill>
                            <a:schemeClr val="dk1"/>
                          </a:solidFill>
                          <a:effectLst/>
                          <a:latin typeface="Arial Narrow" panose="020B0606020202030204" pitchFamily="34" charset="0"/>
                          <a:ea typeface="LG스마트체 Regular" panose="020B0600000101010101" pitchFamily="50" charset="-127"/>
                          <a:cs typeface="+mn-cs"/>
                        </a:rPr>
                        <a:t>Stacking</a:t>
                      </a: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#24-2</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8/30</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ctr" fontAlgn="ctr"/>
                      <a:r>
                        <a:rPr lang="en-US" altLang="ko-KR" sz="1000" u="none" strike="noStrike" dirty="0">
                          <a:effectLst/>
                          <a:latin typeface="Arial Narrow" panose="020B0606020202030204" pitchFamily="34" charset="0"/>
                          <a:ea typeface="LG스마트체 Regular" panose="020B0600000101010101" pitchFamily="50" charset="-127"/>
                        </a:rPr>
                        <a:t>18</a:t>
                      </a:r>
                      <a:endParaRPr lang="en-US" altLang="ko-KR"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04982" rtl="0" eaLnBrk="1" latinLnBrk="1" hangingPunct="1">
                        <a:defRPr sz="1781" kern="1200">
                          <a:solidFill>
                            <a:schemeClr val="dk1"/>
                          </a:solidFill>
                          <a:latin typeface="Arial Narrow"/>
                          <a:ea typeface="LG스마트체 Regular"/>
                        </a:defRPr>
                      </a:lvl1pPr>
                      <a:lvl2pPr marL="452491" algn="l" defTabSz="904982" rtl="0" eaLnBrk="1" latinLnBrk="1" hangingPunct="1">
                        <a:defRPr sz="1781" kern="1200">
                          <a:solidFill>
                            <a:schemeClr val="dk1"/>
                          </a:solidFill>
                          <a:latin typeface="Arial Narrow"/>
                          <a:ea typeface="LG스마트체 Regular"/>
                        </a:defRPr>
                      </a:lvl2pPr>
                      <a:lvl3pPr marL="904982" algn="l" defTabSz="904982" rtl="0" eaLnBrk="1" latinLnBrk="1" hangingPunct="1">
                        <a:defRPr sz="1781" kern="1200">
                          <a:solidFill>
                            <a:schemeClr val="dk1"/>
                          </a:solidFill>
                          <a:latin typeface="Arial Narrow"/>
                          <a:ea typeface="LG스마트체 Regular"/>
                        </a:defRPr>
                      </a:lvl3pPr>
                      <a:lvl4pPr marL="1357473" algn="l" defTabSz="904982" rtl="0" eaLnBrk="1" latinLnBrk="1" hangingPunct="1">
                        <a:defRPr sz="1781" kern="1200">
                          <a:solidFill>
                            <a:schemeClr val="dk1"/>
                          </a:solidFill>
                          <a:latin typeface="Arial Narrow"/>
                          <a:ea typeface="LG스마트체 Regular"/>
                        </a:defRPr>
                      </a:lvl4pPr>
                      <a:lvl5pPr marL="1809963" algn="l" defTabSz="904982" rtl="0" eaLnBrk="1" latinLnBrk="1" hangingPunct="1">
                        <a:defRPr sz="1781" kern="1200">
                          <a:solidFill>
                            <a:schemeClr val="dk1"/>
                          </a:solidFill>
                          <a:latin typeface="Arial Narrow"/>
                          <a:ea typeface="LG스마트체 Regular"/>
                        </a:defRPr>
                      </a:lvl5pPr>
                      <a:lvl6pPr marL="2262454" algn="l" defTabSz="904982" rtl="0" eaLnBrk="1" latinLnBrk="1" hangingPunct="1">
                        <a:defRPr sz="1781" kern="1200">
                          <a:solidFill>
                            <a:schemeClr val="dk1"/>
                          </a:solidFill>
                          <a:latin typeface="Arial Narrow"/>
                          <a:ea typeface="LG스마트체 Regular"/>
                        </a:defRPr>
                      </a:lvl6pPr>
                      <a:lvl7pPr marL="2714945" algn="l" defTabSz="904982" rtl="0" eaLnBrk="1" latinLnBrk="1" hangingPunct="1">
                        <a:defRPr sz="1781" kern="1200">
                          <a:solidFill>
                            <a:schemeClr val="dk1"/>
                          </a:solidFill>
                          <a:latin typeface="Arial Narrow"/>
                          <a:ea typeface="LG스마트체 Regular"/>
                        </a:defRPr>
                      </a:lvl7pPr>
                      <a:lvl8pPr marL="3167436" algn="l" defTabSz="904982" rtl="0" eaLnBrk="1" latinLnBrk="1" hangingPunct="1">
                        <a:defRPr sz="1781" kern="1200">
                          <a:solidFill>
                            <a:schemeClr val="dk1"/>
                          </a:solidFill>
                          <a:latin typeface="Arial Narrow"/>
                          <a:ea typeface="LG스마트체 Regular"/>
                        </a:defRPr>
                      </a:lvl8pPr>
                      <a:lvl9pPr marL="3619927" algn="l" defTabSz="904982" rtl="0" eaLnBrk="1" latinLnBrk="1" hangingPunct="1">
                        <a:defRPr sz="1781" kern="1200">
                          <a:solidFill>
                            <a:schemeClr val="dk1"/>
                          </a:solidFill>
                          <a:latin typeface="Arial Narrow"/>
                          <a:ea typeface="LG스마트체 Regular"/>
                        </a:defRPr>
                      </a:lvl9pPr>
                    </a:lstStyle>
                    <a:p>
                      <a:pPr algn="l" fontAlgn="ctr"/>
                      <a:r>
                        <a:rPr lang="ko-KR" altLang="en-US" sz="1000" u="none" strike="noStrike" dirty="0">
                          <a:effectLst/>
                          <a:latin typeface="Arial Narrow" panose="020B0606020202030204" pitchFamily="34" charset="0"/>
                          <a:ea typeface="LG스마트체 Regular" panose="020B0600000101010101" pitchFamily="50" charset="-127"/>
                        </a:rPr>
                        <a:t>진행 방향 </a:t>
                      </a:r>
                      <a:r>
                        <a:rPr lang="en-US" altLang="ko-KR" sz="1000" u="none" strike="noStrike" dirty="0">
                          <a:effectLst/>
                          <a:latin typeface="Arial Narrow" panose="020B0606020202030204" pitchFamily="34" charset="0"/>
                          <a:ea typeface="LG스마트체 Regular" panose="020B0600000101010101" pitchFamily="50" charset="-127"/>
                        </a:rPr>
                        <a:t>/ </a:t>
                      </a:r>
                      <a:r>
                        <a:rPr lang="ko-KR" altLang="en-US" sz="1000" u="none" strike="noStrike" dirty="0">
                          <a:effectLst/>
                          <a:latin typeface="Arial Narrow" panose="020B0606020202030204" pitchFamily="34" charset="0"/>
                          <a:ea typeface="LG스마트체 Regular" panose="020B0600000101010101" pitchFamily="50" charset="-127"/>
                        </a:rPr>
                        <a:t>진행 반대 방향 장변 분리막 쪽 분리막 말림 현상 확인</a:t>
                      </a:r>
                      <a:endParaRPr lang="ko-KR" altLang="en-US" sz="1000" b="0" i="0" u="none" strike="noStrike" dirty="0">
                        <a:solidFill>
                          <a:srgbClr val="000000"/>
                        </a:solidFill>
                        <a:effectLst/>
                        <a:latin typeface="Arial Narrow" panose="020B0606020202030204" pitchFamily="34" charset="0"/>
                        <a:ea typeface="LG스마트체 Regular" panose="020B0600000101010101" pitchFamily="50" charset="-127"/>
                      </a:endParaRPr>
                    </a:p>
                  </a:txBody>
                  <a:tcPr marL="5696" marR="5696" marT="5696" marB="0"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8223206"/>
                  </a:ext>
                </a:extLst>
              </a:tr>
            </a:tbl>
          </a:graphicData>
        </a:graphic>
      </p:graphicFrame>
      <p:sp>
        <p:nvSpPr>
          <p:cNvPr id="8" name="文本框 190">
            <a:extLst>
              <a:ext uri="{FF2B5EF4-FFF2-40B4-BE49-F238E27FC236}">
                <a16:creationId xmlns:a16="http://schemas.microsoft.com/office/drawing/2014/main" id="{FE1C6634-10CA-CDED-F41C-230E84C28F18}"/>
              </a:ext>
            </a:extLst>
          </p:cNvPr>
          <p:cNvSpPr txBox="1"/>
          <p:nvPr/>
        </p:nvSpPr>
        <p:spPr>
          <a:xfrm>
            <a:off x="87599" y="455535"/>
            <a:ext cx="9698936" cy="292388"/>
          </a:xfrm>
          <a:prstGeom prst="rect">
            <a:avLst/>
          </a:prstGeom>
          <a:noFill/>
        </p:spPr>
        <p:txBody>
          <a:bodyPr wrap="square" rtlCol="0">
            <a:spAutoFit/>
          </a:bodyPr>
          <a:lstStyle>
            <a:defPPr>
              <a:defRPr lang="zh-CN"/>
            </a:defPPr>
            <a:lvl1pPr>
              <a:defRPr sz="1200" b="1">
                <a:latin typeface="+mn-ea"/>
              </a:defRPr>
            </a:lvl1pPr>
          </a:lstStyle>
          <a:p>
            <a:pPr defTabSz="457200" latinLnBrk="0">
              <a:defRPr/>
            </a:pPr>
            <a:r>
              <a:rPr lang="ko-KR" altLang="en-US" sz="1300" dirty="0">
                <a:solidFill>
                  <a:prstClr val="black"/>
                </a:solidFill>
                <a:latin typeface="Arial Narrow" panose="020B0606020202030204" pitchFamily="34" charset="0"/>
                <a:ea typeface="LG스마트체 Regular" panose="020B0600000101010101" pitchFamily="50" charset="-127"/>
              </a:rPr>
              <a:t>일자 별로 </a:t>
            </a:r>
            <a:r>
              <a:rPr lang="en-US" altLang="ko-KR" sz="1300" dirty="0">
                <a:solidFill>
                  <a:prstClr val="black"/>
                </a:solidFill>
                <a:latin typeface="Arial Narrow" panose="020B0606020202030204" pitchFamily="34" charset="0"/>
                <a:ea typeface="LG스마트체 Regular" panose="020B0600000101010101" pitchFamily="50" charset="-127"/>
              </a:rPr>
              <a:t>50</a:t>
            </a:r>
            <a:r>
              <a:rPr lang="ko-KR" altLang="en-US" sz="1300" dirty="0">
                <a:solidFill>
                  <a:prstClr val="black"/>
                </a:solidFill>
                <a:latin typeface="Arial Narrow" panose="020B0606020202030204" pitchFamily="34" charset="0"/>
                <a:ea typeface="LG스마트체 Regular" panose="020B0600000101010101" pitchFamily="50" charset="-127"/>
              </a:rPr>
              <a:t>개 이상 불량 발생한 라인들에 대해 </a:t>
            </a:r>
            <a:r>
              <a:rPr lang="en-US" altLang="ko-KR" sz="1300" dirty="0">
                <a:solidFill>
                  <a:prstClr val="black"/>
                </a:solidFill>
                <a:latin typeface="Arial Narrow" panose="020B0606020202030204" pitchFamily="34" charset="0"/>
                <a:ea typeface="LG스마트체 Regular" panose="020B0600000101010101" pitchFamily="50" charset="-127"/>
              </a:rPr>
              <a:t>Q-grade </a:t>
            </a:r>
            <a:r>
              <a:rPr lang="ko-KR" altLang="en-US" sz="1300" dirty="0">
                <a:solidFill>
                  <a:prstClr val="black"/>
                </a:solidFill>
                <a:latin typeface="Arial Narrow" panose="020B0606020202030204" pitchFamily="34" charset="0"/>
                <a:ea typeface="LG스마트체 Regular" panose="020B0600000101010101" pitchFamily="50" charset="-127"/>
              </a:rPr>
              <a:t>불량 유형 및 현상에 대해 정리하였습니다</a:t>
            </a:r>
            <a:r>
              <a:rPr lang="en-US" altLang="ko-KR" sz="1300" dirty="0">
                <a:solidFill>
                  <a:prstClr val="black"/>
                </a:solidFill>
                <a:latin typeface="Arial Narrow" panose="020B0606020202030204" pitchFamily="34" charset="0"/>
                <a:ea typeface="LG스마트체 Regular" panose="020B0600000101010101" pitchFamily="50" charset="-127"/>
              </a:rPr>
              <a:t>.</a:t>
            </a:r>
            <a:endParaRPr lang="en-US" altLang="ko-KR" b="0" dirty="0">
              <a:solidFill>
                <a:prstClr val="black"/>
              </a:solidFill>
              <a:latin typeface="Arial Narrow" panose="020B0606020202030204" pitchFamily="34" charset="0"/>
              <a:ea typeface="LG스마트체 Regular" panose="020B0600000101010101" pitchFamily="50" charset="-127"/>
            </a:endParaRPr>
          </a:p>
        </p:txBody>
      </p:sp>
      <p:sp>
        <p:nvSpPr>
          <p:cNvPr id="4" name="실행 단추: 홈으로 이동 3">
            <a:hlinkClick r:id="rId2" action="ppaction://hlinksldjump" highlightClick="1"/>
            <a:extLst>
              <a:ext uri="{FF2B5EF4-FFF2-40B4-BE49-F238E27FC236}">
                <a16:creationId xmlns:a16="http://schemas.microsoft.com/office/drawing/2014/main" id="{EBFDAB1A-2A40-C2B6-029C-EF0D5041EAAC}"/>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2" name="TextBox 1">
            <a:extLst>
              <a:ext uri="{FF2B5EF4-FFF2-40B4-BE49-F238E27FC236}">
                <a16:creationId xmlns:a16="http://schemas.microsoft.com/office/drawing/2014/main" id="{49694D8C-5C2A-EF4C-9122-823B977943ED}"/>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- 4 / 10 -</a:t>
            </a:r>
          </a:p>
        </p:txBody>
      </p:sp>
    </p:spTree>
    <p:extLst>
      <p:ext uri="{BB962C8B-B14F-4D97-AF65-F5344CB8AC3E}">
        <p14:creationId xmlns:p14="http://schemas.microsoft.com/office/powerpoint/2010/main" val="1491779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4E8D62A7-5E07-CCB7-20EE-ECA1BF7BB8E8}"/>
              </a:ext>
            </a:extLst>
          </p:cNvPr>
          <p:cNvPicPr>
            <a:picLocks noChangeAspect="1"/>
          </p:cNvPicPr>
          <p:nvPr/>
        </p:nvPicPr>
        <p:blipFill>
          <a:blip r:embed="rId2"/>
          <a:stretch>
            <a:fillRect/>
          </a:stretch>
        </p:blipFill>
        <p:spPr>
          <a:xfrm>
            <a:off x="181589" y="1201910"/>
            <a:ext cx="9554166" cy="5328509"/>
          </a:xfrm>
          <a:prstGeom prst="rect">
            <a:avLst/>
          </a:prstGeom>
        </p:spPr>
      </p:pic>
      <p:sp>
        <p:nvSpPr>
          <p:cNvPr id="2" name="제목 1">
            <a:extLst>
              <a:ext uri="{FF2B5EF4-FFF2-40B4-BE49-F238E27FC236}">
                <a16:creationId xmlns:a16="http://schemas.microsoft.com/office/drawing/2014/main" id="{AEB0DA6C-D5AC-86FA-D419-0B9B26EE24B6}"/>
              </a:ext>
            </a:extLst>
          </p:cNvPr>
          <p:cNvSpPr>
            <a:spLocks noGrp="1"/>
          </p:cNvSpPr>
          <p:nvPr>
            <p:ph type="title"/>
          </p:nvPr>
        </p:nvSpPr>
        <p:spPr/>
        <p:txBody>
          <a:bodyPr/>
          <a:lstStyle/>
          <a:p>
            <a:r>
              <a:rPr lang="en-US" altLang="ko-KR" dirty="0">
                <a:latin typeface="Arial Narrow" panose="020B0606020202030204" pitchFamily="34" charset="0"/>
                <a:ea typeface="LG스마트체 Regular" panose="020B0600000101010101" pitchFamily="50" charset="-127"/>
              </a:rPr>
              <a:t>  </a:t>
            </a:r>
            <a:endParaRPr lang="ko-KR" altLang="en-US" dirty="0">
              <a:latin typeface="Arial Narrow" panose="020B0606020202030204" pitchFamily="34" charset="0"/>
              <a:ea typeface="LG스마트체 Regular" panose="020B0600000101010101" pitchFamily="50" charset="-127"/>
            </a:endParaRPr>
          </a:p>
        </p:txBody>
      </p:sp>
      <p:sp>
        <p:nvSpPr>
          <p:cNvPr id="6" name="Rectangle 2">
            <a:extLst>
              <a:ext uri="{FF2B5EF4-FFF2-40B4-BE49-F238E27FC236}">
                <a16:creationId xmlns:a16="http://schemas.microsoft.com/office/drawing/2014/main" id="{8521364F-BA9D-6AD1-0547-E4D0845AE797}"/>
              </a:ext>
            </a:extLst>
          </p:cNvPr>
          <p:cNvSpPr>
            <a:spLocks noChangeArrowheads="1"/>
          </p:cNvSpPr>
          <p:nvPr/>
        </p:nvSpPr>
        <p:spPr bwMode="auto">
          <a:xfrm>
            <a:off x="181588" y="160635"/>
            <a:ext cx="5191690" cy="289906"/>
          </a:xfrm>
          <a:prstGeom prst="rect">
            <a:avLst/>
          </a:prstGeom>
          <a:noFill/>
          <a:ln w="12700" algn="ctr">
            <a:noFill/>
            <a:miter lim="800000"/>
            <a:headEnd/>
            <a:tailEnd/>
          </a:ln>
        </p:spPr>
        <p:txBody>
          <a:bodyPr wrap="square" lIns="3563" tIns="3563" rIns="3563" bIns="3563" anchor="b" anchorCtr="0">
            <a:spAutoFit/>
          </a:bodyPr>
          <a:lstStyle/>
          <a:p>
            <a:pPr defTabSz="0" eaLnBrk="0" hangingPunct="0">
              <a:lnSpc>
                <a:spcPct val="110000"/>
              </a:lnSpc>
              <a:buClr>
                <a:srgbClr val="CC0066"/>
              </a:buClr>
              <a:tabLst>
                <a:tab pos="0" algn="l"/>
                <a:tab pos="3815887" algn="l"/>
              </a:tabLst>
            </a:pPr>
            <a:r>
              <a:rPr kumimoji="1" lang="ko-KR" altLang="en-US" sz="1781" b="1" u="sng" dirty="0">
                <a:solidFill>
                  <a:srgbClr val="000000"/>
                </a:solidFill>
                <a:latin typeface="Arial Narrow" panose="020B0606020202030204" pitchFamily="34" charset="0"/>
                <a:ea typeface="LG스마트체 Regular" panose="020B0600000101010101" pitchFamily="50" charset="-127"/>
                <a:cs typeface="Arial" pitchFamily="34" charset="0"/>
              </a:rPr>
              <a:t>보조</a:t>
            </a:r>
            <a:r>
              <a:rPr kumimoji="1" lang="en-US" altLang="ko-KR" sz="1781" b="1" u="sng" dirty="0">
                <a:solidFill>
                  <a:srgbClr val="000000"/>
                </a:solidFill>
                <a:latin typeface="Arial Narrow" panose="020B0606020202030204" pitchFamily="34" charset="0"/>
                <a:ea typeface="LG스마트체 Regular" panose="020B0600000101010101" pitchFamily="50" charset="-127"/>
                <a:cs typeface="Arial" pitchFamily="34" charset="0"/>
              </a:rPr>
              <a:t>. E161A, E128A </a:t>
            </a:r>
            <a:r>
              <a:rPr kumimoji="1" lang="ko-KR" altLang="en-US" sz="1781" b="1" u="sng" dirty="0">
                <a:solidFill>
                  <a:srgbClr val="000000"/>
                </a:solidFill>
                <a:latin typeface="Arial Narrow" panose="020B0606020202030204" pitchFamily="34" charset="0"/>
                <a:ea typeface="LG스마트체 Regular" panose="020B0600000101010101" pitchFamily="50" charset="-127"/>
                <a:cs typeface="Arial" pitchFamily="34" charset="0"/>
              </a:rPr>
              <a:t>스택 </a:t>
            </a:r>
            <a:r>
              <a:rPr kumimoji="1" lang="en-US" altLang="ko-KR" sz="1781" b="1" u="sng" dirty="0">
                <a:solidFill>
                  <a:srgbClr val="000000"/>
                </a:solidFill>
                <a:latin typeface="Arial Narrow" panose="020B0606020202030204" pitchFamily="34" charset="0"/>
                <a:ea typeface="LG스마트체 Regular" panose="020B0600000101010101" pitchFamily="50" charset="-127"/>
                <a:cs typeface="Arial" pitchFamily="34" charset="0"/>
              </a:rPr>
              <a:t>NG</a:t>
            </a:r>
          </a:p>
        </p:txBody>
      </p:sp>
      <p:sp>
        <p:nvSpPr>
          <p:cNvPr id="8" name="文本框 190">
            <a:extLst>
              <a:ext uri="{FF2B5EF4-FFF2-40B4-BE49-F238E27FC236}">
                <a16:creationId xmlns:a16="http://schemas.microsoft.com/office/drawing/2014/main" id="{E6E09AD0-07FC-B9A0-5BEA-D77DA07BB3DC}"/>
              </a:ext>
            </a:extLst>
          </p:cNvPr>
          <p:cNvSpPr txBox="1"/>
          <p:nvPr/>
        </p:nvSpPr>
        <p:spPr>
          <a:xfrm>
            <a:off x="107880" y="491723"/>
            <a:ext cx="9690238" cy="517826"/>
          </a:xfrm>
          <a:prstGeom prst="rect">
            <a:avLst/>
          </a:prstGeom>
          <a:noFill/>
        </p:spPr>
        <p:txBody>
          <a:bodyPr wrap="square" rtlCol="0">
            <a:spAutoFit/>
          </a:bodyPr>
          <a:lstStyle>
            <a:defPPr>
              <a:defRPr lang="zh-CN"/>
            </a:defPPr>
            <a:lvl1pPr>
              <a:defRPr sz="1200" b="1">
                <a:latin typeface="+mn-ea"/>
              </a:defRPr>
            </a:lvl1pPr>
          </a:lstStyle>
          <a:p>
            <a:r>
              <a:rPr lang="en-US" altLang="ko-KR" sz="1386" dirty="0">
                <a:latin typeface="Arial Narrow" panose="020B0606020202030204" pitchFamily="34" charset="0"/>
                <a:ea typeface="LG스마트체 Regular" panose="020B0600000101010101" pitchFamily="50" charset="-127"/>
              </a:rPr>
              <a:t>8/31 </a:t>
            </a:r>
            <a:r>
              <a:rPr lang="ko-KR" altLang="en-US" sz="1386" dirty="0">
                <a:latin typeface="Arial Narrow" panose="020B0606020202030204" pitchFamily="34" charset="0"/>
                <a:ea typeface="LG스마트체 Regular" panose="020B0600000101010101" pitchFamily="50" charset="-127"/>
              </a:rPr>
              <a:t>기준</a:t>
            </a:r>
            <a:r>
              <a:rPr lang="en-US" altLang="ko-KR" sz="1386" dirty="0">
                <a:latin typeface="Arial Narrow" panose="020B0606020202030204" pitchFamily="34" charset="0"/>
                <a:ea typeface="LG스마트체 Regular" panose="020B0600000101010101" pitchFamily="50" charset="-127"/>
              </a:rPr>
              <a:t>, </a:t>
            </a:r>
            <a:r>
              <a:rPr lang="ko-KR" altLang="en-US" sz="1386" dirty="0">
                <a:latin typeface="Arial Narrow" panose="020B0606020202030204" pitchFamily="34" charset="0"/>
                <a:ea typeface="LG스마트체 Regular" panose="020B0600000101010101" pitchFamily="50" charset="-127"/>
              </a:rPr>
              <a:t>불량률이 가장 높은 </a:t>
            </a:r>
            <a:r>
              <a:rPr lang="en-US" altLang="ko-KR" sz="1386" dirty="0">
                <a:latin typeface="Arial Narrow" panose="020B0606020202030204" pitchFamily="34" charset="0"/>
                <a:ea typeface="LG스마트체 Regular" panose="020B0600000101010101" pitchFamily="50" charset="-127"/>
              </a:rPr>
              <a:t>27-2</a:t>
            </a:r>
            <a:r>
              <a:rPr lang="ko-KR" altLang="en-US" sz="1386" dirty="0">
                <a:latin typeface="Arial Narrow" panose="020B0606020202030204" pitchFamily="34" charset="0"/>
                <a:ea typeface="LG스마트체 Regular" panose="020B0600000101010101" pitchFamily="50" charset="-127"/>
              </a:rPr>
              <a:t>호 분석 시</a:t>
            </a:r>
            <a:r>
              <a:rPr lang="en-US" altLang="ko-KR" sz="1386" dirty="0">
                <a:latin typeface="Arial Narrow" panose="020B0606020202030204" pitchFamily="34" charset="0"/>
                <a:ea typeface="LG스마트체 Regular" panose="020B0600000101010101" pitchFamily="50" charset="-127"/>
              </a:rPr>
              <a:t>, MS2, MS3 </a:t>
            </a:r>
            <a:r>
              <a:rPr lang="ko-KR" altLang="en-US" sz="1386" dirty="0">
                <a:latin typeface="Arial Narrow" panose="020B0606020202030204" pitchFamily="34" charset="0"/>
                <a:ea typeface="LG스마트체 Regular" panose="020B0600000101010101" pitchFamily="50" charset="-127"/>
              </a:rPr>
              <a:t>위치가 불량률이 높고 유형은 대부분 </a:t>
            </a:r>
            <a:r>
              <a:rPr lang="en-US" altLang="ko-KR" sz="1386" dirty="0">
                <a:latin typeface="Arial Narrow" panose="020B0606020202030204" pitchFamily="34" charset="0"/>
                <a:ea typeface="LG스마트체 Regular" panose="020B0600000101010101" pitchFamily="50" charset="-127"/>
              </a:rPr>
              <a:t>Align revision NG</a:t>
            </a:r>
            <a:r>
              <a:rPr lang="ko-KR" altLang="en-US" sz="1386" dirty="0">
                <a:latin typeface="Arial Narrow" panose="020B0606020202030204" pitchFamily="34" charset="0"/>
                <a:ea typeface="LG스마트체 Regular" panose="020B0600000101010101" pitchFamily="50" charset="-127"/>
              </a:rPr>
              <a:t>입니다</a:t>
            </a:r>
            <a:r>
              <a:rPr lang="en-US" altLang="ko-KR" sz="1386" dirty="0">
                <a:latin typeface="Arial Narrow" panose="020B0606020202030204" pitchFamily="34" charset="0"/>
                <a:ea typeface="LG스마트체 Regular" panose="020B0600000101010101" pitchFamily="50" charset="-127"/>
              </a:rPr>
              <a:t>. </a:t>
            </a:r>
          </a:p>
          <a:p>
            <a:r>
              <a:rPr lang="en-US" altLang="ko-KR" sz="1386" dirty="0">
                <a:latin typeface="Arial Narrow" panose="020B0606020202030204" pitchFamily="34" charset="0"/>
                <a:ea typeface="LG스마트체 Regular" panose="020B0600000101010101" pitchFamily="50" charset="-127"/>
              </a:rPr>
              <a:t>1</a:t>
            </a:r>
            <a:r>
              <a:rPr lang="ko-KR" altLang="en-US" sz="1386" dirty="0">
                <a:latin typeface="Arial Narrow" panose="020B0606020202030204" pitchFamily="34" charset="0"/>
                <a:ea typeface="LG스마트체 Regular" panose="020B0600000101010101" pitchFamily="50" charset="-127"/>
              </a:rPr>
              <a:t>번 모노셀 적재 위치에서 대부분 불량 발생하며</a:t>
            </a:r>
            <a:r>
              <a:rPr lang="en-US" altLang="ko-KR" sz="1386" dirty="0">
                <a:latin typeface="Arial Narrow" panose="020B0606020202030204" pitchFamily="34" charset="0"/>
                <a:ea typeface="LG스마트체 Regular" panose="020B0600000101010101" pitchFamily="50" charset="-127"/>
              </a:rPr>
              <a:t>, Align revision </a:t>
            </a:r>
            <a:r>
              <a:rPr lang="ko-KR" altLang="en-US" sz="1386" dirty="0">
                <a:latin typeface="Arial Narrow" panose="020B0606020202030204" pitchFamily="34" charset="0"/>
                <a:ea typeface="LG스마트체 Regular" panose="020B0600000101010101" pitchFamily="50" charset="-127"/>
              </a:rPr>
              <a:t>값 </a:t>
            </a:r>
            <a:r>
              <a:rPr lang="ko-KR" altLang="en-US" sz="1386" dirty="0" err="1">
                <a:latin typeface="Arial Narrow" panose="020B0606020202030204" pitchFamily="34" charset="0"/>
                <a:ea typeface="LG스마트체 Regular" panose="020B0600000101010101" pitchFamily="50" charset="-127"/>
              </a:rPr>
              <a:t>분석시</a:t>
            </a:r>
            <a:r>
              <a:rPr lang="ko-KR" altLang="en-US" sz="1386" dirty="0">
                <a:latin typeface="Arial Narrow" panose="020B0606020202030204" pitchFamily="34" charset="0"/>
                <a:ea typeface="LG스마트체 Regular" panose="020B0600000101010101" pitchFamily="50" charset="-127"/>
              </a:rPr>
              <a:t> </a:t>
            </a:r>
            <a:r>
              <a:rPr lang="en-US" altLang="ko-KR" sz="1386" dirty="0">
                <a:latin typeface="Arial Narrow" panose="020B0606020202030204" pitchFamily="34" charset="0"/>
                <a:ea typeface="LG스마트체 Regular" panose="020B0600000101010101" pitchFamily="50" charset="-127"/>
              </a:rPr>
              <a:t>Y</a:t>
            </a:r>
            <a:r>
              <a:rPr lang="ko-KR" altLang="en-US" sz="1386" dirty="0">
                <a:latin typeface="Arial Narrow" panose="020B0606020202030204" pitchFamily="34" charset="0"/>
                <a:ea typeface="LG스마트체 Regular" panose="020B0600000101010101" pitchFamily="50" charset="-127"/>
              </a:rPr>
              <a:t>축 방향으로 상한 이탈로 발생하였습니다</a:t>
            </a:r>
            <a:r>
              <a:rPr lang="en-US" altLang="ko-KR" sz="1386" dirty="0">
                <a:latin typeface="Arial Narrow" panose="020B0606020202030204" pitchFamily="34" charset="0"/>
                <a:ea typeface="LG스마트체 Regular" panose="020B0600000101010101" pitchFamily="50" charset="-127"/>
              </a:rPr>
              <a:t>. </a:t>
            </a:r>
            <a:endParaRPr lang="ko-KR" altLang="en-US" sz="1386" dirty="0">
              <a:latin typeface="Arial Narrow" panose="020B0606020202030204" pitchFamily="34" charset="0"/>
              <a:ea typeface="LG스마트체 Regular" panose="020B0600000101010101" pitchFamily="50" charset="-127"/>
            </a:endParaRPr>
          </a:p>
        </p:txBody>
      </p:sp>
      <p:sp>
        <p:nvSpPr>
          <p:cNvPr id="11" name="TextBox 10">
            <a:extLst>
              <a:ext uri="{FF2B5EF4-FFF2-40B4-BE49-F238E27FC236}">
                <a16:creationId xmlns:a16="http://schemas.microsoft.com/office/drawing/2014/main" id="{FC5D8955-2A58-6E0A-F368-D228A42B0ACA}"/>
              </a:ext>
            </a:extLst>
          </p:cNvPr>
          <p:cNvSpPr txBox="1"/>
          <p:nvPr/>
        </p:nvSpPr>
        <p:spPr>
          <a:xfrm>
            <a:off x="952107" y="3495047"/>
            <a:ext cx="1150070" cy="395985"/>
          </a:xfrm>
          <a:prstGeom prst="rect">
            <a:avLst/>
          </a:prstGeom>
          <a:noFill/>
        </p:spPr>
        <p:txBody>
          <a:bodyPr wrap="square" rtlCol="0">
            <a:spAutoFit/>
          </a:bodyPr>
          <a:lstStyle/>
          <a:p>
            <a:pPr marL="282807" indent="-282807">
              <a:buFont typeface="Wingdings" panose="05000000000000000000" pitchFamily="2" charset="2"/>
              <a:buChar char="ü"/>
            </a:pPr>
            <a:r>
              <a:rPr lang="en-US" altLang="ko-KR" sz="1979" b="1" dirty="0">
                <a:solidFill>
                  <a:srgbClr val="0000FF"/>
                </a:solidFill>
                <a:latin typeface="Arial Narrow" panose="020B0606020202030204" pitchFamily="34" charset="0"/>
                <a:ea typeface="LG스마트체 Regular" panose="020B0600000101010101" pitchFamily="50" charset="-127"/>
              </a:rPr>
              <a:t> </a:t>
            </a:r>
            <a:endParaRPr lang="ko-KR" altLang="en-US" sz="1979" b="1" dirty="0">
              <a:solidFill>
                <a:srgbClr val="0000FF"/>
              </a:solidFill>
              <a:latin typeface="Arial Narrow" panose="020B0606020202030204" pitchFamily="34" charset="0"/>
              <a:ea typeface="LG스마트체 Regular" panose="020B0600000101010101" pitchFamily="50" charset="-127"/>
            </a:endParaRPr>
          </a:p>
        </p:txBody>
      </p:sp>
      <p:sp>
        <p:nvSpPr>
          <p:cNvPr id="14" name="TextBox 13">
            <a:extLst>
              <a:ext uri="{FF2B5EF4-FFF2-40B4-BE49-F238E27FC236}">
                <a16:creationId xmlns:a16="http://schemas.microsoft.com/office/drawing/2014/main" id="{CE54AF02-07D9-38F5-4B23-A8343F0F66E6}"/>
              </a:ext>
            </a:extLst>
          </p:cNvPr>
          <p:cNvSpPr txBox="1"/>
          <p:nvPr/>
        </p:nvSpPr>
        <p:spPr>
          <a:xfrm>
            <a:off x="287186" y="5220047"/>
            <a:ext cx="1150070" cy="243683"/>
          </a:xfrm>
          <a:prstGeom prst="rect">
            <a:avLst/>
          </a:prstGeom>
          <a:noFill/>
        </p:spPr>
        <p:txBody>
          <a:bodyPr wrap="square" rtlCol="0">
            <a:spAutoFit/>
          </a:bodyPr>
          <a:lstStyle/>
          <a:p>
            <a:r>
              <a:rPr lang="en-US" altLang="ko-KR" sz="990" dirty="0">
                <a:latin typeface="Arial Narrow" panose="020B0606020202030204" pitchFamily="34" charset="0"/>
                <a:ea typeface="LG스마트체 Regular" panose="020B0600000101010101" pitchFamily="50" charset="-127"/>
              </a:rPr>
              <a:t>Table</a:t>
            </a:r>
            <a:endParaRPr lang="ko-KR" altLang="en-US" sz="990" dirty="0">
              <a:latin typeface="Arial Narrow" panose="020B0606020202030204" pitchFamily="34" charset="0"/>
              <a:ea typeface="LG스마트체 Regular" panose="020B0600000101010101" pitchFamily="50" charset="-127"/>
            </a:endParaRPr>
          </a:p>
        </p:txBody>
      </p:sp>
      <p:sp>
        <p:nvSpPr>
          <p:cNvPr id="15" name="TextBox 14">
            <a:extLst>
              <a:ext uri="{FF2B5EF4-FFF2-40B4-BE49-F238E27FC236}">
                <a16:creationId xmlns:a16="http://schemas.microsoft.com/office/drawing/2014/main" id="{A88C33DD-88FA-3D51-64B1-2E301113947F}"/>
              </a:ext>
            </a:extLst>
          </p:cNvPr>
          <p:cNvSpPr txBox="1"/>
          <p:nvPr/>
        </p:nvSpPr>
        <p:spPr>
          <a:xfrm>
            <a:off x="4377964" y="1883064"/>
            <a:ext cx="1150070" cy="395985"/>
          </a:xfrm>
          <a:prstGeom prst="rect">
            <a:avLst/>
          </a:prstGeom>
          <a:noFill/>
        </p:spPr>
        <p:txBody>
          <a:bodyPr wrap="square" rtlCol="0">
            <a:spAutoFit/>
          </a:bodyPr>
          <a:lstStyle/>
          <a:p>
            <a:pPr marL="282807" indent="-282807">
              <a:buFont typeface="Wingdings" panose="05000000000000000000" pitchFamily="2" charset="2"/>
              <a:buChar char="ü"/>
            </a:pPr>
            <a:r>
              <a:rPr lang="en-US" altLang="ko-KR" sz="1979" b="1" dirty="0">
                <a:solidFill>
                  <a:srgbClr val="0000FF"/>
                </a:solidFill>
                <a:latin typeface="Arial Narrow" panose="020B0606020202030204" pitchFamily="34" charset="0"/>
                <a:ea typeface="LG스마트체 Regular" panose="020B0600000101010101" pitchFamily="50" charset="-127"/>
              </a:rPr>
              <a:t> </a:t>
            </a:r>
            <a:endParaRPr lang="ko-KR" altLang="en-US" sz="1979" b="1" dirty="0">
              <a:solidFill>
                <a:srgbClr val="0000FF"/>
              </a:solidFill>
              <a:latin typeface="Arial Narrow" panose="020B0606020202030204" pitchFamily="34" charset="0"/>
              <a:ea typeface="LG스마트체 Regular" panose="020B0600000101010101" pitchFamily="50" charset="-127"/>
            </a:endParaRPr>
          </a:p>
        </p:txBody>
      </p:sp>
      <p:sp>
        <p:nvSpPr>
          <p:cNvPr id="16" name="TextBox 15">
            <a:extLst>
              <a:ext uri="{FF2B5EF4-FFF2-40B4-BE49-F238E27FC236}">
                <a16:creationId xmlns:a16="http://schemas.microsoft.com/office/drawing/2014/main" id="{8C3651AB-0820-9301-E8FC-6B74B9AC25E0}"/>
              </a:ext>
            </a:extLst>
          </p:cNvPr>
          <p:cNvSpPr txBox="1"/>
          <p:nvPr/>
        </p:nvSpPr>
        <p:spPr>
          <a:xfrm>
            <a:off x="4377964" y="2279049"/>
            <a:ext cx="1150070" cy="395985"/>
          </a:xfrm>
          <a:prstGeom prst="rect">
            <a:avLst/>
          </a:prstGeom>
          <a:noFill/>
        </p:spPr>
        <p:txBody>
          <a:bodyPr wrap="square" rtlCol="0">
            <a:spAutoFit/>
          </a:bodyPr>
          <a:lstStyle/>
          <a:p>
            <a:pPr marL="282807" indent="-282807">
              <a:buFont typeface="Wingdings" panose="05000000000000000000" pitchFamily="2" charset="2"/>
              <a:buChar char="ü"/>
            </a:pPr>
            <a:r>
              <a:rPr lang="en-US" altLang="ko-KR" sz="1979" b="1" dirty="0">
                <a:solidFill>
                  <a:srgbClr val="0000FF"/>
                </a:solidFill>
                <a:latin typeface="Arial Narrow" panose="020B0606020202030204" pitchFamily="34" charset="0"/>
                <a:ea typeface="LG스마트체 Regular" panose="020B0600000101010101" pitchFamily="50" charset="-127"/>
              </a:rPr>
              <a:t> </a:t>
            </a:r>
            <a:endParaRPr lang="ko-KR" altLang="en-US" sz="1979" b="1" dirty="0">
              <a:solidFill>
                <a:srgbClr val="0000FF"/>
              </a:solidFill>
              <a:latin typeface="Arial Narrow" panose="020B0606020202030204" pitchFamily="34" charset="0"/>
              <a:ea typeface="LG스마트체 Regular" panose="020B0600000101010101" pitchFamily="50" charset="-127"/>
            </a:endParaRPr>
          </a:p>
        </p:txBody>
      </p:sp>
      <p:sp>
        <p:nvSpPr>
          <p:cNvPr id="17" name="TextBox 16">
            <a:extLst>
              <a:ext uri="{FF2B5EF4-FFF2-40B4-BE49-F238E27FC236}">
                <a16:creationId xmlns:a16="http://schemas.microsoft.com/office/drawing/2014/main" id="{E2D16E3B-13BF-0AEC-91C1-931501ABD310}"/>
              </a:ext>
            </a:extLst>
          </p:cNvPr>
          <p:cNvSpPr txBox="1"/>
          <p:nvPr/>
        </p:nvSpPr>
        <p:spPr>
          <a:xfrm>
            <a:off x="7667919" y="1682613"/>
            <a:ext cx="1150070" cy="395985"/>
          </a:xfrm>
          <a:prstGeom prst="rect">
            <a:avLst/>
          </a:prstGeom>
          <a:noFill/>
        </p:spPr>
        <p:txBody>
          <a:bodyPr wrap="square" rtlCol="0">
            <a:spAutoFit/>
          </a:bodyPr>
          <a:lstStyle/>
          <a:p>
            <a:pPr marL="282807" indent="-282807">
              <a:buFont typeface="Wingdings" panose="05000000000000000000" pitchFamily="2" charset="2"/>
              <a:buChar char="ü"/>
            </a:pPr>
            <a:r>
              <a:rPr lang="en-US" altLang="ko-KR" sz="1979" b="1" dirty="0">
                <a:solidFill>
                  <a:srgbClr val="0000FF"/>
                </a:solidFill>
                <a:latin typeface="Arial Narrow" panose="020B0606020202030204" pitchFamily="34" charset="0"/>
                <a:ea typeface="LG스마트체 Regular" panose="020B0600000101010101" pitchFamily="50" charset="-127"/>
              </a:rPr>
              <a:t> </a:t>
            </a:r>
            <a:endParaRPr lang="ko-KR" altLang="en-US" sz="1979" b="1" dirty="0">
              <a:solidFill>
                <a:srgbClr val="0000FF"/>
              </a:solidFill>
              <a:latin typeface="Arial Narrow" panose="020B0606020202030204" pitchFamily="34" charset="0"/>
              <a:ea typeface="LG스마트체 Regular" panose="020B0600000101010101" pitchFamily="50" charset="-127"/>
            </a:endParaRPr>
          </a:p>
        </p:txBody>
      </p:sp>
      <p:sp>
        <p:nvSpPr>
          <p:cNvPr id="18" name="TextBox 17">
            <a:extLst>
              <a:ext uri="{FF2B5EF4-FFF2-40B4-BE49-F238E27FC236}">
                <a16:creationId xmlns:a16="http://schemas.microsoft.com/office/drawing/2014/main" id="{DE36F03A-F53C-1D68-EB87-BD575A7AA298}"/>
              </a:ext>
            </a:extLst>
          </p:cNvPr>
          <p:cNvSpPr txBox="1"/>
          <p:nvPr/>
        </p:nvSpPr>
        <p:spPr>
          <a:xfrm>
            <a:off x="8585685" y="3821349"/>
            <a:ext cx="1150070" cy="639668"/>
          </a:xfrm>
          <a:prstGeom prst="rect">
            <a:avLst/>
          </a:prstGeom>
          <a:noFill/>
        </p:spPr>
        <p:txBody>
          <a:bodyPr wrap="square" rtlCol="0">
            <a:spAutoFit/>
          </a:bodyPr>
          <a:lstStyle/>
          <a:p>
            <a:r>
              <a:rPr lang="ko-KR" altLang="en-US" sz="1188" dirty="0">
                <a:solidFill>
                  <a:srgbClr val="0000FF"/>
                </a:solidFill>
                <a:latin typeface="Arial Narrow" panose="020B0606020202030204" pitchFamily="34" charset="0"/>
                <a:ea typeface="LG스마트체 Regular" panose="020B0600000101010101" pitchFamily="50" charset="-127"/>
              </a:rPr>
              <a:t>↑ </a:t>
            </a:r>
            <a:br>
              <a:rPr lang="en-US" altLang="ko-KR" sz="1188" dirty="0">
                <a:solidFill>
                  <a:srgbClr val="0000FF"/>
                </a:solidFill>
                <a:latin typeface="Arial Narrow" panose="020B0606020202030204" pitchFamily="34" charset="0"/>
                <a:ea typeface="LG스마트체 Regular" panose="020B0600000101010101" pitchFamily="50" charset="-127"/>
              </a:rPr>
            </a:br>
            <a:r>
              <a:rPr lang="ko-KR" altLang="en-US" sz="1188" dirty="0">
                <a:solidFill>
                  <a:srgbClr val="0000FF"/>
                </a:solidFill>
                <a:latin typeface="Arial Narrow" panose="020B0606020202030204" pitchFamily="34" charset="0"/>
                <a:ea typeface="LG스마트체 Regular" panose="020B0600000101010101" pitchFamily="50" charset="-127"/>
              </a:rPr>
              <a:t>음극 상한 </a:t>
            </a:r>
            <a:endParaRPr lang="en-US" altLang="ko-KR" sz="1188" dirty="0">
              <a:solidFill>
                <a:srgbClr val="0000FF"/>
              </a:solidFill>
              <a:latin typeface="Arial Narrow" panose="020B0606020202030204" pitchFamily="34" charset="0"/>
              <a:ea typeface="LG스마트체 Regular" panose="020B0600000101010101" pitchFamily="50" charset="-127"/>
            </a:endParaRPr>
          </a:p>
          <a:p>
            <a:r>
              <a:rPr lang="ko-KR" altLang="en-US" sz="1188" dirty="0">
                <a:solidFill>
                  <a:srgbClr val="0000FF"/>
                </a:solidFill>
                <a:latin typeface="Arial Narrow" panose="020B0606020202030204" pitchFamily="34" charset="0"/>
                <a:ea typeface="LG스마트체 Regular" panose="020B0600000101010101" pitchFamily="50" charset="-127"/>
              </a:rPr>
              <a:t>방향 이탈</a:t>
            </a:r>
          </a:p>
        </p:txBody>
      </p:sp>
      <p:sp>
        <p:nvSpPr>
          <p:cNvPr id="20" name="TextBox 19">
            <a:extLst>
              <a:ext uri="{FF2B5EF4-FFF2-40B4-BE49-F238E27FC236}">
                <a16:creationId xmlns:a16="http://schemas.microsoft.com/office/drawing/2014/main" id="{04A93733-2464-6467-20C6-12871CA73D64}"/>
              </a:ext>
            </a:extLst>
          </p:cNvPr>
          <p:cNvSpPr txBox="1"/>
          <p:nvPr/>
        </p:nvSpPr>
        <p:spPr>
          <a:xfrm>
            <a:off x="7671285" y="2040891"/>
            <a:ext cx="1489435" cy="274143"/>
          </a:xfrm>
          <a:prstGeom prst="rect">
            <a:avLst/>
          </a:prstGeom>
          <a:noFill/>
        </p:spPr>
        <p:txBody>
          <a:bodyPr wrap="square" rtlCol="0">
            <a:spAutoFit/>
          </a:bodyPr>
          <a:lstStyle/>
          <a:p>
            <a:r>
              <a:rPr lang="ko-KR" altLang="en-US" sz="1188" dirty="0">
                <a:solidFill>
                  <a:srgbClr val="0000FF"/>
                </a:solidFill>
                <a:latin typeface="Arial Narrow" panose="020B0606020202030204" pitchFamily="34" charset="0"/>
                <a:ea typeface="LG스마트체 Regular" panose="020B0600000101010101" pitchFamily="50" charset="-127"/>
              </a:rPr>
              <a:t>음극 상한 방향</a:t>
            </a:r>
            <a:endParaRPr lang="en-US" altLang="ko-KR" sz="1188" dirty="0">
              <a:solidFill>
                <a:srgbClr val="0000FF"/>
              </a:solidFill>
              <a:latin typeface="Arial Narrow" panose="020B0606020202030204" pitchFamily="34" charset="0"/>
              <a:ea typeface="LG스마트체 Regular" panose="020B0600000101010101" pitchFamily="50" charset="-127"/>
            </a:endParaRPr>
          </a:p>
        </p:txBody>
      </p:sp>
      <p:sp>
        <p:nvSpPr>
          <p:cNvPr id="21" name="TextBox 20">
            <a:extLst>
              <a:ext uri="{FF2B5EF4-FFF2-40B4-BE49-F238E27FC236}">
                <a16:creationId xmlns:a16="http://schemas.microsoft.com/office/drawing/2014/main" id="{8D734EF3-BC95-DC2B-2876-9ECBE0ECE834}"/>
              </a:ext>
            </a:extLst>
          </p:cNvPr>
          <p:cNvSpPr txBox="1"/>
          <p:nvPr/>
        </p:nvSpPr>
        <p:spPr>
          <a:xfrm>
            <a:off x="1412450" y="3669047"/>
            <a:ext cx="1660688" cy="274143"/>
          </a:xfrm>
          <a:prstGeom prst="rect">
            <a:avLst/>
          </a:prstGeom>
          <a:noFill/>
        </p:spPr>
        <p:txBody>
          <a:bodyPr wrap="square" rtlCol="0">
            <a:spAutoFit/>
          </a:bodyPr>
          <a:lstStyle/>
          <a:p>
            <a:r>
              <a:rPr lang="en-US" altLang="ko-KR" sz="1188" dirty="0">
                <a:latin typeface="Arial Narrow" panose="020B0606020202030204" pitchFamily="34" charset="0"/>
                <a:ea typeface="LG스마트체 Regular" panose="020B0600000101010101" pitchFamily="50" charset="-127"/>
              </a:rPr>
              <a:t># 27-2</a:t>
            </a:r>
            <a:r>
              <a:rPr lang="ko-KR" altLang="en-US" sz="1188" dirty="0">
                <a:latin typeface="Arial Narrow" panose="020B0606020202030204" pitchFamily="34" charset="0"/>
                <a:ea typeface="LG스마트체 Regular" panose="020B0600000101010101" pitchFamily="50" charset="-127"/>
              </a:rPr>
              <a:t>호 불량 ↑ </a:t>
            </a:r>
          </a:p>
        </p:txBody>
      </p:sp>
      <p:sp>
        <p:nvSpPr>
          <p:cNvPr id="22" name="TextBox 21">
            <a:extLst>
              <a:ext uri="{FF2B5EF4-FFF2-40B4-BE49-F238E27FC236}">
                <a16:creationId xmlns:a16="http://schemas.microsoft.com/office/drawing/2014/main" id="{A3955103-A8E0-C884-A0B8-E49B72F61593}"/>
              </a:ext>
            </a:extLst>
          </p:cNvPr>
          <p:cNvSpPr txBox="1"/>
          <p:nvPr/>
        </p:nvSpPr>
        <p:spPr>
          <a:xfrm>
            <a:off x="5607095" y="1926296"/>
            <a:ext cx="759644" cy="304604"/>
          </a:xfrm>
          <a:prstGeom prst="rect">
            <a:avLst/>
          </a:prstGeom>
          <a:noFill/>
        </p:spPr>
        <p:txBody>
          <a:bodyPr wrap="square" rtlCol="0">
            <a:spAutoFit/>
          </a:bodyPr>
          <a:lstStyle/>
          <a:p>
            <a:r>
              <a:rPr lang="en-US" altLang="ko-KR" sz="1386" dirty="0">
                <a:latin typeface="Arial Narrow" panose="020B0606020202030204" pitchFamily="34" charset="0"/>
                <a:ea typeface="LG스마트체 Regular" panose="020B0600000101010101" pitchFamily="50" charset="-127"/>
              </a:rPr>
              <a:t>MS2</a:t>
            </a:r>
            <a:r>
              <a:rPr lang="ko-KR" altLang="en-US" sz="1386" dirty="0">
                <a:latin typeface="Arial Narrow" panose="020B0606020202030204" pitchFamily="34" charset="0"/>
                <a:ea typeface="LG스마트체 Regular" panose="020B0600000101010101" pitchFamily="50" charset="-127"/>
              </a:rPr>
              <a:t>번</a:t>
            </a:r>
          </a:p>
        </p:txBody>
      </p:sp>
      <p:sp>
        <p:nvSpPr>
          <p:cNvPr id="23" name="TextBox 22">
            <a:extLst>
              <a:ext uri="{FF2B5EF4-FFF2-40B4-BE49-F238E27FC236}">
                <a16:creationId xmlns:a16="http://schemas.microsoft.com/office/drawing/2014/main" id="{E2BDCA4A-DB0F-A8B8-DA57-A502F51B85D8}"/>
              </a:ext>
            </a:extLst>
          </p:cNvPr>
          <p:cNvSpPr txBox="1"/>
          <p:nvPr/>
        </p:nvSpPr>
        <p:spPr>
          <a:xfrm>
            <a:off x="5607095" y="2339283"/>
            <a:ext cx="759644" cy="304604"/>
          </a:xfrm>
          <a:prstGeom prst="rect">
            <a:avLst/>
          </a:prstGeom>
          <a:noFill/>
        </p:spPr>
        <p:txBody>
          <a:bodyPr wrap="square" rtlCol="0">
            <a:spAutoFit/>
          </a:bodyPr>
          <a:lstStyle/>
          <a:p>
            <a:r>
              <a:rPr lang="en-US" altLang="ko-KR" sz="1386" dirty="0">
                <a:latin typeface="Arial Narrow" panose="020B0606020202030204" pitchFamily="34" charset="0"/>
                <a:ea typeface="LG스마트체 Regular" panose="020B0600000101010101" pitchFamily="50" charset="-127"/>
              </a:rPr>
              <a:t>MS3</a:t>
            </a:r>
            <a:r>
              <a:rPr lang="ko-KR" altLang="en-US" sz="1386" dirty="0">
                <a:latin typeface="Arial Narrow" panose="020B0606020202030204" pitchFamily="34" charset="0"/>
                <a:ea typeface="LG스마트체 Regular" panose="020B0600000101010101" pitchFamily="50" charset="-127"/>
              </a:rPr>
              <a:t>번</a:t>
            </a:r>
          </a:p>
        </p:txBody>
      </p:sp>
      <p:sp>
        <p:nvSpPr>
          <p:cNvPr id="24" name="TextBox 23">
            <a:extLst>
              <a:ext uri="{FF2B5EF4-FFF2-40B4-BE49-F238E27FC236}">
                <a16:creationId xmlns:a16="http://schemas.microsoft.com/office/drawing/2014/main" id="{4E539E16-E27E-9719-F555-DC42B5A6DE68}"/>
              </a:ext>
            </a:extLst>
          </p:cNvPr>
          <p:cNvSpPr txBox="1"/>
          <p:nvPr/>
        </p:nvSpPr>
        <p:spPr>
          <a:xfrm>
            <a:off x="4213782" y="3466767"/>
            <a:ext cx="2778438" cy="274143"/>
          </a:xfrm>
          <a:prstGeom prst="rect">
            <a:avLst/>
          </a:prstGeom>
          <a:noFill/>
        </p:spPr>
        <p:txBody>
          <a:bodyPr wrap="square" rtlCol="0">
            <a:spAutoFit/>
          </a:bodyPr>
          <a:lstStyle/>
          <a:p>
            <a:r>
              <a:rPr lang="en-US" altLang="ko-KR" sz="1188" dirty="0">
                <a:latin typeface="Arial Narrow" panose="020B0606020202030204" pitchFamily="34" charset="0"/>
                <a:ea typeface="LG스마트체 Regular" panose="020B0600000101010101" pitchFamily="50" charset="-127"/>
              </a:rPr>
              <a:t>* </a:t>
            </a:r>
            <a:r>
              <a:rPr lang="ko-KR" altLang="en-US" sz="1188" dirty="0">
                <a:latin typeface="Arial Narrow" panose="020B0606020202030204" pitchFamily="34" charset="0"/>
                <a:ea typeface="LG스마트체 Regular" panose="020B0600000101010101" pitchFamily="50" charset="-127"/>
              </a:rPr>
              <a:t>특정 </a:t>
            </a:r>
            <a:r>
              <a:rPr lang="en-US" altLang="ko-KR" sz="1188" dirty="0">
                <a:latin typeface="Arial Narrow" panose="020B0606020202030204" pitchFamily="34" charset="0"/>
                <a:ea typeface="LG스마트체 Regular" panose="020B0600000101010101" pitchFamily="50" charset="-127"/>
              </a:rPr>
              <a:t>Pitch C/V</a:t>
            </a:r>
            <a:r>
              <a:rPr lang="ko-KR" altLang="en-US" sz="1188" dirty="0">
                <a:latin typeface="Arial Narrow" panose="020B0606020202030204" pitchFamily="34" charset="0"/>
                <a:ea typeface="LG스마트체 Regular" panose="020B0600000101010101" pitchFamily="50" charset="-127"/>
              </a:rPr>
              <a:t>와의 관련성 ↓ </a:t>
            </a:r>
          </a:p>
        </p:txBody>
      </p:sp>
      <p:sp>
        <p:nvSpPr>
          <p:cNvPr id="25" name="TextBox 36">
            <a:extLst>
              <a:ext uri="{FF2B5EF4-FFF2-40B4-BE49-F238E27FC236}">
                <a16:creationId xmlns:a16="http://schemas.microsoft.com/office/drawing/2014/main" id="{B4596DBC-1199-4F16-8B5E-6488A1A4FFD3}"/>
              </a:ext>
            </a:extLst>
          </p:cNvPr>
          <p:cNvSpPr txBox="1"/>
          <p:nvPr/>
        </p:nvSpPr>
        <p:spPr>
          <a:xfrm>
            <a:off x="7500022" y="143108"/>
            <a:ext cx="2171325" cy="36824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04982" latinLnBrk="1">
              <a:lnSpc>
                <a:spcPts val="1089"/>
              </a:lnSpc>
              <a:defRPr/>
            </a:pPr>
            <a:r>
              <a:rPr lang="ko-KR" altLang="en-US" sz="891" dirty="0">
                <a:solidFill>
                  <a:prstClr val="black"/>
                </a:solidFill>
                <a:latin typeface="Arial Narrow" panose="020B0606020202030204" pitchFamily="34" charset="0"/>
                <a:ea typeface="LG스마트체 Regular" panose="020B0600000101010101" pitchFamily="50" charset="-127"/>
              </a:rPr>
              <a:t>작성자 </a:t>
            </a:r>
            <a:r>
              <a:rPr lang="en-US" altLang="ko-KR" sz="891" dirty="0">
                <a:solidFill>
                  <a:prstClr val="black"/>
                </a:solidFill>
                <a:latin typeface="Arial Narrow" panose="020B0606020202030204" pitchFamily="34" charset="0"/>
                <a:ea typeface="LG스마트체 Regular" panose="020B0600000101010101" pitchFamily="50" charset="-127"/>
              </a:rPr>
              <a:t>: </a:t>
            </a:r>
            <a:r>
              <a:rPr lang="ko-KR" altLang="en-US" sz="891" dirty="0">
                <a:solidFill>
                  <a:prstClr val="black"/>
                </a:solidFill>
                <a:latin typeface="Arial Narrow" panose="020B0606020202030204" pitchFamily="34" charset="0"/>
                <a:ea typeface="LG스마트체 Regular" panose="020B0600000101010101" pitchFamily="50" charset="-127"/>
              </a:rPr>
              <a:t>제조빅데이터분석</a:t>
            </a:r>
            <a:r>
              <a:rPr lang="en-US" altLang="ko-KR" sz="891" dirty="0">
                <a:solidFill>
                  <a:prstClr val="black"/>
                </a:solidFill>
                <a:latin typeface="Arial Narrow" panose="020B0606020202030204" pitchFamily="34" charset="0"/>
                <a:ea typeface="LG스마트체 Regular" panose="020B0600000101010101" pitchFamily="50" charset="-127"/>
              </a:rPr>
              <a:t>1</a:t>
            </a:r>
            <a:r>
              <a:rPr lang="ko-KR" altLang="en-US" sz="891" dirty="0">
                <a:solidFill>
                  <a:prstClr val="black"/>
                </a:solidFill>
                <a:latin typeface="Arial Narrow" panose="020B0606020202030204" pitchFamily="34" charset="0"/>
                <a:ea typeface="LG스마트체 Regular" panose="020B0600000101010101" pitchFamily="50" charset="-127"/>
              </a:rPr>
              <a:t>팀 </a:t>
            </a:r>
            <a:r>
              <a:rPr lang="ko-KR" altLang="en-US" sz="891" dirty="0" err="1">
                <a:solidFill>
                  <a:prstClr val="black"/>
                </a:solidFill>
                <a:latin typeface="Arial Narrow" panose="020B0606020202030204" pitchFamily="34" charset="0"/>
                <a:ea typeface="LG스마트체 Regular" panose="020B0600000101010101" pitchFamily="50" charset="-127"/>
              </a:rPr>
              <a:t>박위대</a:t>
            </a:r>
            <a:r>
              <a:rPr lang="ko-KR" altLang="en-US" sz="891" dirty="0">
                <a:solidFill>
                  <a:prstClr val="black"/>
                </a:solidFill>
                <a:latin typeface="Arial Narrow" panose="020B0606020202030204" pitchFamily="34" charset="0"/>
                <a:ea typeface="LG스마트체 Regular" panose="020B0600000101010101" pitchFamily="50" charset="-127"/>
              </a:rPr>
              <a:t> 팀장</a:t>
            </a:r>
            <a:br>
              <a:rPr lang="en-US" altLang="ko-KR" sz="891" dirty="0">
                <a:solidFill>
                  <a:prstClr val="black"/>
                </a:solidFill>
                <a:latin typeface="Arial Narrow" panose="020B0606020202030204" pitchFamily="34" charset="0"/>
                <a:ea typeface="LG스마트체 Regular" panose="020B0600000101010101" pitchFamily="50" charset="-127"/>
              </a:rPr>
            </a:br>
            <a:r>
              <a:rPr lang="ko-KR" altLang="en-US" sz="891" dirty="0">
                <a:solidFill>
                  <a:prstClr val="black"/>
                </a:solidFill>
                <a:latin typeface="Arial Narrow" panose="020B0606020202030204" pitchFamily="34" charset="0"/>
                <a:ea typeface="LG스마트체 Regular" panose="020B0600000101010101" pitchFamily="50" charset="-127"/>
              </a:rPr>
              <a:t>작성일자 </a:t>
            </a:r>
            <a:r>
              <a:rPr lang="en-US" altLang="ko-KR" sz="891" dirty="0">
                <a:solidFill>
                  <a:prstClr val="black"/>
                </a:solidFill>
                <a:latin typeface="Arial Narrow" panose="020B0606020202030204" pitchFamily="34" charset="0"/>
                <a:ea typeface="LG스마트체 Regular" panose="020B0600000101010101" pitchFamily="50" charset="-127"/>
              </a:rPr>
              <a:t>: 26.09.01</a:t>
            </a:r>
          </a:p>
        </p:txBody>
      </p:sp>
      <p:sp>
        <p:nvSpPr>
          <p:cNvPr id="27" name="TextBox 26">
            <a:extLst>
              <a:ext uri="{FF2B5EF4-FFF2-40B4-BE49-F238E27FC236}">
                <a16:creationId xmlns:a16="http://schemas.microsoft.com/office/drawing/2014/main" id="{EEF55E97-8534-0BF6-DF20-D7841C107DFC}"/>
              </a:ext>
            </a:extLst>
          </p:cNvPr>
          <p:cNvSpPr txBox="1"/>
          <p:nvPr/>
        </p:nvSpPr>
        <p:spPr>
          <a:xfrm>
            <a:off x="181588" y="5365274"/>
            <a:ext cx="1150070" cy="243683"/>
          </a:xfrm>
          <a:prstGeom prst="rect">
            <a:avLst/>
          </a:prstGeom>
          <a:noFill/>
        </p:spPr>
        <p:txBody>
          <a:bodyPr wrap="square" rtlCol="0">
            <a:spAutoFit/>
          </a:bodyPr>
          <a:lstStyle/>
          <a:p>
            <a:r>
              <a:rPr lang="en-US" altLang="ko-KR" sz="990" dirty="0">
                <a:latin typeface="Arial Narrow" panose="020B0606020202030204" pitchFamily="34" charset="0"/>
                <a:ea typeface="LG스마트체 Regular" panose="020B0600000101010101" pitchFamily="50" charset="-127"/>
              </a:rPr>
              <a:t>Gripper</a:t>
            </a:r>
            <a:endParaRPr lang="ko-KR" altLang="en-US" sz="990" dirty="0">
              <a:latin typeface="Arial Narrow" panose="020B0606020202030204" pitchFamily="34" charset="0"/>
              <a:ea typeface="LG스마트체 Regular" panose="020B0600000101010101" pitchFamily="50" charset="-127"/>
            </a:endParaRPr>
          </a:p>
        </p:txBody>
      </p:sp>
      <p:sp>
        <p:nvSpPr>
          <p:cNvPr id="29" name="TextBox 28">
            <a:extLst>
              <a:ext uri="{FF2B5EF4-FFF2-40B4-BE49-F238E27FC236}">
                <a16:creationId xmlns:a16="http://schemas.microsoft.com/office/drawing/2014/main" id="{7292E2C0-1538-D8C3-E53C-35D639CAA46B}"/>
              </a:ext>
            </a:extLst>
          </p:cNvPr>
          <p:cNvSpPr txBox="1"/>
          <p:nvPr/>
        </p:nvSpPr>
        <p:spPr>
          <a:xfrm>
            <a:off x="7092884" y="1435955"/>
            <a:ext cx="1150070" cy="243683"/>
          </a:xfrm>
          <a:prstGeom prst="rect">
            <a:avLst/>
          </a:prstGeom>
          <a:noFill/>
        </p:spPr>
        <p:txBody>
          <a:bodyPr wrap="square" rtlCol="0">
            <a:spAutoFit/>
          </a:bodyPr>
          <a:lstStyle/>
          <a:p>
            <a:r>
              <a:rPr lang="en-US" altLang="ko-KR" sz="990" dirty="0">
                <a:latin typeface="Arial Narrow" panose="020B0606020202030204" pitchFamily="34" charset="0"/>
                <a:ea typeface="LG스마트체 Regular" panose="020B0600000101010101" pitchFamily="50" charset="-127"/>
              </a:rPr>
              <a:t>Gripper</a:t>
            </a:r>
            <a:endParaRPr lang="ko-KR" altLang="en-US" sz="990" dirty="0">
              <a:latin typeface="Arial Narrow" panose="020B0606020202030204" pitchFamily="34" charset="0"/>
              <a:ea typeface="LG스마트체 Regular" panose="020B0600000101010101" pitchFamily="50" charset="-127"/>
            </a:endParaRPr>
          </a:p>
        </p:txBody>
      </p:sp>
      <p:sp>
        <p:nvSpPr>
          <p:cNvPr id="30" name="TextBox 29">
            <a:extLst>
              <a:ext uri="{FF2B5EF4-FFF2-40B4-BE49-F238E27FC236}">
                <a16:creationId xmlns:a16="http://schemas.microsoft.com/office/drawing/2014/main" id="{C8E0B181-07AE-8281-EF35-726496D1E5D4}"/>
              </a:ext>
            </a:extLst>
          </p:cNvPr>
          <p:cNvSpPr txBox="1"/>
          <p:nvPr/>
        </p:nvSpPr>
        <p:spPr>
          <a:xfrm>
            <a:off x="7092884" y="1556501"/>
            <a:ext cx="1150070" cy="243683"/>
          </a:xfrm>
          <a:prstGeom prst="rect">
            <a:avLst/>
          </a:prstGeom>
          <a:noFill/>
        </p:spPr>
        <p:txBody>
          <a:bodyPr wrap="square" rtlCol="0">
            <a:spAutoFit/>
          </a:bodyPr>
          <a:lstStyle/>
          <a:p>
            <a:r>
              <a:rPr lang="en-US" altLang="ko-KR" sz="990" dirty="0">
                <a:latin typeface="Arial Narrow" panose="020B0606020202030204" pitchFamily="34" charset="0"/>
                <a:ea typeface="LG스마트체 Regular" panose="020B0600000101010101" pitchFamily="50" charset="-127"/>
              </a:rPr>
              <a:t>Table</a:t>
            </a:r>
            <a:endParaRPr lang="ko-KR" altLang="en-US" sz="990" dirty="0">
              <a:latin typeface="Arial Narrow" panose="020B0606020202030204" pitchFamily="34" charset="0"/>
              <a:ea typeface="LG스마트체 Regular" panose="020B0600000101010101" pitchFamily="50" charset="-127"/>
            </a:endParaRPr>
          </a:p>
        </p:txBody>
      </p:sp>
      <p:sp>
        <p:nvSpPr>
          <p:cNvPr id="31" name="TextBox 30">
            <a:extLst>
              <a:ext uri="{FF2B5EF4-FFF2-40B4-BE49-F238E27FC236}">
                <a16:creationId xmlns:a16="http://schemas.microsoft.com/office/drawing/2014/main" id="{89794036-8531-840E-72B5-599C31CAF4C1}"/>
              </a:ext>
            </a:extLst>
          </p:cNvPr>
          <p:cNvSpPr txBox="1"/>
          <p:nvPr/>
        </p:nvSpPr>
        <p:spPr>
          <a:xfrm>
            <a:off x="3638747" y="1490572"/>
            <a:ext cx="1150070" cy="395985"/>
          </a:xfrm>
          <a:prstGeom prst="rect">
            <a:avLst/>
          </a:prstGeom>
          <a:noFill/>
        </p:spPr>
        <p:txBody>
          <a:bodyPr wrap="square" rtlCol="0">
            <a:spAutoFit/>
          </a:bodyPr>
          <a:lstStyle/>
          <a:p>
            <a:r>
              <a:rPr lang="ko-KR" altLang="en-US" sz="990" dirty="0">
                <a:latin typeface="Arial Narrow" panose="020B0606020202030204" pitchFamily="34" charset="0"/>
                <a:ea typeface="LG스마트체 Regular" panose="020B0600000101010101" pitchFamily="50" charset="-127"/>
              </a:rPr>
              <a:t>모노셀 </a:t>
            </a:r>
            <a:br>
              <a:rPr lang="en-US" altLang="ko-KR" sz="990" dirty="0">
                <a:latin typeface="Arial Narrow" panose="020B0606020202030204" pitchFamily="34" charset="0"/>
                <a:ea typeface="LG스마트체 Regular" panose="020B0600000101010101" pitchFamily="50" charset="-127"/>
              </a:rPr>
            </a:br>
            <a:r>
              <a:rPr lang="ko-KR" altLang="en-US" sz="990" dirty="0">
                <a:latin typeface="Arial Narrow" panose="020B0606020202030204" pitchFamily="34" charset="0"/>
                <a:ea typeface="LG스마트체 Regular" panose="020B0600000101010101" pitchFamily="50" charset="-127"/>
              </a:rPr>
              <a:t>위치</a:t>
            </a:r>
          </a:p>
        </p:txBody>
      </p:sp>
      <p:sp>
        <p:nvSpPr>
          <p:cNvPr id="32" name="TextBox 31">
            <a:extLst>
              <a:ext uri="{FF2B5EF4-FFF2-40B4-BE49-F238E27FC236}">
                <a16:creationId xmlns:a16="http://schemas.microsoft.com/office/drawing/2014/main" id="{1932A1F5-EF6B-6E0F-6DCD-FD6BBD0F4030}"/>
              </a:ext>
            </a:extLst>
          </p:cNvPr>
          <p:cNvSpPr txBox="1"/>
          <p:nvPr/>
        </p:nvSpPr>
        <p:spPr>
          <a:xfrm>
            <a:off x="6175118" y="1678150"/>
            <a:ext cx="1150070" cy="243683"/>
          </a:xfrm>
          <a:prstGeom prst="rect">
            <a:avLst/>
          </a:prstGeom>
          <a:noFill/>
        </p:spPr>
        <p:txBody>
          <a:bodyPr wrap="square" rtlCol="0">
            <a:spAutoFit/>
          </a:bodyPr>
          <a:lstStyle/>
          <a:p>
            <a:r>
              <a:rPr lang="en-US" altLang="ko-KR" sz="990" dirty="0">
                <a:latin typeface="Arial Narrow" panose="020B0606020202030204" pitchFamily="34" charset="0"/>
                <a:ea typeface="LG스마트체 Regular" panose="020B0600000101010101" pitchFamily="50" charset="-127"/>
              </a:rPr>
              <a:t>Table</a:t>
            </a:r>
            <a:endParaRPr lang="ko-KR" altLang="en-US" sz="990" dirty="0">
              <a:latin typeface="Arial Narrow" panose="020B0606020202030204" pitchFamily="34" charset="0"/>
              <a:ea typeface="LG스마트체 Regular" panose="020B0600000101010101" pitchFamily="50" charset="-127"/>
            </a:endParaRPr>
          </a:p>
        </p:txBody>
      </p:sp>
      <p:sp>
        <p:nvSpPr>
          <p:cNvPr id="5" name="실행 단추: 홈으로 이동 4">
            <a:hlinkClick r:id="rId3" action="ppaction://hlinksldjump" highlightClick="1"/>
            <a:extLst>
              <a:ext uri="{FF2B5EF4-FFF2-40B4-BE49-F238E27FC236}">
                <a16:creationId xmlns:a16="http://schemas.microsoft.com/office/drawing/2014/main" id="{BB3A1F85-F44B-0015-2B6C-3ADB1D7C2C70}"/>
              </a:ext>
            </a:extLst>
          </p:cNvPr>
          <p:cNvSpPr/>
          <p:nvPr/>
        </p:nvSpPr>
        <p:spPr>
          <a:xfrm>
            <a:off x="9588683" y="117390"/>
            <a:ext cx="252000" cy="252000"/>
          </a:xfrm>
          <a:prstGeom prst="actionButtonHome">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맑은 고딕"/>
              <a:ea typeface="맑은 고딕" panose="020B0503020000020004" pitchFamily="50" charset="-127"/>
              <a:cs typeface="+mn-cs"/>
            </a:endParaRPr>
          </a:p>
        </p:txBody>
      </p:sp>
      <p:sp>
        <p:nvSpPr>
          <p:cNvPr id="3" name="TextBox 2">
            <a:extLst>
              <a:ext uri="{FF2B5EF4-FFF2-40B4-BE49-F238E27FC236}">
                <a16:creationId xmlns:a16="http://schemas.microsoft.com/office/drawing/2014/main" id="{5068B9AC-F79B-EA53-1450-3B5C96C220E9}"/>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- 5 / 10 -</a:t>
            </a:r>
          </a:p>
        </p:txBody>
      </p:sp>
    </p:spTree>
    <p:extLst>
      <p:ext uri="{BB962C8B-B14F-4D97-AF65-F5344CB8AC3E}">
        <p14:creationId xmlns:p14="http://schemas.microsoft.com/office/powerpoint/2010/main" val="1205691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752D6-C405-BA56-9A41-CE5683313F45}"/>
            </a:ext>
          </a:extLst>
        </p:cNvPr>
        <p:cNvGrpSpPr/>
        <p:nvPr/>
      </p:nvGrpSpPr>
      <p:grpSpPr>
        <a:xfrm>
          <a:off x="0" y="0"/>
          <a:ext cx="0" cy="0"/>
          <a:chOff x="0" y="0"/>
          <a:chExt cx="0" cy="0"/>
        </a:xfrm>
      </p:grpSpPr>
      <p:graphicFrame>
        <p:nvGraphicFramePr>
          <p:cNvPr id="17" name="표 16">
            <a:extLst>
              <a:ext uri="{FF2B5EF4-FFF2-40B4-BE49-F238E27FC236}">
                <a16:creationId xmlns:a16="http://schemas.microsoft.com/office/drawing/2014/main" id="{BA19D778-68B8-DCB0-2089-5A14303E2CBE}"/>
              </a:ext>
            </a:extLst>
          </p:cNvPr>
          <p:cNvGraphicFramePr>
            <a:graphicFrameLocks noGrp="1"/>
          </p:cNvGraphicFramePr>
          <p:nvPr>
            <p:extLst>
              <p:ext uri="{D42A27DB-BD31-4B8C-83A1-F6EECF244321}">
                <p14:modId xmlns:p14="http://schemas.microsoft.com/office/powerpoint/2010/main" val="2857220038"/>
              </p:ext>
            </p:extLst>
          </p:nvPr>
        </p:nvGraphicFramePr>
        <p:xfrm>
          <a:off x="228645" y="1504828"/>
          <a:ext cx="9438541" cy="4742094"/>
        </p:xfrm>
        <a:graphic>
          <a:graphicData uri="http://schemas.openxmlformats.org/drawingml/2006/table">
            <a:tbl>
              <a:tblPr/>
              <a:tblGrid>
                <a:gridCol w="306111">
                  <a:extLst>
                    <a:ext uri="{9D8B030D-6E8A-4147-A177-3AD203B41FA5}">
                      <a16:colId xmlns:a16="http://schemas.microsoft.com/office/drawing/2014/main" val="1672011891"/>
                    </a:ext>
                  </a:extLst>
                </a:gridCol>
                <a:gridCol w="686282">
                  <a:extLst>
                    <a:ext uri="{9D8B030D-6E8A-4147-A177-3AD203B41FA5}">
                      <a16:colId xmlns:a16="http://schemas.microsoft.com/office/drawing/2014/main" val="3492693704"/>
                    </a:ext>
                  </a:extLst>
                </a:gridCol>
                <a:gridCol w="284715">
                  <a:extLst>
                    <a:ext uri="{9D8B030D-6E8A-4147-A177-3AD203B41FA5}">
                      <a16:colId xmlns:a16="http://schemas.microsoft.com/office/drawing/2014/main" val="691838583"/>
                    </a:ext>
                  </a:extLst>
                </a:gridCol>
                <a:gridCol w="284715">
                  <a:extLst>
                    <a:ext uri="{9D8B030D-6E8A-4147-A177-3AD203B41FA5}">
                      <a16:colId xmlns:a16="http://schemas.microsoft.com/office/drawing/2014/main" val="2827083301"/>
                    </a:ext>
                  </a:extLst>
                </a:gridCol>
                <a:gridCol w="284715">
                  <a:extLst>
                    <a:ext uri="{9D8B030D-6E8A-4147-A177-3AD203B41FA5}">
                      <a16:colId xmlns:a16="http://schemas.microsoft.com/office/drawing/2014/main" val="2364940524"/>
                    </a:ext>
                  </a:extLst>
                </a:gridCol>
                <a:gridCol w="284715">
                  <a:extLst>
                    <a:ext uri="{9D8B030D-6E8A-4147-A177-3AD203B41FA5}">
                      <a16:colId xmlns:a16="http://schemas.microsoft.com/office/drawing/2014/main" val="3113476801"/>
                    </a:ext>
                  </a:extLst>
                </a:gridCol>
                <a:gridCol w="284715">
                  <a:extLst>
                    <a:ext uri="{9D8B030D-6E8A-4147-A177-3AD203B41FA5}">
                      <a16:colId xmlns:a16="http://schemas.microsoft.com/office/drawing/2014/main" val="1574356366"/>
                    </a:ext>
                  </a:extLst>
                </a:gridCol>
                <a:gridCol w="284715">
                  <a:extLst>
                    <a:ext uri="{9D8B030D-6E8A-4147-A177-3AD203B41FA5}">
                      <a16:colId xmlns:a16="http://schemas.microsoft.com/office/drawing/2014/main" val="1144253663"/>
                    </a:ext>
                  </a:extLst>
                </a:gridCol>
                <a:gridCol w="212729">
                  <a:extLst>
                    <a:ext uri="{9D8B030D-6E8A-4147-A177-3AD203B41FA5}">
                      <a16:colId xmlns:a16="http://schemas.microsoft.com/office/drawing/2014/main" val="1734248442"/>
                    </a:ext>
                  </a:extLst>
                </a:gridCol>
                <a:gridCol w="264968">
                  <a:extLst>
                    <a:ext uri="{9D8B030D-6E8A-4147-A177-3AD203B41FA5}">
                      <a16:colId xmlns:a16="http://schemas.microsoft.com/office/drawing/2014/main" val="1241750245"/>
                    </a:ext>
                  </a:extLst>
                </a:gridCol>
                <a:gridCol w="288008">
                  <a:extLst>
                    <a:ext uri="{9D8B030D-6E8A-4147-A177-3AD203B41FA5}">
                      <a16:colId xmlns:a16="http://schemas.microsoft.com/office/drawing/2014/main" val="3735793761"/>
                    </a:ext>
                  </a:extLst>
                </a:gridCol>
                <a:gridCol w="288008">
                  <a:extLst>
                    <a:ext uri="{9D8B030D-6E8A-4147-A177-3AD203B41FA5}">
                      <a16:colId xmlns:a16="http://schemas.microsoft.com/office/drawing/2014/main" val="1355339240"/>
                    </a:ext>
                  </a:extLst>
                </a:gridCol>
                <a:gridCol w="269904">
                  <a:extLst>
                    <a:ext uri="{9D8B030D-6E8A-4147-A177-3AD203B41FA5}">
                      <a16:colId xmlns:a16="http://schemas.microsoft.com/office/drawing/2014/main" val="3017280593"/>
                    </a:ext>
                  </a:extLst>
                </a:gridCol>
                <a:gridCol w="240281">
                  <a:extLst>
                    <a:ext uri="{9D8B030D-6E8A-4147-A177-3AD203B41FA5}">
                      <a16:colId xmlns:a16="http://schemas.microsoft.com/office/drawing/2014/main" val="3927225516"/>
                    </a:ext>
                  </a:extLst>
                </a:gridCol>
                <a:gridCol w="235344">
                  <a:extLst>
                    <a:ext uri="{9D8B030D-6E8A-4147-A177-3AD203B41FA5}">
                      <a16:colId xmlns:a16="http://schemas.microsoft.com/office/drawing/2014/main" val="3741243205"/>
                    </a:ext>
                  </a:extLst>
                </a:gridCol>
                <a:gridCol w="240281">
                  <a:extLst>
                    <a:ext uri="{9D8B030D-6E8A-4147-A177-3AD203B41FA5}">
                      <a16:colId xmlns:a16="http://schemas.microsoft.com/office/drawing/2014/main" val="2682041418"/>
                    </a:ext>
                  </a:extLst>
                </a:gridCol>
                <a:gridCol w="240281">
                  <a:extLst>
                    <a:ext uri="{9D8B030D-6E8A-4147-A177-3AD203B41FA5}">
                      <a16:colId xmlns:a16="http://schemas.microsoft.com/office/drawing/2014/main" val="569693193"/>
                    </a:ext>
                  </a:extLst>
                </a:gridCol>
                <a:gridCol w="240281">
                  <a:extLst>
                    <a:ext uri="{9D8B030D-6E8A-4147-A177-3AD203B41FA5}">
                      <a16:colId xmlns:a16="http://schemas.microsoft.com/office/drawing/2014/main" val="1680739030"/>
                    </a:ext>
                  </a:extLst>
                </a:gridCol>
                <a:gridCol w="240281">
                  <a:extLst>
                    <a:ext uri="{9D8B030D-6E8A-4147-A177-3AD203B41FA5}">
                      <a16:colId xmlns:a16="http://schemas.microsoft.com/office/drawing/2014/main" val="1641903524"/>
                    </a:ext>
                  </a:extLst>
                </a:gridCol>
                <a:gridCol w="125996">
                  <a:extLst>
                    <a:ext uri="{9D8B030D-6E8A-4147-A177-3AD203B41FA5}">
                      <a16:colId xmlns:a16="http://schemas.microsoft.com/office/drawing/2014/main" val="2925207400"/>
                    </a:ext>
                  </a:extLst>
                </a:gridCol>
                <a:gridCol w="306111">
                  <a:extLst>
                    <a:ext uri="{9D8B030D-6E8A-4147-A177-3AD203B41FA5}">
                      <a16:colId xmlns:a16="http://schemas.microsoft.com/office/drawing/2014/main" val="1246687474"/>
                    </a:ext>
                  </a:extLst>
                </a:gridCol>
                <a:gridCol w="686282">
                  <a:extLst>
                    <a:ext uri="{9D8B030D-6E8A-4147-A177-3AD203B41FA5}">
                      <a16:colId xmlns:a16="http://schemas.microsoft.com/office/drawing/2014/main" val="3427489150"/>
                    </a:ext>
                  </a:extLst>
                </a:gridCol>
                <a:gridCol w="284715">
                  <a:extLst>
                    <a:ext uri="{9D8B030D-6E8A-4147-A177-3AD203B41FA5}">
                      <a16:colId xmlns:a16="http://schemas.microsoft.com/office/drawing/2014/main" val="1433096938"/>
                    </a:ext>
                  </a:extLst>
                </a:gridCol>
                <a:gridCol w="284715">
                  <a:extLst>
                    <a:ext uri="{9D8B030D-6E8A-4147-A177-3AD203B41FA5}">
                      <a16:colId xmlns:a16="http://schemas.microsoft.com/office/drawing/2014/main" val="2006734269"/>
                    </a:ext>
                  </a:extLst>
                </a:gridCol>
                <a:gridCol w="284715">
                  <a:extLst>
                    <a:ext uri="{9D8B030D-6E8A-4147-A177-3AD203B41FA5}">
                      <a16:colId xmlns:a16="http://schemas.microsoft.com/office/drawing/2014/main" val="883252184"/>
                    </a:ext>
                  </a:extLst>
                </a:gridCol>
                <a:gridCol w="284715">
                  <a:extLst>
                    <a:ext uri="{9D8B030D-6E8A-4147-A177-3AD203B41FA5}">
                      <a16:colId xmlns:a16="http://schemas.microsoft.com/office/drawing/2014/main" val="3849892306"/>
                    </a:ext>
                  </a:extLst>
                </a:gridCol>
                <a:gridCol w="312694">
                  <a:extLst>
                    <a:ext uri="{9D8B030D-6E8A-4147-A177-3AD203B41FA5}">
                      <a16:colId xmlns:a16="http://schemas.microsoft.com/office/drawing/2014/main" val="2712583529"/>
                    </a:ext>
                  </a:extLst>
                </a:gridCol>
                <a:gridCol w="284715">
                  <a:extLst>
                    <a:ext uri="{9D8B030D-6E8A-4147-A177-3AD203B41FA5}">
                      <a16:colId xmlns:a16="http://schemas.microsoft.com/office/drawing/2014/main" val="804076631"/>
                    </a:ext>
                  </a:extLst>
                </a:gridCol>
                <a:gridCol w="212729">
                  <a:extLst>
                    <a:ext uri="{9D8B030D-6E8A-4147-A177-3AD203B41FA5}">
                      <a16:colId xmlns:a16="http://schemas.microsoft.com/office/drawing/2014/main" val="1487748159"/>
                    </a:ext>
                  </a:extLst>
                </a:gridCol>
                <a:gridCol w="230406">
                  <a:extLst>
                    <a:ext uri="{9D8B030D-6E8A-4147-A177-3AD203B41FA5}">
                      <a16:colId xmlns:a16="http://schemas.microsoft.com/office/drawing/2014/main" val="1966599494"/>
                    </a:ext>
                  </a:extLst>
                </a:gridCol>
                <a:gridCol w="245219">
                  <a:extLst>
                    <a:ext uri="{9D8B030D-6E8A-4147-A177-3AD203B41FA5}">
                      <a16:colId xmlns:a16="http://schemas.microsoft.com/office/drawing/2014/main" val="2250794802"/>
                    </a:ext>
                  </a:extLst>
                </a:gridCol>
                <a:gridCol w="217240">
                  <a:extLst>
                    <a:ext uri="{9D8B030D-6E8A-4147-A177-3AD203B41FA5}">
                      <a16:colId xmlns:a16="http://schemas.microsoft.com/office/drawing/2014/main" val="3806555896"/>
                    </a:ext>
                  </a:extLst>
                </a:gridCol>
                <a:gridCol w="217240">
                  <a:extLst>
                    <a:ext uri="{9D8B030D-6E8A-4147-A177-3AD203B41FA5}">
                      <a16:colId xmlns:a16="http://schemas.microsoft.com/office/drawing/2014/main" val="2813539068"/>
                    </a:ext>
                  </a:extLst>
                </a:gridCol>
              </a:tblGrid>
              <a:tr h="225814">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E77A</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E161A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E72B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E90B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JF2S</a:t>
                      </a:r>
                    </a:p>
                  </a:txBody>
                  <a:tcPr marL="0" marR="0" marT="0"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JF1</a:t>
                      </a:r>
                    </a:p>
                  </a:txBody>
                  <a:tcPr marL="0" marR="0" marT="0"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159574492"/>
                  </a:ext>
                </a:extLst>
              </a:tr>
              <a:tr h="225814">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라미 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596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565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636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620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625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239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68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라미 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61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68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84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81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39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39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298616442"/>
                  </a:ext>
                </a:extLst>
              </a:tr>
              <a:tr h="225814">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라미 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라미 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1.51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319744485"/>
                  </a:ext>
                </a:extLst>
              </a:tr>
              <a:tr h="225814">
                <a:tc rowSpan="6">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endParaRPr lang="en-US" alt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NG Mark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0.44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rowSpan="6">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endParaRPr lang="en-US" alt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NG Mark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ysDot"/>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820150941"/>
                  </a:ext>
                </a:extLst>
              </a:tr>
              <a:tr h="225814">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Position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Position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647910306"/>
                  </a:ext>
                </a:extLst>
              </a:tr>
              <a:tr h="225814">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Position Corcern.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Position Corcern.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FFC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679345496"/>
                  </a:ext>
                </a:extLst>
              </a:tr>
              <a:tr h="225814">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Connection 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Connection 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609664407"/>
                  </a:ext>
                </a:extLst>
              </a:tr>
              <a:tr h="225814">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Processloss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Processloss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66333371"/>
                  </a:ext>
                </a:extLst>
              </a:tr>
              <a:tr h="225814">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Short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Short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875270674"/>
                  </a:ext>
                </a:extLst>
              </a:tr>
              <a:tr h="225814">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40728914"/>
                  </a:ext>
                </a:extLst>
              </a:tr>
              <a:tr h="225814">
                <a:tc gridSpan="2">
                  <a:txBody>
                    <a:bodyPr/>
                    <a:lstStyle/>
                    <a:p>
                      <a:pPr algn="ctr" fontAlgn="ctr"/>
                      <a:r>
                        <a:rPr lang="ko-KR" alt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125281257"/>
                  </a:ext>
                </a:extLst>
              </a:tr>
              <a:tr h="225814">
                <a:tc rowSpan="10">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모델별</a:t>
                      </a:r>
                      <a:b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E77A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1.21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1.27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2.50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rowSpan="3">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모델별</a:t>
                      </a:r>
                      <a:b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JF2S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2.31 </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2.23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2.06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2.08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3270157397"/>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0.81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JF1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2.43 </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1.62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1.61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1.31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1.48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1.20 </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1.08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1.18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1.15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1.04 </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4265039802"/>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E161A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1.54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JP5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1.36 </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1.64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1.30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7353372"/>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0.76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0.51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060695216"/>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1.58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1.07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2047844"/>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920783956"/>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7.65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243521088"/>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71971960"/>
                  </a:ext>
                </a:extLst>
              </a:tr>
              <a:tr h="225814">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E72B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1.55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90007075"/>
                  </a:ext>
                </a:extLst>
              </a:tr>
              <a:tr h="225814">
                <a:tc vMerge="1">
                  <a:txBody>
                    <a:bodyPr/>
                    <a:lstStyle/>
                    <a:p>
                      <a:pPr latinLnBrk="1"/>
                      <a:endParaRPr lang="ko-KR" altLang="en-US"/>
                    </a:p>
                  </a:txBody>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E90B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2.89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ctr"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3.72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1.43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382842834"/>
                  </a:ext>
                </a:extLst>
              </a:tr>
            </a:tbl>
          </a:graphicData>
        </a:graphic>
      </p:graphicFrame>
      <p:sp>
        <p:nvSpPr>
          <p:cNvPr id="6" name="제목 1">
            <a:extLst>
              <a:ext uri="{FF2B5EF4-FFF2-40B4-BE49-F238E27FC236}">
                <a16:creationId xmlns:a16="http://schemas.microsoft.com/office/drawing/2014/main" id="{1509B947-B163-ACD3-6138-8FAAEE27CD85}"/>
              </a:ext>
            </a:extLst>
          </p:cNvPr>
          <p:cNvSpPr txBox="1">
            <a:spLocks/>
          </p:cNvSpPr>
          <p:nvPr/>
        </p:nvSpPr>
        <p:spPr>
          <a:xfrm>
            <a:off x="173460" y="199697"/>
            <a:ext cx="2861009" cy="361664"/>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89564" tIns="44783" rIns="89564" bIns="44783"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47830" latinLnBrk="0">
              <a:defRPr/>
            </a:pPr>
            <a:r>
              <a:rPr lang="ko-KR" altLang="en-US" sz="1763" dirty="0">
                <a:solidFill>
                  <a:prstClr val="black"/>
                </a:solidFill>
                <a:latin typeface="Arial Narrow" panose="020B0606020202030204" pitchFamily="34" charset="0"/>
                <a:ea typeface="LG스마트체 Regular" panose="020B0600000101010101" pitchFamily="50" charset="-127"/>
              </a:rPr>
              <a:t>보조</a:t>
            </a:r>
            <a:r>
              <a:rPr lang="en-US" altLang="ko-KR" sz="1763" dirty="0">
                <a:solidFill>
                  <a:prstClr val="black"/>
                </a:solidFill>
                <a:latin typeface="Arial Narrow" panose="020B0606020202030204" pitchFamily="34" charset="0"/>
                <a:ea typeface="LG스마트체 Regular" panose="020B0600000101010101" pitchFamily="50" charset="-127"/>
              </a:rPr>
              <a:t>. ESWA </a:t>
            </a:r>
            <a:r>
              <a:rPr lang="ko-KR" altLang="en-US" sz="1763" dirty="0">
                <a:solidFill>
                  <a:prstClr val="black"/>
                </a:solidFill>
                <a:latin typeface="Arial Narrow" panose="020B0606020202030204" pitchFamily="34" charset="0"/>
                <a:ea typeface="LG스마트체 Regular" panose="020B0600000101010101" pitchFamily="50" charset="-127"/>
              </a:rPr>
              <a:t>셀 </a:t>
            </a:r>
            <a:r>
              <a:rPr lang="ko-KR" altLang="en-US" sz="1763" dirty="0" err="1">
                <a:solidFill>
                  <a:prstClr val="black"/>
                </a:solidFill>
                <a:latin typeface="Arial Narrow" panose="020B0606020202030204" pitchFamily="34" charset="0"/>
                <a:ea typeface="LG스마트체 Regular" panose="020B0600000101010101" pitchFamily="50" charset="-127"/>
              </a:rPr>
              <a:t>수율</a:t>
            </a:r>
            <a:r>
              <a:rPr lang="ko-KR" altLang="en-US" sz="1763" dirty="0">
                <a:solidFill>
                  <a:prstClr val="black"/>
                </a:solidFill>
                <a:latin typeface="Arial Narrow" panose="020B0606020202030204" pitchFamily="34" charset="0"/>
                <a:ea typeface="LG스마트체 Regular" panose="020B0600000101010101" pitchFamily="50" charset="-127"/>
              </a:rPr>
              <a:t> 현황</a:t>
            </a:r>
            <a:r>
              <a:rPr lang="en-US" altLang="ko-KR" sz="1763" dirty="0">
                <a:solidFill>
                  <a:prstClr val="black"/>
                </a:solidFill>
                <a:latin typeface="Arial Narrow" panose="020B0606020202030204" pitchFamily="34" charset="0"/>
                <a:ea typeface="LG스마트체 Regular" panose="020B0600000101010101" pitchFamily="50" charset="-127"/>
              </a:rPr>
              <a:t>_</a:t>
            </a:r>
            <a:r>
              <a:rPr lang="ko-KR" altLang="en-US" sz="1763" dirty="0" err="1">
                <a:solidFill>
                  <a:prstClr val="black"/>
                </a:solidFill>
                <a:latin typeface="Arial Narrow" panose="020B0606020202030204" pitchFamily="34" charset="0"/>
                <a:ea typeface="LG스마트체 Regular" panose="020B0600000101010101" pitchFamily="50" charset="-127"/>
              </a:rPr>
              <a:t>라미</a:t>
            </a:r>
            <a:endParaRPr lang="ko-KR" altLang="en-US" sz="1763" dirty="0">
              <a:solidFill>
                <a:prstClr val="black"/>
              </a:solidFill>
              <a:latin typeface="Arial Narrow" panose="020B0606020202030204" pitchFamily="34" charset="0"/>
              <a:ea typeface="LG스마트체 Regular" panose="020B0600000101010101" pitchFamily="50" charset="-127"/>
            </a:endParaRPr>
          </a:p>
        </p:txBody>
      </p:sp>
      <p:sp>
        <p:nvSpPr>
          <p:cNvPr id="7" name="TextBox 6">
            <a:extLst>
              <a:ext uri="{FF2B5EF4-FFF2-40B4-BE49-F238E27FC236}">
                <a16:creationId xmlns:a16="http://schemas.microsoft.com/office/drawing/2014/main" id="{1CD4C74A-A1B1-99B4-D4CE-9DF826165385}"/>
              </a:ext>
            </a:extLst>
          </p:cNvPr>
          <p:cNvSpPr txBox="1"/>
          <p:nvPr/>
        </p:nvSpPr>
        <p:spPr>
          <a:xfrm>
            <a:off x="228645" y="678293"/>
            <a:ext cx="9438548" cy="513511"/>
          </a:xfrm>
          <a:prstGeom prst="rect">
            <a:avLst/>
          </a:prstGeom>
          <a:noFill/>
        </p:spPr>
        <p:txBody>
          <a:bodyPr wrap="square" rtlCol="0">
            <a:spAutoFit/>
          </a:bodyPr>
          <a:lstStyle/>
          <a:p>
            <a:pPr defTabSz="447830" latinLnBrk="0">
              <a:defRPr/>
            </a:pPr>
            <a:r>
              <a:rPr lang="ko-KR" altLang="en-US" sz="1372" b="1" dirty="0">
                <a:solidFill>
                  <a:prstClr val="black"/>
                </a:solidFill>
                <a:latin typeface="Arial Narrow" panose="020B0606020202030204" pitchFamily="34" charset="0"/>
                <a:ea typeface="LG스마트체 Regular" panose="020B0600000101010101" pitchFamily="50" charset="-127"/>
              </a:rPr>
              <a:t>자동차 불량율은 </a:t>
            </a:r>
            <a:r>
              <a:rPr lang="en-US" altLang="ko-KR" sz="1372" b="1" dirty="0">
                <a:solidFill>
                  <a:prstClr val="black"/>
                </a:solidFill>
                <a:latin typeface="Arial Narrow" panose="020B0606020202030204" pitchFamily="34" charset="0"/>
                <a:ea typeface="LG스마트체 Regular" panose="020B0600000101010101" pitchFamily="50" charset="-127"/>
              </a:rPr>
              <a:t>7</a:t>
            </a:r>
            <a:r>
              <a:rPr lang="ko-KR" altLang="en-US" sz="1372" b="1" dirty="0" err="1">
                <a:solidFill>
                  <a:prstClr val="black"/>
                </a:solidFill>
                <a:latin typeface="Arial Narrow" panose="020B0606020202030204" pitchFamily="34" charset="0"/>
                <a:ea typeface="LG스마트체 Regular" panose="020B0600000101010101" pitchFamily="50" charset="-127"/>
              </a:rPr>
              <a:t>월대비</a:t>
            </a:r>
            <a:r>
              <a:rPr lang="ko-KR" altLang="en-US" sz="1372" b="1" dirty="0">
                <a:solidFill>
                  <a:prstClr val="black"/>
                </a:solidFill>
                <a:latin typeface="Arial Narrow" panose="020B0606020202030204" pitchFamily="34" charset="0"/>
                <a:ea typeface="LG스마트체 Regular" panose="020B0600000101010101" pitchFamily="50" charset="-127"/>
              </a:rPr>
              <a:t> </a:t>
            </a:r>
            <a:r>
              <a:rPr lang="en-US" altLang="ko-KR" sz="1372" b="1" dirty="0">
                <a:solidFill>
                  <a:prstClr val="black"/>
                </a:solidFill>
                <a:latin typeface="Arial Narrow" panose="020B0606020202030204" pitchFamily="34" charset="0"/>
                <a:ea typeface="LG스마트체 Regular" panose="020B0600000101010101" pitchFamily="50" charset="-127"/>
              </a:rPr>
              <a:t>0.07% </a:t>
            </a:r>
            <a:r>
              <a:rPr lang="ko-KR" altLang="en-US" sz="1372" b="1" dirty="0">
                <a:solidFill>
                  <a:prstClr val="black"/>
                </a:solidFill>
                <a:latin typeface="Arial Narrow" panose="020B0606020202030204" pitchFamily="34" charset="0"/>
                <a:ea typeface="LG스마트체 Regular" panose="020B0600000101010101" pitchFamily="50" charset="-127"/>
              </a:rPr>
              <a:t>증가한 </a:t>
            </a:r>
            <a:r>
              <a:rPr lang="en-US" altLang="ko-KR" sz="1372" b="1" dirty="0">
                <a:solidFill>
                  <a:prstClr val="black"/>
                </a:solidFill>
                <a:latin typeface="Arial Narrow" panose="020B0606020202030204" pitchFamily="34" charset="0"/>
                <a:ea typeface="LG스마트체 Regular" panose="020B0600000101010101" pitchFamily="50" charset="-127"/>
              </a:rPr>
              <a:t>1.19%</a:t>
            </a:r>
            <a:r>
              <a:rPr lang="ko-KR" altLang="en-US" sz="1372" b="1" dirty="0">
                <a:solidFill>
                  <a:prstClr val="black"/>
                </a:solidFill>
                <a:latin typeface="Arial Narrow" panose="020B0606020202030204" pitchFamily="34" charset="0"/>
                <a:ea typeface="LG스마트체 Regular" panose="020B0600000101010101" pitchFamily="50" charset="-127"/>
              </a:rPr>
              <a:t>이며 주요 원인은 </a:t>
            </a:r>
            <a:r>
              <a:rPr lang="en-US" altLang="ko-KR" sz="1372" b="1" dirty="0">
                <a:solidFill>
                  <a:prstClr val="black"/>
                </a:solidFill>
                <a:latin typeface="Arial Narrow" panose="020B0606020202030204" pitchFamily="34" charset="0"/>
                <a:ea typeface="LG스마트체 Regular" panose="020B0600000101010101" pitchFamily="50" charset="-127"/>
              </a:rPr>
              <a:t>E77 NG</a:t>
            </a:r>
            <a:r>
              <a:rPr lang="ko-KR" altLang="en-US" sz="1372" b="1" dirty="0">
                <a:solidFill>
                  <a:prstClr val="black"/>
                </a:solidFill>
                <a:latin typeface="Arial Narrow" panose="020B0606020202030204" pitchFamily="34" charset="0"/>
                <a:ea typeface="LG스마트체 Regular" panose="020B0600000101010101" pitchFamily="50" charset="-127"/>
              </a:rPr>
              <a:t>마킹 </a:t>
            </a:r>
            <a:r>
              <a:rPr lang="ko-KR" altLang="en-US" sz="1372" b="1" dirty="0" err="1">
                <a:solidFill>
                  <a:prstClr val="black"/>
                </a:solidFill>
                <a:latin typeface="Arial Narrow" panose="020B0606020202030204" pitchFamily="34" charset="0"/>
                <a:ea typeface="LG스마트체 Regular" panose="020B0600000101010101" pitchFamily="50" charset="-127"/>
              </a:rPr>
              <a:t>불량율</a:t>
            </a:r>
            <a:r>
              <a:rPr lang="ko-KR" altLang="en-US" sz="1372" b="1" dirty="0">
                <a:solidFill>
                  <a:prstClr val="black"/>
                </a:solidFill>
                <a:latin typeface="Arial Narrow" panose="020B0606020202030204" pitchFamily="34" charset="0"/>
                <a:ea typeface="LG스마트체 Regular" panose="020B0600000101010101" pitchFamily="50" charset="-127"/>
              </a:rPr>
              <a:t> 증가 입니다</a:t>
            </a:r>
            <a:r>
              <a:rPr lang="en-US" altLang="ko-KR" sz="1372" b="1" dirty="0">
                <a:solidFill>
                  <a:prstClr val="black"/>
                </a:solidFill>
                <a:latin typeface="Arial Narrow" panose="020B0606020202030204" pitchFamily="34" charset="0"/>
                <a:ea typeface="LG스마트체 Regular" panose="020B0600000101010101" pitchFamily="50" charset="-127"/>
              </a:rPr>
              <a:t>.</a:t>
            </a:r>
          </a:p>
          <a:p>
            <a:pPr defTabSz="447830" latinLnBrk="0">
              <a:defRPr/>
            </a:pPr>
            <a:r>
              <a:rPr lang="en-US" altLang="ko-KR" sz="1372" b="1" dirty="0">
                <a:solidFill>
                  <a:prstClr val="black"/>
                </a:solidFill>
                <a:latin typeface="Arial Narrow" panose="020B0606020202030204" pitchFamily="34" charset="0"/>
                <a:ea typeface="LG스마트체 Regular" panose="020B0600000101010101" pitchFamily="50" charset="-127"/>
              </a:rPr>
              <a:t>ESS </a:t>
            </a:r>
            <a:r>
              <a:rPr lang="ko-KR" altLang="en-US" sz="1372" b="1" dirty="0">
                <a:solidFill>
                  <a:prstClr val="black"/>
                </a:solidFill>
                <a:latin typeface="Arial Narrow" panose="020B0606020202030204" pitchFamily="34" charset="0"/>
                <a:ea typeface="LG스마트체 Regular" panose="020B0600000101010101" pitchFamily="50" charset="-127"/>
              </a:rPr>
              <a:t>불량율은 </a:t>
            </a:r>
            <a:r>
              <a:rPr lang="en-US" altLang="ko-KR" sz="1372" b="1" dirty="0">
                <a:solidFill>
                  <a:prstClr val="black"/>
                </a:solidFill>
                <a:latin typeface="Arial Narrow" panose="020B0606020202030204" pitchFamily="34" charset="0"/>
                <a:ea typeface="LG스마트체 Regular" panose="020B0600000101010101" pitchFamily="50" charset="-127"/>
              </a:rPr>
              <a:t>7</a:t>
            </a:r>
            <a:r>
              <a:rPr lang="ko-KR" altLang="en-US" sz="1372" b="1" dirty="0" err="1">
                <a:solidFill>
                  <a:prstClr val="black"/>
                </a:solidFill>
                <a:latin typeface="Arial Narrow" panose="020B0606020202030204" pitchFamily="34" charset="0"/>
                <a:ea typeface="LG스마트체 Regular" panose="020B0600000101010101" pitchFamily="50" charset="-127"/>
              </a:rPr>
              <a:t>월대비</a:t>
            </a:r>
            <a:r>
              <a:rPr lang="ko-KR" altLang="en-US" sz="1372" b="1" dirty="0">
                <a:solidFill>
                  <a:prstClr val="black"/>
                </a:solidFill>
                <a:latin typeface="Arial Narrow" panose="020B0606020202030204" pitchFamily="34" charset="0"/>
                <a:ea typeface="LG스마트체 Regular" panose="020B0600000101010101" pitchFamily="50" charset="-127"/>
              </a:rPr>
              <a:t> </a:t>
            </a:r>
            <a:r>
              <a:rPr lang="en-US" altLang="ko-KR" sz="1372" b="1" dirty="0">
                <a:solidFill>
                  <a:prstClr val="black"/>
                </a:solidFill>
                <a:latin typeface="Arial Narrow" panose="020B0606020202030204" pitchFamily="34" charset="0"/>
                <a:ea typeface="LG스마트체 Regular" panose="020B0600000101010101" pitchFamily="50" charset="-127"/>
              </a:rPr>
              <a:t>0.31% </a:t>
            </a:r>
            <a:r>
              <a:rPr lang="ko-KR" altLang="en-US" sz="1372" b="1" dirty="0">
                <a:solidFill>
                  <a:prstClr val="black"/>
                </a:solidFill>
                <a:latin typeface="Arial Narrow" panose="020B0606020202030204" pitchFamily="34" charset="0"/>
                <a:ea typeface="LG스마트체 Regular" panose="020B0600000101010101" pitchFamily="50" charset="-127"/>
              </a:rPr>
              <a:t>감소한 </a:t>
            </a:r>
            <a:r>
              <a:rPr lang="en-US" altLang="ko-KR" sz="1372" b="1" dirty="0">
                <a:solidFill>
                  <a:prstClr val="black"/>
                </a:solidFill>
                <a:latin typeface="Arial Narrow" panose="020B0606020202030204" pitchFamily="34" charset="0"/>
                <a:ea typeface="LG스마트체 Regular" panose="020B0600000101010101" pitchFamily="50" charset="-127"/>
              </a:rPr>
              <a:t>1.20%</a:t>
            </a:r>
            <a:r>
              <a:rPr lang="ko-KR" altLang="en-US" sz="1372" b="1" dirty="0">
                <a:solidFill>
                  <a:prstClr val="black"/>
                </a:solidFill>
                <a:latin typeface="Arial Narrow" panose="020B0606020202030204" pitchFamily="34" charset="0"/>
                <a:ea typeface="LG스마트체 Regular" panose="020B0600000101010101" pitchFamily="50" charset="-127"/>
              </a:rPr>
              <a:t>이며 주요 원인은 위치불량 및 </a:t>
            </a:r>
            <a:r>
              <a:rPr lang="en-US" altLang="ko-KR" sz="1372" b="1" dirty="0">
                <a:solidFill>
                  <a:prstClr val="black"/>
                </a:solidFill>
                <a:latin typeface="Arial Narrow" panose="020B0606020202030204" pitchFamily="34" charset="0"/>
                <a:ea typeface="LG스마트체 Regular" panose="020B0600000101010101" pitchFamily="50" charset="-127"/>
              </a:rPr>
              <a:t>NG</a:t>
            </a:r>
            <a:r>
              <a:rPr lang="ko-KR" altLang="en-US" sz="1372" b="1" dirty="0">
                <a:solidFill>
                  <a:prstClr val="black"/>
                </a:solidFill>
                <a:latin typeface="Arial Narrow" panose="020B0606020202030204" pitchFamily="34" charset="0"/>
                <a:ea typeface="LG스마트체 Regular" panose="020B0600000101010101" pitchFamily="50" charset="-127"/>
              </a:rPr>
              <a:t>마킹 불량 감소 입니다</a:t>
            </a:r>
            <a:r>
              <a:rPr lang="en-US" altLang="ko-KR" sz="1372" b="1" dirty="0">
                <a:solidFill>
                  <a:prstClr val="black"/>
                </a:solidFill>
                <a:latin typeface="Arial Narrow" panose="020B0606020202030204" pitchFamily="34" charset="0"/>
                <a:ea typeface="LG스마트체 Regular" panose="020B0600000101010101" pitchFamily="50" charset="-127"/>
              </a:rPr>
              <a:t>.</a:t>
            </a:r>
          </a:p>
        </p:txBody>
      </p:sp>
      <p:cxnSp>
        <p:nvCxnSpPr>
          <p:cNvPr id="8" name="직선 연결선 7">
            <a:extLst>
              <a:ext uri="{FF2B5EF4-FFF2-40B4-BE49-F238E27FC236}">
                <a16:creationId xmlns:a16="http://schemas.microsoft.com/office/drawing/2014/main" id="{3AFF5B79-8EAA-76A8-1EDC-757F01E700BA}"/>
              </a:ext>
            </a:extLst>
          </p:cNvPr>
          <p:cNvCxnSpPr>
            <a:cxnSpLocks/>
          </p:cNvCxnSpPr>
          <p:nvPr/>
        </p:nvCxnSpPr>
        <p:spPr>
          <a:xfrm>
            <a:off x="228646" y="1405926"/>
            <a:ext cx="5437011" cy="0"/>
          </a:xfrm>
          <a:prstGeom prst="line">
            <a:avLst/>
          </a:prstGeom>
        </p:spPr>
        <p:style>
          <a:lnRef idx="1">
            <a:schemeClr val="dk1"/>
          </a:lnRef>
          <a:fillRef idx="0">
            <a:schemeClr val="dk1"/>
          </a:fillRef>
          <a:effectRef idx="0">
            <a:schemeClr val="dk1"/>
          </a:effectRef>
          <a:fontRef idx="minor">
            <a:schemeClr val="tx1"/>
          </a:fontRef>
        </p:style>
      </p:cxnSp>
      <p:sp>
        <p:nvSpPr>
          <p:cNvPr id="9" name="직사각형 8">
            <a:extLst>
              <a:ext uri="{FF2B5EF4-FFF2-40B4-BE49-F238E27FC236}">
                <a16:creationId xmlns:a16="http://schemas.microsoft.com/office/drawing/2014/main" id="{D389C576-288B-9630-C35E-0B1B3997AD8F}"/>
              </a:ext>
            </a:extLst>
          </p:cNvPr>
          <p:cNvSpPr/>
          <p:nvPr/>
        </p:nvSpPr>
        <p:spPr>
          <a:xfrm>
            <a:off x="2697901" y="1188074"/>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88" b="1" dirty="0">
                <a:solidFill>
                  <a:schemeClr val="tx1"/>
                </a:solidFill>
                <a:latin typeface="Arial Narrow" panose="020B0606020202030204" pitchFamily="34" charset="0"/>
                <a:ea typeface="LG스마트체 Regular" panose="020B0600000101010101" pitchFamily="50" charset="-127"/>
              </a:rPr>
              <a:t>자동차</a:t>
            </a:r>
          </a:p>
        </p:txBody>
      </p:sp>
      <p:cxnSp>
        <p:nvCxnSpPr>
          <p:cNvPr id="10" name="직선 연결선 9">
            <a:extLst>
              <a:ext uri="{FF2B5EF4-FFF2-40B4-BE49-F238E27FC236}">
                <a16:creationId xmlns:a16="http://schemas.microsoft.com/office/drawing/2014/main" id="{865D06D2-3284-F170-EE37-BD6A642488AA}"/>
              </a:ext>
            </a:extLst>
          </p:cNvPr>
          <p:cNvCxnSpPr>
            <a:cxnSpLocks/>
          </p:cNvCxnSpPr>
          <p:nvPr/>
        </p:nvCxnSpPr>
        <p:spPr>
          <a:xfrm>
            <a:off x="5808188" y="1399186"/>
            <a:ext cx="3887340" cy="0"/>
          </a:xfrm>
          <a:prstGeom prst="line">
            <a:avLst/>
          </a:prstGeom>
        </p:spPr>
        <p:style>
          <a:lnRef idx="1">
            <a:schemeClr val="dk1"/>
          </a:lnRef>
          <a:fillRef idx="0">
            <a:schemeClr val="dk1"/>
          </a:fillRef>
          <a:effectRef idx="0">
            <a:schemeClr val="dk1"/>
          </a:effectRef>
          <a:fontRef idx="minor">
            <a:schemeClr val="tx1"/>
          </a:fontRef>
        </p:style>
      </p:cxnSp>
      <p:sp>
        <p:nvSpPr>
          <p:cNvPr id="11" name="직사각형 10">
            <a:extLst>
              <a:ext uri="{FF2B5EF4-FFF2-40B4-BE49-F238E27FC236}">
                <a16:creationId xmlns:a16="http://schemas.microsoft.com/office/drawing/2014/main" id="{71005705-CD25-3F8D-6B8C-F3B9EA2C80A2}"/>
              </a:ext>
            </a:extLst>
          </p:cNvPr>
          <p:cNvSpPr/>
          <p:nvPr/>
        </p:nvSpPr>
        <p:spPr>
          <a:xfrm>
            <a:off x="7573204" y="1181335"/>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88" b="1" dirty="0">
                <a:solidFill>
                  <a:schemeClr val="tx1"/>
                </a:solidFill>
                <a:latin typeface="Arial Narrow" panose="020B0606020202030204" pitchFamily="34" charset="0"/>
                <a:ea typeface="LG스마트체 Regular" panose="020B0600000101010101" pitchFamily="50" charset="-127"/>
              </a:rPr>
              <a:t>ESS</a:t>
            </a:r>
            <a:endParaRPr lang="ko-KR" altLang="en-US" sz="1188" b="1" dirty="0">
              <a:solidFill>
                <a:schemeClr val="tx1"/>
              </a:solidFill>
              <a:latin typeface="Arial Narrow" panose="020B0606020202030204" pitchFamily="34" charset="0"/>
              <a:ea typeface="LG스마트체 Regular" panose="020B0600000101010101" pitchFamily="50" charset="-127"/>
            </a:endParaRPr>
          </a:p>
        </p:txBody>
      </p:sp>
      <p:sp>
        <p:nvSpPr>
          <p:cNvPr id="30" name="직사각형 29">
            <a:extLst>
              <a:ext uri="{FF2B5EF4-FFF2-40B4-BE49-F238E27FC236}">
                <a16:creationId xmlns:a16="http://schemas.microsoft.com/office/drawing/2014/main" id="{72D6C26C-D43C-A5A7-6DB4-3337689137F3}"/>
              </a:ext>
            </a:extLst>
          </p:cNvPr>
          <p:cNvSpPr/>
          <p:nvPr/>
        </p:nvSpPr>
        <p:spPr>
          <a:xfrm>
            <a:off x="7769856" y="6103337"/>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0.20% </a:t>
            </a:r>
            <a:r>
              <a:rPr lang="ko-KR" altLang="en-US" sz="891" dirty="0">
                <a:solidFill>
                  <a:schemeClr val="tx1"/>
                </a:solidFill>
                <a:latin typeface="Arial Narrow" panose="020B0606020202030204" pitchFamily="34" charset="0"/>
                <a:ea typeface="LG스마트체 Regular" panose="020B0600000101010101" pitchFamily="50" charset="-127"/>
              </a:rPr>
              <a:t>이상</a:t>
            </a:r>
          </a:p>
        </p:txBody>
      </p:sp>
      <p:sp>
        <p:nvSpPr>
          <p:cNvPr id="31" name="직사각형 30">
            <a:extLst>
              <a:ext uri="{FF2B5EF4-FFF2-40B4-BE49-F238E27FC236}">
                <a16:creationId xmlns:a16="http://schemas.microsoft.com/office/drawing/2014/main" id="{EBA1412D-3E2A-F603-FC67-0AF15F4DDF33}"/>
              </a:ext>
            </a:extLst>
          </p:cNvPr>
          <p:cNvSpPr/>
          <p:nvPr/>
        </p:nvSpPr>
        <p:spPr>
          <a:xfrm>
            <a:off x="7619194" y="6125075"/>
            <a:ext cx="143811" cy="13134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2" name="직사각형 31">
            <a:extLst>
              <a:ext uri="{FF2B5EF4-FFF2-40B4-BE49-F238E27FC236}">
                <a16:creationId xmlns:a16="http://schemas.microsoft.com/office/drawing/2014/main" id="{C6A461CA-9F52-560E-ACCB-4DB209CA7140}"/>
              </a:ext>
            </a:extLst>
          </p:cNvPr>
          <p:cNvSpPr/>
          <p:nvPr/>
        </p:nvSpPr>
        <p:spPr>
          <a:xfrm>
            <a:off x="8736531" y="6107151"/>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0.10% ~ 0.20%</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3" name="직사각형 32">
            <a:extLst>
              <a:ext uri="{FF2B5EF4-FFF2-40B4-BE49-F238E27FC236}">
                <a16:creationId xmlns:a16="http://schemas.microsoft.com/office/drawing/2014/main" id="{451D7074-57A8-4F1D-A9BF-1A9630CBA8E2}"/>
              </a:ext>
            </a:extLst>
          </p:cNvPr>
          <p:cNvSpPr/>
          <p:nvPr/>
        </p:nvSpPr>
        <p:spPr>
          <a:xfrm>
            <a:off x="8585870" y="6128890"/>
            <a:ext cx="143811" cy="13134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4" name="직사각형 33">
            <a:extLst>
              <a:ext uri="{FF2B5EF4-FFF2-40B4-BE49-F238E27FC236}">
                <a16:creationId xmlns:a16="http://schemas.microsoft.com/office/drawing/2014/main" id="{0E289E25-2CD1-4097-182A-05911C228AD2}"/>
              </a:ext>
            </a:extLst>
          </p:cNvPr>
          <p:cNvSpPr/>
          <p:nvPr/>
        </p:nvSpPr>
        <p:spPr>
          <a:xfrm>
            <a:off x="7769855" y="6341094"/>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 0.10%</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5" name="직사각형 34">
            <a:extLst>
              <a:ext uri="{FF2B5EF4-FFF2-40B4-BE49-F238E27FC236}">
                <a16:creationId xmlns:a16="http://schemas.microsoft.com/office/drawing/2014/main" id="{32D7A192-6BC8-3563-7FF6-840EAAC88171}"/>
              </a:ext>
            </a:extLst>
          </p:cNvPr>
          <p:cNvSpPr/>
          <p:nvPr/>
        </p:nvSpPr>
        <p:spPr>
          <a:xfrm>
            <a:off x="7619194" y="6362833"/>
            <a:ext cx="143811" cy="13134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6" name="직사각형 35">
            <a:extLst>
              <a:ext uri="{FF2B5EF4-FFF2-40B4-BE49-F238E27FC236}">
                <a16:creationId xmlns:a16="http://schemas.microsoft.com/office/drawing/2014/main" id="{BB0239E4-C55D-EB56-5686-BC7E6F044B40}"/>
              </a:ext>
            </a:extLst>
          </p:cNvPr>
          <p:cNvSpPr/>
          <p:nvPr/>
        </p:nvSpPr>
        <p:spPr>
          <a:xfrm>
            <a:off x="8736533" y="6341668"/>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a:t>
            </a:r>
            <a:r>
              <a:rPr lang="ko-KR" altLang="en-US" sz="891" dirty="0">
                <a:solidFill>
                  <a:schemeClr val="tx1"/>
                </a:solidFill>
                <a:latin typeface="Arial Narrow" panose="020B0606020202030204" pitchFamily="34" charset="0"/>
                <a:ea typeface="LG스마트체 Regular" panose="020B0600000101010101" pitchFamily="50" charset="-127"/>
              </a:rPr>
              <a:t>이하</a:t>
            </a:r>
          </a:p>
        </p:txBody>
      </p:sp>
      <p:sp>
        <p:nvSpPr>
          <p:cNvPr id="37" name="직사각형 36">
            <a:extLst>
              <a:ext uri="{FF2B5EF4-FFF2-40B4-BE49-F238E27FC236}">
                <a16:creationId xmlns:a16="http://schemas.microsoft.com/office/drawing/2014/main" id="{4228A7BF-AAF6-93D4-1ACC-67CF291AE8CF}"/>
              </a:ext>
            </a:extLst>
          </p:cNvPr>
          <p:cNvSpPr/>
          <p:nvPr/>
        </p:nvSpPr>
        <p:spPr>
          <a:xfrm>
            <a:off x="8585870" y="6363407"/>
            <a:ext cx="143811" cy="13134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8" name="직사각형 37">
            <a:extLst>
              <a:ext uri="{FF2B5EF4-FFF2-40B4-BE49-F238E27FC236}">
                <a16:creationId xmlns:a16="http://schemas.microsoft.com/office/drawing/2014/main" id="{21132DF4-95AF-C7A5-F4A1-9B0CFFD9D382}"/>
              </a:ext>
            </a:extLst>
          </p:cNvPr>
          <p:cNvSpPr/>
          <p:nvPr/>
        </p:nvSpPr>
        <p:spPr>
          <a:xfrm>
            <a:off x="4589557" y="6112789"/>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a:t>
            </a:r>
            <a:r>
              <a:rPr lang="ko-KR" altLang="en-US" sz="891" dirty="0">
                <a:solidFill>
                  <a:schemeClr val="tx1"/>
                </a:solidFill>
                <a:latin typeface="Arial Narrow" panose="020B0606020202030204" pitchFamily="34" charset="0"/>
                <a:ea typeface="LG스마트체 Regular" panose="020B0600000101010101" pitchFamily="50" charset="-127"/>
              </a:rPr>
              <a:t>이상</a:t>
            </a:r>
          </a:p>
        </p:txBody>
      </p:sp>
      <p:sp>
        <p:nvSpPr>
          <p:cNvPr id="39" name="직사각형 38">
            <a:extLst>
              <a:ext uri="{FF2B5EF4-FFF2-40B4-BE49-F238E27FC236}">
                <a16:creationId xmlns:a16="http://schemas.microsoft.com/office/drawing/2014/main" id="{279EFD6E-7A08-FA4C-225D-9210231CB1F4}"/>
              </a:ext>
            </a:extLst>
          </p:cNvPr>
          <p:cNvSpPr/>
          <p:nvPr/>
        </p:nvSpPr>
        <p:spPr>
          <a:xfrm>
            <a:off x="4438894" y="6134528"/>
            <a:ext cx="143811" cy="13134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0" name="직사각형 39">
            <a:extLst>
              <a:ext uri="{FF2B5EF4-FFF2-40B4-BE49-F238E27FC236}">
                <a16:creationId xmlns:a16="http://schemas.microsoft.com/office/drawing/2014/main" id="{44722628-2508-0CBA-B373-7FBAAD1F874B}"/>
              </a:ext>
            </a:extLst>
          </p:cNvPr>
          <p:cNvSpPr/>
          <p:nvPr/>
        </p:nvSpPr>
        <p:spPr>
          <a:xfrm>
            <a:off x="5556232" y="6116604"/>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0.03% ~ 0.05%</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1" name="직사각형 40">
            <a:extLst>
              <a:ext uri="{FF2B5EF4-FFF2-40B4-BE49-F238E27FC236}">
                <a16:creationId xmlns:a16="http://schemas.microsoft.com/office/drawing/2014/main" id="{9F320557-5679-191E-BB03-96EBA42464AC}"/>
              </a:ext>
            </a:extLst>
          </p:cNvPr>
          <p:cNvSpPr/>
          <p:nvPr/>
        </p:nvSpPr>
        <p:spPr>
          <a:xfrm>
            <a:off x="5405570" y="6138342"/>
            <a:ext cx="143811" cy="13134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2" name="직사각형 41">
            <a:extLst>
              <a:ext uri="{FF2B5EF4-FFF2-40B4-BE49-F238E27FC236}">
                <a16:creationId xmlns:a16="http://schemas.microsoft.com/office/drawing/2014/main" id="{ABDF2798-B615-906F-73D1-8E462F5372E2}"/>
              </a:ext>
            </a:extLst>
          </p:cNvPr>
          <p:cNvSpPr/>
          <p:nvPr/>
        </p:nvSpPr>
        <p:spPr>
          <a:xfrm>
            <a:off x="4589555" y="6350547"/>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0.01% ~ 0.03%</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3" name="직사각형 42">
            <a:extLst>
              <a:ext uri="{FF2B5EF4-FFF2-40B4-BE49-F238E27FC236}">
                <a16:creationId xmlns:a16="http://schemas.microsoft.com/office/drawing/2014/main" id="{D63C68CB-AF3D-D933-1074-436492FCA721}"/>
              </a:ext>
            </a:extLst>
          </p:cNvPr>
          <p:cNvSpPr/>
          <p:nvPr/>
        </p:nvSpPr>
        <p:spPr>
          <a:xfrm>
            <a:off x="4438894" y="6372285"/>
            <a:ext cx="143811" cy="13134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4" name="직사각형 43">
            <a:extLst>
              <a:ext uri="{FF2B5EF4-FFF2-40B4-BE49-F238E27FC236}">
                <a16:creationId xmlns:a16="http://schemas.microsoft.com/office/drawing/2014/main" id="{243D9D05-5409-20AD-F433-624FA517ECE7}"/>
              </a:ext>
            </a:extLst>
          </p:cNvPr>
          <p:cNvSpPr/>
          <p:nvPr/>
        </p:nvSpPr>
        <p:spPr>
          <a:xfrm>
            <a:off x="5556233" y="6351121"/>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0.01% </a:t>
            </a:r>
            <a:r>
              <a:rPr lang="ko-KR" altLang="en-US" sz="891" dirty="0">
                <a:solidFill>
                  <a:schemeClr val="tx1"/>
                </a:solidFill>
                <a:latin typeface="Arial Narrow" panose="020B0606020202030204" pitchFamily="34" charset="0"/>
                <a:ea typeface="LG스마트체 Regular" panose="020B0600000101010101" pitchFamily="50" charset="-127"/>
              </a:rPr>
              <a:t>이하</a:t>
            </a:r>
          </a:p>
        </p:txBody>
      </p:sp>
      <p:sp>
        <p:nvSpPr>
          <p:cNvPr id="45" name="직사각형 44">
            <a:extLst>
              <a:ext uri="{FF2B5EF4-FFF2-40B4-BE49-F238E27FC236}">
                <a16:creationId xmlns:a16="http://schemas.microsoft.com/office/drawing/2014/main" id="{F51574AD-69CE-7F44-7FE6-C20A0CF9C458}"/>
              </a:ext>
            </a:extLst>
          </p:cNvPr>
          <p:cNvSpPr/>
          <p:nvPr/>
        </p:nvSpPr>
        <p:spPr>
          <a:xfrm>
            <a:off x="5405570" y="6372859"/>
            <a:ext cx="143811" cy="13134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13" name="사각형: 잘린 위쪽 모서리 12">
            <a:extLst>
              <a:ext uri="{FF2B5EF4-FFF2-40B4-BE49-F238E27FC236}">
                <a16:creationId xmlns:a16="http://schemas.microsoft.com/office/drawing/2014/main" id="{06CCBEFF-E6D4-A53A-5C3D-21BA1475A599}"/>
              </a:ext>
            </a:extLst>
          </p:cNvPr>
          <p:cNvSpPr/>
          <p:nvPr/>
        </p:nvSpPr>
        <p:spPr>
          <a:xfrm rot="16200000">
            <a:off x="2159350" y="2539887"/>
            <a:ext cx="1762010" cy="197666"/>
          </a:xfrm>
          <a:prstGeom prst="snip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ko-KR" altLang="en-US" sz="792" dirty="0">
                <a:solidFill>
                  <a:schemeClr val="tx1"/>
                </a:solidFill>
                <a:latin typeface="Arial Narrow" panose="020B0606020202030204" pitchFamily="34" charset="0"/>
                <a:ea typeface="LG스마트체 Regular" panose="020B0600000101010101" pitchFamily="50" charset="-127"/>
              </a:rPr>
              <a:t>자동차 전체 불량율을 모델별로 분배</a:t>
            </a:r>
          </a:p>
        </p:txBody>
      </p:sp>
      <p:sp>
        <p:nvSpPr>
          <p:cNvPr id="14" name="사각형: 잘린 위쪽 모서리 13">
            <a:extLst>
              <a:ext uri="{FF2B5EF4-FFF2-40B4-BE49-F238E27FC236}">
                <a16:creationId xmlns:a16="http://schemas.microsoft.com/office/drawing/2014/main" id="{F32FDFA7-06A1-5919-6E8F-2DA51ED9473F}"/>
              </a:ext>
            </a:extLst>
          </p:cNvPr>
          <p:cNvSpPr/>
          <p:nvPr/>
        </p:nvSpPr>
        <p:spPr>
          <a:xfrm rot="16200000">
            <a:off x="7776185" y="2520425"/>
            <a:ext cx="1762010" cy="197667"/>
          </a:xfrm>
          <a:prstGeom prst="snip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en-US" altLang="ko-KR" sz="792" dirty="0">
                <a:solidFill>
                  <a:schemeClr val="tx1"/>
                </a:solidFill>
                <a:latin typeface="Arial Narrow" panose="020B0606020202030204" pitchFamily="34" charset="0"/>
                <a:ea typeface="LG스마트체 Regular" panose="020B0600000101010101" pitchFamily="50" charset="-127"/>
              </a:rPr>
              <a:t>ESS</a:t>
            </a:r>
            <a:r>
              <a:rPr lang="ko-KR" altLang="en-US" sz="792" dirty="0">
                <a:solidFill>
                  <a:schemeClr val="tx1"/>
                </a:solidFill>
                <a:latin typeface="Arial Narrow" panose="020B0606020202030204" pitchFamily="34" charset="0"/>
                <a:ea typeface="LG스마트체 Regular" panose="020B0600000101010101" pitchFamily="50" charset="-127"/>
              </a:rPr>
              <a:t> 전체 불량율을 모델별로 분배</a:t>
            </a:r>
          </a:p>
        </p:txBody>
      </p:sp>
      <p:sp>
        <p:nvSpPr>
          <p:cNvPr id="16" name="직사각형 15">
            <a:extLst>
              <a:ext uri="{FF2B5EF4-FFF2-40B4-BE49-F238E27FC236}">
                <a16:creationId xmlns:a16="http://schemas.microsoft.com/office/drawing/2014/main" id="{B2471E2F-99CA-1965-1103-967FEA9F7CFD}"/>
              </a:ext>
            </a:extLst>
          </p:cNvPr>
          <p:cNvSpPr/>
          <p:nvPr/>
        </p:nvSpPr>
        <p:spPr>
          <a:xfrm>
            <a:off x="8842388" y="1183412"/>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891" dirty="0">
                <a:solidFill>
                  <a:schemeClr val="tx1"/>
                </a:solidFill>
                <a:latin typeface="Arial Narrow" panose="020B0606020202030204" pitchFamily="34" charset="0"/>
                <a:ea typeface="LG스마트체 Regular" panose="020B0600000101010101" pitchFamily="50" charset="-127"/>
              </a:rPr>
              <a:t>~8/31 </a:t>
            </a:r>
            <a:r>
              <a:rPr lang="ko-KR" altLang="en-US" sz="891" dirty="0">
                <a:solidFill>
                  <a:schemeClr val="tx1"/>
                </a:solidFill>
                <a:latin typeface="Arial Narrow" panose="020B0606020202030204" pitchFamily="34" charset="0"/>
                <a:ea typeface="LG스마트체 Regular" panose="020B0600000101010101" pitchFamily="50" charset="-127"/>
              </a:rPr>
              <a:t>기준</a:t>
            </a:r>
          </a:p>
        </p:txBody>
      </p:sp>
      <p:sp>
        <p:nvSpPr>
          <p:cNvPr id="15" name="직사각형 14">
            <a:extLst>
              <a:ext uri="{FF2B5EF4-FFF2-40B4-BE49-F238E27FC236}">
                <a16:creationId xmlns:a16="http://schemas.microsoft.com/office/drawing/2014/main" id="{060FF4F7-F298-134D-5F3A-041A894955BB}"/>
              </a:ext>
            </a:extLst>
          </p:cNvPr>
          <p:cNvSpPr/>
          <p:nvPr/>
        </p:nvSpPr>
        <p:spPr>
          <a:xfrm>
            <a:off x="134945" y="6374708"/>
            <a:ext cx="3549474" cy="1168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 </a:t>
            </a:r>
            <a:r>
              <a:rPr lang="en-US" altLang="ko-KR" sz="891" dirty="0" err="1">
                <a:solidFill>
                  <a:schemeClr val="tx1"/>
                </a:solidFill>
                <a:latin typeface="Arial Narrow" panose="020B0606020202030204" pitchFamily="34" charset="0"/>
                <a:ea typeface="LG스마트체 Regular" panose="020B0600000101010101" pitchFamily="50" charset="-127"/>
              </a:rPr>
              <a:t>Lami</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Position</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Concern.</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Mismatch,</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Tab</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Dimension,</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SW</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Defect,</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LSSS</a:t>
            </a:r>
            <a:r>
              <a:rPr lang="ko-KR" altLang="en-US" sz="891" dirty="0">
                <a:solidFill>
                  <a:schemeClr val="tx1"/>
                </a:solidFill>
                <a:latin typeface="Arial Narrow" panose="020B0606020202030204" pitchFamily="34" charset="0"/>
                <a:ea typeface="LG스마트체 Regular" panose="020B0600000101010101" pitchFamily="50" charset="-127"/>
              </a:rPr>
              <a:t> </a:t>
            </a:r>
            <a:r>
              <a:rPr lang="en-US" altLang="ko-KR" sz="891" dirty="0">
                <a:solidFill>
                  <a:schemeClr val="tx1"/>
                </a:solidFill>
                <a:latin typeface="Arial Narrow" panose="020B0606020202030204" pitchFamily="34" charset="0"/>
                <a:ea typeface="LG스마트체 Regular" panose="020B0600000101010101" pitchFamily="50" charset="-127"/>
              </a:rPr>
              <a:t>Defect</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5" name="직사각형 4">
            <a:extLst>
              <a:ext uri="{FF2B5EF4-FFF2-40B4-BE49-F238E27FC236}">
                <a16:creationId xmlns:a16="http://schemas.microsoft.com/office/drawing/2014/main" id="{AB330195-DC2C-D7CA-7163-207F2FE3A0A1}"/>
              </a:ext>
            </a:extLst>
          </p:cNvPr>
          <p:cNvSpPr/>
          <p:nvPr/>
        </p:nvSpPr>
        <p:spPr>
          <a:xfrm>
            <a:off x="4582704" y="503525"/>
            <a:ext cx="2362854" cy="2511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E77 NG</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마킹 </a:t>
            </a:r>
            <a:r>
              <a:rPr lang="ko-KR" altLang="en-US" sz="891" dirty="0" err="1">
                <a:solidFill>
                  <a:schemeClr val="accent6">
                    <a:lumMod val="50000"/>
                  </a:schemeClr>
                </a:solidFill>
                <a:latin typeface="Arial Narrow" panose="020B0606020202030204" pitchFamily="34" charset="0"/>
                <a:ea typeface="LG스마트체 Regular" panose="020B0600000101010101" pitchFamily="50" charset="-127"/>
              </a:rPr>
              <a:t>불량율</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0.55%(7</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 0.65%(8</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endParaRPr lang="ko-KR" altLang="en-US" sz="891" dirty="0">
              <a:solidFill>
                <a:schemeClr val="accent6">
                  <a:lumMod val="50000"/>
                </a:schemeClr>
              </a:solidFill>
              <a:latin typeface="Arial Narrow" panose="020B0606020202030204" pitchFamily="34" charset="0"/>
              <a:ea typeface="LG스마트체 Regular" panose="020B0600000101010101" pitchFamily="50" charset="-127"/>
            </a:endParaRPr>
          </a:p>
        </p:txBody>
      </p:sp>
      <p:sp>
        <p:nvSpPr>
          <p:cNvPr id="12" name="직사각형 11">
            <a:extLst>
              <a:ext uri="{FF2B5EF4-FFF2-40B4-BE49-F238E27FC236}">
                <a16:creationId xmlns:a16="http://schemas.microsoft.com/office/drawing/2014/main" id="{BC611348-926D-554E-FFCF-6827A4764809}"/>
              </a:ext>
            </a:extLst>
          </p:cNvPr>
          <p:cNvSpPr/>
          <p:nvPr/>
        </p:nvSpPr>
        <p:spPr>
          <a:xfrm>
            <a:off x="3566610" y="1126843"/>
            <a:ext cx="4050338" cy="2511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JF1</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위치 </a:t>
            </a:r>
            <a:r>
              <a:rPr lang="ko-KR" altLang="en-US" sz="891" dirty="0" err="1">
                <a:solidFill>
                  <a:schemeClr val="accent6">
                    <a:lumMod val="50000"/>
                  </a:schemeClr>
                </a:solidFill>
                <a:latin typeface="Arial Narrow" panose="020B0606020202030204" pitchFamily="34" charset="0"/>
                <a:ea typeface="LG스마트체 Regular" panose="020B0600000101010101" pitchFamily="50" charset="-127"/>
              </a:rPr>
              <a:t>불량율</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0.37%(7</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 0.22%(8</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NG</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마킹 </a:t>
            </a:r>
            <a:r>
              <a:rPr lang="ko-KR" altLang="en-US" sz="891" dirty="0" err="1">
                <a:solidFill>
                  <a:schemeClr val="accent6">
                    <a:lumMod val="50000"/>
                  </a:schemeClr>
                </a:solidFill>
                <a:latin typeface="Arial Narrow" panose="020B0606020202030204" pitchFamily="34" charset="0"/>
                <a:ea typeface="LG스마트체 Regular" panose="020B0600000101010101" pitchFamily="50" charset="-127"/>
              </a:rPr>
              <a:t>불량율</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0.48%(7</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 0.39%(8</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endParaRPr lang="ko-KR" altLang="en-US" sz="891" dirty="0">
              <a:solidFill>
                <a:schemeClr val="accent6">
                  <a:lumMod val="50000"/>
                </a:schemeClr>
              </a:solidFill>
              <a:latin typeface="Arial Narrow" panose="020B0606020202030204" pitchFamily="34" charset="0"/>
              <a:ea typeface="LG스마트체 Regular" panose="020B0600000101010101" pitchFamily="50" charset="-127"/>
            </a:endParaRPr>
          </a:p>
        </p:txBody>
      </p:sp>
      <p:sp>
        <p:nvSpPr>
          <p:cNvPr id="3" name="실행 단추: 앞으로 또는 다음으로 이동 2">
            <a:hlinkClick r:id="rId2" action="ppaction://hlinksldjump" highlightClick="1"/>
            <a:extLst>
              <a:ext uri="{FF2B5EF4-FFF2-40B4-BE49-F238E27FC236}">
                <a16:creationId xmlns:a16="http://schemas.microsoft.com/office/drawing/2014/main" id="{59B86026-CB46-8F63-4433-CF21BE6A6732}"/>
              </a:ext>
            </a:extLst>
          </p:cNvPr>
          <p:cNvSpPr/>
          <p:nvPr/>
        </p:nvSpPr>
        <p:spPr>
          <a:xfrm>
            <a:off x="9484792" y="5875085"/>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a:latin typeface="Arial Narrow" panose="020B0606020202030204" pitchFamily="34" charset="0"/>
            </a:endParaRPr>
          </a:p>
        </p:txBody>
      </p:sp>
      <p:sp>
        <p:nvSpPr>
          <p:cNvPr id="18" name="직사각형 17">
            <a:extLst>
              <a:ext uri="{FF2B5EF4-FFF2-40B4-BE49-F238E27FC236}">
                <a16:creationId xmlns:a16="http://schemas.microsoft.com/office/drawing/2014/main" id="{3FDD91C2-085D-B982-78B1-769B50E35AAE}"/>
              </a:ext>
            </a:extLst>
          </p:cNvPr>
          <p:cNvSpPr/>
          <p:nvPr/>
        </p:nvSpPr>
        <p:spPr>
          <a:xfrm>
            <a:off x="8223845" y="5855043"/>
            <a:ext cx="1294852"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ko-KR" altLang="en-US" sz="891" dirty="0" err="1">
                <a:solidFill>
                  <a:schemeClr val="tx1"/>
                </a:solidFill>
                <a:latin typeface="Arial Narrow" panose="020B0606020202030204" pitchFamily="34" charset="0"/>
                <a:ea typeface="LG스마트체 Regular" panose="020B0600000101010101" pitchFamily="50" charset="-127"/>
              </a:rPr>
              <a:t>라미</a:t>
            </a:r>
            <a:r>
              <a:rPr lang="ko-KR" altLang="en-US" sz="891" dirty="0">
                <a:solidFill>
                  <a:schemeClr val="tx1"/>
                </a:solidFill>
                <a:latin typeface="Arial Narrow" panose="020B0606020202030204" pitchFamily="34" charset="0"/>
                <a:ea typeface="LG스마트체 Regular" panose="020B0600000101010101" pitchFamily="50" charset="-127"/>
              </a:rPr>
              <a:t> </a:t>
            </a:r>
            <a:r>
              <a:rPr lang="ko-KR" altLang="en-US" sz="891" dirty="0" err="1">
                <a:solidFill>
                  <a:schemeClr val="tx1"/>
                </a:solidFill>
                <a:latin typeface="Arial Narrow" panose="020B0606020202030204" pitchFamily="34" charset="0"/>
                <a:ea typeface="LG스마트체 Regular" panose="020B0600000101010101" pitchFamily="50" charset="-127"/>
              </a:rPr>
              <a:t>모델별</a:t>
            </a:r>
            <a:r>
              <a:rPr lang="ko-KR" altLang="en-US" sz="891" dirty="0">
                <a:solidFill>
                  <a:schemeClr val="tx1"/>
                </a:solidFill>
                <a:latin typeface="Arial Narrow" panose="020B0606020202030204" pitchFamily="34" charset="0"/>
                <a:ea typeface="LG스마트체 Regular" panose="020B0600000101010101" pitchFamily="50" charset="-127"/>
              </a:rPr>
              <a:t> 불량 현황</a:t>
            </a:r>
          </a:p>
        </p:txBody>
      </p:sp>
      <p:sp>
        <p:nvSpPr>
          <p:cNvPr id="23" name="화살표: 오른쪽 22">
            <a:hlinkClick r:id="rId3" action="ppaction://hlinksldjump"/>
            <a:extLst>
              <a:ext uri="{FF2B5EF4-FFF2-40B4-BE49-F238E27FC236}">
                <a16:creationId xmlns:a16="http://schemas.microsoft.com/office/drawing/2014/main" id="{308E3855-1854-4239-6A85-DA239D273EB2}"/>
              </a:ext>
            </a:extLst>
          </p:cNvPr>
          <p:cNvSpPr/>
          <p:nvPr/>
        </p:nvSpPr>
        <p:spPr>
          <a:xfrm>
            <a:off x="9429444" y="116632"/>
            <a:ext cx="348519" cy="335140"/>
          </a:xfrm>
          <a:prstGeom prst="rightArrow">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맑은 고딕"/>
              <a:ea typeface="맑은 고딕" panose="020B0503020000020004" pitchFamily="50" charset="-127"/>
            </a:endParaRPr>
          </a:p>
        </p:txBody>
      </p:sp>
      <p:sp>
        <p:nvSpPr>
          <p:cNvPr id="25" name="TextBox 24">
            <a:extLst>
              <a:ext uri="{FF2B5EF4-FFF2-40B4-BE49-F238E27FC236}">
                <a16:creationId xmlns:a16="http://schemas.microsoft.com/office/drawing/2014/main" id="{9F787D04-C3D4-3913-52E0-25F496E35960}"/>
              </a:ext>
            </a:extLst>
          </p:cNvPr>
          <p:cNvSpPr txBox="1"/>
          <p:nvPr/>
        </p:nvSpPr>
        <p:spPr>
          <a:xfrm>
            <a:off x="8202737"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err="1">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2" name="TextBox 1">
            <a:extLst>
              <a:ext uri="{FF2B5EF4-FFF2-40B4-BE49-F238E27FC236}">
                <a16:creationId xmlns:a16="http://schemas.microsoft.com/office/drawing/2014/main" id="{EA8E3DF5-7003-12C7-D875-671816849AFF}"/>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- 6 / 10 -</a:t>
            </a:r>
          </a:p>
        </p:txBody>
      </p:sp>
    </p:spTree>
    <p:extLst>
      <p:ext uri="{BB962C8B-B14F-4D97-AF65-F5344CB8AC3E}">
        <p14:creationId xmlns:p14="http://schemas.microsoft.com/office/powerpoint/2010/main" val="2592671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8B7BF-765D-A955-7CD8-26ACD9114FBE}"/>
            </a:ext>
          </a:extLst>
        </p:cNvPr>
        <p:cNvGrpSpPr/>
        <p:nvPr/>
      </p:nvGrpSpPr>
      <p:grpSpPr>
        <a:xfrm>
          <a:off x="0" y="0"/>
          <a:ext cx="0" cy="0"/>
          <a:chOff x="0" y="0"/>
          <a:chExt cx="0" cy="0"/>
        </a:xfrm>
      </p:grpSpPr>
      <p:graphicFrame>
        <p:nvGraphicFramePr>
          <p:cNvPr id="31" name="표 30">
            <a:extLst>
              <a:ext uri="{FF2B5EF4-FFF2-40B4-BE49-F238E27FC236}">
                <a16:creationId xmlns:a16="http://schemas.microsoft.com/office/drawing/2014/main" id="{51A7C91D-71A0-0456-7ACB-0FB9DCD3A812}"/>
              </a:ext>
            </a:extLst>
          </p:cNvPr>
          <p:cNvGraphicFramePr>
            <a:graphicFrameLocks noGrp="1"/>
          </p:cNvGraphicFramePr>
          <p:nvPr>
            <p:extLst>
              <p:ext uri="{D42A27DB-BD31-4B8C-83A1-F6EECF244321}">
                <p14:modId xmlns:p14="http://schemas.microsoft.com/office/powerpoint/2010/main" val="2725252504"/>
              </p:ext>
            </p:extLst>
          </p:nvPr>
        </p:nvGraphicFramePr>
        <p:xfrm>
          <a:off x="145206" y="1516275"/>
          <a:ext cx="9559220" cy="4786875"/>
        </p:xfrm>
        <a:graphic>
          <a:graphicData uri="http://schemas.openxmlformats.org/drawingml/2006/table">
            <a:tbl>
              <a:tblPr/>
              <a:tblGrid>
                <a:gridCol w="292231">
                  <a:extLst>
                    <a:ext uri="{9D8B030D-6E8A-4147-A177-3AD203B41FA5}">
                      <a16:colId xmlns:a16="http://schemas.microsoft.com/office/drawing/2014/main" val="2454565363"/>
                    </a:ext>
                  </a:extLst>
                </a:gridCol>
                <a:gridCol w="909687">
                  <a:extLst>
                    <a:ext uri="{9D8B030D-6E8A-4147-A177-3AD203B41FA5}">
                      <a16:colId xmlns:a16="http://schemas.microsoft.com/office/drawing/2014/main" val="1340261848"/>
                    </a:ext>
                  </a:extLst>
                </a:gridCol>
                <a:gridCol w="271806">
                  <a:extLst>
                    <a:ext uri="{9D8B030D-6E8A-4147-A177-3AD203B41FA5}">
                      <a16:colId xmlns:a16="http://schemas.microsoft.com/office/drawing/2014/main" val="3978357273"/>
                    </a:ext>
                  </a:extLst>
                </a:gridCol>
                <a:gridCol w="298515">
                  <a:extLst>
                    <a:ext uri="{9D8B030D-6E8A-4147-A177-3AD203B41FA5}">
                      <a16:colId xmlns:a16="http://schemas.microsoft.com/office/drawing/2014/main" val="1928924818"/>
                    </a:ext>
                  </a:extLst>
                </a:gridCol>
                <a:gridCol w="271806">
                  <a:extLst>
                    <a:ext uri="{9D8B030D-6E8A-4147-A177-3AD203B41FA5}">
                      <a16:colId xmlns:a16="http://schemas.microsoft.com/office/drawing/2014/main" val="476055015"/>
                    </a:ext>
                  </a:extLst>
                </a:gridCol>
                <a:gridCol w="271806">
                  <a:extLst>
                    <a:ext uri="{9D8B030D-6E8A-4147-A177-3AD203B41FA5}">
                      <a16:colId xmlns:a16="http://schemas.microsoft.com/office/drawing/2014/main" val="1878795122"/>
                    </a:ext>
                  </a:extLst>
                </a:gridCol>
                <a:gridCol w="271806">
                  <a:extLst>
                    <a:ext uri="{9D8B030D-6E8A-4147-A177-3AD203B41FA5}">
                      <a16:colId xmlns:a16="http://schemas.microsoft.com/office/drawing/2014/main" val="697251452"/>
                    </a:ext>
                  </a:extLst>
                </a:gridCol>
                <a:gridCol w="271806">
                  <a:extLst>
                    <a:ext uri="{9D8B030D-6E8A-4147-A177-3AD203B41FA5}">
                      <a16:colId xmlns:a16="http://schemas.microsoft.com/office/drawing/2014/main" val="482780233"/>
                    </a:ext>
                  </a:extLst>
                </a:gridCol>
                <a:gridCol w="200892">
                  <a:extLst>
                    <a:ext uri="{9D8B030D-6E8A-4147-A177-3AD203B41FA5}">
                      <a16:colId xmlns:a16="http://schemas.microsoft.com/office/drawing/2014/main" val="2205681941"/>
                    </a:ext>
                  </a:extLst>
                </a:gridCol>
                <a:gridCol w="252953">
                  <a:extLst>
                    <a:ext uri="{9D8B030D-6E8A-4147-A177-3AD203B41FA5}">
                      <a16:colId xmlns:a16="http://schemas.microsoft.com/office/drawing/2014/main" val="2640537901"/>
                    </a:ext>
                  </a:extLst>
                </a:gridCol>
                <a:gridCol w="274949">
                  <a:extLst>
                    <a:ext uri="{9D8B030D-6E8A-4147-A177-3AD203B41FA5}">
                      <a16:colId xmlns:a16="http://schemas.microsoft.com/office/drawing/2014/main" val="533213879"/>
                    </a:ext>
                  </a:extLst>
                </a:gridCol>
                <a:gridCol w="274949">
                  <a:extLst>
                    <a:ext uri="{9D8B030D-6E8A-4147-A177-3AD203B41FA5}">
                      <a16:colId xmlns:a16="http://schemas.microsoft.com/office/drawing/2014/main" val="4270533247"/>
                    </a:ext>
                  </a:extLst>
                </a:gridCol>
                <a:gridCol w="257666">
                  <a:extLst>
                    <a:ext uri="{9D8B030D-6E8A-4147-A177-3AD203B41FA5}">
                      <a16:colId xmlns:a16="http://schemas.microsoft.com/office/drawing/2014/main" val="2201529289"/>
                    </a:ext>
                  </a:extLst>
                </a:gridCol>
                <a:gridCol w="229386">
                  <a:extLst>
                    <a:ext uri="{9D8B030D-6E8A-4147-A177-3AD203B41FA5}">
                      <a16:colId xmlns:a16="http://schemas.microsoft.com/office/drawing/2014/main" val="1970199650"/>
                    </a:ext>
                  </a:extLst>
                </a:gridCol>
                <a:gridCol w="224673">
                  <a:extLst>
                    <a:ext uri="{9D8B030D-6E8A-4147-A177-3AD203B41FA5}">
                      <a16:colId xmlns:a16="http://schemas.microsoft.com/office/drawing/2014/main" val="3586895102"/>
                    </a:ext>
                  </a:extLst>
                </a:gridCol>
                <a:gridCol w="229386">
                  <a:extLst>
                    <a:ext uri="{9D8B030D-6E8A-4147-A177-3AD203B41FA5}">
                      <a16:colId xmlns:a16="http://schemas.microsoft.com/office/drawing/2014/main" val="1088031942"/>
                    </a:ext>
                  </a:extLst>
                </a:gridCol>
                <a:gridCol w="229386">
                  <a:extLst>
                    <a:ext uri="{9D8B030D-6E8A-4147-A177-3AD203B41FA5}">
                      <a16:colId xmlns:a16="http://schemas.microsoft.com/office/drawing/2014/main" val="1841090197"/>
                    </a:ext>
                  </a:extLst>
                </a:gridCol>
                <a:gridCol w="229386">
                  <a:extLst>
                    <a:ext uri="{9D8B030D-6E8A-4147-A177-3AD203B41FA5}">
                      <a16:colId xmlns:a16="http://schemas.microsoft.com/office/drawing/2014/main" val="2081270901"/>
                    </a:ext>
                  </a:extLst>
                </a:gridCol>
                <a:gridCol w="229386">
                  <a:extLst>
                    <a:ext uri="{9D8B030D-6E8A-4147-A177-3AD203B41FA5}">
                      <a16:colId xmlns:a16="http://schemas.microsoft.com/office/drawing/2014/main" val="56362856"/>
                    </a:ext>
                  </a:extLst>
                </a:gridCol>
                <a:gridCol w="110843">
                  <a:extLst>
                    <a:ext uri="{9D8B030D-6E8A-4147-A177-3AD203B41FA5}">
                      <a16:colId xmlns:a16="http://schemas.microsoft.com/office/drawing/2014/main" val="2652285023"/>
                    </a:ext>
                  </a:extLst>
                </a:gridCol>
                <a:gridCol w="292231">
                  <a:extLst>
                    <a:ext uri="{9D8B030D-6E8A-4147-A177-3AD203B41FA5}">
                      <a16:colId xmlns:a16="http://schemas.microsoft.com/office/drawing/2014/main" val="120317500"/>
                    </a:ext>
                  </a:extLst>
                </a:gridCol>
                <a:gridCol w="909687">
                  <a:extLst>
                    <a:ext uri="{9D8B030D-6E8A-4147-A177-3AD203B41FA5}">
                      <a16:colId xmlns:a16="http://schemas.microsoft.com/office/drawing/2014/main" val="790152441"/>
                    </a:ext>
                  </a:extLst>
                </a:gridCol>
                <a:gridCol w="271806">
                  <a:extLst>
                    <a:ext uri="{9D8B030D-6E8A-4147-A177-3AD203B41FA5}">
                      <a16:colId xmlns:a16="http://schemas.microsoft.com/office/drawing/2014/main" val="3403983800"/>
                    </a:ext>
                  </a:extLst>
                </a:gridCol>
                <a:gridCol w="271806">
                  <a:extLst>
                    <a:ext uri="{9D8B030D-6E8A-4147-A177-3AD203B41FA5}">
                      <a16:colId xmlns:a16="http://schemas.microsoft.com/office/drawing/2014/main" val="2832824687"/>
                    </a:ext>
                  </a:extLst>
                </a:gridCol>
                <a:gridCol w="271806">
                  <a:extLst>
                    <a:ext uri="{9D8B030D-6E8A-4147-A177-3AD203B41FA5}">
                      <a16:colId xmlns:a16="http://schemas.microsoft.com/office/drawing/2014/main" val="3738883077"/>
                    </a:ext>
                  </a:extLst>
                </a:gridCol>
                <a:gridCol w="271806">
                  <a:extLst>
                    <a:ext uri="{9D8B030D-6E8A-4147-A177-3AD203B41FA5}">
                      <a16:colId xmlns:a16="http://schemas.microsoft.com/office/drawing/2014/main" val="4073092555"/>
                    </a:ext>
                  </a:extLst>
                </a:gridCol>
                <a:gridCol w="298515">
                  <a:extLst>
                    <a:ext uri="{9D8B030D-6E8A-4147-A177-3AD203B41FA5}">
                      <a16:colId xmlns:a16="http://schemas.microsoft.com/office/drawing/2014/main" val="1232279992"/>
                    </a:ext>
                  </a:extLst>
                </a:gridCol>
                <a:gridCol w="298515">
                  <a:extLst>
                    <a:ext uri="{9D8B030D-6E8A-4147-A177-3AD203B41FA5}">
                      <a16:colId xmlns:a16="http://schemas.microsoft.com/office/drawing/2014/main" val="2997425838"/>
                    </a:ext>
                  </a:extLst>
                </a:gridCol>
                <a:gridCol w="200892">
                  <a:extLst>
                    <a:ext uri="{9D8B030D-6E8A-4147-A177-3AD203B41FA5}">
                      <a16:colId xmlns:a16="http://schemas.microsoft.com/office/drawing/2014/main" val="1010456177"/>
                    </a:ext>
                  </a:extLst>
                </a:gridCol>
                <a:gridCol w="219959">
                  <a:extLst>
                    <a:ext uri="{9D8B030D-6E8A-4147-A177-3AD203B41FA5}">
                      <a16:colId xmlns:a16="http://schemas.microsoft.com/office/drawing/2014/main" val="435654226"/>
                    </a:ext>
                  </a:extLst>
                </a:gridCol>
                <a:gridCol w="234099">
                  <a:extLst>
                    <a:ext uri="{9D8B030D-6E8A-4147-A177-3AD203B41FA5}">
                      <a16:colId xmlns:a16="http://schemas.microsoft.com/office/drawing/2014/main" val="3508933410"/>
                    </a:ext>
                  </a:extLst>
                </a:gridCol>
                <a:gridCol w="207390">
                  <a:extLst>
                    <a:ext uri="{9D8B030D-6E8A-4147-A177-3AD203B41FA5}">
                      <a16:colId xmlns:a16="http://schemas.microsoft.com/office/drawing/2014/main" val="2783148909"/>
                    </a:ext>
                  </a:extLst>
                </a:gridCol>
                <a:gridCol w="207390">
                  <a:extLst>
                    <a:ext uri="{9D8B030D-6E8A-4147-A177-3AD203B41FA5}">
                      <a16:colId xmlns:a16="http://schemas.microsoft.com/office/drawing/2014/main" val="650264256"/>
                    </a:ext>
                  </a:extLst>
                </a:gridCol>
              </a:tblGrid>
              <a:tr h="208125">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E77A</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E161A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E72B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E90B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ko-KR" alt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JF2S</a:t>
                      </a:r>
                    </a:p>
                  </a:txBody>
                  <a:tcPr marL="0" marR="0" marT="0"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JF1</a:t>
                      </a:r>
                    </a:p>
                  </a:txBody>
                  <a:tcPr marL="0" marR="0" marT="0"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797143053"/>
                  </a:ext>
                </a:extLst>
              </a:tr>
              <a:tr h="208125">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스태킹 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269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249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283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275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272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286 M</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119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스태킹 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30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19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0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M</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19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333189731"/>
                  </a:ext>
                </a:extLst>
              </a:tr>
              <a:tr h="208125">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스태킹 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0.76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0.97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gridSpan="2">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스태킹 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0.64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34873716"/>
                  </a:ext>
                </a:extLst>
              </a:tr>
              <a:tr h="208125">
                <a:tc rowSpan="8">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endParaRPr lang="en-US" alt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Mono</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Sepa</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Appearance</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rowSpan="8">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endParaRPr lang="en-US" alt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Mono</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Sepa</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Appearance</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ysDot"/>
                      <a:round/>
                      <a:headEnd type="none" w="med" len="med"/>
                      <a:tailEnd type="none" w="med" len="med"/>
                    </a:lnB>
                    <a:solidFill>
                      <a:srgbClr val="FFC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42157160"/>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Dimensin/Appearance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Dimensin/Appearance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375315201"/>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Short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Short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FFC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38163014"/>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Stack 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Stack 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881228084"/>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Connection 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onnection 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681045025"/>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HC overhang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HC overhang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FFC000"/>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73259299"/>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Processloss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Processloss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rgbClr val="92D050"/>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211278472"/>
                  </a:ext>
                </a:extLst>
              </a:tr>
              <a:tr h="208125">
                <a:tc vMerge="1">
                  <a:txBody>
                    <a:bodyPr/>
                    <a:lstStyle/>
                    <a:p>
                      <a:pPr latinLnBrk="1"/>
                      <a:endParaRPr lang="ko-KR" altLang="en-US"/>
                    </a:p>
                  </a:txBody>
                  <a:tcPr/>
                </a:tc>
                <a:tc>
                  <a:txBody>
                    <a:bodyPr/>
                    <a:lstStyle/>
                    <a:p>
                      <a:pPr algn="l"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Rework</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buNone/>
                      </a:pP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Rework</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chemeClr val="tx1"/>
                      </a:solidFill>
                      <a:prstDash val="sysDot"/>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chemeClr val="tx1"/>
                      </a:solidFill>
                      <a:prstDash val="sysDot"/>
                      <a:round/>
                      <a:headEnd type="none" w="med" len="med"/>
                      <a:tailEnd type="none" w="med" len="med"/>
                    </a:lnL>
                    <a:lnR>
                      <a:noFill/>
                    </a:lnR>
                    <a:lnT w="635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510907860"/>
                  </a:ext>
                </a:extLst>
              </a:tr>
              <a:tr h="208125">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80572119"/>
                  </a:ext>
                </a:extLst>
              </a:tr>
              <a:tr h="208125">
                <a:tc gridSpan="2">
                  <a:txBody>
                    <a:bodyPr/>
                    <a:lstStyle/>
                    <a:p>
                      <a:pPr algn="ctr" fontAlgn="ctr"/>
                      <a:r>
                        <a:rPr lang="ko-KR" alt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464779021"/>
                  </a:ext>
                </a:extLst>
              </a:tr>
              <a:tr h="208125">
                <a:tc rowSpan="10">
                  <a:txBody>
                    <a:bodyPr/>
                    <a:lstStyle/>
                    <a:p>
                      <a:pPr algn="ctr"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모델별</a:t>
                      </a:r>
                      <a:b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E77A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0.94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rowSpan="3">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모델별</a:t>
                      </a:r>
                      <a:b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JF2S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1.83 </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1.32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1.33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1.09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437119089"/>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JF1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-0.35 </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0.61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0.99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0.71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0.64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0.71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0.60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0.33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0.56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0.71 </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1181092230"/>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E161A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1.76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JP5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1.10 </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1.30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-0.13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48281264"/>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-1.11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55754796"/>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399455742"/>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1.78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358374014"/>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0.50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32901002"/>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0.93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301022686"/>
                  </a:ext>
                </a:extLst>
              </a:tr>
              <a:tr h="208125">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E72B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758306322"/>
                  </a:ext>
                </a:extLst>
              </a:tr>
              <a:tr h="208125">
                <a:tc vMerge="1">
                  <a:txBody>
                    <a:bodyPr/>
                    <a:lstStyle/>
                    <a:p>
                      <a:pPr latinLnBrk="1"/>
                      <a:endParaRPr lang="ko-KR" altLang="en-US"/>
                    </a:p>
                  </a:txBody>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E90B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2.76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2.12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1.87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905368996"/>
                  </a:ext>
                </a:extLst>
              </a:tr>
            </a:tbl>
          </a:graphicData>
        </a:graphic>
      </p:graphicFrame>
      <p:sp>
        <p:nvSpPr>
          <p:cNvPr id="6" name="제목 1">
            <a:extLst>
              <a:ext uri="{FF2B5EF4-FFF2-40B4-BE49-F238E27FC236}">
                <a16:creationId xmlns:a16="http://schemas.microsoft.com/office/drawing/2014/main" id="{0EBDDCF6-A82C-0B8A-8F9A-F75897BB2070}"/>
              </a:ext>
            </a:extLst>
          </p:cNvPr>
          <p:cNvSpPr txBox="1">
            <a:spLocks/>
          </p:cNvSpPr>
          <p:nvPr/>
        </p:nvSpPr>
        <p:spPr>
          <a:xfrm>
            <a:off x="173460" y="199697"/>
            <a:ext cx="3059318" cy="361664"/>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89564" tIns="44783" rIns="89564" bIns="44783"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47830" latinLnBrk="0">
              <a:defRPr/>
            </a:pPr>
            <a:r>
              <a:rPr lang="ko-KR" altLang="en-US" sz="1763" dirty="0">
                <a:solidFill>
                  <a:prstClr val="black"/>
                </a:solidFill>
                <a:latin typeface="Arial Narrow" panose="020B0606020202030204" pitchFamily="34" charset="0"/>
                <a:ea typeface="LG스마트체 Regular" panose="020B0600000101010101" pitchFamily="50" charset="-127"/>
              </a:rPr>
              <a:t>보조</a:t>
            </a:r>
            <a:r>
              <a:rPr lang="en-US" altLang="ko-KR" sz="1763" dirty="0">
                <a:solidFill>
                  <a:prstClr val="black"/>
                </a:solidFill>
                <a:latin typeface="Arial Narrow" panose="020B0606020202030204" pitchFamily="34" charset="0"/>
                <a:ea typeface="LG스마트체 Regular" panose="020B0600000101010101" pitchFamily="50" charset="-127"/>
              </a:rPr>
              <a:t>. ESWA </a:t>
            </a:r>
            <a:r>
              <a:rPr lang="ko-KR" altLang="en-US" sz="1763" dirty="0">
                <a:solidFill>
                  <a:prstClr val="black"/>
                </a:solidFill>
                <a:latin typeface="Arial Narrow" panose="020B0606020202030204" pitchFamily="34" charset="0"/>
                <a:ea typeface="LG스마트체 Regular" panose="020B0600000101010101" pitchFamily="50" charset="-127"/>
              </a:rPr>
              <a:t>셀 </a:t>
            </a:r>
            <a:r>
              <a:rPr lang="ko-KR" altLang="en-US" sz="1763" dirty="0" err="1">
                <a:solidFill>
                  <a:prstClr val="black"/>
                </a:solidFill>
                <a:latin typeface="Arial Narrow" panose="020B0606020202030204" pitchFamily="34" charset="0"/>
                <a:ea typeface="LG스마트체 Regular" panose="020B0600000101010101" pitchFamily="50" charset="-127"/>
              </a:rPr>
              <a:t>수율</a:t>
            </a:r>
            <a:r>
              <a:rPr lang="ko-KR" altLang="en-US" sz="1763" dirty="0">
                <a:solidFill>
                  <a:prstClr val="black"/>
                </a:solidFill>
                <a:latin typeface="Arial Narrow" panose="020B0606020202030204" pitchFamily="34" charset="0"/>
                <a:ea typeface="LG스마트체 Regular" panose="020B0600000101010101" pitchFamily="50" charset="-127"/>
              </a:rPr>
              <a:t> 현황</a:t>
            </a:r>
            <a:r>
              <a:rPr lang="en-US" altLang="ko-KR" sz="1763" dirty="0">
                <a:solidFill>
                  <a:prstClr val="black"/>
                </a:solidFill>
                <a:latin typeface="Arial Narrow" panose="020B0606020202030204" pitchFamily="34" charset="0"/>
                <a:ea typeface="LG스마트체 Regular" panose="020B0600000101010101" pitchFamily="50" charset="-127"/>
              </a:rPr>
              <a:t>_</a:t>
            </a:r>
            <a:r>
              <a:rPr lang="ko-KR" altLang="en-US" sz="1763" dirty="0" err="1">
                <a:solidFill>
                  <a:prstClr val="black"/>
                </a:solidFill>
                <a:latin typeface="Arial Narrow" panose="020B0606020202030204" pitchFamily="34" charset="0"/>
                <a:ea typeface="LG스마트체 Regular" panose="020B0600000101010101" pitchFamily="50" charset="-127"/>
              </a:rPr>
              <a:t>스태킹</a:t>
            </a:r>
            <a:endParaRPr lang="ko-KR" altLang="en-US" sz="1763" dirty="0">
              <a:solidFill>
                <a:prstClr val="black"/>
              </a:solidFill>
              <a:latin typeface="Arial Narrow" panose="020B0606020202030204" pitchFamily="34" charset="0"/>
              <a:ea typeface="LG스마트체 Regular" panose="020B0600000101010101" pitchFamily="50" charset="-127"/>
            </a:endParaRPr>
          </a:p>
        </p:txBody>
      </p:sp>
      <p:sp>
        <p:nvSpPr>
          <p:cNvPr id="7" name="TextBox 6">
            <a:extLst>
              <a:ext uri="{FF2B5EF4-FFF2-40B4-BE49-F238E27FC236}">
                <a16:creationId xmlns:a16="http://schemas.microsoft.com/office/drawing/2014/main" id="{1D225FE0-C87D-6EBB-A63F-126407226252}"/>
              </a:ext>
            </a:extLst>
          </p:cNvPr>
          <p:cNvSpPr txBox="1"/>
          <p:nvPr/>
        </p:nvSpPr>
        <p:spPr>
          <a:xfrm>
            <a:off x="228645" y="678293"/>
            <a:ext cx="9438548" cy="513511"/>
          </a:xfrm>
          <a:prstGeom prst="rect">
            <a:avLst/>
          </a:prstGeom>
          <a:noFill/>
        </p:spPr>
        <p:txBody>
          <a:bodyPr wrap="square" rtlCol="0">
            <a:spAutoFit/>
          </a:bodyPr>
          <a:lstStyle/>
          <a:p>
            <a:pPr defTabSz="447830" latinLnBrk="0">
              <a:defRPr/>
            </a:pPr>
            <a:r>
              <a:rPr lang="ko-KR" altLang="en-US" sz="1372" b="1" dirty="0">
                <a:solidFill>
                  <a:prstClr val="black"/>
                </a:solidFill>
                <a:latin typeface="Arial Narrow" panose="020B0606020202030204" pitchFamily="34" charset="0"/>
                <a:ea typeface="LG스마트체 Regular" panose="020B0600000101010101" pitchFamily="50" charset="-127"/>
              </a:rPr>
              <a:t>자동차 불량율은 </a:t>
            </a:r>
            <a:r>
              <a:rPr lang="en-US" altLang="ko-KR" sz="1372" b="1" dirty="0">
                <a:solidFill>
                  <a:prstClr val="black"/>
                </a:solidFill>
                <a:latin typeface="Arial Narrow" panose="020B0606020202030204" pitchFamily="34" charset="0"/>
                <a:ea typeface="LG스마트체 Regular" panose="020B0600000101010101" pitchFamily="50" charset="-127"/>
              </a:rPr>
              <a:t>7</a:t>
            </a:r>
            <a:r>
              <a:rPr lang="ko-KR" altLang="en-US" sz="1372" b="1" dirty="0" err="1">
                <a:solidFill>
                  <a:prstClr val="black"/>
                </a:solidFill>
                <a:latin typeface="Arial Narrow" panose="020B0606020202030204" pitchFamily="34" charset="0"/>
                <a:ea typeface="LG스마트체 Regular" panose="020B0600000101010101" pitchFamily="50" charset="-127"/>
              </a:rPr>
              <a:t>월대비</a:t>
            </a:r>
            <a:r>
              <a:rPr lang="ko-KR" altLang="en-US" sz="1372" b="1" dirty="0">
                <a:solidFill>
                  <a:prstClr val="black"/>
                </a:solidFill>
                <a:latin typeface="Arial Narrow" panose="020B0606020202030204" pitchFamily="34" charset="0"/>
                <a:ea typeface="LG스마트체 Regular" panose="020B0600000101010101" pitchFamily="50" charset="-127"/>
              </a:rPr>
              <a:t> </a:t>
            </a:r>
            <a:r>
              <a:rPr lang="en-US" altLang="ko-KR" sz="1372" b="1" dirty="0">
                <a:solidFill>
                  <a:prstClr val="black"/>
                </a:solidFill>
                <a:latin typeface="Arial Narrow" panose="020B0606020202030204" pitchFamily="34" charset="0"/>
                <a:ea typeface="LG스마트체 Regular" panose="020B0600000101010101" pitchFamily="50" charset="-127"/>
              </a:rPr>
              <a:t>0.21% </a:t>
            </a:r>
            <a:r>
              <a:rPr lang="ko-KR" altLang="en-US" sz="1372" b="1" dirty="0">
                <a:solidFill>
                  <a:prstClr val="black"/>
                </a:solidFill>
                <a:latin typeface="Arial Narrow" panose="020B0606020202030204" pitchFamily="34" charset="0"/>
                <a:ea typeface="LG스마트체 Regular" panose="020B0600000101010101" pitchFamily="50" charset="-127"/>
              </a:rPr>
              <a:t>증가한 </a:t>
            </a:r>
            <a:r>
              <a:rPr lang="en-US" altLang="ko-KR" sz="1372" b="1" dirty="0">
                <a:solidFill>
                  <a:prstClr val="black"/>
                </a:solidFill>
                <a:latin typeface="Arial Narrow" panose="020B0606020202030204" pitchFamily="34" charset="0"/>
                <a:ea typeface="LG스마트체 Regular" panose="020B0600000101010101" pitchFamily="50" charset="-127"/>
              </a:rPr>
              <a:t>0.97%</a:t>
            </a:r>
            <a:r>
              <a:rPr lang="ko-KR" altLang="en-US" sz="1372" b="1" dirty="0">
                <a:solidFill>
                  <a:prstClr val="black"/>
                </a:solidFill>
                <a:latin typeface="Arial Narrow" panose="020B0606020202030204" pitchFamily="34" charset="0"/>
                <a:ea typeface="LG스마트체 Regular" panose="020B0600000101010101" pitchFamily="50" charset="-127"/>
              </a:rPr>
              <a:t>이며 주요 원인은 재작업 비율 감소 및 공정 </a:t>
            </a:r>
            <a:r>
              <a:rPr lang="en-US" altLang="ko-KR" sz="1372" b="1" dirty="0">
                <a:solidFill>
                  <a:prstClr val="black"/>
                </a:solidFill>
                <a:latin typeface="Arial Narrow" panose="020B0606020202030204" pitchFamily="34" charset="0"/>
                <a:ea typeface="LG스마트체 Regular" panose="020B0600000101010101" pitchFamily="50" charset="-127"/>
              </a:rPr>
              <a:t>Loss </a:t>
            </a:r>
            <a:r>
              <a:rPr lang="ko-KR" altLang="en-US" sz="1372" b="1" dirty="0">
                <a:solidFill>
                  <a:prstClr val="black"/>
                </a:solidFill>
                <a:latin typeface="Arial Narrow" panose="020B0606020202030204" pitchFamily="34" charset="0"/>
                <a:ea typeface="LG스마트체 Regular" panose="020B0600000101010101" pitchFamily="50" charset="-127"/>
              </a:rPr>
              <a:t>증가 입니다</a:t>
            </a:r>
            <a:r>
              <a:rPr lang="en-US" altLang="ko-KR" sz="1372" b="1" dirty="0">
                <a:solidFill>
                  <a:prstClr val="black"/>
                </a:solidFill>
                <a:latin typeface="Arial Narrow" panose="020B0606020202030204" pitchFamily="34" charset="0"/>
                <a:ea typeface="LG스마트체 Regular" panose="020B0600000101010101" pitchFamily="50" charset="-127"/>
              </a:rPr>
              <a:t>.</a:t>
            </a:r>
          </a:p>
          <a:p>
            <a:pPr defTabSz="447830" latinLnBrk="0">
              <a:defRPr/>
            </a:pPr>
            <a:r>
              <a:rPr lang="en-US" altLang="ko-KR" sz="1372" b="1" dirty="0">
                <a:solidFill>
                  <a:prstClr val="black"/>
                </a:solidFill>
                <a:latin typeface="Arial Narrow" panose="020B0606020202030204" pitchFamily="34" charset="0"/>
                <a:ea typeface="LG스마트체 Regular" panose="020B0600000101010101" pitchFamily="50" charset="-127"/>
              </a:rPr>
              <a:t>ESS </a:t>
            </a:r>
            <a:r>
              <a:rPr lang="ko-KR" altLang="en-US" sz="1372" b="1" dirty="0">
                <a:solidFill>
                  <a:prstClr val="black"/>
                </a:solidFill>
                <a:latin typeface="Arial Narrow" panose="020B0606020202030204" pitchFamily="34" charset="0"/>
                <a:ea typeface="LG스마트체 Regular" panose="020B0600000101010101" pitchFamily="50" charset="-127"/>
              </a:rPr>
              <a:t>불량율은 </a:t>
            </a:r>
            <a:r>
              <a:rPr lang="en-US" altLang="ko-KR" sz="1372" b="1" dirty="0">
                <a:solidFill>
                  <a:prstClr val="black"/>
                </a:solidFill>
                <a:latin typeface="Arial Narrow" panose="020B0606020202030204" pitchFamily="34" charset="0"/>
                <a:ea typeface="LG스마트체 Regular" panose="020B0600000101010101" pitchFamily="50" charset="-127"/>
              </a:rPr>
              <a:t>7</a:t>
            </a:r>
            <a:r>
              <a:rPr lang="ko-KR" altLang="en-US" sz="1372" b="1" dirty="0" err="1">
                <a:solidFill>
                  <a:prstClr val="black"/>
                </a:solidFill>
                <a:latin typeface="Arial Narrow" panose="020B0606020202030204" pitchFamily="34" charset="0"/>
                <a:ea typeface="LG스마트체 Regular" panose="020B0600000101010101" pitchFamily="50" charset="-127"/>
              </a:rPr>
              <a:t>월대비</a:t>
            </a:r>
            <a:r>
              <a:rPr lang="ko-KR" altLang="en-US" sz="1372" b="1" dirty="0">
                <a:solidFill>
                  <a:prstClr val="black"/>
                </a:solidFill>
                <a:latin typeface="Arial Narrow" panose="020B0606020202030204" pitchFamily="34" charset="0"/>
                <a:ea typeface="LG스마트체 Regular" panose="020B0600000101010101" pitchFamily="50" charset="-127"/>
              </a:rPr>
              <a:t> </a:t>
            </a:r>
            <a:r>
              <a:rPr lang="en-US" altLang="ko-KR" sz="1372" b="1" dirty="0">
                <a:solidFill>
                  <a:prstClr val="black"/>
                </a:solidFill>
                <a:latin typeface="Arial Narrow" panose="020B0606020202030204" pitchFamily="34" charset="0"/>
                <a:ea typeface="LG스마트체 Regular" panose="020B0600000101010101" pitchFamily="50" charset="-127"/>
              </a:rPr>
              <a:t>0.07% </a:t>
            </a:r>
            <a:r>
              <a:rPr lang="ko-KR" altLang="en-US" sz="1372" b="1" dirty="0">
                <a:solidFill>
                  <a:prstClr val="black"/>
                </a:solidFill>
                <a:latin typeface="Arial Narrow" panose="020B0606020202030204" pitchFamily="34" charset="0"/>
                <a:ea typeface="LG스마트체 Regular" panose="020B0600000101010101" pitchFamily="50" charset="-127"/>
              </a:rPr>
              <a:t>증가한 </a:t>
            </a:r>
            <a:r>
              <a:rPr lang="en-US" altLang="ko-KR" sz="1372" b="1" dirty="0">
                <a:solidFill>
                  <a:prstClr val="black"/>
                </a:solidFill>
                <a:latin typeface="Arial Narrow" panose="020B0606020202030204" pitchFamily="34" charset="0"/>
                <a:ea typeface="LG스마트체 Regular" panose="020B0600000101010101" pitchFamily="50" charset="-127"/>
              </a:rPr>
              <a:t>0.71%</a:t>
            </a:r>
            <a:r>
              <a:rPr lang="ko-KR" altLang="en-US" sz="1372" b="1" dirty="0">
                <a:solidFill>
                  <a:prstClr val="black"/>
                </a:solidFill>
                <a:latin typeface="Arial Narrow" panose="020B0606020202030204" pitchFamily="34" charset="0"/>
                <a:ea typeface="LG스마트체 Regular" panose="020B0600000101010101" pitchFamily="50" charset="-127"/>
              </a:rPr>
              <a:t>이며 주요 원인은 재작업 비율 감소 입니다</a:t>
            </a:r>
            <a:r>
              <a:rPr lang="en-US" altLang="ko-KR" sz="1372" b="1" dirty="0">
                <a:solidFill>
                  <a:prstClr val="black"/>
                </a:solidFill>
                <a:latin typeface="Arial Narrow" panose="020B0606020202030204" pitchFamily="34" charset="0"/>
                <a:ea typeface="LG스마트체 Regular" panose="020B0600000101010101" pitchFamily="50" charset="-127"/>
              </a:rPr>
              <a:t>.</a:t>
            </a:r>
          </a:p>
        </p:txBody>
      </p:sp>
      <p:cxnSp>
        <p:nvCxnSpPr>
          <p:cNvPr id="8" name="직선 연결선 7">
            <a:extLst>
              <a:ext uri="{FF2B5EF4-FFF2-40B4-BE49-F238E27FC236}">
                <a16:creationId xmlns:a16="http://schemas.microsoft.com/office/drawing/2014/main" id="{23BCAEA6-39BA-0170-8F9D-C1DA3C0F4DC8}"/>
              </a:ext>
            </a:extLst>
          </p:cNvPr>
          <p:cNvCxnSpPr>
            <a:cxnSpLocks/>
          </p:cNvCxnSpPr>
          <p:nvPr/>
        </p:nvCxnSpPr>
        <p:spPr>
          <a:xfrm>
            <a:off x="228645" y="1405926"/>
            <a:ext cx="5407248" cy="0"/>
          </a:xfrm>
          <a:prstGeom prst="line">
            <a:avLst/>
          </a:prstGeom>
        </p:spPr>
        <p:style>
          <a:lnRef idx="1">
            <a:schemeClr val="dk1"/>
          </a:lnRef>
          <a:fillRef idx="0">
            <a:schemeClr val="dk1"/>
          </a:fillRef>
          <a:effectRef idx="0">
            <a:schemeClr val="dk1"/>
          </a:effectRef>
          <a:fontRef idx="minor">
            <a:schemeClr val="tx1"/>
          </a:fontRef>
        </p:style>
      </p:cxnSp>
      <p:sp>
        <p:nvSpPr>
          <p:cNvPr id="9" name="직사각형 8">
            <a:extLst>
              <a:ext uri="{FF2B5EF4-FFF2-40B4-BE49-F238E27FC236}">
                <a16:creationId xmlns:a16="http://schemas.microsoft.com/office/drawing/2014/main" id="{8B17611D-C780-7413-8289-57CFBA314894}"/>
              </a:ext>
            </a:extLst>
          </p:cNvPr>
          <p:cNvSpPr/>
          <p:nvPr/>
        </p:nvSpPr>
        <p:spPr>
          <a:xfrm>
            <a:off x="2697901" y="1188074"/>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88" b="1" dirty="0">
                <a:solidFill>
                  <a:schemeClr val="tx1"/>
                </a:solidFill>
                <a:latin typeface="Arial Narrow" panose="020B0606020202030204" pitchFamily="34" charset="0"/>
                <a:ea typeface="LG스마트체 Regular" panose="020B0600000101010101" pitchFamily="50" charset="-127"/>
              </a:rPr>
              <a:t>자동차</a:t>
            </a:r>
          </a:p>
        </p:txBody>
      </p:sp>
      <p:cxnSp>
        <p:nvCxnSpPr>
          <p:cNvPr id="10" name="직선 연결선 9">
            <a:extLst>
              <a:ext uri="{FF2B5EF4-FFF2-40B4-BE49-F238E27FC236}">
                <a16:creationId xmlns:a16="http://schemas.microsoft.com/office/drawing/2014/main" id="{B98B0194-2016-3A90-079F-B975C5A72258}"/>
              </a:ext>
            </a:extLst>
          </p:cNvPr>
          <p:cNvCxnSpPr>
            <a:cxnSpLocks/>
          </p:cNvCxnSpPr>
          <p:nvPr/>
        </p:nvCxnSpPr>
        <p:spPr>
          <a:xfrm>
            <a:off x="5736922" y="1399186"/>
            <a:ext cx="3958606" cy="0"/>
          </a:xfrm>
          <a:prstGeom prst="line">
            <a:avLst/>
          </a:prstGeom>
        </p:spPr>
        <p:style>
          <a:lnRef idx="1">
            <a:schemeClr val="dk1"/>
          </a:lnRef>
          <a:fillRef idx="0">
            <a:schemeClr val="dk1"/>
          </a:fillRef>
          <a:effectRef idx="0">
            <a:schemeClr val="dk1"/>
          </a:effectRef>
          <a:fontRef idx="minor">
            <a:schemeClr val="tx1"/>
          </a:fontRef>
        </p:style>
      </p:cxnSp>
      <p:sp>
        <p:nvSpPr>
          <p:cNvPr id="11" name="직사각형 10">
            <a:extLst>
              <a:ext uri="{FF2B5EF4-FFF2-40B4-BE49-F238E27FC236}">
                <a16:creationId xmlns:a16="http://schemas.microsoft.com/office/drawing/2014/main" id="{93791151-140C-17FF-85A3-F702EEFDAB8D}"/>
              </a:ext>
            </a:extLst>
          </p:cNvPr>
          <p:cNvSpPr/>
          <p:nvPr/>
        </p:nvSpPr>
        <p:spPr>
          <a:xfrm>
            <a:off x="7573204" y="1181335"/>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88" b="1" dirty="0">
                <a:solidFill>
                  <a:schemeClr val="tx1"/>
                </a:solidFill>
                <a:latin typeface="Arial Narrow" panose="020B0606020202030204" pitchFamily="34" charset="0"/>
                <a:ea typeface="LG스마트체 Regular" panose="020B0600000101010101" pitchFamily="50" charset="-127"/>
              </a:rPr>
              <a:t>ESS</a:t>
            </a:r>
            <a:endParaRPr lang="ko-KR" altLang="en-US" sz="1188" b="1" dirty="0">
              <a:solidFill>
                <a:schemeClr val="tx1"/>
              </a:solidFill>
              <a:latin typeface="Arial Narrow" panose="020B0606020202030204" pitchFamily="34" charset="0"/>
              <a:ea typeface="LG스마트체 Regular" panose="020B0600000101010101" pitchFamily="50" charset="-127"/>
            </a:endParaRPr>
          </a:p>
        </p:txBody>
      </p:sp>
      <p:sp>
        <p:nvSpPr>
          <p:cNvPr id="13" name="사각형: 잘린 위쪽 모서리 12">
            <a:extLst>
              <a:ext uri="{FF2B5EF4-FFF2-40B4-BE49-F238E27FC236}">
                <a16:creationId xmlns:a16="http://schemas.microsoft.com/office/drawing/2014/main" id="{44628670-6F0F-9766-1F6B-580148DC7243}"/>
              </a:ext>
            </a:extLst>
          </p:cNvPr>
          <p:cNvSpPr/>
          <p:nvPr/>
        </p:nvSpPr>
        <p:spPr>
          <a:xfrm rot="16200000">
            <a:off x="2084228" y="2670758"/>
            <a:ext cx="2049440" cy="179700"/>
          </a:xfrm>
          <a:prstGeom prst="snip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ko-KR" altLang="en-US" sz="792" dirty="0">
                <a:solidFill>
                  <a:schemeClr val="tx1"/>
                </a:solidFill>
                <a:latin typeface="Arial Narrow" panose="020B0606020202030204" pitchFamily="34" charset="0"/>
                <a:ea typeface="LG스마트체 Regular" panose="020B0600000101010101" pitchFamily="50" charset="-127"/>
              </a:rPr>
              <a:t>자동차 전체 불량율을 모델별로 분배</a:t>
            </a:r>
          </a:p>
        </p:txBody>
      </p:sp>
      <p:sp>
        <p:nvSpPr>
          <p:cNvPr id="14" name="사각형: 잘린 위쪽 모서리 13">
            <a:extLst>
              <a:ext uri="{FF2B5EF4-FFF2-40B4-BE49-F238E27FC236}">
                <a16:creationId xmlns:a16="http://schemas.microsoft.com/office/drawing/2014/main" id="{315EBD4A-800C-5460-99C5-C1BA3E346A63}"/>
              </a:ext>
            </a:extLst>
          </p:cNvPr>
          <p:cNvSpPr/>
          <p:nvPr/>
        </p:nvSpPr>
        <p:spPr>
          <a:xfrm rot="16200000">
            <a:off x="7709711" y="2652648"/>
            <a:ext cx="2068902" cy="196457"/>
          </a:xfrm>
          <a:prstGeom prst="snip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r>
              <a:rPr lang="en-US" altLang="ko-KR" sz="792" dirty="0">
                <a:solidFill>
                  <a:schemeClr val="tx1"/>
                </a:solidFill>
                <a:latin typeface="Arial Narrow" panose="020B0606020202030204" pitchFamily="34" charset="0"/>
                <a:ea typeface="LG스마트체 Regular" panose="020B0600000101010101" pitchFamily="50" charset="-127"/>
              </a:rPr>
              <a:t>ESS</a:t>
            </a:r>
            <a:r>
              <a:rPr lang="ko-KR" altLang="en-US" sz="792" dirty="0">
                <a:solidFill>
                  <a:schemeClr val="tx1"/>
                </a:solidFill>
                <a:latin typeface="Arial Narrow" panose="020B0606020202030204" pitchFamily="34" charset="0"/>
                <a:ea typeface="LG스마트체 Regular" panose="020B0600000101010101" pitchFamily="50" charset="-127"/>
              </a:rPr>
              <a:t> 전체 불량율을 모델별로 분배</a:t>
            </a:r>
          </a:p>
        </p:txBody>
      </p:sp>
      <p:sp>
        <p:nvSpPr>
          <p:cNvPr id="16" name="직사각형 15">
            <a:extLst>
              <a:ext uri="{FF2B5EF4-FFF2-40B4-BE49-F238E27FC236}">
                <a16:creationId xmlns:a16="http://schemas.microsoft.com/office/drawing/2014/main" id="{2B54ED47-507A-DCCC-8288-5A0323BEA396}"/>
              </a:ext>
            </a:extLst>
          </p:cNvPr>
          <p:cNvSpPr/>
          <p:nvPr/>
        </p:nvSpPr>
        <p:spPr>
          <a:xfrm>
            <a:off x="8842388" y="1183412"/>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891" dirty="0">
                <a:solidFill>
                  <a:schemeClr val="tx1"/>
                </a:solidFill>
                <a:latin typeface="Arial Narrow" panose="020B0606020202030204" pitchFamily="34" charset="0"/>
                <a:ea typeface="LG스마트체 Regular" panose="020B0600000101010101" pitchFamily="50" charset="-127"/>
              </a:rPr>
              <a:t>~8/31 </a:t>
            </a:r>
            <a:r>
              <a:rPr lang="ko-KR" altLang="en-US" sz="891" dirty="0">
                <a:solidFill>
                  <a:schemeClr val="tx1"/>
                </a:solidFill>
                <a:latin typeface="Arial Narrow" panose="020B0606020202030204" pitchFamily="34" charset="0"/>
                <a:ea typeface="LG스마트체 Regular" panose="020B0600000101010101" pitchFamily="50" charset="-127"/>
              </a:rPr>
              <a:t>기준</a:t>
            </a:r>
          </a:p>
        </p:txBody>
      </p:sp>
      <p:sp>
        <p:nvSpPr>
          <p:cNvPr id="3" name="직사각형 2">
            <a:extLst>
              <a:ext uri="{FF2B5EF4-FFF2-40B4-BE49-F238E27FC236}">
                <a16:creationId xmlns:a16="http://schemas.microsoft.com/office/drawing/2014/main" id="{B487CF0C-BC2A-ABC1-4EF8-C73B58788209}"/>
              </a:ext>
            </a:extLst>
          </p:cNvPr>
          <p:cNvSpPr/>
          <p:nvPr/>
        </p:nvSpPr>
        <p:spPr>
          <a:xfrm>
            <a:off x="4564892" y="4886168"/>
            <a:ext cx="5195902" cy="8179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특이 사항</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p>
          <a:p>
            <a:pPr marL="87984" indent="-87984">
              <a:buFont typeface="Arial" panose="020B0604020202020204" pitchFamily="34" charset="0"/>
              <a:buChar char="•"/>
            </a:pP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6/28 JF2S </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양산 중단 예정</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(9</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 재 생산 예정</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p>
          <a:p>
            <a:pPr marL="87984" indent="-87984">
              <a:buFont typeface="Arial" panose="020B0604020202020204" pitchFamily="34" charset="0"/>
              <a:buChar char="•"/>
            </a:pP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자동차 재작업 </a:t>
            </a: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 E85 </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등 </a:t>
            </a: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Normal </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일무</a:t>
            </a: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 </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모델 재작업 진행하지 못하여 </a:t>
            </a:r>
            <a:r>
              <a:rPr lang="ko-KR" altLang="en-US" sz="891" dirty="0">
                <a:solidFill>
                  <a:srgbClr val="4EA72E">
                    <a:lumMod val="50000"/>
                  </a:srgbClr>
                </a:solidFill>
                <a:latin typeface="Arial Narrow" panose="020B0606020202030204" pitchFamily="34" charset="0"/>
                <a:ea typeface="LG스마트체 Regular" panose="020B0600000101010101" pitchFamily="50" charset="-127"/>
              </a:rPr>
              <a:t>재작업 물량 </a:t>
            </a:r>
            <a:r>
              <a:rPr lang="en-US" altLang="ko-KR" sz="891" dirty="0">
                <a:solidFill>
                  <a:srgbClr val="4EA72E">
                    <a:lumMod val="50000"/>
                  </a:srgbClr>
                </a:solidFill>
                <a:latin typeface="Arial Narrow" panose="020B0606020202030204" pitchFamily="34" charset="0"/>
                <a:ea typeface="LG스마트체 Regular" panose="020B0600000101010101" pitchFamily="50" charset="-127"/>
              </a:rPr>
              <a:t>9</a:t>
            </a:r>
            <a:r>
              <a:rPr lang="ko-KR" altLang="en-US" sz="891" dirty="0">
                <a:solidFill>
                  <a:srgbClr val="4EA72E">
                    <a:lumMod val="50000"/>
                  </a:srgbClr>
                </a:solidFill>
                <a:latin typeface="Arial Narrow" panose="020B0606020202030204" pitchFamily="34" charset="0"/>
                <a:ea typeface="LG스마트체 Regular" panose="020B0600000101010101" pitchFamily="50" charset="-127"/>
              </a:rPr>
              <a:t>월에 진행 예정</a:t>
            </a:r>
            <a:endPar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endParaRPr>
          </a:p>
          <a:p>
            <a:pPr marL="87984" indent="-87984">
              <a:buFont typeface="Arial" panose="020B0604020202020204" pitchFamily="34" charset="0"/>
              <a:buChar char="•"/>
            </a:pP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JF1 </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수동</a:t>
            </a: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 </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재작업 </a:t>
            </a:r>
            <a:r>
              <a:rPr lang="ko-KR" altLang="en-US" sz="891" dirty="0">
                <a:solidFill>
                  <a:srgbClr val="4EA72E">
                    <a:lumMod val="50000"/>
                  </a:srgbClr>
                </a:solidFill>
                <a:latin typeface="Arial Narrow" panose="020B0606020202030204" pitchFamily="34" charset="0"/>
                <a:ea typeface="LG스마트체 Regular" panose="020B0600000101010101" pitchFamily="50" charset="-127"/>
              </a:rPr>
              <a:t>진행 중</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으로 재작업 시 추적성 확보되지 않아 </a:t>
            </a: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8</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월부터 </a:t>
            </a:r>
            <a:r>
              <a:rPr kumimoji="0" lang="en-US" altLang="ko-KR"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QA</a:t>
            </a:r>
            <a:r>
              <a:rPr kumimoji="0" lang="ko-KR" altLang="en-US" sz="891" b="0" i="0" u="none" strike="noStrike" kern="1200" cap="none" spc="0" normalizeH="0" baseline="0" noProof="0" dirty="0">
                <a:ln>
                  <a:noFill/>
                </a:ln>
                <a:solidFill>
                  <a:srgbClr val="4EA72E">
                    <a:lumMod val="50000"/>
                  </a:srgbClr>
                </a:solidFill>
                <a:effectLst/>
                <a:uLnTx/>
                <a:uFillTx/>
                <a:latin typeface="Arial Narrow" panose="020B0606020202030204" pitchFamily="34" charset="0"/>
                <a:ea typeface="LG스마트체 Regular" panose="020B0600000101010101" pitchFamily="50" charset="-127"/>
                <a:cs typeface="+mn-cs"/>
              </a:rPr>
              <a:t>에서 재작업 불가 판단하여 재작업기 설비 투자 후 재작업 진행 예정</a:t>
            </a:r>
            <a:endParaRPr lang="ko-KR" altLang="en-US" sz="891" dirty="0">
              <a:solidFill>
                <a:schemeClr val="accent6">
                  <a:lumMod val="50000"/>
                </a:schemeClr>
              </a:solidFill>
              <a:latin typeface="Arial Narrow" panose="020B0606020202030204" pitchFamily="34" charset="0"/>
              <a:ea typeface="LG스마트체 Regular" panose="020B0600000101010101" pitchFamily="50" charset="-127"/>
            </a:endParaRPr>
          </a:p>
        </p:txBody>
      </p:sp>
      <p:sp>
        <p:nvSpPr>
          <p:cNvPr id="20" name="직사각형 19">
            <a:extLst>
              <a:ext uri="{FF2B5EF4-FFF2-40B4-BE49-F238E27FC236}">
                <a16:creationId xmlns:a16="http://schemas.microsoft.com/office/drawing/2014/main" id="{B425F08B-6106-07ED-5CE0-61AE50A23286}"/>
              </a:ext>
            </a:extLst>
          </p:cNvPr>
          <p:cNvSpPr/>
          <p:nvPr/>
        </p:nvSpPr>
        <p:spPr>
          <a:xfrm>
            <a:off x="8223845" y="5855043"/>
            <a:ext cx="1294852"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ko-KR" altLang="en-US" sz="891" dirty="0" err="1">
                <a:solidFill>
                  <a:schemeClr val="tx1"/>
                </a:solidFill>
                <a:latin typeface="Arial Narrow" panose="020B0606020202030204" pitchFamily="34" charset="0"/>
                <a:ea typeface="LG스마트체 Regular" panose="020B0600000101010101" pitchFamily="50" charset="-127"/>
              </a:rPr>
              <a:t>스태킹</a:t>
            </a:r>
            <a:r>
              <a:rPr lang="ko-KR" altLang="en-US" sz="891" dirty="0">
                <a:solidFill>
                  <a:schemeClr val="tx1"/>
                </a:solidFill>
                <a:latin typeface="Arial Narrow" panose="020B0606020202030204" pitchFamily="34" charset="0"/>
                <a:ea typeface="LG스마트체 Regular" panose="020B0600000101010101" pitchFamily="50" charset="-127"/>
              </a:rPr>
              <a:t> </a:t>
            </a:r>
            <a:r>
              <a:rPr lang="ko-KR" altLang="en-US" sz="891" dirty="0" err="1">
                <a:solidFill>
                  <a:schemeClr val="tx1"/>
                </a:solidFill>
                <a:latin typeface="Arial Narrow" panose="020B0606020202030204" pitchFamily="34" charset="0"/>
                <a:ea typeface="LG스마트체 Regular" panose="020B0600000101010101" pitchFamily="50" charset="-127"/>
              </a:rPr>
              <a:t>모델별</a:t>
            </a:r>
            <a:r>
              <a:rPr lang="ko-KR" altLang="en-US" sz="891" dirty="0">
                <a:solidFill>
                  <a:schemeClr val="tx1"/>
                </a:solidFill>
                <a:latin typeface="Arial Narrow" panose="020B0606020202030204" pitchFamily="34" charset="0"/>
                <a:ea typeface="LG스마트체 Regular" panose="020B0600000101010101" pitchFamily="50" charset="-127"/>
              </a:rPr>
              <a:t> 불량 현황</a:t>
            </a:r>
          </a:p>
        </p:txBody>
      </p:sp>
      <p:sp>
        <p:nvSpPr>
          <p:cNvPr id="2" name="직사각형 1">
            <a:extLst>
              <a:ext uri="{FF2B5EF4-FFF2-40B4-BE49-F238E27FC236}">
                <a16:creationId xmlns:a16="http://schemas.microsoft.com/office/drawing/2014/main" id="{935A4D32-7D85-1F29-A7D9-0FA8748D1254}"/>
              </a:ext>
            </a:extLst>
          </p:cNvPr>
          <p:cNvSpPr/>
          <p:nvPr/>
        </p:nvSpPr>
        <p:spPr>
          <a:xfrm>
            <a:off x="7769856" y="6103337"/>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0.20% </a:t>
            </a:r>
            <a:r>
              <a:rPr lang="ko-KR" altLang="en-US" sz="891" dirty="0">
                <a:solidFill>
                  <a:schemeClr val="tx1"/>
                </a:solidFill>
                <a:latin typeface="Arial Narrow" panose="020B0606020202030204" pitchFamily="34" charset="0"/>
                <a:ea typeface="LG스마트체 Regular" panose="020B0600000101010101" pitchFamily="50" charset="-127"/>
              </a:rPr>
              <a:t>이상</a:t>
            </a:r>
          </a:p>
        </p:txBody>
      </p:sp>
      <p:sp>
        <p:nvSpPr>
          <p:cNvPr id="4" name="직사각형 3">
            <a:extLst>
              <a:ext uri="{FF2B5EF4-FFF2-40B4-BE49-F238E27FC236}">
                <a16:creationId xmlns:a16="http://schemas.microsoft.com/office/drawing/2014/main" id="{80F337EC-602C-B9D1-A99A-604F94A61DA8}"/>
              </a:ext>
            </a:extLst>
          </p:cNvPr>
          <p:cNvSpPr/>
          <p:nvPr/>
        </p:nvSpPr>
        <p:spPr>
          <a:xfrm>
            <a:off x="7619194" y="6125075"/>
            <a:ext cx="143811" cy="13134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5" name="직사각형 4">
            <a:extLst>
              <a:ext uri="{FF2B5EF4-FFF2-40B4-BE49-F238E27FC236}">
                <a16:creationId xmlns:a16="http://schemas.microsoft.com/office/drawing/2014/main" id="{86C53439-E2FC-9189-A935-D4ADE76D4702}"/>
              </a:ext>
            </a:extLst>
          </p:cNvPr>
          <p:cNvSpPr/>
          <p:nvPr/>
        </p:nvSpPr>
        <p:spPr>
          <a:xfrm>
            <a:off x="8736531" y="6107151"/>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0.10% ~ 0.20%</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12" name="직사각형 11">
            <a:extLst>
              <a:ext uri="{FF2B5EF4-FFF2-40B4-BE49-F238E27FC236}">
                <a16:creationId xmlns:a16="http://schemas.microsoft.com/office/drawing/2014/main" id="{0E9B091F-89E9-75CC-DFF4-495BD422FAE3}"/>
              </a:ext>
            </a:extLst>
          </p:cNvPr>
          <p:cNvSpPr/>
          <p:nvPr/>
        </p:nvSpPr>
        <p:spPr>
          <a:xfrm>
            <a:off x="8585870" y="6128890"/>
            <a:ext cx="143811" cy="13134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1" name="직사각형 20">
            <a:extLst>
              <a:ext uri="{FF2B5EF4-FFF2-40B4-BE49-F238E27FC236}">
                <a16:creationId xmlns:a16="http://schemas.microsoft.com/office/drawing/2014/main" id="{07F7BD38-80D7-1E13-FAE1-CE9BA0797805}"/>
              </a:ext>
            </a:extLst>
          </p:cNvPr>
          <p:cNvSpPr/>
          <p:nvPr/>
        </p:nvSpPr>
        <p:spPr>
          <a:xfrm>
            <a:off x="7769855" y="6341094"/>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 0.10%</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2" name="직사각형 21">
            <a:extLst>
              <a:ext uri="{FF2B5EF4-FFF2-40B4-BE49-F238E27FC236}">
                <a16:creationId xmlns:a16="http://schemas.microsoft.com/office/drawing/2014/main" id="{3DAAACB4-C104-226C-89FF-D0FCDC187CA1}"/>
              </a:ext>
            </a:extLst>
          </p:cNvPr>
          <p:cNvSpPr/>
          <p:nvPr/>
        </p:nvSpPr>
        <p:spPr>
          <a:xfrm>
            <a:off x="7619194" y="6362833"/>
            <a:ext cx="143811" cy="13134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3" name="직사각형 22">
            <a:extLst>
              <a:ext uri="{FF2B5EF4-FFF2-40B4-BE49-F238E27FC236}">
                <a16:creationId xmlns:a16="http://schemas.microsoft.com/office/drawing/2014/main" id="{0DB52346-9BE7-2894-AE82-687F61571411}"/>
              </a:ext>
            </a:extLst>
          </p:cNvPr>
          <p:cNvSpPr/>
          <p:nvPr/>
        </p:nvSpPr>
        <p:spPr>
          <a:xfrm>
            <a:off x="8736533" y="6341668"/>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a:t>
            </a:r>
            <a:r>
              <a:rPr lang="ko-KR" altLang="en-US" sz="891" dirty="0">
                <a:solidFill>
                  <a:schemeClr val="tx1"/>
                </a:solidFill>
                <a:latin typeface="Arial Narrow" panose="020B0606020202030204" pitchFamily="34" charset="0"/>
                <a:ea typeface="LG스마트체 Regular" panose="020B0600000101010101" pitchFamily="50" charset="-127"/>
              </a:rPr>
              <a:t>이하</a:t>
            </a:r>
          </a:p>
        </p:txBody>
      </p:sp>
      <p:sp>
        <p:nvSpPr>
          <p:cNvPr id="24" name="직사각형 23">
            <a:extLst>
              <a:ext uri="{FF2B5EF4-FFF2-40B4-BE49-F238E27FC236}">
                <a16:creationId xmlns:a16="http://schemas.microsoft.com/office/drawing/2014/main" id="{66270ECD-7201-EF89-5581-B0EFB26D8376}"/>
              </a:ext>
            </a:extLst>
          </p:cNvPr>
          <p:cNvSpPr/>
          <p:nvPr/>
        </p:nvSpPr>
        <p:spPr>
          <a:xfrm>
            <a:off x="8585870" y="6363407"/>
            <a:ext cx="143811" cy="13134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5" name="직사각형 24">
            <a:extLst>
              <a:ext uri="{FF2B5EF4-FFF2-40B4-BE49-F238E27FC236}">
                <a16:creationId xmlns:a16="http://schemas.microsoft.com/office/drawing/2014/main" id="{BF75C08E-2801-6354-C814-3986B2CA738A}"/>
              </a:ext>
            </a:extLst>
          </p:cNvPr>
          <p:cNvSpPr/>
          <p:nvPr/>
        </p:nvSpPr>
        <p:spPr>
          <a:xfrm>
            <a:off x="4676069" y="6124501"/>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a:t>
            </a:r>
            <a:r>
              <a:rPr lang="ko-KR" altLang="en-US" sz="891" dirty="0">
                <a:solidFill>
                  <a:schemeClr val="tx1"/>
                </a:solidFill>
                <a:latin typeface="Arial Narrow" panose="020B0606020202030204" pitchFamily="34" charset="0"/>
                <a:ea typeface="LG스마트체 Regular" panose="020B0600000101010101" pitchFamily="50" charset="-127"/>
              </a:rPr>
              <a:t>이상</a:t>
            </a:r>
          </a:p>
        </p:txBody>
      </p:sp>
      <p:sp>
        <p:nvSpPr>
          <p:cNvPr id="26" name="직사각형 25">
            <a:extLst>
              <a:ext uri="{FF2B5EF4-FFF2-40B4-BE49-F238E27FC236}">
                <a16:creationId xmlns:a16="http://schemas.microsoft.com/office/drawing/2014/main" id="{738EF959-08CF-C26F-84BD-451FA9E4AA2F}"/>
              </a:ext>
            </a:extLst>
          </p:cNvPr>
          <p:cNvSpPr/>
          <p:nvPr/>
        </p:nvSpPr>
        <p:spPr>
          <a:xfrm>
            <a:off x="4525407" y="6146240"/>
            <a:ext cx="143811" cy="13134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7" name="직사각형 26">
            <a:extLst>
              <a:ext uri="{FF2B5EF4-FFF2-40B4-BE49-F238E27FC236}">
                <a16:creationId xmlns:a16="http://schemas.microsoft.com/office/drawing/2014/main" id="{0108CC22-29BF-FE59-016A-DBE3AA39EFD7}"/>
              </a:ext>
            </a:extLst>
          </p:cNvPr>
          <p:cNvSpPr/>
          <p:nvPr/>
        </p:nvSpPr>
        <p:spPr>
          <a:xfrm>
            <a:off x="5642744" y="6128316"/>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0.03% ~ 0.05%</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8" name="직사각형 27">
            <a:extLst>
              <a:ext uri="{FF2B5EF4-FFF2-40B4-BE49-F238E27FC236}">
                <a16:creationId xmlns:a16="http://schemas.microsoft.com/office/drawing/2014/main" id="{EF8F56F1-417A-AD31-11B1-3A43670560C7}"/>
              </a:ext>
            </a:extLst>
          </p:cNvPr>
          <p:cNvSpPr/>
          <p:nvPr/>
        </p:nvSpPr>
        <p:spPr>
          <a:xfrm>
            <a:off x="5492083" y="6150054"/>
            <a:ext cx="143811" cy="13134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9" name="직사각형 28">
            <a:extLst>
              <a:ext uri="{FF2B5EF4-FFF2-40B4-BE49-F238E27FC236}">
                <a16:creationId xmlns:a16="http://schemas.microsoft.com/office/drawing/2014/main" id="{B5AC6863-F6A9-964D-962E-DF1526C7B95D}"/>
              </a:ext>
            </a:extLst>
          </p:cNvPr>
          <p:cNvSpPr/>
          <p:nvPr/>
        </p:nvSpPr>
        <p:spPr>
          <a:xfrm>
            <a:off x="4676068" y="6362259"/>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0.01% ~ 0.03%</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6" name="직사각형 45">
            <a:extLst>
              <a:ext uri="{FF2B5EF4-FFF2-40B4-BE49-F238E27FC236}">
                <a16:creationId xmlns:a16="http://schemas.microsoft.com/office/drawing/2014/main" id="{9A6AA069-7863-2AF5-A521-F0780327380B}"/>
              </a:ext>
            </a:extLst>
          </p:cNvPr>
          <p:cNvSpPr/>
          <p:nvPr/>
        </p:nvSpPr>
        <p:spPr>
          <a:xfrm>
            <a:off x="4525407" y="6383997"/>
            <a:ext cx="143811" cy="13134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47" name="직사각형 46">
            <a:extLst>
              <a:ext uri="{FF2B5EF4-FFF2-40B4-BE49-F238E27FC236}">
                <a16:creationId xmlns:a16="http://schemas.microsoft.com/office/drawing/2014/main" id="{6444A635-CAC2-5FBE-4A10-8843317C2E5B}"/>
              </a:ext>
            </a:extLst>
          </p:cNvPr>
          <p:cNvSpPr/>
          <p:nvPr/>
        </p:nvSpPr>
        <p:spPr>
          <a:xfrm>
            <a:off x="5642746" y="6362833"/>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0.01% </a:t>
            </a:r>
            <a:r>
              <a:rPr lang="ko-KR" altLang="en-US" sz="891" dirty="0">
                <a:solidFill>
                  <a:schemeClr val="tx1"/>
                </a:solidFill>
                <a:latin typeface="Arial Narrow" panose="020B0606020202030204" pitchFamily="34" charset="0"/>
                <a:ea typeface="LG스마트체 Regular" panose="020B0600000101010101" pitchFamily="50" charset="-127"/>
              </a:rPr>
              <a:t>이하</a:t>
            </a:r>
          </a:p>
        </p:txBody>
      </p:sp>
      <p:sp>
        <p:nvSpPr>
          <p:cNvPr id="48" name="직사각형 47">
            <a:extLst>
              <a:ext uri="{FF2B5EF4-FFF2-40B4-BE49-F238E27FC236}">
                <a16:creationId xmlns:a16="http://schemas.microsoft.com/office/drawing/2014/main" id="{0D881A9D-B030-DBCA-49E2-DC96AA0DC31D}"/>
              </a:ext>
            </a:extLst>
          </p:cNvPr>
          <p:cNvSpPr/>
          <p:nvPr/>
        </p:nvSpPr>
        <p:spPr>
          <a:xfrm>
            <a:off x="5492083" y="6384571"/>
            <a:ext cx="143811" cy="13134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2" name="직사각형 31">
            <a:extLst>
              <a:ext uri="{FF2B5EF4-FFF2-40B4-BE49-F238E27FC236}">
                <a16:creationId xmlns:a16="http://schemas.microsoft.com/office/drawing/2014/main" id="{98D8EEA8-09B1-A2CD-6090-2BFE83EFEB4A}"/>
              </a:ext>
            </a:extLst>
          </p:cNvPr>
          <p:cNvSpPr/>
          <p:nvPr/>
        </p:nvSpPr>
        <p:spPr>
          <a:xfrm>
            <a:off x="4230368" y="1114879"/>
            <a:ext cx="1903219" cy="2222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JF1</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Rework</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-0.37%(7</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 0.00&amp;(8</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endParaRPr lang="ko-KR" altLang="en-US" sz="891" dirty="0">
              <a:solidFill>
                <a:schemeClr val="accent6">
                  <a:lumMod val="50000"/>
                </a:schemeClr>
              </a:solidFill>
              <a:latin typeface="Arial Narrow" panose="020B0606020202030204" pitchFamily="34" charset="0"/>
              <a:ea typeface="LG스마트체 Regular" panose="020B0600000101010101" pitchFamily="50" charset="-127"/>
            </a:endParaRPr>
          </a:p>
        </p:txBody>
      </p:sp>
      <p:sp>
        <p:nvSpPr>
          <p:cNvPr id="34" name="직사각형 33">
            <a:extLst>
              <a:ext uri="{FF2B5EF4-FFF2-40B4-BE49-F238E27FC236}">
                <a16:creationId xmlns:a16="http://schemas.microsoft.com/office/drawing/2014/main" id="{C1F0AC5C-AC91-CB9E-B72B-D6BE33E14999}"/>
              </a:ext>
            </a:extLst>
          </p:cNvPr>
          <p:cNvSpPr/>
          <p:nvPr/>
        </p:nvSpPr>
        <p:spPr>
          <a:xfrm>
            <a:off x="3535300" y="521531"/>
            <a:ext cx="4050338" cy="2511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자동차 </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Rework -0.33%(7</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 -0.25%(8</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공정</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Loss 0.05%(7</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 → 0.08%(8</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endParaRPr lang="ko-KR" altLang="en-US" sz="891" dirty="0">
              <a:solidFill>
                <a:schemeClr val="accent6">
                  <a:lumMod val="50000"/>
                </a:schemeClr>
              </a:solidFill>
              <a:latin typeface="Arial Narrow" panose="020B0606020202030204" pitchFamily="34" charset="0"/>
              <a:ea typeface="LG스마트체 Regular" panose="020B0600000101010101" pitchFamily="50" charset="-127"/>
            </a:endParaRPr>
          </a:p>
        </p:txBody>
      </p:sp>
      <p:sp>
        <p:nvSpPr>
          <p:cNvPr id="17" name="실행 단추: 앞으로 또는 다음으로 이동 16">
            <a:hlinkClick r:id="rId2" action="ppaction://hlinksldjump" highlightClick="1"/>
            <a:extLst>
              <a:ext uri="{FF2B5EF4-FFF2-40B4-BE49-F238E27FC236}">
                <a16:creationId xmlns:a16="http://schemas.microsoft.com/office/drawing/2014/main" id="{81ECFA49-106E-9853-743E-54BE3D28D6CA}"/>
              </a:ext>
            </a:extLst>
          </p:cNvPr>
          <p:cNvSpPr/>
          <p:nvPr/>
        </p:nvSpPr>
        <p:spPr>
          <a:xfrm>
            <a:off x="9484792" y="5875085"/>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a:latin typeface="Arial Narrow" panose="020B0606020202030204" pitchFamily="34" charset="0"/>
            </a:endParaRPr>
          </a:p>
        </p:txBody>
      </p:sp>
      <p:sp>
        <p:nvSpPr>
          <p:cNvPr id="37" name="TextBox 36">
            <a:extLst>
              <a:ext uri="{FF2B5EF4-FFF2-40B4-BE49-F238E27FC236}">
                <a16:creationId xmlns:a16="http://schemas.microsoft.com/office/drawing/2014/main" id="{AF21445F-D0AE-BEDB-E7CE-36C653FF14DB}"/>
              </a:ext>
            </a:extLst>
          </p:cNvPr>
          <p:cNvSpPr txBox="1"/>
          <p:nvPr/>
        </p:nvSpPr>
        <p:spPr>
          <a:xfrm>
            <a:off x="8202737"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err="1">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33" name="화살표: 오른쪽 32">
            <a:hlinkClick r:id="rId3" action="ppaction://hlinksldjump"/>
            <a:extLst>
              <a:ext uri="{FF2B5EF4-FFF2-40B4-BE49-F238E27FC236}">
                <a16:creationId xmlns:a16="http://schemas.microsoft.com/office/drawing/2014/main" id="{FDF670F3-8B57-A932-27E8-04905A2E3C30}"/>
              </a:ext>
            </a:extLst>
          </p:cNvPr>
          <p:cNvSpPr/>
          <p:nvPr/>
        </p:nvSpPr>
        <p:spPr>
          <a:xfrm>
            <a:off x="9429444" y="116632"/>
            <a:ext cx="348519" cy="335140"/>
          </a:xfrm>
          <a:prstGeom prst="rightArrow">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맑은 고딕"/>
              <a:ea typeface="맑은 고딕" panose="020B0503020000020004" pitchFamily="50" charset="-127"/>
            </a:endParaRPr>
          </a:p>
        </p:txBody>
      </p:sp>
      <p:sp>
        <p:nvSpPr>
          <p:cNvPr id="15" name="TextBox 14">
            <a:extLst>
              <a:ext uri="{FF2B5EF4-FFF2-40B4-BE49-F238E27FC236}">
                <a16:creationId xmlns:a16="http://schemas.microsoft.com/office/drawing/2014/main" id="{A6CB18F7-A165-8C44-A0F8-0FA185A2C735}"/>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- 7 / 10 -</a:t>
            </a:r>
          </a:p>
        </p:txBody>
      </p:sp>
    </p:spTree>
    <p:extLst>
      <p:ext uri="{BB962C8B-B14F-4D97-AF65-F5344CB8AC3E}">
        <p14:creationId xmlns:p14="http://schemas.microsoft.com/office/powerpoint/2010/main" val="47677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19AA4-CEF7-0606-8520-08E4188DB609}"/>
            </a:ext>
          </a:extLst>
        </p:cNvPr>
        <p:cNvGrpSpPr/>
        <p:nvPr/>
      </p:nvGrpSpPr>
      <p:grpSpPr>
        <a:xfrm>
          <a:off x="0" y="0"/>
          <a:ext cx="0" cy="0"/>
          <a:chOff x="0" y="0"/>
          <a:chExt cx="0" cy="0"/>
        </a:xfrm>
      </p:grpSpPr>
      <p:graphicFrame>
        <p:nvGraphicFramePr>
          <p:cNvPr id="14" name="표 13">
            <a:extLst>
              <a:ext uri="{FF2B5EF4-FFF2-40B4-BE49-F238E27FC236}">
                <a16:creationId xmlns:a16="http://schemas.microsoft.com/office/drawing/2014/main" id="{04DD9411-EFF2-7605-FC72-3BD4BD174B96}"/>
              </a:ext>
            </a:extLst>
          </p:cNvPr>
          <p:cNvGraphicFramePr>
            <a:graphicFrameLocks noGrp="1"/>
          </p:cNvGraphicFramePr>
          <p:nvPr>
            <p:extLst>
              <p:ext uri="{D42A27DB-BD31-4B8C-83A1-F6EECF244321}">
                <p14:modId xmlns:p14="http://schemas.microsoft.com/office/powerpoint/2010/main" val="241129725"/>
              </p:ext>
            </p:extLst>
          </p:nvPr>
        </p:nvGraphicFramePr>
        <p:xfrm>
          <a:off x="176707" y="1504798"/>
          <a:ext cx="9526250" cy="4212768"/>
        </p:xfrm>
        <a:graphic>
          <a:graphicData uri="http://schemas.openxmlformats.org/drawingml/2006/table">
            <a:tbl>
              <a:tblPr/>
              <a:tblGrid>
                <a:gridCol w="403007">
                  <a:extLst>
                    <a:ext uri="{9D8B030D-6E8A-4147-A177-3AD203B41FA5}">
                      <a16:colId xmlns:a16="http://schemas.microsoft.com/office/drawing/2014/main" val="4268501505"/>
                    </a:ext>
                  </a:extLst>
                </a:gridCol>
                <a:gridCol w="308474">
                  <a:extLst>
                    <a:ext uri="{9D8B030D-6E8A-4147-A177-3AD203B41FA5}">
                      <a16:colId xmlns:a16="http://schemas.microsoft.com/office/drawing/2014/main" val="3221404141"/>
                    </a:ext>
                  </a:extLst>
                </a:gridCol>
                <a:gridCol w="290232">
                  <a:extLst>
                    <a:ext uri="{9D8B030D-6E8A-4147-A177-3AD203B41FA5}">
                      <a16:colId xmlns:a16="http://schemas.microsoft.com/office/drawing/2014/main" val="983474796"/>
                    </a:ext>
                  </a:extLst>
                </a:gridCol>
                <a:gridCol w="286913">
                  <a:extLst>
                    <a:ext uri="{9D8B030D-6E8A-4147-A177-3AD203B41FA5}">
                      <a16:colId xmlns:a16="http://schemas.microsoft.com/office/drawing/2014/main" val="2876461025"/>
                    </a:ext>
                  </a:extLst>
                </a:gridCol>
                <a:gridCol w="291889">
                  <a:extLst>
                    <a:ext uri="{9D8B030D-6E8A-4147-A177-3AD203B41FA5}">
                      <a16:colId xmlns:a16="http://schemas.microsoft.com/office/drawing/2014/main" val="514205798"/>
                    </a:ext>
                  </a:extLst>
                </a:gridCol>
                <a:gridCol w="291889">
                  <a:extLst>
                    <a:ext uri="{9D8B030D-6E8A-4147-A177-3AD203B41FA5}">
                      <a16:colId xmlns:a16="http://schemas.microsoft.com/office/drawing/2014/main" val="57240171"/>
                    </a:ext>
                  </a:extLst>
                </a:gridCol>
                <a:gridCol w="291889">
                  <a:extLst>
                    <a:ext uri="{9D8B030D-6E8A-4147-A177-3AD203B41FA5}">
                      <a16:colId xmlns:a16="http://schemas.microsoft.com/office/drawing/2014/main" val="1528687555"/>
                    </a:ext>
                  </a:extLst>
                </a:gridCol>
                <a:gridCol w="291889">
                  <a:extLst>
                    <a:ext uri="{9D8B030D-6E8A-4147-A177-3AD203B41FA5}">
                      <a16:colId xmlns:a16="http://schemas.microsoft.com/office/drawing/2014/main" val="1662278739"/>
                    </a:ext>
                  </a:extLst>
                </a:gridCol>
                <a:gridCol w="214661">
                  <a:extLst>
                    <a:ext uri="{9D8B030D-6E8A-4147-A177-3AD203B41FA5}">
                      <a16:colId xmlns:a16="http://schemas.microsoft.com/office/drawing/2014/main" val="785853438"/>
                    </a:ext>
                  </a:extLst>
                </a:gridCol>
                <a:gridCol w="291889">
                  <a:extLst>
                    <a:ext uri="{9D8B030D-6E8A-4147-A177-3AD203B41FA5}">
                      <a16:colId xmlns:a16="http://schemas.microsoft.com/office/drawing/2014/main" val="1064688840"/>
                    </a:ext>
                  </a:extLst>
                </a:gridCol>
                <a:gridCol w="291889">
                  <a:extLst>
                    <a:ext uri="{9D8B030D-6E8A-4147-A177-3AD203B41FA5}">
                      <a16:colId xmlns:a16="http://schemas.microsoft.com/office/drawing/2014/main" val="3716787851"/>
                    </a:ext>
                  </a:extLst>
                </a:gridCol>
                <a:gridCol w="291889">
                  <a:extLst>
                    <a:ext uri="{9D8B030D-6E8A-4147-A177-3AD203B41FA5}">
                      <a16:colId xmlns:a16="http://schemas.microsoft.com/office/drawing/2014/main" val="105117729"/>
                    </a:ext>
                  </a:extLst>
                </a:gridCol>
                <a:gridCol w="298254">
                  <a:extLst>
                    <a:ext uri="{9D8B030D-6E8A-4147-A177-3AD203B41FA5}">
                      <a16:colId xmlns:a16="http://schemas.microsoft.com/office/drawing/2014/main" val="3040058248"/>
                    </a:ext>
                  </a:extLst>
                </a:gridCol>
                <a:gridCol w="291889">
                  <a:extLst>
                    <a:ext uri="{9D8B030D-6E8A-4147-A177-3AD203B41FA5}">
                      <a16:colId xmlns:a16="http://schemas.microsoft.com/office/drawing/2014/main" val="1791250982"/>
                    </a:ext>
                  </a:extLst>
                </a:gridCol>
                <a:gridCol w="291889">
                  <a:extLst>
                    <a:ext uri="{9D8B030D-6E8A-4147-A177-3AD203B41FA5}">
                      <a16:colId xmlns:a16="http://schemas.microsoft.com/office/drawing/2014/main" val="4147870782"/>
                    </a:ext>
                  </a:extLst>
                </a:gridCol>
                <a:gridCol w="291889">
                  <a:extLst>
                    <a:ext uri="{9D8B030D-6E8A-4147-A177-3AD203B41FA5}">
                      <a16:colId xmlns:a16="http://schemas.microsoft.com/office/drawing/2014/main" val="3205862018"/>
                    </a:ext>
                  </a:extLst>
                </a:gridCol>
                <a:gridCol w="291889">
                  <a:extLst>
                    <a:ext uri="{9D8B030D-6E8A-4147-A177-3AD203B41FA5}">
                      <a16:colId xmlns:a16="http://schemas.microsoft.com/office/drawing/2014/main" val="2433788418"/>
                    </a:ext>
                  </a:extLst>
                </a:gridCol>
                <a:gridCol w="291889">
                  <a:extLst>
                    <a:ext uri="{9D8B030D-6E8A-4147-A177-3AD203B41FA5}">
                      <a16:colId xmlns:a16="http://schemas.microsoft.com/office/drawing/2014/main" val="3585332417"/>
                    </a:ext>
                  </a:extLst>
                </a:gridCol>
                <a:gridCol w="291889">
                  <a:extLst>
                    <a:ext uri="{9D8B030D-6E8A-4147-A177-3AD203B41FA5}">
                      <a16:colId xmlns:a16="http://schemas.microsoft.com/office/drawing/2014/main" val="3904434527"/>
                    </a:ext>
                  </a:extLst>
                </a:gridCol>
                <a:gridCol w="214661">
                  <a:extLst>
                    <a:ext uri="{9D8B030D-6E8A-4147-A177-3AD203B41FA5}">
                      <a16:colId xmlns:a16="http://schemas.microsoft.com/office/drawing/2014/main" val="353617718"/>
                    </a:ext>
                  </a:extLst>
                </a:gridCol>
                <a:gridCol w="482613">
                  <a:extLst>
                    <a:ext uri="{9D8B030D-6E8A-4147-A177-3AD203B41FA5}">
                      <a16:colId xmlns:a16="http://schemas.microsoft.com/office/drawing/2014/main" val="2776012125"/>
                    </a:ext>
                  </a:extLst>
                </a:gridCol>
                <a:gridCol w="308474">
                  <a:extLst>
                    <a:ext uri="{9D8B030D-6E8A-4147-A177-3AD203B41FA5}">
                      <a16:colId xmlns:a16="http://schemas.microsoft.com/office/drawing/2014/main" val="1950645481"/>
                    </a:ext>
                  </a:extLst>
                </a:gridCol>
                <a:gridCol w="286913">
                  <a:extLst>
                    <a:ext uri="{9D8B030D-6E8A-4147-A177-3AD203B41FA5}">
                      <a16:colId xmlns:a16="http://schemas.microsoft.com/office/drawing/2014/main" val="2508642337"/>
                    </a:ext>
                  </a:extLst>
                </a:gridCol>
                <a:gridCol w="286913">
                  <a:extLst>
                    <a:ext uri="{9D8B030D-6E8A-4147-A177-3AD203B41FA5}">
                      <a16:colId xmlns:a16="http://schemas.microsoft.com/office/drawing/2014/main" val="4085097436"/>
                    </a:ext>
                  </a:extLst>
                </a:gridCol>
                <a:gridCol w="286913">
                  <a:extLst>
                    <a:ext uri="{9D8B030D-6E8A-4147-A177-3AD203B41FA5}">
                      <a16:colId xmlns:a16="http://schemas.microsoft.com/office/drawing/2014/main" val="3725898230"/>
                    </a:ext>
                  </a:extLst>
                </a:gridCol>
                <a:gridCol w="286913">
                  <a:extLst>
                    <a:ext uri="{9D8B030D-6E8A-4147-A177-3AD203B41FA5}">
                      <a16:colId xmlns:a16="http://schemas.microsoft.com/office/drawing/2014/main" val="1262331825"/>
                    </a:ext>
                  </a:extLst>
                </a:gridCol>
                <a:gridCol w="286913">
                  <a:extLst>
                    <a:ext uri="{9D8B030D-6E8A-4147-A177-3AD203B41FA5}">
                      <a16:colId xmlns:a16="http://schemas.microsoft.com/office/drawing/2014/main" val="1321101726"/>
                    </a:ext>
                  </a:extLst>
                </a:gridCol>
                <a:gridCol w="290232">
                  <a:extLst>
                    <a:ext uri="{9D8B030D-6E8A-4147-A177-3AD203B41FA5}">
                      <a16:colId xmlns:a16="http://schemas.microsoft.com/office/drawing/2014/main" val="3368726562"/>
                    </a:ext>
                  </a:extLst>
                </a:gridCol>
                <a:gridCol w="214661">
                  <a:extLst>
                    <a:ext uri="{9D8B030D-6E8A-4147-A177-3AD203B41FA5}">
                      <a16:colId xmlns:a16="http://schemas.microsoft.com/office/drawing/2014/main" val="2142317505"/>
                    </a:ext>
                  </a:extLst>
                </a:gridCol>
                <a:gridCol w="247111">
                  <a:extLst>
                    <a:ext uri="{9D8B030D-6E8A-4147-A177-3AD203B41FA5}">
                      <a16:colId xmlns:a16="http://schemas.microsoft.com/office/drawing/2014/main" val="354399151"/>
                    </a:ext>
                  </a:extLst>
                </a:gridCol>
                <a:gridCol w="247111">
                  <a:extLst>
                    <a:ext uri="{9D8B030D-6E8A-4147-A177-3AD203B41FA5}">
                      <a16:colId xmlns:a16="http://schemas.microsoft.com/office/drawing/2014/main" val="2184343137"/>
                    </a:ext>
                  </a:extLst>
                </a:gridCol>
                <a:gridCol w="218917">
                  <a:extLst>
                    <a:ext uri="{9D8B030D-6E8A-4147-A177-3AD203B41FA5}">
                      <a16:colId xmlns:a16="http://schemas.microsoft.com/office/drawing/2014/main" val="3326179892"/>
                    </a:ext>
                  </a:extLst>
                </a:gridCol>
                <a:gridCol w="271807">
                  <a:extLst>
                    <a:ext uri="{9D8B030D-6E8A-4147-A177-3AD203B41FA5}">
                      <a16:colId xmlns:a16="http://schemas.microsoft.com/office/drawing/2014/main" val="495169267"/>
                    </a:ext>
                  </a:extLst>
                </a:gridCol>
              </a:tblGrid>
              <a:tr h="175532">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E77A</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E161A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E72B</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E90B</a:t>
                      </a:r>
                    </a:p>
                  </a:txBody>
                  <a:tcPr marL="9427" marR="9427" marT="9427"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JF2S</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JF1</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813095783"/>
                  </a:ext>
                </a:extLst>
              </a:tr>
              <a:tr h="175532">
                <a:tc gridSpan="2">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EOL </a:t>
                      </a: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9.5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9.2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M</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4.84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gridSpan="2">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EOL </a:t>
                      </a: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생산량</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0.7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 M</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 M</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0.5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100422422"/>
                  </a:ext>
                </a:extLst>
              </a:tr>
              <a:tr h="175532">
                <a:tc gridSpan="2">
                  <a:txBody>
                    <a:bodyPr/>
                    <a:lstStyle/>
                    <a:p>
                      <a:pPr algn="l" fontAlgn="ctr"/>
                      <a: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t>1</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차 </a:t>
                      </a: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For. </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gridSpan="2">
                  <a:txBody>
                    <a:bodyPr/>
                    <a:lstStyle/>
                    <a:p>
                      <a:pPr algn="l" fontAlgn="ctr"/>
                      <a: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t>1</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차 </a:t>
                      </a: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For. </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153900844"/>
                  </a:ext>
                </a:extLst>
              </a:tr>
              <a:tr h="175532">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Q</a:t>
                      </a: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Q</a:t>
                      </a: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942414260"/>
                  </a:ext>
                </a:extLst>
              </a:tr>
              <a:tr h="175532">
                <a:tc gridSpan="2">
                  <a:txBody>
                    <a:bodyPr/>
                    <a:lstStyle/>
                    <a:p>
                      <a:pPr algn="l" fontAlgn="ctr"/>
                      <a: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t>2</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차 </a:t>
                      </a: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For. </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gridSpan="2">
                  <a:txBody>
                    <a:bodyPr/>
                    <a:lstStyle/>
                    <a:p>
                      <a:pPr algn="l" fontAlgn="ctr"/>
                      <a: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t>2</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차 </a:t>
                      </a: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For. </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0.14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66224428"/>
                  </a:ext>
                </a:extLst>
              </a:tr>
              <a:tr h="175532">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Q</a:t>
                      </a: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Q</a:t>
                      </a: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불량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0.13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958964238"/>
                  </a:ext>
                </a:extLst>
              </a:tr>
              <a:tr h="175532">
                <a:tc gridSpan="2">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Grading </a:t>
                      </a:r>
                      <a:r>
                        <a:rPr lang="ko-KR" altLang="en-US"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불량율</a:t>
                      </a: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gridSpan="2">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Grading </a:t>
                      </a: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-0.04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-1.81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377380566"/>
                  </a:ext>
                </a:extLst>
              </a:tr>
              <a:tr h="175532">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저전압</a:t>
                      </a: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저전압</a:t>
                      </a: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-0.02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-1.81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090688269"/>
                  </a:ext>
                </a:extLst>
              </a:tr>
              <a:tr h="175532">
                <a:tc gridSpan="2">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EOL </a:t>
                      </a:r>
                      <a:r>
                        <a:rPr lang="ko-KR" altLang="en-US"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불량율</a:t>
                      </a: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gridSpan="2">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EOL </a:t>
                      </a:r>
                      <a:r>
                        <a:rPr lang="ko-KR" altLang="en-US"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불량율</a:t>
                      </a: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0.69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2.74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2.39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0.27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2.12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345907897"/>
                  </a:ext>
                </a:extLst>
              </a:tr>
              <a:tr h="175532">
                <a:tc rowSpan="3">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외관</a:t>
                      </a: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0.50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rowSpan="3">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불량항목</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외관</a:t>
                      </a: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0.99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421796020"/>
                  </a:ext>
                </a:extLst>
              </a:tr>
              <a:tr h="175532">
                <a:tc vMerge="1">
                  <a:txBody>
                    <a:bodyPr/>
                    <a:lstStyle/>
                    <a:p>
                      <a:pPr latinLnBrk="1"/>
                      <a:endParaRPr lang="ko-KR" altLang="en-US"/>
                    </a:p>
                  </a:txBody>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치수</a:t>
                      </a: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치수</a:t>
                      </a: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-0.06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65387247"/>
                  </a:ext>
                </a:extLst>
              </a:tr>
              <a:tr h="175532">
                <a:tc vMerge="1">
                  <a:txBody>
                    <a:bodyPr/>
                    <a:lstStyle/>
                    <a:p>
                      <a:pPr latinLnBrk="1"/>
                      <a:endParaRPr lang="ko-KR" altLang="en-US"/>
                    </a:p>
                  </a:txBody>
                  <a:tcPr/>
                </a:tc>
                <a:tc>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IR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0.10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0.07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 </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noFill/>
                      <a:prstDash val="solid"/>
                      <a:round/>
                      <a:headEnd type="none" w="med" len="med"/>
                      <a:tailEnd type="none" w="med" len="med"/>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IR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0.36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0.00 </a:t>
                      </a:r>
                    </a:p>
                  </a:txBody>
                  <a:tcPr marL="9427" marR="9427" marT="942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0.36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166607258"/>
                  </a:ext>
                </a:extLst>
              </a:tr>
              <a:tr h="175532">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74384825"/>
                  </a:ext>
                </a:extLst>
              </a:tr>
              <a:tr h="175532">
                <a:tc gridSpan="2">
                  <a:txBody>
                    <a:bodyPr/>
                    <a:lstStyle/>
                    <a:p>
                      <a:pPr algn="ctr" fontAlgn="ctr"/>
                      <a:r>
                        <a:rPr lang="ko-KR" alt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gridSpan="2">
                  <a:txBody>
                    <a:bodyPr/>
                    <a:lstStyle/>
                    <a:p>
                      <a:pPr algn="ctr" fontAlgn="ctr"/>
                      <a:r>
                        <a:rPr lang="ko-KR" altLang="en-US" sz="800" b="1" i="0" u="none" strike="noStrike" baseline="0">
                          <a:solidFill>
                            <a:srgbClr val="000000"/>
                          </a:solidFill>
                          <a:effectLst/>
                          <a:latin typeface="Arial Narrow" panose="020B0606020202030204" pitchFamily="34" charset="0"/>
                          <a:ea typeface="LG스마트체 Regular" panose="020B0600000101010101" pitchFamily="50" charset="-127"/>
                        </a:rPr>
                        <a:t>월</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rtl="0"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26.3월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26.4월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26.5월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26.6월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26.7월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26.8월</a:t>
                      </a:r>
                    </a:p>
                  </a:txBody>
                  <a:tcPr marL="9427" marR="9427" marT="942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W33</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W34</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W35</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800" b="1" i="0" u="none" strike="noStrike" baseline="0" dirty="0">
                          <a:solidFill>
                            <a:srgbClr val="000000"/>
                          </a:solidFill>
                          <a:effectLst/>
                          <a:latin typeface="Arial Narrow" panose="020B0606020202030204" pitchFamily="34" charset="0"/>
                          <a:ea typeface="LG스마트체 Regular" panose="020B0600000101010101" pitchFamily="50" charset="-127"/>
                        </a:rPr>
                        <a:t>W36</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903348100"/>
                  </a:ext>
                </a:extLst>
              </a:tr>
              <a:tr h="175532">
                <a:tc rowSpan="10">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모델별</a:t>
                      </a:r>
                      <a:b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t>EOL</a:t>
                      </a:r>
                      <a:b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p>
                  </a:txBody>
                  <a:tcPr marL="0" marR="0" marT="0" marB="0" anchor="ctr">
                    <a:lnL>
                      <a:noFill/>
                    </a:lnL>
                    <a:lnR w="63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E77A</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0.53</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rowSpan="3">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모델별</a:t>
                      </a:r>
                      <a:r>
                        <a:rPr lang="en-US" altLang="ko-KR" sz="800" b="0" i="0" u="none" strike="noStrike" baseline="0">
                          <a:solidFill>
                            <a:srgbClr val="000000"/>
                          </a:solidFill>
                          <a:effectLst/>
                          <a:latin typeface="Arial Narrow" panose="020B0606020202030204" pitchFamily="34" charset="0"/>
                          <a:ea typeface="LG스마트체 Regular" panose="020B0600000101010101" pitchFamily="50" charset="-127"/>
                        </a:rPr>
                        <a:t>EOL</a:t>
                      </a:r>
                      <a:b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b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불량율</a:t>
                      </a:r>
                      <a:endPar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JF2S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5.45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ctr"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872744060"/>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JF1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-5.72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2.13</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0.73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1.34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6.11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4.53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extLst>
                  <a:ext uri="{0D108BD9-81ED-4DB2-BD59-A6C34878D82A}">
                    <a16:rowId xmlns:a16="http://schemas.microsoft.com/office/drawing/2014/main" val="2015968694"/>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E161A</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1.77</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2.95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2.96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13.76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6.88</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46.24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0.64</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vMerge="1">
                  <a:txBody>
                    <a:bodyPr/>
                    <a:lstStyle/>
                    <a:p>
                      <a:pPr latinLnBrk="1"/>
                      <a:endParaRPr lang="ko-KR" altLang="en-US"/>
                    </a:p>
                  </a:txBody>
                  <a:tcPr/>
                </a:tc>
                <a:tc>
                  <a:txBody>
                    <a:bodyPr/>
                    <a:lstStyle/>
                    <a:p>
                      <a:pPr algn="l" fontAlgn="ctr"/>
                      <a:r>
                        <a:rPr lang="en-US" sz="800" b="0" i="0" u="none" strike="noStrike" baseline="0">
                          <a:solidFill>
                            <a:srgbClr val="000000"/>
                          </a:solidFill>
                          <a:effectLst/>
                          <a:latin typeface="Arial Narrow" panose="020B0606020202030204" pitchFamily="34" charset="0"/>
                          <a:ea typeface="LG스마트체 Regular" panose="020B0600000101010101" pitchFamily="50" charset="-127"/>
                        </a:rPr>
                        <a:t>JP5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6195042"/>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3.46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647772012"/>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0.76</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0.87</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0.54</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-53.06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729828766"/>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0.92</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807586688"/>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0.65</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0.73</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0.65</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1.95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2449410980"/>
                  </a:ext>
                </a:extLst>
              </a:tr>
              <a:tr h="175532">
                <a:tc vMerge="1">
                  <a:txBody>
                    <a:bodyPr/>
                    <a:lstStyle/>
                    <a:p>
                      <a:pPr latinLnBrk="1"/>
                      <a:endParaRPr lang="ko-KR" altLang="en-US"/>
                    </a:p>
                  </a:txBody>
                  <a:tcPr>
                    <a:lnT w="6350" cap="flat" cmpd="sng" algn="ctr">
                      <a:solidFill>
                        <a:schemeClr val="tx1"/>
                      </a:solidFill>
                      <a:prstDash val="solid"/>
                      <a:round/>
                      <a:headEnd type="none" w="med" len="med"/>
                      <a:tailEnd type="none" w="med" len="med"/>
                    </a:lnT>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0" marR="0" marT="0" marB="0" anchor="ctr">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1.34</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1.34</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0.88</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315859911"/>
                  </a:ext>
                </a:extLst>
              </a:tr>
              <a:tr h="175532">
                <a:tc vMerge="1">
                  <a:txBody>
                    <a:bodyPr/>
                    <a:lstStyle/>
                    <a:p>
                      <a:pPr latinLnBrk="1"/>
                      <a:endParaRPr lang="ko-KR" altLang="en-US"/>
                    </a:p>
                  </a:txBody>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P37B</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0.82</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4.80</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2.11</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4041656522"/>
                  </a:ext>
                </a:extLst>
              </a:tr>
              <a:tr h="175532">
                <a:tc vMerge="1">
                  <a:txBody>
                    <a:bodyPr/>
                    <a:lstStyle/>
                    <a:p>
                      <a:pPr latinLnBrk="1"/>
                      <a:endParaRPr lang="ko-KR" altLang="en-US"/>
                    </a:p>
                  </a:txBody>
                  <a:tcPr/>
                </a:tc>
                <a:tc>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E90B</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3.93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endParaRPr lang="en-US"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0" marR="0" marT="0" marB="0" anchor="ctr">
                    <a:lnL>
                      <a:noFill/>
                    </a:lnL>
                    <a:lnR>
                      <a:noFill/>
                    </a:lnR>
                    <a:lnT>
                      <a:noFill/>
                    </a:lnT>
                    <a:lnB>
                      <a:noFill/>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-4.60</a:t>
                      </a:r>
                    </a:p>
                  </a:txBody>
                  <a:tcPr marL="9525" marR="9525" marT="9525"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tc>
                  <a:txBody>
                    <a:bodyPr/>
                    <a:lstStyle/>
                    <a:p>
                      <a:pPr algn="l" fontAlgn="ctr"/>
                      <a:r>
                        <a:rPr lang="ko-KR" altLang="en-US"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3431888193"/>
                  </a:ext>
                </a:extLst>
              </a:tr>
            </a:tbl>
          </a:graphicData>
        </a:graphic>
      </p:graphicFrame>
      <p:sp>
        <p:nvSpPr>
          <p:cNvPr id="6" name="제목 1">
            <a:extLst>
              <a:ext uri="{FF2B5EF4-FFF2-40B4-BE49-F238E27FC236}">
                <a16:creationId xmlns:a16="http://schemas.microsoft.com/office/drawing/2014/main" id="{BCA69260-7421-4FAA-8030-2E3C940CFAFE}"/>
              </a:ext>
            </a:extLst>
          </p:cNvPr>
          <p:cNvSpPr txBox="1">
            <a:spLocks/>
          </p:cNvSpPr>
          <p:nvPr/>
        </p:nvSpPr>
        <p:spPr>
          <a:xfrm>
            <a:off x="173460" y="199697"/>
            <a:ext cx="3059318" cy="361664"/>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89564" tIns="44783" rIns="89564" bIns="44783"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47830" latinLnBrk="0">
              <a:defRPr/>
            </a:pPr>
            <a:r>
              <a:rPr lang="ko-KR" altLang="en-US" sz="1763" dirty="0">
                <a:solidFill>
                  <a:prstClr val="black"/>
                </a:solidFill>
                <a:latin typeface="Arial Narrow" panose="020B0606020202030204" pitchFamily="34" charset="0"/>
                <a:ea typeface="LG스마트체 Regular" panose="020B0600000101010101" pitchFamily="50" charset="-127"/>
              </a:rPr>
              <a:t>보조</a:t>
            </a:r>
            <a:r>
              <a:rPr lang="en-US" altLang="ko-KR" sz="1763" dirty="0">
                <a:solidFill>
                  <a:prstClr val="black"/>
                </a:solidFill>
                <a:latin typeface="Arial Narrow" panose="020B0606020202030204" pitchFamily="34" charset="0"/>
                <a:ea typeface="LG스마트체 Regular" panose="020B0600000101010101" pitchFamily="50" charset="-127"/>
              </a:rPr>
              <a:t>. ESWA </a:t>
            </a:r>
            <a:r>
              <a:rPr lang="ko-KR" altLang="en-US" sz="1763" dirty="0">
                <a:solidFill>
                  <a:prstClr val="black"/>
                </a:solidFill>
                <a:latin typeface="Arial Narrow" panose="020B0606020202030204" pitchFamily="34" charset="0"/>
                <a:ea typeface="LG스마트체 Regular" panose="020B0600000101010101" pitchFamily="50" charset="-127"/>
              </a:rPr>
              <a:t>셀 </a:t>
            </a:r>
            <a:r>
              <a:rPr lang="ko-KR" altLang="en-US" sz="1763" dirty="0" err="1">
                <a:solidFill>
                  <a:prstClr val="black"/>
                </a:solidFill>
                <a:latin typeface="Arial Narrow" panose="020B0606020202030204" pitchFamily="34" charset="0"/>
                <a:ea typeface="LG스마트체 Regular" panose="020B0600000101010101" pitchFamily="50" charset="-127"/>
              </a:rPr>
              <a:t>수율</a:t>
            </a:r>
            <a:r>
              <a:rPr lang="ko-KR" altLang="en-US" sz="1763" dirty="0">
                <a:solidFill>
                  <a:prstClr val="black"/>
                </a:solidFill>
                <a:latin typeface="Arial Narrow" panose="020B0606020202030204" pitchFamily="34" charset="0"/>
                <a:ea typeface="LG스마트체 Regular" panose="020B0600000101010101" pitchFamily="50" charset="-127"/>
              </a:rPr>
              <a:t> 현황</a:t>
            </a:r>
            <a:r>
              <a:rPr lang="en-US" altLang="ko-KR" sz="1763" dirty="0">
                <a:solidFill>
                  <a:prstClr val="black"/>
                </a:solidFill>
                <a:latin typeface="Arial Narrow" panose="020B0606020202030204" pitchFamily="34" charset="0"/>
                <a:ea typeface="LG스마트체 Regular" panose="020B0600000101010101" pitchFamily="50" charset="-127"/>
              </a:rPr>
              <a:t>_</a:t>
            </a:r>
            <a:r>
              <a:rPr lang="ko-KR" altLang="en-US" sz="1763" dirty="0">
                <a:solidFill>
                  <a:prstClr val="black"/>
                </a:solidFill>
                <a:latin typeface="Arial Narrow" panose="020B0606020202030204" pitchFamily="34" charset="0"/>
                <a:ea typeface="LG스마트체 Regular" panose="020B0600000101010101" pitchFamily="50" charset="-127"/>
              </a:rPr>
              <a:t>활성화</a:t>
            </a:r>
          </a:p>
        </p:txBody>
      </p:sp>
      <p:sp>
        <p:nvSpPr>
          <p:cNvPr id="7" name="TextBox 6">
            <a:extLst>
              <a:ext uri="{FF2B5EF4-FFF2-40B4-BE49-F238E27FC236}">
                <a16:creationId xmlns:a16="http://schemas.microsoft.com/office/drawing/2014/main" id="{4BF6A884-0A0A-1328-AADD-9A136056A08A}"/>
              </a:ext>
            </a:extLst>
          </p:cNvPr>
          <p:cNvSpPr txBox="1"/>
          <p:nvPr/>
        </p:nvSpPr>
        <p:spPr>
          <a:xfrm>
            <a:off x="228645" y="678294"/>
            <a:ext cx="9438548" cy="513511"/>
          </a:xfrm>
          <a:prstGeom prst="rect">
            <a:avLst/>
          </a:prstGeom>
          <a:noFill/>
        </p:spPr>
        <p:txBody>
          <a:bodyPr wrap="square" rtlCol="0">
            <a:spAutoFit/>
          </a:bodyPr>
          <a:lstStyle/>
          <a:p>
            <a:pPr defTabSz="447830" latinLnBrk="0">
              <a:defRPr/>
            </a:pPr>
            <a:r>
              <a:rPr lang="ko-KR" altLang="en-US" sz="1372" b="1" dirty="0">
                <a:solidFill>
                  <a:prstClr val="black"/>
                </a:solidFill>
                <a:latin typeface="Arial Narrow" panose="020B0606020202030204" pitchFamily="34" charset="0"/>
                <a:ea typeface="LG스마트체 Regular" panose="020B0600000101010101" pitchFamily="50" charset="-127"/>
              </a:rPr>
              <a:t>자동차 모델 </a:t>
            </a:r>
            <a:r>
              <a:rPr lang="en-US" altLang="ko-KR" sz="1372" b="1" dirty="0">
                <a:solidFill>
                  <a:prstClr val="black"/>
                </a:solidFill>
                <a:latin typeface="Arial Narrow" panose="020B0606020202030204" pitchFamily="34" charset="0"/>
                <a:ea typeface="LG스마트체 Regular" panose="020B0600000101010101" pitchFamily="50" charset="-127"/>
              </a:rPr>
              <a:t>EOL </a:t>
            </a:r>
            <a:r>
              <a:rPr lang="ko-KR" altLang="en-US" sz="1372" b="1" dirty="0">
                <a:solidFill>
                  <a:prstClr val="black"/>
                </a:solidFill>
                <a:latin typeface="Arial Narrow" panose="020B0606020202030204" pitchFamily="34" charset="0"/>
                <a:ea typeface="LG스마트체 Regular" panose="020B0600000101010101" pitchFamily="50" charset="-127"/>
              </a:rPr>
              <a:t>불량율은 </a:t>
            </a:r>
            <a:r>
              <a:rPr lang="en-US" altLang="ko-KR" sz="1372" b="1" dirty="0">
                <a:solidFill>
                  <a:prstClr val="black"/>
                </a:solidFill>
                <a:latin typeface="Arial Narrow" panose="020B0606020202030204" pitchFamily="34" charset="0"/>
                <a:ea typeface="LG스마트체 Regular" panose="020B0600000101010101" pitchFamily="50" charset="-127"/>
              </a:rPr>
              <a:t>7</a:t>
            </a:r>
            <a:r>
              <a:rPr lang="ko-KR" altLang="en-US" sz="1372" b="1" dirty="0">
                <a:solidFill>
                  <a:prstClr val="black"/>
                </a:solidFill>
                <a:latin typeface="Arial Narrow" panose="020B0606020202030204" pitchFamily="34" charset="0"/>
                <a:ea typeface="LG스마트체 Regular" panose="020B0600000101010101" pitchFamily="50" charset="-127"/>
              </a:rPr>
              <a:t>월 대비 </a:t>
            </a:r>
            <a:r>
              <a:rPr lang="en-US" altLang="ko-KR" sz="1372" b="1" dirty="0">
                <a:solidFill>
                  <a:prstClr val="black"/>
                </a:solidFill>
                <a:latin typeface="Arial Narrow" panose="020B0606020202030204" pitchFamily="34" charset="0"/>
                <a:ea typeface="LG스마트체 Regular" panose="020B0600000101010101" pitchFamily="50" charset="-127"/>
              </a:rPr>
              <a:t>0.62% </a:t>
            </a:r>
            <a:r>
              <a:rPr lang="ko-KR" altLang="en-US" sz="1372" b="1" dirty="0">
                <a:solidFill>
                  <a:prstClr val="black"/>
                </a:solidFill>
                <a:latin typeface="Arial Narrow" panose="020B0606020202030204" pitchFamily="34" charset="0"/>
                <a:ea typeface="LG스마트체 Regular" panose="020B0600000101010101" pitchFamily="50" charset="-127"/>
              </a:rPr>
              <a:t>증가한 </a:t>
            </a:r>
            <a:r>
              <a:rPr lang="en-US" altLang="ko-KR" sz="1372" b="1" dirty="0">
                <a:solidFill>
                  <a:prstClr val="black"/>
                </a:solidFill>
                <a:latin typeface="Arial Narrow" panose="020B0606020202030204" pitchFamily="34" charset="0"/>
                <a:ea typeface="LG스마트체 Regular" panose="020B0600000101010101" pitchFamily="50" charset="-127"/>
              </a:rPr>
              <a:t>0.93% </a:t>
            </a:r>
            <a:r>
              <a:rPr lang="ko-KR" altLang="en-US" sz="1372" b="1" dirty="0">
                <a:solidFill>
                  <a:prstClr val="black"/>
                </a:solidFill>
                <a:latin typeface="Arial Narrow" panose="020B0606020202030204" pitchFamily="34" charset="0"/>
                <a:ea typeface="LG스마트체 Regular" panose="020B0600000101010101" pitchFamily="50" charset="-127"/>
              </a:rPr>
              <a:t>이며 주요 원인은 외관 및 </a:t>
            </a:r>
            <a:r>
              <a:rPr lang="en-US" altLang="ko-KR" sz="1372" b="1" dirty="0">
                <a:solidFill>
                  <a:prstClr val="black"/>
                </a:solidFill>
                <a:latin typeface="Arial Narrow" panose="020B0606020202030204" pitchFamily="34" charset="0"/>
                <a:ea typeface="LG스마트체 Regular" panose="020B0600000101010101" pitchFamily="50" charset="-127"/>
              </a:rPr>
              <a:t>IR </a:t>
            </a:r>
            <a:r>
              <a:rPr lang="ko-KR" altLang="en-US" sz="1372" b="1" dirty="0" err="1">
                <a:solidFill>
                  <a:prstClr val="black"/>
                </a:solidFill>
                <a:latin typeface="Arial Narrow" panose="020B0606020202030204" pitchFamily="34" charset="0"/>
                <a:ea typeface="LG스마트체 Regular" panose="020B0600000101010101" pitchFamily="50" charset="-127"/>
              </a:rPr>
              <a:t>불량율</a:t>
            </a:r>
            <a:r>
              <a:rPr lang="ko-KR" altLang="en-US" sz="1372" b="1" dirty="0">
                <a:solidFill>
                  <a:prstClr val="black"/>
                </a:solidFill>
                <a:latin typeface="Arial Narrow" panose="020B0606020202030204" pitchFamily="34" charset="0"/>
                <a:ea typeface="LG스마트체 Regular" panose="020B0600000101010101" pitchFamily="50" charset="-127"/>
              </a:rPr>
              <a:t> 증가입니다</a:t>
            </a:r>
            <a:r>
              <a:rPr lang="en-US" altLang="ko-KR" sz="1372" b="1" dirty="0">
                <a:solidFill>
                  <a:prstClr val="black"/>
                </a:solidFill>
                <a:latin typeface="Arial Narrow" panose="020B0606020202030204" pitchFamily="34" charset="0"/>
                <a:ea typeface="LG스마트체 Regular" panose="020B0600000101010101" pitchFamily="50" charset="-127"/>
              </a:rPr>
              <a:t>.</a:t>
            </a:r>
            <a:br>
              <a:rPr lang="en-US" altLang="ko-KR" sz="1372" b="1" dirty="0">
                <a:solidFill>
                  <a:prstClr val="black"/>
                </a:solidFill>
                <a:latin typeface="Arial Narrow" panose="020B0606020202030204" pitchFamily="34" charset="0"/>
                <a:ea typeface="LG스마트체 Regular" panose="020B0600000101010101" pitchFamily="50" charset="-127"/>
              </a:rPr>
            </a:br>
            <a:r>
              <a:rPr lang="en-US" altLang="ko-KR" sz="1372" b="1" dirty="0">
                <a:solidFill>
                  <a:prstClr val="black"/>
                </a:solidFill>
                <a:latin typeface="Arial Narrow" panose="020B0606020202030204" pitchFamily="34" charset="0"/>
                <a:ea typeface="LG스마트체 Regular" panose="020B0600000101010101" pitchFamily="50" charset="-127"/>
              </a:rPr>
              <a:t>ESS </a:t>
            </a:r>
            <a:r>
              <a:rPr lang="ko-KR" altLang="en-US" sz="1372" b="1" dirty="0">
                <a:solidFill>
                  <a:prstClr val="black"/>
                </a:solidFill>
                <a:latin typeface="Arial Narrow" panose="020B0606020202030204" pitchFamily="34" charset="0"/>
                <a:ea typeface="LG스마트체 Regular" panose="020B0600000101010101" pitchFamily="50" charset="-127"/>
              </a:rPr>
              <a:t>모델은 </a:t>
            </a:r>
            <a:r>
              <a:rPr lang="en-US" altLang="ko-KR" sz="1372" b="1" dirty="0">
                <a:solidFill>
                  <a:prstClr val="black"/>
                </a:solidFill>
                <a:latin typeface="Arial Narrow" panose="020B0606020202030204" pitchFamily="34" charset="0"/>
                <a:ea typeface="LG스마트체 Regular" panose="020B0600000101010101" pitchFamily="50" charset="-127"/>
              </a:rPr>
              <a:t>EOL </a:t>
            </a:r>
            <a:r>
              <a:rPr lang="ko-KR" altLang="en-US" sz="1372" b="1" dirty="0">
                <a:solidFill>
                  <a:prstClr val="black"/>
                </a:solidFill>
                <a:latin typeface="Arial Narrow" panose="020B0606020202030204" pitchFamily="34" charset="0"/>
                <a:ea typeface="LG스마트체 Regular" panose="020B0600000101010101" pitchFamily="50" charset="-127"/>
              </a:rPr>
              <a:t>불량율은 </a:t>
            </a:r>
            <a:r>
              <a:rPr lang="en-US" altLang="ko-KR" sz="1372" b="1" dirty="0">
                <a:solidFill>
                  <a:prstClr val="black"/>
                </a:solidFill>
                <a:latin typeface="Arial Narrow" panose="020B0606020202030204" pitchFamily="34" charset="0"/>
                <a:ea typeface="LG스마트체 Regular" panose="020B0600000101010101" pitchFamily="50" charset="-127"/>
              </a:rPr>
              <a:t>7</a:t>
            </a:r>
            <a:r>
              <a:rPr lang="ko-KR" altLang="en-US" sz="1372" b="1" dirty="0">
                <a:solidFill>
                  <a:prstClr val="black"/>
                </a:solidFill>
                <a:latin typeface="Arial Narrow" panose="020B0606020202030204" pitchFamily="34" charset="0"/>
                <a:ea typeface="LG스마트체 Regular" panose="020B0600000101010101" pitchFamily="50" charset="-127"/>
              </a:rPr>
              <a:t>월 대비 </a:t>
            </a:r>
            <a:r>
              <a:rPr lang="en-US" altLang="ko-KR" sz="1372" b="1" dirty="0">
                <a:solidFill>
                  <a:prstClr val="black"/>
                </a:solidFill>
                <a:latin typeface="Arial Narrow" panose="020B0606020202030204" pitchFamily="34" charset="0"/>
                <a:ea typeface="LG스마트체 Regular" panose="020B0600000101010101" pitchFamily="50" charset="-127"/>
              </a:rPr>
              <a:t>2.02% </a:t>
            </a:r>
            <a:r>
              <a:rPr lang="ko-KR" altLang="en-US" sz="1372" b="1" dirty="0">
                <a:solidFill>
                  <a:prstClr val="black"/>
                </a:solidFill>
                <a:latin typeface="Arial Narrow" panose="020B0606020202030204" pitchFamily="34" charset="0"/>
                <a:ea typeface="LG스마트체 Regular" panose="020B0600000101010101" pitchFamily="50" charset="-127"/>
              </a:rPr>
              <a:t>증가한 </a:t>
            </a:r>
            <a:r>
              <a:rPr lang="en-US" altLang="ko-KR" sz="1372" b="1" dirty="0">
                <a:solidFill>
                  <a:prstClr val="black"/>
                </a:solidFill>
                <a:latin typeface="Arial Narrow" panose="020B0606020202030204" pitchFamily="34" charset="0"/>
                <a:ea typeface="LG스마트체 Regular" panose="020B0600000101010101" pitchFamily="50" charset="-127"/>
              </a:rPr>
              <a:t>2.39%</a:t>
            </a:r>
            <a:r>
              <a:rPr lang="ko-KR" altLang="en-US" sz="1372" b="1" dirty="0">
                <a:solidFill>
                  <a:prstClr val="black"/>
                </a:solidFill>
                <a:latin typeface="Arial Narrow" panose="020B0606020202030204" pitchFamily="34" charset="0"/>
                <a:ea typeface="LG스마트체 Regular" panose="020B0600000101010101" pitchFamily="50" charset="-127"/>
              </a:rPr>
              <a:t>이며 주요 원인은 외관</a:t>
            </a:r>
            <a:r>
              <a:rPr lang="en-US" altLang="ko-KR" sz="1372" b="1" dirty="0">
                <a:solidFill>
                  <a:prstClr val="black"/>
                </a:solidFill>
                <a:latin typeface="Arial Narrow" panose="020B0606020202030204" pitchFamily="34" charset="0"/>
                <a:ea typeface="LG스마트체 Regular" panose="020B0600000101010101" pitchFamily="50" charset="-127"/>
              </a:rPr>
              <a:t>/</a:t>
            </a:r>
            <a:r>
              <a:rPr lang="ko-KR" altLang="en-US" sz="1372" b="1" dirty="0">
                <a:solidFill>
                  <a:prstClr val="black"/>
                </a:solidFill>
                <a:latin typeface="Arial Narrow" panose="020B0606020202030204" pitchFamily="34" charset="0"/>
                <a:ea typeface="LG스마트체 Regular" panose="020B0600000101010101" pitchFamily="50" charset="-127"/>
              </a:rPr>
              <a:t>치수 및 </a:t>
            </a:r>
            <a:r>
              <a:rPr lang="en-US" altLang="ko-KR" sz="1372" b="1" dirty="0">
                <a:solidFill>
                  <a:prstClr val="black"/>
                </a:solidFill>
                <a:latin typeface="Arial Narrow" panose="020B0606020202030204" pitchFamily="34" charset="0"/>
                <a:ea typeface="LG스마트체 Regular" panose="020B0600000101010101" pitchFamily="50" charset="-127"/>
              </a:rPr>
              <a:t>IR </a:t>
            </a:r>
            <a:r>
              <a:rPr lang="ko-KR" altLang="en-US" sz="1372" b="1" dirty="0" err="1">
                <a:solidFill>
                  <a:prstClr val="black"/>
                </a:solidFill>
                <a:latin typeface="Arial Narrow" panose="020B0606020202030204" pitchFamily="34" charset="0"/>
                <a:ea typeface="LG스마트체 Regular" panose="020B0600000101010101" pitchFamily="50" charset="-127"/>
              </a:rPr>
              <a:t>불량율</a:t>
            </a:r>
            <a:r>
              <a:rPr lang="ko-KR" altLang="en-US" sz="1372" b="1" dirty="0">
                <a:solidFill>
                  <a:prstClr val="black"/>
                </a:solidFill>
                <a:latin typeface="Arial Narrow" panose="020B0606020202030204" pitchFamily="34" charset="0"/>
                <a:ea typeface="LG스마트체 Regular" panose="020B0600000101010101" pitchFamily="50" charset="-127"/>
              </a:rPr>
              <a:t> 증가입니다</a:t>
            </a:r>
            <a:r>
              <a:rPr lang="en-US" altLang="ko-KR" sz="1372" b="1" dirty="0">
                <a:solidFill>
                  <a:prstClr val="black"/>
                </a:solidFill>
                <a:latin typeface="Arial Narrow" panose="020B0606020202030204" pitchFamily="34" charset="0"/>
                <a:ea typeface="LG스마트체 Regular" panose="020B0600000101010101" pitchFamily="50" charset="-127"/>
              </a:rPr>
              <a:t>.</a:t>
            </a:r>
          </a:p>
        </p:txBody>
      </p:sp>
      <p:sp>
        <p:nvSpPr>
          <p:cNvPr id="4" name="직사각형 3">
            <a:extLst>
              <a:ext uri="{FF2B5EF4-FFF2-40B4-BE49-F238E27FC236}">
                <a16:creationId xmlns:a16="http://schemas.microsoft.com/office/drawing/2014/main" id="{6B632796-4358-28F7-CF54-9A5D16AE7F8C}"/>
              </a:ext>
            </a:extLst>
          </p:cNvPr>
          <p:cNvSpPr/>
          <p:nvPr/>
        </p:nvSpPr>
        <p:spPr>
          <a:xfrm>
            <a:off x="6790119" y="4610202"/>
            <a:ext cx="2830814" cy="743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특이 사항</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p>
          <a:p>
            <a:pPr marL="87984" indent="-87984">
              <a:buFont typeface="Arial" panose="020B0604020202020204" pitchFamily="34" charset="0"/>
              <a:buChar char="•"/>
            </a:pP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7/22 JF2S </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양산 중단 예정</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(9</a:t>
            </a:r>
            <a:r>
              <a:rPr lang="ko-KR" altLang="en-US" sz="891" dirty="0">
                <a:solidFill>
                  <a:schemeClr val="accent6">
                    <a:lumMod val="50000"/>
                  </a:schemeClr>
                </a:solidFill>
                <a:latin typeface="Arial Narrow" panose="020B0606020202030204" pitchFamily="34" charset="0"/>
                <a:ea typeface="LG스마트체 Regular" panose="020B0600000101010101" pitchFamily="50" charset="-127"/>
              </a:rPr>
              <a:t>월 재 생산 예정</a:t>
            </a:r>
            <a:r>
              <a:rPr lang="en-US" altLang="ko-KR" sz="891" dirty="0">
                <a:solidFill>
                  <a:schemeClr val="accent6">
                    <a:lumMod val="50000"/>
                  </a:schemeClr>
                </a:solidFill>
                <a:latin typeface="Arial Narrow" panose="020B0606020202030204" pitchFamily="34" charset="0"/>
                <a:ea typeface="LG스마트체 Regular" panose="020B0600000101010101" pitchFamily="50" charset="-127"/>
              </a:rPr>
              <a:t>)</a:t>
            </a:r>
          </a:p>
        </p:txBody>
      </p:sp>
      <p:cxnSp>
        <p:nvCxnSpPr>
          <p:cNvPr id="8" name="직선 연결선 7">
            <a:extLst>
              <a:ext uri="{FF2B5EF4-FFF2-40B4-BE49-F238E27FC236}">
                <a16:creationId xmlns:a16="http://schemas.microsoft.com/office/drawing/2014/main" id="{999B6775-2B45-414E-C695-773D39C988D6}"/>
              </a:ext>
            </a:extLst>
          </p:cNvPr>
          <p:cNvCxnSpPr>
            <a:cxnSpLocks/>
          </p:cNvCxnSpPr>
          <p:nvPr/>
        </p:nvCxnSpPr>
        <p:spPr>
          <a:xfrm>
            <a:off x="228646" y="1405926"/>
            <a:ext cx="5531450" cy="0"/>
          </a:xfrm>
          <a:prstGeom prst="line">
            <a:avLst/>
          </a:prstGeom>
        </p:spPr>
        <p:style>
          <a:lnRef idx="1">
            <a:schemeClr val="dk1"/>
          </a:lnRef>
          <a:fillRef idx="0">
            <a:schemeClr val="dk1"/>
          </a:fillRef>
          <a:effectRef idx="0">
            <a:schemeClr val="dk1"/>
          </a:effectRef>
          <a:fontRef idx="minor">
            <a:schemeClr val="tx1"/>
          </a:fontRef>
        </p:style>
      </p:cxnSp>
      <p:sp>
        <p:nvSpPr>
          <p:cNvPr id="9" name="직사각형 8">
            <a:extLst>
              <a:ext uri="{FF2B5EF4-FFF2-40B4-BE49-F238E27FC236}">
                <a16:creationId xmlns:a16="http://schemas.microsoft.com/office/drawing/2014/main" id="{C62F1E01-93F1-088E-74EF-2B1364D40101}"/>
              </a:ext>
            </a:extLst>
          </p:cNvPr>
          <p:cNvSpPr/>
          <p:nvPr/>
        </p:nvSpPr>
        <p:spPr>
          <a:xfrm>
            <a:off x="2697901" y="1188074"/>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88" b="1" dirty="0">
                <a:solidFill>
                  <a:schemeClr val="tx1"/>
                </a:solidFill>
                <a:latin typeface="Arial Narrow" panose="020B0606020202030204" pitchFamily="34" charset="0"/>
                <a:ea typeface="LG스마트체 Regular" panose="020B0600000101010101" pitchFamily="50" charset="-127"/>
              </a:rPr>
              <a:t>자동차</a:t>
            </a:r>
          </a:p>
        </p:txBody>
      </p:sp>
      <p:cxnSp>
        <p:nvCxnSpPr>
          <p:cNvPr id="10" name="직선 연결선 9">
            <a:extLst>
              <a:ext uri="{FF2B5EF4-FFF2-40B4-BE49-F238E27FC236}">
                <a16:creationId xmlns:a16="http://schemas.microsoft.com/office/drawing/2014/main" id="{4FC86914-5524-283C-775D-073F11BAECC9}"/>
              </a:ext>
            </a:extLst>
          </p:cNvPr>
          <p:cNvCxnSpPr>
            <a:cxnSpLocks/>
          </p:cNvCxnSpPr>
          <p:nvPr/>
        </p:nvCxnSpPr>
        <p:spPr>
          <a:xfrm>
            <a:off x="6091115" y="1399186"/>
            <a:ext cx="3517765" cy="0"/>
          </a:xfrm>
          <a:prstGeom prst="line">
            <a:avLst/>
          </a:prstGeom>
        </p:spPr>
        <p:style>
          <a:lnRef idx="1">
            <a:schemeClr val="dk1"/>
          </a:lnRef>
          <a:fillRef idx="0">
            <a:schemeClr val="dk1"/>
          </a:fillRef>
          <a:effectRef idx="0">
            <a:schemeClr val="dk1"/>
          </a:effectRef>
          <a:fontRef idx="minor">
            <a:schemeClr val="tx1"/>
          </a:fontRef>
        </p:style>
      </p:cxnSp>
      <p:sp>
        <p:nvSpPr>
          <p:cNvPr id="11" name="직사각형 10">
            <a:extLst>
              <a:ext uri="{FF2B5EF4-FFF2-40B4-BE49-F238E27FC236}">
                <a16:creationId xmlns:a16="http://schemas.microsoft.com/office/drawing/2014/main" id="{858845A7-3BC2-E449-D4C0-E6680B8C6C3C}"/>
              </a:ext>
            </a:extLst>
          </p:cNvPr>
          <p:cNvSpPr/>
          <p:nvPr/>
        </p:nvSpPr>
        <p:spPr>
          <a:xfrm>
            <a:off x="7553948" y="1181335"/>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88" b="1" dirty="0">
                <a:solidFill>
                  <a:schemeClr val="tx1"/>
                </a:solidFill>
                <a:latin typeface="Arial Narrow" panose="020B0606020202030204" pitchFamily="34" charset="0"/>
                <a:ea typeface="LG스마트체 Regular" panose="020B0600000101010101" pitchFamily="50" charset="-127"/>
              </a:rPr>
              <a:t>ESS</a:t>
            </a:r>
            <a:endParaRPr lang="ko-KR" altLang="en-US" sz="1188" b="1" dirty="0">
              <a:solidFill>
                <a:schemeClr val="tx1"/>
              </a:solidFill>
              <a:latin typeface="Arial Narrow" panose="020B0606020202030204" pitchFamily="34" charset="0"/>
              <a:ea typeface="LG스마트체 Regular" panose="020B0600000101010101" pitchFamily="50" charset="-127"/>
            </a:endParaRPr>
          </a:p>
        </p:txBody>
      </p:sp>
      <p:sp>
        <p:nvSpPr>
          <p:cNvPr id="2" name="사각형: 잘린 위쪽 모서리 1">
            <a:extLst>
              <a:ext uri="{FF2B5EF4-FFF2-40B4-BE49-F238E27FC236}">
                <a16:creationId xmlns:a16="http://schemas.microsoft.com/office/drawing/2014/main" id="{C9BA6E68-0E8A-BF3B-9B79-6D9A70A8A4C2}"/>
              </a:ext>
            </a:extLst>
          </p:cNvPr>
          <p:cNvSpPr/>
          <p:nvPr/>
        </p:nvSpPr>
        <p:spPr>
          <a:xfrm rot="16200000">
            <a:off x="1854147" y="2600706"/>
            <a:ext cx="1785215" cy="148509"/>
          </a:xfrm>
          <a:prstGeom prst="snip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r>
              <a:rPr lang="ko-KR" altLang="en-US" sz="792" dirty="0">
                <a:solidFill>
                  <a:schemeClr val="tx1"/>
                </a:solidFill>
                <a:latin typeface="Arial Narrow" panose="020B0606020202030204" pitchFamily="34" charset="0"/>
                <a:ea typeface="LG스마트체 Regular" panose="020B0600000101010101" pitchFamily="50" charset="-127"/>
              </a:rPr>
              <a:t>자동차 전체 불량율을 모델별로 분배</a:t>
            </a:r>
          </a:p>
        </p:txBody>
      </p:sp>
      <p:sp>
        <p:nvSpPr>
          <p:cNvPr id="5" name="사각형: 잘린 위쪽 모서리 4">
            <a:extLst>
              <a:ext uri="{FF2B5EF4-FFF2-40B4-BE49-F238E27FC236}">
                <a16:creationId xmlns:a16="http://schemas.microsoft.com/office/drawing/2014/main" id="{33FFFA06-047B-7DEA-1367-27043AEBEFF5}"/>
              </a:ext>
            </a:extLst>
          </p:cNvPr>
          <p:cNvSpPr/>
          <p:nvPr/>
        </p:nvSpPr>
        <p:spPr>
          <a:xfrm rot="16200000">
            <a:off x="7693322" y="2589139"/>
            <a:ext cx="1789822" cy="163361"/>
          </a:xfrm>
          <a:prstGeom prst="snip2SameRect">
            <a:avLst>
              <a:gd name="adj1" fmla="val 50000"/>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lstStyle/>
          <a:p>
            <a:pPr algn="ctr"/>
            <a:r>
              <a:rPr lang="en-US" altLang="ko-KR" sz="792" dirty="0">
                <a:solidFill>
                  <a:schemeClr val="tx1"/>
                </a:solidFill>
                <a:latin typeface="Arial Narrow" panose="020B0606020202030204" pitchFamily="34" charset="0"/>
                <a:ea typeface="LG스마트체 Regular" panose="020B0600000101010101" pitchFamily="50" charset="-127"/>
              </a:rPr>
              <a:t>ESS</a:t>
            </a:r>
            <a:r>
              <a:rPr lang="ko-KR" altLang="en-US" sz="792" dirty="0">
                <a:solidFill>
                  <a:schemeClr val="tx1"/>
                </a:solidFill>
                <a:latin typeface="Arial Narrow" panose="020B0606020202030204" pitchFamily="34" charset="0"/>
                <a:ea typeface="LG스마트체 Regular" panose="020B0600000101010101" pitchFamily="50" charset="-127"/>
              </a:rPr>
              <a:t> 전체 불량율을 모델별로 분배</a:t>
            </a:r>
          </a:p>
        </p:txBody>
      </p:sp>
      <p:sp>
        <p:nvSpPr>
          <p:cNvPr id="3" name="직사각형 2">
            <a:extLst>
              <a:ext uri="{FF2B5EF4-FFF2-40B4-BE49-F238E27FC236}">
                <a16:creationId xmlns:a16="http://schemas.microsoft.com/office/drawing/2014/main" id="{65623A7A-ADD3-2927-CAEE-4CEA0FC86136}"/>
              </a:ext>
            </a:extLst>
          </p:cNvPr>
          <p:cNvSpPr/>
          <p:nvPr/>
        </p:nvSpPr>
        <p:spPr>
          <a:xfrm>
            <a:off x="8842388" y="1183412"/>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altLang="ko-KR" sz="891" dirty="0">
                <a:solidFill>
                  <a:schemeClr val="tx1"/>
                </a:solidFill>
                <a:latin typeface="Arial Narrow" panose="020B0606020202030204" pitchFamily="34" charset="0"/>
                <a:ea typeface="LG스마트체 Regular" panose="020B0600000101010101" pitchFamily="50" charset="-127"/>
              </a:rPr>
              <a:t>~8/31 </a:t>
            </a:r>
            <a:r>
              <a:rPr lang="ko-KR" altLang="en-US" sz="891" dirty="0">
                <a:solidFill>
                  <a:schemeClr val="tx1"/>
                </a:solidFill>
                <a:latin typeface="Arial Narrow" panose="020B0606020202030204" pitchFamily="34" charset="0"/>
                <a:ea typeface="LG스마트체 Regular" panose="020B0600000101010101" pitchFamily="50" charset="-127"/>
              </a:rPr>
              <a:t>기준</a:t>
            </a:r>
          </a:p>
        </p:txBody>
      </p:sp>
      <p:sp>
        <p:nvSpPr>
          <p:cNvPr id="13" name="직사각형 12">
            <a:extLst>
              <a:ext uri="{FF2B5EF4-FFF2-40B4-BE49-F238E27FC236}">
                <a16:creationId xmlns:a16="http://schemas.microsoft.com/office/drawing/2014/main" id="{A024A941-3D7A-56CC-BEAB-1465C6CCF427}"/>
              </a:ext>
            </a:extLst>
          </p:cNvPr>
          <p:cNvSpPr/>
          <p:nvPr/>
        </p:nvSpPr>
        <p:spPr>
          <a:xfrm>
            <a:off x="7769856" y="6103337"/>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0.20% </a:t>
            </a:r>
            <a:r>
              <a:rPr lang="ko-KR" altLang="en-US" sz="891" dirty="0">
                <a:solidFill>
                  <a:schemeClr val="tx1"/>
                </a:solidFill>
                <a:latin typeface="Arial Narrow" panose="020B0606020202030204" pitchFamily="34" charset="0"/>
                <a:ea typeface="LG스마트체 Regular" panose="020B0600000101010101" pitchFamily="50" charset="-127"/>
              </a:rPr>
              <a:t>이상</a:t>
            </a:r>
          </a:p>
        </p:txBody>
      </p:sp>
      <p:sp>
        <p:nvSpPr>
          <p:cNvPr id="16" name="직사각형 15">
            <a:extLst>
              <a:ext uri="{FF2B5EF4-FFF2-40B4-BE49-F238E27FC236}">
                <a16:creationId xmlns:a16="http://schemas.microsoft.com/office/drawing/2014/main" id="{DE4FA65B-11DF-6DF2-74FD-99D3CF5F8FF8}"/>
              </a:ext>
            </a:extLst>
          </p:cNvPr>
          <p:cNvSpPr/>
          <p:nvPr/>
        </p:nvSpPr>
        <p:spPr>
          <a:xfrm>
            <a:off x="7619194" y="6125075"/>
            <a:ext cx="143811" cy="13134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17" name="직사각형 16">
            <a:extLst>
              <a:ext uri="{FF2B5EF4-FFF2-40B4-BE49-F238E27FC236}">
                <a16:creationId xmlns:a16="http://schemas.microsoft.com/office/drawing/2014/main" id="{8757E1CB-36C0-CF14-21C4-456F476D227A}"/>
              </a:ext>
            </a:extLst>
          </p:cNvPr>
          <p:cNvSpPr/>
          <p:nvPr/>
        </p:nvSpPr>
        <p:spPr>
          <a:xfrm>
            <a:off x="8736531" y="6107151"/>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0.10% ~ 0.20%</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18" name="직사각형 17">
            <a:extLst>
              <a:ext uri="{FF2B5EF4-FFF2-40B4-BE49-F238E27FC236}">
                <a16:creationId xmlns:a16="http://schemas.microsoft.com/office/drawing/2014/main" id="{74872115-BB1F-E784-F22B-E3628F5A9733}"/>
              </a:ext>
            </a:extLst>
          </p:cNvPr>
          <p:cNvSpPr/>
          <p:nvPr/>
        </p:nvSpPr>
        <p:spPr>
          <a:xfrm>
            <a:off x="8585870" y="6128890"/>
            <a:ext cx="143811" cy="13134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19" name="직사각형 18">
            <a:extLst>
              <a:ext uri="{FF2B5EF4-FFF2-40B4-BE49-F238E27FC236}">
                <a16:creationId xmlns:a16="http://schemas.microsoft.com/office/drawing/2014/main" id="{43AB05A2-50F5-BB9E-6C82-CD9DA5BB31D1}"/>
              </a:ext>
            </a:extLst>
          </p:cNvPr>
          <p:cNvSpPr/>
          <p:nvPr/>
        </p:nvSpPr>
        <p:spPr>
          <a:xfrm>
            <a:off x="7769855" y="6341094"/>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 0.10%</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0" name="직사각형 19">
            <a:extLst>
              <a:ext uri="{FF2B5EF4-FFF2-40B4-BE49-F238E27FC236}">
                <a16:creationId xmlns:a16="http://schemas.microsoft.com/office/drawing/2014/main" id="{DCE51E35-93F9-8D7F-6CAE-F1F45C0FB116}"/>
              </a:ext>
            </a:extLst>
          </p:cNvPr>
          <p:cNvSpPr/>
          <p:nvPr/>
        </p:nvSpPr>
        <p:spPr>
          <a:xfrm>
            <a:off x="7619194" y="6362833"/>
            <a:ext cx="143811" cy="13134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1" name="직사각형 20">
            <a:extLst>
              <a:ext uri="{FF2B5EF4-FFF2-40B4-BE49-F238E27FC236}">
                <a16:creationId xmlns:a16="http://schemas.microsoft.com/office/drawing/2014/main" id="{2BE065C0-C548-072E-5A0A-C2C2B8A98BA3}"/>
              </a:ext>
            </a:extLst>
          </p:cNvPr>
          <p:cNvSpPr/>
          <p:nvPr/>
        </p:nvSpPr>
        <p:spPr>
          <a:xfrm>
            <a:off x="8736533" y="6341668"/>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a:t>
            </a:r>
            <a:r>
              <a:rPr lang="ko-KR" altLang="en-US" sz="891" dirty="0">
                <a:solidFill>
                  <a:schemeClr val="tx1"/>
                </a:solidFill>
                <a:latin typeface="Arial Narrow" panose="020B0606020202030204" pitchFamily="34" charset="0"/>
                <a:ea typeface="LG스마트체 Regular" panose="020B0600000101010101" pitchFamily="50" charset="-127"/>
              </a:rPr>
              <a:t>이하</a:t>
            </a:r>
          </a:p>
        </p:txBody>
      </p:sp>
      <p:sp>
        <p:nvSpPr>
          <p:cNvPr id="22" name="직사각형 21">
            <a:extLst>
              <a:ext uri="{FF2B5EF4-FFF2-40B4-BE49-F238E27FC236}">
                <a16:creationId xmlns:a16="http://schemas.microsoft.com/office/drawing/2014/main" id="{66199AE0-392E-CFB2-7C92-9796F55E8033}"/>
              </a:ext>
            </a:extLst>
          </p:cNvPr>
          <p:cNvSpPr/>
          <p:nvPr/>
        </p:nvSpPr>
        <p:spPr>
          <a:xfrm>
            <a:off x="8585870" y="6363407"/>
            <a:ext cx="143811" cy="13134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3" name="직사각형 22">
            <a:extLst>
              <a:ext uri="{FF2B5EF4-FFF2-40B4-BE49-F238E27FC236}">
                <a16:creationId xmlns:a16="http://schemas.microsoft.com/office/drawing/2014/main" id="{E3444BA5-EE6E-21AE-1849-8DF572A9ED46}"/>
              </a:ext>
            </a:extLst>
          </p:cNvPr>
          <p:cNvSpPr/>
          <p:nvPr/>
        </p:nvSpPr>
        <p:spPr>
          <a:xfrm>
            <a:off x="4293937" y="6124501"/>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0.05% </a:t>
            </a:r>
            <a:r>
              <a:rPr lang="ko-KR" altLang="en-US" sz="891" dirty="0">
                <a:solidFill>
                  <a:schemeClr val="tx1"/>
                </a:solidFill>
                <a:latin typeface="Arial Narrow" panose="020B0606020202030204" pitchFamily="34" charset="0"/>
                <a:ea typeface="LG스마트체 Regular" panose="020B0600000101010101" pitchFamily="50" charset="-127"/>
              </a:rPr>
              <a:t>이상</a:t>
            </a:r>
          </a:p>
        </p:txBody>
      </p:sp>
      <p:sp>
        <p:nvSpPr>
          <p:cNvPr id="24" name="직사각형 23">
            <a:extLst>
              <a:ext uri="{FF2B5EF4-FFF2-40B4-BE49-F238E27FC236}">
                <a16:creationId xmlns:a16="http://schemas.microsoft.com/office/drawing/2014/main" id="{F3194CAF-E414-AB65-8B54-9ECD37B4A0EE}"/>
              </a:ext>
            </a:extLst>
          </p:cNvPr>
          <p:cNvSpPr/>
          <p:nvPr/>
        </p:nvSpPr>
        <p:spPr>
          <a:xfrm>
            <a:off x="4143274" y="6146240"/>
            <a:ext cx="143811" cy="13134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5" name="직사각형 24">
            <a:extLst>
              <a:ext uri="{FF2B5EF4-FFF2-40B4-BE49-F238E27FC236}">
                <a16:creationId xmlns:a16="http://schemas.microsoft.com/office/drawing/2014/main" id="{A175B140-0736-B23A-00CF-2EB3257A7305}"/>
              </a:ext>
            </a:extLst>
          </p:cNvPr>
          <p:cNvSpPr/>
          <p:nvPr/>
        </p:nvSpPr>
        <p:spPr>
          <a:xfrm>
            <a:off x="5260612" y="6128316"/>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0.03% ~ 0.05%</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6" name="직사각형 25">
            <a:extLst>
              <a:ext uri="{FF2B5EF4-FFF2-40B4-BE49-F238E27FC236}">
                <a16:creationId xmlns:a16="http://schemas.microsoft.com/office/drawing/2014/main" id="{FD0992F9-FC78-E197-6F7E-4D03DE912E03}"/>
              </a:ext>
            </a:extLst>
          </p:cNvPr>
          <p:cNvSpPr/>
          <p:nvPr/>
        </p:nvSpPr>
        <p:spPr>
          <a:xfrm>
            <a:off x="5109951" y="6150054"/>
            <a:ext cx="143811" cy="13134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7" name="직사각형 26">
            <a:extLst>
              <a:ext uri="{FF2B5EF4-FFF2-40B4-BE49-F238E27FC236}">
                <a16:creationId xmlns:a16="http://schemas.microsoft.com/office/drawing/2014/main" id="{6B295700-4AAC-124E-E830-6DAFAAAA4A52}"/>
              </a:ext>
            </a:extLst>
          </p:cNvPr>
          <p:cNvSpPr/>
          <p:nvPr/>
        </p:nvSpPr>
        <p:spPr>
          <a:xfrm>
            <a:off x="4293936" y="6362259"/>
            <a:ext cx="884401"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0.01% ~ 0.03%</a:t>
            </a: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8" name="직사각형 27">
            <a:extLst>
              <a:ext uri="{FF2B5EF4-FFF2-40B4-BE49-F238E27FC236}">
                <a16:creationId xmlns:a16="http://schemas.microsoft.com/office/drawing/2014/main" id="{DEDA09F8-8417-68AE-109C-518AFA1D35EA}"/>
              </a:ext>
            </a:extLst>
          </p:cNvPr>
          <p:cNvSpPr/>
          <p:nvPr/>
        </p:nvSpPr>
        <p:spPr>
          <a:xfrm>
            <a:off x="4143274" y="6383997"/>
            <a:ext cx="143811" cy="131349"/>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29" name="직사각형 28">
            <a:extLst>
              <a:ext uri="{FF2B5EF4-FFF2-40B4-BE49-F238E27FC236}">
                <a16:creationId xmlns:a16="http://schemas.microsoft.com/office/drawing/2014/main" id="{1E938521-274F-93F4-0064-06538A9644DF}"/>
              </a:ext>
            </a:extLst>
          </p:cNvPr>
          <p:cNvSpPr/>
          <p:nvPr/>
        </p:nvSpPr>
        <p:spPr>
          <a:xfrm>
            <a:off x="5260613" y="6362833"/>
            <a:ext cx="726887"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91" dirty="0">
                <a:solidFill>
                  <a:schemeClr val="tx1"/>
                </a:solidFill>
                <a:latin typeface="Arial Narrow" panose="020B0606020202030204" pitchFamily="34" charset="0"/>
                <a:ea typeface="LG스마트체 Regular" panose="020B0600000101010101" pitchFamily="50" charset="-127"/>
              </a:rPr>
              <a:t>0.01% </a:t>
            </a:r>
            <a:r>
              <a:rPr lang="ko-KR" altLang="en-US" sz="891" dirty="0">
                <a:solidFill>
                  <a:schemeClr val="tx1"/>
                </a:solidFill>
                <a:latin typeface="Arial Narrow" panose="020B0606020202030204" pitchFamily="34" charset="0"/>
                <a:ea typeface="LG스마트체 Regular" panose="020B0600000101010101" pitchFamily="50" charset="-127"/>
              </a:rPr>
              <a:t>이하</a:t>
            </a:r>
          </a:p>
        </p:txBody>
      </p:sp>
      <p:sp>
        <p:nvSpPr>
          <p:cNvPr id="46" name="직사각형 45">
            <a:extLst>
              <a:ext uri="{FF2B5EF4-FFF2-40B4-BE49-F238E27FC236}">
                <a16:creationId xmlns:a16="http://schemas.microsoft.com/office/drawing/2014/main" id="{36776678-FDF8-486D-B3E7-7CBF8CB145B3}"/>
              </a:ext>
            </a:extLst>
          </p:cNvPr>
          <p:cNvSpPr/>
          <p:nvPr/>
        </p:nvSpPr>
        <p:spPr>
          <a:xfrm>
            <a:off x="5109951" y="6384571"/>
            <a:ext cx="143811" cy="131349"/>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sz="891" dirty="0">
              <a:solidFill>
                <a:schemeClr val="tx1"/>
              </a:solidFill>
              <a:latin typeface="Arial Narrow" panose="020B0606020202030204" pitchFamily="34" charset="0"/>
              <a:ea typeface="LG스마트체 Regular" panose="020B0600000101010101" pitchFamily="50" charset="-127"/>
            </a:endParaRPr>
          </a:p>
        </p:txBody>
      </p:sp>
      <p:sp>
        <p:nvSpPr>
          <p:cNvPr id="33" name="TextBox 32">
            <a:extLst>
              <a:ext uri="{FF2B5EF4-FFF2-40B4-BE49-F238E27FC236}">
                <a16:creationId xmlns:a16="http://schemas.microsoft.com/office/drawing/2014/main" id="{A1B49754-2F9C-7D2A-AF95-C1E6219496BE}"/>
              </a:ext>
            </a:extLst>
          </p:cNvPr>
          <p:cNvSpPr txBox="1"/>
          <p:nvPr/>
        </p:nvSpPr>
        <p:spPr>
          <a:xfrm>
            <a:off x="8202737"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err="1">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30" name="직사각형 29">
            <a:extLst>
              <a:ext uri="{FF2B5EF4-FFF2-40B4-BE49-F238E27FC236}">
                <a16:creationId xmlns:a16="http://schemas.microsoft.com/office/drawing/2014/main" id="{58873E48-E2C1-3881-9E95-06BC918599DF}"/>
              </a:ext>
            </a:extLst>
          </p:cNvPr>
          <p:cNvSpPr/>
          <p:nvPr/>
        </p:nvSpPr>
        <p:spPr>
          <a:xfrm>
            <a:off x="8223845" y="5855043"/>
            <a:ext cx="1294852"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ko-KR" altLang="en-US" sz="891" dirty="0">
                <a:solidFill>
                  <a:schemeClr val="tx1"/>
                </a:solidFill>
                <a:latin typeface="Arial Narrow" panose="020B0606020202030204" pitchFamily="34" charset="0"/>
                <a:ea typeface="LG스마트체 Regular" panose="020B0600000101010101" pitchFamily="50" charset="-127"/>
              </a:rPr>
              <a:t>활성화 </a:t>
            </a:r>
            <a:r>
              <a:rPr lang="ko-KR" altLang="en-US" sz="891" dirty="0" err="1">
                <a:solidFill>
                  <a:schemeClr val="tx1"/>
                </a:solidFill>
                <a:latin typeface="Arial Narrow" panose="020B0606020202030204" pitchFamily="34" charset="0"/>
                <a:ea typeface="LG스마트체 Regular" panose="020B0600000101010101" pitchFamily="50" charset="-127"/>
              </a:rPr>
              <a:t>모델별</a:t>
            </a:r>
            <a:r>
              <a:rPr lang="ko-KR" altLang="en-US" sz="891" dirty="0">
                <a:solidFill>
                  <a:schemeClr val="tx1"/>
                </a:solidFill>
                <a:latin typeface="Arial Narrow" panose="020B0606020202030204" pitchFamily="34" charset="0"/>
                <a:ea typeface="LG스마트체 Regular" panose="020B0600000101010101" pitchFamily="50" charset="-127"/>
              </a:rPr>
              <a:t> 불량 현황</a:t>
            </a:r>
          </a:p>
        </p:txBody>
      </p:sp>
      <p:sp>
        <p:nvSpPr>
          <p:cNvPr id="34" name="실행 단추: 앞으로 또는 다음으로 이동 33">
            <a:hlinkClick r:id="rId2" action="ppaction://hlinksldjump" highlightClick="1"/>
            <a:extLst>
              <a:ext uri="{FF2B5EF4-FFF2-40B4-BE49-F238E27FC236}">
                <a16:creationId xmlns:a16="http://schemas.microsoft.com/office/drawing/2014/main" id="{B700BC3A-C779-6298-4ED7-35AE57FC1D38}"/>
              </a:ext>
            </a:extLst>
          </p:cNvPr>
          <p:cNvSpPr/>
          <p:nvPr/>
        </p:nvSpPr>
        <p:spPr>
          <a:xfrm>
            <a:off x="9484792" y="5875085"/>
            <a:ext cx="125805" cy="131328"/>
          </a:xfrm>
          <a:prstGeom prst="actionButtonForwardNext">
            <a:avLst/>
          </a:prstGeom>
          <a:solidFill>
            <a:schemeClr val="bg1">
              <a:lumMod val="75000"/>
            </a:schemeClr>
          </a:solidFill>
          <a:ln w="127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90">
              <a:latin typeface="Arial Narrow" panose="020B0606020202030204" pitchFamily="34" charset="0"/>
            </a:endParaRPr>
          </a:p>
        </p:txBody>
      </p:sp>
      <p:sp>
        <p:nvSpPr>
          <p:cNvPr id="36" name="화살표: 오른쪽 35">
            <a:hlinkClick r:id="rId3" action="ppaction://hlinksldjump"/>
            <a:extLst>
              <a:ext uri="{FF2B5EF4-FFF2-40B4-BE49-F238E27FC236}">
                <a16:creationId xmlns:a16="http://schemas.microsoft.com/office/drawing/2014/main" id="{646F1A7C-3BD8-4D62-FD65-437EA41D9B49}"/>
              </a:ext>
            </a:extLst>
          </p:cNvPr>
          <p:cNvSpPr/>
          <p:nvPr/>
        </p:nvSpPr>
        <p:spPr>
          <a:xfrm>
            <a:off x="9429444" y="116632"/>
            <a:ext cx="348519" cy="335140"/>
          </a:xfrm>
          <a:prstGeom prst="rightArrow">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맑은 고딕"/>
              <a:ea typeface="맑은 고딕" panose="020B0503020000020004" pitchFamily="50" charset="-127"/>
            </a:endParaRPr>
          </a:p>
        </p:txBody>
      </p:sp>
      <p:sp>
        <p:nvSpPr>
          <p:cNvPr id="12" name="TextBox 11">
            <a:extLst>
              <a:ext uri="{FF2B5EF4-FFF2-40B4-BE49-F238E27FC236}">
                <a16:creationId xmlns:a16="http://schemas.microsoft.com/office/drawing/2014/main" id="{7F1F0B49-FCE8-1F59-7515-341BB13CB793}"/>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- 8 / 10 -</a:t>
            </a:r>
          </a:p>
        </p:txBody>
      </p:sp>
    </p:spTree>
    <p:extLst>
      <p:ext uri="{BB962C8B-B14F-4D97-AF65-F5344CB8AC3E}">
        <p14:creationId xmlns:p14="http://schemas.microsoft.com/office/powerpoint/2010/main" val="3814449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12DC4-9558-0809-4A06-0F53858BEA49}"/>
            </a:ext>
          </a:extLst>
        </p:cNvPr>
        <p:cNvGrpSpPr/>
        <p:nvPr/>
      </p:nvGrpSpPr>
      <p:grpSpPr>
        <a:xfrm>
          <a:off x="0" y="0"/>
          <a:ext cx="0" cy="0"/>
          <a:chOff x="0" y="0"/>
          <a:chExt cx="0" cy="0"/>
        </a:xfrm>
      </p:grpSpPr>
      <p:sp>
        <p:nvSpPr>
          <p:cNvPr id="6" name="제목 1">
            <a:extLst>
              <a:ext uri="{FF2B5EF4-FFF2-40B4-BE49-F238E27FC236}">
                <a16:creationId xmlns:a16="http://schemas.microsoft.com/office/drawing/2014/main" id="{F3D9E7D6-C774-AC37-C89F-837B045C6B38}"/>
              </a:ext>
            </a:extLst>
          </p:cNvPr>
          <p:cNvSpPr txBox="1">
            <a:spLocks/>
          </p:cNvSpPr>
          <p:nvPr/>
        </p:nvSpPr>
        <p:spPr>
          <a:xfrm>
            <a:off x="173461" y="199697"/>
            <a:ext cx="3257627" cy="361664"/>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89564" tIns="44783" rIns="89564" bIns="44783"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47830" latinLnBrk="0">
              <a:defRPr/>
            </a:pPr>
            <a:r>
              <a:rPr lang="ko-KR" altLang="en-US" sz="1763" dirty="0">
                <a:solidFill>
                  <a:prstClr val="black"/>
                </a:solidFill>
                <a:latin typeface="Arial Narrow" panose="020B0606020202030204" pitchFamily="34" charset="0"/>
                <a:ea typeface="LG스마트체 Regular" panose="020B0600000101010101" pitchFamily="50" charset="-127"/>
              </a:rPr>
              <a:t>보조</a:t>
            </a:r>
            <a:r>
              <a:rPr lang="en-US" altLang="ko-KR" sz="1763" dirty="0">
                <a:solidFill>
                  <a:prstClr val="black"/>
                </a:solidFill>
                <a:latin typeface="Arial Narrow" panose="020B0606020202030204" pitchFamily="34" charset="0"/>
                <a:ea typeface="LG스마트체 Regular" panose="020B0600000101010101" pitchFamily="50" charset="-127"/>
              </a:rPr>
              <a:t>. ESWA </a:t>
            </a:r>
            <a:r>
              <a:rPr lang="ko-KR" altLang="en-US" sz="1763" dirty="0">
                <a:solidFill>
                  <a:prstClr val="black"/>
                </a:solidFill>
                <a:latin typeface="Arial Narrow" panose="020B0606020202030204" pitchFamily="34" charset="0"/>
                <a:ea typeface="LG스마트체 Regular" panose="020B0600000101010101" pitchFamily="50" charset="-127"/>
              </a:rPr>
              <a:t>조립 </a:t>
            </a:r>
            <a:r>
              <a:rPr lang="ko-KR" altLang="en-US" sz="1763" dirty="0" err="1">
                <a:solidFill>
                  <a:prstClr val="black"/>
                </a:solidFill>
                <a:latin typeface="Arial Narrow" panose="020B0606020202030204" pitchFamily="34" charset="0"/>
                <a:ea typeface="LG스마트체 Regular" panose="020B0600000101010101" pitchFamily="50" charset="-127"/>
              </a:rPr>
              <a:t>수율</a:t>
            </a:r>
            <a:r>
              <a:rPr lang="ko-KR" altLang="en-US" sz="1763" dirty="0">
                <a:solidFill>
                  <a:prstClr val="black"/>
                </a:solidFill>
                <a:latin typeface="Arial Narrow" panose="020B0606020202030204" pitchFamily="34" charset="0"/>
                <a:ea typeface="LG스마트체 Regular" panose="020B0600000101010101" pitchFamily="50" charset="-127"/>
              </a:rPr>
              <a:t> 현황</a:t>
            </a:r>
            <a:r>
              <a:rPr lang="en-US" altLang="ko-KR" sz="1763" dirty="0">
                <a:solidFill>
                  <a:prstClr val="black"/>
                </a:solidFill>
                <a:latin typeface="Arial Narrow" panose="020B0606020202030204" pitchFamily="34" charset="0"/>
                <a:ea typeface="LG스마트체 Regular" panose="020B0600000101010101" pitchFamily="50" charset="-127"/>
              </a:rPr>
              <a:t>_</a:t>
            </a:r>
            <a:r>
              <a:rPr lang="ko-KR" altLang="en-US" sz="1763" dirty="0" err="1">
                <a:solidFill>
                  <a:prstClr val="black"/>
                </a:solidFill>
                <a:latin typeface="Arial Narrow" panose="020B0606020202030204" pitchFamily="34" charset="0"/>
                <a:ea typeface="LG스마트체 Regular" panose="020B0600000101010101" pitchFamily="50" charset="-127"/>
              </a:rPr>
              <a:t>모델별</a:t>
            </a:r>
            <a:endParaRPr lang="ko-KR" altLang="en-US" sz="1763" dirty="0">
              <a:solidFill>
                <a:prstClr val="black"/>
              </a:solidFill>
              <a:latin typeface="Arial Narrow" panose="020B0606020202030204" pitchFamily="34" charset="0"/>
              <a:ea typeface="LG스마트체 Regular" panose="020B0600000101010101" pitchFamily="50" charset="-127"/>
            </a:endParaRPr>
          </a:p>
        </p:txBody>
      </p:sp>
      <p:graphicFrame>
        <p:nvGraphicFramePr>
          <p:cNvPr id="30" name="표 29">
            <a:extLst>
              <a:ext uri="{FF2B5EF4-FFF2-40B4-BE49-F238E27FC236}">
                <a16:creationId xmlns:a16="http://schemas.microsoft.com/office/drawing/2014/main" id="{4D5D1A5A-A2D9-20A0-2122-9C72445E0740}"/>
              </a:ext>
            </a:extLst>
          </p:cNvPr>
          <p:cNvGraphicFramePr>
            <a:graphicFrameLocks noGrp="1"/>
          </p:cNvGraphicFramePr>
          <p:nvPr/>
        </p:nvGraphicFramePr>
        <p:xfrm>
          <a:off x="320733" y="1053433"/>
          <a:ext cx="9414236" cy="5451222"/>
        </p:xfrm>
        <a:graphic>
          <a:graphicData uri="http://schemas.openxmlformats.org/drawingml/2006/table">
            <a:tbl>
              <a:tblPr/>
              <a:tblGrid>
                <a:gridCol w="1480820">
                  <a:extLst>
                    <a:ext uri="{9D8B030D-6E8A-4147-A177-3AD203B41FA5}">
                      <a16:colId xmlns:a16="http://schemas.microsoft.com/office/drawing/2014/main" val="191468626"/>
                    </a:ext>
                  </a:extLst>
                </a:gridCol>
                <a:gridCol w="344834">
                  <a:extLst>
                    <a:ext uri="{9D8B030D-6E8A-4147-A177-3AD203B41FA5}">
                      <a16:colId xmlns:a16="http://schemas.microsoft.com/office/drawing/2014/main" val="1228943841"/>
                    </a:ext>
                  </a:extLst>
                </a:gridCol>
                <a:gridCol w="344834">
                  <a:extLst>
                    <a:ext uri="{9D8B030D-6E8A-4147-A177-3AD203B41FA5}">
                      <a16:colId xmlns:a16="http://schemas.microsoft.com/office/drawing/2014/main" val="3962690107"/>
                    </a:ext>
                  </a:extLst>
                </a:gridCol>
                <a:gridCol w="344834">
                  <a:extLst>
                    <a:ext uri="{9D8B030D-6E8A-4147-A177-3AD203B41FA5}">
                      <a16:colId xmlns:a16="http://schemas.microsoft.com/office/drawing/2014/main" val="898904374"/>
                    </a:ext>
                  </a:extLst>
                </a:gridCol>
                <a:gridCol w="344834">
                  <a:extLst>
                    <a:ext uri="{9D8B030D-6E8A-4147-A177-3AD203B41FA5}">
                      <a16:colId xmlns:a16="http://schemas.microsoft.com/office/drawing/2014/main" val="2498488151"/>
                    </a:ext>
                  </a:extLst>
                </a:gridCol>
                <a:gridCol w="344834">
                  <a:extLst>
                    <a:ext uri="{9D8B030D-6E8A-4147-A177-3AD203B41FA5}">
                      <a16:colId xmlns:a16="http://schemas.microsoft.com/office/drawing/2014/main" val="2116011966"/>
                    </a:ext>
                  </a:extLst>
                </a:gridCol>
                <a:gridCol w="344834">
                  <a:extLst>
                    <a:ext uri="{9D8B030D-6E8A-4147-A177-3AD203B41FA5}">
                      <a16:colId xmlns:a16="http://schemas.microsoft.com/office/drawing/2014/main" val="1658389091"/>
                    </a:ext>
                  </a:extLst>
                </a:gridCol>
                <a:gridCol w="344834">
                  <a:extLst>
                    <a:ext uri="{9D8B030D-6E8A-4147-A177-3AD203B41FA5}">
                      <a16:colId xmlns:a16="http://schemas.microsoft.com/office/drawing/2014/main" val="873609883"/>
                    </a:ext>
                  </a:extLst>
                </a:gridCol>
                <a:gridCol w="344834">
                  <a:extLst>
                    <a:ext uri="{9D8B030D-6E8A-4147-A177-3AD203B41FA5}">
                      <a16:colId xmlns:a16="http://schemas.microsoft.com/office/drawing/2014/main" val="3493347276"/>
                    </a:ext>
                  </a:extLst>
                </a:gridCol>
                <a:gridCol w="313381">
                  <a:extLst>
                    <a:ext uri="{9D8B030D-6E8A-4147-A177-3AD203B41FA5}">
                      <a16:colId xmlns:a16="http://schemas.microsoft.com/office/drawing/2014/main" val="1236317080"/>
                    </a:ext>
                  </a:extLst>
                </a:gridCol>
                <a:gridCol w="344834">
                  <a:extLst>
                    <a:ext uri="{9D8B030D-6E8A-4147-A177-3AD203B41FA5}">
                      <a16:colId xmlns:a16="http://schemas.microsoft.com/office/drawing/2014/main" val="659074109"/>
                    </a:ext>
                  </a:extLst>
                </a:gridCol>
                <a:gridCol w="344834">
                  <a:extLst>
                    <a:ext uri="{9D8B030D-6E8A-4147-A177-3AD203B41FA5}">
                      <a16:colId xmlns:a16="http://schemas.microsoft.com/office/drawing/2014/main" val="3352103827"/>
                    </a:ext>
                  </a:extLst>
                </a:gridCol>
                <a:gridCol w="344834">
                  <a:extLst>
                    <a:ext uri="{9D8B030D-6E8A-4147-A177-3AD203B41FA5}">
                      <a16:colId xmlns:a16="http://schemas.microsoft.com/office/drawing/2014/main" val="460630052"/>
                    </a:ext>
                  </a:extLst>
                </a:gridCol>
                <a:gridCol w="344834">
                  <a:extLst>
                    <a:ext uri="{9D8B030D-6E8A-4147-A177-3AD203B41FA5}">
                      <a16:colId xmlns:a16="http://schemas.microsoft.com/office/drawing/2014/main" val="3823274374"/>
                    </a:ext>
                  </a:extLst>
                </a:gridCol>
                <a:gridCol w="344834">
                  <a:extLst>
                    <a:ext uri="{9D8B030D-6E8A-4147-A177-3AD203B41FA5}">
                      <a16:colId xmlns:a16="http://schemas.microsoft.com/office/drawing/2014/main" val="3030929380"/>
                    </a:ext>
                  </a:extLst>
                </a:gridCol>
                <a:gridCol w="344834">
                  <a:extLst>
                    <a:ext uri="{9D8B030D-6E8A-4147-A177-3AD203B41FA5}">
                      <a16:colId xmlns:a16="http://schemas.microsoft.com/office/drawing/2014/main" val="3400105936"/>
                    </a:ext>
                  </a:extLst>
                </a:gridCol>
                <a:gridCol w="344834">
                  <a:extLst>
                    <a:ext uri="{9D8B030D-6E8A-4147-A177-3AD203B41FA5}">
                      <a16:colId xmlns:a16="http://schemas.microsoft.com/office/drawing/2014/main" val="4146424983"/>
                    </a:ext>
                  </a:extLst>
                </a:gridCol>
                <a:gridCol w="313381">
                  <a:extLst>
                    <a:ext uri="{9D8B030D-6E8A-4147-A177-3AD203B41FA5}">
                      <a16:colId xmlns:a16="http://schemas.microsoft.com/office/drawing/2014/main" val="3155691218"/>
                    </a:ext>
                  </a:extLst>
                </a:gridCol>
                <a:gridCol w="344834">
                  <a:extLst>
                    <a:ext uri="{9D8B030D-6E8A-4147-A177-3AD203B41FA5}">
                      <a16:colId xmlns:a16="http://schemas.microsoft.com/office/drawing/2014/main" val="1320228815"/>
                    </a:ext>
                  </a:extLst>
                </a:gridCol>
                <a:gridCol w="344834">
                  <a:extLst>
                    <a:ext uri="{9D8B030D-6E8A-4147-A177-3AD203B41FA5}">
                      <a16:colId xmlns:a16="http://schemas.microsoft.com/office/drawing/2014/main" val="3183344317"/>
                    </a:ext>
                  </a:extLst>
                </a:gridCol>
                <a:gridCol w="344834">
                  <a:extLst>
                    <a:ext uri="{9D8B030D-6E8A-4147-A177-3AD203B41FA5}">
                      <a16:colId xmlns:a16="http://schemas.microsoft.com/office/drawing/2014/main" val="417897266"/>
                    </a:ext>
                  </a:extLst>
                </a:gridCol>
                <a:gridCol w="194972">
                  <a:extLst>
                    <a:ext uri="{9D8B030D-6E8A-4147-A177-3AD203B41FA5}">
                      <a16:colId xmlns:a16="http://schemas.microsoft.com/office/drawing/2014/main" val="2118333712"/>
                    </a:ext>
                  </a:extLst>
                </a:gridCol>
                <a:gridCol w="194972">
                  <a:extLst>
                    <a:ext uri="{9D8B030D-6E8A-4147-A177-3AD203B41FA5}">
                      <a16:colId xmlns:a16="http://schemas.microsoft.com/office/drawing/2014/main" val="2200090983"/>
                    </a:ext>
                  </a:extLst>
                </a:gridCol>
                <a:gridCol w="344834">
                  <a:extLst>
                    <a:ext uri="{9D8B030D-6E8A-4147-A177-3AD203B41FA5}">
                      <a16:colId xmlns:a16="http://schemas.microsoft.com/office/drawing/2014/main" val="2174590558"/>
                    </a:ext>
                  </a:extLst>
                </a:gridCol>
                <a:gridCol w="364864">
                  <a:extLst>
                    <a:ext uri="{9D8B030D-6E8A-4147-A177-3AD203B41FA5}">
                      <a16:colId xmlns:a16="http://schemas.microsoft.com/office/drawing/2014/main" val="2553701740"/>
                    </a:ext>
                  </a:extLst>
                </a:gridCol>
              </a:tblGrid>
              <a:tr h="144019">
                <a:tc rowSpan="2">
                  <a:txBody>
                    <a:bodyPr/>
                    <a:lstStyle/>
                    <a:p>
                      <a:pPr algn="ctr" fontAlgn="ctr">
                        <a:buNone/>
                      </a:pPr>
                      <a:r>
                        <a:rPr lang="ko-KR" sz="800" b="1" i="0" u="none" strike="noStrike" baseline="0" dirty="0">
                          <a:solidFill>
                            <a:schemeClr val="tx1"/>
                          </a:solidFill>
                          <a:effectLst/>
                          <a:latin typeface="Arial Narrow" panose="020B0606020202030204" pitchFamily="34" charset="0"/>
                          <a:ea typeface="LG스마트체 Regular" panose="020B0600000101010101" pitchFamily="50" charset="-127"/>
                        </a:rPr>
                        <a:t>항목</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E77A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E128A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E161A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H5.5A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E73A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L10D</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E85A</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E81B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E72B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E90B</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JF2S</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dirty="0">
                          <a:solidFill>
                            <a:schemeClr val="tx1"/>
                          </a:solidFill>
                          <a:effectLst/>
                          <a:latin typeface="Arial Narrow" panose="020B0606020202030204" pitchFamily="34" charset="0"/>
                          <a:ea typeface="LG스마트체 Regular" panose="020B0600000101010101" pitchFamily="50" charset="-127"/>
                        </a:rPr>
                        <a:t>JF1</a:t>
                      </a:r>
                    </a:p>
                  </a:txBody>
                  <a:tcPr marL="9427" marR="9427" marT="9427"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extLst>
                  <a:ext uri="{0D108BD9-81ED-4DB2-BD59-A6C34878D82A}">
                    <a16:rowId xmlns:a16="http://schemas.microsoft.com/office/drawing/2014/main" val="886696894"/>
                  </a:ext>
                </a:extLst>
              </a:tr>
              <a:tr h="144019">
                <a:tc vMerge="1">
                  <a:txBody>
                    <a:bodyPr/>
                    <a:lstStyle/>
                    <a:p>
                      <a:pPr latinLnBrk="1"/>
                      <a:endParaRPr lang="ko-KR" altLang="en-US"/>
                    </a:p>
                  </a:txBody>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7월</a:t>
                      </a:r>
                    </a:p>
                  </a:txBody>
                  <a:tcPr marL="9427" marR="9427" marT="9427"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chemeClr val="tx1"/>
                          </a:solidFill>
                          <a:effectLst/>
                          <a:latin typeface="Arial Narrow" panose="020B0606020202030204" pitchFamily="34" charset="0"/>
                          <a:ea typeface="LG스마트체 Regular" panose="020B0600000101010101" pitchFamily="50" charset="-127"/>
                        </a:rPr>
                        <a:t>8월</a:t>
                      </a:r>
                    </a:p>
                  </a:txBody>
                  <a:tcPr marL="9427" marR="9427" marT="9427"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707797237"/>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라미 생산량</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225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239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77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75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49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68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103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45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17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27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34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39 M</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9024705"/>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라미 불량율</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2.89%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801016942"/>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NG Mark</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extLst>
                  <a:ext uri="{0D108BD9-81ED-4DB2-BD59-A6C34878D82A}">
                    <a16:rowId xmlns:a16="http://schemas.microsoft.com/office/drawing/2014/main" val="2371417294"/>
                  </a:ext>
                </a:extLst>
              </a:tr>
              <a:tr h="144019">
                <a:tc>
                  <a:txBody>
                    <a:bodyPr/>
                    <a:lstStyle/>
                    <a:p>
                      <a:pPr algn="l" fontAlgn="ctr">
                        <a:buNone/>
                      </a:pPr>
                      <a:r>
                        <a:rPr lang="ko-KR" sz="800" b="0" i="0" u="none" strike="noStrike" baseline="0" dirty="0" err="1">
                          <a:solidFill>
                            <a:schemeClr val="tx1"/>
                          </a:solidFill>
                          <a:effectLst/>
                          <a:latin typeface="Arial Narrow" panose="020B0606020202030204" pitchFamily="34" charset="0"/>
                          <a:ea typeface="LG스마트체 Regular" panose="020B0600000101010101" pitchFamily="50" charset="-127"/>
                        </a:rPr>
                        <a:t>Lami</a:t>
                      </a:r>
                      <a:r>
                        <a:rPr lang="ko-KR" sz="800" b="0"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chemeClr val="tx1"/>
                          </a:solidFill>
                          <a:effectLst/>
                          <a:latin typeface="Arial Narrow" panose="020B0606020202030204" pitchFamily="34" charset="0"/>
                          <a:ea typeface="LG스마트체 Regular" panose="020B0600000101010101" pitchFamily="50" charset="-127"/>
                        </a:rPr>
                        <a:t>Position</a:t>
                      </a:r>
                      <a:endParaRPr lang="ko-KR" sz="800" b="0" i="0" u="none" strike="noStrike" baseline="0"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extLst>
                  <a:ext uri="{0D108BD9-81ED-4DB2-BD59-A6C34878D82A}">
                    <a16:rowId xmlns:a16="http://schemas.microsoft.com/office/drawing/2014/main" val="788447128"/>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Position Corcern.</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300775871"/>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Connection 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75243762"/>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Processloss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9199521"/>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Short</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55523262"/>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스태킹 불량율</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1.63%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04582235"/>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Mono Sepa Appearance</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0E6F5"/>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0E6F5"/>
                    </a:solidFill>
                  </a:tcPr>
                </a:tc>
                <a:extLst>
                  <a:ext uri="{0D108BD9-81ED-4DB2-BD59-A6C34878D82A}">
                    <a16:rowId xmlns:a16="http://schemas.microsoft.com/office/drawing/2014/main" val="1897158675"/>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Dimensin/Appearance</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35463419"/>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Short</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977518435"/>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Stack NG</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24984695"/>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Folding Connection 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578137662"/>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HC overhang</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29302572"/>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Processloss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074106478"/>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Rework</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784271683"/>
                  </a:ext>
                </a:extLst>
              </a:tr>
              <a:tr h="423131">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　</a:t>
                      </a:r>
                    </a:p>
                  </a:txBody>
                  <a:tcPr marL="9427" marR="9427" marT="9427"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938803"/>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라미 불량율</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98581936"/>
                  </a:ext>
                </a:extLst>
              </a:tr>
              <a:tr h="80168">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NG Mark</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extLst>
                  <a:ext uri="{0D108BD9-81ED-4DB2-BD59-A6C34878D82A}">
                    <a16:rowId xmlns:a16="http://schemas.microsoft.com/office/drawing/2014/main" val="2162611273"/>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Position</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extLst>
                  <a:ext uri="{0D108BD9-81ED-4DB2-BD59-A6C34878D82A}">
                    <a16:rowId xmlns:a16="http://schemas.microsoft.com/office/drawing/2014/main" val="230616424"/>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Position Corcern.</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11170974"/>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Connection 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76783727"/>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Processloss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CAEDFB"/>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140377372"/>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Lami Short</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5167007"/>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스태킹 불량율</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64010968"/>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Mono Sepa Appearance</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52420600"/>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Dimensin/Appearance</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095006955"/>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Short</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341248754"/>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Stack NG</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26198004"/>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Folding Connection 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890868994"/>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HC overhang</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14970911"/>
                  </a:ext>
                </a:extLst>
              </a:tr>
              <a:tr h="144019">
                <a:tc>
                  <a:txBody>
                    <a:bodyPr/>
                    <a:lstStyle/>
                    <a:p>
                      <a:pPr algn="l" fontAlgn="ctr">
                        <a:buNone/>
                      </a:pPr>
                      <a:r>
                        <a:rPr lang="ko-KR" sz="800" b="0" i="0" u="none" strike="noStrike" baseline="0">
                          <a:solidFill>
                            <a:schemeClr val="tx1"/>
                          </a:solidFill>
                          <a:effectLst/>
                          <a:latin typeface="Arial Narrow" panose="020B0606020202030204" pitchFamily="34" charset="0"/>
                          <a:ea typeface="LG스마트체 Regular" panose="020B0600000101010101" pitchFamily="50" charset="-127"/>
                        </a:rPr>
                        <a:t>Stacking Processloss</a:t>
                      </a: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334726441"/>
                  </a:ext>
                </a:extLst>
              </a:tr>
              <a:tr h="144019">
                <a:tc>
                  <a:txBody>
                    <a:bodyPr/>
                    <a:lstStyle/>
                    <a:p>
                      <a:pPr algn="l" fontAlgn="ctr">
                        <a:buNone/>
                      </a:pPr>
                      <a:r>
                        <a:rPr lang="ko-KR" sz="800" b="0" i="0" u="none" strike="noStrike" baseline="0" dirty="0" err="1">
                          <a:solidFill>
                            <a:schemeClr val="tx1"/>
                          </a:solidFill>
                          <a:effectLst/>
                          <a:latin typeface="Arial Narrow" panose="020B0606020202030204" pitchFamily="34" charset="0"/>
                          <a:ea typeface="LG스마트체 Regular" panose="020B0600000101010101" pitchFamily="50" charset="-127"/>
                        </a:rPr>
                        <a:t>Stacking</a:t>
                      </a:r>
                      <a:r>
                        <a:rPr lang="ko-KR" sz="800" b="0" i="0" u="none" strike="noStrike" baseline="0" dirty="0">
                          <a:solidFill>
                            <a:schemeClr val="tx1"/>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chemeClr val="tx1"/>
                          </a:solidFill>
                          <a:effectLst/>
                          <a:latin typeface="Arial Narrow" panose="020B0606020202030204" pitchFamily="34" charset="0"/>
                          <a:ea typeface="LG스마트체 Regular" panose="020B0600000101010101" pitchFamily="50" charset="-127"/>
                        </a:rPr>
                        <a:t>Rework</a:t>
                      </a:r>
                      <a:endParaRPr lang="ko-KR" sz="800" b="0" i="0" u="none" strike="noStrike" baseline="0" dirty="0">
                        <a:solidFill>
                          <a:schemeClr val="tx1"/>
                        </a:solidFill>
                        <a:effectLst/>
                        <a:latin typeface="Arial Narrow" panose="020B0606020202030204" pitchFamily="34" charset="0"/>
                        <a:ea typeface="LG스마트체 Regular" panose="020B0600000101010101" pitchFamily="50" charset="-127"/>
                      </a:endParaRPr>
                    </a:p>
                  </a:txBody>
                  <a:tcPr marL="9427" marR="9427" marT="9427"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88927400"/>
                  </a:ext>
                </a:extLst>
              </a:tr>
            </a:tbl>
          </a:graphicData>
        </a:graphic>
      </p:graphicFrame>
      <p:sp>
        <p:nvSpPr>
          <p:cNvPr id="32" name="직사각형 31">
            <a:extLst>
              <a:ext uri="{FF2B5EF4-FFF2-40B4-BE49-F238E27FC236}">
                <a16:creationId xmlns:a16="http://schemas.microsoft.com/office/drawing/2014/main" id="{BE1349B2-DE7A-CD94-12D8-C7DEA9C08316}"/>
              </a:ext>
            </a:extLst>
          </p:cNvPr>
          <p:cNvSpPr/>
          <p:nvPr/>
        </p:nvSpPr>
        <p:spPr>
          <a:xfrm>
            <a:off x="197986" y="788738"/>
            <a:ext cx="2779360" cy="213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불량율</a:t>
            </a:r>
            <a:r>
              <a:rPr lang="ko-KR" altLang="en-US" sz="1039" b="1" dirty="0">
                <a:solidFill>
                  <a:schemeClr val="tx1"/>
                </a:solidFill>
                <a:latin typeface="Arial Narrow" panose="020B0606020202030204" pitchFamily="34" charset="0"/>
                <a:ea typeface="LG스마트체 Regular" panose="020B0600000101010101" pitchFamily="50" charset="-127"/>
              </a:rPr>
              <a:t> </a:t>
            </a:r>
            <a:r>
              <a:rPr lang="en-US" altLang="ko-KR" sz="1039" b="1" dirty="0">
                <a:solidFill>
                  <a:schemeClr val="tx1"/>
                </a:solidFill>
                <a:latin typeface="Arial Narrow" panose="020B0606020202030204" pitchFamily="34" charset="0"/>
                <a:ea typeface="LG스마트체 Regular" panose="020B0600000101010101" pitchFamily="50" charset="-127"/>
              </a:rPr>
              <a:t>(</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불량수 </a:t>
            </a:r>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투입 수</a:t>
            </a:r>
            <a:r>
              <a:rPr lang="en-US" altLang="ko-KR" sz="1039" b="1" dirty="0">
                <a:solidFill>
                  <a:schemeClr val="tx1"/>
                </a:solidFill>
                <a:latin typeface="Arial Narrow" panose="020B0606020202030204" pitchFamily="34" charset="0"/>
                <a:ea typeface="LG스마트체 Regular" panose="020B0600000101010101" pitchFamily="50" charset="-127"/>
              </a:rPr>
              <a:t>)</a:t>
            </a:r>
            <a:endParaRPr lang="ko-KR" altLang="en-US" sz="1039" b="1" dirty="0">
              <a:solidFill>
                <a:schemeClr val="tx1"/>
              </a:solidFill>
              <a:latin typeface="Arial Narrow" panose="020B0606020202030204" pitchFamily="34" charset="0"/>
              <a:ea typeface="LG스마트체 Regular" panose="020B0600000101010101" pitchFamily="50" charset="-127"/>
            </a:endParaRPr>
          </a:p>
        </p:txBody>
      </p:sp>
      <p:sp>
        <p:nvSpPr>
          <p:cNvPr id="33" name="직사각형 32">
            <a:extLst>
              <a:ext uri="{FF2B5EF4-FFF2-40B4-BE49-F238E27FC236}">
                <a16:creationId xmlns:a16="http://schemas.microsoft.com/office/drawing/2014/main" id="{F357BC7D-5AA5-06CD-E284-135C5990177C}"/>
              </a:ext>
            </a:extLst>
          </p:cNvPr>
          <p:cNvSpPr/>
          <p:nvPr/>
        </p:nvSpPr>
        <p:spPr>
          <a:xfrm>
            <a:off x="194632" y="3947321"/>
            <a:ext cx="5471024" cy="213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자동차</a:t>
            </a:r>
            <a:r>
              <a:rPr lang="en-US" altLang="ko-KR" sz="1039" b="1" dirty="0">
                <a:solidFill>
                  <a:schemeClr val="tx1"/>
                </a:solidFill>
                <a:latin typeface="Arial Narrow" panose="020B0606020202030204" pitchFamily="34" charset="0"/>
                <a:ea typeface="LG스마트체 Regular" panose="020B0600000101010101" pitchFamily="50" charset="-127"/>
              </a:rPr>
              <a:t>/ESS </a:t>
            </a:r>
            <a:r>
              <a:rPr lang="ko-KR" altLang="en-US" sz="1039" b="1" dirty="0">
                <a:solidFill>
                  <a:schemeClr val="tx1"/>
                </a:solidFill>
                <a:latin typeface="Arial Narrow" panose="020B0606020202030204" pitchFamily="34" charset="0"/>
                <a:ea typeface="LG스마트체 Regular" panose="020B0600000101010101" pitchFamily="50" charset="-127"/>
              </a:rPr>
              <a:t>전체 </a:t>
            </a:r>
            <a:r>
              <a:rPr lang="ko-KR" altLang="en-US" sz="1039" b="1" dirty="0" err="1">
                <a:solidFill>
                  <a:schemeClr val="tx1"/>
                </a:solidFill>
                <a:latin typeface="Arial Narrow" panose="020B0606020202030204" pitchFamily="34" charset="0"/>
                <a:ea typeface="LG스마트체 Regular" panose="020B0600000101010101" pitchFamily="50" charset="-127"/>
              </a:rPr>
              <a:t>불량율</a:t>
            </a:r>
            <a:r>
              <a:rPr lang="ko-KR" altLang="en-US" sz="1039" b="1" dirty="0">
                <a:solidFill>
                  <a:schemeClr val="tx1"/>
                </a:solidFill>
                <a:latin typeface="Arial Narrow" panose="020B0606020202030204" pitchFamily="34" charset="0"/>
                <a:ea typeface="LG스마트체 Regular" panose="020B0600000101010101" pitchFamily="50" charset="-127"/>
              </a:rPr>
              <a:t> 기준 환산 </a:t>
            </a:r>
            <a:r>
              <a:rPr lang="ko-KR" altLang="en-US" sz="1039" b="1" dirty="0" err="1">
                <a:solidFill>
                  <a:schemeClr val="tx1"/>
                </a:solidFill>
                <a:latin typeface="Arial Narrow" panose="020B0606020202030204" pitchFamily="34" charset="0"/>
                <a:ea typeface="LG스마트체 Regular" panose="020B0600000101010101" pitchFamily="50" charset="-127"/>
              </a:rPr>
              <a:t>불량율</a:t>
            </a:r>
            <a:r>
              <a:rPr lang="ko-KR" altLang="en-US" sz="1039" b="1" dirty="0">
                <a:solidFill>
                  <a:schemeClr val="tx1"/>
                </a:solidFill>
                <a:latin typeface="Arial Narrow" panose="020B0606020202030204" pitchFamily="34" charset="0"/>
                <a:ea typeface="LG스마트체 Regular" panose="020B0600000101010101" pitchFamily="50" charset="-127"/>
              </a:rPr>
              <a:t> </a:t>
            </a:r>
            <a:r>
              <a:rPr lang="en-US" altLang="ko-KR" sz="1039" b="1" dirty="0">
                <a:solidFill>
                  <a:schemeClr val="tx1"/>
                </a:solidFill>
                <a:latin typeface="Arial Narrow" panose="020B0606020202030204" pitchFamily="34" charset="0"/>
                <a:ea typeface="LG스마트체 Regular" panose="020B0600000101010101" pitchFamily="50" charset="-127"/>
              </a:rPr>
              <a:t>(</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불량수 </a:t>
            </a:r>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a:solidFill>
                  <a:schemeClr val="tx1"/>
                </a:solidFill>
                <a:latin typeface="Arial Narrow" panose="020B0606020202030204" pitchFamily="34" charset="0"/>
                <a:ea typeface="LG스마트체 Regular" panose="020B0600000101010101" pitchFamily="50" charset="-127"/>
              </a:rPr>
              <a:t>자동차 또는 </a:t>
            </a:r>
            <a:r>
              <a:rPr lang="en-US" altLang="ko-KR" sz="1039" b="1" dirty="0">
                <a:solidFill>
                  <a:schemeClr val="tx1"/>
                </a:solidFill>
                <a:latin typeface="Arial Narrow" panose="020B0606020202030204" pitchFamily="34" charset="0"/>
                <a:ea typeface="LG스마트체 Regular" panose="020B0600000101010101" pitchFamily="50" charset="-127"/>
              </a:rPr>
              <a:t>ESS </a:t>
            </a:r>
            <a:r>
              <a:rPr lang="ko-KR" altLang="en-US" sz="1039" b="1" dirty="0">
                <a:solidFill>
                  <a:schemeClr val="tx1"/>
                </a:solidFill>
                <a:latin typeface="Arial Narrow" panose="020B0606020202030204" pitchFamily="34" charset="0"/>
                <a:ea typeface="LG스마트체 Regular" panose="020B0600000101010101" pitchFamily="50" charset="-127"/>
              </a:rPr>
              <a:t>전체 투입 수</a:t>
            </a:r>
            <a:r>
              <a:rPr lang="en-US" altLang="ko-KR" sz="1039" b="1" dirty="0">
                <a:solidFill>
                  <a:schemeClr val="tx1"/>
                </a:solidFill>
                <a:latin typeface="Arial Narrow" panose="020B0606020202030204" pitchFamily="34" charset="0"/>
                <a:ea typeface="LG스마트체 Regular" panose="020B0600000101010101" pitchFamily="50" charset="-127"/>
              </a:rPr>
              <a:t>)</a:t>
            </a:r>
            <a:endParaRPr lang="ko-KR" altLang="en-US" sz="1039" b="1" dirty="0">
              <a:solidFill>
                <a:schemeClr val="tx1"/>
              </a:solidFill>
              <a:latin typeface="Arial Narrow" panose="020B0606020202030204" pitchFamily="34" charset="0"/>
              <a:ea typeface="LG스마트체 Regular" panose="020B0600000101010101" pitchFamily="50" charset="-127"/>
            </a:endParaRPr>
          </a:p>
        </p:txBody>
      </p:sp>
      <p:grpSp>
        <p:nvGrpSpPr>
          <p:cNvPr id="12" name="그룹 11">
            <a:extLst>
              <a:ext uri="{FF2B5EF4-FFF2-40B4-BE49-F238E27FC236}">
                <a16:creationId xmlns:a16="http://schemas.microsoft.com/office/drawing/2014/main" id="{97FC00FC-374B-02B1-E7C6-548CEABF7A76}"/>
              </a:ext>
            </a:extLst>
          </p:cNvPr>
          <p:cNvGrpSpPr/>
          <p:nvPr/>
        </p:nvGrpSpPr>
        <p:grpSpPr>
          <a:xfrm>
            <a:off x="8967850" y="116632"/>
            <a:ext cx="453838" cy="335140"/>
            <a:chOff x="8967850" y="116632"/>
            <a:chExt cx="453838" cy="335140"/>
          </a:xfrm>
        </p:grpSpPr>
        <p:sp>
          <p:nvSpPr>
            <p:cNvPr id="2" name="화살표: 오른쪽 1">
              <a:hlinkClick r:id="rId2" action="ppaction://hlinksldjump"/>
              <a:extLst>
                <a:ext uri="{FF2B5EF4-FFF2-40B4-BE49-F238E27FC236}">
                  <a16:creationId xmlns:a16="http://schemas.microsoft.com/office/drawing/2014/main" id="{C1224D34-E31A-E3CC-E941-5101A9DEE14F}"/>
                </a:ext>
              </a:extLst>
            </p:cNvPr>
            <p:cNvSpPr/>
            <p:nvPr/>
          </p:nvSpPr>
          <p:spPr>
            <a:xfrm>
              <a:off x="9020510" y="116632"/>
              <a:ext cx="348519" cy="335140"/>
            </a:xfrm>
            <a:prstGeom prst="rightArrow">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맑은 고딕"/>
                <a:ea typeface="맑은 고딕" panose="020B0503020000020004" pitchFamily="50" charset="-127"/>
              </a:endParaRPr>
            </a:p>
          </p:txBody>
        </p:sp>
        <p:sp>
          <p:nvSpPr>
            <p:cNvPr id="8" name="직사각형 7">
              <a:extLst>
                <a:ext uri="{FF2B5EF4-FFF2-40B4-BE49-F238E27FC236}">
                  <a16:creationId xmlns:a16="http://schemas.microsoft.com/office/drawing/2014/main" id="{E34DC3B6-16F1-6B68-A74C-641D4B8BFE9F}"/>
                </a:ext>
              </a:extLst>
            </p:cNvPr>
            <p:cNvSpPr/>
            <p:nvPr/>
          </p:nvSpPr>
          <p:spPr>
            <a:xfrm>
              <a:off x="8967850" y="196789"/>
              <a:ext cx="453838"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err="1">
                  <a:solidFill>
                    <a:schemeClr val="tx1"/>
                  </a:solidFill>
                  <a:latin typeface="Arial Narrow" panose="020B0606020202030204" pitchFamily="34" charset="0"/>
                  <a:ea typeface="LG스마트체 Regular" panose="020B0600000101010101" pitchFamily="50" charset="-127"/>
                </a:rPr>
                <a:t>라미</a:t>
              </a:r>
              <a:endParaRPr lang="ko-KR" altLang="en-US" sz="800" dirty="0">
                <a:solidFill>
                  <a:schemeClr val="tx1"/>
                </a:solidFill>
                <a:latin typeface="Arial Narrow" panose="020B0606020202030204" pitchFamily="34" charset="0"/>
                <a:ea typeface="LG스마트체 Regular" panose="020B0600000101010101" pitchFamily="50" charset="-127"/>
              </a:endParaRPr>
            </a:p>
          </p:txBody>
        </p:sp>
      </p:grpSp>
      <p:grpSp>
        <p:nvGrpSpPr>
          <p:cNvPr id="11" name="그룹 10">
            <a:extLst>
              <a:ext uri="{FF2B5EF4-FFF2-40B4-BE49-F238E27FC236}">
                <a16:creationId xmlns:a16="http://schemas.microsoft.com/office/drawing/2014/main" id="{0FE515C1-9463-20F2-A1E5-508A30F8C358}"/>
              </a:ext>
            </a:extLst>
          </p:cNvPr>
          <p:cNvGrpSpPr/>
          <p:nvPr/>
        </p:nvGrpSpPr>
        <p:grpSpPr>
          <a:xfrm>
            <a:off x="9354092" y="116632"/>
            <a:ext cx="499222" cy="335140"/>
            <a:chOff x="9354092" y="116632"/>
            <a:chExt cx="499222" cy="335140"/>
          </a:xfrm>
        </p:grpSpPr>
        <p:sp>
          <p:nvSpPr>
            <p:cNvPr id="5" name="화살표: 오른쪽 4">
              <a:hlinkClick r:id="rId3" action="ppaction://hlinksldjump"/>
              <a:extLst>
                <a:ext uri="{FF2B5EF4-FFF2-40B4-BE49-F238E27FC236}">
                  <a16:creationId xmlns:a16="http://schemas.microsoft.com/office/drawing/2014/main" id="{69748F9B-09F7-7F41-13C5-A464DF729B05}"/>
                </a:ext>
              </a:extLst>
            </p:cNvPr>
            <p:cNvSpPr/>
            <p:nvPr/>
          </p:nvSpPr>
          <p:spPr>
            <a:xfrm>
              <a:off x="9429444" y="116632"/>
              <a:ext cx="348519" cy="335140"/>
            </a:xfrm>
            <a:prstGeom prst="rightArrow">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맑은 고딕"/>
                <a:ea typeface="맑은 고딕" panose="020B0503020000020004" pitchFamily="50" charset="-127"/>
              </a:endParaRPr>
            </a:p>
          </p:txBody>
        </p:sp>
        <p:sp>
          <p:nvSpPr>
            <p:cNvPr id="9" name="직사각형 8">
              <a:extLst>
                <a:ext uri="{FF2B5EF4-FFF2-40B4-BE49-F238E27FC236}">
                  <a16:creationId xmlns:a16="http://schemas.microsoft.com/office/drawing/2014/main" id="{A601E912-A41E-033C-9C22-9A36FE9AFF9D}"/>
                </a:ext>
              </a:extLst>
            </p:cNvPr>
            <p:cNvSpPr/>
            <p:nvPr/>
          </p:nvSpPr>
          <p:spPr>
            <a:xfrm>
              <a:off x="9354092" y="196789"/>
              <a:ext cx="499222" cy="174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err="1">
                  <a:solidFill>
                    <a:schemeClr val="tx1"/>
                  </a:solidFill>
                  <a:latin typeface="Arial Narrow" panose="020B0606020202030204" pitchFamily="34" charset="0"/>
                  <a:ea typeface="LG스마트체 Regular" panose="020B0600000101010101" pitchFamily="50" charset="-127"/>
                </a:rPr>
                <a:t>스태킹</a:t>
              </a:r>
              <a:endParaRPr lang="ko-KR" altLang="en-US" sz="800" dirty="0">
                <a:solidFill>
                  <a:schemeClr val="tx1"/>
                </a:solidFill>
                <a:latin typeface="Arial Narrow" panose="020B0606020202030204" pitchFamily="34" charset="0"/>
                <a:ea typeface="LG스마트체 Regular" panose="020B0600000101010101" pitchFamily="50" charset="-127"/>
              </a:endParaRPr>
            </a:p>
          </p:txBody>
        </p:sp>
      </p:grpSp>
      <p:sp>
        <p:nvSpPr>
          <p:cNvPr id="16" name="TextBox 15">
            <a:extLst>
              <a:ext uri="{FF2B5EF4-FFF2-40B4-BE49-F238E27FC236}">
                <a16:creationId xmlns:a16="http://schemas.microsoft.com/office/drawing/2014/main" id="{50971AB7-87CF-EEFC-17F1-90A8C0435057}"/>
              </a:ext>
            </a:extLst>
          </p:cNvPr>
          <p:cNvSpPr txBox="1"/>
          <p:nvPr/>
        </p:nvSpPr>
        <p:spPr>
          <a:xfrm>
            <a:off x="7689304"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err="1">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3" name="TextBox 2">
            <a:extLst>
              <a:ext uri="{FF2B5EF4-FFF2-40B4-BE49-F238E27FC236}">
                <a16:creationId xmlns:a16="http://schemas.microsoft.com/office/drawing/2014/main" id="{24A4821C-CB39-669E-909F-62E38E6A8AFB}"/>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- 9 / 10 -</a:t>
            </a:r>
          </a:p>
        </p:txBody>
      </p:sp>
    </p:spTree>
    <p:extLst>
      <p:ext uri="{BB962C8B-B14F-4D97-AF65-F5344CB8AC3E}">
        <p14:creationId xmlns:p14="http://schemas.microsoft.com/office/powerpoint/2010/main" val="8849138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AA82A-4720-0955-95FB-9BA5C78A98E7}"/>
            </a:ext>
          </a:extLst>
        </p:cNvPr>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942B9D53-0F0E-0A7B-4D7C-5EFE09424F51}"/>
              </a:ext>
            </a:extLst>
          </p:cNvPr>
          <p:cNvGraphicFramePr>
            <a:graphicFrameLocks noGrp="1"/>
          </p:cNvGraphicFramePr>
          <p:nvPr/>
        </p:nvGraphicFramePr>
        <p:xfrm>
          <a:off x="327215" y="1077233"/>
          <a:ext cx="9186785" cy="4813151"/>
        </p:xfrm>
        <a:graphic>
          <a:graphicData uri="http://schemas.openxmlformats.org/drawingml/2006/table">
            <a:tbl>
              <a:tblPr/>
              <a:tblGrid>
                <a:gridCol w="145761">
                  <a:extLst>
                    <a:ext uri="{9D8B030D-6E8A-4147-A177-3AD203B41FA5}">
                      <a16:colId xmlns:a16="http://schemas.microsoft.com/office/drawing/2014/main" val="1849257441"/>
                    </a:ext>
                  </a:extLst>
                </a:gridCol>
                <a:gridCol w="938952">
                  <a:extLst>
                    <a:ext uri="{9D8B030D-6E8A-4147-A177-3AD203B41FA5}">
                      <a16:colId xmlns:a16="http://schemas.microsoft.com/office/drawing/2014/main" val="1710841196"/>
                    </a:ext>
                  </a:extLst>
                </a:gridCol>
                <a:gridCol w="295709">
                  <a:extLst>
                    <a:ext uri="{9D8B030D-6E8A-4147-A177-3AD203B41FA5}">
                      <a16:colId xmlns:a16="http://schemas.microsoft.com/office/drawing/2014/main" val="2934807878"/>
                    </a:ext>
                  </a:extLst>
                </a:gridCol>
                <a:gridCol w="295709">
                  <a:extLst>
                    <a:ext uri="{9D8B030D-6E8A-4147-A177-3AD203B41FA5}">
                      <a16:colId xmlns:a16="http://schemas.microsoft.com/office/drawing/2014/main" val="2976666133"/>
                    </a:ext>
                  </a:extLst>
                </a:gridCol>
                <a:gridCol w="295709">
                  <a:extLst>
                    <a:ext uri="{9D8B030D-6E8A-4147-A177-3AD203B41FA5}">
                      <a16:colId xmlns:a16="http://schemas.microsoft.com/office/drawing/2014/main" val="1895494941"/>
                    </a:ext>
                  </a:extLst>
                </a:gridCol>
                <a:gridCol w="295709">
                  <a:extLst>
                    <a:ext uri="{9D8B030D-6E8A-4147-A177-3AD203B41FA5}">
                      <a16:colId xmlns:a16="http://schemas.microsoft.com/office/drawing/2014/main" val="1461095393"/>
                    </a:ext>
                  </a:extLst>
                </a:gridCol>
                <a:gridCol w="295709">
                  <a:extLst>
                    <a:ext uri="{9D8B030D-6E8A-4147-A177-3AD203B41FA5}">
                      <a16:colId xmlns:a16="http://schemas.microsoft.com/office/drawing/2014/main" val="429829099"/>
                    </a:ext>
                  </a:extLst>
                </a:gridCol>
                <a:gridCol w="323184">
                  <a:extLst>
                    <a:ext uri="{9D8B030D-6E8A-4147-A177-3AD203B41FA5}">
                      <a16:colId xmlns:a16="http://schemas.microsoft.com/office/drawing/2014/main" val="3645569457"/>
                    </a:ext>
                  </a:extLst>
                </a:gridCol>
                <a:gridCol w="295709">
                  <a:extLst>
                    <a:ext uri="{9D8B030D-6E8A-4147-A177-3AD203B41FA5}">
                      <a16:colId xmlns:a16="http://schemas.microsoft.com/office/drawing/2014/main" val="713132827"/>
                    </a:ext>
                  </a:extLst>
                </a:gridCol>
                <a:gridCol w="295709">
                  <a:extLst>
                    <a:ext uri="{9D8B030D-6E8A-4147-A177-3AD203B41FA5}">
                      <a16:colId xmlns:a16="http://schemas.microsoft.com/office/drawing/2014/main" val="2094775377"/>
                    </a:ext>
                  </a:extLst>
                </a:gridCol>
                <a:gridCol w="295709">
                  <a:extLst>
                    <a:ext uri="{9D8B030D-6E8A-4147-A177-3AD203B41FA5}">
                      <a16:colId xmlns:a16="http://schemas.microsoft.com/office/drawing/2014/main" val="4279324591"/>
                    </a:ext>
                  </a:extLst>
                </a:gridCol>
                <a:gridCol w="295709">
                  <a:extLst>
                    <a:ext uri="{9D8B030D-6E8A-4147-A177-3AD203B41FA5}">
                      <a16:colId xmlns:a16="http://schemas.microsoft.com/office/drawing/2014/main" val="2056084340"/>
                    </a:ext>
                  </a:extLst>
                </a:gridCol>
                <a:gridCol w="295709">
                  <a:extLst>
                    <a:ext uri="{9D8B030D-6E8A-4147-A177-3AD203B41FA5}">
                      <a16:colId xmlns:a16="http://schemas.microsoft.com/office/drawing/2014/main" val="797555988"/>
                    </a:ext>
                  </a:extLst>
                </a:gridCol>
                <a:gridCol w="295709">
                  <a:extLst>
                    <a:ext uri="{9D8B030D-6E8A-4147-A177-3AD203B41FA5}">
                      <a16:colId xmlns:a16="http://schemas.microsoft.com/office/drawing/2014/main" val="1480096820"/>
                    </a:ext>
                  </a:extLst>
                </a:gridCol>
                <a:gridCol w="303790">
                  <a:extLst>
                    <a:ext uri="{9D8B030D-6E8A-4147-A177-3AD203B41FA5}">
                      <a16:colId xmlns:a16="http://schemas.microsoft.com/office/drawing/2014/main" val="3866359581"/>
                    </a:ext>
                  </a:extLst>
                </a:gridCol>
                <a:gridCol w="295709">
                  <a:extLst>
                    <a:ext uri="{9D8B030D-6E8A-4147-A177-3AD203B41FA5}">
                      <a16:colId xmlns:a16="http://schemas.microsoft.com/office/drawing/2014/main" val="1488064225"/>
                    </a:ext>
                  </a:extLst>
                </a:gridCol>
                <a:gridCol w="295709">
                  <a:extLst>
                    <a:ext uri="{9D8B030D-6E8A-4147-A177-3AD203B41FA5}">
                      <a16:colId xmlns:a16="http://schemas.microsoft.com/office/drawing/2014/main" val="3651588978"/>
                    </a:ext>
                  </a:extLst>
                </a:gridCol>
                <a:gridCol w="295709">
                  <a:extLst>
                    <a:ext uri="{9D8B030D-6E8A-4147-A177-3AD203B41FA5}">
                      <a16:colId xmlns:a16="http://schemas.microsoft.com/office/drawing/2014/main" val="2709172002"/>
                    </a:ext>
                  </a:extLst>
                </a:gridCol>
                <a:gridCol w="295709">
                  <a:extLst>
                    <a:ext uri="{9D8B030D-6E8A-4147-A177-3AD203B41FA5}">
                      <a16:colId xmlns:a16="http://schemas.microsoft.com/office/drawing/2014/main" val="1968935500"/>
                    </a:ext>
                  </a:extLst>
                </a:gridCol>
                <a:gridCol w="303790">
                  <a:extLst>
                    <a:ext uri="{9D8B030D-6E8A-4147-A177-3AD203B41FA5}">
                      <a16:colId xmlns:a16="http://schemas.microsoft.com/office/drawing/2014/main" val="3293466870"/>
                    </a:ext>
                  </a:extLst>
                </a:gridCol>
                <a:gridCol w="295709">
                  <a:extLst>
                    <a:ext uri="{9D8B030D-6E8A-4147-A177-3AD203B41FA5}">
                      <a16:colId xmlns:a16="http://schemas.microsoft.com/office/drawing/2014/main" val="2317211857"/>
                    </a:ext>
                  </a:extLst>
                </a:gridCol>
                <a:gridCol w="303790">
                  <a:extLst>
                    <a:ext uri="{9D8B030D-6E8A-4147-A177-3AD203B41FA5}">
                      <a16:colId xmlns:a16="http://schemas.microsoft.com/office/drawing/2014/main" val="2319810555"/>
                    </a:ext>
                  </a:extLst>
                </a:gridCol>
                <a:gridCol w="295709">
                  <a:extLst>
                    <a:ext uri="{9D8B030D-6E8A-4147-A177-3AD203B41FA5}">
                      <a16:colId xmlns:a16="http://schemas.microsoft.com/office/drawing/2014/main" val="4234317850"/>
                    </a:ext>
                  </a:extLst>
                </a:gridCol>
                <a:gridCol w="295709">
                  <a:extLst>
                    <a:ext uri="{9D8B030D-6E8A-4147-A177-3AD203B41FA5}">
                      <a16:colId xmlns:a16="http://schemas.microsoft.com/office/drawing/2014/main" val="2064220692"/>
                    </a:ext>
                  </a:extLst>
                </a:gridCol>
                <a:gridCol w="295709">
                  <a:extLst>
                    <a:ext uri="{9D8B030D-6E8A-4147-A177-3AD203B41FA5}">
                      <a16:colId xmlns:a16="http://schemas.microsoft.com/office/drawing/2014/main" val="3104026630"/>
                    </a:ext>
                  </a:extLst>
                </a:gridCol>
                <a:gridCol w="295709">
                  <a:extLst>
                    <a:ext uri="{9D8B030D-6E8A-4147-A177-3AD203B41FA5}">
                      <a16:colId xmlns:a16="http://schemas.microsoft.com/office/drawing/2014/main" val="1539018475"/>
                    </a:ext>
                  </a:extLst>
                </a:gridCol>
                <a:gridCol w="172879">
                  <a:extLst>
                    <a:ext uri="{9D8B030D-6E8A-4147-A177-3AD203B41FA5}">
                      <a16:colId xmlns:a16="http://schemas.microsoft.com/office/drawing/2014/main" val="1668993305"/>
                    </a:ext>
                  </a:extLst>
                </a:gridCol>
                <a:gridCol w="172879">
                  <a:extLst>
                    <a:ext uri="{9D8B030D-6E8A-4147-A177-3AD203B41FA5}">
                      <a16:colId xmlns:a16="http://schemas.microsoft.com/office/drawing/2014/main" val="672000583"/>
                    </a:ext>
                  </a:extLst>
                </a:gridCol>
                <a:gridCol w="303790">
                  <a:extLst>
                    <a:ext uri="{9D8B030D-6E8A-4147-A177-3AD203B41FA5}">
                      <a16:colId xmlns:a16="http://schemas.microsoft.com/office/drawing/2014/main" val="2913832702"/>
                    </a:ext>
                  </a:extLst>
                </a:gridCol>
                <a:gridCol w="303790">
                  <a:extLst>
                    <a:ext uri="{9D8B030D-6E8A-4147-A177-3AD203B41FA5}">
                      <a16:colId xmlns:a16="http://schemas.microsoft.com/office/drawing/2014/main" val="345965956"/>
                    </a:ext>
                  </a:extLst>
                </a:gridCol>
              </a:tblGrid>
              <a:tr h="184890">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모델</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E77A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E128A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E161A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H5.5A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L10D</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E73A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E85A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E81B</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E72B</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E90B</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E78</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E71A</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JF2S</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gridSpan="2">
                  <a:txBody>
                    <a:bodyPr/>
                    <a:lstStyle/>
                    <a:p>
                      <a:pPr algn="ctr" fontAlgn="ctr">
                        <a:buNone/>
                      </a:pPr>
                      <a:r>
                        <a:rPr lang="ko-KR" sz="800" b="1" i="0" u="none" strike="noStrike" baseline="0" dirty="0">
                          <a:solidFill>
                            <a:srgbClr val="000000"/>
                          </a:solidFill>
                          <a:effectLst/>
                          <a:latin typeface="Arial Narrow" panose="020B0606020202030204" pitchFamily="34" charset="0"/>
                          <a:ea typeface="LG스마트체 Regular" panose="020B0600000101010101" pitchFamily="50" charset="-127"/>
                        </a:rPr>
                        <a:t>JF1</a:t>
                      </a:r>
                    </a:p>
                  </a:txBody>
                  <a:tcPr marL="5473" marR="5473" marT="5473"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extLst>
                  <a:ext uri="{0D108BD9-81ED-4DB2-BD59-A6C34878D82A}">
                    <a16:rowId xmlns:a16="http://schemas.microsoft.com/office/drawing/2014/main" val="3753121066"/>
                  </a:ext>
                </a:extLst>
              </a:tr>
              <a:tr h="184890">
                <a:tc gridSpan="2">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주차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pPr latinLnBrk="1"/>
                      <a:endParaRPr lang="ko-KR" altLang="en-US"/>
                    </a:p>
                  </a:txBody>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7월</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ko-KR" sz="800" b="1" i="0" u="none" strike="noStrike" baseline="0">
                          <a:solidFill>
                            <a:srgbClr val="000000"/>
                          </a:solidFill>
                          <a:effectLst/>
                          <a:latin typeface="Arial Narrow" panose="020B0606020202030204" pitchFamily="34" charset="0"/>
                          <a:ea typeface="LG스마트체 Regular" panose="020B0600000101010101" pitchFamily="50" charset="-127"/>
                        </a:rPr>
                        <a:t>8월</a:t>
                      </a:r>
                    </a:p>
                  </a:txBody>
                  <a:tcPr marL="5473" marR="5473" marT="5473"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626671509"/>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 생산량</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4.55 </a:t>
                      </a:r>
                      <a:r>
                        <a:rPr lang="ko-KR" sz="800" b="0" i="0" u="none" strike="noStrike" dirty="0" err="1">
                          <a:solidFill>
                            <a:srgbClr val="000000"/>
                          </a:solidFill>
                          <a:effectLst/>
                          <a:latin typeface="Arial Narrow" panose="020B0606020202030204" pitchFamily="34" charset="0"/>
                          <a:ea typeface="맑은 고딕" panose="020B0503020000020004" pitchFamily="50" charset="-127"/>
                        </a:rPr>
                        <a:t>M</a:t>
                      </a:r>
                      <a:endParaRPr lang="ko-KR" sz="800" b="0" i="0" u="none" strike="noStrike" dirty="0">
                        <a:solidFill>
                          <a:srgbClr val="000000"/>
                        </a:solidFill>
                        <a:effectLst/>
                        <a:latin typeface="Arial Narrow" panose="020B0606020202030204" pitchFamily="34" charset="0"/>
                        <a:ea typeface="맑은 고딕" panose="020B0503020000020004" pitchFamily="50" charset="-127"/>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4.84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2.68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0.55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 M</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28590204"/>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1차 For.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78822711"/>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1st For. Q불량</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75107975"/>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2차 For.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52967164"/>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2nd For. Q불량</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15063248"/>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-3.63%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7337743"/>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 저전압</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4.71%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02021287"/>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13.76%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0.87%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1.26%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4.80%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2.13%</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28488933"/>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 Appearance</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11.47%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56885918"/>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EOL_Dimension(Vision)</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380723606"/>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EOL_IR</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1.55%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4851"/>
                  </a:ext>
                </a:extLst>
              </a:tr>
              <a:tr h="375791">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9675051"/>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 생산량</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4.55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4.84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1.08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1.10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0.41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2.68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2.66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0.55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0.36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0.24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0.15 M</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0.50 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0.48 M</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49476945"/>
                  </a:ext>
                </a:extLst>
              </a:tr>
              <a:tr h="184890">
                <a:tc gridSpan="2">
                  <a:txBody>
                    <a:bodyPr/>
                    <a:lstStyle/>
                    <a:p>
                      <a:pPr algn="l" fontAlgn="ctr">
                        <a:buNone/>
                      </a:pP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1차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For</a:t>
                      </a:r>
                      <a:r>
                        <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rPr>
                        <a:t>. </a:t>
                      </a:r>
                      <a:r>
                        <a:rPr lang="ko-KR" sz="800" b="0" i="0" u="none" strike="noStrike" baseline="0" dirty="0" err="1">
                          <a:solidFill>
                            <a:srgbClr val="000000"/>
                          </a:solidFill>
                          <a:effectLst/>
                          <a:latin typeface="Arial Narrow" panose="020B0606020202030204" pitchFamily="34" charset="0"/>
                          <a:ea typeface="LG스마트체 Regular" panose="020B0600000101010101" pitchFamily="50" charset="-127"/>
                        </a:rPr>
                        <a:t>불량율</a:t>
                      </a:r>
                      <a:endParaRPr lang="ko-KR" sz="800" b="0" i="0" u="none" strike="noStrike" baseline="0" dirty="0">
                        <a:solidFill>
                          <a:srgbClr val="000000"/>
                        </a:solidFill>
                        <a:effectLst/>
                        <a:latin typeface="Arial Narrow" panose="020B0606020202030204" pitchFamily="34" charset="0"/>
                        <a:ea typeface="LG스마트체 Regular" panose="020B0600000101010101" pitchFamily="50" charset="-127"/>
                      </a:endParaRP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16526961"/>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1st For. Q불량</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0.17%</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4405805"/>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2차 For.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98686876"/>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2nd For. Q불량</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0120059"/>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3823325"/>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Grading 저전압</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0.05%</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-1.81%</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134142"/>
                  </a:ext>
                </a:extLst>
              </a:tr>
              <a:tr h="184890">
                <a:tc gridSpan="2">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 불량율</a:t>
                      </a:r>
                    </a:p>
                  </a:txBody>
                  <a:tcPr marL="5473" marR="5473" marT="5473"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pPr latinLnBrk="1"/>
                      <a:endParaRPr lang="ko-KR" altLang="en-US"/>
                    </a:p>
                  </a:txBody>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0.60%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0.06%</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2.12%</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22099242"/>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 Appearance</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0.50%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0.04%</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0.99%</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86321858"/>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EOL_Dimension(Vision)</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0.25%</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28038893"/>
                  </a:ext>
                </a:extLst>
              </a:tr>
              <a:tr h="184890">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　</a:t>
                      </a:r>
                    </a:p>
                  </a:txBody>
                  <a:tcPr marL="5473" marR="5473" marT="5473"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ko-KR" sz="800" b="0" i="0" u="none" strike="noStrike" baseline="0">
                          <a:solidFill>
                            <a:srgbClr val="000000"/>
                          </a:solidFill>
                          <a:effectLst/>
                          <a:latin typeface="Arial Narrow" panose="020B0606020202030204" pitchFamily="34" charset="0"/>
                          <a:ea typeface="LG스마트체 Regular" panose="020B0600000101010101" pitchFamily="50" charset="-127"/>
                        </a:rPr>
                        <a:t>EOL_IR</a:t>
                      </a:r>
                    </a:p>
                  </a:txBody>
                  <a:tcPr marL="5473" marR="5473" marT="54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0.07%</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0.02%</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0.00%</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　</a:t>
                      </a:r>
                    </a:p>
                  </a:txBody>
                  <a:tcPr marL="9525" marR="9525" marT="9525" marB="0" anchor="ctr">
                    <a:lnL w="6350" cap="flat" cmpd="sng" algn="ctr">
                      <a:solidFill>
                        <a:srgbClr val="00000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a:solidFill>
                            <a:srgbClr val="000000"/>
                          </a:solidFill>
                          <a:effectLst/>
                          <a:latin typeface="Arial Narrow" panose="020B0606020202030204" pitchFamily="34" charset="0"/>
                          <a:ea typeface="맑은 고딕" panose="020B0503020000020004" pitchFamily="50" charset="-127"/>
                        </a:rPr>
                        <a:t>0.11%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buNone/>
                      </a:pPr>
                      <a:r>
                        <a:rPr lang="ko-KR" sz="800" b="0" i="0" u="none" strike="noStrike" dirty="0">
                          <a:solidFill>
                            <a:srgbClr val="000000"/>
                          </a:solidFill>
                          <a:effectLst/>
                          <a:latin typeface="Arial Narrow" panose="020B0606020202030204" pitchFamily="34" charset="0"/>
                          <a:ea typeface="맑은 고딕" panose="020B0503020000020004" pitchFamily="50" charset="-127"/>
                        </a:rPr>
                        <a:t>0.36%</a:t>
                      </a:r>
                    </a:p>
                  </a:txBody>
                  <a:tcPr marL="9525" marR="9525" marT="9525" marB="0" anchor="ctr">
                    <a:lnL w="6350" cap="flat" cmpd="sng" algn="ctr">
                      <a:solidFill>
                        <a:srgbClr val="000000"/>
                      </a:solidFill>
                      <a:prstDash val="dot"/>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57426290"/>
                  </a:ext>
                </a:extLst>
              </a:tr>
            </a:tbl>
          </a:graphicData>
        </a:graphic>
      </p:graphicFrame>
      <p:sp>
        <p:nvSpPr>
          <p:cNvPr id="6" name="제목 1">
            <a:extLst>
              <a:ext uri="{FF2B5EF4-FFF2-40B4-BE49-F238E27FC236}">
                <a16:creationId xmlns:a16="http://schemas.microsoft.com/office/drawing/2014/main" id="{B954B28E-5FAA-7935-BC7F-0FA1BD3C6D69}"/>
              </a:ext>
            </a:extLst>
          </p:cNvPr>
          <p:cNvSpPr txBox="1">
            <a:spLocks/>
          </p:cNvSpPr>
          <p:nvPr/>
        </p:nvSpPr>
        <p:spPr>
          <a:xfrm>
            <a:off x="173461" y="199663"/>
            <a:ext cx="3443758" cy="361733"/>
          </a:xfrm>
          <a:prstGeom prst="rect">
            <a:avLst/>
          </a:prstGeom>
          <a:noFill/>
          <a:ln w="12700">
            <a:gradFill>
              <a:gsLst>
                <a:gs pos="0">
                  <a:srgbClr val="FFFFFF">
                    <a:alpha val="0"/>
                    <a:lumMod val="0"/>
                    <a:lumOff val="100000"/>
                  </a:srgbClr>
                </a:gs>
                <a:gs pos="98000">
                  <a:srgbClr val="FFFFFF">
                    <a:alpha val="0"/>
                    <a:lumMod val="0"/>
                    <a:lumOff val="100000"/>
                  </a:srgbClr>
                </a:gs>
                <a:gs pos="99000">
                  <a:srgbClr val="000000"/>
                </a:gs>
              </a:gsLst>
              <a:lin ang="5400000" scaled="0"/>
            </a:gradFill>
            <a:miter lim="800000"/>
            <a:headEnd/>
            <a:tailEnd/>
          </a:ln>
        </p:spPr>
        <p:txBody>
          <a:bodyPr vert="horz" wrap="none" lIns="89564" tIns="44783" rIns="89564" bIns="44783" numCol="1" anchor="ctr" anchorCtr="0" compatLnSpc="1">
            <a:prstTxWarp prst="textNoShape">
              <a:avLst/>
            </a:prstTxWarp>
            <a:spAutoFit/>
          </a:bodyPr>
          <a:lstStyle>
            <a:lvl1pPr algn="l" defTabSz="914400" rtl="0" eaLnBrk="1" latinLnBrk="1" hangingPunct="1">
              <a:spcBef>
                <a:spcPct val="0"/>
              </a:spcBef>
              <a:buNone/>
              <a:defRPr sz="1600" b="1" kern="1200">
                <a:solidFill>
                  <a:schemeClr val="tx1"/>
                </a:solidFill>
                <a:latin typeface="+mj-lt"/>
                <a:ea typeface="+mj-ea"/>
                <a:cs typeface="+mj-cs"/>
              </a:defRPr>
            </a:lvl1pPr>
          </a:lstStyle>
          <a:p>
            <a:pPr defTabSz="447830" latinLnBrk="0">
              <a:defRPr/>
            </a:pPr>
            <a:r>
              <a:rPr lang="ko-KR" altLang="en-US" sz="1763" dirty="0">
                <a:solidFill>
                  <a:prstClr val="black"/>
                </a:solidFill>
                <a:latin typeface="Arial Narrow" panose="020B0606020202030204" pitchFamily="34" charset="0"/>
                <a:ea typeface="LG스마트체 Regular" panose="020B0600000101010101" pitchFamily="50" charset="-127"/>
              </a:rPr>
              <a:t>보조</a:t>
            </a:r>
            <a:r>
              <a:rPr lang="en-US" altLang="ko-KR" sz="1763" dirty="0">
                <a:solidFill>
                  <a:prstClr val="black"/>
                </a:solidFill>
                <a:latin typeface="Arial Narrow" panose="020B0606020202030204" pitchFamily="34" charset="0"/>
                <a:ea typeface="LG스마트체 Regular" panose="020B0600000101010101" pitchFamily="50" charset="-127"/>
              </a:rPr>
              <a:t>. ESWA </a:t>
            </a:r>
            <a:r>
              <a:rPr lang="ko-KR" altLang="en-US" sz="1763" dirty="0">
                <a:solidFill>
                  <a:prstClr val="black"/>
                </a:solidFill>
                <a:latin typeface="Arial Narrow" panose="020B0606020202030204" pitchFamily="34" charset="0"/>
                <a:ea typeface="LG스마트체 Regular" panose="020B0600000101010101" pitchFamily="50" charset="-127"/>
              </a:rPr>
              <a:t>활성화 </a:t>
            </a:r>
            <a:r>
              <a:rPr lang="ko-KR" altLang="en-US" sz="1763" dirty="0" err="1">
                <a:solidFill>
                  <a:prstClr val="black"/>
                </a:solidFill>
                <a:latin typeface="Arial Narrow" panose="020B0606020202030204" pitchFamily="34" charset="0"/>
                <a:ea typeface="LG스마트체 Regular" panose="020B0600000101010101" pitchFamily="50" charset="-127"/>
              </a:rPr>
              <a:t>수율</a:t>
            </a:r>
            <a:r>
              <a:rPr lang="ko-KR" altLang="en-US" sz="1763" dirty="0">
                <a:solidFill>
                  <a:prstClr val="black"/>
                </a:solidFill>
                <a:latin typeface="Arial Narrow" panose="020B0606020202030204" pitchFamily="34" charset="0"/>
                <a:ea typeface="LG스마트체 Regular" panose="020B0600000101010101" pitchFamily="50" charset="-127"/>
              </a:rPr>
              <a:t> 현황</a:t>
            </a:r>
            <a:r>
              <a:rPr lang="en-US" altLang="ko-KR" sz="1763" dirty="0">
                <a:solidFill>
                  <a:prstClr val="black"/>
                </a:solidFill>
                <a:latin typeface="Arial Narrow" panose="020B0606020202030204" pitchFamily="34" charset="0"/>
                <a:ea typeface="LG스마트체 Regular" panose="020B0600000101010101" pitchFamily="50" charset="-127"/>
              </a:rPr>
              <a:t>_</a:t>
            </a:r>
            <a:r>
              <a:rPr lang="ko-KR" altLang="en-US" sz="1763" dirty="0" err="1">
                <a:solidFill>
                  <a:prstClr val="black"/>
                </a:solidFill>
                <a:latin typeface="Arial Narrow" panose="020B0606020202030204" pitchFamily="34" charset="0"/>
                <a:ea typeface="LG스마트체 Regular" panose="020B0600000101010101" pitchFamily="50" charset="-127"/>
              </a:rPr>
              <a:t>모델별</a:t>
            </a:r>
            <a:endParaRPr lang="ko-KR" altLang="en-US" sz="1763" dirty="0">
              <a:solidFill>
                <a:prstClr val="black"/>
              </a:solidFill>
              <a:latin typeface="Arial Narrow" panose="020B0606020202030204" pitchFamily="34" charset="0"/>
              <a:ea typeface="LG스마트체 Regular" panose="020B0600000101010101" pitchFamily="50" charset="-127"/>
            </a:endParaRPr>
          </a:p>
        </p:txBody>
      </p:sp>
      <p:sp>
        <p:nvSpPr>
          <p:cNvPr id="32" name="직사각형 31">
            <a:extLst>
              <a:ext uri="{FF2B5EF4-FFF2-40B4-BE49-F238E27FC236}">
                <a16:creationId xmlns:a16="http://schemas.microsoft.com/office/drawing/2014/main" id="{2BACB77D-B06A-85D5-1A96-D9A180C195D2}"/>
              </a:ext>
            </a:extLst>
          </p:cNvPr>
          <p:cNvSpPr/>
          <p:nvPr/>
        </p:nvSpPr>
        <p:spPr>
          <a:xfrm>
            <a:off x="197986" y="788738"/>
            <a:ext cx="2779360" cy="213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불량율</a:t>
            </a:r>
            <a:r>
              <a:rPr lang="ko-KR" altLang="en-US" sz="1039" b="1" dirty="0">
                <a:solidFill>
                  <a:schemeClr val="tx1"/>
                </a:solidFill>
                <a:latin typeface="Arial Narrow" panose="020B0606020202030204" pitchFamily="34" charset="0"/>
                <a:ea typeface="LG스마트체 Regular" panose="020B0600000101010101" pitchFamily="50" charset="-127"/>
              </a:rPr>
              <a:t> </a:t>
            </a:r>
            <a:r>
              <a:rPr lang="en-US" altLang="ko-KR" sz="1039" b="1" dirty="0">
                <a:solidFill>
                  <a:schemeClr val="tx1"/>
                </a:solidFill>
                <a:latin typeface="Arial Narrow" panose="020B0606020202030204" pitchFamily="34" charset="0"/>
                <a:ea typeface="LG스마트체 Regular" panose="020B0600000101010101" pitchFamily="50" charset="-127"/>
              </a:rPr>
              <a:t>(</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불량수 </a:t>
            </a:r>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투입 수</a:t>
            </a:r>
            <a:r>
              <a:rPr lang="en-US" altLang="ko-KR" sz="1039" b="1" dirty="0">
                <a:solidFill>
                  <a:schemeClr val="tx1"/>
                </a:solidFill>
                <a:latin typeface="Arial Narrow" panose="020B0606020202030204" pitchFamily="34" charset="0"/>
                <a:ea typeface="LG스마트체 Regular" panose="020B0600000101010101" pitchFamily="50" charset="-127"/>
              </a:rPr>
              <a:t>)</a:t>
            </a:r>
            <a:endParaRPr lang="ko-KR" altLang="en-US" sz="1039" b="1" dirty="0">
              <a:solidFill>
                <a:schemeClr val="tx1"/>
              </a:solidFill>
              <a:latin typeface="Arial Narrow" panose="020B0606020202030204" pitchFamily="34" charset="0"/>
              <a:ea typeface="LG스마트체 Regular" panose="020B0600000101010101" pitchFamily="50" charset="-127"/>
            </a:endParaRPr>
          </a:p>
        </p:txBody>
      </p:sp>
      <p:sp>
        <p:nvSpPr>
          <p:cNvPr id="33" name="직사각형 32">
            <a:extLst>
              <a:ext uri="{FF2B5EF4-FFF2-40B4-BE49-F238E27FC236}">
                <a16:creationId xmlns:a16="http://schemas.microsoft.com/office/drawing/2014/main" id="{957826E8-CFC8-3327-28ED-29144DB94798}"/>
              </a:ext>
            </a:extLst>
          </p:cNvPr>
          <p:cNvSpPr/>
          <p:nvPr/>
        </p:nvSpPr>
        <p:spPr>
          <a:xfrm>
            <a:off x="194632" y="3594144"/>
            <a:ext cx="5471024" cy="213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자동차</a:t>
            </a:r>
            <a:r>
              <a:rPr lang="en-US" altLang="ko-KR" sz="1039" b="1" dirty="0">
                <a:solidFill>
                  <a:schemeClr val="tx1"/>
                </a:solidFill>
                <a:latin typeface="Arial Narrow" panose="020B0606020202030204" pitchFamily="34" charset="0"/>
                <a:ea typeface="LG스마트체 Regular" panose="020B0600000101010101" pitchFamily="50" charset="-127"/>
              </a:rPr>
              <a:t>/ESS </a:t>
            </a:r>
            <a:r>
              <a:rPr lang="ko-KR" altLang="en-US" sz="1039" b="1" dirty="0">
                <a:solidFill>
                  <a:schemeClr val="tx1"/>
                </a:solidFill>
                <a:latin typeface="Arial Narrow" panose="020B0606020202030204" pitchFamily="34" charset="0"/>
                <a:ea typeface="LG스마트체 Regular" panose="020B0600000101010101" pitchFamily="50" charset="-127"/>
              </a:rPr>
              <a:t>전체 </a:t>
            </a:r>
            <a:r>
              <a:rPr lang="ko-KR" altLang="en-US" sz="1039" b="1" dirty="0" err="1">
                <a:solidFill>
                  <a:schemeClr val="tx1"/>
                </a:solidFill>
                <a:latin typeface="Arial Narrow" panose="020B0606020202030204" pitchFamily="34" charset="0"/>
                <a:ea typeface="LG스마트체 Regular" panose="020B0600000101010101" pitchFamily="50" charset="-127"/>
              </a:rPr>
              <a:t>불량율</a:t>
            </a:r>
            <a:r>
              <a:rPr lang="ko-KR" altLang="en-US" sz="1039" b="1" dirty="0">
                <a:solidFill>
                  <a:schemeClr val="tx1"/>
                </a:solidFill>
                <a:latin typeface="Arial Narrow" panose="020B0606020202030204" pitchFamily="34" charset="0"/>
                <a:ea typeface="LG스마트체 Regular" panose="020B0600000101010101" pitchFamily="50" charset="-127"/>
              </a:rPr>
              <a:t> 기준 환산 </a:t>
            </a:r>
            <a:r>
              <a:rPr lang="ko-KR" altLang="en-US" sz="1039" b="1" dirty="0" err="1">
                <a:solidFill>
                  <a:schemeClr val="tx1"/>
                </a:solidFill>
                <a:latin typeface="Arial Narrow" panose="020B0606020202030204" pitchFamily="34" charset="0"/>
                <a:ea typeface="LG스마트체 Regular" panose="020B0600000101010101" pitchFamily="50" charset="-127"/>
              </a:rPr>
              <a:t>불량율</a:t>
            </a:r>
            <a:r>
              <a:rPr lang="ko-KR" altLang="en-US" sz="1039" b="1" dirty="0">
                <a:solidFill>
                  <a:schemeClr val="tx1"/>
                </a:solidFill>
                <a:latin typeface="Arial Narrow" panose="020B0606020202030204" pitchFamily="34" charset="0"/>
                <a:ea typeface="LG스마트체 Regular" panose="020B0600000101010101" pitchFamily="50" charset="-127"/>
              </a:rPr>
              <a:t> </a:t>
            </a:r>
            <a:r>
              <a:rPr lang="en-US" altLang="ko-KR" sz="1039" b="1" dirty="0">
                <a:solidFill>
                  <a:schemeClr val="tx1"/>
                </a:solidFill>
                <a:latin typeface="Arial Narrow" panose="020B0606020202030204" pitchFamily="34" charset="0"/>
                <a:ea typeface="LG스마트체 Regular" panose="020B0600000101010101" pitchFamily="50" charset="-127"/>
              </a:rPr>
              <a:t>(</a:t>
            </a:r>
            <a:r>
              <a:rPr lang="ko-KR" altLang="en-US" sz="1039" b="1" dirty="0" err="1">
                <a:solidFill>
                  <a:schemeClr val="tx1"/>
                </a:solidFill>
                <a:latin typeface="Arial Narrow" panose="020B0606020202030204" pitchFamily="34" charset="0"/>
                <a:ea typeface="LG스마트체 Regular" panose="020B0600000101010101" pitchFamily="50" charset="-127"/>
              </a:rPr>
              <a:t>모델별</a:t>
            </a:r>
            <a:r>
              <a:rPr lang="ko-KR" altLang="en-US" sz="1039" b="1" dirty="0">
                <a:solidFill>
                  <a:schemeClr val="tx1"/>
                </a:solidFill>
                <a:latin typeface="Arial Narrow" panose="020B0606020202030204" pitchFamily="34" charset="0"/>
                <a:ea typeface="LG스마트체 Regular" panose="020B0600000101010101" pitchFamily="50" charset="-127"/>
              </a:rPr>
              <a:t> 불량수 </a:t>
            </a:r>
            <a:r>
              <a:rPr lang="en-US" altLang="ko-KR" sz="1039" b="1" dirty="0">
                <a:solidFill>
                  <a:schemeClr val="tx1"/>
                </a:solidFill>
                <a:latin typeface="Arial Narrow" panose="020B0606020202030204" pitchFamily="34" charset="0"/>
                <a:ea typeface="LG스마트체 Regular" panose="020B0600000101010101" pitchFamily="50" charset="-127"/>
              </a:rPr>
              <a:t>/ </a:t>
            </a:r>
            <a:r>
              <a:rPr lang="ko-KR" altLang="en-US" sz="1039" b="1" dirty="0">
                <a:solidFill>
                  <a:schemeClr val="tx1"/>
                </a:solidFill>
                <a:latin typeface="Arial Narrow" panose="020B0606020202030204" pitchFamily="34" charset="0"/>
                <a:ea typeface="LG스마트체 Regular" panose="020B0600000101010101" pitchFamily="50" charset="-127"/>
              </a:rPr>
              <a:t>자동차 또는 </a:t>
            </a:r>
            <a:r>
              <a:rPr lang="en-US" altLang="ko-KR" sz="1039" b="1" dirty="0">
                <a:solidFill>
                  <a:schemeClr val="tx1"/>
                </a:solidFill>
                <a:latin typeface="Arial Narrow" panose="020B0606020202030204" pitchFamily="34" charset="0"/>
                <a:ea typeface="LG스마트체 Regular" panose="020B0600000101010101" pitchFamily="50" charset="-127"/>
              </a:rPr>
              <a:t>ESS </a:t>
            </a:r>
            <a:r>
              <a:rPr lang="ko-KR" altLang="en-US" sz="1039" b="1" dirty="0">
                <a:solidFill>
                  <a:schemeClr val="tx1"/>
                </a:solidFill>
                <a:latin typeface="Arial Narrow" panose="020B0606020202030204" pitchFamily="34" charset="0"/>
                <a:ea typeface="LG스마트체 Regular" panose="020B0600000101010101" pitchFamily="50" charset="-127"/>
              </a:rPr>
              <a:t>전체 투입 수</a:t>
            </a:r>
            <a:r>
              <a:rPr lang="en-US" altLang="ko-KR" sz="1039" b="1" dirty="0">
                <a:solidFill>
                  <a:schemeClr val="tx1"/>
                </a:solidFill>
                <a:latin typeface="Arial Narrow" panose="020B0606020202030204" pitchFamily="34" charset="0"/>
                <a:ea typeface="LG스마트체 Regular" panose="020B0600000101010101" pitchFamily="50" charset="-127"/>
              </a:rPr>
              <a:t>)</a:t>
            </a:r>
            <a:endParaRPr lang="ko-KR" altLang="en-US" sz="1039" b="1" dirty="0">
              <a:solidFill>
                <a:schemeClr val="tx1"/>
              </a:solidFill>
              <a:latin typeface="Arial Narrow" panose="020B0606020202030204" pitchFamily="34" charset="0"/>
              <a:ea typeface="LG스마트체 Regular" panose="020B0600000101010101" pitchFamily="50" charset="-127"/>
            </a:endParaRPr>
          </a:p>
        </p:txBody>
      </p:sp>
      <p:sp>
        <p:nvSpPr>
          <p:cNvPr id="4" name="화살표: 오른쪽 3">
            <a:hlinkClick r:id="rId2" action="ppaction://hlinksldjump"/>
            <a:extLst>
              <a:ext uri="{FF2B5EF4-FFF2-40B4-BE49-F238E27FC236}">
                <a16:creationId xmlns:a16="http://schemas.microsoft.com/office/drawing/2014/main" id="{A4AAB7BD-5E6A-8F71-7859-73FAF3C6441E}"/>
              </a:ext>
            </a:extLst>
          </p:cNvPr>
          <p:cNvSpPr/>
          <p:nvPr/>
        </p:nvSpPr>
        <p:spPr>
          <a:xfrm>
            <a:off x="9429444" y="116632"/>
            <a:ext cx="348519" cy="335140"/>
          </a:xfrm>
          <a:prstGeom prst="rightArrow">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맑은 고딕"/>
              <a:ea typeface="맑은 고딕" panose="020B0503020000020004" pitchFamily="50" charset="-127"/>
            </a:endParaRPr>
          </a:p>
        </p:txBody>
      </p:sp>
      <p:sp>
        <p:nvSpPr>
          <p:cNvPr id="10" name="TextBox 9">
            <a:extLst>
              <a:ext uri="{FF2B5EF4-FFF2-40B4-BE49-F238E27FC236}">
                <a16:creationId xmlns:a16="http://schemas.microsoft.com/office/drawing/2014/main" id="{99FA49CC-F5CA-CB5F-A026-7EA0256337B3}"/>
              </a:ext>
            </a:extLst>
          </p:cNvPr>
          <p:cNvSpPr txBox="1"/>
          <p:nvPr/>
        </p:nvSpPr>
        <p:spPr>
          <a:xfrm>
            <a:off x="8202737" y="91870"/>
            <a:ext cx="1324775" cy="461665"/>
          </a:xfrm>
          <a:prstGeom prst="rect">
            <a:avLst/>
          </a:prstGeom>
          <a:noFill/>
        </p:spPr>
        <p:txBody>
          <a:bodyPr wrap="square" lIns="33231" rIns="33231" rtlCol="0">
            <a:spAutoFit/>
          </a:bodyPr>
          <a:lstStyle/>
          <a:p>
            <a:pPr lvl="0" defTabSz="844083" fontAlgn="base">
              <a:lnSpc>
                <a:spcPct val="120000"/>
              </a:lnSpc>
              <a:spcAft>
                <a:spcPts val="600"/>
              </a:spcAft>
              <a:buSzPct val="85000"/>
              <a:defRPr/>
            </a:pPr>
            <a:r>
              <a:rPr kumimoji="1" lang="ko-KR" altLang="en-US" sz="1050" dirty="0" err="1">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제조빅데이터분석</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1</a:t>
            </a: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팀</a:t>
            </a:r>
            <a:b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br>
            <a:r>
              <a:rPr kumimoji="1" lang="ko-KR" altLang="en-US"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작성일 </a:t>
            </a:r>
            <a:r>
              <a:rPr kumimoji="1" lang="en-US" altLang="ko-KR" sz="1050" dirty="0">
                <a:solidFill>
                  <a:prstClr val="black"/>
                </a:solidFill>
                <a:latin typeface="Arial Narrow" panose="020B0606020202030204" pitchFamily="34" charset="0"/>
                <a:ea typeface="LG스마트체 Regular" panose="020B0600000101010101" pitchFamily="50" charset="-127"/>
                <a:sym typeface="Wingdings" panose="05000000000000000000" pitchFamily="2" charset="2"/>
              </a:rPr>
              <a:t>: ‘26.09.02</a:t>
            </a:r>
          </a:p>
        </p:txBody>
      </p:sp>
      <p:sp>
        <p:nvSpPr>
          <p:cNvPr id="2" name="TextBox 1">
            <a:extLst>
              <a:ext uri="{FF2B5EF4-FFF2-40B4-BE49-F238E27FC236}">
                <a16:creationId xmlns:a16="http://schemas.microsoft.com/office/drawing/2014/main" id="{DFACED90-E6E7-6495-C7F0-CB30F6E5FE49}"/>
              </a:ext>
            </a:extLst>
          </p:cNvPr>
          <p:cNvSpPr txBox="1"/>
          <p:nvPr/>
        </p:nvSpPr>
        <p:spPr>
          <a:xfrm>
            <a:off x="4281006" y="6608075"/>
            <a:ext cx="1621354" cy="245580"/>
          </a:xfrm>
          <a:prstGeom prst="rect">
            <a:avLst/>
          </a:prstGeom>
          <a:noFill/>
        </p:spPr>
        <p:txBody>
          <a:bodyPr wrap="square" lIns="33231" rIns="33231" rtlCol="0">
            <a:spAutoFit/>
          </a:bodyPr>
          <a:lstStyle/>
          <a:p>
            <a:pPr marL="0" marR="0" lvl="0" indent="0" algn="l" defTabSz="844083" rtl="0" eaLnBrk="1" fontAlgn="base" latinLnBrk="1" hangingPunct="1">
              <a:lnSpc>
                <a:spcPct val="120000"/>
              </a:lnSpc>
              <a:spcBef>
                <a:spcPts val="0"/>
              </a:spcBef>
              <a:spcAft>
                <a:spcPts val="600"/>
              </a:spcAft>
              <a:buClrTx/>
              <a:buSzPct val="85000"/>
              <a:buFontTx/>
              <a:buNone/>
              <a:tabLst/>
              <a:defRPr/>
            </a:pPr>
            <a:r>
              <a:rPr kumimoji="1" lang="ko-KR" altLang="en-US" sz="900" b="0" i="0" u="none" strike="noStrike" kern="1200" cap="none" spc="0" normalizeH="0" baseline="0" noProof="0" dirty="0" err="1">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제조빅데이터분석</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1</a:t>
            </a:r>
            <a:r>
              <a:rPr kumimoji="1" lang="ko-KR" altLang="en-US"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팀  </a:t>
            </a:r>
            <a:r>
              <a:rPr kumimoji="1" lang="en-US" altLang="ko-KR" sz="900" b="0" i="0" u="none" strike="noStrike" kern="1200" cap="none" spc="0" normalizeH="0" baseline="0" noProof="0" dirty="0">
                <a:ln>
                  <a:noFill/>
                </a:ln>
                <a:solidFill>
                  <a:prstClr val="black"/>
                </a:solidFill>
                <a:effectLst/>
                <a:uLnTx/>
                <a:uFillTx/>
                <a:latin typeface="Arial Narrow" panose="020B0606020202030204" pitchFamily="34" charset="0"/>
                <a:ea typeface="LG스마트체 Regular" panose="020B0600000101010101" pitchFamily="50" charset="-127"/>
                <a:cs typeface="+mn-cs"/>
                <a:sym typeface="Wingdings" panose="05000000000000000000" pitchFamily="2" charset="2"/>
              </a:rPr>
              <a:t>- 10 / 10 -</a:t>
            </a:r>
          </a:p>
        </p:txBody>
      </p:sp>
    </p:spTree>
    <p:extLst>
      <p:ext uri="{BB962C8B-B14F-4D97-AF65-F5344CB8AC3E}">
        <p14:creationId xmlns:p14="http://schemas.microsoft.com/office/powerpoint/2010/main" val="41440194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3612"/>
</p:tagLst>
</file>

<file path=ppt/tags/tag2.xml><?xml version="1.0" encoding="utf-8"?>
<p:tagLst xmlns:a="http://schemas.openxmlformats.org/drawingml/2006/main" xmlns:r="http://schemas.openxmlformats.org/officeDocument/2006/relationships" xmlns:p="http://schemas.openxmlformats.org/presentationml/2006/main">
  <p:tag name="AS_UNIQUEID" val="3613"/>
</p:tagLst>
</file>

<file path=ppt/tags/tag3.xml><?xml version="1.0" encoding="utf-8"?>
<p:tagLst xmlns:a="http://schemas.openxmlformats.org/drawingml/2006/main" xmlns:r="http://schemas.openxmlformats.org/officeDocument/2006/relationships" xmlns:p="http://schemas.openxmlformats.org/presentationml/2006/main">
  <p:tag name="AS_UNIQUEID" val="3614"/>
</p:tagLst>
</file>

<file path=ppt/tags/tag4.xml><?xml version="1.0" encoding="utf-8"?>
<p:tagLst xmlns:a="http://schemas.openxmlformats.org/drawingml/2006/main" xmlns:r="http://schemas.openxmlformats.org/officeDocument/2006/relationships" xmlns:p="http://schemas.openxmlformats.org/presentationml/2006/main">
  <p:tag name="AS_UNIQUEID" val="3615"/>
</p:tagLst>
</file>

<file path=ppt/tags/tag5.xml><?xml version="1.0" encoding="utf-8"?>
<p:tagLst xmlns:a="http://schemas.openxmlformats.org/drawingml/2006/main" xmlns:r="http://schemas.openxmlformats.org/officeDocument/2006/relationships" xmlns:p="http://schemas.openxmlformats.org/presentationml/2006/main">
  <p:tag name="AS_UNIQUEID" val="3616"/>
</p:tagLst>
</file>

<file path=ppt/tags/tag6.xml><?xml version="1.0" encoding="utf-8"?>
<p:tagLst xmlns:a="http://schemas.openxmlformats.org/drawingml/2006/main" xmlns:r="http://schemas.openxmlformats.org/officeDocument/2006/relationships" xmlns:p="http://schemas.openxmlformats.org/presentationml/2006/main">
  <p:tag name="AS_UNIQUEID" val="3620"/>
</p:tagLst>
</file>

<file path=ppt/tags/tag7.xml><?xml version="1.0" encoding="utf-8"?>
<p:tagLst xmlns:a="http://schemas.openxmlformats.org/drawingml/2006/main" xmlns:r="http://schemas.openxmlformats.org/officeDocument/2006/relationships" xmlns:p="http://schemas.openxmlformats.org/presentationml/2006/main">
  <p:tag name="AS_UNIQUEID" val="3617"/>
</p:tagLst>
</file>

<file path=ppt/tags/tag8.xml><?xml version="1.0" encoding="utf-8"?>
<p:tagLst xmlns:a="http://schemas.openxmlformats.org/drawingml/2006/main" xmlns:r="http://schemas.openxmlformats.org/officeDocument/2006/relationships" xmlns:p="http://schemas.openxmlformats.org/presentationml/2006/main">
  <p:tag name="AS_UNIQUEID" val="3618"/>
</p:tagLst>
</file>

<file path=ppt/tags/tag9.xml><?xml version="1.0" encoding="utf-8"?>
<p:tagLst xmlns:a="http://schemas.openxmlformats.org/drawingml/2006/main" xmlns:r="http://schemas.openxmlformats.org/officeDocument/2006/relationships" xmlns:p="http://schemas.openxmlformats.org/presentationml/2006/main">
  <p:tag name="AS_UNIQUEID" val="3619"/>
</p:tagLst>
</file>

<file path=ppt/tags/tag10.xml><?xml version="1.0" encoding="utf-8"?>
<p:tagLst xmlns:a="http://schemas.openxmlformats.org/drawingml/2006/main" xmlns:r="http://schemas.openxmlformats.org/officeDocument/2006/relationships" xmlns:p="http://schemas.openxmlformats.org/presentationml/2006/main">
  <p:tag name="AS_UNIQUEID" val="3612"/>
</p:tagLst>
</file>

<file path=ppt/tags/tag11.xml><?xml version="1.0" encoding="utf-8"?>
<p:tagLst xmlns:a="http://schemas.openxmlformats.org/drawingml/2006/main" xmlns:r="http://schemas.openxmlformats.org/officeDocument/2006/relationships" xmlns:p="http://schemas.openxmlformats.org/presentationml/2006/main">
  <p:tag name="AS_UNIQUEID" val="3613"/>
</p:tagLst>
</file>

<file path=ppt/tags/tag12.xml><?xml version="1.0" encoding="utf-8"?>
<p:tagLst xmlns:a="http://schemas.openxmlformats.org/drawingml/2006/main" xmlns:r="http://schemas.openxmlformats.org/officeDocument/2006/relationships" xmlns:p="http://schemas.openxmlformats.org/presentationml/2006/main">
  <p:tag name="AS_UNIQUEID" val="3614"/>
</p:tagLst>
</file>

<file path=ppt/tags/tag13.xml><?xml version="1.0" encoding="utf-8"?>
<p:tagLst xmlns:a="http://schemas.openxmlformats.org/drawingml/2006/main" xmlns:r="http://schemas.openxmlformats.org/officeDocument/2006/relationships" xmlns:p="http://schemas.openxmlformats.org/presentationml/2006/main">
  <p:tag name="AS_UNIQUEID" val="3615"/>
</p:tagLst>
</file>

<file path=ppt/tags/tag14.xml><?xml version="1.0" encoding="utf-8"?>
<p:tagLst xmlns:a="http://schemas.openxmlformats.org/drawingml/2006/main" xmlns:r="http://schemas.openxmlformats.org/officeDocument/2006/relationships" xmlns:p="http://schemas.openxmlformats.org/presentationml/2006/main">
  <p:tag name="AS_UNIQUEID" val="3616"/>
</p:tagLst>
</file>

<file path=ppt/tags/tag15.xml><?xml version="1.0" encoding="utf-8"?>
<p:tagLst xmlns:a="http://schemas.openxmlformats.org/drawingml/2006/main" xmlns:r="http://schemas.openxmlformats.org/officeDocument/2006/relationships" xmlns:p="http://schemas.openxmlformats.org/presentationml/2006/main">
  <p:tag name="AS_UNIQUEID" val="3620"/>
</p:tagLst>
</file>

<file path=ppt/tags/tag16.xml><?xml version="1.0" encoding="utf-8"?>
<p:tagLst xmlns:a="http://schemas.openxmlformats.org/drawingml/2006/main" xmlns:r="http://schemas.openxmlformats.org/officeDocument/2006/relationships" xmlns:p="http://schemas.openxmlformats.org/presentationml/2006/main">
  <p:tag name="AS_UNIQUEID" val="3617"/>
</p:tagLst>
</file>

<file path=ppt/tags/tag17.xml><?xml version="1.0" encoding="utf-8"?>
<p:tagLst xmlns:a="http://schemas.openxmlformats.org/drawingml/2006/main" xmlns:r="http://schemas.openxmlformats.org/officeDocument/2006/relationships" xmlns:p="http://schemas.openxmlformats.org/presentationml/2006/main">
  <p:tag name="AS_UNIQUEID" val="3618"/>
</p:tagLst>
</file>

<file path=ppt/tags/tag18.xml><?xml version="1.0" encoding="utf-8"?>
<p:tagLst xmlns:a="http://schemas.openxmlformats.org/drawingml/2006/main" xmlns:r="http://schemas.openxmlformats.org/officeDocument/2006/relationships" xmlns:p="http://schemas.openxmlformats.org/presentationml/2006/main">
  <p:tag name="AS_UNIQUEID" val="3619"/>
</p:tagLst>
</file>

<file path=ppt/tags/tag19.xml><?xml version="1.0" encoding="utf-8"?>
<p:tagLst xmlns:a="http://schemas.openxmlformats.org/drawingml/2006/main" xmlns:r="http://schemas.openxmlformats.org/officeDocument/2006/relationships" xmlns:p="http://schemas.openxmlformats.org/presentationml/2006/main">
  <p:tag name="AS_UNIQUEID" val="3612"/>
</p:tagLst>
</file>

<file path=ppt/tags/tag20.xml><?xml version="1.0" encoding="utf-8"?>
<p:tagLst xmlns:a="http://schemas.openxmlformats.org/drawingml/2006/main" xmlns:r="http://schemas.openxmlformats.org/officeDocument/2006/relationships" xmlns:p="http://schemas.openxmlformats.org/presentationml/2006/main">
  <p:tag name="AS_UNIQUEID" val="3613"/>
</p:tagLst>
</file>

<file path=ppt/tags/tag21.xml><?xml version="1.0" encoding="utf-8"?>
<p:tagLst xmlns:a="http://schemas.openxmlformats.org/drawingml/2006/main" xmlns:r="http://schemas.openxmlformats.org/officeDocument/2006/relationships" xmlns:p="http://schemas.openxmlformats.org/presentationml/2006/main">
  <p:tag name="AS_UNIQUEID" val="3614"/>
</p:tagLst>
</file>

<file path=ppt/tags/tag22.xml><?xml version="1.0" encoding="utf-8"?>
<p:tagLst xmlns:a="http://schemas.openxmlformats.org/drawingml/2006/main" xmlns:r="http://schemas.openxmlformats.org/officeDocument/2006/relationships" xmlns:p="http://schemas.openxmlformats.org/presentationml/2006/main">
  <p:tag name="AS_UNIQUEID" val="3615"/>
</p:tagLst>
</file>

<file path=ppt/tags/tag23.xml><?xml version="1.0" encoding="utf-8"?>
<p:tagLst xmlns:a="http://schemas.openxmlformats.org/drawingml/2006/main" xmlns:r="http://schemas.openxmlformats.org/officeDocument/2006/relationships" xmlns:p="http://schemas.openxmlformats.org/presentationml/2006/main">
  <p:tag name="AS_UNIQUEID" val="3616"/>
</p:tagLst>
</file>

<file path=ppt/tags/tag24.xml><?xml version="1.0" encoding="utf-8"?>
<p:tagLst xmlns:a="http://schemas.openxmlformats.org/drawingml/2006/main" xmlns:r="http://schemas.openxmlformats.org/officeDocument/2006/relationships" xmlns:p="http://schemas.openxmlformats.org/presentationml/2006/main">
  <p:tag name="AS_UNIQUEID" val="3620"/>
</p:tagLst>
</file>

<file path=ppt/tags/tag25.xml><?xml version="1.0" encoding="utf-8"?>
<p:tagLst xmlns:a="http://schemas.openxmlformats.org/drawingml/2006/main" xmlns:r="http://schemas.openxmlformats.org/officeDocument/2006/relationships" xmlns:p="http://schemas.openxmlformats.org/presentationml/2006/main">
  <p:tag name="AS_UNIQUEID" val="3617"/>
</p:tagLst>
</file>

<file path=ppt/tags/tag26.xml><?xml version="1.0" encoding="utf-8"?>
<p:tagLst xmlns:a="http://schemas.openxmlformats.org/drawingml/2006/main" xmlns:r="http://schemas.openxmlformats.org/officeDocument/2006/relationships" xmlns:p="http://schemas.openxmlformats.org/presentationml/2006/main">
  <p:tag name="AS_UNIQUEID" val="3618"/>
</p:tagLst>
</file>

<file path=ppt/tags/tag27.xml><?xml version="1.0" encoding="utf-8"?>
<p:tagLst xmlns:a="http://schemas.openxmlformats.org/drawingml/2006/main" xmlns:r="http://schemas.openxmlformats.org/officeDocument/2006/relationships" xmlns:p="http://schemas.openxmlformats.org/presentationml/2006/main">
  <p:tag name="AS_UNIQUEID" val="3619"/>
</p:tagLst>
</file>

<file path=ppt/tags/tag28.xml><?xml version="1.0" encoding="utf-8"?>
<p:tagLst xmlns:a="http://schemas.openxmlformats.org/drawingml/2006/main" xmlns:r="http://schemas.openxmlformats.org/officeDocument/2006/relationships" xmlns:p="http://schemas.openxmlformats.org/presentationml/2006/main">
  <p:tag name="AS_UNIQUEID" val="3126"/>
</p:tagLst>
</file>

<file path=ppt/tags/tag29.xml><?xml version="1.0" encoding="utf-8"?>
<p:tagLst xmlns:a="http://schemas.openxmlformats.org/drawingml/2006/main" xmlns:r="http://schemas.openxmlformats.org/officeDocument/2006/relationships" xmlns:p="http://schemas.openxmlformats.org/presentationml/2006/main">
  <p:tag name="AS_UNIQUEID" val="3130"/>
</p:tagLst>
</file>

<file path=ppt/tags/tag30.xml><?xml version="1.0" encoding="utf-8"?>
<p:tagLst xmlns:a="http://schemas.openxmlformats.org/drawingml/2006/main" xmlns:r="http://schemas.openxmlformats.org/officeDocument/2006/relationships" xmlns:p="http://schemas.openxmlformats.org/presentationml/2006/main">
  <p:tag name="AS_UNIQUEID" val="3131"/>
</p:tagLst>
</file>

<file path=ppt/tags/tag31.xml><?xml version="1.0" encoding="utf-8"?>
<p:tagLst xmlns:a="http://schemas.openxmlformats.org/drawingml/2006/main" xmlns:r="http://schemas.openxmlformats.org/officeDocument/2006/relationships" xmlns:p="http://schemas.openxmlformats.org/presentationml/2006/main">
  <p:tag name="AS_UNIQUEID" val="3134"/>
</p:tagLst>
</file>

<file path=ppt/tags/tag32.xml><?xml version="1.0" encoding="utf-8"?>
<p:tagLst xmlns:a="http://schemas.openxmlformats.org/drawingml/2006/main" xmlns:r="http://schemas.openxmlformats.org/officeDocument/2006/relationships" xmlns:p="http://schemas.openxmlformats.org/presentationml/2006/main">
  <p:tag name="AS_UNIQUEID" val="3127"/>
</p:tagLst>
</file>

<file path=ppt/tags/tag33.xml><?xml version="1.0" encoding="utf-8"?>
<p:tagLst xmlns:a="http://schemas.openxmlformats.org/drawingml/2006/main" xmlns:r="http://schemas.openxmlformats.org/officeDocument/2006/relationships" xmlns:p="http://schemas.openxmlformats.org/presentationml/2006/main">
  <p:tag name="AS_UNIQUEID" val="3128"/>
</p:tagLst>
</file>

<file path=ppt/tags/tag34.xml><?xml version="1.0" encoding="utf-8"?>
<p:tagLst xmlns:a="http://schemas.openxmlformats.org/drawingml/2006/main" xmlns:r="http://schemas.openxmlformats.org/officeDocument/2006/relationships" xmlns:p="http://schemas.openxmlformats.org/presentationml/2006/main">
  <p:tag name="AS_UNIQUEID" val="3129"/>
</p:tagLst>
</file>

<file path=ppt/tags/tag35.xml><?xml version="1.0" encoding="utf-8"?>
<p:tagLst xmlns:a="http://schemas.openxmlformats.org/drawingml/2006/main" xmlns:r="http://schemas.openxmlformats.org/officeDocument/2006/relationships" xmlns:p="http://schemas.openxmlformats.org/presentationml/2006/main">
  <p:tag name="AS_UNIQUEID" val="5668"/>
</p:tagLst>
</file>

<file path=ppt/tags/tag36.xml><?xml version="1.0" encoding="utf-8"?>
<p:tagLst xmlns:a="http://schemas.openxmlformats.org/drawingml/2006/main" xmlns:r="http://schemas.openxmlformats.org/officeDocument/2006/relationships" xmlns:p="http://schemas.openxmlformats.org/presentationml/2006/main">
  <p:tag name="AS_UNIQUEID" val="5669"/>
</p:tagLst>
</file>

<file path=ppt/tags/tag37.xml><?xml version="1.0" encoding="utf-8"?>
<p:tagLst xmlns:a="http://schemas.openxmlformats.org/drawingml/2006/main" xmlns:r="http://schemas.openxmlformats.org/officeDocument/2006/relationships" xmlns:p="http://schemas.openxmlformats.org/presentationml/2006/main">
  <p:tag name="AS_UNIQUEID" val="5670"/>
</p:tagLst>
</file>

<file path=ppt/theme/theme1.xml><?xml version="1.0" encoding="utf-8"?>
<a:theme xmlns:a="http://schemas.openxmlformats.org/drawingml/2006/main" name="19_기본 디자인">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lIns="0" tIns="0" rIns="0" bIns="0" rtlCol="0">
        <a:spAutoFit/>
      </a:bodyPr>
      <a:lstStyle>
        <a:defPPr>
          <a:defRPr sz="1200" b="1" dirty="0" smtClean="0"/>
        </a:defPPr>
      </a:lstStyle>
    </a:txDef>
  </a:objectDefaults>
  <a:extraClrSchemeLst>
    <a:extraClrScheme>
      <a:clrScheme name="1_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기본">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기본">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기본" id="{38DD6C9B-F6A9-4DF6-8CCD-286C45B68037}" vid="{1B07C5B2-917A-49E2-BE1A-CE5EE881E7A4}"/>
    </a:ext>
  </a:extLst>
</a:theme>
</file>

<file path=ppt/theme/theme7.xml><?xml version="1.0" encoding="utf-8"?>
<a:theme xmlns:a="http://schemas.openxmlformats.org/drawingml/2006/main" name="4_Office 테마">
  <a:themeElements>
    <a:clrScheme name="Office 테마">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테마">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Metadata/LabelInfo.xml><?xml version="1.0" encoding="utf-8"?>
<clbl:labelList xmlns:clbl="http://schemas.microsoft.com/office/2020/mipLabelMetadata">
  <clbl:label id="{1fefcbb5-b9fb-4d9d-a4eb-a69982cdd6fe}" enabled="0" method="" siteId="{1fefcbb5-b9fb-4d9d-a4eb-a69982cdd6fe}" removed="1"/>
</clbl:labelList>
</file>

<file path=docProps/app.xml><?xml version="1.0" encoding="utf-8"?>
<Properties xmlns="http://schemas.openxmlformats.org/officeDocument/2006/extended-properties" xmlns:vt="http://schemas.openxmlformats.org/officeDocument/2006/docPropsVTypes">
  <Template/>
  <TotalTime>64569</TotalTime>
  <Words>18417</Words>
  <Application>Microsoft Office PowerPoint</Application>
  <PresentationFormat>A4 용지(210x297mm)</PresentationFormat>
  <Paragraphs>7427</Paragraphs>
  <Slides>31</Slides>
  <Notes>19</Notes>
  <HiddenSlides>0</HiddenSlides>
  <MMClips>0</MMClips>
  <ScaleCrop>false</ScaleCrop>
  <HeadingPairs>
    <vt:vector size="6" baseType="variant">
      <vt:variant>
        <vt:lpstr>사용한 글꼴</vt:lpstr>
      </vt:variant>
      <vt:variant>
        <vt:i4>12</vt:i4>
      </vt:variant>
      <vt:variant>
        <vt:lpstr>테마</vt:lpstr>
      </vt:variant>
      <vt:variant>
        <vt:i4>7</vt:i4>
      </vt:variant>
      <vt:variant>
        <vt:lpstr>슬라이드 제목</vt:lpstr>
      </vt:variant>
      <vt:variant>
        <vt:i4>31</vt:i4>
      </vt:variant>
    </vt:vector>
  </HeadingPairs>
  <TitlesOfParts>
    <vt:vector size="50" baseType="lpstr">
      <vt:lpstr>LG스마트체 Regular</vt:lpstr>
      <vt:lpstr>LG스마트체2.0 Bold</vt:lpstr>
      <vt:lpstr>LG스마트체2.0 Regular</vt:lpstr>
      <vt:lpstr>LG스마트체2.0 SemiBold</vt:lpstr>
      <vt:lpstr>굴림</vt:lpstr>
      <vt:lpstr>맑은 고딕</vt:lpstr>
      <vt:lpstr>Aptos</vt:lpstr>
      <vt:lpstr>Aptos Display</vt:lpstr>
      <vt:lpstr>Arial</vt:lpstr>
      <vt:lpstr>Arial Narrow</vt:lpstr>
      <vt:lpstr>Calibri</vt:lpstr>
      <vt:lpstr>Wingdings</vt:lpstr>
      <vt:lpstr>19_기본 디자인</vt:lpstr>
      <vt:lpstr>Office 테마</vt:lpstr>
      <vt:lpstr>2_Office 테마</vt:lpstr>
      <vt:lpstr>1_Office 테마</vt:lpstr>
      <vt:lpstr>3_Office 테마</vt:lpstr>
      <vt:lpstr>2_기본</vt:lpstr>
      <vt:lpstr>4_Office 테마</vt:lpstr>
      <vt:lpstr>제조DX솔루션담당 9월 업무 보고</vt:lpstr>
      <vt:lpstr>PowerPoint 프레젠테이션</vt:lpstr>
      <vt:lpstr>PowerPoint 프레젠테이션</vt:lpstr>
      <vt:lpstr>PowerPoint 프레젠테이션</vt:lpstr>
      <vt:lpstr>3. KPI 08월 진척 사항_라미 불량 분석 AI Agent 개발</vt:lpstr>
      <vt:lpstr>3. KPI 08월 진척 사항_L&amp;S 수율 개선 솔루션 개발(1/2)_불량 원인 구체화</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  </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박정우(Jeong Woo Park)[jeongwoo]/팀장/경영전략2팀</dc:creator>
  <cp:lastModifiedBy>이재후(JAEHU LEE)[jaehu]/사원/제조DX.기획팀</cp:lastModifiedBy>
  <cp:revision>2633</cp:revision>
  <cp:lastPrinted>2025-01-07T12:13:12Z</cp:lastPrinted>
  <dcterms:modified xsi:type="dcterms:W3CDTF">2026-09-08T08:14:27Z</dcterms:modified>
</cp:coreProperties>
</file>